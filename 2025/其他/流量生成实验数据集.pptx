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67" r:id="rId3"/>
    <p:sldId id="376" r:id="rId5"/>
    <p:sldId id="363" r:id="rId6"/>
    <p:sldId id="366" r:id="rId7"/>
    <p:sldId id="378" r:id="rId8"/>
    <p:sldId id="368" r:id="rId9"/>
    <p:sldId id="370" r:id="rId10"/>
    <p:sldId id="369" r:id="rId11"/>
    <p:sldId id="371" r:id="rId12"/>
    <p:sldId id="372" r:id="rId13"/>
    <p:sldId id="373" r:id="rId14"/>
    <p:sldId id="374" r:id="rId15"/>
    <p:sldId id="375" r:id="rId16"/>
    <p:sldId id="37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3" userDrawn="1">
          <p15:clr>
            <a:srgbClr val="A4A3A4"/>
          </p15:clr>
        </p15:guide>
        <p15:guide id="2" pos="29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108" d="100"/>
          <a:sy n="108" d="100"/>
        </p:scale>
        <p:origin x="-636" y="-84"/>
      </p:cViewPr>
      <p:guideLst>
        <p:guide orient="horz" pos="2333"/>
        <p:guide pos="2995"/>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lradj</a:t>
            </a:r>
            <a:r>
              <a:rPr lang="zh-CN" altLang="en-US"/>
              <a:t>（学习率调整策略）</a:t>
            </a:r>
            <a:endParaRPr lang="zh-CN" altLang="en-US"/>
          </a:p>
          <a:p>
            <a:r>
              <a:rPr lang="en-US" altLang="zh-CN"/>
              <a:t>individual </a:t>
            </a:r>
            <a:r>
              <a:rPr lang="zh-CN" altLang="en-US"/>
              <a:t>控制模型是否对输入数据的每一个变量或通道</a:t>
            </a:r>
            <a:r>
              <a:rPr lang="en-US" altLang="zh-CN"/>
              <a:t> </a:t>
            </a:r>
            <a:r>
              <a:rPr lang="zh-CN" altLang="en-US"/>
              <a:t>使用独立的线性层。</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Netdiffusion</a:t>
            </a:r>
            <a:endParaRPr lang="en-US" altLang="zh-CN"/>
          </a:p>
        </p:txBody>
      </p:sp>
      <p:sp>
        <p:nvSpPr>
          <p:cNvPr id="7" name="文本框 6"/>
          <p:cNvSpPr txBox="1"/>
          <p:nvPr/>
        </p:nvSpPr>
        <p:spPr>
          <a:xfrm>
            <a:off x="228600" y="436880"/>
            <a:ext cx="11751310" cy="2971165"/>
          </a:xfrm>
          <a:prstGeom prst="rect">
            <a:avLst/>
          </a:prstGeom>
          <a:noFill/>
        </p:spPr>
        <p:txBody>
          <a:bodyPr wrap="square" rtlCol="0">
            <a:noAutofit/>
          </a:bodyPr>
          <a:p>
            <a:r>
              <a:rPr lang="zh-CN" altLang="en-US"/>
              <a:t>训练：</a:t>
            </a:r>
            <a:endParaRPr lang="zh-CN" altLang="en-US"/>
          </a:p>
          <a:p>
            <a:r>
              <a:rPr lang="zh-CN" altLang="en-US"/>
              <a:t>输入真实网络流量（</a:t>
            </a:r>
            <a:r>
              <a:rPr lang="en-US" altLang="zh-CN"/>
              <a:t>PCAP</a:t>
            </a:r>
            <a:r>
              <a:rPr lang="zh-CN" altLang="en-US"/>
              <a:t>），用</a:t>
            </a:r>
            <a:r>
              <a:rPr lang="en-US" altLang="zh-CN"/>
              <a:t> nPrint </a:t>
            </a:r>
            <a:r>
              <a:rPr lang="zh-CN" altLang="en-US"/>
              <a:t>将每个包的</a:t>
            </a:r>
            <a:r>
              <a:rPr lang="en-US" altLang="zh-CN"/>
              <a:t> IP/TCP/UDP </a:t>
            </a:r>
            <a:r>
              <a:rPr lang="zh-CN" altLang="en-US"/>
              <a:t>头部</a:t>
            </a:r>
            <a:r>
              <a:rPr lang="en-US" altLang="zh-CN"/>
              <a:t> </a:t>
            </a:r>
            <a:r>
              <a:rPr lang="zh-CN" altLang="en-US"/>
              <a:t>转为</a:t>
            </a:r>
            <a:r>
              <a:rPr lang="en-US" altLang="zh-CN"/>
              <a:t> [1/0/-1] </a:t>
            </a:r>
            <a:r>
              <a:rPr lang="zh-CN" altLang="en-US"/>
              <a:t>比特矩阵，按</a:t>
            </a:r>
            <a:r>
              <a:rPr lang="en-US" altLang="zh-CN"/>
              <a:t> 1024 </a:t>
            </a:r>
            <a:r>
              <a:rPr lang="zh-CN" altLang="en-US"/>
              <a:t>包</a:t>
            </a:r>
            <a:r>
              <a:rPr lang="en-US" altLang="zh-CN"/>
              <a:t>/</a:t>
            </a:r>
            <a:r>
              <a:rPr lang="zh-CN" altLang="en-US"/>
              <a:t>组切割。</a:t>
            </a:r>
            <a:endParaRPr lang="zh-CN" altLang="en-US"/>
          </a:p>
          <a:p>
            <a:r>
              <a:rPr lang="zh-CN" altLang="en-US"/>
              <a:t>将矩阵映射为</a:t>
            </a:r>
            <a:r>
              <a:rPr lang="en-US" altLang="zh-CN"/>
              <a:t> 1024</a:t>
            </a:r>
            <a:r>
              <a:rPr lang="en-US" altLang="en-US"/>
              <a:t>×</a:t>
            </a:r>
            <a:r>
              <a:rPr lang="en-US" altLang="zh-CN"/>
              <a:t>1088 </a:t>
            </a:r>
            <a:r>
              <a:rPr lang="zh-CN" altLang="en-US"/>
              <a:t>三色图像（绿</a:t>
            </a:r>
            <a:r>
              <a:rPr lang="en-US" altLang="zh-CN"/>
              <a:t>=1</a:t>
            </a:r>
            <a:r>
              <a:rPr lang="zh-CN" altLang="en-US"/>
              <a:t>，红</a:t>
            </a:r>
            <a:r>
              <a:rPr lang="en-US" altLang="zh-CN"/>
              <a:t>=0</a:t>
            </a:r>
            <a:r>
              <a:rPr lang="zh-CN" altLang="en-US"/>
              <a:t>，灰</a:t>
            </a:r>
            <a:r>
              <a:rPr lang="en-US" altLang="zh-CN"/>
              <a:t>=-1</a:t>
            </a:r>
            <a:r>
              <a:rPr lang="zh-CN" altLang="en-US"/>
              <a:t>）。</a:t>
            </a:r>
            <a:endParaRPr lang="zh-CN" altLang="en-US"/>
          </a:p>
          <a:p>
            <a:r>
              <a:rPr lang="zh-CN" altLang="en-US"/>
              <a:t>微调</a:t>
            </a:r>
            <a:r>
              <a:rPr lang="en-US" altLang="zh-CN"/>
              <a:t> Stable Diffusion</a:t>
            </a:r>
            <a:r>
              <a:rPr lang="zh-CN" altLang="en-US"/>
              <a:t>（基于文本提示如</a:t>
            </a:r>
            <a:r>
              <a:rPr lang="en-US" altLang="zh-CN"/>
              <a:t> "type-0=Netflix"</a:t>
            </a:r>
            <a:r>
              <a:rPr lang="zh-CN" altLang="en-US"/>
              <a:t>），加入</a:t>
            </a:r>
            <a:r>
              <a:rPr lang="en-US" altLang="zh-CN"/>
              <a:t> ControlNet </a:t>
            </a:r>
            <a:r>
              <a:rPr lang="zh-CN" altLang="en-US"/>
              <a:t>约束关键字段（如</a:t>
            </a:r>
            <a:r>
              <a:rPr lang="en-US" altLang="zh-CN"/>
              <a:t> TCP </a:t>
            </a:r>
            <a:r>
              <a:rPr lang="zh-CN" altLang="en-US"/>
              <a:t>端口必须合法）</a:t>
            </a:r>
            <a:endParaRPr lang="zh-CN" altLang="en-US"/>
          </a:p>
          <a:p>
            <a:r>
              <a:rPr lang="zh-CN" altLang="en-US"/>
              <a:t>生成：</a:t>
            </a:r>
            <a:endParaRPr lang="zh-CN" altLang="en-US"/>
          </a:p>
          <a:p>
            <a:r>
              <a:rPr lang="zh-CN" altLang="en-US"/>
              <a:t>输入文本提示（如</a:t>
            </a:r>
            <a:r>
              <a:rPr lang="en-US" altLang="zh-CN"/>
              <a:t> "type-0"</a:t>
            </a:r>
            <a:r>
              <a:rPr lang="zh-CN" altLang="en-US"/>
              <a:t>），扩散模型生成合成流量图像。</a:t>
            </a:r>
            <a:endParaRPr lang="zh-CN" altLang="en-US"/>
          </a:p>
          <a:p>
            <a:r>
              <a:rPr lang="en-US" altLang="zh-CN"/>
              <a:t>ControlNet </a:t>
            </a:r>
            <a:r>
              <a:rPr lang="zh-CN" altLang="en-US"/>
              <a:t>确保协议字段（如端口号）符合规则。将图像解码为比特矩阵，修正校验和、序列号等字段。</a:t>
            </a:r>
            <a:endParaRPr lang="zh-CN" altLang="en-US"/>
          </a:p>
          <a:p>
            <a:r>
              <a:rPr lang="zh-CN" altLang="en-US"/>
              <a:t>输出合规</a:t>
            </a:r>
            <a:r>
              <a:rPr lang="en-US" altLang="zh-CN"/>
              <a:t> PCAP</a:t>
            </a:r>
            <a:r>
              <a:rPr lang="zh-CN" altLang="en-US"/>
              <a:t>，兼容</a:t>
            </a:r>
            <a:r>
              <a:rPr lang="en-US" altLang="zh-CN"/>
              <a:t> Wireshark </a:t>
            </a:r>
            <a:r>
              <a:rPr lang="zh-CN" altLang="en-US"/>
              <a:t>和网络设备测试。</a:t>
            </a:r>
            <a:endParaRPr lang="zh-CN" altLang="en-US"/>
          </a:p>
          <a:p>
            <a:endParaRPr lang="zh-CN" altLang="en-US"/>
          </a:p>
          <a:p>
            <a:r>
              <a:rPr lang="zh-CN" altLang="en-US"/>
              <a:t>输入：真实</a:t>
            </a:r>
            <a:r>
              <a:rPr lang="en-US" altLang="zh-CN"/>
              <a:t> PCAP </a:t>
            </a:r>
            <a:r>
              <a:rPr lang="en-US" altLang="en-US"/>
              <a:t>→</a:t>
            </a:r>
            <a:r>
              <a:rPr lang="en-US" altLang="zh-CN"/>
              <a:t> nPrint </a:t>
            </a:r>
            <a:r>
              <a:rPr lang="zh-CN" altLang="en-US"/>
              <a:t>图像</a:t>
            </a:r>
            <a:endParaRPr lang="zh-CN" altLang="en-US"/>
          </a:p>
          <a:p>
            <a:r>
              <a:rPr lang="zh-CN" altLang="en-US"/>
              <a:t>输出：文本提示</a:t>
            </a:r>
            <a:r>
              <a:rPr lang="en-US" altLang="zh-CN"/>
              <a:t> </a:t>
            </a:r>
            <a:r>
              <a:rPr lang="en-US" altLang="en-US"/>
              <a:t>→</a:t>
            </a:r>
            <a:r>
              <a:rPr lang="en-US" altLang="zh-CN"/>
              <a:t> </a:t>
            </a:r>
            <a:r>
              <a:rPr lang="zh-CN" altLang="en-US"/>
              <a:t>合成图像</a:t>
            </a:r>
            <a:r>
              <a:rPr lang="en-US" altLang="zh-CN"/>
              <a:t> </a:t>
            </a:r>
            <a:r>
              <a:rPr lang="en-US" altLang="en-US"/>
              <a:t>→</a:t>
            </a:r>
            <a:r>
              <a:rPr lang="en-US" altLang="zh-CN"/>
              <a:t> </a:t>
            </a:r>
            <a:r>
              <a:rPr lang="zh-CN" altLang="en-US"/>
              <a:t>修正为</a:t>
            </a:r>
            <a:r>
              <a:rPr lang="en-US" altLang="zh-CN"/>
              <a:t> PCAP</a:t>
            </a:r>
            <a:endParaRPr lang="en-US" altLang="zh-CN"/>
          </a:p>
        </p:txBody>
      </p:sp>
      <p:pic>
        <p:nvPicPr>
          <p:cNvPr id="8" name="图片 7"/>
          <p:cNvPicPr>
            <a:picLocks noChangeAspect="1"/>
          </p:cNvPicPr>
          <p:nvPr/>
        </p:nvPicPr>
        <p:blipFill>
          <a:blip r:embed="rId1"/>
          <a:stretch>
            <a:fillRect/>
          </a:stretch>
        </p:blipFill>
        <p:spPr>
          <a:xfrm>
            <a:off x="457200" y="3733800"/>
            <a:ext cx="10316845" cy="301752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Netdiffusion</a:t>
            </a:r>
            <a:endParaRPr lang="en-US" altLang="zh-CN"/>
          </a:p>
        </p:txBody>
      </p:sp>
      <p:sp>
        <p:nvSpPr>
          <p:cNvPr id="9" name="文本框 8"/>
          <p:cNvSpPr txBox="1"/>
          <p:nvPr/>
        </p:nvSpPr>
        <p:spPr>
          <a:xfrm>
            <a:off x="152400" y="457200"/>
            <a:ext cx="5090795" cy="2763520"/>
          </a:xfrm>
          <a:prstGeom prst="rect">
            <a:avLst/>
          </a:prstGeom>
          <a:noFill/>
        </p:spPr>
        <p:txBody>
          <a:bodyPr wrap="square" rtlCol="0">
            <a:noAutofit/>
          </a:bodyPr>
          <a:p>
            <a:r>
              <a:rPr lang="zh-CN" altLang="en-US"/>
              <a:t>数据集为真实网络流量选择的数据集，包括不同时期积累的</a:t>
            </a:r>
            <a:r>
              <a:rPr lang="en-US" altLang="zh-CN"/>
              <a:t>pcap</a:t>
            </a:r>
            <a:r>
              <a:rPr lang="zh-CN" altLang="en-US"/>
              <a:t>文件，捕获了视频流、视频会议和社交媒体等领域十个突出应用程序的流量。在预处理过程中，我们分析</a:t>
            </a:r>
            <a:r>
              <a:rPr lang="en-US" altLang="zh-CN"/>
              <a:t>DNS</a:t>
            </a:r>
            <a:r>
              <a:rPr lang="zh-CN" altLang="en-US"/>
              <a:t>查询以识别指定服务和应用程序的相关</a:t>
            </a:r>
            <a:r>
              <a:rPr lang="en-US" altLang="zh-CN"/>
              <a:t>IP</a:t>
            </a:r>
            <a:r>
              <a:rPr lang="zh-CN" altLang="en-US"/>
              <a:t>地址，仅保留与这些</a:t>
            </a:r>
            <a:r>
              <a:rPr lang="en-US" altLang="zh-CN"/>
              <a:t>IP</a:t>
            </a:r>
            <a:r>
              <a:rPr lang="zh-CN" altLang="en-US"/>
              <a:t>相关的数据包，并将流量拆分为单个流。我们为每个处理的流保留应用程序和服务标签，稍后用于生成文本提示和评估分类准确性</a:t>
            </a:r>
            <a:endParaRPr lang="en-US" altLang="zh-CN"/>
          </a:p>
        </p:txBody>
      </p:sp>
      <p:pic>
        <p:nvPicPr>
          <p:cNvPr id="3" name="图片 2"/>
          <p:cNvPicPr>
            <a:picLocks noChangeAspect="1"/>
          </p:cNvPicPr>
          <p:nvPr/>
        </p:nvPicPr>
        <p:blipFill>
          <a:blip r:embed="rId1"/>
          <a:stretch>
            <a:fillRect/>
          </a:stretch>
        </p:blipFill>
        <p:spPr>
          <a:xfrm>
            <a:off x="152400" y="4038600"/>
            <a:ext cx="5570855" cy="2681605"/>
          </a:xfrm>
          <a:prstGeom prst="rect">
            <a:avLst/>
          </a:prstGeom>
        </p:spPr>
      </p:pic>
      <p:sp>
        <p:nvSpPr>
          <p:cNvPr id="4" name="文本框 3"/>
          <p:cNvSpPr txBox="1"/>
          <p:nvPr/>
        </p:nvSpPr>
        <p:spPr>
          <a:xfrm>
            <a:off x="5723255" y="368300"/>
            <a:ext cx="6228715" cy="3060700"/>
          </a:xfrm>
          <a:prstGeom prst="rect">
            <a:avLst/>
          </a:prstGeom>
          <a:noFill/>
        </p:spPr>
        <p:txBody>
          <a:bodyPr wrap="square" rtlCol="0" anchor="t">
            <a:noAutofit/>
          </a:bodyPr>
          <a:p>
            <a:r>
              <a:rPr lang="zh-CN" altLang="en-US"/>
              <a:t>真实和合成网络数据之间的平均归一化统计差异，包括</a:t>
            </a:r>
            <a:endParaRPr lang="zh-CN" altLang="en-US"/>
          </a:p>
          <a:p>
            <a:r>
              <a:rPr lang="zh-CN" altLang="en-US"/>
              <a:t>（</a:t>
            </a:r>
            <a:r>
              <a:rPr lang="en-US" altLang="zh-CN"/>
              <a:t>1</a:t>
            </a:r>
            <a:r>
              <a:rPr lang="zh-CN" altLang="en-US"/>
              <a:t>）所有生成的字段和</a:t>
            </a:r>
            <a:endParaRPr lang="zh-CN" altLang="en-US"/>
          </a:p>
          <a:p>
            <a:r>
              <a:rPr lang="zh-CN" altLang="en-US"/>
              <a:t>（</a:t>
            </a:r>
            <a:r>
              <a:rPr lang="en-US" altLang="zh-CN"/>
              <a:t>2</a:t>
            </a:r>
            <a:r>
              <a:rPr lang="zh-CN" altLang="en-US"/>
              <a:t>）常见生成的字段示例</a:t>
            </a:r>
            <a:r>
              <a:rPr lang="en-US" altLang="zh-CN"/>
              <a:t>——IPv4</a:t>
            </a:r>
            <a:r>
              <a:rPr lang="zh-CN" altLang="en-US"/>
              <a:t>协议：</a:t>
            </a:r>
            <a:r>
              <a:rPr lang="en-US" altLang="zh-CN"/>
              <a:t>Jensen Shannon</a:t>
            </a:r>
            <a:r>
              <a:rPr lang="zh-CN" altLang="en-US"/>
              <a:t>散度（</a:t>
            </a:r>
            <a:r>
              <a:rPr lang="en-US" altLang="zh-CN"/>
              <a:t>JSD</a:t>
            </a:r>
            <a:r>
              <a:rPr lang="zh-CN" altLang="en-US"/>
              <a:t>）、总变异距离（</a:t>
            </a:r>
            <a:r>
              <a:rPr lang="en-US" altLang="zh-CN"/>
              <a:t>TVD</a:t>
            </a:r>
            <a:r>
              <a:rPr lang="zh-CN" altLang="en-US"/>
              <a:t>）和</a:t>
            </a:r>
            <a:r>
              <a:rPr lang="en-US" altLang="zh-CN"/>
              <a:t>Hellinger</a:t>
            </a:r>
            <a:r>
              <a:rPr lang="zh-CN" altLang="en-US"/>
              <a:t>距离（</a:t>
            </a:r>
            <a:r>
              <a:rPr lang="en-US" altLang="zh-CN"/>
              <a:t>HD</a:t>
            </a:r>
            <a:r>
              <a:rPr lang="zh-CN" altLang="en-US"/>
              <a:t>）</a:t>
            </a:r>
            <a:endParaRPr lang="zh-CN" altLang="en-US"/>
          </a:p>
          <a:p>
            <a:endParaRPr lang="zh-CN" altLang="en-US"/>
          </a:p>
          <a:p>
            <a:r>
              <a:rPr lang="zh-CN" altLang="en-US"/>
              <a:t>在评估中，根据两个基线对合成数据进行了基准测试：</a:t>
            </a:r>
            <a:r>
              <a:rPr lang="en-US" altLang="zh-CN"/>
              <a:t>NetShare</a:t>
            </a:r>
            <a:r>
              <a:rPr lang="zh-CN" altLang="en-US"/>
              <a:t>方法，它产生合成的</a:t>
            </a:r>
            <a:r>
              <a:rPr lang="en-US" altLang="zh-CN"/>
              <a:t>NetFlow</a:t>
            </a:r>
            <a:r>
              <a:rPr lang="zh-CN" altLang="en-US"/>
              <a:t>属性，并优于大多数其他基于</a:t>
            </a:r>
            <a:r>
              <a:rPr lang="en-US" altLang="zh-CN"/>
              <a:t>GAN</a:t>
            </a:r>
            <a:r>
              <a:rPr lang="zh-CN" altLang="en-US"/>
              <a:t>的方法</a:t>
            </a:r>
            <a:r>
              <a:rPr lang="en-US" altLang="zh-CN"/>
              <a:t>[141]</a:t>
            </a:r>
            <a:r>
              <a:rPr lang="zh-CN" altLang="en-US"/>
              <a:t>，以及一种朴素的随机生成方法。</a:t>
            </a:r>
            <a:endParaRPr lang="zh-CN" altLang="en-US"/>
          </a:p>
          <a:p>
            <a:endParaRPr lang="zh-CN" altLang="en-US"/>
          </a:p>
        </p:txBody>
      </p:sp>
      <p:pic>
        <p:nvPicPr>
          <p:cNvPr id="5" name="图片 4"/>
          <p:cNvPicPr>
            <a:picLocks noChangeAspect="1"/>
          </p:cNvPicPr>
          <p:nvPr/>
        </p:nvPicPr>
        <p:blipFill>
          <a:blip r:embed="rId2"/>
          <a:stretch>
            <a:fillRect/>
          </a:stretch>
        </p:blipFill>
        <p:spPr>
          <a:xfrm>
            <a:off x="4378960" y="2683510"/>
            <a:ext cx="7795260" cy="1283335"/>
          </a:xfrm>
          <a:prstGeom prst="rect">
            <a:avLst/>
          </a:prstGeom>
        </p:spPr>
      </p:pic>
      <p:pic>
        <p:nvPicPr>
          <p:cNvPr id="6" name="图片 5"/>
          <p:cNvPicPr>
            <a:picLocks noChangeAspect="1"/>
          </p:cNvPicPr>
          <p:nvPr/>
        </p:nvPicPr>
        <p:blipFill>
          <a:blip r:embed="rId3"/>
          <a:stretch>
            <a:fillRect/>
          </a:stretch>
        </p:blipFill>
        <p:spPr>
          <a:xfrm>
            <a:off x="5867400" y="4191000"/>
            <a:ext cx="5878195" cy="2021205"/>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Netdiffusion</a:t>
            </a:r>
            <a:endParaRPr lang="en-US" altLang="zh-CN"/>
          </a:p>
        </p:txBody>
      </p:sp>
      <p:sp>
        <p:nvSpPr>
          <p:cNvPr id="9" name="文本框 8"/>
          <p:cNvSpPr txBox="1"/>
          <p:nvPr/>
        </p:nvSpPr>
        <p:spPr>
          <a:xfrm>
            <a:off x="152400" y="457200"/>
            <a:ext cx="11746865" cy="1410970"/>
          </a:xfrm>
          <a:prstGeom prst="rect">
            <a:avLst/>
          </a:prstGeom>
          <a:noFill/>
        </p:spPr>
        <p:txBody>
          <a:bodyPr wrap="square" rtlCol="0">
            <a:noAutofit/>
          </a:bodyPr>
          <a:p>
            <a:r>
              <a:rPr lang="zh-CN" altLang="en-US"/>
              <a:t>混合数据比例的结果。我们引入</a:t>
            </a:r>
            <a:r>
              <a:rPr lang="en-US" altLang="zh-CN"/>
              <a:t>“</a:t>
            </a:r>
            <a:r>
              <a:rPr lang="zh-CN" altLang="en-US"/>
              <a:t>混合率</a:t>
            </a:r>
            <a:r>
              <a:rPr lang="en-US" altLang="zh-CN"/>
              <a:t>”</a:t>
            </a:r>
            <a:r>
              <a:rPr lang="zh-CN" altLang="en-US"/>
              <a:t>来表示训练集中真实数据被合成数据替换的百分比。</a:t>
            </a:r>
            <a:endParaRPr lang="zh-CN" altLang="en-US"/>
          </a:p>
          <a:p>
            <a:r>
              <a:rPr lang="zh-CN" altLang="en-US"/>
              <a:t>这种方法确保训练集大小在不同的混合速率下保持不变，从而能够清楚地评估混合速率与最终模型精度之间的相互作用。将合成数据的受控混合引入真实数据集中，通常可以通过引入不同的模式来增强模型的鲁棒性，这种做法被认为是数据增强的标准。</a:t>
            </a:r>
            <a:endParaRPr lang="zh-CN" altLang="en-US"/>
          </a:p>
        </p:txBody>
      </p:sp>
      <p:pic>
        <p:nvPicPr>
          <p:cNvPr id="11" name="图片 10"/>
          <p:cNvPicPr>
            <a:picLocks noChangeAspect="1"/>
          </p:cNvPicPr>
          <p:nvPr/>
        </p:nvPicPr>
        <p:blipFill>
          <a:blip r:embed="rId1"/>
          <a:stretch>
            <a:fillRect/>
          </a:stretch>
        </p:blipFill>
        <p:spPr>
          <a:xfrm>
            <a:off x="1828800" y="1676400"/>
            <a:ext cx="7722870" cy="2499360"/>
          </a:xfrm>
          <a:prstGeom prst="rect">
            <a:avLst/>
          </a:prstGeom>
        </p:spPr>
      </p:pic>
      <p:pic>
        <p:nvPicPr>
          <p:cNvPr id="12" name="图片 11"/>
          <p:cNvPicPr>
            <a:picLocks noChangeAspect="1"/>
          </p:cNvPicPr>
          <p:nvPr/>
        </p:nvPicPr>
        <p:blipFill>
          <a:blip r:embed="rId2"/>
          <a:stretch>
            <a:fillRect/>
          </a:stretch>
        </p:blipFill>
        <p:spPr>
          <a:xfrm>
            <a:off x="228600" y="4419600"/>
            <a:ext cx="8402955" cy="1853565"/>
          </a:xfrm>
          <a:prstGeom prst="rect">
            <a:avLst/>
          </a:prstGeom>
        </p:spPr>
      </p:pic>
      <p:sp>
        <p:nvSpPr>
          <p:cNvPr id="13" name="文本框 12"/>
          <p:cNvSpPr txBox="1"/>
          <p:nvPr/>
        </p:nvSpPr>
        <p:spPr>
          <a:xfrm>
            <a:off x="8541385" y="4343400"/>
            <a:ext cx="3242310" cy="2193290"/>
          </a:xfrm>
          <a:prstGeom prst="rect">
            <a:avLst/>
          </a:prstGeom>
          <a:noFill/>
        </p:spPr>
        <p:txBody>
          <a:bodyPr wrap="square" rtlCol="0">
            <a:noAutofit/>
          </a:bodyPr>
          <a:p>
            <a:r>
              <a:rPr lang="zh-CN" altLang="en-US"/>
              <a:t>使用</a:t>
            </a:r>
            <a:r>
              <a:rPr lang="en-US" altLang="zh-CN"/>
              <a:t>NetDiffusion</a:t>
            </a:r>
            <a:r>
              <a:rPr lang="zh-CN" altLang="en-US"/>
              <a:t>增强数据集与</a:t>
            </a:r>
            <a:r>
              <a:rPr lang="en-US" altLang="zh-CN"/>
              <a:t>NetShare</a:t>
            </a:r>
            <a:r>
              <a:rPr lang="zh-CN" altLang="en-US"/>
              <a:t>增强</a:t>
            </a:r>
            <a:r>
              <a:rPr lang="en-US" altLang="zh-CN"/>
              <a:t>NetFlow</a:t>
            </a:r>
            <a:r>
              <a:rPr lang="zh-CN" altLang="en-US"/>
              <a:t>数据集比较不同模型选择的机器学习性能。</a:t>
            </a:r>
            <a:r>
              <a:rPr lang="en-US" altLang="zh-CN"/>
              <a:t>NetDiffusion</a:t>
            </a:r>
            <a:r>
              <a:rPr lang="zh-CN" altLang="en-US"/>
              <a:t>始终如一地产生卓越的结果。</a:t>
            </a: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Netdiffus</a:t>
            </a:r>
            <a:endParaRPr lang="en-US" altLang="zh-CN"/>
          </a:p>
        </p:txBody>
      </p:sp>
      <p:sp>
        <p:nvSpPr>
          <p:cNvPr id="3" name="文本框 2"/>
          <p:cNvSpPr txBox="1"/>
          <p:nvPr/>
        </p:nvSpPr>
        <p:spPr>
          <a:xfrm>
            <a:off x="254000" y="387350"/>
            <a:ext cx="11494770" cy="4782820"/>
          </a:xfrm>
          <a:prstGeom prst="rect">
            <a:avLst/>
          </a:prstGeom>
          <a:noFill/>
        </p:spPr>
        <p:txBody>
          <a:bodyPr wrap="square" rtlCol="0">
            <a:noAutofit/>
          </a:bodyPr>
          <a:p>
            <a:r>
              <a:rPr lang="zh-CN" altLang="en-US"/>
              <a:t>时间序列预处理</a:t>
            </a:r>
            <a:endParaRPr lang="zh-CN" altLang="en-US"/>
          </a:p>
          <a:p>
            <a:r>
              <a:rPr lang="zh-CN" altLang="en-US"/>
              <a:t>从原始流量中提取时间序列特征（如包大小、包间隔等），并进行最大归一化，使数值落在</a:t>
            </a:r>
            <a:r>
              <a:rPr lang="en-US" altLang="zh-CN"/>
              <a:t> [‑1, 1] </a:t>
            </a:r>
            <a:r>
              <a:rPr lang="zh-CN" altLang="en-US"/>
              <a:t>区间。</a:t>
            </a:r>
            <a:endParaRPr lang="zh-CN" altLang="en-US"/>
          </a:p>
          <a:p>
            <a:endParaRPr lang="en-US" altLang="zh-CN"/>
          </a:p>
          <a:p>
            <a:r>
              <a:rPr lang="zh-CN" altLang="en-US"/>
              <a:t>转换为</a:t>
            </a:r>
            <a:r>
              <a:rPr lang="en-US" altLang="zh-CN"/>
              <a:t> GASF </a:t>
            </a:r>
            <a:r>
              <a:rPr lang="zh-CN" altLang="en-US"/>
              <a:t>图像</a:t>
            </a:r>
            <a:endParaRPr lang="zh-CN" altLang="en-US"/>
          </a:p>
          <a:p>
            <a:r>
              <a:rPr lang="zh-CN" altLang="en-US"/>
              <a:t>使用</a:t>
            </a:r>
            <a:r>
              <a:rPr lang="en-US" altLang="zh-CN"/>
              <a:t> Gramian Angular Summation Field</a:t>
            </a:r>
            <a:r>
              <a:rPr lang="zh-CN" altLang="en-US"/>
              <a:t>（</a:t>
            </a:r>
            <a:r>
              <a:rPr lang="en-US" altLang="zh-CN"/>
              <a:t>GASF</a:t>
            </a:r>
            <a:r>
              <a:rPr lang="zh-CN" altLang="en-US"/>
              <a:t>）将归一化后的一维序列编码为二维图像。</a:t>
            </a:r>
            <a:r>
              <a:rPr lang="en-US" altLang="zh-CN"/>
              <a:t>GASF </a:t>
            </a:r>
            <a:r>
              <a:rPr lang="zh-CN" altLang="en-US"/>
              <a:t>通过极坐标变换和角度求和保留时间序列的时序依赖关系。</a:t>
            </a:r>
            <a:endParaRPr lang="zh-CN" altLang="en-US"/>
          </a:p>
          <a:p>
            <a:endParaRPr lang="en-US" altLang="zh-CN"/>
          </a:p>
          <a:p>
            <a:r>
              <a:rPr lang="zh-CN" altLang="en-US"/>
              <a:t>扩散模型训练与生成</a:t>
            </a:r>
            <a:endParaRPr lang="zh-CN" altLang="en-US"/>
          </a:p>
          <a:p>
            <a:r>
              <a:rPr lang="zh-CN" altLang="en-US"/>
              <a:t>采用标准的</a:t>
            </a:r>
            <a:r>
              <a:rPr lang="en-US" altLang="zh-CN"/>
              <a:t> U‑Net </a:t>
            </a:r>
            <a:r>
              <a:rPr lang="zh-CN" altLang="en-US"/>
              <a:t>结构作为去噪网络，设定</a:t>
            </a:r>
            <a:r>
              <a:rPr lang="en-US" altLang="zh-CN"/>
              <a:t> 1000 </a:t>
            </a:r>
            <a:r>
              <a:rPr lang="zh-CN" altLang="en-US"/>
              <a:t>步扩散过程，在</a:t>
            </a:r>
            <a:r>
              <a:rPr lang="en-US" altLang="zh-CN"/>
              <a:t> GASF </a:t>
            </a:r>
            <a:r>
              <a:rPr lang="zh-CN" altLang="en-US"/>
              <a:t>图像上训练扩散模型。训练完成后，模型能够生成与真实流量分布高度相似的合成</a:t>
            </a:r>
            <a:r>
              <a:rPr lang="en-US" altLang="zh-CN"/>
              <a:t> GASF </a:t>
            </a:r>
            <a:r>
              <a:rPr lang="zh-CN" altLang="en-US"/>
              <a:t>图像。</a:t>
            </a:r>
            <a:endParaRPr lang="zh-CN" altLang="en-US"/>
          </a:p>
          <a:p>
            <a:endParaRPr lang="en-US" altLang="zh-CN"/>
          </a:p>
          <a:p>
            <a:r>
              <a:rPr lang="zh-CN" altLang="en-US"/>
              <a:t>下游任务使用</a:t>
            </a:r>
            <a:endParaRPr lang="zh-CN" altLang="en-US"/>
          </a:p>
          <a:p>
            <a:r>
              <a:rPr lang="zh-CN" altLang="en-US"/>
              <a:t>生成的合成</a:t>
            </a:r>
            <a:r>
              <a:rPr lang="en-US" altLang="zh-CN"/>
              <a:t> GASF </a:t>
            </a:r>
            <a:r>
              <a:rPr lang="zh-CN" altLang="en-US"/>
              <a:t>图像可直接用于下游机器学习任务（如流量分类、异常检测、指纹识别），实验表明其在保真度上比基于</a:t>
            </a:r>
            <a:r>
              <a:rPr lang="en-US" altLang="zh-CN"/>
              <a:t> GAN </a:t>
            </a:r>
            <a:r>
              <a:rPr lang="zh-CN" altLang="en-US"/>
              <a:t>的方法提升</a:t>
            </a:r>
            <a:r>
              <a:rPr lang="en-US" altLang="zh-CN"/>
              <a:t> 66.4%</a:t>
            </a:r>
            <a:r>
              <a:rPr lang="zh-CN" altLang="en-US"/>
              <a:t>，在下游任务准确率上提升</a:t>
            </a:r>
            <a:r>
              <a:rPr lang="en-US" altLang="zh-CN"/>
              <a:t> 18.1%</a:t>
            </a:r>
            <a:r>
              <a:rPr lang="zh-CN" altLang="en-US"/>
              <a:t>。</a:t>
            </a:r>
            <a:endParaRPr lang="zh-CN" altLang="en-US"/>
          </a:p>
          <a:p>
            <a:endParaRPr lang="en-US" altLang="zh-CN"/>
          </a:p>
          <a:p>
            <a:r>
              <a:rPr lang="zh-CN" altLang="en-US"/>
              <a:t>论文主要将</a:t>
            </a:r>
            <a:r>
              <a:rPr lang="en-US" altLang="zh-CN"/>
              <a:t> GASF </a:t>
            </a:r>
            <a:r>
              <a:rPr lang="zh-CN" altLang="en-US"/>
              <a:t>图像直接输入下游模型，但</a:t>
            </a:r>
            <a:r>
              <a:rPr lang="en-US" altLang="zh-CN"/>
              <a:t> GASF </a:t>
            </a:r>
            <a:r>
              <a:rPr lang="zh-CN" altLang="en-US"/>
              <a:t>本身是可逆的</a:t>
            </a:r>
            <a:r>
              <a:rPr lang="en-US" altLang="zh-CN"/>
              <a:t>——</a:t>
            </a:r>
            <a:r>
              <a:rPr lang="zh-CN" altLang="en-US"/>
              <a:t>通过图像的主对角线可以还原出原始时间序列的近似值，从而在需要时也能恢复出一维流量轨迹。</a:t>
            </a: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Netdiffus</a:t>
            </a:r>
            <a:endParaRPr lang="en-US" altLang="zh-CN"/>
          </a:p>
        </p:txBody>
      </p:sp>
      <p:sp>
        <p:nvSpPr>
          <p:cNvPr id="6" name="文本框 5"/>
          <p:cNvSpPr txBox="1"/>
          <p:nvPr/>
        </p:nvSpPr>
        <p:spPr>
          <a:xfrm>
            <a:off x="173355" y="381000"/>
            <a:ext cx="6205220" cy="4864735"/>
          </a:xfrm>
          <a:prstGeom prst="rect">
            <a:avLst/>
          </a:prstGeom>
          <a:noFill/>
        </p:spPr>
        <p:txBody>
          <a:bodyPr wrap="square" rtlCol="0">
            <a:noAutofit/>
          </a:bodyPr>
          <a:p>
            <a:r>
              <a:rPr lang="en-US" altLang="zh-CN"/>
              <a:t>D1: Streaming videos </a:t>
            </a:r>
            <a:endParaRPr lang="en-US" altLang="zh-CN"/>
          </a:p>
          <a:p>
            <a:r>
              <a:rPr lang="zh-CN" altLang="en-US"/>
              <a:t>来源：</a:t>
            </a:r>
            <a:r>
              <a:rPr lang="en-US" altLang="zh-CN"/>
              <a:t>YouTube (YT)</a:t>
            </a:r>
            <a:r>
              <a:rPr lang="zh-CN" altLang="en-US"/>
              <a:t>、</a:t>
            </a:r>
            <a:r>
              <a:rPr lang="en-US" altLang="zh-CN"/>
              <a:t>Stan</a:t>
            </a:r>
            <a:r>
              <a:rPr lang="zh-CN" altLang="en-US"/>
              <a:t>和</a:t>
            </a:r>
            <a:r>
              <a:rPr lang="en-US" altLang="zh-CN"/>
              <a:t>Netflix</a:t>
            </a:r>
            <a:r>
              <a:rPr lang="zh-CN" altLang="en-US"/>
              <a:t>平台</a:t>
            </a:r>
            <a:endParaRPr lang="zh-CN" altLang="en-US"/>
          </a:p>
          <a:p>
            <a:r>
              <a:rPr lang="zh-CN" altLang="en-US"/>
              <a:t>内容：从每个平台选取</a:t>
            </a:r>
            <a:r>
              <a:rPr lang="en-US" altLang="zh-CN"/>
              <a:t>20</a:t>
            </a:r>
            <a:r>
              <a:rPr lang="zh-CN" altLang="en-US"/>
              <a:t>个视频</a:t>
            </a:r>
            <a:endParaRPr lang="zh-CN" altLang="en-US"/>
          </a:p>
          <a:p>
            <a:r>
              <a:rPr lang="en-US" altLang="zh-CN"/>
              <a:t>D2: Accessing web pages </a:t>
            </a:r>
            <a:endParaRPr lang="en-US" altLang="zh-CN"/>
          </a:p>
          <a:p>
            <a:r>
              <a:rPr lang="zh-CN" altLang="en-US"/>
              <a:t>来源：公开可用的网页浏览数据集</a:t>
            </a:r>
            <a:endParaRPr lang="en-US" altLang="zh-CN"/>
          </a:p>
          <a:p>
            <a:r>
              <a:rPr lang="zh-CN" altLang="en-US"/>
              <a:t>内容：包含</a:t>
            </a:r>
            <a:r>
              <a:rPr lang="en-US" altLang="zh-CN"/>
              <a:t>20</a:t>
            </a:r>
            <a:r>
              <a:rPr lang="zh-CN" altLang="en-US"/>
              <a:t>个不同网站的数据</a:t>
            </a:r>
            <a:endParaRPr lang="zh-CN" altLang="en-US"/>
          </a:p>
          <a:p>
            <a:r>
              <a:rPr lang="en-US" altLang="zh-CN"/>
              <a:t>D3: IoT smart-home devices </a:t>
            </a:r>
            <a:endParaRPr lang="en-US" altLang="zh-CN"/>
          </a:p>
          <a:p>
            <a:r>
              <a:rPr lang="zh-CN" altLang="en-US"/>
              <a:t>来源：</a:t>
            </a:r>
            <a:r>
              <a:rPr lang="en-US" altLang="zh-CN"/>
              <a:t>Google Home</a:t>
            </a:r>
            <a:r>
              <a:rPr lang="zh-CN" altLang="en-US"/>
              <a:t>和</a:t>
            </a:r>
            <a:r>
              <a:rPr lang="en-US" altLang="zh-CN"/>
              <a:t>Amazon Alexa</a:t>
            </a:r>
            <a:r>
              <a:rPr lang="zh-CN" altLang="en-US"/>
              <a:t>智能家居设备</a:t>
            </a:r>
            <a:endParaRPr lang="zh-CN" altLang="en-US"/>
          </a:p>
          <a:p>
            <a:r>
              <a:rPr lang="zh-CN" altLang="en-US"/>
              <a:t>采集方式：被动监控设备网络流量</a:t>
            </a:r>
            <a:endParaRPr lang="zh-CN" altLang="en-US"/>
          </a:p>
          <a:p>
            <a:r>
              <a:rPr lang="zh-CN" altLang="en-US"/>
              <a:t>内容：用户对每个设备发出</a:t>
            </a:r>
            <a:r>
              <a:rPr lang="en-US" altLang="zh-CN"/>
              <a:t>10</a:t>
            </a:r>
            <a:r>
              <a:rPr lang="zh-CN" altLang="en-US"/>
              <a:t>种不同命令，收集</a:t>
            </a:r>
            <a:r>
              <a:rPr lang="en-US" altLang="zh-CN"/>
              <a:t>1000</a:t>
            </a:r>
            <a:r>
              <a:rPr lang="zh-CN" altLang="en-US"/>
              <a:t>条轨迹</a:t>
            </a:r>
            <a:endParaRPr lang="zh-CN" altLang="en-US"/>
          </a:p>
          <a:p>
            <a:endParaRPr lang="zh-CN" altLang="en-US"/>
          </a:p>
          <a:p>
            <a:r>
              <a:rPr lang="en-US" altLang="zh-CN"/>
              <a:t>Wikipedia Web Traffic</a:t>
            </a:r>
            <a:r>
              <a:rPr lang="zh-CN" altLang="en-US"/>
              <a:t>数据集是一个用于时间序列生成模型评估的公开基准数据集，它记录了维基百科各子域名（如</a:t>
            </a:r>
            <a:r>
              <a:rPr lang="en-US" altLang="zh-CN"/>
              <a:t> en.wikipedia.org</a:t>
            </a:r>
            <a:r>
              <a:rPr lang="zh-CN" altLang="en-US"/>
              <a:t>、</a:t>
            </a:r>
            <a:r>
              <a:rPr lang="en-US" altLang="zh-CN"/>
              <a:t>es.wikipedia.org </a:t>
            </a:r>
            <a:r>
              <a:rPr lang="zh-CN" altLang="en-US"/>
              <a:t>等）的每日页面浏览量。该数据集被</a:t>
            </a:r>
            <a:r>
              <a:rPr lang="en-US" altLang="zh-CN"/>
              <a:t> DoppelGANger </a:t>
            </a:r>
            <a:r>
              <a:rPr lang="zh-CN" altLang="en-US"/>
              <a:t>等生成模型用作训练和测试样本，以验证模型能否合成具有真实流量统计特性（如自相关性、域名分布）的时间序列数据</a:t>
            </a:r>
            <a:endParaRPr lang="zh-CN" altLang="en-US"/>
          </a:p>
        </p:txBody>
      </p:sp>
      <p:pic>
        <p:nvPicPr>
          <p:cNvPr id="8" name="图片 7"/>
          <p:cNvPicPr>
            <a:picLocks noChangeAspect="1"/>
          </p:cNvPicPr>
          <p:nvPr/>
        </p:nvPicPr>
        <p:blipFill>
          <a:blip r:embed="rId1"/>
          <a:stretch>
            <a:fillRect/>
          </a:stretch>
        </p:blipFill>
        <p:spPr>
          <a:xfrm>
            <a:off x="7086600" y="152400"/>
            <a:ext cx="4814570" cy="2308225"/>
          </a:xfrm>
          <a:prstGeom prst="rect">
            <a:avLst/>
          </a:prstGeom>
        </p:spPr>
      </p:pic>
      <p:pic>
        <p:nvPicPr>
          <p:cNvPr id="10" name="图片 9"/>
          <p:cNvPicPr>
            <a:picLocks noChangeAspect="1"/>
          </p:cNvPicPr>
          <p:nvPr/>
        </p:nvPicPr>
        <p:blipFill>
          <a:blip r:embed="rId2"/>
          <a:stretch>
            <a:fillRect/>
          </a:stretch>
        </p:blipFill>
        <p:spPr>
          <a:xfrm>
            <a:off x="6838950" y="2473325"/>
            <a:ext cx="4963160" cy="2369820"/>
          </a:xfrm>
          <a:prstGeom prst="rect">
            <a:avLst/>
          </a:prstGeom>
        </p:spPr>
      </p:pic>
      <p:sp>
        <p:nvSpPr>
          <p:cNvPr id="12" name="文本框 11"/>
          <p:cNvSpPr txBox="1"/>
          <p:nvPr/>
        </p:nvSpPr>
        <p:spPr>
          <a:xfrm>
            <a:off x="228600" y="6137275"/>
            <a:ext cx="6413500" cy="497840"/>
          </a:xfrm>
          <a:prstGeom prst="rect">
            <a:avLst/>
          </a:prstGeom>
          <a:noFill/>
        </p:spPr>
        <p:txBody>
          <a:bodyPr wrap="square" rtlCol="0">
            <a:noAutofit/>
          </a:bodyPr>
          <a:p>
            <a:r>
              <a:rPr lang="zh-CN" altLang="en-US"/>
              <a:t>在原始和合成场景中，通过有限数量的原始数据提高准确性</a:t>
            </a:r>
            <a:endParaRPr lang="zh-CN" altLang="en-US"/>
          </a:p>
        </p:txBody>
      </p:sp>
      <p:pic>
        <p:nvPicPr>
          <p:cNvPr id="13" name="图片 12"/>
          <p:cNvPicPr>
            <a:picLocks noChangeAspect="1"/>
          </p:cNvPicPr>
          <p:nvPr/>
        </p:nvPicPr>
        <p:blipFill>
          <a:blip r:embed="rId3"/>
          <a:stretch>
            <a:fillRect/>
          </a:stretch>
        </p:blipFill>
        <p:spPr>
          <a:xfrm>
            <a:off x="6823075" y="4876800"/>
            <a:ext cx="5092700" cy="195135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NetShare</a:t>
            </a:r>
            <a:endParaRPr lang="en-US" altLang="zh-CN"/>
          </a:p>
        </p:txBody>
      </p:sp>
      <p:sp>
        <p:nvSpPr>
          <p:cNvPr id="6" name="文本框 5"/>
          <p:cNvSpPr txBox="1"/>
          <p:nvPr/>
        </p:nvSpPr>
        <p:spPr>
          <a:xfrm>
            <a:off x="173355" y="381000"/>
            <a:ext cx="11304905" cy="4681855"/>
          </a:xfrm>
          <a:prstGeom prst="rect">
            <a:avLst/>
          </a:prstGeom>
          <a:noFill/>
        </p:spPr>
        <p:txBody>
          <a:bodyPr wrap="square" rtlCol="0">
            <a:noAutofit/>
          </a:bodyPr>
          <a:p>
            <a:r>
              <a:rPr lang="en-US" altLang="zh-CN" sz="1600"/>
              <a:t>NetShare</a:t>
            </a:r>
            <a:r>
              <a:rPr lang="zh-CN" altLang="en-US" sz="1600"/>
              <a:t>将</a:t>
            </a:r>
            <a:r>
              <a:rPr lang="en-US" altLang="zh-CN" sz="1600"/>
              <a:t> </a:t>
            </a:r>
            <a:r>
              <a:rPr lang="zh-CN" altLang="en-US" sz="1600"/>
              <a:t>原始</a:t>
            </a:r>
            <a:r>
              <a:rPr lang="en-US" altLang="zh-CN" sz="1600"/>
              <a:t>PCAP/NetFlow</a:t>
            </a:r>
            <a:r>
              <a:rPr lang="zh-CN" altLang="en-US" sz="1600"/>
              <a:t>数据</a:t>
            </a:r>
            <a:r>
              <a:rPr lang="en-US" altLang="zh-CN" sz="1600"/>
              <a:t> </a:t>
            </a:r>
            <a:r>
              <a:rPr lang="en-US" altLang="en-US" sz="1600"/>
              <a:t>→</a:t>
            </a:r>
            <a:r>
              <a:rPr lang="en-US" altLang="zh-CN" sz="1600"/>
              <a:t> </a:t>
            </a:r>
            <a:r>
              <a:rPr lang="zh-CN" altLang="en-US" sz="1600"/>
              <a:t>五元组分块</a:t>
            </a:r>
            <a:r>
              <a:rPr lang="en-US" altLang="zh-CN" sz="1600"/>
              <a:t>+</a:t>
            </a:r>
            <a:r>
              <a:rPr lang="zh-CN" altLang="en-US" sz="1600"/>
              <a:t>编码</a:t>
            </a:r>
            <a:r>
              <a:rPr lang="en-US" altLang="zh-CN" sz="1600"/>
              <a:t> </a:t>
            </a:r>
            <a:r>
              <a:rPr lang="en-US" altLang="en-US" sz="1600"/>
              <a:t>→</a:t>
            </a:r>
            <a:r>
              <a:rPr lang="en-US" altLang="zh-CN" sz="1600"/>
              <a:t> </a:t>
            </a:r>
            <a:r>
              <a:rPr lang="zh-CN" altLang="en-US" sz="1600"/>
              <a:t>时间序列</a:t>
            </a:r>
            <a:r>
              <a:rPr lang="en-US" altLang="zh-CN" sz="1600"/>
              <a:t>GAN</a:t>
            </a:r>
            <a:r>
              <a:rPr lang="zh-CN" altLang="en-US" sz="1600"/>
              <a:t>训练</a:t>
            </a:r>
            <a:r>
              <a:rPr lang="en-US" altLang="zh-CN" sz="1600"/>
              <a:t> </a:t>
            </a:r>
            <a:r>
              <a:rPr lang="en-US" altLang="en-US" sz="1600"/>
              <a:t>→</a:t>
            </a:r>
            <a:r>
              <a:rPr lang="en-US" altLang="zh-CN" sz="1600"/>
              <a:t> </a:t>
            </a:r>
            <a:r>
              <a:rPr lang="zh-CN" altLang="en-US" sz="1600"/>
              <a:t>生成高保真合成流量</a:t>
            </a:r>
            <a:endParaRPr lang="zh-CN" altLang="en-US" sz="1600"/>
          </a:p>
          <a:p>
            <a:r>
              <a:rPr lang="en-US" altLang="zh-CN" sz="1600" b="1"/>
              <a:t>netflow</a:t>
            </a:r>
            <a:endParaRPr lang="zh-CN" altLang="en-US" sz="1600"/>
          </a:p>
          <a:p>
            <a:r>
              <a:rPr lang="en-US" altLang="zh-CN" sz="1600"/>
              <a:t>1. UGR16</a:t>
            </a:r>
            <a:r>
              <a:rPr lang="zh-CN" altLang="en-US" sz="1600"/>
              <a:t>西班牙</a:t>
            </a:r>
            <a:r>
              <a:rPr lang="en-US" altLang="zh-CN" sz="1600"/>
              <a:t>ISP</a:t>
            </a:r>
            <a:r>
              <a:rPr lang="zh-CN" altLang="en-US" sz="1600"/>
              <a:t>网络</a:t>
            </a:r>
            <a:endParaRPr lang="zh-CN" altLang="en-US" sz="1600"/>
          </a:p>
          <a:p>
            <a:r>
              <a:rPr lang="zh-CN" altLang="en-US" sz="1600"/>
              <a:t>包含正常的互联网流量以及多种网络攻击。记录了五元组信息、流持续时间、包</a:t>
            </a:r>
            <a:r>
              <a:rPr lang="en-US" altLang="zh-CN" sz="1600"/>
              <a:t>/</a:t>
            </a:r>
            <a:r>
              <a:rPr lang="zh-CN" altLang="en-US" sz="1600"/>
              <a:t>字节数和攻击类型。</a:t>
            </a:r>
            <a:endParaRPr lang="zh-CN" altLang="en-US" sz="1600"/>
          </a:p>
          <a:p>
            <a:r>
              <a:rPr lang="en-US" altLang="zh-CN" sz="1600"/>
              <a:t>2. CIDDS-001</a:t>
            </a:r>
            <a:r>
              <a:rPr lang="zh-CN" altLang="en-US" sz="1600"/>
              <a:t>模拟的小型企业网络环境</a:t>
            </a:r>
            <a:endParaRPr lang="zh-CN" altLang="en-US" sz="1600"/>
          </a:p>
          <a:p>
            <a:r>
              <a:rPr lang="zh-CN" altLang="en-US" sz="1600"/>
              <a:t>通过虚拟化技术生成的流量，包含良性流量和多种攻击</a:t>
            </a:r>
            <a:endParaRPr lang="zh-CN" altLang="en-US" sz="1600"/>
          </a:p>
          <a:p>
            <a:r>
              <a:rPr lang="en-US" altLang="zh-CN" sz="1600"/>
              <a:t>3. TON_IoT</a:t>
            </a:r>
            <a:r>
              <a:rPr lang="zh-CN" altLang="en-US" sz="1600"/>
              <a:t>物联网（</a:t>
            </a:r>
            <a:r>
              <a:rPr lang="en-US" altLang="zh-CN" sz="1600"/>
              <a:t>IoT</a:t>
            </a:r>
            <a:r>
              <a:rPr lang="zh-CN" altLang="en-US" sz="1600"/>
              <a:t>）设备网络</a:t>
            </a:r>
            <a:endParaRPr lang="zh-CN" altLang="en-US" sz="1600"/>
          </a:p>
          <a:p>
            <a:r>
              <a:rPr lang="zh-CN" altLang="en-US" sz="1600"/>
              <a:t>来自智能家居和工业</a:t>
            </a:r>
            <a:r>
              <a:rPr lang="en-US" altLang="zh-CN" sz="1600"/>
              <a:t>IoT</a:t>
            </a:r>
            <a:r>
              <a:rPr lang="zh-CN" altLang="en-US" sz="1600"/>
              <a:t>设备的流量数据</a:t>
            </a:r>
            <a:endParaRPr lang="zh-CN" altLang="en-US" sz="1600"/>
          </a:p>
          <a:p>
            <a:r>
              <a:rPr lang="en-US" altLang="zh-CN" sz="1600" b="1"/>
              <a:t>pcap</a:t>
            </a:r>
            <a:endParaRPr lang="zh-CN" altLang="en-US" sz="1600"/>
          </a:p>
          <a:p>
            <a:r>
              <a:rPr lang="en-US" altLang="zh-CN" sz="1600"/>
              <a:t>4. CAIDA</a:t>
            </a:r>
            <a:r>
              <a:rPr lang="zh-CN" altLang="en-US" sz="1600"/>
              <a:t>互联网骨干网监测点（芝加哥</a:t>
            </a:r>
            <a:r>
              <a:rPr lang="en-US" altLang="zh-CN" sz="1600"/>
              <a:t>/</a:t>
            </a:r>
            <a:r>
              <a:rPr lang="zh-CN" altLang="en-US" sz="1600"/>
              <a:t>纽约）</a:t>
            </a:r>
            <a:endParaRPr lang="zh-CN" altLang="en-US" sz="1600"/>
          </a:p>
          <a:p>
            <a:r>
              <a:rPr lang="zh-CN" altLang="en-US" sz="1600"/>
              <a:t>匿名化的高速互联网流量（</a:t>
            </a:r>
            <a:r>
              <a:rPr lang="en-US" altLang="zh-CN" sz="1600"/>
              <a:t>PCAP</a:t>
            </a:r>
            <a:r>
              <a:rPr lang="zh-CN" altLang="en-US" sz="1600"/>
              <a:t>格式），包含</a:t>
            </a:r>
            <a:r>
              <a:rPr lang="en-US" altLang="zh-CN" sz="1600"/>
              <a:t>IP</a:t>
            </a:r>
            <a:r>
              <a:rPr lang="zh-CN" altLang="en-US" sz="1600"/>
              <a:t>包头、</a:t>
            </a:r>
            <a:r>
              <a:rPr lang="en-US" altLang="zh-CN" sz="1600"/>
              <a:t>TCP/UDP</a:t>
            </a:r>
            <a:r>
              <a:rPr lang="zh-CN" altLang="en-US" sz="1600"/>
              <a:t>头部信息及时间戳</a:t>
            </a:r>
            <a:endParaRPr lang="zh-CN" altLang="en-US" sz="1600"/>
          </a:p>
          <a:p>
            <a:r>
              <a:rPr lang="en-US" altLang="zh-CN" sz="1600"/>
              <a:t>5. UNI1</a:t>
            </a:r>
            <a:r>
              <a:rPr lang="zh-CN" altLang="en-US" sz="1600"/>
              <a:t>学术数据中心（来自</a:t>
            </a:r>
            <a:r>
              <a:rPr lang="en-US" altLang="zh-CN" sz="1600"/>
              <a:t>IMC 2010</a:t>
            </a:r>
            <a:r>
              <a:rPr lang="zh-CN" altLang="en-US" sz="1600"/>
              <a:t>数据集）</a:t>
            </a:r>
            <a:endParaRPr lang="zh-CN" altLang="en-US" sz="1600"/>
          </a:p>
          <a:p>
            <a:r>
              <a:rPr lang="zh-CN" altLang="en-US" sz="1600"/>
              <a:t>数据中心的</a:t>
            </a:r>
            <a:r>
              <a:rPr lang="en-US" altLang="zh-CN" sz="1600"/>
              <a:t>TCP/UDP</a:t>
            </a:r>
            <a:r>
              <a:rPr lang="zh-CN" altLang="en-US" sz="1600"/>
              <a:t>流量，特点是短流（如查询请求）和长流（如文件传输）混合。</a:t>
            </a:r>
            <a:endParaRPr lang="zh-CN" altLang="en-US" sz="1600"/>
          </a:p>
          <a:p>
            <a:r>
              <a:rPr lang="en-US" altLang="zh-CN" sz="1600"/>
              <a:t>6. Cyber Attack</a:t>
            </a:r>
            <a:r>
              <a:rPr lang="zh-CN" altLang="en-US" sz="1600"/>
              <a:t>美国高校网络安全竞赛（</a:t>
            </a:r>
            <a:r>
              <a:rPr lang="en-US" altLang="zh-CN" sz="1600"/>
              <a:t>NACDC</a:t>
            </a:r>
            <a:r>
              <a:rPr lang="zh-CN" altLang="en-US" sz="1600"/>
              <a:t>）</a:t>
            </a:r>
            <a:endParaRPr lang="zh-CN" altLang="en-US" sz="1600"/>
          </a:p>
          <a:p>
            <a:r>
              <a:rPr lang="zh-CN" altLang="en-US" sz="1600"/>
              <a:t>包含渗透测试和真实攻击流量，以</a:t>
            </a:r>
            <a:r>
              <a:rPr lang="en-US" altLang="zh-CN" sz="1600"/>
              <a:t>PCAP</a:t>
            </a:r>
            <a:r>
              <a:rPr lang="zh-CN" altLang="en-US" sz="1600"/>
              <a:t>格式提供原始数据包。</a:t>
            </a:r>
            <a:endParaRPr lang="zh-CN" altLang="en-US" sz="1600"/>
          </a:p>
          <a:p>
            <a:endParaRPr lang="zh-CN" altLang="en-US" sz="1600"/>
          </a:p>
        </p:txBody>
      </p:sp>
      <p:pic>
        <p:nvPicPr>
          <p:cNvPr id="5" name="图片 4"/>
          <p:cNvPicPr>
            <a:picLocks noChangeAspect="1"/>
          </p:cNvPicPr>
          <p:nvPr/>
        </p:nvPicPr>
        <p:blipFill>
          <a:blip r:embed="rId1"/>
          <a:stretch>
            <a:fillRect/>
          </a:stretch>
        </p:blipFill>
        <p:spPr>
          <a:xfrm>
            <a:off x="457200" y="4191000"/>
            <a:ext cx="10634980" cy="2520315"/>
          </a:xfrm>
          <a:prstGeom prst="rect">
            <a:avLst/>
          </a:prstGeom>
        </p:spPr>
      </p:pic>
      <p:sp>
        <p:nvSpPr>
          <p:cNvPr id="7" name="文本框 6"/>
          <p:cNvSpPr txBox="1"/>
          <p:nvPr/>
        </p:nvSpPr>
        <p:spPr>
          <a:xfrm>
            <a:off x="7848600" y="2362200"/>
            <a:ext cx="4145915" cy="1599565"/>
          </a:xfrm>
          <a:prstGeom prst="rect">
            <a:avLst/>
          </a:prstGeom>
          <a:noFill/>
        </p:spPr>
        <p:txBody>
          <a:bodyPr wrap="square" rtlCol="0">
            <a:noAutofit/>
          </a:bodyPr>
          <a:p>
            <a:r>
              <a:rPr lang="zh-CN" altLang="en-US"/>
              <a:t>在不同草图算法（如</a:t>
            </a:r>
            <a:r>
              <a:rPr lang="en-US" altLang="zh-CN"/>
              <a:t> CMS</a:t>
            </a:r>
            <a:r>
              <a:rPr lang="zh-CN" altLang="en-US"/>
              <a:t>、</a:t>
            </a:r>
            <a:r>
              <a:rPr lang="en-US" altLang="zh-CN"/>
              <a:t>CS</a:t>
            </a:r>
            <a:r>
              <a:rPr lang="zh-CN" altLang="en-US"/>
              <a:t>、</a:t>
            </a:r>
            <a:r>
              <a:rPr lang="en-US" altLang="zh-CN"/>
              <a:t>UnivMon</a:t>
            </a:r>
            <a:r>
              <a:rPr lang="zh-CN" altLang="en-US"/>
              <a:t>、</a:t>
            </a:r>
            <a:r>
              <a:rPr lang="en-US" altLang="zh-CN"/>
              <a:t>NitroSketch </a:t>
            </a:r>
            <a:r>
              <a:rPr lang="zh-CN" altLang="en-US"/>
              <a:t>等）上，对真实与合成的网络流量数据进行</a:t>
            </a:r>
            <a:r>
              <a:rPr lang="en-US" altLang="zh-CN"/>
              <a:t>“</a:t>
            </a:r>
            <a:r>
              <a:rPr lang="zh-CN" altLang="en-US"/>
              <a:t>大流量项</a:t>
            </a:r>
            <a:r>
              <a:rPr lang="en-US" altLang="zh-CN"/>
              <a:t>”</a:t>
            </a:r>
            <a:r>
              <a:rPr lang="zh-CN" altLang="en-US"/>
              <a:t>数量估计时，所计算的平均相对误差。</a:t>
            </a: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NetShare</a:t>
            </a:r>
            <a:endParaRPr lang="en-US" altLang="zh-CN"/>
          </a:p>
        </p:txBody>
      </p:sp>
      <p:sp>
        <p:nvSpPr>
          <p:cNvPr id="3" name="文本框 2"/>
          <p:cNvSpPr txBox="1"/>
          <p:nvPr/>
        </p:nvSpPr>
        <p:spPr>
          <a:xfrm>
            <a:off x="175895" y="4267200"/>
            <a:ext cx="5596255" cy="2334260"/>
          </a:xfrm>
          <a:prstGeom prst="rect">
            <a:avLst/>
          </a:prstGeom>
          <a:noFill/>
        </p:spPr>
        <p:txBody>
          <a:bodyPr wrap="square" rtlCol="0">
            <a:noAutofit/>
          </a:bodyPr>
          <a:p>
            <a:r>
              <a:rPr lang="en-US" altLang="zh-CN"/>
              <a:t>“</a:t>
            </a:r>
            <a:r>
              <a:rPr lang="zh-CN" altLang="en-US"/>
              <a:t>在</a:t>
            </a:r>
            <a:r>
              <a:rPr lang="en-US" altLang="zh-CN"/>
              <a:t> UGR16</a:t>
            </a:r>
            <a:r>
              <a:rPr lang="zh-CN" altLang="en-US"/>
              <a:t>（</a:t>
            </a:r>
            <a:r>
              <a:rPr lang="en-US" altLang="zh-CN"/>
              <a:t>NetFlow</a:t>
            </a:r>
            <a:r>
              <a:rPr lang="zh-CN" altLang="en-US"/>
              <a:t>）和</a:t>
            </a:r>
            <a:r>
              <a:rPr lang="en-US" altLang="zh-CN"/>
              <a:t> CAIDA</a:t>
            </a:r>
            <a:r>
              <a:rPr lang="zh-CN" altLang="en-US"/>
              <a:t>（</a:t>
            </a:r>
            <a:r>
              <a:rPr lang="en-US" altLang="zh-CN"/>
              <a:t>PCAP</a:t>
            </a:r>
            <a:r>
              <a:rPr lang="zh-CN" altLang="en-US"/>
              <a:t>）数据集上，真实分布与合成分布之间的</a:t>
            </a:r>
            <a:r>
              <a:rPr lang="en-US" altLang="zh-CN"/>
              <a:t> Jensen-Shannon </a:t>
            </a:r>
            <a:r>
              <a:rPr lang="zh-CN" altLang="en-US"/>
              <a:t>散度（</a:t>
            </a:r>
            <a:r>
              <a:rPr lang="en-US" altLang="en-US"/>
              <a:t>↓</a:t>
            </a:r>
            <a:r>
              <a:rPr lang="zh-CN" altLang="en-US"/>
              <a:t>）</a:t>
            </a:r>
            <a:r>
              <a:rPr lang="en-US" altLang="zh-CN"/>
              <a:t>‍ </a:t>
            </a:r>
            <a:r>
              <a:rPr lang="zh-CN" altLang="en-US"/>
              <a:t>和</a:t>
            </a:r>
            <a:r>
              <a:rPr lang="en-US" altLang="zh-CN"/>
              <a:t> </a:t>
            </a:r>
            <a:r>
              <a:rPr lang="zh-CN" altLang="en-US"/>
              <a:t>归一化地球移动距离（</a:t>
            </a:r>
            <a:r>
              <a:rPr lang="en-US" altLang="zh-CN"/>
              <a:t>EMD</a:t>
            </a:r>
            <a:r>
              <a:rPr lang="zh-CN" altLang="en-US"/>
              <a:t>）（</a:t>
            </a:r>
            <a:r>
              <a:rPr lang="en-US" altLang="en-US"/>
              <a:t>↓</a:t>
            </a:r>
            <a:r>
              <a:rPr lang="zh-CN" altLang="en-US"/>
              <a:t>）</a:t>
            </a:r>
            <a:r>
              <a:rPr lang="en-US" altLang="zh-CN"/>
              <a:t>‍</a:t>
            </a:r>
            <a:r>
              <a:rPr lang="zh-CN" altLang="en-US"/>
              <a:t>。</a:t>
            </a:r>
            <a:r>
              <a:rPr lang="en-US" altLang="zh-CN"/>
              <a:t>”</a:t>
            </a:r>
            <a:endParaRPr lang="en-US" altLang="zh-CN"/>
          </a:p>
          <a:p>
            <a:endParaRPr lang="en-US" altLang="zh-CN"/>
          </a:p>
          <a:p>
            <a:r>
              <a:rPr lang="en-US" altLang="zh-CN"/>
              <a:t>JSD</a:t>
            </a:r>
            <a:r>
              <a:rPr lang="zh-CN" altLang="en-US"/>
              <a:t>：用于衡量两个概率分布的相似程度，值越小说明合成数据分布越接近真实数据分布</a:t>
            </a:r>
            <a:r>
              <a:rPr lang="zh-CN" altLang="en-US" b="1"/>
              <a:t>基于</a:t>
            </a:r>
            <a:r>
              <a:rPr lang="en-US" altLang="zh-CN" b="1"/>
              <a:t>KL</a:t>
            </a:r>
            <a:r>
              <a:rPr lang="zh-CN" altLang="en-US" b="1"/>
              <a:t>散度计算</a:t>
            </a:r>
            <a:endParaRPr lang="zh-CN" altLang="en-US"/>
          </a:p>
          <a:p>
            <a:r>
              <a:rPr lang="en-US" altLang="zh-CN"/>
              <a:t>(EMD</a:t>
            </a:r>
            <a:r>
              <a:rPr lang="zh-CN" altLang="en-US"/>
              <a:t>：描述把一个分布</a:t>
            </a:r>
            <a:r>
              <a:rPr lang="en-US" altLang="zh-CN"/>
              <a:t>“</a:t>
            </a:r>
            <a:r>
              <a:rPr lang="zh-CN" altLang="en-US"/>
              <a:t>搬移</a:t>
            </a:r>
            <a:r>
              <a:rPr lang="en-US" altLang="zh-CN"/>
              <a:t>”</a:t>
            </a:r>
            <a:r>
              <a:rPr lang="zh-CN" altLang="en-US"/>
              <a:t>成另一个分布所需的最小工作量，经过归一化后便于比较，越小表示合成数据与真实数据在特征上的分布越接近</a:t>
            </a:r>
            <a:endParaRPr lang="zh-CN" altLang="en-US"/>
          </a:p>
        </p:txBody>
      </p:sp>
      <p:pic>
        <p:nvPicPr>
          <p:cNvPr id="4" name="图片 3"/>
          <p:cNvPicPr>
            <a:picLocks noChangeAspect="1"/>
          </p:cNvPicPr>
          <p:nvPr/>
        </p:nvPicPr>
        <p:blipFill>
          <a:blip r:embed="rId1"/>
          <a:stretch>
            <a:fillRect/>
          </a:stretch>
        </p:blipFill>
        <p:spPr>
          <a:xfrm>
            <a:off x="381000" y="533400"/>
            <a:ext cx="5227955" cy="3790950"/>
          </a:xfrm>
          <a:prstGeom prst="rect">
            <a:avLst/>
          </a:prstGeom>
        </p:spPr>
      </p:pic>
      <p:pic>
        <p:nvPicPr>
          <p:cNvPr id="5" name="图片 4"/>
          <p:cNvPicPr>
            <a:picLocks noChangeAspect="1"/>
          </p:cNvPicPr>
          <p:nvPr/>
        </p:nvPicPr>
        <p:blipFill>
          <a:blip r:embed="rId2"/>
          <a:stretch>
            <a:fillRect/>
          </a:stretch>
        </p:blipFill>
        <p:spPr>
          <a:xfrm>
            <a:off x="6629400" y="304800"/>
            <a:ext cx="4747895" cy="2515235"/>
          </a:xfrm>
          <a:prstGeom prst="rect">
            <a:avLst/>
          </a:prstGeom>
        </p:spPr>
      </p:pic>
      <p:sp>
        <p:nvSpPr>
          <p:cNvPr id="7" name="文本框 6"/>
          <p:cNvSpPr txBox="1"/>
          <p:nvPr/>
        </p:nvSpPr>
        <p:spPr>
          <a:xfrm>
            <a:off x="5943600" y="2667000"/>
            <a:ext cx="5770245" cy="1206500"/>
          </a:xfrm>
          <a:prstGeom prst="rect">
            <a:avLst/>
          </a:prstGeom>
          <a:noFill/>
        </p:spPr>
        <p:txBody>
          <a:bodyPr wrap="square" rtlCol="0">
            <a:noAutofit/>
          </a:bodyPr>
          <a:p>
            <a:r>
              <a:rPr lang="en-US" altLang="zh-CN"/>
              <a:t>TON</a:t>
            </a:r>
            <a:r>
              <a:rPr lang="zh-CN" altLang="en-US"/>
              <a:t>上的</a:t>
            </a:r>
            <a:r>
              <a:rPr lang="en-US" altLang="zh-CN"/>
              <a:t>NetFlow</a:t>
            </a:r>
            <a:r>
              <a:rPr lang="zh-CN" altLang="en-US"/>
              <a:t>流量类型预测准确性（</a:t>
            </a:r>
            <a:r>
              <a:rPr lang="en-US" altLang="en-US"/>
              <a:t>↑</a:t>
            </a:r>
            <a:r>
              <a:rPr lang="zh-CN" altLang="en-US"/>
              <a:t>）：所有分类器都使用</a:t>
            </a:r>
            <a:r>
              <a:rPr lang="en-US" altLang="zh-CN"/>
              <a:t>NetShare</a:t>
            </a:r>
            <a:r>
              <a:rPr lang="zh-CN" altLang="en-US"/>
              <a:t>生成的合成数据实现了最高的准确性。</a:t>
            </a:r>
            <a:endParaRPr lang="zh-CN" altLang="en-US"/>
          </a:p>
        </p:txBody>
      </p:sp>
      <p:sp>
        <p:nvSpPr>
          <p:cNvPr id="8" name="文本框 7"/>
          <p:cNvSpPr txBox="1"/>
          <p:nvPr/>
        </p:nvSpPr>
        <p:spPr>
          <a:xfrm>
            <a:off x="5624830" y="5162550"/>
            <a:ext cx="6461760" cy="1439545"/>
          </a:xfrm>
          <a:prstGeom prst="rect">
            <a:avLst/>
          </a:prstGeom>
          <a:noFill/>
        </p:spPr>
        <p:txBody>
          <a:bodyPr wrap="square" rtlCol="0">
            <a:noAutofit/>
          </a:bodyPr>
          <a:p>
            <a:r>
              <a:rPr lang="en-US" altLang="zh-CN"/>
              <a:t>“</a:t>
            </a:r>
            <a:r>
              <a:rPr lang="zh-CN" altLang="en-US"/>
              <a:t>秩相关性（</a:t>
            </a:r>
            <a:r>
              <a:rPr lang="en-US" altLang="en-US"/>
              <a:t>↑</a:t>
            </a:r>
            <a:r>
              <a:rPr lang="zh-CN" altLang="en-US"/>
              <a:t>）</a:t>
            </a:r>
            <a:r>
              <a:rPr lang="en-US" altLang="zh-CN"/>
              <a:t>”</a:t>
            </a:r>
            <a:r>
              <a:rPr lang="zh-CN" altLang="en-US"/>
              <a:t>在这里指的是预测算法在</a:t>
            </a:r>
            <a:r>
              <a:rPr lang="en-US" altLang="zh-CN"/>
              <a:t> CIDDS </a:t>
            </a:r>
            <a:r>
              <a:rPr lang="zh-CN" altLang="en-US"/>
              <a:t>和</a:t>
            </a:r>
            <a:r>
              <a:rPr lang="en-US" altLang="zh-CN"/>
              <a:t> TON </a:t>
            </a:r>
            <a:r>
              <a:rPr lang="zh-CN" altLang="en-US"/>
              <a:t>两个数据集上的排名相关性，通常使用</a:t>
            </a:r>
            <a:r>
              <a:rPr lang="en-US" altLang="zh-CN"/>
              <a:t> Spearman </a:t>
            </a:r>
            <a:r>
              <a:rPr lang="zh-CN" altLang="en-US"/>
              <a:t>秩相关系数</a:t>
            </a:r>
            <a:endParaRPr lang="zh-CN" altLang="en-US"/>
          </a:p>
          <a:p>
            <a:r>
              <a:rPr lang="zh-CN" altLang="en-US"/>
              <a:t>含义：它比较不同算法在真实数据上得到的性能排名与在合成数据上得到的性能排名之间的一致性。</a:t>
            </a:r>
            <a:endParaRPr lang="zh-CN" altLang="en-US"/>
          </a:p>
        </p:txBody>
      </p:sp>
      <p:pic>
        <p:nvPicPr>
          <p:cNvPr id="9" name="图片 8"/>
          <p:cNvPicPr>
            <a:picLocks noChangeAspect="1"/>
          </p:cNvPicPr>
          <p:nvPr/>
        </p:nvPicPr>
        <p:blipFill>
          <a:blip r:embed="rId3"/>
          <a:stretch>
            <a:fillRect/>
          </a:stretch>
        </p:blipFill>
        <p:spPr>
          <a:xfrm>
            <a:off x="6705600" y="3873500"/>
            <a:ext cx="4187825" cy="103759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TrafficGPT</a:t>
            </a:r>
            <a:endParaRPr lang="en-US" altLang="zh-CN"/>
          </a:p>
        </p:txBody>
      </p:sp>
      <p:sp>
        <p:nvSpPr>
          <p:cNvPr id="6" name="文本框 5"/>
          <p:cNvSpPr txBox="1"/>
          <p:nvPr/>
        </p:nvSpPr>
        <p:spPr>
          <a:xfrm>
            <a:off x="173355" y="381000"/>
            <a:ext cx="11304905" cy="2313305"/>
          </a:xfrm>
          <a:prstGeom prst="rect">
            <a:avLst/>
          </a:prstGeom>
          <a:noFill/>
        </p:spPr>
        <p:txBody>
          <a:bodyPr wrap="square" rtlCol="0">
            <a:noAutofit/>
          </a:bodyPr>
          <a:p>
            <a:r>
              <a:rPr lang="en-US" altLang="zh-CN"/>
              <a:t>TrafficGPT  </a:t>
            </a:r>
            <a:r>
              <a:rPr lang="zh-CN" altLang="en-US"/>
              <a:t>将</a:t>
            </a:r>
            <a:r>
              <a:rPr lang="en-US" altLang="zh-CN"/>
              <a:t>pcap</a:t>
            </a:r>
            <a:r>
              <a:rPr lang="zh-CN" altLang="en-US"/>
              <a:t>原始网络流量数据按五元组拆分为独立的数据流（</a:t>
            </a:r>
            <a:r>
              <a:rPr lang="en-US" altLang="zh-CN"/>
              <a:t>Flow</a:t>
            </a:r>
            <a:r>
              <a:rPr lang="zh-CN" altLang="en-US"/>
              <a:t>），并将每个流转换为包含协议头、时间戳和负载的</a:t>
            </a:r>
            <a:r>
              <a:rPr lang="en-US" altLang="zh-CN"/>
              <a:t> </a:t>
            </a:r>
            <a:r>
              <a:rPr lang="zh-CN" altLang="en-US"/>
              <a:t>可逆</a:t>
            </a:r>
            <a:r>
              <a:rPr lang="en-US" altLang="zh-CN"/>
              <a:t>Token</a:t>
            </a:r>
            <a:r>
              <a:rPr lang="zh-CN" altLang="en-US"/>
              <a:t>序列；然后通过</a:t>
            </a:r>
            <a:r>
              <a:rPr lang="en-US" altLang="zh-CN"/>
              <a:t>  </a:t>
            </a:r>
            <a:r>
              <a:rPr lang="zh-CN" altLang="en-US" b="1"/>
              <a:t>线性注意力</a:t>
            </a:r>
            <a:r>
              <a:rPr lang="en-US" altLang="zh-CN"/>
              <a:t>   Transformer </a:t>
            </a:r>
            <a:r>
              <a:rPr lang="zh-CN" altLang="en-US"/>
              <a:t>进行自回归预训练。</a:t>
            </a:r>
            <a:endParaRPr lang="zh-CN" altLang="en-US"/>
          </a:p>
          <a:p>
            <a:r>
              <a:rPr lang="zh-CN" altLang="en-US"/>
              <a:t>生成时，模型从初始</a:t>
            </a:r>
            <a:r>
              <a:rPr lang="en-US" altLang="zh-CN"/>
              <a:t>Token</a:t>
            </a:r>
            <a:r>
              <a:rPr lang="zh-CN" altLang="en-US"/>
              <a:t>逐步预测后续</a:t>
            </a:r>
            <a:r>
              <a:rPr lang="en-US" altLang="zh-CN"/>
              <a:t>Token</a:t>
            </a:r>
            <a:r>
              <a:rPr lang="zh-CN" altLang="en-US"/>
              <a:t>，再通过反向</a:t>
            </a:r>
            <a:r>
              <a:rPr lang="en-US" altLang="zh-CN"/>
              <a:t>Token</a:t>
            </a:r>
            <a:r>
              <a:rPr lang="zh-CN" altLang="en-US"/>
              <a:t>化还原为标准</a:t>
            </a:r>
            <a:r>
              <a:rPr lang="en-US" altLang="zh-CN"/>
              <a:t> pcap </a:t>
            </a:r>
            <a:r>
              <a:rPr lang="zh-CN" altLang="en-US"/>
              <a:t>文件。</a:t>
            </a:r>
            <a:endParaRPr lang="zh-CN" altLang="en-US"/>
          </a:p>
          <a:p>
            <a:endParaRPr lang="zh-CN" altLang="en-US"/>
          </a:p>
          <a:p>
            <a:r>
              <a:rPr lang="zh-CN" altLang="en-US"/>
              <a:t>收集了五个可公开访问的数据集的综合汇编，总大小为</a:t>
            </a:r>
            <a:r>
              <a:rPr lang="en-US" altLang="zh-CN"/>
              <a:t>189GB</a:t>
            </a:r>
            <a:r>
              <a:rPr lang="zh-CN" altLang="en-US"/>
              <a:t>。所包含的数据集是</a:t>
            </a:r>
            <a:r>
              <a:rPr lang="en-US" altLang="zh-CN"/>
              <a:t>ISCXTor2016[52]</a:t>
            </a:r>
            <a:r>
              <a:rPr lang="zh-CN" altLang="en-US"/>
              <a:t>、</a:t>
            </a:r>
            <a:r>
              <a:rPr lang="en-US" altLang="zh-CN"/>
              <a:t>USTCTFC2016[53]</a:t>
            </a:r>
            <a:r>
              <a:rPr lang="zh-CN" altLang="en-US"/>
              <a:t>、</a:t>
            </a:r>
            <a:r>
              <a:rPr lang="en-US" altLang="zh-CN"/>
              <a:t>ISCXVPN2016[54]</a:t>
            </a:r>
            <a:r>
              <a:rPr lang="zh-CN" altLang="en-US"/>
              <a:t>、</a:t>
            </a:r>
            <a:r>
              <a:rPr lang="en-US" altLang="zh-CN"/>
              <a:t>DoHBrw2020[55]</a:t>
            </a:r>
            <a:r>
              <a:rPr lang="zh-CN" altLang="en-US"/>
              <a:t>和</a:t>
            </a:r>
            <a:r>
              <a:rPr lang="en-US" altLang="zh-CN"/>
              <a:t>CICIoT2022[56]</a:t>
            </a:r>
            <a:r>
              <a:rPr lang="zh-CN" altLang="en-US"/>
              <a:t>，涵盖了</a:t>
            </a:r>
            <a:r>
              <a:rPr lang="en-US" altLang="zh-CN"/>
              <a:t>TCP/IP</a:t>
            </a:r>
            <a:r>
              <a:rPr lang="zh-CN" altLang="en-US"/>
              <a:t>框架内运行的各种网络流量类型。这包括终端用户互联网活动、虚拟专用网络流量、</a:t>
            </a:r>
            <a:r>
              <a:rPr lang="en-US" altLang="zh-CN"/>
              <a:t>Tor</a:t>
            </a:r>
            <a:r>
              <a:rPr lang="zh-CN" altLang="en-US"/>
              <a:t>网络流量和物联网通信。</a:t>
            </a:r>
            <a:endParaRPr lang="zh-CN" altLang="en-US"/>
          </a:p>
          <a:p>
            <a:endParaRPr lang="zh-CN" altLang="en-US"/>
          </a:p>
        </p:txBody>
      </p:sp>
      <p:pic>
        <p:nvPicPr>
          <p:cNvPr id="3" name="图片 2"/>
          <p:cNvPicPr>
            <a:picLocks noChangeAspect="1"/>
          </p:cNvPicPr>
          <p:nvPr/>
        </p:nvPicPr>
        <p:blipFill>
          <a:blip r:embed="rId1"/>
          <a:stretch>
            <a:fillRect/>
          </a:stretch>
        </p:blipFill>
        <p:spPr>
          <a:xfrm>
            <a:off x="609600" y="2694305"/>
            <a:ext cx="8180070" cy="2644140"/>
          </a:xfrm>
          <a:prstGeom prst="rect">
            <a:avLst/>
          </a:prstGeom>
        </p:spPr>
      </p:pic>
      <p:sp>
        <p:nvSpPr>
          <p:cNvPr id="4" name="文本框 3"/>
          <p:cNvSpPr txBox="1"/>
          <p:nvPr/>
        </p:nvSpPr>
        <p:spPr>
          <a:xfrm>
            <a:off x="2971800" y="5638800"/>
            <a:ext cx="4064000" cy="368300"/>
          </a:xfrm>
          <a:prstGeom prst="rect">
            <a:avLst/>
          </a:prstGeom>
          <a:noFill/>
        </p:spPr>
        <p:txBody>
          <a:bodyPr wrap="square" rtlCol="0">
            <a:spAutoFit/>
          </a:bodyPr>
          <a:p>
            <a:r>
              <a:rPr lang="zh-CN" altLang="en-US"/>
              <a:t>包级别和流级别的</a:t>
            </a:r>
            <a:r>
              <a:rPr lang="en-US" altLang="zh-CN"/>
              <a:t>JSD</a:t>
            </a:r>
            <a:r>
              <a:rPr lang="zh-CN" altLang="en-US"/>
              <a:t>散度计算</a:t>
            </a: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TrafficLLM</a:t>
            </a:r>
            <a:endParaRPr lang="en-US" altLang="zh-CN"/>
          </a:p>
        </p:txBody>
      </p:sp>
      <p:sp>
        <p:nvSpPr>
          <p:cNvPr id="6" name="文本框 5"/>
          <p:cNvSpPr txBox="1"/>
          <p:nvPr/>
        </p:nvSpPr>
        <p:spPr>
          <a:xfrm>
            <a:off x="173355" y="381000"/>
            <a:ext cx="11304905" cy="2313305"/>
          </a:xfrm>
          <a:prstGeom prst="rect">
            <a:avLst/>
          </a:prstGeom>
          <a:noFill/>
        </p:spPr>
        <p:txBody>
          <a:bodyPr wrap="square" rtlCol="0">
            <a:noAutofit/>
          </a:bodyPr>
          <a:p>
            <a:r>
              <a:rPr lang="en-US" altLang="zh-CN"/>
              <a:t>TrafficLLM </a:t>
            </a:r>
            <a:r>
              <a:rPr lang="zh-CN" altLang="en-US"/>
              <a:t>是一个专为网络流量分析设计的大语言模型框架，它通过双阶段微调技术，将原始网络流量数据（如协议头、负载等）与专家指令文本结合，</a:t>
            </a:r>
            <a:r>
              <a:rPr lang="zh-CN" altLang="en-US" b="1"/>
              <a:t>训练模型学习通用的流量表示。</a:t>
            </a:r>
            <a:endParaRPr lang="zh-CN" altLang="en-US" b="1"/>
          </a:p>
          <a:p>
            <a:r>
              <a:rPr lang="zh-CN" altLang="en-US"/>
              <a:t>其核心创新包括：</a:t>
            </a:r>
            <a:r>
              <a:rPr lang="en-US" altLang="zh-CN"/>
              <a:t>1</a:t>
            </a:r>
            <a:r>
              <a:rPr lang="zh-CN" altLang="en-US"/>
              <a:t>）</a:t>
            </a:r>
            <a:r>
              <a:rPr lang="en-US" altLang="zh-CN"/>
              <a:t>‍</a:t>
            </a:r>
            <a:r>
              <a:rPr lang="zh-CN" altLang="en-US"/>
              <a:t>流量领域分词，将异构流量数据转换为高效</a:t>
            </a:r>
            <a:r>
              <a:rPr lang="en-US" altLang="zh-CN"/>
              <a:t>Token</a:t>
            </a:r>
            <a:r>
              <a:rPr lang="zh-CN" altLang="en-US"/>
              <a:t>序列；</a:t>
            </a:r>
            <a:r>
              <a:rPr lang="en-US" altLang="zh-CN"/>
              <a:t>2</a:t>
            </a:r>
            <a:r>
              <a:rPr lang="zh-CN" altLang="en-US"/>
              <a:t>）</a:t>
            </a:r>
            <a:r>
              <a:rPr lang="en-US" altLang="zh-CN"/>
              <a:t>‍</a:t>
            </a:r>
            <a:r>
              <a:rPr lang="zh-CN" altLang="en-US"/>
              <a:t>多阶段学习管道，先理解安全任务指令，再提取任务相关的流量模式；</a:t>
            </a:r>
            <a:r>
              <a:rPr lang="en-US" altLang="zh-CN"/>
              <a:t>3</a:t>
            </a:r>
            <a:r>
              <a:rPr lang="zh-CN" altLang="en-US"/>
              <a:t>）</a:t>
            </a:r>
            <a:r>
              <a:rPr lang="en-US" altLang="zh-CN"/>
              <a:t>‍</a:t>
            </a:r>
            <a:r>
              <a:rPr lang="zh-CN" altLang="en-US"/>
              <a:t>轻量化适配机制（</a:t>
            </a:r>
            <a:r>
              <a:rPr lang="en-US" altLang="zh-CN"/>
              <a:t>EA-PEFT</a:t>
            </a:r>
            <a:r>
              <a:rPr lang="zh-CN" altLang="en-US"/>
              <a:t>），仅需更新</a:t>
            </a:r>
            <a:r>
              <a:rPr lang="en-US" altLang="zh-CN"/>
              <a:t>0.62%</a:t>
            </a:r>
            <a:r>
              <a:rPr lang="zh-CN" altLang="en-US"/>
              <a:t>参数即可适应新场景。</a:t>
            </a:r>
            <a:endParaRPr lang="zh-CN" altLang="en-US"/>
          </a:p>
          <a:p>
            <a:r>
              <a:rPr lang="zh-CN" altLang="en-US"/>
              <a:t>前置处理机制</a:t>
            </a:r>
            <a:r>
              <a:rPr lang="en-US" altLang="zh-CN"/>
              <a:t> + </a:t>
            </a:r>
            <a:r>
              <a:rPr lang="zh-CN" altLang="en-US"/>
              <a:t>大模型核心</a:t>
            </a:r>
            <a:r>
              <a:rPr lang="en-US" altLang="zh-CN"/>
              <a:t> + </a:t>
            </a:r>
            <a:r>
              <a:rPr lang="zh-CN" altLang="en-US"/>
              <a:t>任务适配输出</a:t>
            </a:r>
            <a:endParaRPr lang="zh-CN" altLang="en-US"/>
          </a:p>
        </p:txBody>
      </p:sp>
      <p:pic>
        <p:nvPicPr>
          <p:cNvPr id="5" name="图片 4"/>
          <p:cNvPicPr>
            <a:picLocks noChangeAspect="1"/>
          </p:cNvPicPr>
          <p:nvPr/>
        </p:nvPicPr>
        <p:blipFill>
          <a:blip r:embed="rId1"/>
          <a:stretch>
            <a:fillRect/>
          </a:stretch>
        </p:blipFill>
        <p:spPr>
          <a:xfrm>
            <a:off x="152400" y="2209800"/>
            <a:ext cx="11747500" cy="405638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TrafficLLM</a:t>
            </a:r>
            <a:endParaRPr lang="en-US" altLang="zh-CN"/>
          </a:p>
        </p:txBody>
      </p:sp>
      <p:sp>
        <p:nvSpPr>
          <p:cNvPr id="6" name="文本框 5"/>
          <p:cNvSpPr txBox="1"/>
          <p:nvPr/>
        </p:nvSpPr>
        <p:spPr>
          <a:xfrm>
            <a:off x="173355" y="381000"/>
            <a:ext cx="11304905" cy="1794510"/>
          </a:xfrm>
          <a:prstGeom prst="rect">
            <a:avLst/>
          </a:prstGeom>
          <a:noFill/>
        </p:spPr>
        <p:txBody>
          <a:bodyPr wrap="square" rtlCol="0">
            <a:noAutofit/>
          </a:bodyPr>
          <a:p>
            <a:r>
              <a:rPr lang="zh-CN" altLang="en-US"/>
              <a:t>恶意流量检测（</a:t>
            </a:r>
            <a:r>
              <a:rPr lang="en-US" altLang="zh-CN"/>
              <a:t>USTC TFC 2016[40]</a:t>
            </a:r>
            <a:r>
              <a:rPr lang="zh-CN" altLang="en-US"/>
              <a:t>）、僵尸网络检测（</a:t>
            </a:r>
            <a:r>
              <a:rPr lang="en-US" altLang="zh-CN"/>
              <a:t>ISCX botnet 2014[46]</a:t>
            </a:r>
            <a:r>
              <a:rPr lang="zh-CN" altLang="en-US"/>
              <a:t>）、恶意</a:t>
            </a:r>
            <a:r>
              <a:rPr lang="en-US" altLang="zh-CN"/>
              <a:t>DoH</a:t>
            </a:r>
            <a:r>
              <a:rPr lang="zh-CN" altLang="en-US"/>
              <a:t>检测（</a:t>
            </a:r>
            <a:r>
              <a:rPr lang="en-US" altLang="zh-CN"/>
              <a:t>CIC DoHBrw 2020[50]</a:t>
            </a:r>
            <a:r>
              <a:rPr lang="zh-CN" altLang="en-US"/>
              <a:t>）和网络攻击检测（</a:t>
            </a:r>
            <a:r>
              <a:rPr lang="en-US" altLang="zh-CN"/>
              <a:t>CSIC 2010[51]</a:t>
            </a:r>
            <a:r>
              <a:rPr lang="zh-CN" altLang="en-US"/>
              <a:t>）任务、加密</a:t>
            </a:r>
            <a:r>
              <a:rPr lang="en-US" altLang="zh-CN"/>
              <a:t>VPN</a:t>
            </a:r>
            <a:r>
              <a:rPr lang="zh-CN" altLang="en-US"/>
              <a:t>检测（</a:t>
            </a:r>
            <a:r>
              <a:rPr lang="en-US" altLang="zh-CN"/>
              <a:t>ISCX VPN 2016[52]</a:t>
            </a:r>
            <a:r>
              <a:rPr lang="zh-CN" altLang="en-US"/>
              <a:t>）、</a:t>
            </a:r>
            <a:r>
              <a:rPr lang="en-US" altLang="zh-CN"/>
              <a:t>Tor</a:t>
            </a:r>
            <a:r>
              <a:rPr lang="zh-CN" altLang="en-US"/>
              <a:t>行为检测（</a:t>
            </a:r>
            <a:r>
              <a:rPr lang="en-US" altLang="zh-CN"/>
              <a:t>ISCX-Tor 2016[53]</a:t>
            </a:r>
            <a:r>
              <a:rPr lang="zh-CN" altLang="en-US"/>
              <a:t>）、加密应用程序分类（</a:t>
            </a:r>
            <a:r>
              <a:rPr lang="en-US" altLang="zh-CN"/>
              <a:t>CSTNET 2023[16]</a:t>
            </a:r>
            <a:r>
              <a:rPr lang="zh-CN" altLang="en-US"/>
              <a:t>）和网站指纹识别（</a:t>
            </a:r>
            <a:r>
              <a:rPr lang="en-US" altLang="zh-CN"/>
              <a:t>CW-100 2024[54]</a:t>
            </a:r>
            <a:r>
              <a:rPr lang="zh-CN" altLang="en-US"/>
              <a:t>）</a:t>
            </a:r>
            <a:endParaRPr lang="zh-CN" altLang="en-US"/>
          </a:p>
          <a:p>
            <a:r>
              <a:rPr lang="zh-CN" altLang="en-US"/>
              <a:t>选择这些数据集来覆盖流量中的各种应用程序（即移动应用程序、网站和恶意软件）、协议（即</a:t>
            </a:r>
            <a:r>
              <a:rPr lang="en-US" altLang="zh-CN"/>
              <a:t>HTTP</a:t>
            </a:r>
            <a:r>
              <a:rPr lang="zh-CN" altLang="en-US"/>
              <a:t>、</a:t>
            </a:r>
            <a:r>
              <a:rPr lang="en-US" altLang="zh-CN"/>
              <a:t>QUIC</a:t>
            </a:r>
            <a:r>
              <a:rPr lang="zh-CN" altLang="en-US"/>
              <a:t>、</a:t>
            </a:r>
            <a:r>
              <a:rPr lang="en-US" altLang="zh-CN"/>
              <a:t>TLS1.3</a:t>
            </a:r>
            <a:r>
              <a:rPr lang="zh-CN" altLang="en-US"/>
              <a:t>和</a:t>
            </a:r>
            <a:r>
              <a:rPr lang="en-US" altLang="zh-CN"/>
              <a:t>DoH</a:t>
            </a:r>
            <a:r>
              <a:rPr lang="zh-CN" altLang="en-US"/>
              <a:t>）、网络环境（即</a:t>
            </a:r>
            <a:r>
              <a:rPr lang="en-US" altLang="zh-CN"/>
              <a:t>VPN</a:t>
            </a:r>
            <a:r>
              <a:rPr lang="zh-CN" altLang="en-US"/>
              <a:t>、</a:t>
            </a:r>
            <a:r>
              <a:rPr lang="en-US" altLang="zh-CN"/>
              <a:t>Tor</a:t>
            </a:r>
            <a:r>
              <a:rPr lang="zh-CN" altLang="en-US"/>
              <a:t>和僵尸网络）和攻击（即网络攻击和</a:t>
            </a:r>
            <a:r>
              <a:rPr lang="en-US" altLang="zh-CN"/>
              <a:t>APT</a:t>
            </a:r>
            <a:r>
              <a:rPr lang="zh-CN" altLang="en-US"/>
              <a:t>攻击）。</a:t>
            </a:r>
            <a:endParaRPr lang="zh-CN" altLang="en-US"/>
          </a:p>
        </p:txBody>
      </p:sp>
      <p:pic>
        <p:nvPicPr>
          <p:cNvPr id="4" name="图片 3"/>
          <p:cNvPicPr>
            <a:picLocks noChangeAspect="1"/>
          </p:cNvPicPr>
          <p:nvPr/>
        </p:nvPicPr>
        <p:blipFill>
          <a:blip r:embed="rId1"/>
          <a:stretch>
            <a:fillRect/>
          </a:stretch>
        </p:blipFill>
        <p:spPr>
          <a:xfrm>
            <a:off x="0" y="1905000"/>
            <a:ext cx="5970270" cy="2513965"/>
          </a:xfrm>
          <a:prstGeom prst="rect">
            <a:avLst/>
          </a:prstGeom>
        </p:spPr>
      </p:pic>
      <p:pic>
        <p:nvPicPr>
          <p:cNvPr id="5" name="图片 4"/>
          <p:cNvPicPr>
            <a:picLocks noChangeAspect="1"/>
          </p:cNvPicPr>
          <p:nvPr/>
        </p:nvPicPr>
        <p:blipFill>
          <a:blip r:embed="rId2"/>
          <a:stretch>
            <a:fillRect/>
          </a:stretch>
        </p:blipFill>
        <p:spPr>
          <a:xfrm>
            <a:off x="5791200" y="1752600"/>
            <a:ext cx="6379845" cy="3291205"/>
          </a:xfrm>
          <a:prstGeom prst="rect">
            <a:avLst/>
          </a:prstGeom>
        </p:spPr>
      </p:pic>
      <p:sp>
        <p:nvSpPr>
          <p:cNvPr id="7" name="文本框 6"/>
          <p:cNvSpPr txBox="1"/>
          <p:nvPr/>
        </p:nvSpPr>
        <p:spPr>
          <a:xfrm>
            <a:off x="4495800" y="5181600"/>
            <a:ext cx="7520305" cy="1556385"/>
          </a:xfrm>
          <a:prstGeom prst="rect">
            <a:avLst/>
          </a:prstGeom>
          <a:noFill/>
        </p:spPr>
        <p:txBody>
          <a:bodyPr wrap="square" rtlCol="0" anchor="t">
            <a:noAutofit/>
          </a:bodyPr>
          <a:p>
            <a:r>
              <a:rPr lang="zh-CN" altLang="en-US"/>
              <a:t>评估</a:t>
            </a:r>
            <a:r>
              <a:rPr lang="en-US" altLang="zh-CN"/>
              <a:t>TrafficLLM</a:t>
            </a:r>
            <a:r>
              <a:rPr lang="zh-CN" altLang="en-US"/>
              <a:t>生成的网络流量在关键特征分布上与真实流量的相似性，具体聚焦于</a:t>
            </a:r>
            <a:r>
              <a:rPr lang="en-US" altLang="zh-CN"/>
              <a:t> </a:t>
            </a:r>
            <a:r>
              <a:rPr lang="zh-CN" altLang="en-US"/>
              <a:t>源端口和数据包长度两个核心特征，使用</a:t>
            </a:r>
            <a:r>
              <a:rPr lang="en-US" altLang="zh-CN"/>
              <a:t>CDF</a:t>
            </a:r>
            <a:r>
              <a:rPr lang="zh-CN" altLang="en-US"/>
              <a:t>（累积分布函数）</a:t>
            </a:r>
            <a:endParaRPr lang="zh-CN" altLang="en-US"/>
          </a:p>
          <a:p>
            <a:r>
              <a:rPr lang="en-US" altLang="zh-CN"/>
              <a:t>Ground Truth</a:t>
            </a:r>
            <a:r>
              <a:rPr lang="zh-CN" altLang="en-US"/>
              <a:t>：</a:t>
            </a:r>
            <a:r>
              <a:rPr lang="en-US" altLang="zh-CN"/>
              <a:t>ISCX VPN 2016</a:t>
            </a:r>
            <a:r>
              <a:rPr lang="zh-CN" altLang="en-US"/>
              <a:t>数据集中的真实流量。</a:t>
            </a:r>
            <a:endParaRPr lang="zh-CN" altLang="en-US"/>
          </a:p>
          <a:p>
            <a:r>
              <a:rPr lang="en-US" altLang="zh-CN"/>
              <a:t>Baselines</a:t>
            </a:r>
            <a:r>
              <a:rPr lang="zh-CN" altLang="en-US"/>
              <a:t>：其他生成方法（如</a:t>
            </a:r>
            <a:r>
              <a:rPr lang="en-US" altLang="zh-CN"/>
              <a:t>PAC-GAN</a:t>
            </a:r>
            <a:r>
              <a:rPr lang="zh-CN" altLang="en-US"/>
              <a:t>、</a:t>
            </a:r>
            <a:r>
              <a:rPr lang="en-US" altLang="zh-CN"/>
              <a:t>Netshare</a:t>
            </a:r>
            <a:r>
              <a:rPr lang="zh-CN" altLang="en-US"/>
              <a:t>）。</a:t>
            </a:r>
            <a:endParaRPr lang="zh-CN" altLang="en-US"/>
          </a:p>
          <a:p>
            <a:r>
              <a:rPr lang="en-US" altLang="zh-CN"/>
              <a:t>TrafficLLM</a:t>
            </a:r>
            <a:r>
              <a:rPr lang="zh-CN" altLang="en-US"/>
              <a:t>：本文提出的生成结果</a:t>
            </a:r>
            <a:endParaRPr lang="zh-CN" altLang="en-US"/>
          </a:p>
        </p:txBody>
      </p:sp>
      <p:sp>
        <p:nvSpPr>
          <p:cNvPr id="8" name="文本框 7"/>
          <p:cNvSpPr txBox="1"/>
          <p:nvPr/>
        </p:nvSpPr>
        <p:spPr>
          <a:xfrm>
            <a:off x="76200" y="4495800"/>
            <a:ext cx="4137660" cy="1864995"/>
          </a:xfrm>
          <a:prstGeom prst="rect">
            <a:avLst/>
          </a:prstGeom>
          <a:noFill/>
        </p:spPr>
        <p:txBody>
          <a:bodyPr wrap="square" rtlCol="0">
            <a:noAutofit/>
          </a:bodyPr>
          <a:p>
            <a:r>
              <a:rPr lang="en-US" altLang="zh-CN"/>
              <a:t>cdf</a:t>
            </a:r>
            <a:r>
              <a:rPr lang="zh-CN" altLang="en-US"/>
              <a:t>：验证生成流量与真实流量在宏观分布上是否一致（如包长度、端口号的整体分布趋势）。</a:t>
            </a:r>
            <a:br>
              <a:rPr lang="zh-CN" altLang="en-US"/>
            </a:br>
            <a:r>
              <a:rPr lang="en-US" altLang="zh-CN"/>
              <a:t>jsd:</a:t>
            </a:r>
            <a:r>
              <a:rPr lang="zh-CN" altLang="en-US"/>
              <a:t>量化生成流量与真实流量在概率分布上的差异（值越小越相似）。</a:t>
            </a:r>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t>NTN-IoT</a:t>
            </a:r>
            <a:endParaRPr lang="en-US" altLang="zh-CN"/>
          </a:p>
        </p:txBody>
      </p:sp>
      <p:sp>
        <p:nvSpPr>
          <p:cNvPr id="6" name="文本框 5"/>
          <p:cNvSpPr txBox="1"/>
          <p:nvPr/>
        </p:nvSpPr>
        <p:spPr>
          <a:xfrm>
            <a:off x="173355" y="381000"/>
            <a:ext cx="11304905" cy="2791460"/>
          </a:xfrm>
          <a:prstGeom prst="rect">
            <a:avLst/>
          </a:prstGeom>
          <a:noFill/>
        </p:spPr>
        <p:txBody>
          <a:bodyPr wrap="square" rtlCol="0">
            <a:noAutofit/>
          </a:bodyPr>
          <a:p>
            <a:r>
              <a:rPr lang="zh-CN" altLang="en-US"/>
              <a:t>使用历史网络流量数据（包括流量五元组和统计特征），通过</a:t>
            </a:r>
            <a:r>
              <a:rPr lang="en-US" altLang="zh-CN"/>
              <a:t>IP2Vec</a:t>
            </a:r>
            <a:r>
              <a:rPr lang="zh-CN" altLang="en-US"/>
              <a:t>嵌入模型和条件生成对抗网络（</a:t>
            </a:r>
            <a:r>
              <a:rPr lang="en-US" altLang="zh-CN"/>
              <a:t>CGAN</a:t>
            </a:r>
            <a:r>
              <a:rPr lang="zh-CN" altLang="en-US"/>
              <a:t>）工具，实现了高质量合成网络流量的生成，本文重点在于流量行为建模，生成的是离散点，而不是原始流量</a:t>
            </a:r>
            <a:endParaRPr lang="zh-CN" altLang="en-US"/>
          </a:p>
          <a:p>
            <a:endParaRPr lang="zh-CN" altLang="en-US"/>
          </a:p>
          <a:p>
            <a:r>
              <a:rPr lang="zh-CN" altLang="en-US"/>
              <a:t>（来自</a:t>
            </a:r>
            <a:r>
              <a:rPr lang="en-US" altLang="zh-CN"/>
              <a:t> Universidad Del Cauca </a:t>
            </a:r>
            <a:r>
              <a:rPr lang="zh-CN" altLang="en-US"/>
              <a:t>的校园网络流量数据）包含</a:t>
            </a:r>
            <a:r>
              <a:rPr lang="en-US" altLang="zh-CN"/>
              <a:t> 75</a:t>
            </a:r>
            <a:r>
              <a:rPr lang="zh-CN" altLang="en-US"/>
              <a:t>个不同网络应用（如</a:t>
            </a:r>
            <a:r>
              <a:rPr lang="en-US" altLang="zh-CN"/>
              <a:t>Google</a:t>
            </a:r>
            <a:r>
              <a:rPr lang="zh-CN" altLang="en-US"/>
              <a:t>、</a:t>
            </a:r>
            <a:r>
              <a:rPr lang="en-US" altLang="zh-CN"/>
              <a:t>YouTube</a:t>
            </a:r>
            <a:r>
              <a:rPr lang="zh-CN" altLang="en-US"/>
              <a:t>、</a:t>
            </a:r>
            <a:r>
              <a:rPr lang="en-US" altLang="zh-CN"/>
              <a:t>Amazon</a:t>
            </a:r>
            <a:r>
              <a:rPr lang="zh-CN" altLang="en-US"/>
              <a:t>、</a:t>
            </a:r>
            <a:r>
              <a:rPr lang="en-US" altLang="zh-CN"/>
              <a:t>Dropbox</a:t>
            </a:r>
            <a:r>
              <a:rPr lang="zh-CN" altLang="en-US"/>
              <a:t>、</a:t>
            </a:r>
            <a:r>
              <a:rPr lang="en-US" altLang="zh-CN"/>
              <a:t>Skype</a:t>
            </a:r>
            <a:r>
              <a:rPr lang="zh-CN" altLang="en-US"/>
              <a:t>等）的流量。数据采集时间：连续</a:t>
            </a:r>
            <a:r>
              <a:rPr lang="en-US" altLang="zh-CN"/>
              <a:t>6</a:t>
            </a:r>
            <a:r>
              <a:rPr lang="zh-CN" altLang="en-US"/>
              <a:t>天的上午和下午流量。</a:t>
            </a:r>
            <a:r>
              <a:rPr lang="en-US" altLang="zh-CN"/>
              <a:t>(</a:t>
            </a:r>
            <a:r>
              <a:rPr lang="zh-CN" altLang="en-US"/>
              <a:t>没有直接链接</a:t>
            </a:r>
            <a:r>
              <a:rPr lang="en-US" altLang="zh-CN"/>
              <a:t>)</a:t>
            </a:r>
            <a:endParaRPr lang="en-US" altLang="zh-CN"/>
          </a:p>
          <a:p>
            <a:endParaRPr lang="en-US" altLang="zh-CN"/>
          </a:p>
          <a:p>
            <a:r>
              <a:rPr lang="zh-CN" altLang="en-US"/>
              <a:t>为了将</a:t>
            </a:r>
            <a:r>
              <a:rPr lang="en-US" altLang="zh-CN"/>
              <a:t>GAN</a:t>
            </a:r>
            <a:r>
              <a:rPr lang="zh-CN" altLang="en-US"/>
              <a:t>模型无法处理的分类属性转化为有用信息，我们提出了一种基于</a:t>
            </a:r>
            <a:r>
              <a:rPr lang="en-US" altLang="zh-CN"/>
              <a:t>IP2Vec</a:t>
            </a:r>
            <a:r>
              <a:rPr lang="zh-CN" altLang="en-US"/>
              <a:t>的流五元组嵌入方法。五元组中的每个字段都转换为</a:t>
            </a:r>
            <a:r>
              <a:rPr lang="en-US" altLang="zh-CN"/>
              <a:t>128-D</a:t>
            </a:r>
            <a:r>
              <a:rPr lang="zh-CN" altLang="en-US"/>
              <a:t>向量。本文使用</a:t>
            </a:r>
            <a:r>
              <a:rPr lang="en-US" altLang="zh-CN"/>
              <a:t>t-SNE</a:t>
            </a:r>
            <a:r>
              <a:rPr lang="zh-CN" altLang="en-US"/>
              <a:t>将高维嵌入特征转换为二维，可以在二维图形中直观地呈现。转换后的数据点表现出更高的聚合度和更小的距离，这表明它们的相似性。</a:t>
            </a:r>
            <a:r>
              <a:rPr lang="zh-CN" altLang="en-US">
                <a:sym typeface="+mn-ea"/>
              </a:rPr>
              <a:t>红色代表产生的合成流量</a:t>
            </a:r>
            <a:endParaRPr lang="zh-CN" altLang="en-US"/>
          </a:p>
          <a:p>
            <a:r>
              <a:rPr lang="zh-CN" altLang="en-US" b="1"/>
              <a:t>将离散流量特征转化为连续向量，再通过降维可视化分析其分布</a:t>
            </a:r>
            <a:endParaRPr lang="zh-CN" altLang="en-US" b="1"/>
          </a:p>
        </p:txBody>
      </p:sp>
      <p:sp>
        <p:nvSpPr>
          <p:cNvPr id="3" name="文本框 2"/>
          <p:cNvSpPr txBox="1"/>
          <p:nvPr/>
        </p:nvSpPr>
        <p:spPr>
          <a:xfrm>
            <a:off x="609600" y="3581400"/>
            <a:ext cx="3267075" cy="1217295"/>
          </a:xfrm>
          <a:prstGeom prst="rect">
            <a:avLst/>
          </a:prstGeom>
          <a:noFill/>
        </p:spPr>
        <p:txBody>
          <a:bodyPr wrap="square" rtlCol="0">
            <a:noAutofit/>
          </a:bodyPr>
          <a:p>
            <a:endParaRPr lang="zh-CN" altLang="en-US"/>
          </a:p>
        </p:txBody>
      </p:sp>
      <p:pic>
        <p:nvPicPr>
          <p:cNvPr id="4" name="图片 3"/>
          <p:cNvPicPr>
            <a:picLocks noChangeAspect="1"/>
          </p:cNvPicPr>
          <p:nvPr/>
        </p:nvPicPr>
        <p:blipFill>
          <a:blip r:embed="rId1"/>
          <a:stretch>
            <a:fillRect/>
          </a:stretch>
        </p:blipFill>
        <p:spPr>
          <a:xfrm>
            <a:off x="43815" y="3429000"/>
            <a:ext cx="6679565" cy="3134360"/>
          </a:xfrm>
          <a:prstGeom prst="rect">
            <a:avLst/>
          </a:prstGeom>
        </p:spPr>
      </p:pic>
      <p:pic>
        <p:nvPicPr>
          <p:cNvPr id="5" name="图片 4"/>
          <p:cNvPicPr>
            <a:picLocks noChangeAspect="1"/>
          </p:cNvPicPr>
          <p:nvPr/>
        </p:nvPicPr>
        <p:blipFill>
          <a:blip r:embed="rId2"/>
          <a:stretch>
            <a:fillRect/>
          </a:stretch>
        </p:blipFill>
        <p:spPr>
          <a:xfrm>
            <a:off x="1981200" y="1143000"/>
            <a:ext cx="8950960" cy="4396105"/>
          </a:xfrm>
          <a:prstGeom prst="rect">
            <a:avLst/>
          </a:prstGeom>
        </p:spPr>
      </p:pic>
      <p:sp>
        <p:nvSpPr>
          <p:cNvPr id="7" name="文本框 6"/>
          <p:cNvSpPr txBox="1"/>
          <p:nvPr/>
        </p:nvSpPr>
        <p:spPr>
          <a:xfrm>
            <a:off x="6477000" y="5715000"/>
            <a:ext cx="4836795" cy="605790"/>
          </a:xfrm>
          <a:prstGeom prst="rect">
            <a:avLst/>
          </a:prstGeom>
          <a:noFill/>
        </p:spPr>
        <p:txBody>
          <a:bodyPr wrap="square" rtlCol="0">
            <a:noAutofit/>
          </a:bodyPr>
          <a:p>
            <a:r>
              <a:rPr lang="zh-CN" altLang="en-US"/>
              <a:t>不同数据集包大小这一个统计特征的比较</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sym typeface="+mn-ea"/>
              </a:rPr>
              <a:t>NTN-IoT</a:t>
            </a:r>
            <a:endParaRPr lang="en-US" altLang="zh-CN"/>
          </a:p>
        </p:txBody>
      </p:sp>
      <p:pic>
        <p:nvPicPr>
          <p:cNvPr id="3" name="图片 2"/>
          <p:cNvPicPr>
            <a:picLocks noChangeAspect="1"/>
          </p:cNvPicPr>
          <p:nvPr/>
        </p:nvPicPr>
        <p:blipFill>
          <a:blip r:embed="rId1"/>
          <a:stretch>
            <a:fillRect/>
          </a:stretch>
        </p:blipFill>
        <p:spPr>
          <a:xfrm>
            <a:off x="381000" y="990600"/>
            <a:ext cx="3749040" cy="3115310"/>
          </a:xfrm>
          <a:prstGeom prst="rect">
            <a:avLst/>
          </a:prstGeom>
        </p:spPr>
      </p:pic>
      <p:sp>
        <p:nvSpPr>
          <p:cNvPr id="4" name="文本框 3"/>
          <p:cNvSpPr txBox="1"/>
          <p:nvPr/>
        </p:nvSpPr>
        <p:spPr>
          <a:xfrm>
            <a:off x="381000" y="4495800"/>
            <a:ext cx="4064000" cy="368300"/>
          </a:xfrm>
          <a:prstGeom prst="rect">
            <a:avLst/>
          </a:prstGeom>
          <a:noFill/>
        </p:spPr>
        <p:txBody>
          <a:bodyPr wrap="square" rtlCol="0">
            <a:spAutoFit/>
          </a:bodyPr>
          <a:p>
            <a:r>
              <a:rPr lang="zh-CN" altLang="en-US"/>
              <a:t>合成流和实际流之间的</a:t>
            </a:r>
            <a:r>
              <a:rPr lang="en-US" altLang="zh-CN"/>
              <a:t>Wasserstein</a:t>
            </a:r>
            <a:r>
              <a:rPr lang="zh-CN" altLang="en-US"/>
              <a:t>距离。</a:t>
            </a:r>
            <a:endParaRPr lang="zh-CN" altLang="en-US"/>
          </a:p>
        </p:txBody>
      </p:sp>
      <p:pic>
        <p:nvPicPr>
          <p:cNvPr id="5" name="图片 4"/>
          <p:cNvPicPr>
            <a:picLocks noChangeAspect="1"/>
          </p:cNvPicPr>
          <p:nvPr/>
        </p:nvPicPr>
        <p:blipFill>
          <a:blip r:embed="rId2"/>
          <a:stretch>
            <a:fillRect/>
          </a:stretch>
        </p:blipFill>
        <p:spPr>
          <a:xfrm>
            <a:off x="4038600" y="915035"/>
            <a:ext cx="3599180" cy="3190875"/>
          </a:xfrm>
          <a:prstGeom prst="rect">
            <a:avLst/>
          </a:prstGeom>
        </p:spPr>
      </p:pic>
      <p:pic>
        <p:nvPicPr>
          <p:cNvPr id="7" name="图片 6"/>
          <p:cNvPicPr>
            <a:picLocks noChangeAspect="1"/>
          </p:cNvPicPr>
          <p:nvPr/>
        </p:nvPicPr>
        <p:blipFill>
          <a:blip r:embed="rId3"/>
          <a:stretch>
            <a:fillRect/>
          </a:stretch>
        </p:blipFill>
        <p:spPr>
          <a:xfrm>
            <a:off x="8077200" y="1066800"/>
            <a:ext cx="3761105" cy="3133725"/>
          </a:xfrm>
          <a:prstGeom prst="rect">
            <a:avLst/>
          </a:prstGeom>
        </p:spPr>
      </p:pic>
      <p:sp>
        <p:nvSpPr>
          <p:cNvPr id="8" name="文本框 7"/>
          <p:cNvSpPr txBox="1"/>
          <p:nvPr/>
        </p:nvSpPr>
        <p:spPr>
          <a:xfrm>
            <a:off x="5622290" y="4535170"/>
            <a:ext cx="4064000" cy="368300"/>
          </a:xfrm>
          <a:prstGeom prst="rect">
            <a:avLst/>
          </a:prstGeom>
          <a:noFill/>
        </p:spPr>
        <p:txBody>
          <a:bodyPr wrap="square" rtlCol="0">
            <a:spAutoFit/>
          </a:bodyPr>
          <a:p>
            <a:r>
              <a:rPr lang="zh-CN" altLang="en-US"/>
              <a:t>欧氏距离</a:t>
            </a:r>
            <a:endParaRPr lang="zh-CN" altLang="en-US"/>
          </a:p>
        </p:txBody>
      </p:sp>
      <p:sp>
        <p:nvSpPr>
          <p:cNvPr id="9" name="文本框 8"/>
          <p:cNvSpPr txBox="1"/>
          <p:nvPr/>
        </p:nvSpPr>
        <p:spPr>
          <a:xfrm>
            <a:off x="8229600" y="4648200"/>
            <a:ext cx="4064000" cy="368300"/>
          </a:xfrm>
          <a:prstGeom prst="rect">
            <a:avLst/>
          </a:prstGeom>
          <a:noFill/>
        </p:spPr>
        <p:txBody>
          <a:bodyPr wrap="square" rtlCol="0">
            <a:spAutoFit/>
          </a:bodyPr>
          <a:p>
            <a:r>
              <a:rPr lang="zh-CN" altLang="en-US"/>
              <a:t>余弦相似度</a:t>
            </a:r>
            <a:endParaRPr lang="zh-CN" altLang="en-US"/>
          </a:p>
        </p:txBody>
      </p:sp>
      <p:sp>
        <p:nvSpPr>
          <p:cNvPr id="10" name="文本框 9"/>
          <p:cNvSpPr txBox="1"/>
          <p:nvPr/>
        </p:nvSpPr>
        <p:spPr>
          <a:xfrm>
            <a:off x="1275080" y="5332730"/>
            <a:ext cx="6441440" cy="1338580"/>
          </a:xfrm>
          <a:prstGeom prst="rect">
            <a:avLst/>
          </a:prstGeom>
          <a:noFill/>
        </p:spPr>
        <p:txBody>
          <a:bodyPr wrap="square" rtlCol="0">
            <a:noAutofit/>
          </a:bodyPr>
          <a:p>
            <a:r>
              <a:rPr lang="en-US" altLang="zh-CN"/>
              <a:t>EMD</a:t>
            </a:r>
            <a:r>
              <a:rPr lang="zh-CN" altLang="en-US"/>
              <a:t>：确保全局分布匹配（如流量突发性）</a:t>
            </a:r>
            <a:endParaRPr lang="zh-CN" altLang="en-US"/>
          </a:p>
          <a:p>
            <a:r>
              <a:rPr lang="zh-CN" altLang="en-US"/>
              <a:t>欧氏距离：保证个体流量行为的真实性</a:t>
            </a:r>
            <a:endParaRPr lang="zh-CN" altLang="en-US"/>
          </a:p>
          <a:p>
            <a:r>
              <a:rPr lang="zh-CN" altLang="en-US"/>
              <a:t>余弦相似度：验证特征间关系正确</a:t>
            </a: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0" y="0"/>
            <a:ext cx="4064000" cy="368300"/>
          </a:xfrm>
          <a:prstGeom prst="rect">
            <a:avLst/>
          </a:prstGeom>
          <a:noFill/>
        </p:spPr>
        <p:txBody>
          <a:bodyPr wrap="square" rtlCol="0">
            <a:spAutoFit/>
          </a:bodyPr>
          <a:p>
            <a:r>
              <a:rPr lang="en-US" altLang="zh-CN">
                <a:sym typeface="+mn-ea"/>
              </a:rPr>
              <a:t>TransfficFormer </a:t>
            </a:r>
            <a:endParaRPr lang="en-US" altLang="zh-CN"/>
          </a:p>
        </p:txBody>
      </p:sp>
      <p:sp>
        <p:nvSpPr>
          <p:cNvPr id="6" name="文本框 5"/>
          <p:cNvSpPr txBox="1"/>
          <p:nvPr/>
        </p:nvSpPr>
        <p:spPr>
          <a:xfrm>
            <a:off x="173355" y="381000"/>
            <a:ext cx="11304905" cy="1953895"/>
          </a:xfrm>
          <a:prstGeom prst="rect">
            <a:avLst/>
          </a:prstGeom>
          <a:noFill/>
        </p:spPr>
        <p:txBody>
          <a:bodyPr wrap="square" rtlCol="0">
            <a:noAutofit/>
          </a:bodyPr>
          <a:p>
            <a:r>
              <a:rPr lang="en-US" altLang="zh-CN"/>
              <a:t>TransfficFormer </a:t>
            </a:r>
            <a:r>
              <a:rPr lang="zh-CN" altLang="en-US"/>
              <a:t>先提取真实网络流量</a:t>
            </a:r>
            <a:r>
              <a:rPr lang="en-US" altLang="zh-CN"/>
              <a:t>CTU13</a:t>
            </a:r>
            <a:r>
              <a:rPr lang="zh-CN" altLang="en-US"/>
              <a:t>、</a:t>
            </a:r>
            <a:r>
              <a:rPr lang="en-US" altLang="zh-CN"/>
              <a:t>CICIDS2017</a:t>
            </a:r>
            <a:r>
              <a:rPr lang="zh-CN" altLang="en-US"/>
              <a:t>、</a:t>
            </a:r>
            <a:r>
              <a:rPr lang="en-US" altLang="zh-CN"/>
              <a:t>BoT IoT</a:t>
            </a:r>
            <a:r>
              <a:rPr lang="zh-CN" altLang="en-US"/>
              <a:t>、</a:t>
            </a:r>
            <a:r>
              <a:rPr lang="en-US" altLang="zh-CN"/>
              <a:t>ToN IoT</a:t>
            </a:r>
            <a:r>
              <a:rPr lang="zh-CN" altLang="en-US"/>
              <a:t>和</a:t>
            </a:r>
            <a:r>
              <a:rPr lang="en-US" altLang="zh-CN"/>
              <a:t>Kitsune</a:t>
            </a:r>
            <a:r>
              <a:rPr lang="zh-CN" altLang="en-US"/>
              <a:t>（如包大小、时间间隔，还有数据载荷等特征），用</a:t>
            </a:r>
            <a:r>
              <a:rPr lang="en-US" altLang="zh-CN"/>
              <a:t>K-Means</a:t>
            </a:r>
            <a:r>
              <a:rPr lang="zh-CN" altLang="en-US"/>
              <a:t>聚类将其变成离散序列，用</a:t>
            </a:r>
            <a:r>
              <a:rPr lang="en-US" altLang="zh-CN">
                <a:sym typeface="+mn-ea"/>
              </a:rPr>
              <a:t>Transformer</a:t>
            </a:r>
            <a:r>
              <a:rPr lang="zh-CN" altLang="en-US"/>
              <a:t>将离散序列映射为高维、可逆的元数据特征向量，再通过粒子群算法（</a:t>
            </a:r>
            <a:r>
              <a:rPr lang="en-US" altLang="zh-CN"/>
              <a:t>PSO</a:t>
            </a:r>
            <a:r>
              <a:rPr lang="zh-CN" altLang="en-US"/>
              <a:t>）微调这些序列，优化后的可逆元数据特征向量会被解码为具体的网络报文序列，生成的</a:t>
            </a:r>
            <a:r>
              <a:rPr lang="en-US" altLang="zh-CN"/>
              <a:t> pcap </a:t>
            </a:r>
            <a:r>
              <a:rPr lang="zh-CN" altLang="en-US"/>
              <a:t>流量与正常流量混合输入目标</a:t>
            </a:r>
            <a:r>
              <a:rPr lang="en-US" altLang="zh-CN"/>
              <a:t> NIDS </a:t>
            </a:r>
            <a:r>
              <a:rPr lang="zh-CN" altLang="en-US"/>
              <a:t>分类器，判别器输出</a:t>
            </a:r>
            <a:r>
              <a:rPr lang="en-US" altLang="zh-CN"/>
              <a:t>“</a:t>
            </a:r>
            <a:r>
              <a:rPr lang="zh-CN" altLang="en-US"/>
              <a:t>良性</a:t>
            </a:r>
            <a:r>
              <a:rPr lang="en-US" altLang="zh-CN"/>
              <a:t>”</a:t>
            </a:r>
            <a:r>
              <a:rPr lang="zh-CN" altLang="en-US"/>
              <a:t>概率作为奖励信号。</a:t>
            </a:r>
            <a:endParaRPr lang="zh-CN" altLang="en-US"/>
          </a:p>
          <a:p>
            <a:r>
              <a:rPr lang="zh-CN" altLang="en-US"/>
              <a:t>生成对抗流量的核心目的是：在不破坏攻击功能的前提下，让恶意流量伪装成正常流量，成功绕过基于机器学习的网络入侵检测系统（</a:t>
            </a:r>
            <a:r>
              <a:rPr lang="en-US" altLang="zh-CN"/>
              <a:t>NIDS</a:t>
            </a:r>
            <a:r>
              <a:rPr lang="zh-CN" altLang="en-US"/>
              <a:t>）</a:t>
            </a:r>
            <a:r>
              <a:rPr lang="en-US" altLang="zh-CN"/>
              <a:t>‍</a:t>
            </a:r>
            <a:r>
              <a:rPr lang="zh-CN" altLang="en-US"/>
              <a:t>。</a:t>
            </a:r>
            <a:endParaRPr lang="zh-CN" altLang="en-US"/>
          </a:p>
        </p:txBody>
      </p:sp>
      <p:pic>
        <p:nvPicPr>
          <p:cNvPr id="3" name="图片 2"/>
          <p:cNvPicPr>
            <a:picLocks noChangeAspect="1"/>
          </p:cNvPicPr>
          <p:nvPr/>
        </p:nvPicPr>
        <p:blipFill>
          <a:blip r:embed="rId1"/>
          <a:stretch>
            <a:fillRect/>
          </a:stretch>
        </p:blipFill>
        <p:spPr>
          <a:xfrm>
            <a:off x="533400" y="2334895"/>
            <a:ext cx="6350000" cy="4191000"/>
          </a:xfrm>
          <a:prstGeom prst="rect">
            <a:avLst/>
          </a:prstGeom>
        </p:spPr>
      </p:pic>
      <p:sp>
        <p:nvSpPr>
          <p:cNvPr id="4" name="文本框 3"/>
          <p:cNvSpPr txBox="1"/>
          <p:nvPr/>
        </p:nvSpPr>
        <p:spPr>
          <a:xfrm>
            <a:off x="6831965" y="1981200"/>
            <a:ext cx="4998720" cy="652145"/>
          </a:xfrm>
          <a:prstGeom prst="rect">
            <a:avLst/>
          </a:prstGeom>
          <a:noFill/>
        </p:spPr>
        <p:txBody>
          <a:bodyPr wrap="square" rtlCol="0">
            <a:noAutofit/>
          </a:bodyPr>
          <a:p>
            <a:r>
              <a:rPr lang="zh-CN" altLang="en-US"/>
              <a:t>传统流量变异方法</a:t>
            </a:r>
            <a:endParaRPr lang="zh-CN" altLang="en-US"/>
          </a:p>
          <a:p>
            <a:r>
              <a:rPr lang="en-US" altLang="zh-CN"/>
              <a:t>Random Duplication (</a:t>
            </a:r>
            <a:r>
              <a:rPr lang="zh-CN" altLang="en-US"/>
              <a:t>随机复制</a:t>
            </a:r>
            <a:r>
              <a:rPr lang="en-US" altLang="zh-CN"/>
              <a:t>)Random Substitution (</a:t>
            </a:r>
            <a:r>
              <a:rPr lang="zh-CN" altLang="en-US"/>
              <a:t>随机替换</a:t>
            </a:r>
            <a:r>
              <a:rPr lang="en-US" altLang="zh-CN"/>
              <a:t>)Time Manipulation (</a:t>
            </a:r>
            <a:r>
              <a:rPr lang="zh-CN" altLang="en-US"/>
              <a:t>时间篡改</a:t>
            </a:r>
            <a:r>
              <a:rPr lang="en-US" altLang="zh-CN"/>
              <a:t>)Traffic Obfuscation</a:t>
            </a:r>
            <a:r>
              <a:rPr lang="zh-CN" altLang="en-US"/>
              <a:t>（流量混淆）</a:t>
            </a:r>
            <a:r>
              <a:rPr lang="en-US" altLang="zh-CN"/>
              <a:t>Traffic-space White-Box Attack</a:t>
            </a:r>
            <a:r>
              <a:rPr lang="zh-CN" altLang="en-US"/>
              <a:t>（白盒攻击）</a:t>
            </a:r>
            <a:endParaRPr lang="zh-CN" altLang="en-US"/>
          </a:p>
          <a:p>
            <a:r>
              <a:rPr lang="en-US" altLang="zh-CN"/>
              <a:t>DER</a:t>
            </a:r>
            <a:r>
              <a:rPr lang="zh-CN" altLang="en-US"/>
              <a:t>越高表示逃避效果越好（最高</a:t>
            </a:r>
            <a:r>
              <a:rPr lang="en-US" altLang="zh-CN"/>
              <a:t>100%</a:t>
            </a:r>
            <a:r>
              <a:rPr lang="zh-CN" altLang="en-US"/>
              <a:t>完全绕过）</a:t>
            </a:r>
            <a:endParaRPr lang="zh-CN" altLang="en-US"/>
          </a:p>
        </p:txBody>
      </p:sp>
      <p:pic>
        <p:nvPicPr>
          <p:cNvPr id="5" name="图片 4"/>
          <p:cNvPicPr>
            <a:picLocks noChangeAspect="1"/>
          </p:cNvPicPr>
          <p:nvPr/>
        </p:nvPicPr>
        <p:blipFill>
          <a:blip r:embed="rId2"/>
          <a:stretch>
            <a:fillRect/>
          </a:stretch>
        </p:blipFill>
        <p:spPr>
          <a:xfrm>
            <a:off x="6781800" y="3962400"/>
            <a:ext cx="5225415" cy="1575435"/>
          </a:xfrm>
          <a:prstGeom prst="rect">
            <a:avLst/>
          </a:prstGeom>
        </p:spPr>
      </p:pic>
      <p:sp>
        <p:nvSpPr>
          <p:cNvPr id="7" name="文本框 6"/>
          <p:cNvSpPr txBox="1"/>
          <p:nvPr/>
        </p:nvSpPr>
        <p:spPr>
          <a:xfrm>
            <a:off x="6831965" y="5715000"/>
            <a:ext cx="4514215" cy="548640"/>
          </a:xfrm>
          <a:prstGeom prst="rect">
            <a:avLst/>
          </a:prstGeom>
          <a:noFill/>
        </p:spPr>
        <p:txBody>
          <a:bodyPr wrap="square" rtlCol="0">
            <a:noAutofit/>
          </a:bodyPr>
          <a:p>
            <a:r>
              <a:rPr lang="zh-CN" altLang="en-US"/>
              <a:t>基于不同</a:t>
            </a:r>
            <a:r>
              <a:rPr lang="en-US" altLang="zh-CN"/>
              <a:t>GAN</a:t>
            </a:r>
            <a:r>
              <a:rPr lang="zh-CN" altLang="en-US"/>
              <a:t>方法的规避有效性（</a:t>
            </a:r>
            <a:r>
              <a:rPr lang="en-US" altLang="zh-CN"/>
              <a:t>DER</a:t>
            </a:r>
            <a:r>
              <a:rPr lang="zh-CN" altLang="en-US"/>
              <a:t>）。</a:t>
            </a:r>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2760980" y="1123315"/>
            <a:ext cx="6670040" cy="461073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404040"/>
      </a:dk1>
      <a:lt1>
        <a:srgbClr val="FFFFFF"/>
      </a:lt1>
      <a:dk2>
        <a:srgbClr val="000000"/>
      </a:dk2>
      <a:lt2>
        <a:srgbClr val="FFFFFF"/>
      </a:lt2>
      <a:accent1>
        <a:srgbClr val="4C678E"/>
      </a:accent1>
      <a:accent2>
        <a:srgbClr val="6684B0"/>
      </a:accent2>
      <a:accent3>
        <a:srgbClr val="639CD6"/>
      </a:accent3>
      <a:accent4>
        <a:srgbClr val="6EB7F0"/>
      </a:accent4>
      <a:accent5>
        <a:srgbClr val="6991E0"/>
      </a:accent5>
      <a:accent6>
        <a:srgbClr val="9EA2D9"/>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4931</Words>
  <Application>WPS 演示</Application>
  <PresentationFormat>自定义</PresentationFormat>
  <Paragraphs>160</Paragraphs>
  <Slides>14</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14</vt:i4>
      </vt:variant>
    </vt:vector>
  </HeadingPairs>
  <TitlesOfParts>
    <vt:vector size="21" baseType="lpstr">
      <vt:lpstr>Arial</vt:lpstr>
      <vt:lpstr>宋体</vt:lpstr>
      <vt:lpstr>Wingdings</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枝豆</cp:lastModifiedBy>
  <cp:revision>311</cp:revision>
  <dcterms:created xsi:type="dcterms:W3CDTF">2024-05-28T07:42:00Z</dcterms:created>
  <dcterms:modified xsi:type="dcterms:W3CDTF">2025-11-19T06:49:20Z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FAD24979FD654EF6A71EB33ADB919921_12</vt:lpwstr>
  </property>
  <property fmtid="{D5CDD505-2E9C-101B-9397-08002B2CF9AE}" pid="3" name="KSOProductBuildVer">
    <vt:lpwstr>2052-12.1.0.23125</vt:lpwstr>
  </property>
</Properties>
</file>