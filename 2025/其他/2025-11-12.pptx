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5" r:id="rId2"/>
    <p:sldId id="494" r:id="rId3"/>
    <p:sldId id="496" r:id="rId4"/>
    <p:sldId id="497" r:id="rId5"/>
    <p:sldId id="498" r:id="rId6"/>
    <p:sldId id="493" r:id="rId7"/>
    <p:sldId id="49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3CBF8-4CCE-C5A8-BDFB-7E8F3BDBB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CFBEE0-F1A0-BFB1-BD3E-044081EC9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963E5-2ED0-372D-0461-20124A46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E2284F-71D4-C4BA-CDB4-C95B5750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A46F11-1D83-509B-A207-CD989198F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82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403A5-65A9-3379-8D1B-6BBB70F2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3BC2D4-2E2B-0689-8394-D2A7AAD2E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00D219-280C-2C12-326C-CA45EF0ED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FEEF43-5065-8F12-5C36-F2F62F27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1FFB9C-1457-0876-5E1D-D4A1F3D6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00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A9341-7167-8916-0588-CD523A15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C70BA-6431-291C-8873-CE0F06669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243F-7E3C-C211-C6B4-16A33913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447753-2217-AB40-BD17-171A1391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167270-715D-E5DC-EC53-ABAF0DBD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516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36290-FCFC-7AFD-7A8E-9250AF52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BFFF0E-D456-CCFD-75AB-166B2C275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D1FD6A-1008-A5B3-985A-678731815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276288-B90C-0572-4E3B-D2082FFC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2E4A04-3883-29FC-3225-249DB4D4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F13944-5284-F690-B83E-E9A7216F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90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EE97C1-FC31-9310-9C21-D40921D6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F711ED-0879-51D8-09CB-F98EE8EC1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AA897E-04B4-0977-F7DC-A71B9527D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B85203-382C-5515-9B1E-51FFE8296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D3A87E-CB32-9AAA-CE5A-E1CB9FE75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C5DBC6-34EC-9377-A332-89A02932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FCDA2F-ED7D-99EE-EAA9-025C7F2D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071980-FDF8-8D39-AF5D-156126E5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86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698C8-2A8E-0BD0-4080-96A860C0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A365CA-5701-8F87-337F-7E9E5E18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63983E-9071-87A8-BC04-5574ACDC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B77E23-B2D7-24E6-DA0A-4E30A91B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92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490C45-6408-57C0-5EA7-C054BB47D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86F934-82F5-D9D6-8F70-31B91B2A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E28F2C-1D43-5763-1B5C-EC3A098A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32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BB79D-D75F-A085-6A1A-9D02FD4F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196E6E-2F04-86D9-480A-AD62D79DF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00D469-9B5D-344A-8D24-9E8699937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102B2F-A01E-6896-25D5-759327CC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71B4BC-B14C-C68A-75EB-E5D3BBC2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EED6C6-30C6-AD3C-C77A-9642A5B6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19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F1DE0-FB0F-86AD-C786-1EECAD25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93A613-B55B-68D1-4299-42CEAC87C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F83F1A-466D-4CA0-EDF5-ADD608816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13112A-6E3A-53E7-43DB-836B797C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A136F9-469A-50F0-6E8B-57B0041B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73285A-1D91-60CA-A6D3-4398CF9B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72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66102-EC17-1B79-9891-027D89F8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3C74B9-A8CE-F9A7-649A-DDB906DFB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79841E-8640-82E1-7C36-629C28DF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C1231-0E08-3A5B-A7F2-171C9E12F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53F75E-13C7-1F5D-7E1A-6A7DB02A7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18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6C52FA-51B0-A645-432E-E3F53A53D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75FF3E-80C6-D1EF-C429-793C414A0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58B3BB-636A-349C-78E2-5D0B6B99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C1954D-5957-58C7-C6FE-7B8438DE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D33B09-D580-F470-E4E3-BCBFD612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333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216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78BDA63-FF8B-C8B4-7542-CB6C5026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AD7F6-28FE-724A-C8FA-B8A058AD9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0EE67-0981-818D-72C8-99F589E46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F1B6A-338B-4F5B-B7A3-489FB68405F1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922EA7-94AE-5CCB-D136-508AAC475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4E080B-9FF2-8178-3C93-780963394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4741F-9A6B-4013-AD1C-9ACDC9311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34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20.png"/><Relationship Id="rId51" Type="http://schemas.openxmlformats.org/officeDocument/2006/relationships/image" Target="../media/image34.png"/><Relationship Id="rId3" Type="http://schemas.openxmlformats.org/officeDocument/2006/relationships/image" Target="../media/image8.png"/><Relationship Id="rId50" Type="http://schemas.openxmlformats.org/officeDocument/2006/relationships/image" Target="../media/image33.png"/><Relationship Id="rId55" Type="http://schemas.openxmlformats.org/officeDocument/2006/relationships/image" Target="../media/image37.png"/><Relationship Id="rId63" Type="http://schemas.openxmlformats.org/officeDocument/2006/relationships/image" Target="../media/image120.png"/><Relationship Id="rId38" Type="http://schemas.openxmlformats.org/officeDocument/2006/relationships/image" Target="../media/image210.png"/><Relationship Id="rId59" Type="http://schemas.openxmlformats.org/officeDocument/2006/relationships/image" Target="../media/image41.png"/><Relationship Id="rId2" Type="http://schemas.openxmlformats.org/officeDocument/2006/relationships/slideLayout" Target="../slideLayouts/slideLayout12.xml"/><Relationship Id="rId41" Type="http://schemas.openxmlformats.org/officeDocument/2006/relationships/image" Target="../media/image24.png"/><Relationship Id="rId54" Type="http://schemas.openxmlformats.org/officeDocument/2006/relationships/image" Target="../media/image130.png"/><Relationship Id="rId62" Type="http://schemas.openxmlformats.org/officeDocument/2006/relationships/image" Target="../media/image9.png"/><Relationship Id="rId1" Type="http://schemas.openxmlformats.org/officeDocument/2006/relationships/tags" Target="../tags/tag1.xml"/><Relationship Id="rId40" Type="http://schemas.openxmlformats.org/officeDocument/2006/relationships/image" Target="../media/image230.png"/><Relationship Id="rId53" Type="http://schemas.openxmlformats.org/officeDocument/2006/relationships/image" Target="../media/image36.png"/><Relationship Id="rId58" Type="http://schemas.openxmlformats.org/officeDocument/2006/relationships/image" Target="../media/image40.png"/><Relationship Id="rId66" Type="http://schemas.openxmlformats.org/officeDocument/2006/relationships/image" Target="../media/image160.png"/><Relationship Id="rId57" Type="http://schemas.openxmlformats.org/officeDocument/2006/relationships/image" Target="../media/image39.png"/><Relationship Id="rId61" Type="http://schemas.openxmlformats.org/officeDocument/2006/relationships/image" Target="../media/image43.png"/><Relationship Id="rId52" Type="http://schemas.openxmlformats.org/officeDocument/2006/relationships/image" Target="../media/image35.png"/><Relationship Id="rId60" Type="http://schemas.openxmlformats.org/officeDocument/2006/relationships/image" Target="../media/image42.png"/><Relationship Id="rId65" Type="http://schemas.openxmlformats.org/officeDocument/2006/relationships/image" Target="../media/image150.png"/><Relationship Id="rId56" Type="http://schemas.openxmlformats.org/officeDocument/2006/relationships/image" Target="../media/image38.png"/><Relationship Id="rId64" Type="http://schemas.openxmlformats.org/officeDocument/2006/relationships/image" Target="../media/image14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FBFB287-7167-75D3-772E-039B86778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90" y="444255"/>
            <a:ext cx="1009650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83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F33BCA-2B35-D75D-E1F3-A2249A6D5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346158"/>
            <a:ext cx="10382250" cy="45339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AD92036-E330-765D-7E9C-4A27719167EB}"/>
              </a:ext>
            </a:extLst>
          </p:cNvPr>
          <p:cNvSpPr txBox="1"/>
          <p:nvPr/>
        </p:nvSpPr>
        <p:spPr>
          <a:xfrm>
            <a:off x="2870541" y="548277"/>
            <a:ext cx="7813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00"/>
                </a:solidFill>
                <a:effectLst/>
                <a:latin typeface="NimbusRomNo9L-Medi"/>
              </a:rPr>
              <a:t>Side Information-Driven Session-based Recommendation: A Survey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5323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6017923-3CF9-DBBC-DA89-9FB36C507CA5}"/>
              </a:ext>
            </a:extLst>
          </p:cNvPr>
          <p:cNvSpPr txBox="1"/>
          <p:nvPr/>
        </p:nvSpPr>
        <p:spPr>
          <a:xfrm>
            <a:off x="1147603" y="368215"/>
            <a:ext cx="362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绝对价格问题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589257-4A39-2615-7188-593AC70F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71" y="1714430"/>
            <a:ext cx="1543113" cy="34291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D11F9A4-4F15-1797-E915-B90D8DBC37DC}"/>
              </a:ext>
            </a:extLst>
          </p:cNvPr>
          <p:cNvSpPr txBox="1"/>
          <p:nvPr/>
        </p:nvSpPr>
        <p:spPr>
          <a:xfrm>
            <a:off x="3798749" y="3464001"/>
            <a:ext cx="5750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价格对用户的影响非常大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影响用户兴趣偏好的是相对价格而非绝对价格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3.</a:t>
            </a:r>
            <a:r>
              <a:rPr lang="zh-CN" altLang="en-US" dirty="0">
                <a:solidFill>
                  <a:srgbClr val="FF0000"/>
                </a:solidFill>
              </a:rPr>
              <a:t>价格往往与类型相关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C67161-91B5-D5E9-9F81-0D6107C7A710}"/>
              </a:ext>
            </a:extLst>
          </p:cNvPr>
          <p:cNvSpPr txBox="1"/>
          <p:nvPr/>
        </p:nvSpPr>
        <p:spPr>
          <a:xfrm>
            <a:off x="3927625" y="2386560"/>
            <a:ext cx="611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h(x1)=</a:t>
            </a:r>
            <a:r>
              <a:rPr lang="en-US" altLang="zh-CN" dirty="0" err="1"/>
              <a:t>Concat</a:t>
            </a:r>
            <a:r>
              <a:rPr lang="en-US" altLang="zh-CN" dirty="0"/>
              <a:t>[</a:t>
            </a:r>
            <a:r>
              <a:rPr lang="en-US" altLang="zh-CN" dirty="0" err="1"/>
              <a:t>emb</a:t>
            </a:r>
            <a:r>
              <a:rPr lang="en-US" altLang="zh-CN" dirty="0"/>
              <a:t>(i1),</a:t>
            </a:r>
            <a:r>
              <a:rPr lang="en-US" altLang="zh-CN" dirty="0" err="1"/>
              <a:t>emb</a:t>
            </a:r>
            <a:r>
              <a:rPr lang="en-US" altLang="zh-CN" dirty="0"/>
              <a:t>(p1),</a:t>
            </a:r>
            <a:r>
              <a:rPr lang="en-US" altLang="zh-CN" dirty="0" err="1"/>
              <a:t>emb</a:t>
            </a:r>
            <a:r>
              <a:rPr lang="en-US" altLang="zh-CN" dirty="0"/>
              <a:t>(c1)]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930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1AAF24D-3E79-3453-0B8A-B5B4F7ED7991}"/>
              </a:ext>
            </a:extLst>
          </p:cNvPr>
          <p:cNvSpPr txBox="1"/>
          <p:nvPr/>
        </p:nvSpPr>
        <p:spPr>
          <a:xfrm>
            <a:off x="767114" y="931277"/>
            <a:ext cx="309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离散价格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43AA64-8D53-659F-E23B-0E3A0BF8C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336" y="704339"/>
            <a:ext cx="3648075" cy="7239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07A4E33-E84C-495E-7618-56CEEC96A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130" y="2829025"/>
            <a:ext cx="7010252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Z-Score 归一化 (按类别)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对</a:t>
            </a:r>
            <a:r>
              <a:rPr kumimoji="0" lang="zh-CN" altLang="zh-CN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每一个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类别（Category），计算该类别下所有商品价格的均值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   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和标准差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对于一个类别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、价格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p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的商品，它新的价格特征为：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1200" dirty="0"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1200" dirty="0"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1200" dirty="0"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效果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：= 0 表示这个商品是该类别的平均价；+1 表示比均价贵一个标准差；-1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表示便宜一个标准差。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这样，一件昂贵的衣服和一台昂贵的电子设备都会获得一个正值，实现了跨类别比较。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B5141D-33D2-2248-585E-CF56C1B1FC2D}"/>
              </a:ext>
            </a:extLst>
          </p:cNvPr>
          <p:cNvSpPr txBox="1"/>
          <p:nvPr/>
        </p:nvSpPr>
        <p:spPr>
          <a:xfrm>
            <a:off x="767114" y="2382342"/>
            <a:ext cx="309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连续价格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FF9D31-1BF4-7ED8-94A5-A2DD1ECAE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339" y="3219578"/>
            <a:ext cx="332014" cy="3596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4D8918-D908-C4E2-6E2F-D8522107D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55" y="3169685"/>
            <a:ext cx="381000" cy="4095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800A099-6B84-D177-965E-A7CDC8C4D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644" y="3952563"/>
            <a:ext cx="2117768" cy="91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37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6F6E7DD-63F6-D9DC-881F-A3CED3805CB0}"/>
              </a:ext>
            </a:extLst>
          </p:cNvPr>
          <p:cNvSpPr txBox="1"/>
          <p:nvPr/>
        </p:nvSpPr>
        <p:spPr>
          <a:xfrm>
            <a:off x="624432" y="37993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可学习分桶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B5B9B6-011A-FC27-3987-C147183B77A0}"/>
              </a:ext>
            </a:extLst>
          </p:cNvPr>
          <p:cNvSpPr txBox="1"/>
          <p:nvPr/>
        </p:nvSpPr>
        <p:spPr>
          <a:xfrm>
            <a:off x="624432" y="6108738"/>
            <a:ext cx="6652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本质上是将不同类别的物品价格投影到同一空间进行比较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9F8A93-7D41-759E-F9DA-B2849A0313E0}"/>
              </a:ext>
            </a:extLst>
          </p:cNvPr>
          <p:cNvSpPr txBox="1"/>
          <p:nvPr/>
        </p:nvSpPr>
        <p:spPr>
          <a:xfrm>
            <a:off x="748703" y="1006454"/>
            <a:ext cx="92606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输入： </a:t>
            </a:r>
            <a:r>
              <a:rPr lang="en-US" altLang="zh-CN" b="1" dirty="0"/>
              <a:t>category</a:t>
            </a:r>
            <a:r>
              <a:rPr lang="en-US" altLang="zh-CN" dirty="0"/>
              <a:t>(</a:t>
            </a:r>
            <a:r>
              <a:rPr lang="zh-CN" altLang="en-US" dirty="0"/>
              <a:t>类别</a:t>
            </a:r>
            <a:r>
              <a:rPr lang="en-US" altLang="zh-CN" dirty="0"/>
              <a:t>),  </a:t>
            </a:r>
            <a:r>
              <a:rPr lang="en-US" altLang="zh-CN" b="1" dirty="0"/>
              <a:t>price</a:t>
            </a:r>
            <a:r>
              <a:rPr lang="en-US" altLang="zh-CN" dirty="0"/>
              <a:t>(</a:t>
            </a:r>
            <a:r>
              <a:rPr lang="zh-CN" altLang="en-US" dirty="0"/>
              <a:t>绝对价格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稳定： </a:t>
            </a:r>
            <a:r>
              <a:rPr lang="en-US" altLang="zh-CN" b="1" dirty="0" err="1"/>
              <a:t>emb_c</a:t>
            </a:r>
            <a:r>
              <a:rPr lang="en-US" altLang="zh-CN" dirty="0"/>
              <a:t> = </a:t>
            </a:r>
            <a:r>
              <a:rPr lang="en-US" altLang="zh-CN" dirty="0" err="1"/>
              <a:t>emb</a:t>
            </a:r>
            <a:r>
              <a:rPr lang="en-US" altLang="zh-CN" dirty="0"/>
              <a:t>(category) ,  </a:t>
            </a:r>
            <a:r>
              <a:rPr lang="en-US" altLang="zh-CN" b="1" dirty="0" err="1"/>
              <a:t>p_log</a:t>
            </a:r>
            <a:r>
              <a:rPr lang="en-US" altLang="zh-CN" dirty="0"/>
              <a:t>=log(1 + price)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投影：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定义一个可学习的嵌入矩阵  </a:t>
            </a:r>
            <a:r>
              <a:rPr lang="en-US" altLang="zh-CN" b="1" dirty="0" err="1"/>
              <a:t>E_tier</a:t>
            </a:r>
            <a:r>
              <a:rPr lang="en-US" altLang="zh-CN" b="1" dirty="0"/>
              <a:t>  </a:t>
            </a:r>
            <a:r>
              <a:rPr lang="en-US" altLang="zh-CN" dirty="0"/>
              <a:t>(k, </a:t>
            </a:r>
            <a:r>
              <a:rPr lang="en-US" altLang="zh-CN" dirty="0" err="1"/>
              <a:t>hidden_size</a:t>
            </a:r>
            <a:r>
              <a:rPr lang="en-US" altLang="zh-CN" dirty="0"/>
              <a:t>)</a:t>
            </a:r>
            <a:r>
              <a:rPr lang="zh-CN" altLang="en-US" dirty="0"/>
              <a:t>，代表</a:t>
            </a:r>
            <a:r>
              <a:rPr lang="en-US" altLang="zh-CN" dirty="0"/>
              <a:t>k</a:t>
            </a:r>
            <a:r>
              <a:rPr lang="zh-CN" altLang="en-US" dirty="0"/>
              <a:t>个“抽象”的“价格档次”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定义一个</a:t>
            </a:r>
            <a:r>
              <a:rPr lang="en-US" altLang="zh-CN" b="1" dirty="0"/>
              <a:t>MLP</a:t>
            </a:r>
            <a:r>
              <a:rPr lang="zh-CN" altLang="en-US" dirty="0"/>
              <a:t>，它同时接收类别和价格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	</a:t>
            </a:r>
            <a:r>
              <a:rPr lang="en-US" altLang="zh-CN" b="1" dirty="0"/>
              <a:t>input</a:t>
            </a:r>
            <a:r>
              <a:rPr lang="en-US" altLang="zh-CN" dirty="0"/>
              <a:t>= </a:t>
            </a:r>
            <a:r>
              <a:rPr lang="en-US" altLang="zh-CN" dirty="0" err="1"/>
              <a:t>Concat</a:t>
            </a:r>
            <a:r>
              <a:rPr lang="en-US" altLang="zh-CN" dirty="0"/>
              <a:t>(</a:t>
            </a:r>
            <a:r>
              <a:rPr lang="en-US" altLang="zh-CN" dirty="0" err="1"/>
              <a:t>emb_c</a:t>
            </a:r>
            <a:r>
              <a:rPr lang="en-US" altLang="zh-CN" dirty="0"/>
              <a:t> , </a:t>
            </a:r>
            <a:r>
              <a:rPr lang="en-US" altLang="zh-CN" dirty="0" err="1"/>
              <a:t>p_log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</a:t>
            </a:r>
            <a:r>
              <a:rPr lang="en-US" altLang="zh-CN" b="1" dirty="0"/>
              <a:t>output</a:t>
            </a:r>
            <a:r>
              <a:rPr lang="en-US" altLang="zh-CN" dirty="0"/>
              <a:t> = </a:t>
            </a:r>
            <a:r>
              <a:rPr lang="en-US" altLang="zh-CN" dirty="0" err="1"/>
              <a:t>mlp</a:t>
            </a:r>
            <a:r>
              <a:rPr lang="en-US" altLang="zh-CN" dirty="0"/>
              <a:t>(input) = </a:t>
            </a:r>
            <a:r>
              <a:rPr lang="en-US" altLang="zh-CN" b="1" dirty="0" err="1"/>
              <a:t>tier_logits</a:t>
            </a:r>
            <a:r>
              <a:rPr lang="en-US" altLang="zh-CN" b="1" dirty="0"/>
              <a:t> </a:t>
            </a:r>
            <a:r>
              <a:rPr lang="en-US" altLang="zh-CN" dirty="0"/>
              <a:t>(k</a:t>
            </a:r>
            <a:r>
              <a:rPr lang="zh-CN" altLang="en-US" dirty="0"/>
              <a:t>维向量</a:t>
            </a:r>
            <a:r>
              <a:rPr lang="en-US" altLang="zh-CN" dirty="0"/>
              <a:t>,k</a:t>
            </a:r>
            <a:r>
              <a:rPr lang="zh-CN" altLang="en-US" dirty="0"/>
              <a:t>是价格档次的数量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de-DE" altLang="zh-CN" dirty="0"/>
              <a:t>Softmax(tier_logits, dim=-1) = </a:t>
            </a:r>
            <a:r>
              <a:rPr lang="de-DE" altLang="zh-CN" b="1" dirty="0"/>
              <a:t>tier_weights </a:t>
            </a:r>
            <a:r>
              <a:rPr lang="zh-CN" altLang="en-US" dirty="0"/>
              <a:t>（仍然是</a:t>
            </a:r>
            <a:r>
              <a:rPr lang="en-US" altLang="zh-CN" dirty="0"/>
              <a:t>k</a:t>
            </a:r>
            <a:r>
              <a:rPr lang="zh-CN" altLang="en-US" dirty="0"/>
              <a:t>维向量）</a:t>
            </a:r>
            <a:endParaRPr lang="de-DE" altLang="zh-CN" dirty="0"/>
          </a:p>
          <a:p>
            <a:r>
              <a:rPr lang="zh-CN" altLang="en-US" dirty="0"/>
              <a:t>例如 </a:t>
            </a:r>
            <a:r>
              <a:rPr lang="en-US" altLang="zh-CN" dirty="0"/>
              <a:t>[0.02, 0.05, 0.7, 0.1, ...]</a:t>
            </a:r>
            <a:r>
              <a:rPr lang="zh-CN" altLang="en-US" dirty="0"/>
              <a:t>，表示“这个物品有 </a:t>
            </a:r>
            <a:r>
              <a:rPr lang="en-US" altLang="zh-CN" dirty="0"/>
              <a:t>70% </a:t>
            </a:r>
            <a:r>
              <a:rPr lang="zh-CN" altLang="en-US" dirty="0"/>
              <a:t>的概率属于档次</a:t>
            </a:r>
            <a:r>
              <a:rPr lang="en-US" altLang="zh-CN" dirty="0"/>
              <a:t>2”</a:t>
            </a:r>
          </a:p>
          <a:p>
            <a:endParaRPr lang="en-US" altLang="zh-CN" dirty="0"/>
          </a:p>
          <a:p>
            <a:r>
              <a:rPr lang="zh-CN" altLang="en-US" dirty="0"/>
              <a:t>计算投影向量</a:t>
            </a:r>
            <a:endParaRPr lang="en-US" altLang="zh-CN" dirty="0"/>
          </a:p>
          <a:p>
            <a:r>
              <a:rPr lang="en-US" altLang="zh-CN" b="1" dirty="0" err="1">
                <a:solidFill>
                  <a:srgbClr val="FF0000"/>
                </a:solidFill>
              </a:rPr>
              <a:t>emb_p</a:t>
            </a:r>
            <a:r>
              <a:rPr lang="en-US" altLang="zh-CN" b="1" dirty="0">
                <a:solidFill>
                  <a:srgbClr val="FF0000"/>
                </a:solidFill>
              </a:rPr>
              <a:t> = </a:t>
            </a:r>
            <a:r>
              <a:rPr lang="en-US" altLang="zh-CN" b="1" dirty="0" err="1">
                <a:solidFill>
                  <a:srgbClr val="FF0000"/>
                </a:solidFill>
              </a:rPr>
              <a:t>tier_weights</a:t>
            </a:r>
            <a:r>
              <a:rPr lang="en-US" altLang="zh-CN" b="1" dirty="0">
                <a:solidFill>
                  <a:srgbClr val="FF0000"/>
                </a:solidFill>
              </a:rPr>
              <a:t> @ </a:t>
            </a:r>
            <a:r>
              <a:rPr lang="en-US" altLang="zh-CN" b="1" dirty="0" err="1">
                <a:solidFill>
                  <a:srgbClr val="FF0000"/>
                </a:solidFill>
              </a:rPr>
              <a:t>E_tier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348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>
            <p:custDataLst>
              <p:tags r:id="rId1"/>
            </p:custDataLst>
          </p:nvPr>
        </p:nvSpPr>
        <p:spPr>
          <a:xfrm>
            <a:off x="6203950" y="561975"/>
            <a:ext cx="818588" cy="149226"/>
          </a:xfrm>
          <a:prstGeom prst="triangle">
            <a:avLst>
              <a:gd name="adj" fmla="val 503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C71D543-95CB-460C-A266-74B8ABC264FE}"/>
              </a:ext>
            </a:extLst>
          </p:cNvPr>
          <p:cNvGrpSpPr/>
          <p:nvPr/>
        </p:nvGrpSpPr>
        <p:grpSpPr>
          <a:xfrm>
            <a:off x="1676106" y="945975"/>
            <a:ext cx="2025819" cy="628132"/>
            <a:chOff x="2031744" y="780349"/>
            <a:chExt cx="1934622" cy="599350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2E44DBFE-A05F-408B-9921-ACC8DBE0140F}"/>
                </a:ext>
              </a:extLst>
            </p:cNvPr>
            <p:cNvGrpSpPr/>
            <p:nvPr/>
          </p:nvGrpSpPr>
          <p:grpSpPr>
            <a:xfrm>
              <a:off x="2570700" y="1211372"/>
              <a:ext cx="1395665" cy="168327"/>
              <a:chOff x="3688555" y="4877542"/>
              <a:chExt cx="1395665" cy="168327"/>
            </a:xfrm>
          </p:grpSpPr>
          <p:sp>
            <p:nvSpPr>
              <p:cNvPr id="82" name="Google Shape;929;p28">
                <a:extLst>
                  <a:ext uri="{FF2B5EF4-FFF2-40B4-BE49-F238E27FC236}">
                    <a16:creationId xmlns:a16="http://schemas.microsoft.com/office/drawing/2014/main" id="{A8BE3FFB-8CBA-42C0-92C6-45FB98FBBDBC}"/>
                  </a:ext>
                </a:extLst>
              </p:cNvPr>
              <p:cNvSpPr/>
              <p:nvPr/>
            </p:nvSpPr>
            <p:spPr>
              <a:xfrm flipH="1">
                <a:off x="3688555" y="4877543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Google Shape;929;p28">
                <a:extLst>
                  <a:ext uri="{FF2B5EF4-FFF2-40B4-BE49-F238E27FC236}">
                    <a16:creationId xmlns:a16="http://schemas.microsoft.com/office/drawing/2014/main" id="{C4A0FAD9-3F2A-4AB6-A264-B1C1C2606456}"/>
                  </a:ext>
                </a:extLst>
              </p:cNvPr>
              <p:cNvSpPr/>
              <p:nvPr/>
            </p:nvSpPr>
            <p:spPr>
              <a:xfrm flipH="1">
                <a:off x="3967688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Google Shape;929;p28">
                <a:extLst>
                  <a:ext uri="{FF2B5EF4-FFF2-40B4-BE49-F238E27FC236}">
                    <a16:creationId xmlns:a16="http://schemas.microsoft.com/office/drawing/2014/main" id="{3C5AB763-6869-4542-B8BA-69BFBC17077E}"/>
                  </a:ext>
                </a:extLst>
              </p:cNvPr>
              <p:cNvSpPr/>
              <p:nvPr/>
            </p:nvSpPr>
            <p:spPr>
              <a:xfrm flipH="1">
                <a:off x="4246821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Google Shape;929;p28">
                <a:extLst>
                  <a:ext uri="{FF2B5EF4-FFF2-40B4-BE49-F238E27FC236}">
                    <a16:creationId xmlns:a16="http://schemas.microsoft.com/office/drawing/2014/main" id="{01FC559A-4EC0-4C25-B035-4F0ACBCCF88A}"/>
                  </a:ext>
                </a:extLst>
              </p:cNvPr>
              <p:cNvSpPr/>
              <p:nvPr/>
            </p:nvSpPr>
            <p:spPr>
              <a:xfrm flipH="1">
                <a:off x="4525954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sz="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Google Shape;929;p28">
                <a:extLst>
                  <a:ext uri="{FF2B5EF4-FFF2-40B4-BE49-F238E27FC236}">
                    <a16:creationId xmlns:a16="http://schemas.microsoft.com/office/drawing/2014/main" id="{EA80D110-05DF-44CB-BC63-1F522166B5F4}"/>
                  </a:ext>
                </a:extLst>
              </p:cNvPr>
              <p:cNvSpPr/>
              <p:nvPr/>
            </p:nvSpPr>
            <p:spPr>
              <a:xfrm flipH="1">
                <a:off x="4805087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endParaRPr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4A88FDD8-53B9-41A6-99C1-8373B8FD5ED1}"/>
                </a:ext>
              </a:extLst>
            </p:cNvPr>
            <p:cNvGrpSpPr/>
            <p:nvPr/>
          </p:nvGrpSpPr>
          <p:grpSpPr>
            <a:xfrm>
              <a:off x="2570701" y="780349"/>
              <a:ext cx="1395665" cy="168327"/>
              <a:chOff x="3688555" y="4877542"/>
              <a:chExt cx="1395665" cy="168327"/>
            </a:xfrm>
          </p:grpSpPr>
          <p:sp>
            <p:nvSpPr>
              <p:cNvPr id="77" name="Google Shape;929;p28">
                <a:extLst>
                  <a:ext uri="{FF2B5EF4-FFF2-40B4-BE49-F238E27FC236}">
                    <a16:creationId xmlns:a16="http://schemas.microsoft.com/office/drawing/2014/main" id="{FAA8ABAE-3044-4EDB-882C-5FA6675D93FC}"/>
                  </a:ext>
                </a:extLst>
              </p:cNvPr>
              <p:cNvSpPr/>
              <p:nvPr/>
            </p:nvSpPr>
            <p:spPr>
              <a:xfrm flipH="1">
                <a:off x="3688555" y="4877543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Google Shape;929;p28">
                <a:extLst>
                  <a:ext uri="{FF2B5EF4-FFF2-40B4-BE49-F238E27FC236}">
                    <a16:creationId xmlns:a16="http://schemas.microsoft.com/office/drawing/2014/main" id="{00FC6E8E-D4DF-4DCA-A439-A939159AC840}"/>
                  </a:ext>
                </a:extLst>
              </p:cNvPr>
              <p:cNvSpPr/>
              <p:nvPr/>
            </p:nvSpPr>
            <p:spPr>
              <a:xfrm flipH="1">
                <a:off x="3967688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Google Shape;929;p28">
                <a:extLst>
                  <a:ext uri="{FF2B5EF4-FFF2-40B4-BE49-F238E27FC236}">
                    <a16:creationId xmlns:a16="http://schemas.microsoft.com/office/drawing/2014/main" id="{CDDEB191-0AFA-4B74-877C-239643A728AC}"/>
                  </a:ext>
                </a:extLst>
              </p:cNvPr>
              <p:cNvSpPr/>
              <p:nvPr/>
            </p:nvSpPr>
            <p:spPr>
              <a:xfrm flipH="1">
                <a:off x="4246821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Google Shape;929;p28">
                <a:extLst>
                  <a:ext uri="{FF2B5EF4-FFF2-40B4-BE49-F238E27FC236}">
                    <a16:creationId xmlns:a16="http://schemas.microsoft.com/office/drawing/2014/main" id="{57447330-5918-46A6-8E09-8F29B9B23825}"/>
                  </a:ext>
                </a:extLst>
              </p:cNvPr>
              <p:cNvSpPr/>
              <p:nvPr/>
            </p:nvSpPr>
            <p:spPr>
              <a:xfrm flipH="1">
                <a:off x="4525954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sz="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Google Shape;929;p28">
                <a:extLst>
                  <a:ext uri="{FF2B5EF4-FFF2-40B4-BE49-F238E27FC236}">
                    <a16:creationId xmlns:a16="http://schemas.microsoft.com/office/drawing/2014/main" id="{FAEE58FA-D6BB-47F1-95CC-A3D6F276FE74}"/>
                  </a:ext>
                </a:extLst>
              </p:cNvPr>
              <p:cNvSpPr/>
              <p:nvPr/>
            </p:nvSpPr>
            <p:spPr>
              <a:xfrm flipH="1">
                <a:off x="4805087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endParaRPr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29B4582-4C55-49FF-8054-09B227A474F8}"/>
                </a:ext>
              </a:extLst>
            </p:cNvPr>
            <p:cNvGrpSpPr/>
            <p:nvPr/>
          </p:nvGrpSpPr>
          <p:grpSpPr>
            <a:xfrm>
              <a:off x="2570701" y="993686"/>
              <a:ext cx="1395665" cy="168327"/>
              <a:chOff x="3688555" y="4877542"/>
              <a:chExt cx="1395665" cy="168327"/>
            </a:xfrm>
          </p:grpSpPr>
          <p:sp>
            <p:nvSpPr>
              <p:cNvPr id="55" name="Google Shape;929;p28">
                <a:extLst>
                  <a:ext uri="{FF2B5EF4-FFF2-40B4-BE49-F238E27FC236}">
                    <a16:creationId xmlns:a16="http://schemas.microsoft.com/office/drawing/2014/main" id="{700A4ED5-BEC5-4183-9CCE-87C02C70B950}"/>
                  </a:ext>
                </a:extLst>
              </p:cNvPr>
              <p:cNvSpPr/>
              <p:nvPr/>
            </p:nvSpPr>
            <p:spPr>
              <a:xfrm flipH="1">
                <a:off x="3688555" y="4877543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Google Shape;929;p28">
                <a:extLst>
                  <a:ext uri="{FF2B5EF4-FFF2-40B4-BE49-F238E27FC236}">
                    <a16:creationId xmlns:a16="http://schemas.microsoft.com/office/drawing/2014/main" id="{76C71AC6-B8A7-40E2-AB77-8C25E58E36D5}"/>
                  </a:ext>
                </a:extLst>
              </p:cNvPr>
              <p:cNvSpPr/>
              <p:nvPr/>
            </p:nvSpPr>
            <p:spPr>
              <a:xfrm flipH="1">
                <a:off x="3967688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Google Shape;929;p28">
                <a:extLst>
                  <a:ext uri="{FF2B5EF4-FFF2-40B4-BE49-F238E27FC236}">
                    <a16:creationId xmlns:a16="http://schemas.microsoft.com/office/drawing/2014/main" id="{14880100-15E1-4A6C-A75D-723B3B1ECE4B}"/>
                  </a:ext>
                </a:extLst>
              </p:cNvPr>
              <p:cNvSpPr/>
              <p:nvPr/>
            </p:nvSpPr>
            <p:spPr>
              <a:xfrm flipH="1">
                <a:off x="4246821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Google Shape;929;p28">
                <a:extLst>
                  <a:ext uri="{FF2B5EF4-FFF2-40B4-BE49-F238E27FC236}">
                    <a16:creationId xmlns:a16="http://schemas.microsoft.com/office/drawing/2014/main" id="{8DADC8D9-C04C-4B0A-A2CE-1B05EB8CFFEF}"/>
                  </a:ext>
                </a:extLst>
              </p:cNvPr>
              <p:cNvSpPr/>
              <p:nvPr/>
            </p:nvSpPr>
            <p:spPr>
              <a:xfrm flipH="1">
                <a:off x="4525954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sz="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Google Shape;929;p28">
                <a:extLst>
                  <a:ext uri="{FF2B5EF4-FFF2-40B4-BE49-F238E27FC236}">
                    <a16:creationId xmlns:a16="http://schemas.microsoft.com/office/drawing/2014/main" id="{A6362DE9-550E-4D64-B366-E2F93B3A42E7}"/>
                  </a:ext>
                </a:extLst>
              </p:cNvPr>
              <p:cNvSpPr/>
              <p:nvPr/>
            </p:nvSpPr>
            <p:spPr>
              <a:xfrm flipH="1">
                <a:off x="4805087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2" name="Google Shape;66;p15">
              <a:extLst>
                <a:ext uri="{FF2B5EF4-FFF2-40B4-BE49-F238E27FC236}">
                  <a16:creationId xmlns:a16="http://schemas.microsoft.com/office/drawing/2014/main" id="{BAAF7FAD-0538-49B3-9A18-E53439A7D4E2}"/>
                </a:ext>
              </a:extLst>
            </p:cNvPr>
            <p:cNvSpPr/>
            <p:nvPr/>
          </p:nvSpPr>
          <p:spPr>
            <a:xfrm>
              <a:off x="2037081" y="791082"/>
              <a:ext cx="467559" cy="14685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/>
                <a:t>S1</a:t>
              </a:r>
              <a:endParaRPr sz="1200" dirty="0"/>
            </a:p>
          </p:txBody>
        </p:sp>
        <p:sp>
          <p:nvSpPr>
            <p:cNvPr id="53" name="Google Shape;64;p15">
              <a:extLst>
                <a:ext uri="{FF2B5EF4-FFF2-40B4-BE49-F238E27FC236}">
                  <a16:creationId xmlns:a16="http://schemas.microsoft.com/office/drawing/2014/main" id="{E22A5254-BDDD-4C92-9354-1238FD04F27D}"/>
                </a:ext>
              </a:extLst>
            </p:cNvPr>
            <p:cNvSpPr/>
            <p:nvPr/>
          </p:nvSpPr>
          <p:spPr>
            <a:xfrm>
              <a:off x="2031744" y="1005577"/>
              <a:ext cx="467559" cy="14685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/>
                <a:t>S2</a:t>
              </a:r>
              <a:endParaRPr sz="1200" dirty="0"/>
            </a:p>
          </p:txBody>
        </p:sp>
        <p:sp>
          <p:nvSpPr>
            <p:cNvPr id="54" name="Google Shape;71;p15">
              <a:extLst>
                <a:ext uri="{FF2B5EF4-FFF2-40B4-BE49-F238E27FC236}">
                  <a16:creationId xmlns:a16="http://schemas.microsoft.com/office/drawing/2014/main" id="{8A38956A-B002-4683-A947-586DDA9BB07B}"/>
                </a:ext>
              </a:extLst>
            </p:cNvPr>
            <p:cNvSpPr/>
            <p:nvPr/>
          </p:nvSpPr>
          <p:spPr>
            <a:xfrm>
              <a:off x="2031744" y="1226981"/>
              <a:ext cx="467560" cy="14685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0EDBA">
                    <a:alpha val="70980"/>
                  </a:srgbClr>
                </a:gs>
                <a:gs pos="100000">
                  <a:srgbClr val="B6D7A8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/>
                <a:t>S3</a:t>
              </a:r>
              <a:endParaRPr sz="1200" dirty="0"/>
            </a:p>
          </p:txBody>
        </p:sp>
      </p:grpSp>
      <p:grpSp>
        <p:nvGrpSpPr>
          <p:cNvPr id="88" name="Google Shape;346;p22">
            <a:extLst>
              <a:ext uri="{FF2B5EF4-FFF2-40B4-BE49-F238E27FC236}">
                <a16:creationId xmlns:a16="http://schemas.microsoft.com/office/drawing/2014/main" id="{978E7354-8795-4C6D-A843-D4B525C2EE4E}"/>
              </a:ext>
            </a:extLst>
          </p:cNvPr>
          <p:cNvGrpSpPr/>
          <p:nvPr/>
        </p:nvGrpSpPr>
        <p:grpSpPr>
          <a:xfrm>
            <a:off x="2802906" y="3926376"/>
            <a:ext cx="267963" cy="270704"/>
            <a:chOff x="2372506" y="3438683"/>
            <a:chExt cx="255900" cy="258300"/>
          </a:xfrm>
        </p:grpSpPr>
        <p:pic>
          <p:nvPicPr>
            <p:cNvPr id="107" name="Google Shape;347;p22" descr="+" title="MathEquation,#585858">
              <a:extLst>
                <a:ext uri="{FF2B5EF4-FFF2-40B4-BE49-F238E27FC236}">
                  <a16:creationId xmlns:a16="http://schemas.microsoft.com/office/drawing/2014/main" id="{89D22C9E-1C5A-4759-9801-EDFEBEB1D0D0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07953" y="3466746"/>
              <a:ext cx="185040" cy="2021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348;p22">
              <a:extLst>
                <a:ext uri="{FF2B5EF4-FFF2-40B4-BE49-F238E27FC236}">
                  <a16:creationId xmlns:a16="http://schemas.microsoft.com/office/drawing/2014/main" id="{22E3D6A5-1AB4-441B-A361-F9870514CD4A}"/>
                </a:ext>
              </a:extLst>
            </p:cNvPr>
            <p:cNvSpPr/>
            <p:nvPr/>
          </p:nvSpPr>
          <p:spPr>
            <a:xfrm>
              <a:off x="2372506" y="3438683"/>
              <a:ext cx="255900" cy="2583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grpSp>
        <p:nvGrpSpPr>
          <p:cNvPr id="89" name="Google Shape;349;p22">
            <a:extLst>
              <a:ext uri="{FF2B5EF4-FFF2-40B4-BE49-F238E27FC236}">
                <a16:creationId xmlns:a16="http://schemas.microsoft.com/office/drawing/2014/main" id="{94A1CA06-D385-4823-8128-6AB4AAA1997F}"/>
              </a:ext>
            </a:extLst>
          </p:cNvPr>
          <p:cNvGrpSpPr/>
          <p:nvPr/>
        </p:nvGrpSpPr>
        <p:grpSpPr>
          <a:xfrm>
            <a:off x="2283416" y="3893607"/>
            <a:ext cx="338926" cy="336240"/>
            <a:chOff x="7687999" y="1673849"/>
            <a:chExt cx="407181" cy="385200"/>
          </a:xfrm>
        </p:grpSpPr>
        <p:sp>
          <p:nvSpPr>
            <p:cNvPr id="105" name="Google Shape;350;p22">
              <a:extLst>
                <a:ext uri="{FF2B5EF4-FFF2-40B4-BE49-F238E27FC236}">
                  <a16:creationId xmlns:a16="http://schemas.microsoft.com/office/drawing/2014/main" id="{C8203169-155F-4AA6-BA72-4C979B18F669}"/>
                </a:ext>
              </a:extLst>
            </p:cNvPr>
            <p:cNvSpPr/>
            <p:nvPr/>
          </p:nvSpPr>
          <p:spPr>
            <a:xfrm>
              <a:off x="7687999" y="1673849"/>
              <a:ext cx="407100" cy="3852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  <p:sp>
          <p:nvSpPr>
            <p:cNvPr id="106" name="Google Shape;351;p22">
              <a:extLst>
                <a:ext uri="{FF2B5EF4-FFF2-40B4-BE49-F238E27FC236}">
                  <a16:creationId xmlns:a16="http://schemas.microsoft.com/office/drawing/2014/main" id="{3DCECF77-B21A-4806-9C25-BF5CDFD682C8}"/>
                </a:ext>
              </a:extLst>
            </p:cNvPr>
            <p:cNvSpPr/>
            <p:nvPr/>
          </p:nvSpPr>
          <p:spPr>
            <a:xfrm>
              <a:off x="7695890" y="1786160"/>
              <a:ext cx="399290" cy="178980"/>
            </a:xfrm>
            <a:custGeom>
              <a:avLst/>
              <a:gdLst/>
              <a:ahLst/>
              <a:cxnLst/>
              <a:rect l="l" t="t" r="r" b="b"/>
              <a:pathLst>
                <a:path w="20772" h="9028" extrusionOk="0">
                  <a:moveTo>
                    <a:pt x="0" y="3089"/>
                  </a:moveTo>
                  <a:cubicBezTo>
                    <a:pt x="1222" y="2614"/>
                    <a:pt x="4819" y="-712"/>
                    <a:pt x="7331" y="238"/>
                  </a:cubicBezTo>
                  <a:cubicBezTo>
                    <a:pt x="9843" y="1188"/>
                    <a:pt x="12830" y="7841"/>
                    <a:pt x="15070" y="8791"/>
                  </a:cubicBezTo>
                  <a:cubicBezTo>
                    <a:pt x="17310" y="9741"/>
                    <a:pt x="19822" y="6415"/>
                    <a:pt x="20772" y="594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90" name="Google Shape;352;p22">
            <a:extLst>
              <a:ext uri="{FF2B5EF4-FFF2-40B4-BE49-F238E27FC236}">
                <a16:creationId xmlns:a16="http://schemas.microsoft.com/office/drawing/2014/main" id="{D99D729E-FCF8-4DA1-90EC-88E4079A5A72}"/>
              </a:ext>
            </a:extLst>
          </p:cNvPr>
          <p:cNvSpPr txBox="1"/>
          <p:nvPr/>
        </p:nvSpPr>
        <p:spPr>
          <a:xfrm>
            <a:off x="911216" y="3803294"/>
            <a:ext cx="1711131" cy="426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Positional </a:t>
            </a:r>
            <a:endParaRPr sz="11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Encoding</a:t>
            </a:r>
            <a:endParaRPr sz="1100" dirty="0">
              <a:solidFill>
                <a:schemeClr val="dk2"/>
              </a:solidFill>
            </a:endParaRPr>
          </a:p>
        </p:txBody>
      </p:sp>
      <p:cxnSp>
        <p:nvCxnSpPr>
          <p:cNvPr id="91" name="Google Shape;353;p22">
            <a:extLst>
              <a:ext uri="{FF2B5EF4-FFF2-40B4-BE49-F238E27FC236}">
                <a16:creationId xmlns:a16="http://schemas.microsoft.com/office/drawing/2014/main" id="{6114EBC3-166C-4691-BC38-5C8B838E13F0}"/>
              </a:ext>
            </a:extLst>
          </p:cNvPr>
          <p:cNvCxnSpPr>
            <a:stCxn id="108" idx="2"/>
            <a:endCxn id="105" idx="6"/>
          </p:cNvCxnSpPr>
          <p:nvPr/>
        </p:nvCxnSpPr>
        <p:spPr>
          <a:xfrm rot="10800000">
            <a:off x="2622274" y="4061728"/>
            <a:ext cx="18063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378;p22">
            <a:extLst>
              <a:ext uri="{FF2B5EF4-FFF2-40B4-BE49-F238E27FC236}">
                <a16:creationId xmlns:a16="http://schemas.microsoft.com/office/drawing/2014/main" id="{67D82D89-DE62-4FEF-A0B9-F0A4EA0502B6}"/>
              </a:ext>
            </a:extLst>
          </p:cNvPr>
          <p:cNvSpPr/>
          <p:nvPr/>
        </p:nvSpPr>
        <p:spPr>
          <a:xfrm>
            <a:off x="2148123" y="2991113"/>
            <a:ext cx="1586416" cy="40369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7E9D4"/>
              </a:gs>
              <a:gs pos="100000">
                <a:srgbClr val="E6B94E"/>
              </a:gs>
            </a:gsLst>
            <a:lin ang="2700006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Multi-Head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Attention</a:t>
            </a:r>
            <a:endParaRPr sz="1100" dirty="0">
              <a:solidFill>
                <a:srgbClr val="666666"/>
              </a:solidFill>
            </a:endParaRPr>
          </a:p>
        </p:txBody>
      </p:sp>
      <p:sp>
        <p:nvSpPr>
          <p:cNvPr id="93" name="Google Shape;380;p22">
            <a:extLst>
              <a:ext uri="{FF2B5EF4-FFF2-40B4-BE49-F238E27FC236}">
                <a16:creationId xmlns:a16="http://schemas.microsoft.com/office/drawing/2014/main" id="{BC219080-8032-49B8-83CD-0CE3AD8CEE2C}"/>
              </a:ext>
            </a:extLst>
          </p:cNvPr>
          <p:cNvSpPr/>
          <p:nvPr/>
        </p:nvSpPr>
        <p:spPr>
          <a:xfrm>
            <a:off x="2143673" y="4437173"/>
            <a:ext cx="1586416" cy="45683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8EDBA">
                  <a:alpha val="57647"/>
                </a:srgbClr>
              </a:gs>
              <a:gs pos="100000">
                <a:srgbClr val="FE9696">
                  <a:alpha val="73725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Input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Embedding</a:t>
            </a:r>
            <a:endParaRPr sz="1100" dirty="0">
              <a:solidFill>
                <a:srgbClr val="666666"/>
              </a:solidFill>
            </a:endParaRPr>
          </a:p>
        </p:txBody>
      </p:sp>
      <p:cxnSp>
        <p:nvCxnSpPr>
          <p:cNvPr id="94" name="Google Shape;381;p22">
            <a:extLst>
              <a:ext uri="{FF2B5EF4-FFF2-40B4-BE49-F238E27FC236}">
                <a16:creationId xmlns:a16="http://schemas.microsoft.com/office/drawing/2014/main" id="{772752D3-1CC8-4566-8148-7DD238AE8471}"/>
              </a:ext>
            </a:extLst>
          </p:cNvPr>
          <p:cNvCxnSpPr>
            <a:cxnSpLocks/>
            <a:stCxn id="102" idx="0"/>
            <a:endCxn id="93" idx="2"/>
          </p:cNvCxnSpPr>
          <p:nvPr/>
        </p:nvCxnSpPr>
        <p:spPr>
          <a:xfrm flipV="1">
            <a:off x="2936879" y="4894006"/>
            <a:ext cx="2" cy="24009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394;p22">
            <a:extLst>
              <a:ext uri="{FF2B5EF4-FFF2-40B4-BE49-F238E27FC236}">
                <a16:creationId xmlns:a16="http://schemas.microsoft.com/office/drawing/2014/main" id="{942052BB-23F4-4E1D-8227-1AF343A09FC4}"/>
              </a:ext>
            </a:extLst>
          </p:cNvPr>
          <p:cNvCxnSpPr>
            <a:stCxn id="108" idx="0"/>
            <a:endCxn id="92" idx="2"/>
          </p:cNvCxnSpPr>
          <p:nvPr/>
        </p:nvCxnSpPr>
        <p:spPr>
          <a:xfrm rot="10800000" flipH="1">
            <a:off x="2936887" y="3394714"/>
            <a:ext cx="4398" cy="5316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395;p22">
            <a:extLst>
              <a:ext uri="{FF2B5EF4-FFF2-40B4-BE49-F238E27FC236}">
                <a16:creationId xmlns:a16="http://schemas.microsoft.com/office/drawing/2014/main" id="{B1979892-4FD3-4F15-831B-91505E1AB9A6}"/>
              </a:ext>
            </a:extLst>
          </p:cNvPr>
          <p:cNvCxnSpPr>
            <a:stCxn id="93" idx="0"/>
            <a:endCxn id="108" idx="4"/>
          </p:cNvCxnSpPr>
          <p:nvPr/>
        </p:nvCxnSpPr>
        <p:spPr>
          <a:xfrm rot="10800000">
            <a:off x="2936881" y="4196967"/>
            <a:ext cx="0" cy="24020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EC519771-C511-435A-BB59-517FC82ECFF5}"/>
              </a:ext>
            </a:extLst>
          </p:cNvPr>
          <p:cNvGrpSpPr/>
          <p:nvPr/>
        </p:nvGrpSpPr>
        <p:grpSpPr>
          <a:xfrm>
            <a:off x="2206152" y="5134100"/>
            <a:ext cx="1461456" cy="176410"/>
            <a:chOff x="3688555" y="4877542"/>
            <a:chExt cx="1395665" cy="1683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Google Shape;929;p28">
                  <a:extLst>
                    <a:ext uri="{FF2B5EF4-FFF2-40B4-BE49-F238E27FC236}">
                      <a16:creationId xmlns:a16="http://schemas.microsoft.com/office/drawing/2014/main" id="{7ED7B499-F432-4560-B6F3-7B43F2D97531}"/>
                    </a:ext>
                  </a:extLst>
                </p:cNvPr>
                <p:cNvSpPr/>
                <p:nvPr/>
              </p:nvSpPr>
              <p:spPr>
                <a:xfrm flipH="1">
                  <a:off x="3688555" y="4877543"/>
                  <a:ext cx="279133" cy="168326"/>
                </a:xfrm>
                <a:prstGeom prst="rect">
                  <a:avLst/>
                </a:prstGeom>
                <a:gradFill>
                  <a:gsLst>
                    <a:gs pos="0">
                      <a:srgbClr val="B6D7A8"/>
                    </a:gs>
                    <a:gs pos="64000">
                      <a:srgbClr val="A4C2F4"/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" name="Google Shape;929;p28">
                  <a:extLst>
                    <a:ext uri="{FF2B5EF4-FFF2-40B4-BE49-F238E27FC236}">
                      <a16:creationId xmlns:a16="http://schemas.microsoft.com/office/drawing/2014/main" id="{D7EC3B06-D3B8-46A1-9C94-A7DEAB0231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688555" y="4877543"/>
                  <a:ext cx="279133" cy="168326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Google Shape;929;p28">
                  <a:extLst>
                    <a:ext uri="{FF2B5EF4-FFF2-40B4-BE49-F238E27FC236}">
                      <a16:creationId xmlns:a16="http://schemas.microsoft.com/office/drawing/2014/main" id="{16F68506-8CFD-4DC9-A0E8-B5B21BBC63DE}"/>
                    </a:ext>
                  </a:extLst>
                </p:cNvPr>
                <p:cNvSpPr/>
                <p:nvPr/>
              </p:nvSpPr>
              <p:spPr>
                <a:xfrm flipH="1">
                  <a:off x="3967688" y="4877542"/>
                  <a:ext cx="279133" cy="168326"/>
                </a:xfrm>
                <a:prstGeom prst="rect">
                  <a:avLst/>
                </a:prstGeom>
                <a:gradFill>
                  <a:gsLst>
                    <a:gs pos="0">
                      <a:srgbClr val="B6D7A8"/>
                    </a:gs>
                    <a:gs pos="64000">
                      <a:srgbClr val="A4C2F4"/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0" name="Google Shape;929;p28">
                  <a:extLst>
                    <a:ext uri="{FF2B5EF4-FFF2-40B4-BE49-F238E27FC236}">
                      <a16:creationId xmlns:a16="http://schemas.microsoft.com/office/drawing/2014/main" id="{A453FD40-61D9-42FC-98D1-1EC37F9C81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67688" y="4877542"/>
                  <a:ext cx="279133" cy="168326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Google Shape;929;p28">
                  <a:extLst>
                    <a:ext uri="{FF2B5EF4-FFF2-40B4-BE49-F238E27FC236}">
                      <a16:creationId xmlns:a16="http://schemas.microsoft.com/office/drawing/2014/main" id="{27AEE818-267F-44D4-BE66-C6185F3936E0}"/>
                    </a:ext>
                  </a:extLst>
                </p:cNvPr>
                <p:cNvSpPr/>
                <p:nvPr/>
              </p:nvSpPr>
              <p:spPr>
                <a:xfrm flipH="1">
                  <a:off x="4246821" y="4877542"/>
                  <a:ext cx="279133" cy="168326"/>
                </a:xfrm>
                <a:prstGeom prst="rect">
                  <a:avLst/>
                </a:prstGeom>
                <a:gradFill>
                  <a:gsLst>
                    <a:gs pos="0">
                      <a:srgbClr val="B6D7A8"/>
                    </a:gs>
                    <a:gs pos="64000">
                      <a:srgbClr val="A4C2F4"/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sz="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" name="Google Shape;929;p28">
                  <a:extLst>
                    <a:ext uri="{FF2B5EF4-FFF2-40B4-BE49-F238E27FC236}">
                      <a16:creationId xmlns:a16="http://schemas.microsoft.com/office/drawing/2014/main" id="{352B1FE5-5DDD-47C9-8838-FA689C8934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246821" y="4877542"/>
                  <a:ext cx="279133" cy="168326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Google Shape;929;p28">
              <a:extLst>
                <a:ext uri="{FF2B5EF4-FFF2-40B4-BE49-F238E27FC236}">
                  <a16:creationId xmlns:a16="http://schemas.microsoft.com/office/drawing/2014/main" id="{6691B534-110C-4DD0-AB68-80803EF95842}"/>
                </a:ext>
              </a:extLst>
            </p:cNvPr>
            <p:cNvSpPr/>
            <p:nvPr/>
          </p:nvSpPr>
          <p:spPr>
            <a:xfrm flipH="1">
              <a:off x="4525954" y="4877542"/>
              <a:ext cx="279133" cy="168326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sz="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Google Shape;929;p28">
                  <a:extLst>
                    <a:ext uri="{FF2B5EF4-FFF2-40B4-BE49-F238E27FC236}">
                      <a16:creationId xmlns:a16="http://schemas.microsoft.com/office/drawing/2014/main" id="{D8D7448C-A70D-4A29-A036-67EB52E7CEB7}"/>
                    </a:ext>
                  </a:extLst>
                </p:cNvPr>
                <p:cNvSpPr/>
                <p:nvPr/>
              </p:nvSpPr>
              <p:spPr>
                <a:xfrm flipH="1">
                  <a:off x="4805087" y="4877542"/>
                  <a:ext cx="279133" cy="168326"/>
                </a:xfrm>
                <a:prstGeom prst="rect">
                  <a:avLst/>
                </a:prstGeom>
                <a:gradFill>
                  <a:gsLst>
                    <a:gs pos="0">
                      <a:srgbClr val="B6D7A8"/>
                    </a:gs>
                    <a:gs pos="64000">
                      <a:srgbClr val="A4C2F4"/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sz="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" name="Google Shape;929;p28">
                  <a:extLst>
                    <a:ext uri="{FF2B5EF4-FFF2-40B4-BE49-F238E27FC236}">
                      <a16:creationId xmlns:a16="http://schemas.microsoft.com/office/drawing/2014/main" id="{53DEE9ED-D2B8-4A86-8D90-1D1BB1CB2D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805087" y="4877542"/>
                  <a:ext cx="279133" cy="168326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Google Shape;378;p22">
            <a:extLst>
              <a:ext uri="{FF2B5EF4-FFF2-40B4-BE49-F238E27FC236}">
                <a16:creationId xmlns:a16="http://schemas.microsoft.com/office/drawing/2014/main" id="{9D895ACA-07A8-4D5F-BEDE-D42A21B8B686}"/>
              </a:ext>
            </a:extLst>
          </p:cNvPr>
          <p:cNvSpPr/>
          <p:nvPr/>
        </p:nvSpPr>
        <p:spPr>
          <a:xfrm>
            <a:off x="2301787" y="3159503"/>
            <a:ext cx="1586416" cy="40369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7E9D4"/>
              </a:gs>
              <a:gs pos="100000">
                <a:srgbClr val="E6B94E"/>
              </a:gs>
            </a:gsLst>
            <a:lin ang="2700006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Multi-Head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Attention</a:t>
            </a:r>
            <a:endParaRPr sz="1100" dirty="0">
              <a:solidFill>
                <a:srgbClr val="666666"/>
              </a:solidFill>
            </a:endParaRPr>
          </a:p>
        </p:txBody>
      </p:sp>
      <p:sp>
        <p:nvSpPr>
          <p:cNvPr id="99" name="Google Shape;378;p22">
            <a:extLst>
              <a:ext uri="{FF2B5EF4-FFF2-40B4-BE49-F238E27FC236}">
                <a16:creationId xmlns:a16="http://schemas.microsoft.com/office/drawing/2014/main" id="{B4C1A17B-BE9C-4CC1-9D45-BB4A362410CA}"/>
              </a:ext>
            </a:extLst>
          </p:cNvPr>
          <p:cNvSpPr/>
          <p:nvPr/>
        </p:nvSpPr>
        <p:spPr>
          <a:xfrm>
            <a:off x="1766781" y="2934815"/>
            <a:ext cx="1586416" cy="40369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7E9D4"/>
              </a:gs>
              <a:gs pos="100000">
                <a:srgbClr val="E6B94E"/>
              </a:gs>
            </a:gsLst>
            <a:lin ang="2700006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Multi-Head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Attention</a:t>
            </a:r>
            <a:endParaRPr sz="1100" dirty="0">
              <a:solidFill>
                <a:srgbClr val="666666"/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12401F77-C39D-492E-BAF4-53F0B55833C8}"/>
              </a:ext>
            </a:extLst>
          </p:cNvPr>
          <p:cNvCxnSpPr>
            <a:cxnSpLocks/>
            <a:stCxn id="99" idx="0"/>
          </p:cNvCxnSpPr>
          <p:nvPr/>
        </p:nvCxnSpPr>
        <p:spPr>
          <a:xfrm rot="5400000" flipH="1" flipV="1">
            <a:off x="1894054" y="2268877"/>
            <a:ext cx="1331874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61F4D4D3-5D22-4BF8-BBF5-C7C5A008FEF8}"/>
              </a:ext>
            </a:extLst>
          </p:cNvPr>
          <p:cNvGrpSpPr/>
          <p:nvPr/>
        </p:nvGrpSpPr>
        <p:grpSpPr>
          <a:xfrm>
            <a:off x="4228349" y="392704"/>
            <a:ext cx="1275583" cy="1513552"/>
            <a:chOff x="4343137" y="321721"/>
            <a:chExt cx="1218160" cy="1444199"/>
          </a:xfrm>
        </p:grpSpPr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C46A999B-A67E-4381-9B7E-6B43E25D91BE}"/>
                </a:ext>
              </a:extLst>
            </p:cNvPr>
            <p:cNvGrpSpPr/>
            <p:nvPr/>
          </p:nvGrpSpPr>
          <p:grpSpPr>
            <a:xfrm>
              <a:off x="4449857" y="525988"/>
              <a:ext cx="1061441" cy="1239932"/>
              <a:chOff x="5130425" y="682571"/>
              <a:chExt cx="1061441" cy="1239932"/>
            </a:xfrm>
          </p:grpSpPr>
          <p:sp>
            <p:nvSpPr>
              <p:cNvPr id="148" name="Google Shape;3685;p42">
                <a:extLst>
                  <a:ext uri="{FF2B5EF4-FFF2-40B4-BE49-F238E27FC236}">
                    <a16:creationId xmlns:a16="http://schemas.microsoft.com/office/drawing/2014/main" id="{2CC3CB31-1B5C-4EF5-BC53-D64AE95DAF17}"/>
                  </a:ext>
                </a:extLst>
              </p:cNvPr>
              <p:cNvSpPr/>
              <p:nvPr/>
            </p:nvSpPr>
            <p:spPr>
              <a:xfrm>
                <a:off x="5130877" y="682571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3686;p42">
                <a:extLst>
                  <a:ext uri="{FF2B5EF4-FFF2-40B4-BE49-F238E27FC236}">
                    <a16:creationId xmlns:a16="http://schemas.microsoft.com/office/drawing/2014/main" id="{454B39B7-BA4C-4E95-BE93-02DCD096E8B5}"/>
                  </a:ext>
                </a:extLst>
              </p:cNvPr>
              <p:cNvSpPr/>
              <p:nvPr/>
            </p:nvSpPr>
            <p:spPr>
              <a:xfrm>
                <a:off x="5307708" y="682571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3687;p42">
                <a:extLst>
                  <a:ext uri="{FF2B5EF4-FFF2-40B4-BE49-F238E27FC236}">
                    <a16:creationId xmlns:a16="http://schemas.microsoft.com/office/drawing/2014/main" id="{027E73B1-5F87-45D0-9FD8-90FE393B807B}"/>
                  </a:ext>
                </a:extLst>
              </p:cNvPr>
              <p:cNvSpPr/>
              <p:nvPr/>
            </p:nvSpPr>
            <p:spPr>
              <a:xfrm>
                <a:off x="5484540" y="682571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3688;p42">
                <a:extLst>
                  <a:ext uri="{FF2B5EF4-FFF2-40B4-BE49-F238E27FC236}">
                    <a16:creationId xmlns:a16="http://schemas.microsoft.com/office/drawing/2014/main" id="{836EF630-730B-4392-AB91-B74E6843E668}"/>
                  </a:ext>
                </a:extLst>
              </p:cNvPr>
              <p:cNvSpPr/>
              <p:nvPr/>
            </p:nvSpPr>
            <p:spPr>
              <a:xfrm>
                <a:off x="5661371" y="682571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3689;p42">
                <a:extLst>
                  <a:ext uri="{FF2B5EF4-FFF2-40B4-BE49-F238E27FC236}">
                    <a16:creationId xmlns:a16="http://schemas.microsoft.com/office/drawing/2014/main" id="{29372EAA-9842-4CF3-A6B6-0DE71664D638}"/>
                  </a:ext>
                </a:extLst>
              </p:cNvPr>
              <p:cNvSpPr/>
              <p:nvPr/>
            </p:nvSpPr>
            <p:spPr>
              <a:xfrm>
                <a:off x="5838203" y="682571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3690;p42">
                <a:extLst>
                  <a:ext uri="{FF2B5EF4-FFF2-40B4-BE49-F238E27FC236}">
                    <a16:creationId xmlns:a16="http://schemas.microsoft.com/office/drawing/2014/main" id="{6F63408C-5516-420C-9CD1-3A771CAD759D}"/>
                  </a:ext>
                </a:extLst>
              </p:cNvPr>
              <p:cNvSpPr/>
              <p:nvPr/>
            </p:nvSpPr>
            <p:spPr>
              <a:xfrm>
                <a:off x="6015034" y="682571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3695;p42">
                <a:extLst>
                  <a:ext uri="{FF2B5EF4-FFF2-40B4-BE49-F238E27FC236}">
                    <a16:creationId xmlns:a16="http://schemas.microsoft.com/office/drawing/2014/main" id="{DB36713F-86CA-498C-ACD5-DE7E64AD92B1}"/>
                  </a:ext>
                </a:extLst>
              </p:cNvPr>
              <p:cNvSpPr/>
              <p:nvPr/>
            </p:nvSpPr>
            <p:spPr>
              <a:xfrm>
                <a:off x="5130877" y="8597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3696;p42">
                <a:extLst>
                  <a:ext uri="{FF2B5EF4-FFF2-40B4-BE49-F238E27FC236}">
                    <a16:creationId xmlns:a16="http://schemas.microsoft.com/office/drawing/2014/main" id="{7A9BAEEE-7E85-4F6F-8E0F-44CB676E4CE8}"/>
                  </a:ext>
                </a:extLst>
              </p:cNvPr>
              <p:cNvSpPr/>
              <p:nvPr/>
            </p:nvSpPr>
            <p:spPr>
              <a:xfrm>
                <a:off x="5307708" y="8597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3697;p42">
                <a:extLst>
                  <a:ext uri="{FF2B5EF4-FFF2-40B4-BE49-F238E27FC236}">
                    <a16:creationId xmlns:a16="http://schemas.microsoft.com/office/drawing/2014/main" id="{BF6A6499-D84F-4143-9F67-0AE459AA52D9}"/>
                  </a:ext>
                </a:extLst>
              </p:cNvPr>
              <p:cNvSpPr/>
              <p:nvPr/>
            </p:nvSpPr>
            <p:spPr>
              <a:xfrm>
                <a:off x="5484540" y="8597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3698;p42">
                <a:extLst>
                  <a:ext uri="{FF2B5EF4-FFF2-40B4-BE49-F238E27FC236}">
                    <a16:creationId xmlns:a16="http://schemas.microsoft.com/office/drawing/2014/main" id="{EAC18E4F-8E2E-46DB-9A29-2B0D14981E29}"/>
                  </a:ext>
                </a:extLst>
              </p:cNvPr>
              <p:cNvSpPr/>
              <p:nvPr/>
            </p:nvSpPr>
            <p:spPr>
              <a:xfrm>
                <a:off x="5661371" y="8597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3699;p42">
                <a:extLst>
                  <a:ext uri="{FF2B5EF4-FFF2-40B4-BE49-F238E27FC236}">
                    <a16:creationId xmlns:a16="http://schemas.microsoft.com/office/drawing/2014/main" id="{E56886AF-6734-4632-8006-2B0BED23A773}"/>
                  </a:ext>
                </a:extLst>
              </p:cNvPr>
              <p:cNvSpPr/>
              <p:nvPr/>
            </p:nvSpPr>
            <p:spPr>
              <a:xfrm>
                <a:off x="5838203" y="8597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3700;p42">
                <a:extLst>
                  <a:ext uri="{FF2B5EF4-FFF2-40B4-BE49-F238E27FC236}">
                    <a16:creationId xmlns:a16="http://schemas.microsoft.com/office/drawing/2014/main" id="{D5CBA677-7694-466B-853D-14BCEFA111CD}"/>
                  </a:ext>
                </a:extLst>
              </p:cNvPr>
              <p:cNvSpPr/>
              <p:nvPr/>
            </p:nvSpPr>
            <p:spPr>
              <a:xfrm>
                <a:off x="6015034" y="8597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3705;p42">
                <a:extLst>
                  <a:ext uri="{FF2B5EF4-FFF2-40B4-BE49-F238E27FC236}">
                    <a16:creationId xmlns:a16="http://schemas.microsoft.com/office/drawing/2014/main" id="{CD0219B8-8028-460D-861E-CBAB8048FE5D}"/>
                  </a:ext>
                </a:extLst>
              </p:cNvPr>
              <p:cNvSpPr/>
              <p:nvPr/>
            </p:nvSpPr>
            <p:spPr>
              <a:xfrm>
                <a:off x="5130425" y="10368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3706;p42">
                <a:extLst>
                  <a:ext uri="{FF2B5EF4-FFF2-40B4-BE49-F238E27FC236}">
                    <a16:creationId xmlns:a16="http://schemas.microsoft.com/office/drawing/2014/main" id="{B4C56A5D-839A-4B46-ACAB-52168BA028B6}"/>
                  </a:ext>
                </a:extLst>
              </p:cNvPr>
              <p:cNvSpPr/>
              <p:nvPr/>
            </p:nvSpPr>
            <p:spPr>
              <a:xfrm>
                <a:off x="5307257" y="10368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3707;p42">
                <a:extLst>
                  <a:ext uri="{FF2B5EF4-FFF2-40B4-BE49-F238E27FC236}">
                    <a16:creationId xmlns:a16="http://schemas.microsoft.com/office/drawing/2014/main" id="{0B9597FE-280B-4ED1-9D6C-EB9C5DDC7140}"/>
                  </a:ext>
                </a:extLst>
              </p:cNvPr>
              <p:cNvSpPr/>
              <p:nvPr/>
            </p:nvSpPr>
            <p:spPr>
              <a:xfrm>
                <a:off x="5484088" y="10368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3708;p42">
                <a:extLst>
                  <a:ext uri="{FF2B5EF4-FFF2-40B4-BE49-F238E27FC236}">
                    <a16:creationId xmlns:a16="http://schemas.microsoft.com/office/drawing/2014/main" id="{3A9C9EF3-7C31-44E4-AEB5-890594CD3934}"/>
                  </a:ext>
                </a:extLst>
              </p:cNvPr>
              <p:cNvSpPr/>
              <p:nvPr/>
            </p:nvSpPr>
            <p:spPr>
              <a:xfrm>
                <a:off x="5660920" y="10368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3709;p42">
                <a:extLst>
                  <a:ext uri="{FF2B5EF4-FFF2-40B4-BE49-F238E27FC236}">
                    <a16:creationId xmlns:a16="http://schemas.microsoft.com/office/drawing/2014/main" id="{78C23B47-AB4D-41A5-BE12-B0327E01A15E}"/>
                  </a:ext>
                </a:extLst>
              </p:cNvPr>
              <p:cNvSpPr/>
              <p:nvPr/>
            </p:nvSpPr>
            <p:spPr>
              <a:xfrm>
                <a:off x="5837751" y="10368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3710;p42">
                <a:extLst>
                  <a:ext uri="{FF2B5EF4-FFF2-40B4-BE49-F238E27FC236}">
                    <a16:creationId xmlns:a16="http://schemas.microsoft.com/office/drawing/2014/main" id="{50489F00-F490-47B6-80CF-FAA03C58F58E}"/>
                  </a:ext>
                </a:extLst>
              </p:cNvPr>
              <p:cNvSpPr/>
              <p:nvPr/>
            </p:nvSpPr>
            <p:spPr>
              <a:xfrm>
                <a:off x="6014583" y="10368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3715;p42">
                <a:extLst>
                  <a:ext uri="{FF2B5EF4-FFF2-40B4-BE49-F238E27FC236}">
                    <a16:creationId xmlns:a16="http://schemas.microsoft.com/office/drawing/2014/main" id="{1E559CB2-BFBC-42F5-BFD8-D6BA9270B673}"/>
                  </a:ext>
                </a:extLst>
              </p:cNvPr>
              <p:cNvSpPr/>
              <p:nvPr/>
            </p:nvSpPr>
            <p:spPr>
              <a:xfrm>
                <a:off x="5130425" y="12139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3716;p42">
                <a:extLst>
                  <a:ext uri="{FF2B5EF4-FFF2-40B4-BE49-F238E27FC236}">
                    <a16:creationId xmlns:a16="http://schemas.microsoft.com/office/drawing/2014/main" id="{1336E1F6-B25A-4263-9374-018B9E5FFC92}"/>
                  </a:ext>
                </a:extLst>
              </p:cNvPr>
              <p:cNvSpPr/>
              <p:nvPr/>
            </p:nvSpPr>
            <p:spPr>
              <a:xfrm>
                <a:off x="5307257" y="12139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3717;p42">
                <a:extLst>
                  <a:ext uri="{FF2B5EF4-FFF2-40B4-BE49-F238E27FC236}">
                    <a16:creationId xmlns:a16="http://schemas.microsoft.com/office/drawing/2014/main" id="{066DE79E-BFA4-4C84-A5B3-90516F5EEEF6}"/>
                  </a:ext>
                </a:extLst>
              </p:cNvPr>
              <p:cNvSpPr/>
              <p:nvPr/>
            </p:nvSpPr>
            <p:spPr>
              <a:xfrm>
                <a:off x="5484088" y="12139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3718;p42">
                <a:extLst>
                  <a:ext uri="{FF2B5EF4-FFF2-40B4-BE49-F238E27FC236}">
                    <a16:creationId xmlns:a16="http://schemas.microsoft.com/office/drawing/2014/main" id="{66982A31-5C2E-4EE9-A273-C3C59A612755}"/>
                  </a:ext>
                </a:extLst>
              </p:cNvPr>
              <p:cNvSpPr/>
              <p:nvPr/>
            </p:nvSpPr>
            <p:spPr>
              <a:xfrm>
                <a:off x="5660920" y="12139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3719;p42">
                <a:extLst>
                  <a:ext uri="{FF2B5EF4-FFF2-40B4-BE49-F238E27FC236}">
                    <a16:creationId xmlns:a16="http://schemas.microsoft.com/office/drawing/2014/main" id="{D762DC43-854D-4FED-839E-75D333C16D95}"/>
                  </a:ext>
                </a:extLst>
              </p:cNvPr>
              <p:cNvSpPr/>
              <p:nvPr/>
            </p:nvSpPr>
            <p:spPr>
              <a:xfrm>
                <a:off x="5837751" y="12139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3720;p42">
                <a:extLst>
                  <a:ext uri="{FF2B5EF4-FFF2-40B4-BE49-F238E27FC236}">
                    <a16:creationId xmlns:a16="http://schemas.microsoft.com/office/drawing/2014/main" id="{263CBAAF-D00E-4EB7-9DF7-D4D16AE193D0}"/>
                  </a:ext>
                </a:extLst>
              </p:cNvPr>
              <p:cNvSpPr/>
              <p:nvPr/>
            </p:nvSpPr>
            <p:spPr>
              <a:xfrm>
                <a:off x="6014583" y="12139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3725;p42">
                <a:extLst>
                  <a:ext uri="{FF2B5EF4-FFF2-40B4-BE49-F238E27FC236}">
                    <a16:creationId xmlns:a16="http://schemas.microsoft.com/office/drawing/2014/main" id="{78F3AAF5-D827-4DAB-A37E-5C5C960B4358}"/>
                  </a:ext>
                </a:extLst>
              </p:cNvPr>
              <p:cNvSpPr/>
              <p:nvPr/>
            </p:nvSpPr>
            <p:spPr>
              <a:xfrm>
                <a:off x="5130877" y="13911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3726;p42">
                <a:extLst>
                  <a:ext uri="{FF2B5EF4-FFF2-40B4-BE49-F238E27FC236}">
                    <a16:creationId xmlns:a16="http://schemas.microsoft.com/office/drawing/2014/main" id="{7F841C7E-C440-44E4-BA3E-0B51559CF23F}"/>
                  </a:ext>
                </a:extLst>
              </p:cNvPr>
              <p:cNvSpPr/>
              <p:nvPr/>
            </p:nvSpPr>
            <p:spPr>
              <a:xfrm>
                <a:off x="5307708" y="13911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3727;p42">
                <a:extLst>
                  <a:ext uri="{FF2B5EF4-FFF2-40B4-BE49-F238E27FC236}">
                    <a16:creationId xmlns:a16="http://schemas.microsoft.com/office/drawing/2014/main" id="{FAEE74DB-9D66-4A83-8374-E541D26EF568}"/>
                  </a:ext>
                </a:extLst>
              </p:cNvPr>
              <p:cNvSpPr/>
              <p:nvPr/>
            </p:nvSpPr>
            <p:spPr>
              <a:xfrm>
                <a:off x="5484540" y="13911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3728;p42">
                <a:extLst>
                  <a:ext uri="{FF2B5EF4-FFF2-40B4-BE49-F238E27FC236}">
                    <a16:creationId xmlns:a16="http://schemas.microsoft.com/office/drawing/2014/main" id="{B9BE581F-C218-459C-AB6A-A43577B6EFCC}"/>
                  </a:ext>
                </a:extLst>
              </p:cNvPr>
              <p:cNvSpPr/>
              <p:nvPr/>
            </p:nvSpPr>
            <p:spPr>
              <a:xfrm>
                <a:off x="5661371" y="13911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3729;p42">
                <a:extLst>
                  <a:ext uri="{FF2B5EF4-FFF2-40B4-BE49-F238E27FC236}">
                    <a16:creationId xmlns:a16="http://schemas.microsoft.com/office/drawing/2014/main" id="{9C0825E7-5046-40EF-99DC-1EB52BD8BC84}"/>
                  </a:ext>
                </a:extLst>
              </p:cNvPr>
              <p:cNvSpPr/>
              <p:nvPr/>
            </p:nvSpPr>
            <p:spPr>
              <a:xfrm>
                <a:off x="5838203" y="13911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3730;p42">
                <a:extLst>
                  <a:ext uri="{FF2B5EF4-FFF2-40B4-BE49-F238E27FC236}">
                    <a16:creationId xmlns:a16="http://schemas.microsoft.com/office/drawing/2014/main" id="{F849BC6D-0D8E-40D4-BBBB-35A88AC58B3F}"/>
                  </a:ext>
                </a:extLst>
              </p:cNvPr>
              <p:cNvSpPr/>
              <p:nvPr/>
            </p:nvSpPr>
            <p:spPr>
              <a:xfrm>
                <a:off x="6015034" y="1391104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3735;p42">
                <a:extLst>
                  <a:ext uri="{FF2B5EF4-FFF2-40B4-BE49-F238E27FC236}">
                    <a16:creationId xmlns:a16="http://schemas.microsoft.com/office/drawing/2014/main" id="{2834A941-DC89-4240-A00D-2C7DEBA6910D}"/>
                  </a:ext>
                </a:extLst>
              </p:cNvPr>
              <p:cNvSpPr/>
              <p:nvPr/>
            </p:nvSpPr>
            <p:spPr>
              <a:xfrm>
                <a:off x="5130877" y="15682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9" name="Google Shape;3736;p42">
                <a:extLst>
                  <a:ext uri="{FF2B5EF4-FFF2-40B4-BE49-F238E27FC236}">
                    <a16:creationId xmlns:a16="http://schemas.microsoft.com/office/drawing/2014/main" id="{B9EEC06B-69BA-4AEC-BBE1-A3AC6494DBF4}"/>
                  </a:ext>
                </a:extLst>
              </p:cNvPr>
              <p:cNvSpPr/>
              <p:nvPr/>
            </p:nvSpPr>
            <p:spPr>
              <a:xfrm>
                <a:off x="5307708" y="15682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3737;p42">
                <a:extLst>
                  <a:ext uri="{FF2B5EF4-FFF2-40B4-BE49-F238E27FC236}">
                    <a16:creationId xmlns:a16="http://schemas.microsoft.com/office/drawing/2014/main" id="{82B02D55-EC26-423E-91DD-23B7B45C9B3A}"/>
                  </a:ext>
                </a:extLst>
              </p:cNvPr>
              <p:cNvSpPr/>
              <p:nvPr/>
            </p:nvSpPr>
            <p:spPr>
              <a:xfrm>
                <a:off x="5484540" y="15682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3738;p42">
                <a:extLst>
                  <a:ext uri="{FF2B5EF4-FFF2-40B4-BE49-F238E27FC236}">
                    <a16:creationId xmlns:a16="http://schemas.microsoft.com/office/drawing/2014/main" id="{55AD6F46-8A86-4561-BBDA-8717249427CD}"/>
                  </a:ext>
                </a:extLst>
              </p:cNvPr>
              <p:cNvSpPr/>
              <p:nvPr/>
            </p:nvSpPr>
            <p:spPr>
              <a:xfrm>
                <a:off x="5661371" y="15682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3739;p42">
                <a:extLst>
                  <a:ext uri="{FF2B5EF4-FFF2-40B4-BE49-F238E27FC236}">
                    <a16:creationId xmlns:a16="http://schemas.microsoft.com/office/drawing/2014/main" id="{2F3A798D-A134-4690-833F-71A82353EC94}"/>
                  </a:ext>
                </a:extLst>
              </p:cNvPr>
              <p:cNvSpPr/>
              <p:nvPr/>
            </p:nvSpPr>
            <p:spPr>
              <a:xfrm>
                <a:off x="5838203" y="15682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3740;p42">
                <a:extLst>
                  <a:ext uri="{FF2B5EF4-FFF2-40B4-BE49-F238E27FC236}">
                    <a16:creationId xmlns:a16="http://schemas.microsoft.com/office/drawing/2014/main" id="{8E967EFA-AF89-4367-BD6A-504259111126}"/>
                  </a:ext>
                </a:extLst>
              </p:cNvPr>
              <p:cNvSpPr/>
              <p:nvPr/>
            </p:nvSpPr>
            <p:spPr>
              <a:xfrm>
                <a:off x="6015034" y="1568237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3745;p42">
                <a:extLst>
                  <a:ext uri="{FF2B5EF4-FFF2-40B4-BE49-F238E27FC236}">
                    <a16:creationId xmlns:a16="http://schemas.microsoft.com/office/drawing/2014/main" id="{676B1213-2078-46A9-80A0-A17E4C1934F4}"/>
                  </a:ext>
                </a:extLst>
              </p:cNvPr>
              <p:cNvSpPr/>
              <p:nvPr/>
            </p:nvSpPr>
            <p:spPr>
              <a:xfrm>
                <a:off x="5130877" y="17453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3746;p42">
                <a:extLst>
                  <a:ext uri="{FF2B5EF4-FFF2-40B4-BE49-F238E27FC236}">
                    <a16:creationId xmlns:a16="http://schemas.microsoft.com/office/drawing/2014/main" id="{DCAC9192-7275-4CC6-A19F-1EB29B0CF9B1}"/>
                  </a:ext>
                </a:extLst>
              </p:cNvPr>
              <p:cNvSpPr/>
              <p:nvPr/>
            </p:nvSpPr>
            <p:spPr>
              <a:xfrm>
                <a:off x="5307708" y="17453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3747;p42">
                <a:extLst>
                  <a:ext uri="{FF2B5EF4-FFF2-40B4-BE49-F238E27FC236}">
                    <a16:creationId xmlns:a16="http://schemas.microsoft.com/office/drawing/2014/main" id="{930FBCA9-B963-44E7-A566-EA6665277714}"/>
                  </a:ext>
                </a:extLst>
              </p:cNvPr>
              <p:cNvSpPr/>
              <p:nvPr/>
            </p:nvSpPr>
            <p:spPr>
              <a:xfrm>
                <a:off x="5484540" y="17453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3748;p42">
                <a:extLst>
                  <a:ext uri="{FF2B5EF4-FFF2-40B4-BE49-F238E27FC236}">
                    <a16:creationId xmlns:a16="http://schemas.microsoft.com/office/drawing/2014/main" id="{E2D92EB3-B213-4636-AEE0-3FCE6504E308}"/>
                  </a:ext>
                </a:extLst>
              </p:cNvPr>
              <p:cNvSpPr/>
              <p:nvPr/>
            </p:nvSpPr>
            <p:spPr>
              <a:xfrm>
                <a:off x="5661371" y="17453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3749;p42">
                <a:extLst>
                  <a:ext uri="{FF2B5EF4-FFF2-40B4-BE49-F238E27FC236}">
                    <a16:creationId xmlns:a16="http://schemas.microsoft.com/office/drawing/2014/main" id="{32E8284C-C3BE-4A89-BC53-F53F37D803D1}"/>
                  </a:ext>
                </a:extLst>
              </p:cNvPr>
              <p:cNvSpPr/>
              <p:nvPr/>
            </p:nvSpPr>
            <p:spPr>
              <a:xfrm>
                <a:off x="5838203" y="17453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3750;p42">
                <a:extLst>
                  <a:ext uri="{FF2B5EF4-FFF2-40B4-BE49-F238E27FC236}">
                    <a16:creationId xmlns:a16="http://schemas.microsoft.com/office/drawing/2014/main" id="{A78CC4BA-DB4A-47EF-838C-4055DF8E8D8B}"/>
                  </a:ext>
                </a:extLst>
              </p:cNvPr>
              <p:cNvSpPr/>
              <p:nvPr/>
            </p:nvSpPr>
            <p:spPr>
              <a:xfrm>
                <a:off x="6015034" y="1745370"/>
                <a:ext cx="176832" cy="177133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7" name="Google Shape;479;p24">
              <a:extLst>
                <a:ext uri="{FF2B5EF4-FFF2-40B4-BE49-F238E27FC236}">
                  <a16:creationId xmlns:a16="http://schemas.microsoft.com/office/drawing/2014/main" id="{1E8BD5BE-DA63-45FF-81D0-B76A864AADD0}"/>
                </a:ext>
              </a:extLst>
            </p:cNvPr>
            <p:cNvSpPr/>
            <p:nvPr/>
          </p:nvSpPr>
          <p:spPr>
            <a:xfrm>
              <a:off x="4343137" y="321721"/>
              <a:ext cx="1218160" cy="11941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0EDBA">
                    <a:alpha val="70980"/>
                  </a:srgbClr>
                </a:gs>
                <a:gs pos="100000">
                  <a:srgbClr val="DE87F1">
                    <a:alpha val="39607"/>
                  </a:srgbClr>
                </a:gs>
              </a:gsLst>
              <a:lin ang="13500032" scaled="0"/>
            </a:gra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dirty="0">
                  <a:solidFill>
                    <a:srgbClr val="666666"/>
                  </a:solidFill>
                </a:rPr>
                <a:t>Item Embedding</a:t>
              </a:r>
              <a:endParaRPr sz="900" dirty="0">
                <a:solidFill>
                  <a:srgbClr val="666666"/>
                </a:solidFill>
              </a:endParaRPr>
            </a:p>
          </p:txBody>
        </p:sp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7AEC1D92-7878-4BA8-A9DA-D63F101C12A0}"/>
              </a:ext>
            </a:extLst>
          </p:cNvPr>
          <p:cNvGrpSpPr/>
          <p:nvPr/>
        </p:nvGrpSpPr>
        <p:grpSpPr>
          <a:xfrm>
            <a:off x="6040316" y="939384"/>
            <a:ext cx="1461457" cy="628132"/>
            <a:chOff x="5406602" y="756445"/>
            <a:chExt cx="1395666" cy="599350"/>
          </a:xfrm>
        </p:grpSpPr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5BCC7A9A-0545-4A7B-AB69-B0857796851C}"/>
                </a:ext>
              </a:extLst>
            </p:cNvPr>
            <p:cNvGrpSpPr/>
            <p:nvPr/>
          </p:nvGrpSpPr>
          <p:grpSpPr>
            <a:xfrm>
              <a:off x="5406602" y="1187468"/>
              <a:ext cx="1395665" cy="168327"/>
              <a:chOff x="3688555" y="4877542"/>
              <a:chExt cx="1395665" cy="168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Google Shape;929;p28">
                    <a:extLst>
                      <a:ext uri="{FF2B5EF4-FFF2-40B4-BE49-F238E27FC236}">
                        <a16:creationId xmlns:a16="http://schemas.microsoft.com/office/drawing/2014/main" id="{013BE759-4297-41B9-A29A-C99920575556}"/>
                      </a:ext>
                    </a:extLst>
                  </p:cNvPr>
                  <p:cNvSpPr/>
                  <p:nvPr/>
                </p:nvSpPr>
                <p:spPr>
                  <a:xfrm flipH="1">
                    <a:off x="3688555" y="4877543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oMath>
                      </m:oMathPara>
                    </a14:m>
                    <a:endParaRPr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6" name="Google Shape;929;p28">
                    <a:extLst>
                      <a:ext uri="{FF2B5EF4-FFF2-40B4-BE49-F238E27FC236}">
                        <a16:creationId xmlns:a16="http://schemas.microsoft.com/office/drawing/2014/main" id="{638BDA75-F65E-410A-BB78-8F4254860B6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688555" y="4877543"/>
                    <a:ext cx="279133" cy="168326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Google Shape;929;p28">
                    <a:extLst>
                      <a:ext uri="{FF2B5EF4-FFF2-40B4-BE49-F238E27FC236}">
                        <a16:creationId xmlns:a16="http://schemas.microsoft.com/office/drawing/2014/main" id="{52623ED5-8CBF-4C2E-BC26-915239389229}"/>
                      </a:ext>
                    </a:extLst>
                  </p:cNvPr>
                  <p:cNvSpPr/>
                  <p:nvPr/>
                </p:nvSpPr>
                <p:spPr>
                  <a:xfrm flipH="1">
                    <a:off x="3967688" y="4877542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oMath>
                      </m:oMathPara>
                    </a14:m>
                    <a:endParaRPr sz="5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7" name="Google Shape;929;p28">
                    <a:extLst>
                      <a:ext uri="{FF2B5EF4-FFF2-40B4-BE49-F238E27FC236}">
                        <a16:creationId xmlns:a16="http://schemas.microsoft.com/office/drawing/2014/main" id="{E1F67C28-C114-48E1-B59A-DB13B75E2B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967688" y="4877542"/>
                    <a:ext cx="279133" cy="168326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Google Shape;929;p28">
                    <a:extLst>
                      <a:ext uri="{FF2B5EF4-FFF2-40B4-BE49-F238E27FC236}">
                        <a16:creationId xmlns:a16="http://schemas.microsoft.com/office/drawing/2014/main" id="{72008B97-2D1B-4C17-BB79-B5CF492828B3}"/>
                      </a:ext>
                    </a:extLst>
                  </p:cNvPr>
                  <p:cNvSpPr/>
                  <p:nvPr/>
                </p:nvSpPr>
                <p:spPr>
                  <a:xfrm flipH="1">
                    <a:off x="4246821" y="4877542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oMath>
                      </m:oMathPara>
                    </a14:m>
                    <a:endParaRPr sz="5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8" name="Google Shape;929;p28">
                    <a:extLst>
                      <a:ext uri="{FF2B5EF4-FFF2-40B4-BE49-F238E27FC236}">
                        <a16:creationId xmlns:a16="http://schemas.microsoft.com/office/drawing/2014/main" id="{5F74F6D9-87B0-463D-84DC-9521952BFC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46821" y="4877542"/>
                    <a:ext cx="279133" cy="168326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7" name="Google Shape;929;p28">
                <a:extLst>
                  <a:ext uri="{FF2B5EF4-FFF2-40B4-BE49-F238E27FC236}">
                    <a16:creationId xmlns:a16="http://schemas.microsoft.com/office/drawing/2014/main" id="{00EAA179-A94B-43C5-82F8-FC545D3B67AC}"/>
                  </a:ext>
                </a:extLst>
              </p:cNvPr>
              <p:cNvSpPr/>
              <p:nvPr/>
            </p:nvSpPr>
            <p:spPr>
              <a:xfrm flipH="1">
                <a:off x="4525954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sz="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Google Shape;929;p28">
                    <a:extLst>
                      <a:ext uri="{FF2B5EF4-FFF2-40B4-BE49-F238E27FC236}">
                        <a16:creationId xmlns:a16="http://schemas.microsoft.com/office/drawing/2014/main" id="{55D4048A-DFB2-4476-A59C-EE81E96C27B2}"/>
                      </a:ext>
                    </a:extLst>
                  </p:cNvPr>
                  <p:cNvSpPr/>
                  <p:nvPr/>
                </p:nvSpPr>
                <p:spPr>
                  <a:xfrm flipH="1">
                    <a:off x="4805087" y="4877542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oMath>
                      </m:oMathPara>
                    </a14:m>
                    <a:endParaRPr sz="5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0" name="Google Shape;929;p28">
                    <a:extLst>
                      <a:ext uri="{FF2B5EF4-FFF2-40B4-BE49-F238E27FC236}">
                        <a16:creationId xmlns:a16="http://schemas.microsoft.com/office/drawing/2014/main" id="{D1FB1866-2BC1-480B-B7FE-1B715B3E77A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805087" y="4877542"/>
                    <a:ext cx="279133" cy="168326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7FC667F8-2DC0-4B8C-9DEF-917DEA0709AD}"/>
                </a:ext>
              </a:extLst>
            </p:cNvPr>
            <p:cNvGrpSpPr/>
            <p:nvPr/>
          </p:nvGrpSpPr>
          <p:grpSpPr>
            <a:xfrm>
              <a:off x="5406603" y="756445"/>
              <a:ext cx="1395665" cy="168327"/>
              <a:chOff x="3688555" y="4877542"/>
              <a:chExt cx="1395665" cy="168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Google Shape;929;p28">
                    <a:extLst>
                      <a:ext uri="{FF2B5EF4-FFF2-40B4-BE49-F238E27FC236}">
                        <a16:creationId xmlns:a16="http://schemas.microsoft.com/office/drawing/2014/main" id="{920148F3-6741-4085-8E69-84CA125A5993}"/>
                      </a:ext>
                    </a:extLst>
                  </p:cNvPr>
                  <p:cNvSpPr/>
                  <p:nvPr/>
                </p:nvSpPr>
                <p:spPr>
                  <a:xfrm flipH="1">
                    <a:off x="3688555" y="4877543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2" name="Google Shape;929;p28">
                    <a:extLst>
                      <a:ext uri="{FF2B5EF4-FFF2-40B4-BE49-F238E27FC236}">
                        <a16:creationId xmlns:a16="http://schemas.microsoft.com/office/drawing/2014/main" id="{74D3BA9E-65CD-4C9B-BF8E-7ABCB9CFC3D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688555" y="4877543"/>
                    <a:ext cx="279133" cy="168326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Google Shape;929;p28">
                    <a:extLst>
                      <a:ext uri="{FF2B5EF4-FFF2-40B4-BE49-F238E27FC236}">
                        <a16:creationId xmlns:a16="http://schemas.microsoft.com/office/drawing/2014/main" id="{EC5B0841-A921-4F25-BB26-FA4F5C46E0A4}"/>
                      </a:ext>
                    </a:extLst>
                  </p:cNvPr>
                  <p:cNvSpPr/>
                  <p:nvPr/>
                </p:nvSpPr>
                <p:spPr>
                  <a:xfrm flipH="1">
                    <a:off x="3967688" y="4877542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3" name="Google Shape;929;p28">
                    <a:extLst>
                      <a:ext uri="{FF2B5EF4-FFF2-40B4-BE49-F238E27FC236}">
                        <a16:creationId xmlns:a16="http://schemas.microsoft.com/office/drawing/2014/main" id="{E2B5C787-73A8-4EF9-AEA6-CECBC1E3F25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967688" y="4877542"/>
                    <a:ext cx="279133" cy="168326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" name="Google Shape;929;p28">
                    <a:extLst>
                      <a:ext uri="{FF2B5EF4-FFF2-40B4-BE49-F238E27FC236}">
                        <a16:creationId xmlns:a16="http://schemas.microsoft.com/office/drawing/2014/main" id="{BFCFD273-86DC-4B0A-AB54-C8F98CB57271}"/>
                      </a:ext>
                    </a:extLst>
                  </p:cNvPr>
                  <p:cNvSpPr/>
                  <p:nvPr/>
                </p:nvSpPr>
                <p:spPr>
                  <a:xfrm flipH="1">
                    <a:off x="4246821" y="4877542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4" name="Google Shape;929;p28">
                    <a:extLst>
                      <a:ext uri="{FF2B5EF4-FFF2-40B4-BE49-F238E27FC236}">
                        <a16:creationId xmlns:a16="http://schemas.microsoft.com/office/drawing/2014/main" id="{1F9D3911-BC3C-46A9-BBE8-E192AB27CA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46821" y="4877542"/>
                    <a:ext cx="279133" cy="168326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2" name="Google Shape;929;p28">
                <a:extLst>
                  <a:ext uri="{FF2B5EF4-FFF2-40B4-BE49-F238E27FC236}">
                    <a16:creationId xmlns:a16="http://schemas.microsoft.com/office/drawing/2014/main" id="{30BC3AD6-9F65-4002-BCF9-DA3CDF71F30E}"/>
                  </a:ext>
                </a:extLst>
              </p:cNvPr>
              <p:cNvSpPr/>
              <p:nvPr/>
            </p:nvSpPr>
            <p:spPr>
              <a:xfrm flipH="1">
                <a:off x="4525954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sz="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3" name="Google Shape;929;p28">
                    <a:extLst>
                      <a:ext uri="{FF2B5EF4-FFF2-40B4-BE49-F238E27FC236}">
                        <a16:creationId xmlns:a16="http://schemas.microsoft.com/office/drawing/2014/main" id="{4220A89A-38A2-44B5-9497-F7CA81D9A434}"/>
                      </a:ext>
                    </a:extLst>
                  </p:cNvPr>
                  <p:cNvSpPr/>
                  <p:nvPr/>
                </p:nvSpPr>
                <p:spPr>
                  <a:xfrm flipH="1">
                    <a:off x="4805087" y="4877542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lvl="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6" name="Google Shape;929;p28">
                    <a:extLst>
                      <a:ext uri="{FF2B5EF4-FFF2-40B4-BE49-F238E27FC236}">
                        <a16:creationId xmlns:a16="http://schemas.microsoft.com/office/drawing/2014/main" id="{9484E351-47DC-41F2-8C42-47294CA1A87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805087" y="4877542"/>
                    <a:ext cx="279133" cy="168326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6F24C292-3AF1-4217-B6EA-0647E9850B96}"/>
                </a:ext>
              </a:extLst>
            </p:cNvPr>
            <p:cNvGrpSpPr/>
            <p:nvPr/>
          </p:nvGrpSpPr>
          <p:grpSpPr>
            <a:xfrm>
              <a:off x="5406603" y="969782"/>
              <a:ext cx="1395665" cy="168327"/>
              <a:chOff x="3688555" y="4877542"/>
              <a:chExt cx="1395665" cy="168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Google Shape;929;p28">
                    <a:extLst>
                      <a:ext uri="{FF2B5EF4-FFF2-40B4-BE49-F238E27FC236}">
                        <a16:creationId xmlns:a16="http://schemas.microsoft.com/office/drawing/2014/main" id="{C4D63246-18EE-4CE8-BAE3-8BB7E0168C38}"/>
                      </a:ext>
                    </a:extLst>
                  </p:cNvPr>
                  <p:cNvSpPr/>
                  <p:nvPr/>
                </p:nvSpPr>
                <p:spPr>
                  <a:xfrm flipH="1">
                    <a:off x="3688555" y="4877543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8" name="Google Shape;929;p28">
                    <a:extLst>
                      <a:ext uri="{FF2B5EF4-FFF2-40B4-BE49-F238E27FC236}">
                        <a16:creationId xmlns:a16="http://schemas.microsoft.com/office/drawing/2014/main" id="{1EA7F0BB-C4E7-44E9-AC1A-1DB40B4739A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688555" y="4877543"/>
                    <a:ext cx="279133" cy="168326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Google Shape;929;p28">
                    <a:extLst>
                      <a:ext uri="{FF2B5EF4-FFF2-40B4-BE49-F238E27FC236}">
                        <a16:creationId xmlns:a16="http://schemas.microsoft.com/office/drawing/2014/main" id="{78171BB0-C478-4992-AD0E-9C75335BC353}"/>
                      </a:ext>
                    </a:extLst>
                  </p:cNvPr>
                  <p:cNvSpPr/>
                  <p:nvPr/>
                </p:nvSpPr>
                <p:spPr>
                  <a:xfrm flipH="1">
                    <a:off x="3967688" y="4877542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sz="5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9" name="Google Shape;929;p28">
                    <a:extLst>
                      <a:ext uri="{FF2B5EF4-FFF2-40B4-BE49-F238E27FC236}">
                        <a16:creationId xmlns:a16="http://schemas.microsoft.com/office/drawing/2014/main" id="{79F29555-CC02-4739-9BDB-EBF97B19C3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967688" y="4877542"/>
                    <a:ext cx="279133" cy="168326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6" name="Google Shape;929;p28">
                    <a:extLst>
                      <a:ext uri="{FF2B5EF4-FFF2-40B4-BE49-F238E27FC236}">
                        <a16:creationId xmlns:a16="http://schemas.microsoft.com/office/drawing/2014/main" id="{0038BE9E-D919-4A70-B3D8-961715FDF999}"/>
                      </a:ext>
                    </a:extLst>
                  </p:cNvPr>
                  <p:cNvSpPr/>
                  <p:nvPr/>
                </p:nvSpPr>
                <p:spPr>
                  <a:xfrm flipH="1">
                    <a:off x="4246821" y="4877542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sz="5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30" name="Google Shape;929;p28">
                    <a:extLst>
                      <a:ext uri="{FF2B5EF4-FFF2-40B4-BE49-F238E27FC236}">
                        <a16:creationId xmlns:a16="http://schemas.microsoft.com/office/drawing/2014/main" id="{6DC28B77-E17B-433C-9DE3-6E3081E944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46821" y="4877542"/>
                    <a:ext cx="279133" cy="168326"/>
                  </a:xfrm>
                  <a:prstGeom prst="rect">
                    <a:avLst/>
                  </a:prstGeom>
                  <a:blipFill>
                    <a:blip r:embed="rId60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7" name="Google Shape;929;p28">
                <a:extLst>
                  <a:ext uri="{FF2B5EF4-FFF2-40B4-BE49-F238E27FC236}">
                    <a16:creationId xmlns:a16="http://schemas.microsoft.com/office/drawing/2014/main" id="{0396B75C-7393-4B1E-8308-7BBF88329999}"/>
                  </a:ext>
                </a:extLst>
              </p:cNvPr>
              <p:cNvSpPr/>
              <p:nvPr/>
            </p:nvSpPr>
            <p:spPr>
              <a:xfrm flipH="1">
                <a:off x="4525954" y="4877542"/>
                <a:ext cx="279133" cy="168326"/>
              </a:xfrm>
              <a:prstGeom prst="rect">
                <a:avLst/>
              </a:prstGeom>
              <a:gradFill>
                <a:gsLst>
                  <a:gs pos="0">
                    <a:srgbClr val="B6D7A8"/>
                  </a:gs>
                  <a:gs pos="64000">
                    <a:srgbClr val="A4C2F4"/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sz="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8" name="Google Shape;929;p28">
                    <a:extLst>
                      <a:ext uri="{FF2B5EF4-FFF2-40B4-BE49-F238E27FC236}">
                        <a16:creationId xmlns:a16="http://schemas.microsoft.com/office/drawing/2014/main" id="{53758A43-D89B-4305-A7D9-1C1E140365A1}"/>
                      </a:ext>
                    </a:extLst>
                  </p:cNvPr>
                  <p:cNvSpPr/>
                  <p:nvPr/>
                </p:nvSpPr>
                <p:spPr>
                  <a:xfrm flipH="1">
                    <a:off x="4805087" y="4877542"/>
                    <a:ext cx="279133" cy="168326"/>
                  </a:xfrm>
                  <a:prstGeom prst="rect">
                    <a:avLst/>
                  </a:prstGeom>
                  <a:gradFill>
                    <a:gsLst>
                      <a:gs pos="0">
                        <a:srgbClr val="B6D7A8"/>
                      </a:gs>
                      <a:gs pos="64000">
                        <a:srgbClr val="A4C2F4"/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sz="5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32" name="Google Shape;929;p28">
                    <a:extLst>
                      <a:ext uri="{FF2B5EF4-FFF2-40B4-BE49-F238E27FC236}">
                        <a16:creationId xmlns:a16="http://schemas.microsoft.com/office/drawing/2014/main" id="{32D07DDC-0443-4D6E-8453-555B170BBF7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805087" y="4877542"/>
                    <a:ext cx="279133" cy="168326"/>
                  </a:xfrm>
                  <a:prstGeom prst="rect">
                    <a:avLst/>
                  </a:prstGeom>
                  <a:blipFill>
                    <a:blip r:embed="rId61"/>
                    <a:stretch>
                      <a:fillRect/>
                    </a:stretch>
                  </a:blip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09" name="Google Shape;314;p20">
            <a:extLst>
              <a:ext uri="{FF2B5EF4-FFF2-40B4-BE49-F238E27FC236}">
                <a16:creationId xmlns:a16="http://schemas.microsoft.com/office/drawing/2014/main" id="{6685F040-617A-4449-ABBF-AAB088C121BC}"/>
              </a:ext>
            </a:extLst>
          </p:cNvPr>
          <p:cNvGrpSpPr/>
          <p:nvPr/>
        </p:nvGrpSpPr>
        <p:grpSpPr>
          <a:xfrm>
            <a:off x="3914196" y="1169557"/>
            <a:ext cx="185168" cy="188576"/>
            <a:chOff x="7503475" y="2981725"/>
            <a:chExt cx="535200" cy="535200"/>
          </a:xfrm>
        </p:grpSpPr>
        <p:sp>
          <p:nvSpPr>
            <p:cNvPr id="210" name="Google Shape;315;p20">
              <a:extLst>
                <a:ext uri="{FF2B5EF4-FFF2-40B4-BE49-F238E27FC236}">
                  <a16:creationId xmlns:a16="http://schemas.microsoft.com/office/drawing/2014/main" id="{0E7AEECF-AD82-412C-84D0-57056731E99C}"/>
                </a:ext>
              </a:extLst>
            </p:cNvPr>
            <p:cNvSpPr/>
            <p:nvPr/>
          </p:nvSpPr>
          <p:spPr>
            <a:xfrm>
              <a:off x="7503475" y="2981725"/>
              <a:ext cx="535200" cy="5352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  <p:pic>
          <p:nvPicPr>
            <p:cNvPr id="211" name="Google Shape;316;p20" descr="\times" title="MathEquation,#565656">
              <a:extLst>
                <a:ext uri="{FF2B5EF4-FFF2-40B4-BE49-F238E27FC236}">
                  <a16:creationId xmlns:a16="http://schemas.microsoft.com/office/drawing/2014/main" id="{F46A62B8-259A-44CF-8FB4-AE53D00C0B57}"/>
                </a:ext>
              </a:extLst>
            </p:cNvPr>
            <p:cNvPicPr preferRelativeResize="0"/>
            <p:nvPr/>
          </p:nvPicPr>
          <p:blipFill>
            <a:blip r:embed="rId62">
              <a:alphaModFix/>
            </a:blip>
            <a:stretch>
              <a:fillRect/>
            </a:stretch>
          </p:blipFill>
          <p:spPr>
            <a:xfrm>
              <a:off x="7626450" y="3124269"/>
              <a:ext cx="289250" cy="24658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2" name="Google Shape;1288;p29">
            <a:extLst>
              <a:ext uri="{FF2B5EF4-FFF2-40B4-BE49-F238E27FC236}">
                <a16:creationId xmlns:a16="http://schemas.microsoft.com/office/drawing/2014/main" id="{79CC197F-6807-4F63-A0E8-BDC150000D2F}"/>
              </a:ext>
            </a:extLst>
          </p:cNvPr>
          <p:cNvCxnSpPr>
            <a:cxnSpLocks/>
            <a:stCxn id="198" idx="1"/>
          </p:cNvCxnSpPr>
          <p:nvPr/>
        </p:nvCxnSpPr>
        <p:spPr>
          <a:xfrm>
            <a:off x="7501772" y="1251170"/>
            <a:ext cx="735213" cy="61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13" name="文本框 212">
            <a:extLst>
              <a:ext uri="{FF2B5EF4-FFF2-40B4-BE49-F238E27FC236}">
                <a16:creationId xmlns:a16="http://schemas.microsoft.com/office/drawing/2014/main" id="{E1940B7F-542C-4335-A27E-52B1B31D9871}"/>
              </a:ext>
            </a:extLst>
          </p:cNvPr>
          <p:cNvSpPr txBox="1"/>
          <p:nvPr/>
        </p:nvSpPr>
        <p:spPr>
          <a:xfrm>
            <a:off x="7597698" y="988085"/>
            <a:ext cx="548939" cy="274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MAX</a:t>
            </a:r>
            <a:endParaRPr lang="zh-CN" altLang="en-US" sz="1100" dirty="0"/>
          </a:p>
        </p:txBody>
      </p:sp>
      <p:cxnSp>
        <p:nvCxnSpPr>
          <p:cNvPr id="222" name="Google Shape;1288;p29">
            <a:extLst>
              <a:ext uri="{FF2B5EF4-FFF2-40B4-BE49-F238E27FC236}">
                <a16:creationId xmlns:a16="http://schemas.microsoft.com/office/drawing/2014/main" id="{3F95D0A7-AE0F-4961-B48E-6A4CB477BC5D}"/>
              </a:ext>
            </a:extLst>
          </p:cNvPr>
          <p:cNvCxnSpPr>
            <a:cxnSpLocks/>
            <a:endCxn id="223" idx="1"/>
          </p:cNvCxnSpPr>
          <p:nvPr/>
        </p:nvCxnSpPr>
        <p:spPr>
          <a:xfrm flipV="1">
            <a:off x="8670601" y="1245796"/>
            <a:ext cx="539999" cy="11494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23" name="Google Shape;308;p20">
            <a:extLst>
              <a:ext uri="{FF2B5EF4-FFF2-40B4-BE49-F238E27FC236}">
                <a16:creationId xmlns:a16="http://schemas.microsoft.com/office/drawing/2014/main" id="{36B820F7-B33D-4B60-B234-0003315E68BF}"/>
              </a:ext>
            </a:extLst>
          </p:cNvPr>
          <p:cNvSpPr/>
          <p:nvPr/>
        </p:nvSpPr>
        <p:spPr>
          <a:xfrm>
            <a:off x="9210600" y="1133459"/>
            <a:ext cx="817790" cy="22467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dirty="0">
                <a:solidFill>
                  <a:srgbClr val="666666"/>
                </a:solidFill>
              </a:rPr>
              <a:t>Top K</a:t>
            </a:r>
            <a:endParaRPr sz="1100" dirty="0">
              <a:solidFill>
                <a:srgbClr val="666666"/>
              </a:solidFill>
            </a:endParaRPr>
          </a:p>
        </p:txBody>
      </p:sp>
      <p:cxnSp>
        <p:nvCxnSpPr>
          <p:cNvPr id="224" name="Google Shape;1288;p29">
            <a:extLst>
              <a:ext uri="{FF2B5EF4-FFF2-40B4-BE49-F238E27FC236}">
                <a16:creationId xmlns:a16="http://schemas.microsoft.com/office/drawing/2014/main" id="{606A1E6D-67C2-49CA-B98D-BE395576C0C9}"/>
              </a:ext>
            </a:extLst>
          </p:cNvPr>
          <p:cNvCxnSpPr>
            <a:cxnSpLocks/>
            <a:stCxn id="171" idx="3"/>
            <a:endCxn id="194" idx="3"/>
          </p:cNvCxnSpPr>
          <p:nvPr/>
        </p:nvCxnSpPr>
        <p:spPr>
          <a:xfrm flipV="1">
            <a:off x="5451104" y="1251171"/>
            <a:ext cx="589213" cy="534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214" name="组合 213">
            <a:extLst>
              <a:ext uri="{FF2B5EF4-FFF2-40B4-BE49-F238E27FC236}">
                <a16:creationId xmlns:a16="http://schemas.microsoft.com/office/drawing/2014/main" id="{E784B6A6-C298-4694-8931-EEA06BDCDC35}"/>
              </a:ext>
            </a:extLst>
          </p:cNvPr>
          <p:cNvGrpSpPr/>
          <p:nvPr/>
        </p:nvGrpSpPr>
        <p:grpSpPr>
          <a:xfrm>
            <a:off x="8244694" y="778462"/>
            <a:ext cx="388471" cy="950763"/>
            <a:chOff x="6739717" y="502745"/>
            <a:chExt cx="279587" cy="8299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Google Shape;929;p28">
                  <a:extLst>
                    <a:ext uri="{FF2B5EF4-FFF2-40B4-BE49-F238E27FC236}">
                      <a16:creationId xmlns:a16="http://schemas.microsoft.com/office/drawing/2014/main" id="{78DEF028-E80D-453C-8C64-B21962A50793}"/>
                    </a:ext>
                  </a:extLst>
                </p:cNvPr>
                <p:cNvSpPr/>
                <p:nvPr/>
              </p:nvSpPr>
              <p:spPr>
                <a:xfrm flipH="1">
                  <a:off x="6740171" y="502745"/>
                  <a:ext cx="279133" cy="168326"/>
                </a:xfrm>
                <a:prstGeom prst="rect">
                  <a:avLst/>
                </a:prstGeom>
                <a:gradFill>
                  <a:gsLst>
                    <a:gs pos="0">
                      <a:srgbClr val="B6D7A8"/>
                    </a:gs>
                    <a:gs pos="64000">
                      <a:srgbClr val="A4C2F4"/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1" name="Google Shape;929;p28">
                  <a:extLst>
                    <a:ext uri="{FF2B5EF4-FFF2-40B4-BE49-F238E27FC236}">
                      <a16:creationId xmlns:a16="http://schemas.microsoft.com/office/drawing/2014/main" id="{78DEF028-E80D-453C-8C64-B21962A507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40171" y="502745"/>
                  <a:ext cx="279133" cy="168326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Google Shape;929;p28">
                  <a:extLst>
                    <a:ext uri="{FF2B5EF4-FFF2-40B4-BE49-F238E27FC236}">
                      <a16:creationId xmlns:a16="http://schemas.microsoft.com/office/drawing/2014/main" id="{917237F0-D0FC-47AC-9B94-DAB93FA4C42A}"/>
                    </a:ext>
                  </a:extLst>
                </p:cNvPr>
                <p:cNvSpPr/>
                <p:nvPr/>
              </p:nvSpPr>
              <p:spPr>
                <a:xfrm flipH="1">
                  <a:off x="6739720" y="664622"/>
                  <a:ext cx="279133" cy="168326"/>
                </a:xfrm>
                <a:prstGeom prst="rect">
                  <a:avLst/>
                </a:prstGeom>
                <a:gradFill>
                  <a:gsLst>
                    <a:gs pos="0">
                      <a:srgbClr val="B6D7A8"/>
                    </a:gs>
                    <a:gs pos="64000">
                      <a:srgbClr val="A4C2F4"/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5" name="Google Shape;929;p28">
                  <a:extLst>
                    <a:ext uri="{FF2B5EF4-FFF2-40B4-BE49-F238E27FC236}">
                      <a16:creationId xmlns:a16="http://schemas.microsoft.com/office/drawing/2014/main" id="{917237F0-D0FC-47AC-9B94-DAB93FA4C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39720" y="664622"/>
                  <a:ext cx="279133" cy="168326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Google Shape;929;p28">
                  <a:extLst>
                    <a:ext uri="{FF2B5EF4-FFF2-40B4-BE49-F238E27FC236}">
                      <a16:creationId xmlns:a16="http://schemas.microsoft.com/office/drawing/2014/main" id="{F9BB512A-51AA-4EFE-8222-9BDCC6BB9B6A}"/>
                    </a:ext>
                  </a:extLst>
                </p:cNvPr>
                <p:cNvSpPr/>
                <p:nvPr/>
              </p:nvSpPr>
              <p:spPr>
                <a:xfrm flipH="1">
                  <a:off x="6739719" y="839397"/>
                  <a:ext cx="279133" cy="168326"/>
                </a:xfrm>
                <a:prstGeom prst="rect">
                  <a:avLst/>
                </a:prstGeom>
                <a:gradFill>
                  <a:gsLst>
                    <a:gs pos="0">
                      <a:srgbClr val="B6D7A8"/>
                    </a:gs>
                    <a:gs pos="64000">
                      <a:srgbClr val="A4C2F4"/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sz="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6" name="Google Shape;929;p28">
                  <a:extLst>
                    <a:ext uri="{FF2B5EF4-FFF2-40B4-BE49-F238E27FC236}">
                      <a16:creationId xmlns:a16="http://schemas.microsoft.com/office/drawing/2014/main" id="{F9BB512A-51AA-4EFE-8222-9BDCC6BB9B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39719" y="839397"/>
                  <a:ext cx="279133" cy="168326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Google Shape;929;p28">
                  <a:extLst>
                    <a:ext uri="{FF2B5EF4-FFF2-40B4-BE49-F238E27FC236}">
                      <a16:creationId xmlns:a16="http://schemas.microsoft.com/office/drawing/2014/main" id="{409A879F-CDF6-49C4-9947-597D5497E166}"/>
                    </a:ext>
                  </a:extLst>
                </p:cNvPr>
                <p:cNvSpPr/>
                <p:nvPr/>
              </p:nvSpPr>
              <p:spPr>
                <a:xfrm flipH="1">
                  <a:off x="6739718" y="1164368"/>
                  <a:ext cx="279133" cy="168326"/>
                </a:xfrm>
                <a:prstGeom prst="rect">
                  <a:avLst/>
                </a:prstGeom>
                <a:gradFill>
                  <a:gsLst>
                    <a:gs pos="0">
                      <a:srgbClr val="B6D7A8"/>
                    </a:gs>
                    <a:gs pos="64000">
                      <a:srgbClr val="A4C2F4"/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sz="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7" name="Google Shape;929;p28">
                  <a:extLst>
                    <a:ext uri="{FF2B5EF4-FFF2-40B4-BE49-F238E27FC236}">
                      <a16:creationId xmlns:a16="http://schemas.microsoft.com/office/drawing/2014/main" id="{409A879F-CDF6-49C4-9947-597D5497E1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39718" y="1164368"/>
                  <a:ext cx="279133" cy="168326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8" name="Google Shape;929;p28">
              <a:extLst>
                <a:ext uri="{FF2B5EF4-FFF2-40B4-BE49-F238E27FC236}">
                  <a16:creationId xmlns:a16="http://schemas.microsoft.com/office/drawing/2014/main" id="{D7C74F52-E99B-4F77-BC25-06929DB5EE30}"/>
                </a:ext>
              </a:extLst>
            </p:cNvPr>
            <p:cNvSpPr/>
            <p:nvPr/>
          </p:nvSpPr>
          <p:spPr>
            <a:xfrm flipH="1">
              <a:off x="6739717" y="998208"/>
              <a:ext cx="279133" cy="168326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1025BD7-28B7-47DA-F265-3FC8EA013C92}"/>
              </a:ext>
            </a:extLst>
          </p:cNvPr>
          <p:cNvSpPr txBox="1"/>
          <p:nvPr/>
        </p:nvSpPr>
        <p:spPr>
          <a:xfrm>
            <a:off x="141149" y="0"/>
            <a:ext cx="2258384" cy="3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MoE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63F298-8554-6423-BDA9-BF4EE0AA1B35}"/>
              </a:ext>
            </a:extLst>
          </p:cNvPr>
          <p:cNvSpPr txBox="1"/>
          <p:nvPr/>
        </p:nvSpPr>
        <p:spPr>
          <a:xfrm>
            <a:off x="681196" y="368215"/>
            <a:ext cx="109912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阶段一：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多兴趣提取（</a:t>
            </a:r>
            <a:r>
              <a:rPr lang="en-US" altLang="zh-CN" dirty="0"/>
              <a:t>K</a:t>
            </a:r>
            <a:r>
              <a:rPr lang="zh-CN" altLang="en-US" dirty="0"/>
              <a:t>个专家）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使用 </a:t>
            </a:r>
            <a:r>
              <a:rPr lang="en-US" altLang="zh-CN" dirty="0"/>
              <a:t>k </a:t>
            </a:r>
            <a:r>
              <a:rPr lang="zh-CN" altLang="en-US" dirty="0"/>
              <a:t>个独立的线性层（兴趣提取器 </a:t>
            </a:r>
            <a:r>
              <a:rPr lang="en-US" altLang="zh-CN" dirty="0" err="1"/>
              <a:t>P_i</a:t>
            </a:r>
            <a:r>
              <a:rPr lang="en-US" altLang="zh-CN" dirty="0"/>
              <a:t>,  shape</a:t>
            </a:r>
            <a:r>
              <a:rPr lang="zh-CN" altLang="en-US" dirty="0"/>
              <a:t>为</a:t>
            </a:r>
            <a:r>
              <a:rPr lang="en-US" altLang="zh-CN" dirty="0"/>
              <a:t>(</a:t>
            </a:r>
            <a:r>
              <a:rPr lang="en-US" altLang="zh-CN" dirty="0" err="1"/>
              <a:t>hidden_size</a:t>
            </a:r>
            <a:r>
              <a:rPr lang="en-US" altLang="zh-CN" dirty="0"/>
              <a:t>, </a:t>
            </a:r>
            <a:r>
              <a:rPr lang="en-US" altLang="zh-CN" dirty="0" err="1"/>
              <a:t>hidden_size</a:t>
            </a:r>
            <a:r>
              <a:rPr lang="en-US" altLang="zh-CN" dirty="0"/>
              <a:t>)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分别对序列 </a:t>
            </a:r>
            <a:r>
              <a:rPr lang="en-US" altLang="zh-CN" dirty="0"/>
              <a:t>H (</a:t>
            </a:r>
            <a:r>
              <a:rPr lang="en-US" altLang="zh-CN" dirty="0" err="1"/>
              <a:t>seq_len</a:t>
            </a:r>
            <a:r>
              <a:rPr lang="en-US" altLang="zh-CN" dirty="0"/>
              <a:t>, </a:t>
            </a:r>
            <a:r>
              <a:rPr lang="en-US" altLang="zh-CN" dirty="0" err="1"/>
              <a:t>hidden_size</a:t>
            </a:r>
            <a:r>
              <a:rPr lang="en-US" altLang="zh-CN" dirty="0"/>
              <a:t>)</a:t>
            </a:r>
            <a:r>
              <a:rPr lang="zh-CN" altLang="en-US" dirty="0"/>
              <a:t>进行投影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b="1" dirty="0" err="1"/>
              <a:t>H_k</a:t>
            </a:r>
            <a:r>
              <a:rPr lang="en-US" altLang="zh-CN" b="1" dirty="0"/>
              <a:t> = </a:t>
            </a:r>
            <a:r>
              <a:rPr lang="en-US" altLang="zh-CN" b="1" dirty="0" err="1"/>
              <a:t>P_k</a:t>
            </a:r>
            <a:r>
              <a:rPr lang="en-US" altLang="zh-CN" b="1" dirty="0"/>
              <a:t>(H)  </a:t>
            </a:r>
            <a:r>
              <a:rPr lang="en-US" altLang="zh-CN" dirty="0"/>
              <a:t>(</a:t>
            </a:r>
            <a:r>
              <a:rPr lang="en-US" altLang="zh-CN" dirty="0" err="1"/>
              <a:t>seq_len</a:t>
            </a:r>
            <a:r>
              <a:rPr lang="en-US" altLang="zh-CN" dirty="0"/>
              <a:t>, </a:t>
            </a:r>
            <a:r>
              <a:rPr lang="en-US" altLang="zh-CN" dirty="0" err="1"/>
              <a:t>hidden_size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经过加权和后最终得到</a:t>
            </a:r>
            <a:r>
              <a:rPr lang="en-US" altLang="zh-CN" dirty="0"/>
              <a:t>k</a:t>
            </a:r>
            <a:r>
              <a:rPr lang="zh-CN" altLang="en-US" dirty="0"/>
              <a:t>个兴趣向量</a:t>
            </a:r>
            <a:r>
              <a:rPr lang="en-US" altLang="zh-CN" dirty="0" err="1"/>
              <a:t>v_k</a:t>
            </a:r>
            <a:r>
              <a:rPr lang="zh-CN" altLang="en-US" dirty="0"/>
              <a:t>（专家）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F075DD-5D9F-AFC2-2214-8A4EF03A73F8}"/>
              </a:ext>
            </a:extLst>
          </p:cNvPr>
          <p:cNvSpPr txBox="1"/>
          <p:nvPr/>
        </p:nvSpPr>
        <p:spPr>
          <a:xfrm>
            <a:off x="681196" y="2190878"/>
            <a:ext cx="108111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阶段二：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让 </a:t>
            </a:r>
            <a:r>
              <a:rPr lang="en-US" altLang="zh-CN" dirty="0"/>
              <a:t>k </a:t>
            </a:r>
            <a:r>
              <a:rPr lang="zh-CN" altLang="en-US" dirty="0"/>
              <a:t>个专家（兴趣向量）分别对所有候选物品进行打分</a:t>
            </a:r>
            <a:endParaRPr lang="en-US" altLang="zh-CN" dirty="0"/>
          </a:p>
          <a:p>
            <a:r>
              <a:rPr lang="pt-BR" altLang="zh-CN" dirty="0"/>
              <a:t>	s_k = </a:t>
            </a:r>
            <a:r>
              <a:rPr lang="en-US" altLang="zh-CN" dirty="0" err="1"/>
              <a:t>Emb</a:t>
            </a:r>
            <a:r>
              <a:rPr lang="en-US" altLang="zh-CN" dirty="0"/>
              <a:t> </a:t>
            </a:r>
            <a:r>
              <a:rPr lang="pt-BR" altLang="zh-CN" dirty="0"/>
              <a:t>@ v_k.T        shape: (num_items,)</a:t>
            </a:r>
          </a:p>
          <a:p>
            <a:r>
              <a:rPr lang="pt-BR" altLang="zh-CN" dirty="0"/>
              <a:t>	</a:t>
            </a:r>
          </a:p>
          <a:p>
            <a:r>
              <a:rPr lang="pt-BR" altLang="zh-CN" dirty="0"/>
              <a:t>	</a:t>
            </a:r>
            <a:r>
              <a:rPr lang="zh-CN" altLang="en-US" b="1" dirty="0"/>
              <a:t>合并专家得分：</a:t>
            </a:r>
            <a:endParaRPr lang="en-US" altLang="zh-CN" b="1" dirty="0"/>
          </a:p>
          <a:p>
            <a:r>
              <a:rPr lang="pt-BR" altLang="zh-CN" b="1" dirty="0"/>
              <a:t>	</a:t>
            </a:r>
            <a:r>
              <a:rPr lang="en-US" altLang="zh-CN" b="1" dirty="0"/>
              <a:t> </a:t>
            </a:r>
            <a:r>
              <a:rPr lang="en-US" altLang="zh-CN" b="1" dirty="0" err="1"/>
              <a:t>S_expert_scores</a:t>
            </a:r>
            <a:r>
              <a:rPr lang="en-US" altLang="zh-CN" b="1" dirty="0"/>
              <a:t> = </a:t>
            </a:r>
            <a:r>
              <a:rPr lang="en-US" altLang="zh-CN" b="1" dirty="0" err="1"/>
              <a:t>torch.stack</a:t>
            </a:r>
            <a:r>
              <a:rPr lang="en-US" altLang="zh-CN" b="1" dirty="0"/>
              <a:t>([s_1, s_2, ..., </a:t>
            </a:r>
            <a:r>
              <a:rPr lang="en-US" altLang="zh-CN" b="1" dirty="0" err="1"/>
              <a:t>s_k</a:t>
            </a:r>
            <a:r>
              <a:rPr lang="en-US" altLang="zh-CN" b="1" dirty="0"/>
              <a:t>], dim=1)      	 shape: (</a:t>
            </a:r>
            <a:r>
              <a:rPr lang="en-US" altLang="zh-CN" b="1" dirty="0" err="1"/>
              <a:t>num_items</a:t>
            </a:r>
            <a:r>
              <a:rPr lang="en-US" altLang="zh-CN" b="1" dirty="0"/>
              <a:t>, k)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3E8736-FED1-C3FF-3A52-0BA0BD451FCA}"/>
              </a:ext>
            </a:extLst>
          </p:cNvPr>
          <p:cNvSpPr txBox="1"/>
          <p:nvPr/>
        </p:nvSpPr>
        <p:spPr>
          <a:xfrm>
            <a:off x="681196" y="3835571"/>
            <a:ext cx="109912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阶段三：门控网络（软路由）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门控网络决定该“信任” </a:t>
            </a:r>
            <a:r>
              <a:rPr lang="en-US" altLang="zh-CN" dirty="0"/>
              <a:t>k </a:t>
            </a:r>
            <a:r>
              <a:rPr lang="zh-CN" altLang="en-US" dirty="0"/>
              <a:t>个专家中的哪一个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门控网络 </a:t>
            </a:r>
            <a:r>
              <a:rPr lang="en-US" altLang="zh-CN" dirty="0"/>
              <a:t>G (</a:t>
            </a:r>
            <a:r>
              <a:rPr lang="en-US" altLang="zh-CN" dirty="0" err="1"/>
              <a:t>hidden_size</a:t>
            </a:r>
            <a:r>
              <a:rPr lang="en-US" altLang="zh-CN" dirty="0"/>
              <a:t>, k)</a:t>
            </a:r>
            <a:r>
              <a:rPr lang="zh-CN" altLang="en-US" dirty="0"/>
              <a:t>通常是一个简单的</a:t>
            </a:r>
            <a:r>
              <a:rPr lang="en-US" altLang="zh-CN" dirty="0"/>
              <a:t>MLP</a:t>
            </a:r>
            <a:r>
              <a:rPr lang="zh-CN" altLang="en-US" dirty="0"/>
              <a:t>，</a:t>
            </a:r>
            <a:r>
              <a:rPr lang="zh-CN" altLang="en-US" b="1" dirty="0"/>
              <a:t>其输出维度必须为 </a:t>
            </a:r>
            <a:r>
              <a:rPr lang="en-US" altLang="zh-CN" b="1" dirty="0"/>
              <a:t>k</a:t>
            </a:r>
            <a:r>
              <a:rPr lang="zh-CN" altLang="en-US" b="1" dirty="0"/>
              <a:t>（对应 </a:t>
            </a:r>
            <a:r>
              <a:rPr lang="en-US" altLang="zh-CN" b="1" dirty="0"/>
              <a:t>k </a:t>
            </a:r>
            <a:r>
              <a:rPr lang="zh-CN" altLang="en-US" b="1" dirty="0"/>
              <a:t>个专家）</a:t>
            </a:r>
            <a:endParaRPr lang="en-US" altLang="zh-CN" b="1" dirty="0"/>
          </a:p>
          <a:p>
            <a:r>
              <a:rPr lang="en-US" altLang="zh-CN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计算分控权重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pt-BR" altLang="zh-CN" b="1" dirty="0"/>
              <a:t>G_logits = G(Emb) </a:t>
            </a:r>
            <a:r>
              <a:rPr lang="pt-BR" altLang="zh-CN" dirty="0"/>
              <a:t>	shape: (num_items, k)</a:t>
            </a:r>
          </a:p>
          <a:p>
            <a:r>
              <a:rPr lang="pt-BR" altLang="zh-CN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归一化权重 </a:t>
            </a:r>
            <a:r>
              <a:rPr lang="en-US" altLang="zh-CN" dirty="0"/>
              <a:t>(</a:t>
            </a:r>
            <a:r>
              <a:rPr lang="zh-CN" altLang="en-US" dirty="0"/>
              <a:t>在 </a:t>
            </a:r>
            <a:r>
              <a:rPr lang="en-US" altLang="zh-CN" dirty="0"/>
              <a:t>k </a:t>
            </a:r>
            <a:r>
              <a:rPr lang="zh-CN" altLang="en-US" dirty="0"/>
              <a:t>个专家的维度上</a:t>
            </a:r>
            <a:r>
              <a:rPr lang="en-US" altLang="zh-CN" dirty="0"/>
              <a:t>) </a:t>
            </a:r>
            <a:r>
              <a:rPr lang="zh-CN" altLang="en-US" dirty="0"/>
              <a:t> 确保每个物品的“信任”权重总和为 </a:t>
            </a:r>
            <a:r>
              <a:rPr lang="en-US" altLang="zh-CN" dirty="0"/>
              <a:t>1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err="1"/>
              <a:t>G_weights</a:t>
            </a:r>
            <a:r>
              <a:rPr lang="en-US" altLang="zh-CN" b="1" dirty="0"/>
              <a:t> = </a:t>
            </a:r>
            <a:r>
              <a:rPr lang="en-US" altLang="zh-CN" b="1" dirty="0" err="1"/>
              <a:t>Softmax</a:t>
            </a:r>
            <a:r>
              <a:rPr lang="en-US" altLang="zh-CN" b="1" dirty="0"/>
              <a:t>(</a:t>
            </a:r>
            <a:r>
              <a:rPr lang="en-US" altLang="zh-CN" b="1" dirty="0" err="1"/>
              <a:t>G_logits</a:t>
            </a:r>
            <a:r>
              <a:rPr lang="en-US" altLang="zh-CN" b="1" dirty="0"/>
              <a:t>, dim=1)  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E22C9E-1FDC-3973-3C00-0B31B45E7DE4}"/>
              </a:ext>
            </a:extLst>
          </p:cNvPr>
          <p:cNvSpPr txBox="1"/>
          <p:nvPr/>
        </p:nvSpPr>
        <p:spPr>
          <a:xfrm>
            <a:off x="681196" y="5866896"/>
            <a:ext cx="10991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阶段四：将专家的分数乘以该专家被信任的权重 </a:t>
            </a:r>
            <a:r>
              <a:rPr lang="en-US" altLang="zh-CN" dirty="0" err="1"/>
              <a:t>S_fused</a:t>
            </a:r>
            <a:r>
              <a:rPr lang="en-US" altLang="zh-CN" dirty="0"/>
              <a:t> = </a:t>
            </a:r>
            <a:r>
              <a:rPr lang="en-US" altLang="zh-CN" dirty="0" err="1"/>
              <a:t>S_expert_scores</a:t>
            </a:r>
            <a:r>
              <a:rPr lang="en-US" altLang="zh-CN" dirty="0"/>
              <a:t> * </a:t>
            </a:r>
            <a:r>
              <a:rPr lang="en-US" altLang="zh-CN" dirty="0" err="1"/>
              <a:t>G_weights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将</a:t>
            </a:r>
            <a:r>
              <a:rPr lang="en-US" altLang="zh-CN" dirty="0"/>
              <a:t>k</a:t>
            </a:r>
            <a:r>
              <a:rPr lang="zh-CN" altLang="en-US" dirty="0"/>
              <a:t>个专家的加权得分相加，得到最终得分</a:t>
            </a:r>
            <a:r>
              <a:rPr lang="en-US" altLang="zh-CN" dirty="0" err="1"/>
              <a:t>s_final</a:t>
            </a:r>
            <a:r>
              <a:rPr lang="en-US" altLang="zh-CN" dirty="0"/>
              <a:t> = </a:t>
            </a:r>
            <a:r>
              <a:rPr lang="en-US" altLang="zh-CN" dirty="0" err="1"/>
              <a:t>torch.sum</a:t>
            </a:r>
            <a:r>
              <a:rPr lang="en-US" altLang="zh-CN" dirty="0"/>
              <a:t>(</a:t>
            </a:r>
            <a:r>
              <a:rPr lang="en-US" altLang="zh-CN" dirty="0" err="1"/>
              <a:t>S_fused</a:t>
            </a:r>
            <a:r>
              <a:rPr lang="en-US" altLang="zh-CN" dirty="0"/>
              <a:t>, dim=1)    shape: (</a:t>
            </a:r>
            <a:r>
              <a:rPr lang="en-US" altLang="zh-CN" dirty="0" err="1"/>
              <a:t>num_items</a:t>
            </a:r>
            <a:r>
              <a:rPr lang="en-US" altLang="zh-CN" dirty="0"/>
              <a:t>,)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2362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764</Words>
  <Application>Microsoft Office PowerPoint</Application>
  <PresentationFormat>宽屏</PresentationFormat>
  <Paragraphs>107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NimbusRomNo9L-Medi</vt:lpstr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潞 刘</dc:creator>
  <cp:lastModifiedBy>潞 刘</cp:lastModifiedBy>
  <cp:revision>39</cp:revision>
  <dcterms:created xsi:type="dcterms:W3CDTF">2025-11-11T15:56:28Z</dcterms:created>
  <dcterms:modified xsi:type="dcterms:W3CDTF">2025-11-11T18:00:23Z</dcterms:modified>
</cp:coreProperties>
</file>