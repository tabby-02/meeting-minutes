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39" r:id="rId3"/>
    <p:sldId id="351" r:id="rId5"/>
    <p:sldId id="373" r:id="rId6"/>
    <p:sldId id="374" r:id="rId7"/>
    <p:sldId id="366" r:id="rId8"/>
    <p:sldId id="367" r:id="rId9"/>
    <p:sldId id="378" r:id="rId10"/>
    <p:sldId id="368" r:id="rId11"/>
    <p:sldId id="369" r:id="rId12"/>
    <p:sldId id="370" r:id="rId13"/>
    <p:sldId id="372" r:id="rId14"/>
    <p:sldId id="379" r:id="rId15"/>
    <p:sldId id="380" r:id="rId16"/>
    <p:sldId id="3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1" userDrawn="1">
          <p15:clr>
            <a:srgbClr val="A4A3A4"/>
          </p15:clr>
        </p15:guide>
        <p15:guide id="2" pos="29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108" d="100"/>
          <a:sy n="108" d="100"/>
        </p:scale>
        <p:origin x="-636" y="-84"/>
      </p:cViewPr>
      <p:guideLst>
        <p:guide orient="horz" pos="2191"/>
        <p:guide pos="2995"/>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2" Type="http://schemas.openxmlformats.org/officeDocument/2006/relationships/notesSlide" Target="../notesSlides/notesSlide6.xml"/><Relationship Id="rId11" Type="http://schemas.openxmlformats.org/officeDocument/2006/relationships/slideLayout" Target="../slideLayouts/slideLayout7.xml"/><Relationship Id="rId10" Type="http://schemas.openxmlformats.org/officeDocument/2006/relationships/image" Target="../media/image25.png"/><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image" Target="../media/image37.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752600" y="152400"/>
            <a:ext cx="7999095" cy="2374265"/>
          </a:xfrm>
          <a:prstGeom prst="rect">
            <a:avLst/>
          </a:prstGeom>
        </p:spPr>
      </p:pic>
      <p:pic>
        <p:nvPicPr>
          <p:cNvPr id="3" name="图片 2"/>
          <p:cNvPicPr>
            <a:picLocks noChangeAspect="1"/>
          </p:cNvPicPr>
          <p:nvPr/>
        </p:nvPicPr>
        <p:blipFill>
          <a:blip r:embed="rId2"/>
          <a:stretch>
            <a:fillRect/>
          </a:stretch>
        </p:blipFill>
        <p:spPr>
          <a:xfrm>
            <a:off x="609600" y="2743200"/>
            <a:ext cx="7568565" cy="2827655"/>
          </a:xfrm>
          <a:prstGeom prst="rect">
            <a:avLst/>
          </a:prstGeom>
        </p:spPr>
      </p:pic>
      <p:sp>
        <p:nvSpPr>
          <p:cNvPr id="5" name="文本框 4"/>
          <p:cNvSpPr txBox="1"/>
          <p:nvPr/>
        </p:nvSpPr>
        <p:spPr>
          <a:xfrm>
            <a:off x="8178165" y="2828925"/>
            <a:ext cx="3462020" cy="3855085"/>
          </a:xfrm>
          <a:prstGeom prst="rect">
            <a:avLst/>
          </a:prstGeom>
          <a:noFill/>
        </p:spPr>
        <p:txBody>
          <a:bodyPr wrap="square" rtlCol="0">
            <a:noAutofit/>
          </a:bodyPr>
          <a:p>
            <a:r>
              <a:rPr lang="zh-CN" altLang="en-US"/>
              <a:t>这篇文章介绍了一种名为</a:t>
            </a:r>
            <a:r>
              <a:rPr lang="en-US" altLang="zh-CN"/>
              <a:t>MeanFlow</a:t>
            </a:r>
            <a:r>
              <a:rPr lang="zh-CN" altLang="en-US"/>
              <a:t>的新型生成模型框架，旨在通过</a:t>
            </a:r>
            <a:r>
              <a:rPr lang="zh-CN" altLang="en-US" b="1"/>
              <a:t>单步生成</a:t>
            </a:r>
            <a:r>
              <a:rPr lang="zh-CN" altLang="en-US"/>
              <a:t>过程高效地将先验分布转换为数据分布。</a:t>
            </a:r>
            <a:endParaRPr lang="zh-CN" altLang="en-US"/>
          </a:p>
          <a:p>
            <a:endParaRPr lang="zh-CN" altLang="en-US"/>
          </a:p>
          <a:p>
            <a:r>
              <a:rPr lang="zh-CN" altLang="en-US"/>
              <a:t>文章的核心创新在于</a:t>
            </a:r>
            <a:r>
              <a:rPr lang="zh-CN" altLang="en-US" b="1"/>
              <a:t>引入了平均速度</a:t>
            </a:r>
            <a:r>
              <a:rPr lang="zh-CN" altLang="en-US"/>
              <a:t>的概念，这一概念的引入使得模型能够通过单次函数评估完成从先验分布到数据分布的转换，显著提高了生成效率。</a:t>
            </a:r>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4064000" cy="368300"/>
          </a:xfrm>
          <a:prstGeom prst="rect">
            <a:avLst/>
          </a:prstGeom>
          <a:noFill/>
        </p:spPr>
        <p:txBody>
          <a:bodyPr wrap="square" rtlCol="0">
            <a:spAutoFit/>
          </a:bodyPr>
          <a:p>
            <a:r>
              <a:rPr lang="zh-CN" altLang="en-US"/>
              <a:t>流匹配</a:t>
            </a:r>
            <a:endParaRPr lang="zh-CN" altLang="en-US"/>
          </a:p>
        </p:txBody>
      </p:sp>
      <p:sp>
        <p:nvSpPr>
          <p:cNvPr id="2" name="文本框 1"/>
          <p:cNvSpPr txBox="1"/>
          <p:nvPr/>
        </p:nvSpPr>
        <p:spPr>
          <a:xfrm>
            <a:off x="171450" y="611505"/>
            <a:ext cx="11793855" cy="1285875"/>
          </a:xfrm>
          <a:prstGeom prst="rect">
            <a:avLst/>
          </a:prstGeom>
          <a:noFill/>
        </p:spPr>
        <p:txBody>
          <a:bodyPr wrap="square" rtlCol="0">
            <a:noAutofit/>
          </a:bodyPr>
          <a:p>
            <a:r>
              <a:rPr lang="zh-CN" altLang="en-US"/>
              <a:t>流参考了物理里的概率流</a:t>
            </a:r>
            <a:endParaRPr lang="zh-CN" altLang="en-US"/>
          </a:p>
          <a:p>
            <a:r>
              <a:rPr lang="zh-CN" altLang="en-US"/>
              <a:t>在生成式模型中，我们的目的是为了研究如何将一个简单概率分布变成复杂概率分布，而概率流模型刚好符合需求</a:t>
            </a:r>
            <a:endParaRPr lang="zh-CN" altLang="en-US"/>
          </a:p>
          <a:p>
            <a:endParaRPr lang="zh-CN" altLang="en-US"/>
          </a:p>
        </p:txBody>
      </p:sp>
      <p:pic>
        <p:nvPicPr>
          <p:cNvPr id="6" name="图片 5"/>
          <p:cNvPicPr>
            <a:picLocks noChangeAspect="1"/>
          </p:cNvPicPr>
          <p:nvPr/>
        </p:nvPicPr>
        <p:blipFill>
          <a:blip r:embed="rId1"/>
          <a:stretch>
            <a:fillRect/>
          </a:stretch>
        </p:blipFill>
        <p:spPr>
          <a:xfrm>
            <a:off x="457200" y="1828800"/>
            <a:ext cx="3039745" cy="1621790"/>
          </a:xfrm>
          <a:prstGeom prst="rect">
            <a:avLst/>
          </a:prstGeom>
        </p:spPr>
      </p:pic>
      <p:pic>
        <p:nvPicPr>
          <p:cNvPr id="10" name="图片 9"/>
          <p:cNvPicPr>
            <a:picLocks noChangeAspect="1"/>
          </p:cNvPicPr>
          <p:nvPr/>
        </p:nvPicPr>
        <p:blipFill>
          <a:blip r:embed="rId2"/>
          <a:stretch>
            <a:fillRect/>
          </a:stretch>
        </p:blipFill>
        <p:spPr>
          <a:xfrm>
            <a:off x="4038600" y="1981200"/>
            <a:ext cx="2987040" cy="1497965"/>
          </a:xfrm>
          <a:prstGeom prst="rect">
            <a:avLst/>
          </a:prstGeom>
        </p:spPr>
      </p:pic>
      <p:sp>
        <p:nvSpPr>
          <p:cNvPr id="18" name="文本框 17"/>
          <p:cNvSpPr txBox="1"/>
          <p:nvPr/>
        </p:nvSpPr>
        <p:spPr>
          <a:xfrm>
            <a:off x="609600" y="3751580"/>
            <a:ext cx="9230360" cy="432435"/>
          </a:xfrm>
          <a:prstGeom prst="rect">
            <a:avLst/>
          </a:prstGeom>
          <a:noFill/>
        </p:spPr>
        <p:txBody>
          <a:bodyPr wrap="square" rtlCol="0">
            <a:noAutofit/>
          </a:bodyPr>
          <a:p>
            <a:r>
              <a:rPr lang="zh-CN" altLang="en-US"/>
              <a:t>概率路径：概率分布如何随时加变化，知道了概率路径，也就知道了任意时刻的概率密度</a:t>
            </a:r>
            <a:r>
              <a:rPr lang="en-US" altLang="zh-CN"/>
              <a:t> </a:t>
            </a:r>
            <a:endParaRPr lang="en-US" altLang="zh-CN"/>
          </a:p>
          <a:p>
            <a:endParaRPr lang="en-US" altLang="zh-CN"/>
          </a:p>
        </p:txBody>
      </p:sp>
      <p:sp>
        <p:nvSpPr>
          <p:cNvPr id="19" name="文本框 18"/>
          <p:cNvSpPr txBox="1"/>
          <p:nvPr/>
        </p:nvSpPr>
        <p:spPr>
          <a:xfrm>
            <a:off x="609600" y="4114800"/>
            <a:ext cx="11198860" cy="664845"/>
          </a:xfrm>
          <a:prstGeom prst="rect">
            <a:avLst/>
          </a:prstGeom>
          <a:noFill/>
        </p:spPr>
        <p:txBody>
          <a:bodyPr wrap="square" rtlCol="0">
            <a:noAutofit/>
          </a:bodyPr>
          <a:p>
            <a:r>
              <a:rPr lang="zh-CN" altLang="en-US"/>
              <a:t>流映射：</a:t>
            </a:r>
            <a:r>
              <a:rPr lang="en-US" altLang="zh-CN"/>
              <a:t>Flow Matching</a:t>
            </a:r>
            <a:r>
              <a:rPr lang="zh-CN" altLang="en-US"/>
              <a:t>中经常简称的</a:t>
            </a:r>
            <a:r>
              <a:rPr lang="en-US" altLang="zh-CN"/>
              <a:t>flow</a:t>
            </a:r>
            <a:r>
              <a:rPr lang="zh-CN" altLang="en-US"/>
              <a:t>，全名为</a:t>
            </a:r>
            <a:r>
              <a:rPr lang="en-US" altLang="zh-CN"/>
              <a:t>flow map</a:t>
            </a:r>
            <a:r>
              <a:rPr lang="zh-CN" altLang="en-US"/>
              <a:t>。描述了单个粒子（数据点）如何随时间</a:t>
            </a:r>
            <a:r>
              <a:rPr lang="en-US" altLang="zh-CN"/>
              <a:t> t </a:t>
            </a:r>
            <a:r>
              <a:rPr lang="zh-CN" altLang="en-US"/>
              <a:t>从起点移动到终点，即描述粒子每个时刻的位置。</a:t>
            </a:r>
            <a:endParaRPr lang="zh-CN" altLang="en-US"/>
          </a:p>
        </p:txBody>
      </p:sp>
      <p:pic>
        <p:nvPicPr>
          <p:cNvPr id="20" name="图片 19"/>
          <p:cNvPicPr>
            <a:picLocks noChangeAspect="1"/>
          </p:cNvPicPr>
          <p:nvPr/>
        </p:nvPicPr>
        <p:blipFill>
          <a:blip r:embed="rId3"/>
          <a:stretch>
            <a:fillRect/>
          </a:stretch>
        </p:blipFill>
        <p:spPr>
          <a:xfrm>
            <a:off x="9839960" y="3746500"/>
            <a:ext cx="238125" cy="292100"/>
          </a:xfrm>
          <a:prstGeom prst="rect">
            <a:avLst/>
          </a:prstGeom>
        </p:spPr>
      </p:pic>
      <p:pic>
        <p:nvPicPr>
          <p:cNvPr id="21" name="图片 20"/>
          <p:cNvPicPr>
            <a:picLocks noChangeAspect="1"/>
          </p:cNvPicPr>
          <p:nvPr/>
        </p:nvPicPr>
        <p:blipFill>
          <a:blip r:embed="rId4"/>
          <a:stretch>
            <a:fillRect/>
          </a:stretch>
        </p:blipFill>
        <p:spPr>
          <a:xfrm>
            <a:off x="5181600" y="4456430"/>
            <a:ext cx="906780" cy="299720"/>
          </a:xfrm>
          <a:prstGeom prst="rect">
            <a:avLst/>
          </a:prstGeom>
        </p:spPr>
      </p:pic>
      <p:sp>
        <p:nvSpPr>
          <p:cNvPr id="22" name="文本框 21"/>
          <p:cNvSpPr txBox="1"/>
          <p:nvPr/>
        </p:nvSpPr>
        <p:spPr>
          <a:xfrm>
            <a:off x="609600" y="4779645"/>
            <a:ext cx="9339580" cy="1510030"/>
          </a:xfrm>
          <a:prstGeom prst="rect">
            <a:avLst/>
          </a:prstGeom>
          <a:noFill/>
        </p:spPr>
        <p:txBody>
          <a:bodyPr wrap="square" rtlCol="0">
            <a:noAutofit/>
          </a:bodyPr>
          <a:p>
            <a:r>
              <a:rPr lang="en-US" altLang="zh-CN"/>
              <a:t>x</a:t>
            </a:r>
            <a:r>
              <a:rPr lang="zh-CN" altLang="en-US"/>
              <a:t>在在某个时间</a:t>
            </a:r>
            <a:r>
              <a:rPr lang="en-US" altLang="zh-CN"/>
              <a:t>t</a:t>
            </a:r>
            <a:r>
              <a:rPr lang="zh-CN" altLang="en-US"/>
              <a:t>的分布：</a:t>
            </a:r>
            <a:endParaRPr lang="zh-CN" altLang="en-US"/>
          </a:p>
          <a:p>
            <a:r>
              <a:rPr lang="zh-CN" altLang="en-US">
                <a:sym typeface="+mn-ea"/>
              </a:rPr>
              <a:t>流映射定义了从</a:t>
            </a:r>
            <a:r>
              <a:rPr lang="en-US" altLang="zh-CN">
                <a:sym typeface="+mn-ea"/>
              </a:rPr>
              <a:t>x0</a:t>
            </a:r>
            <a:r>
              <a:rPr lang="zh-CN" altLang="en-US">
                <a:sym typeface="+mn-ea"/>
              </a:rPr>
              <a:t>到</a:t>
            </a:r>
            <a:r>
              <a:rPr lang="en-US" altLang="zh-CN">
                <a:sym typeface="+mn-ea"/>
              </a:rPr>
              <a:t>x1</a:t>
            </a:r>
            <a:r>
              <a:rPr lang="zh-CN" altLang="en-US">
                <a:sym typeface="+mn-ea"/>
              </a:rPr>
              <a:t>的连续轨迹</a:t>
            </a:r>
            <a:endParaRPr lang="zh-CN" altLang="en-US"/>
          </a:p>
          <a:p>
            <a:r>
              <a:rPr lang="zh-CN" altLang="en-US"/>
              <a:t>流映射决定了概率路径，流映射生成的随机变量的分布恰好等于概率路径所定义的分布</a:t>
            </a:r>
            <a:endParaRPr lang="zh-CN" altLang="en-US"/>
          </a:p>
        </p:txBody>
      </p:sp>
      <p:pic>
        <p:nvPicPr>
          <p:cNvPr id="23" name="图片 22"/>
          <p:cNvPicPr>
            <a:picLocks noChangeAspect="1"/>
          </p:cNvPicPr>
          <p:nvPr/>
        </p:nvPicPr>
        <p:blipFill>
          <a:blip r:embed="rId5"/>
          <a:stretch>
            <a:fillRect/>
          </a:stretch>
        </p:blipFill>
        <p:spPr>
          <a:xfrm>
            <a:off x="7772400" y="4563745"/>
            <a:ext cx="1475105" cy="192405"/>
          </a:xfrm>
          <a:prstGeom prst="rect">
            <a:avLst/>
          </a:prstGeom>
        </p:spPr>
      </p:pic>
      <p:sp>
        <p:nvSpPr>
          <p:cNvPr id="4" name="文本框 3"/>
          <p:cNvSpPr txBox="1"/>
          <p:nvPr/>
        </p:nvSpPr>
        <p:spPr>
          <a:xfrm>
            <a:off x="7086600" y="4495800"/>
            <a:ext cx="4064000" cy="368300"/>
          </a:xfrm>
          <a:prstGeom prst="rect">
            <a:avLst/>
          </a:prstGeom>
          <a:noFill/>
        </p:spPr>
        <p:txBody>
          <a:bodyPr wrap="square" rtlCol="0">
            <a:spAutoFit/>
          </a:bodyPr>
          <a:p>
            <a:r>
              <a:rPr lang="zh-CN" altLang="en-US"/>
              <a:t>输出</a:t>
            </a:r>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1"/>
          <a:stretch>
            <a:fillRect/>
          </a:stretch>
        </p:blipFill>
        <p:spPr>
          <a:xfrm>
            <a:off x="6781800" y="3129915"/>
            <a:ext cx="5002530" cy="2666365"/>
          </a:xfrm>
          <a:prstGeom prst="rect">
            <a:avLst/>
          </a:prstGeom>
        </p:spPr>
      </p:pic>
      <p:sp>
        <p:nvSpPr>
          <p:cNvPr id="2" name="文本框 1"/>
          <p:cNvSpPr txBox="1"/>
          <p:nvPr/>
        </p:nvSpPr>
        <p:spPr>
          <a:xfrm>
            <a:off x="0" y="0"/>
            <a:ext cx="4064000" cy="368300"/>
          </a:xfrm>
          <a:prstGeom prst="rect">
            <a:avLst/>
          </a:prstGeom>
          <a:noFill/>
        </p:spPr>
        <p:txBody>
          <a:bodyPr wrap="square" rtlCol="0">
            <a:spAutoFit/>
          </a:bodyPr>
          <a:p>
            <a:r>
              <a:rPr lang="en-US" altLang="zh-CN"/>
              <a:t>ODE</a:t>
            </a:r>
            <a:r>
              <a:rPr lang="zh-CN" altLang="en-US"/>
              <a:t>方程</a:t>
            </a:r>
            <a:endParaRPr lang="zh-CN" altLang="en-US"/>
          </a:p>
        </p:txBody>
      </p:sp>
      <p:pic>
        <p:nvPicPr>
          <p:cNvPr id="6" name="图片 5"/>
          <p:cNvPicPr>
            <a:picLocks noChangeAspect="1"/>
          </p:cNvPicPr>
          <p:nvPr/>
        </p:nvPicPr>
        <p:blipFill>
          <a:blip r:embed="rId2"/>
          <a:stretch>
            <a:fillRect/>
          </a:stretch>
        </p:blipFill>
        <p:spPr>
          <a:xfrm>
            <a:off x="0" y="457200"/>
            <a:ext cx="3044825" cy="949960"/>
          </a:xfrm>
          <a:prstGeom prst="rect">
            <a:avLst/>
          </a:prstGeom>
        </p:spPr>
      </p:pic>
      <p:pic>
        <p:nvPicPr>
          <p:cNvPr id="10" name="图片 9"/>
          <p:cNvPicPr>
            <a:picLocks noChangeAspect="1"/>
          </p:cNvPicPr>
          <p:nvPr/>
        </p:nvPicPr>
        <p:blipFill>
          <a:blip r:embed="rId3"/>
          <a:stretch>
            <a:fillRect/>
          </a:stretch>
        </p:blipFill>
        <p:spPr>
          <a:xfrm>
            <a:off x="228600" y="1752600"/>
            <a:ext cx="737870" cy="307340"/>
          </a:xfrm>
          <a:prstGeom prst="rect">
            <a:avLst/>
          </a:prstGeom>
        </p:spPr>
      </p:pic>
      <p:sp>
        <p:nvSpPr>
          <p:cNvPr id="18" name="文本框 17"/>
          <p:cNvSpPr txBox="1"/>
          <p:nvPr/>
        </p:nvSpPr>
        <p:spPr>
          <a:xfrm>
            <a:off x="965835" y="1754505"/>
            <a:ext cx="9835515" cy="432435"/>
          </a:xfrm>
          <a:prstGeom prst="rect">
            <a:avLst/>
          </a:prstGeom>
          <a:noFill/>
        </p:spPr>
        <p:txBody>
          <a:bodyPr wrap="square" rtlCol="0">
            <a:noAutofit/>
          </a:bodyPr>
          <a:p>
            <a:r>
              <a:rPr lang="zh-CN" altLang="en-US"/>
              <a:t>流映射</a:t>
            </a:r>
            <a:r>
              <a:rPr lang="en-US" altLang="zh-CN"/>
              <a:t>(flow map)</a:t>
            </a:r>
            <a:r>
              <a:rPr lang="zh-CN" altLang="en-US"/>
              <a:t>，它决定了单个粒子在每个时刻的位置（即决定了粒子在流里面的运动轨迹）</a:t>
            </a:r>
            <a:endParaRPr lang="zh-CN" altLang="en-US"/>
          </a:p>
        </p:txBody>
      </p:sp>
      <p:sp>
        <p:nvSpPr>
          <p:cNvPr id="19" name="文本框 18"/>
          <p:cNvSpPr txBox="1"/>
          <p:nvPr/>
        </p:nvSpPr>
        <p:spPr>
          <a:xfrm>
            <a:off x="965835" y="2438400"/>
            <a:ext cx="6096000" cy="368300"/>
          </a:xfrm>
          <a:prstGeom prst="rect">
            <a:avLst/>
          </a:prstGeom>
          <a:noFill/>
        </p:spPr>
        <p:txBody>
          <a:bodyPr wrap="square" rtlCol="0" anchor="t">
            <a:spAutoFit/>
          </a:bodyPr>
          <a:p>
            <a:r>
              <a:rPr lang="zh-CN" altLang="en-US"/>
              <a:t>速度场，每个粒子都存在一个速度场</a:t>
            </a:r>
            <a:endParaRPr lang="zh-CN" altLang="en-US"/>
          </a:p>
        </p:txBody>
      </p:sp>
      <p:pic>
        <p:nvPicPr>
          <p:cNvPr id="20" name="图片 19"/>
          <p:cNvPicPr>
            <a:picLocks noChangeAspect="1"/>
          </p:cNvPicPr>
          <p:nvPr/>
        </p:nvPicPr>
        <p:blipFill>
          <a:blip r:embed="rId4"/>
          <a:stretch>
            <a:fillRect/>
          </a:stretch>
        </p:blipFill>
        <p:spPr>
          <a:xfrm>
            <a:off x="381000" y="2514600"/>
            <a:ext cx="276860" cy="215265"/>
          </a:xfrm>
          <a:prstGeom prst="rect">
            <a:avLst/>
          </a:prstGeom>
        </p:spPr>
      </p:pic>
      <p:pic>
        <p:nvPicPr>
          <p:cNvPr id="22" name="图片 21"/>
          <p:cNvPicPr>
            <a:picLocks noChangeAspect="1"/>
          </p:cNvPicPr>
          <p:nvPr/>
        </p:nvPicPr>
        <p:blipFill>
          <a:blip r:embed="rId5"/>
          <a:stretch>
            <a:fillRect/>
          </a:stretch>
        </p:blipFill>
        <p:spPr>
          <a:xfrm>
            <a:off x="152400" y="3886200"/>
            <a:ext cx="5255260" cy="614045"/>
          </a:xfrm>
          <a:prstGeom prst="rect">
            <a:avLst/>
          </a:prstGeom>
        </p:spPr>
      </p:pic>
      <p:sp>
        <p:nvSpPr>
          <p:cNvPr id="23" name="文本框 22"/>
          <p:cNvSpPr txBox="1"/>
          <p:nvPr/>
        </p:nvSpPr>
        <p:spPr>
          <a:xfrm>
            <a:off x="304800" y="3124200"/>
            <a:ext cx="10856595" cy="1148715"/>
          </a:xfrm>
          <a:prstGeom prst="rect">
            <a:avLst/>
          </a:prstGeom>
          <a:noFill/>
        </p:spPr>
        <p:txBody>
          <a:bodyPr wrap="square" rtlCol="0">
            <a:noAutofit/>
          </a:bodyPr>
          <a:p>
            <a:r>
              <a:rPr lang="en-US" altLang="zh-CN"/>
              <a:t>Flow Matching</a:t>
            </a:r>
            <a:r>
              <a:rPr lang="zh-CN" altLang="en-US"/>
              <a:t>论文的思想：希望去学习到这个粒子的速度场𝑣，进而可以通过速度场来改变原始分布。</a:t>
            </a:r>
            <a:endParaRPr lang="zh-CN" altLang="en-US"/>
          </a:p>
          <a:p>
            <a:r>
              <a:rPr lang="zh-CN" altLang="en-US"/>
              <a:t>目标函数如下，但是但是速度场</a:t>
            </a:r>
            <a:r>
              <a:rPr lang="en-US" altLang="zh-CN"/>
              <a:t>v(zt</a:t>
            </a:r>
            <a:r>
              <a:rPr lang="zh-CN" altLang="en-US"/>
              <a:t>，</a:t>
            </a:r>
            <a:r>
              <a:rPr lang="en-US" altLang="zh-CN"/>
              <a:t>t)</a:t>
            </a:r>
            <a:r>
              <a:rPr lang="zh-CN" altLang="en-US"/>
              <a:t>和</a:t>
            </a:r>
            <a:r>
              <a:rPr lang="en-US" altLang="zh-CN"/>
              <a:t>pt</a:t>
            </a:r>
            <a:r>
              <a:rPr lang="zh-CN" altLang="en-US"/>
              <a:t>未知</a:t>
            </a:r>
            <a:endParaRPr lang="zh-CN" altLang="en-US"/>
          </a:p>
        </p:txBody>
      </p:sp>
      <p:sp>
        <p:nvSpPr>
          <p:cNvPr id="25" name="文本框 24"/>
          <p:cNvSpPr txBox="1"/>
          <p:nvPr/>
        </p:nvSpPr>
        <p:spPr>
          <a:xfrm>
            <a:off x="304800" y="4572000"/>
            <a:ext cx="5888990" cy="873760"/>
          </a:xfrm>
          <a:prstGeom prst="rect">
            <a:avLst/>
          </a:prstGeom>
          <a:noFill/>
        </p:spPr>
        <p:txBody>
          <a:bodyPr wrap="square" rtlCol="0">
            <a:noAutofit/>
          </a:bodyPr>
          <a:p>
            <a:r>
              <a:rPr lang="zh-CN" altLang="en-US"/>
              <a:t>作者用条件速度场代替边际速度场，</a:t>
            </a:r>
            <a:endParaRPr lang="zh-CN" altLang="en-US"/>
          </a:p>
          <a:p>
            <a:r>
              <a:rPr lang="zh-CN" altLang="en-US"/>
              <a:t>条件概率路径代替边际概率路径</a:t>
            </a:r>
            <a:endParaRPr lang="zh-CN" altLang="en-US"/>
          </a:p>
          <a:p>
            <a:r>
              <a:rPr lang="zh-CN" altLang="en-US"/>
              <a:t>因为条件场可以用插值计算，而边际流是平均分布是整体的演化情况</a:t>
            </a:r>
            <a:endParaRPr lang="zh-CN" altLang="en-US"/>
          </a:p>
        </p:txBody>
      </p:sp>
      <p:sp>
        <p:nvSpPr>
          <p:cNvPr id="26" name="文本框 25"/>
          <p:cNvSpPr txBox="1"/>
          <p:nvPr/>
        </p:nvSpPr>
        <p:spPr>
          <a:xfrm>
            <a:off x="7543800" y="5935980"/>
            <a:ext cx="4064000" cy="368300"/>
          </a:xfrm>
          <a:prstGeom prst="rect">
            <a:avLst/>
          </a:prstGeom>
          <a:noFill/>
        </p:spPr>
        <p:txBody>
          <a:bodyPr wrap="square" rtlCol="0">
            <a:spAutoFit/>
          </a:bodyPr>
          <a:p>
            <a:r>
              <a:rPr lang="zh-CN" altLang="en-US"/>
              <a:t>条件流</a:t>
            </a:r>
            <a:r>
              <a:rPr lang="en-US" altLang="zh-CN"/>
              <a:t>                                    </a:t>
            </a:r>
            <a:r>
              <a:rPr lang="zh-CN" altLang="en-US"/>
              <a:t>边际流</a:t>
            </a:r>
            <a:endParaRPr lang="zh-CN" altLang="en-US"/>
          </a:p>
        </p:txBody>
      </p:sp>
      <p:pic>
        <p:nvPicPr>
          <p:cNvPr id="27" name="图片 26"/>
          <p:cNvPicPr>
            <a:picLocks noChangeAspect="1"/>
          </p:cNvPicPr>
          <p:nvPr/>
        </p:nvPicPr>
        <p:blipFill>
          <a:blip r:embed="rId6"/>
          <a:stretch>
            <a:fillRect/>
          </a:stretch>
        </p:blipFill>
        <p:spPr>
          <a:xfrm>
            <a:off x="76200" y="5791200"/>
            <a:ext cx="6240145" cy="685800"/>
          </a:xfrm>
          <a:prstGeom prst="rect">
            <a:avLst/>
          </a:prstGeom>
        </p:spPr>
      </p:pic>
      <p:sp>
        <p:nvSpPr>
          <p:cNvPr id="3" name="文本框 2"/>
          <p:cNvSpPr txBox="1"/>
          <p:nvPr/>
        </p:nvSpPr>
        <p:spPr>
          <a:xfrm>
            <a:off x="4342765" y="76200"/>
            <a:ext cx="7366635" cy="1463040"/>
          </a:xfrm>
          <a:prstGeom prst="rect">
            <a:avLst/>
          </a:prstGeom>
        </p:spPr>
        <p:txBody>
          <a:bodyPr wrap="square">
            <a:spAutoFit/>
          </a:bodyPr>
          <a:p>
            <a:pPr marL="0" indent="0">
              <a:spcBef>
                <a:spcPct val="0"/>
              </a:spcBef>
              <a:spcAft>
                <a:spcPts val="900"/>
              </a:spcAft>
              <a:buFont typeface="Arial" panose="020B0604020202020204"/>
              <a:buChar char="•"/>
            </a:pPr>
            <a:r>
              <a:rPr lang="zh-CN" altLang="en-US" sz="1600" b="0" i="0">
                <a:solidFill>
                  <a:srgbClr val="24292F"/>
                </a:solidFill>
                <a:latin typeface="Noto Sans SC"/>
                <a:ea typeface="Noto Sans SC"/>
              </a:rPr>
              <a:t>直接测量（</a:t>
            </a:r>
            <a:r>
              <a:rPr lang="en-US" altLang="zh-CN" sz="1600" b="0" i="0">
                <a:solidFill>
                  <a:srgbClr val="24292F"/>
                </a:solidFill>
                <a:latin typeface="Noto Sans SC"/>
                <a:ea typeface="Noto Sans SC"/>
              </a:rPr>
              <a:t>FM</a:t>
            </a:r>
            <a:r>
              <a:rPr lang="zh-CN" altLang="en-US" sz="1600" b="0" i="0">
                <a:solidFill>
                  <a:srgbClr val="24292F"/>
                </a:solidFill>
                <a:latin typeface="Noto Sans SC"/>
                <a:ea typeface="Noto Sans SC"/>
              </a:rPr>
              <a:t>）</a:t>
            </a:r>
            <a:r>
              <a:rPr lang="en-US" altLang="zh-CN" sz="1600" b="0" i="0">
                <a:solidFill>
                  <a:srgbClr val="24292F"/>
                </a:solidFill>
                <a:latin typeface="Noto Sans SC"/>
                <a:ea typeface="Noto Sans SC"/>
              </a:rPr>
              <a:t>‍</a:t>
            </a:r>
            <a:r>
              <a:rPr lang="zh-CN" altLang="en-US" sz="1600" b="0" i="0">
                <a:solidFill>
                  <a:srgbClr val="24292F"/>
                </a:solidFill>
                <a:latin typeface="Noto Sans SC"/>
                <a:ea typeface="Noto Sans SC"/>
              </a:rPr>
              <a:t>：在城市上空，同时观测所有街道上每辆车的速度和方向，这几乎不可能。</a:t>
            </a:r>
            <a:endParaRPr lang="zh-CN" altLang="en-US" sz="1600" b="0" i="0">
              <a:solidFill>
                <a:srgbClr val="24292F"/>
              </a:solidFill>
              <a:latin typeface="Noto Sans SC"/>
              <a:ea typeface="Noto Sans SC"/>
            </a:endParaRPr>
          </a:p>
          <a:p>
            <a:pPr marL="0" indent="0">
              <a:spcBef>
                <a:spcPts val="200"/>
              </a:spcBef>
              <a:spcAft>
                <a:spcPts val="900"/>
              </a:spcAft>
              <a:buFont typeface="Arial" panose="020B0604020202020204"/>
              <a:buChar char="•"/>
            </a:pPr>
            <a:r>
              <a:rPr lang="zh-CN" altLang="en-US" sz="1600" b="0" i="0">
                <a:solidFill>
                  <a:srgbClr val="24292F"/>
                </a:solidFill>
                <a:latin typeface="Noto Sans SC"/>
                <a:ea typeface="Noto Sans SC"/>
              </a:rPr>
              <a:t>间接测量（</a:t>
            </a:r>
            <a:r>
              <a:rPr lang="en-US" altLang="zh-CN" sz="1600" b="0" i="0">
                <a:solidFill>
                  <a:srgbClr val="24292F"/>
                </a:solidFill>
                <a:latin typeface="Noto Sans SC"/>
                <a:ea typeface="Noto Sans SC"/>
              </a:rPr>
              <a:t>CFM</a:t>
            </a:r>
            <a:r>
              <a:rPr lang="zh-CN" altLang="en-US" sz="1600" b="0" i="0">
                <a:solidFill>
                  <a:srgbClr val="24292F"/>
                </a:solidFill>
                <a:latin typeface="Noto Sans SC"/>
                <a:ea typeface="Noto Sans SC"/>
              </a:rPr>
              <a:t>）</a:t>
            </a:r>
            <a:r>
              <a:rPr lang="en-US" altLang="zh-CN" sz="1600" b="0" i="0">
                <a:solidFill>
                  <a:srgbClr val="24292F"/>
                </a:solidFill>
                <a:latin typeface="Noto Sans SC"/>
                <a:ea typeface="Noto Sans SC"/>
              </a:rPr>
              <a:t>‍</a:t>
            </a:r>
            <a:r>
              <a:rPr lang="zh-CN" altLang="en-US" sz="1600" b="0" i="0">
                <a:solidFill>
                  <a:srgbClr val="24292F"/>
                </a:solidFill>
                <a:latin typeface="Noto Sans SC"/>
                <a:ea typeface="Noto Sans SC"/>
              </a:rPr>
              <a:t>：改为雇佣许多代理人，每人只负责跟踪一辆车，记录其行驶路径（条件流）。然后，将所有代理人记录的数据汇总起来，就能准确地推断出整个城市的交通流模式（边际流）。</a:t>
            </a:r>
            <a:endParaRPr lang="zh-CN" altLang="en-US" sz="1600" b="0" i="0">
              <a:solidFill>
                <a:srgbClr val="24292F"/>
              </a:solidFill>
              <a:latin typeface="Noto Sans SC"/>
              <a:ea typeface="Noto Sans SC"/>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6096000" cy="368300"/>
          </a:xfrm>
          <a:prstGeom prst="rect">
            <a:avLst/>
          </a:prstGeom>
          <a:noFill/>
        </p:spPr>
        <p:txBody>
          <a:bodyPr wrap="square" rtlCol="0" anchor="t">
            <a:spAutoFit/>
          </a:bodyPr>
          <a:p>
            <a:r>
              <a:rPr lang="zh-CN" altLang="en-US"/>
              <a:t>构造条件概率路径</a:t>
            </a:r>
            <a:endParaRPr lang="zh-CN" altLang="en-US"/>
          </a:p>
        </p:txBody>
      </p:sp>
      <p:pic>
        <p:nvPicPr>
          <p:cNvPr id="24" name="图片 23"/>
          <p:cNvPicPr>
            <a:picLocks noChangeAspect="1"/>
          </p:cNvPicPr>
          <p:nvPr/>
        </p:nvPicPr>
        <p:blipFill>
          <a:blip r:embed="rId1"/>
          <a:stretch>
            <a:fillRect/>
          </a:stretch>
        </p:blipFill>
        <p:spPr>
          <a:xfrm>
            <a:off x="7086600" y="304800"/>
            <a:ext cx="5002530" cy="2666365"/>
          </a:xfrm>
          <a:prstGeom prst="rect">
            <a:avLst/>
          </a:prstGeom>
        </p:spPr>
      </p:pic>
      <p:sp>
        <p:nvSpPr>
          <p:cNvPr id="6" name="文本框 5"/>
          <p:cNvSpPr txBox="1"/>
          <p:nvPr/>
        </p:nvSpPr>
        <p:spPr>
          <a:xfrm>
            <a:off x="247650" y="742315"/>
            <a:ext cx="6478905" cy="1365250"/>
          </a:xfrm>
          <a:prstGeom prst="rect">
            <a:avLst/>
          </a:prstGeom>
          <a:noFill/>
        </p:spPr>
        <p:txBody>
          <a:bodyPr wrap="square" rtlCol="0">
            <a:noAutofit/>
          </a:bodyPr>
          <a:p>
            <a:r>
              <a:rPr lang="en-US" altLang="zh-CN"/>
              <a:t>Optimal Transport (OT)</a:t>
            </a:r>
            <a:r>
              <a:rPr lang="zh-CN" altLang="en-US"/>
              <a:t>路径：这个路径形式简单，均值和方差的函数在二维平面上看就是连接起点和终点的一条直线</a:t>
            </a:r>
            <a:endParaRPr lang="zh-CN" altLang="en-US"/>
          </a:p>
        </p:txBody>
      </p:sp>
      <p:sp>
        <p:nvSpPr>
          <p:cNvPr id="10" name="文本框 9"/>
          <p:cNvSpPr txBox="1"/>
          <p:nvPr/>
        </p:nvSpPr>
        <p:spPr>
          <a:xfrm>
            <a:off x="116205" y="1772920"/>
            <a:ext cx="6868160" cy="1020445"/>
          </a:xfrm>
          <a:prstGeom prst="rect">
            <a:avLst/>
          </a:prstGeom>
          <a:noFill/>
        </p:spPr>
        <p:txBody>
          <a:bodyPr wrap="square" rtlCol="0">
            <a:noAutofit/>
          </a:bodyPr>
          <a:p>
            <a:r>
              <a:rPr lang="zh-CN" altLang="en-US"/>
              <a:t>之后的条件速度场</a:t>
            </a:r>
            <a:r>
              <a:rPr lang="en-US" altLang="zh-CN"/>
              <a:t>vt</a:t>
            </a:r>
            <a:r>
              <a:rPr lang="zh-CN" altLang="en-US"/>
              <a:t>即可根据</a:t>
            </a:r>
            <a:r>
              <a:rPr lang="en-US" altLang="zh-CN"/>
              <a:t>ode</a:t>
            </a:r>
            <a:r>
              <a:rPr lang="zh-CN" altLang="en-US"/>
              <a:t>方程结合假设的路径得到</a:t>
            </a:r>
            <a:endParaRPr lang="zh-CN" altLang="en-US"/>
          </a:p>
        </p:txBody>
      </p:sp>
      <p:pic>
        <p:nvPicPr>
          <p:cNvPr id="18" name="图片 17"/>
          <p:cNvPicPr>
            <a:picLocks noChangeAspect="1"/>
          </p:cNvPicPr>
          <p:nvPr/>
        </p:nvPicPr>
        <p:blipFill>
          <a:blip r:embed="rId2"/>
          <a:stretch>
            <a:fillRect/>
          </a:stretch>
        </p:blipFill>
        <p:spPr>
          <a:xfrm>
            <a:off x="222885" y="2362200"/>
            <a:ext cx="3044825" cy="949960"/>
          </a:xfrm>
          <a:prstGeom prst="rect">
            <a:avLst/>
          </a:prstGeom>
        </p:spPr>
      </p:pic>
      <p:sp>
        <p:nvSpPr>
          <p:cNvPr id="19" name="文本框 18"/>
          <p:cNvSpPr txBox="1"/>
          <p:nvPr/>
        </p:nvSpPr>
        <p:spPr>
          <a:xfrm>
            <a:off x="457200" y="3312160"/>
            <a:ext cx="6569710" cy="3004185"/>
          </a:xfrm>
          <a:prstGeom prst="rect">
            <a:avLst/>
          </a:prstGeom>
          <a:noFill/>
        </p:spPr>
        <p:txBody>
          <a:bodyPr wrap="square" rtlCol="0">
            <a:noAutofit/>
          </a:bodyPr>
          <a:p>
            <a:r>
              <a:rPr lang="zh-CN" altLang="en-US"/>
              <a:t>训练过程：</a:t>
            </a:r>
            <a:endParaRPr lang="zh-CN" altLang="en-US"/>
          </a:p>
          <a:p>
            <a:r>
              <a:rPr lang="zh-CN" altLang="en-US"/>
              <a:t>获取起点样本，终点样本</a:t>
            </a:r>
            <a:endParaRPr lang="zh-CN" altLang="en-US"/>
          </a:p>
          <a:p>
            <a:r>
              <a:rPr lang="zh-CN" altLang="en-US"/>
              <a:t>利用</a:t>
            </a:r>
            <a:r>
              <a:rPr lang="en-US" altLang="zh-CN"/>
              <a:t>flow map</a:t>
            </a:r>
            <a:r>
              <a:rPr lang="zh-CN" altLang="en-US"/>
              <a:t>构造中间状态点</a:t>
            </a:r>
            <a:endParaRPr lang="zh-CN" altLang="en-US"/>
          </a:p>
          <a:p>
            <a:r>
              <a:rPr lang="zh-CN" altLang="en-US"/>
              <a:t>中间状态点输入模型，得到预测速度场输出</a:t>
            </a:r>
            <a:endParaRPr lang="zh-CN" altLang="en-US"/>
          </a:p>
          <a:p>
            <a:r>
              <a:rPr lang="zh-CN" altLang="en-US"/>
              <a:t>用构造的路径计算目标速度场</a:t>
            </a:r>
            <a:endParaRPr lang="zh-CN" altLang="en-US"/>
          </a:p>
          <a:p>
            <a:r>
              <a:rPr lang="zh-CN" altLang="en-US"/>
              <a:t>用两个速度场计算方差损失，反向传播优化参数</a:t>
            </a:r>
            <a:endParaRPr lang="zh-CN" altLang="en-US"/>
          </a:p>
          <a:p>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t>MeanFlow</a:t>
            </a:r>
            <a:endParaRPr lang="en-US" altLang="zh-CN"/>
          </a:p>
        </p:txBody>
      </p:sp>
      <p:pic>
        <p:nvPicPr>
          <p:cNvPr id="3" name="图片 2"/>
          <p:cNvPicPr>
            <a:picLocks noChangeAspect="1"/>
          </p:cNvPicPr>
          <p:nvPr/>
        </p:nvPicPr>
        <p:blipFill>
          <a:blip r:embed="rId1"/>
          <a:stretch>
            <a:fillRect/>
          </a:stretch>
        </p:blipFill>
        <p:spPr>
          <a:xfrm>
            <a:off x="1752600" y="533400"/>
            <a:ext cx="7169150" cy="2413000"/>
          </a:xfrm>
          <a:prstGeom prst="rect">
            <a:avLst/>
          </a:prstGeom>
        </p:spPr>
      </p:pic>
      <p:sp>
        <p:nvSpPr>
          <p:cNvPr id="4" name="文本框 3"/>
          <p:cNvSpPr txBox="1"/>
          <p:nvPr/>
        </p:nvSpPr>
        <p:spPr>
          <a:xfrm>
            <a:off x="265430" y="3240405"/>
            <a:ext cx="11087735" cy="1144270"/>
          </a:xfrm>
          <a:prstGeom prst="rect">
            <a:avLst/>
          </a:prstGeom>
          <a:noFill/>
        </p:spPr>
        <p:txBody>
          <a:bodyPr wrap="square" rtlCol="0">
            <a:noAutofit/>
          </a:bodyPr>
          <a:p>
            <a:r>
              <a:rPr lang="zh-CN" altLang="en-US"/>
              <a:t>核心思想是引入一个新的场来表示平均速度，而在</a:t>
            </a:r>
            <a:r>
              <a:rPr lang="en-US" altLang="zh-CN"/>
              <a:t>Flow Matching</a:t>
            </a:r>
            <a:r>
              <a:rPr lang="zh-CN" altLang="en-US"/>
              <a:t>中建模的速度表示瞬时速度。</a:t>
            </a:r>
            <a:endParaRPr lang="en-US" altLang="zh-CN"/>
          </a:p>
          <a:p>
            <a:r>
              <a:rPr lang="zh-CN" altLang="en-US"/>
              <a:t>平均速度：作者将平均速度定义为两个时间步长</a:t>
            </a:r>
            <a:r>
              <a:rPr lang="en-US" altLang="zh-CN"/>
              <a:t> t</a:t>
            </a:r>
            <a:r>
              <a:rPr lang="en-US" altLang="en-US"/>
              <a:t> </a:t>
            </a:r>
            <a:r>
              <a:rPr lang="zh-CN" altLang="en-US"/>
              <a:t>和</a:t>
            </a:r>
            <a:r>
              <a:rPr lang="en-US" altLang="zh-CN"/>
              <a:t> r</a:t>
            </a:r>
            <a:r>
              <a:rPr lang="en-US" altLang="en-US"/>
              <a:t> </a:t>
            </a:r>
            <a:r>
              <a:rPr lang="zh-CN" altLang="en-US"/>
              <a:t>之间的位移（通过积分获得）除以时间间隔。形式上，平均速度</a:t>
            </a:r>
            <a:r>
              <a:rPr lang="en-US" altLang="zh-CN"/>
              <a:t> u</a:t>
            </a:r>
            <a:r>
              <a:rPr lang="en-US" altLang="en-US"/>
              <a:t> </a:t>
            </a:r>
            <a:r>
              <a:rPr lang="zh-CN" altLang="en-US"/>
              <a:t>定义为</a:t>
            </a:r>
            <a:endParaRPr lang="zh-CN" altLang="en-US"/>
          </a:p>
        </p:txBody>
      </p:sp>
      <p:pic>
        <p:nvPicPr>
          <p:cNvPr id="5" name="图片 4"/>
          <p:cNvPicPr>
            <a:picLocks noChangeAspect="1"/>
          </p:cNvPicPr>
          <p:nvPr/>
        </p:nvPicPr>
        <p:blipFill>
          <a:blip r:embed="rId2"/>
          <a:stretch>
            <a:fillRect/>
          </a:stretch>
        </p:blipFill>
        <p:spPr>
          <a:xfrm>
            <a:off x="3581400" y="4114800"/>
            <a:ext cx="3806190" cy="808990"/>
          </a:xfrm>
          <a:prstGeom prst="rect">
            <a:avLst/>
          </a:prstGeom>
        </p:spPr>
      </p:pic>
      <p:sp>
        <p:nvSpPr>
          <p:cNvPr id="6" name="文本框 5"/>
          <p:cNvSpPr txBox="1"/>
          <p:nvPr/>
        </p:nvSpPr>
        <p:spPr>
          <a:xfrm>
            <a:off x="533400" y="5181600"/>
            <a:ext cx="10399395" cy="869950"/>
          </a:xfrm>
          <a:prstGeom prst="rect">
            <a:avLst/>
          </a:prstGeom>
          <a:noFill/>
        </p:spPr>
        <p:txBody>
          <a:bodyPr wrap="square" rtlCol="0">
            <a:noAutofit/>
          </a:bodyPr>
          <a:p>
            <a:r>
              <a:rPr lang="en-US" altLang="zh-CN"/>
              <a:t>MeanFlow </a:t>
            </a:r>
            <a:r>
              <a:rPr lang="zh-CN" altLang="en-US"/>
              <a:t>的核心洞察在于，他们发现可以通过对平均速度的定义式进行巧妙的数学操作，得到一个不含积分的、连接平均速度</a:t>
            </a:r>
            <a:r>
              <a:rPr lang="en-US" altLang="zh-CN"/>
              <a:t> u </a:t>
            </a:r>
            <a:r>
              <a:rPr lang="zh-CN" altLang="en-US"/>
              <a:t>和瞬时速度</a:t>
            </a:r>
            <a:r>
              <a:rPr lang="en-US" altLang="zh-CN"/>
              <a:t> v </a:t>
            </a:r>
            <a:r>
              <a:rPr lang="zh-CN" altLang="en-US"/>
              <a:t>的关系式。</a:t>
            </a:r>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4064000" cy="368300"/>
          </a:xfrm>
          <a:prstGeom prst="rect">
            <a:avLst/>
          </a:prstGeom>
          <a:noFill/>
        </p:spPr>
        <p:txBody>
          <a:bodyPr wrap="square" rtlCol="0">
            <a:spAutoFit/>
          </a:bodyPr>
          <a:p>
            <a:r>
              <a:rPr lang="en-US" altLang="zh-CN"/>
              <a:t>MeanFlow</a:t>
            </a:r>
            <a:r>
              <a:rPr lang="zh-CN" altLang="en-US"/>
              <a:t>恒等式</a:t>
            </a:r>
            <a:endParaRPr lang="zh-CN" altLang="en-US"/>
          </a:p>
        </p:txBody>
      </p:sp>
      <p:pic>
        <p:nvPicPr>
          <p:cNvPr id="16" name="图片 15"/>
          <p:cNvPicPr>
            <a:picLocks noChangeAspect="1"/>
          </p:cNvPicPr>
          <p:nvPr/>
        </p:nvPicPr>
        <p:blipFill>
          <a:blip r:embed="rId1"/>
          <a:stretch>
            <a:fillRect/>
          </a:stretch>
        </p:blipFill>
        <p:spPr>
          <a:xfrm>
            <a:off x="228600" y="457200"/>
            <a:ext cx="3027680" cy="714375"/>
          </a:xfrm>
          <a:prstGeom prst="rect">
            <a:avLst/>
          </a:prstGeom>
        </p:spPr>
      </p:pic>
      <p:pic>
        <p:nvPicPr>
          <p:cNvPr id="18" name="图片 17"/>
          <p:cNvPicPr>
            <a:picLocks noChangeAspect="1"/>
          </p:cNvPicPr>
          <p:nvPr/>
        </p:nvPicPr>
        <p:blipFill>
          <a:blip r:embed="rId2"/>
          <a:stretch>
            <a:fillRect/>
          </a:stretch>
        </p:blipFill>
        <p:spPr>
          <a:xfrm>
            <a:off x="2590800" y="1389380"/>
            <a:ext cx="3534410" cy="591820"/>
          </a:xfrm>
          <a:prstGeom prst="rect">
            <a:avLst/>
          </a:prstGeom>
        </p:spPr>
      </p:pic>
      <p:pic>
        <p:nvPicPr>
          <p:cNvPr id="19" name="图片 18"/>
          <p:cNvPicPr>
            <a:picLocks noChangeAspect="1"/>
          </p:cNvPicPr>
          <p:nvPr/>
        </p:nvPicPr>
        <p:blipFill>
          <a:blip r:embed="rId3"/>
          <a:stretch>
            <a:fillRect/>
          </a:stretch>
        </p:blipFill>
        <p:spPr>
          <a:xfrm>
            <a:off x="1066800" y="2089785"/>
            <a:ext cx="2359025" cy="368935"/>
          </a:xfrm>
          <a:prstGeom prst="rect">
            <a:avLst/>
          </a:prstGeom>
        </p:spPr>
      </p:pic>
      <p:sp>
        <p:nvSpPr>
          <p:cNvPr id="20" name="文本框 19"/>
          <p:cNvSpPr txBox="1"/>
          <p:nvPr/>
        </p:nvSpPr>
        <p:spPr>
          <a:xfrm>
            <a:off x="3124200" y="609600"/>
            <a:ext cx="5028565" cy="330835"/>
          </a:xfrm>
          <a:prstGeom prst="rect">
            <a:avLst/>
          </a:prstGeom>
          <a:noFill/>
        </p:spPr>
        <p:txBody>
          <a:bodyPr wrap="square" rtlCol="0">
            <a:noAutofit/>
          </a:bodyPr>
          <a:p>
            <a:r>
              <a:rPr lang="en-US" altLang="zh-CN"/>
              <a:t>z</a:t>
            </a:r>
            <a:r>
              <a:rPr lang="zh-CN" altLang="en-US"/>
              <a:t>随时间沿着</a:t>
            </a:r>
            <a:r>
              <a:rPr lang="en-US" altLang="zh-CN"/>
              <a:t>v</a:t>
            </a:r>
            <a:r>
              <a:rPr lang="zh-CN" altLang="en-US"/>
              <a:t>变化，</a:t>
            </a:r>
            <a:r>
              <a:rPr lang="en-US" altLang="zh-CN"/>
              <a:t>r</a:t>
            </a:r>
            <a:r>
              <a:rPr lang="zh-CN" altLang="en-US"/>
              <a:t>与</a:t>
            </a:r>
            <a:r>
              <a:rPr lang="en-US" altLang="zh-CN"/>
              <a:t>t</a:t>
            </a:r>
            <a:r>
              <a:rPr lang="zh-CN" altLang="en-US"/>
              <a:t>是两个独立时间点</a:t>
            </a:r>
            <a:endParaRPr lang="zh-CN" altLang="en-US"/>
          </a:p>
        </p:txBody>
      </p:sp>
      <p:sp>
        <p:nvSpPr>
          <p:cNvPr id="21" name="文本框 20"/>
          <p:cNvSpPr txBox="1"/>
          <p:nvPr/>
        </p:nvSpPr>
        <p:spPr>
          <a:xfrm>
            <a:off x="304800" y="2077085"/>
            <a:ext cx="948690" cy="382270"/>
          </a:xfrm>
          <a:prstGeom prst="rect">
            <a:avLst/>
          </a:prstGeom>
          <a:noFill/>
        </p:spPr>
        <p:txBody>
          <a:bodyPr wrap="square" rtlCol="0">
            <a:noAutofit/>
          </a:bodyPr>
          <a:p>
            <a:r>
              <a:rPr lang="zh-CN" altLang="en-US"/>
              <a:t>代入</a:t>
            </a:r>
            <a:endParaRPr lang="zh-CN" altLang="en-US"/>
          </a:p>
        </p:txBody>
      </p:sp>
      <p:pic>
        <p:nvPicPr>
          <p:cNvPr id="22" name="图片 21"/>
          <p:cNvPicPr>
            <a:picLocks noChangeAspect="1"/>
          </p:cNvPicPr>
          <p:nvPr/>
        </p:nvPicPr>
        <p:blipFill>
          <a:blip r:embed="rId4"/>
          <a:stretch>
            <a:fillRect/>
          </a:stretch>
        </p:blipFill>
        <p:spPr>
          <a:xfrm>
            <a:off x="4038600" y="1981200"/>
            <a:ext cx="2919730" cy="522605"/>
          </a:xfrm>
          <a:prstGeom prst="rect">
            <a:avLst/>
          </a:prstGeom>
        </p:spPr>
      </p:pic>
      <p:sp>
        <p:nvSpPr>
          <p:cNvPr id="23" name="文本框 22"/>
          <p:cNvSpPr txBox="1"/>
          <p:nvPr/>
        </p:nvSpPr>
        <p:spPr>
          <a:xfrm>
            <a:off x="3429000" y="2075815"/>
            <a:ext cx="685800" cy="426085"/>
          </a:xfrm>
          <a:prstGeom prst="rect">
            <a:avLst/>
          </a:prstGeom>
          <a:noFill/>
        </p:spPr>
        <p:txBody>
          <a:bodyPr wrap="square" rtlCol="0">
            <a:noAutofit/>
          </a:bodyPr>
          <a:p>
            <a:r>
              <a:rPr lang="zh-CN" altLang="en-US"/>
              <a:t>得到</a:t>
            </a:r>
            <a:endParaRPr lang="zh-CN" altLang="en-US"/>
          </a:p>
        </p:txBody>
      </p:sp>
      <p:pic>
        <p:nvPicPr>
          <p:cNvPr id="24" name="图片 23"/>
          <p:cNvPicPr>
            <a:picLocks noChangeAspect="1"/>
          </p:cNvPicPr>
          <p:nvPr/>
        </p:nvPicPr>
        <p:blipFill>
          <a:blip r:embed="rId5"/>
          <a:stretch>
            <a:fillRect/>
          </a:stretch>
        </p:blipFill>
        <p:spPr>
          <a:xfrm>
            <a:off x="381000" y="1541145"/>
            <a:ext cx="1982470" cy="253365"/>
          </a:xfrm>
          <a:prstGeom prst="rect">
            <a:avLst/>
          </a:prstGeom>
        </p:spPr>
      </p:pic>
      <p:pic>
        <p:nvPicPr>
          <p:cNvPr id="25" name="图片 24"/>
          <p:cNvPicPr>
            <a:picLocks noChangeAspect="1"/>
          </p:cNvPicPr>
          <p:nvPr/>
        </p:nvPicPr>
        <p:blipFill>
          <a:blip r:embed="rId6"/>
          <a:stretch>
            <a:fillRect/>
          </a:stretch>
        </p:blipFill>
        <p:spPr>
          <a:xfrm>
            <a:off x="558165" y="2596515"/>
            <a:ext cx="3411855" cy="468630"/>
          </a:xfrm>
          <a:prstGeom prst="rect">
            <a:avLst/>
          </a:prstGeom>
        </p:spPr>
      </p:pic>
      <p:sp>
        <p:nvSpPr>
          <p:cNvPr id="26" name="文本框 25"/>
          <p:cNvSpPr txBox="1"/>
          <p:nvPr/>
        </p:nvSpPr>
        <p:spPr>
          <a:xfrm>
            <a:off x="76200" y="1539240"/>
            <a:ext cx="405765" cy="292100"/>
          </a:xfrm>
          <a:prstGeom prst="rect">
            <a:avLst/>
          </a:prstGeom>
          <a:noFill/>
        </p:spPr>
        <p:txBody>
          <a:bodyPr wrap="square" rtlCol="0">
            <a:noAutofit/>
          </a:bodyPr>
          <a:p>
            <a:r>
              <a:rPr lang="en-US" altLang="zh-CN"/>
              <a:t>1</a:t>
            </a:r>
            <a:endParaRPr lang="en-US" altLang="zh-CN"/>
          </a:p>
        </p:txBody>
      </p:sp>
      <p:sp>
        <p:nvSpPr>
          <p:cNvPr id="27" name="文本框 26"/>
          <p:cNvSpPr txBox="1"/>
          <p:nvPr/>
        </p:nvSpPr>
        <p:spPr>
          <a:xfrm>
            <a:off x="152400" y="2596515"/>
            <a:ext cx="405765" cy="292100"/>
          </a:xfrm>
          <a:prstGeom prst="rect">
            <a:avLst/>
          </a:prstGeom>
          <a:noFill/>
        </p:spPr>
        <p:txBody>
          <a:bodyPr wrap="square" rtlCol="0">
            <a:noAutofit/>
          </a:bodyPr>
          <a:p>
            <a:r>
              <a:rPr lang="en-US" altLang="zh-CN"/>
              <a:t>2</a:t>
            </a:r>
            <a:endParaRPr lang="en-US" altLang="zh-CN"/>
          </a:p>
        </p:txBody>
      </p:sp>
      <p:pic>
        <p:nvPicPr>
          <p:cNvPr id="28" name="图片 27"/>
          <p:cNvPicPr>
            <a:picLocks noChangeAspect="1"/>
          </p:cNvPicPr>
          <p:nvPr/>
        </p:nvPicPr>
        <p:blipFill>
          <a:blip r:embed="rId7"/>
          <a:stretch>
            <a:fillRect/>
          </a:stretch>
        </p:blipFill>
        <p:spPr>
          <a:xfrm>
            <a:off x="1553210" y="3065145"/>
            <a:ext cx="5609590" cy="683895"/>
          </a:xfrm>
          <a:prstGeom prst="rect">
            <a:avLst/>
          </a:prstGeom>
        </p:spPr>
      </p:pic>
      <p:sp>
        <p:nvSpPr>
          <p:cNvPr id="29" name="文本框 28"/>
          <p:cNvSpPr txBox="1"/>
          <p:nvPr/>
        </p:nvSpPr>
        <p:spPr>
          <a:xfrm>
            <a:off x="457200" y="3159760"/>
            <a:ext cx="4064000" cy="368300"/>
          </a:xfrm>
          <a:prstGeom prst="rect">
            <a:avLst/>
          </a:prstGeom>
          <a:noFill/>
        </p:spPr>
        <p:txBody>
          <a:bodyPr wrap="square" rtlCol="0">
            <a:spAutoFit/>
          </a:bodyPr>
          <a:p>
            <a:r>
              <a:rPr lang="zh-CN" altLang="en-US"/>
              <a:t>等式左边</a:t>
            </a:r>
            <a:endParaRPr lang="zh-CN" altLang="en-US"/>
          </a:p>
        </p:txBody>
      </p:sp>
      <p:pic>
        <p:nvPicPr>
          <p:cNvPr id="31" name="图片 30"/>
          <p:cNvPicPr>
            <a:picLocks noChangeAspect="1"/>
          </p:cNvPicPr>
          <p:nvPr/>
        </p:nvPicPr>
        <p:blipFill>
          <a:blip r:embed="rId8"/>
          <a:stretch>
            <a:fillRect/>
          </a:stretch>
        </p:blipFill>
        <p:spPr>
          <a:xfrm>
            <a:off x="1676400" y="3680460"/>
            <a:ext cx="2466340" cy="629920"/>
          </a:xfrm>
          <a:prstGeom prst="rect">
            <a:avLst/>
          </a:prstGeom>
        </p:spPr>
      </p:pic>
      <p:pic>
        <p:nvPicPr>
          <p:cNvPr id="33" name="图片 32"/>
          <p:cNvPicPr>
            <a:picLocks noChangeAspect="1"/>
          </p:cNvPicPr>
          <p:nvPr/>
        </p:nvPicPr>
        <p:blipFill>
          <a:blip r:embed="rId9"/>
          <a:stretch>
            <a:fillRect/>
          </a:stretch>
        </p:blipFill>
        <p:spPr>
          <a:xfrm>
            <a:off x="533400" y="4355465"/>
            <a:ext cx="3688080" cy="483870"/>
          </a:xfrm>
          <a:prstGeom prst="rect">
            <a:avLst/>
          </a:prstGeom>
        </p:spPr>
      </p:pic>
      <p:sp>
        <p:nvSpPr>
          <p:cNvPr id="34" name="文本框 33"/>
          <p:cNvSpPr txBox="1"/>
          <p:nvPr/>
        </p:nvSpPr>
        <p:spPr>
          <a:xfrm>
            <a:off x="533400" y="3799205"/>
            <a:ext cx="4064000" cy="368300"/>
          </a:xfrm>
          <a:prstGeom prst="rect">
            <a:avLst/>
          </a:prstGeom>
          <a:noFill/>
        </p:spPr>
        <p:txBody>
          <a:bodyPr wrap="square" rtlCol="0">
            <a:spAutoFit/>
          </a:bodyPr>
          <a:p>
            <a:r>
              <a:rPr lang="zh-CN" altLang="en-US"/>
              <a:t>等式右边</a:t>
            </a:r>
            <a:endParaRPr lang="zh-CN" altLang="en-US"/>
          </a:p>
        </p:txBody>
      </p:sp>
      <p:pic>
        <p:nvPicPr>
          <p:cNvPr id="35" name="图片 34"/>
          <p:cNvPicPr>
            <a:picLocks noChangeAspect="1"/>
          </p:cNvPicPr>
          <p:nvPr/>
        </p:nvPicPr>
        <p:blipFill>
          <a:blip r:embed="rId10"/>
          <a:stretch>
            <a:fillRect/>
          </a:stretch>
        </p:blipFill>
        <p:spPr>
          <a:xfrm>
            <a:off x="304800" y="5019675"/>
            <a:ext cx="3511550" cy="553085"/>
          </a:xfrm>
          <a:prstGeom prst="rect">
            <a:avLst/>
          </a:prstGeom>
        </p:spPr>
      </p:pic>
      <p:sp>
        <p:nvSpPr>
          <p:cNvPr id="36" name="文本框 35"/>
          <p:cNvSpPr txBox="1"/>
          <p:nvPr/>
        </p:nvSpPr>
        <p:spPr>
          <a:xfrm>
            <a:off x="3886200" y="5105400"/>
            <a:ext cx="7068185" cy="416560"/>
          </a:xfrm>
          <a:prstGeom prst="rect">
            <a:avLst/>
          </a:prstGeom>
        </p:spPr>
        <p:txBody>
          <a:bodyPr>
            <a:noAutofit/>
          </a:bodyPr>
          <a:p>
            <a:pPr marL="0" indent="0"/>
            <a:r>
              <a:rPr lang="zh-CN" altLang="en-US" sz="1600" b="0" i="0">
                <a:solidFill>
                  <a:srgbClr val="191B1F"/>
                </a:solidFill>
                <a:latin typeface="-apple-system"/>
                <a:ea typeface="-apple-system"/>
              </a:rPr>
              <a:t>提供了一个不含积分的、可以用来构建训练目标的形式：等式的右侧。</a:t>
            </a:r>
            <a:endParaRPr lang="zh-CN" altLang="en-US" sz="1600" b="0" i="0">
              <a:solidFill>
                <a:srgbClr val="191B1F"/>
              </a:solidFill>
              <a:latin typeface="-apple-system"/>
              <a:ea typeface="-apple-system"/>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4064000" cy="368300"/>
          </a:xfrm>
          <a:prstGeom prst="rect">
            <a:avLst/>
          </a:prstGeom>
          <a:noFill/>
        </p:spPr>
        <p:txBody>
          <a:bodyPr wrap="square" rtlCol="0">
            <a:spAutoFit/>
          </a:bodyPr>
          <a:p>
            <a:r>
              <a:rPr lang="zh-CN"/>
              <a:t>训练</a:t>
            </a:r>
            <a:endParaRPr lang="zh-CN"/>
          </a:p>
        </p:txBody>
      </p:sp>
      <p:sp>
        <p:nvSpPr>
          <p:cNvPr id="2" name="文本框 1"/>
          <p:cNvSpPr txBox="1"/>
          <p:nvPr/>
        </p:nvSpPr>
        <p:spPr>
          <a:xfrm>
            <a:off x="0" y="533400"/>
            <a:ext cx="4850765" cy="524510"/>
          </a:xfrm>
          <a:prstGeom prst="rect">
            <a:avLst/>
          </a:prstGeom>
          <a:noFill/>
        </p:spPr>
        <p:txBody>
          <a:bodyPr wrap="square" rtlCol="0">
            <a:noAutofit/>
          </a:bodyPr>
          <a:p>
            <a:r>
              <a:rPr lang="zh-CN" altLang="en-US"/>
              <a:t>我们可以训练参数来匹配这个速度目标</a:t>
            </a:r>
            <a:endParaRPr lang="zh-CN" altLang="en-US"/>
          </a:p>
        </p:txBody>
      </p:sp>
      <p:pic>
        <p:nvPicPr>
          <p:cNvPr id="4" name="图片 3"/>
          <p:cNvPicPr>
            <a:picLocks noChangeAspect="1"/>
          </p:cNvPicPr>
          <p:nvPr/>
        </p:nvPicPr>
        <p:blipFill>
          <a:blip r:embed="rId1"/>
          <a:stretch>
            <a:fillRect/>
          </a:stretch>
        </p:blipFill>
        <p:spPr>
          <a:xfrm>
            <a:off x="4267200" y="685800"/>
            <a:ext cx="2305050" cy="292100"/>
          </a:xfrm>
          <a:prstGeom prst="rect">
            <a:avLst/>
          </a:prstGeom>
        </p:spPr>
      </p:pic>
      <p:sp>
        <p:nvSpPr>
          <p:cNvPr id="5" name="文本框 4"/>
          <p:cNvSpPr txBox="1"/>
          <p:nvPr/>
        </p:nvSpPr>
        <p:spPr>
          <a:xfrm>
            <a:off x="76200" y="1223010"/>
            <a:ext cx="11127105" cy="831215"/>
          </a:xfrm>
          <a:prstGeom prst="rect">
            <a:avLst/>
          </a:prstGeom>
          <a:noFill/>
        </p:spPr>
        <p:txBody>
          <a:bodyPr wrap="square" rtlCol="0">
            <a:noAutofit/>
          </a:bodyPr>
          <a:p>
            <a:r>
              <a:rPr lang="en-US" altLang="zh-CN"/>
              <a:t>du/dt</a:t>
            </a:r>
            <a:r>
              <a:rPr lang="zh-CN" altLang="en-US"/>
              <a:t>里真实</a:t>
            </a:r>
            <a:r>
              <a:rPr lang="en-US" altLang="zh-CN"/>
              <a:t>u</a:t>
            </a:r>
            <a:r>
              <a:rPr lang="zh-CN" altLang="en-US"/>
              <a:t>未知，</a:t>
            </a:r>
            <a:r>
              <a:rPr lang="en-US" altLang="zh-CN"/>
              <a:t>meanflow</a:t>
            </a:r>
            <a:r>
              <a:rPr lang="zh-CN" altLang="en-US"/>
              <a:t>采用自举策略，我们用网络自身的导数</a:t>
            </a:r>
            <a:r>
              <a:rPr lang="en-US" altLang="en-US"/>
              <a:t> </a:t>
            </a:r>
            <a:r>
              <a:rPr lang="zh-CN" altLang="en-US"/>
              <a:t>𝑑</a:t>
            </a:r>
            <a:r>
              <a:rPr lang="zh-CN" altLang="en-US">
                <a:sym typeface="+mn-ea"/>
              </a:rPr>
              <a:t>𝑢𝜃</a:t>
            </a:r>
            <a:r>
              <a:rPr lang="en-US" altLang="zh-CN">
                <a:sym typeface="+mn-ea"/>
              </a:rPr>
              <a:t>/ </a:t>
            </a:r>
            <a:r>
              <a:rPr lang="zh-CN" altLang="en-US"/>
              <a:t>𝑑𝑡</a:t>
            </a:r>
            <a:r>
              <a:rPr lang="en-US" altLang="en-US"/>
              <a:t> </a:t>
            </a:r>
            <a:r>
              <a:rPr lang="zh-CN" altLang="en-US"/>
              <a:t>来代替真实的</a:t>
            </a:r>
            <a:r>
              <a:rPr lang="en-US" altLang="en-US"/>
              <a:t> </a:t>
            </a:r>
            <a:r>
              <a:rPr lang="zh-CN" altLang="en-US"/>
              <a:t>𝑑</a:t>
            </a:r>
            <a:r>
              <a:rPr lang="zh-CN" altLang="en-US">
                <a:sym typeface="+mn-ea"/>
              </a:rPr>
              <a:t>𝑢</a:t>
            </a:r>
            <a:r>
              <a:rPr lang="en-US" altLang="zh-CN">
                <a:sym typeface="+mn-ea"/>
              </a:rPr>
              <a:t>/ </a:t>
            </a:r>
            <a:r>
              <a:rPr lang="zh-CN" altLang="en-US"/>
              <a:t>𝑑𝑡。</a:t>
            </a:r>
            <a:endParaRPr lang="zh-CN" altLang="en-US"/>
          </a:p>
        </p:txBody>
      </p:sp>
      <p:sp>
        <p:nvSpPr>
          <p:cNvPr id="6" name="文本框 5"/>
          <p:cNvSpPr txBox="1"/>
          <p:nvPr/>
        </p:nvSpPr>
        <p:spPr>
          <a:xfrm>
            <a:off x="134620" y="1755140"/>
            <a:ext cx="5067300" cy="452755"/>
          </a:xfrm>
          <a:prstGeom prst="rect">
            <a:avLst/>
          </a:prstGeom>
          <a:noFill/>
        </p:spPr>
        <p:txBody>
          <a:bodyPr wrap="square" rtlCol="0">
            <a:noAutofit/>
          </a:bodyPr>
          <a:p>
            <a:r>
              <a:rPr lang="zh-CN" altLang="en-US"/>
              <a:t>训练的目标场</a:t>
            </a:r>
            <a:r>
              <a:rPr lang="en-US" altLang="zh-CN"/>
              <a:t> :</a:t>
            </a:r>
            <a:endParaRPr lang="en-US" altLang="zh-CN"/>
          </a:p>
          <a:p>
            <a:endParaRPr lang="en-US" altLang="zh-CN"/>
          </a:p>
        </p:txBody>
      </p:sp>
      <p:pic>
        <p:nvPicPr>
          <p:cNvPr id="7" name="图片 6"/>
          <p:cNvPicPr>
            <a:picLocks noChangeAspect="1"/>
          </p:cNvPicPr>
          <p:nvPr/>
        </p:nvPicPr>
        <p:blipFill>
          <a:blip r:embed="rId2"/>
          <a:stretch>
            <a:fillRect/>
          </a:stretch>
        </p:blipFill>
        <p:spPr>
          <a:xfrm>
            <a:off x="2743200" y="1752600"/>
            <a:ext cx="3427095" cy="483870"/>
          </a:xfrm>
          <a:prstGeom prst="rect">
            <a:avLst/>
          </a:prstGeom>
        </p:spPr>
      </p:pic>
      <p:sp>
        <p:nvSpPr>
          <p:cNvPr id="8" name="文本框 7"/>
          <p:cNvSpPr txBox="1"/>
          <p:nvPr/>
        </p:nvSpPr>
        <p:spPr>
          <a:xfrm>
            <a:off x="203200" y="2286000"/>
            <a:ext cx="10500995" cy="511175"/>
          </a:xfrm>
          <a:prstGeom prst="rect">
            <a:avLst/>
          </a:prstGeom>
          <a:noFill/>
        </p:spPr>
        <p:txBody>
          <a:bodyPr wrap="square" rtlCol="0">
            <a:noAutofit/>
          </a:bodyPr>
          <a:p>
            <a:r>
              <a:rPr lang="en-US" altLang="zh-CN"/>
              <a:t>v(zt,t)</a:t>
            </a:r>
            <a:r>
              <a:rPr lang="zh-CN" altLang="en-US"/>
              <a:t>为条件瞬时速度，在训练时，构造了路径，由</a:t>
            </a:r>
            <a:r>
              <a:rPr lang="en-US" altLang="zh-CN"/>
              <a:t>t</a:t>
            </a:r>
            <a:r>
              <a:rPr lang="zh-CN" altLang="en-US"/>
              <a:t>可以得到条件速度</a:t>
            </a:r>
            <a:endParaRPr lang="zh-CN" altLang="en-US"/>
          </a:p>
        </p:txBody>
      </p:sp>
      <p:sp>
        <p:nvSpPr>
          <p:cNvPr id="9" name="文本框 8"/>
          <p:cNvSpPr txBox="1"/>
          <p:nvPr/>
        </p:nvSpPr>
        <p:spPr>
          <a:xfrm>
            <a:off x="152400" y="3232785"/>
            <a:ext cx="4064000" cy="368300"/>
          </a:xfrm>
          <a:prstGeom prst="rect">
            <a:avLst/>
          </a:prstGeom>
          <a:noFill/>
        </p:spPr>
        <p:txBody>
          <a:bodyPr wrap="square" rtlCol="0">
            <a:spAutoFit/>
          </a:bodyPr>
          <a:p>
            <a:r>
              <a:rPr lang="zh-CN" altLang="en-US"/>
              <a:t>计算时间导数</a:t>
            </a:r>
            <a:endParaRPr lang="zh-CN" altLang="en-US"/>
          </a:p>
        </p:txBody>
      </p:sp>
      <p:pic>
        <p:nvPicPr>
          <p:cNvPr id="11" name="图片 10"/>
          <p:cNvPicPr>
            <a:picLocks noChangeAspect="1"/>
          </p:cNvPicPr>
          <p:nvPr/>
        </p:nvPicPr>
        <p:blipFill>
          <a:blip r:embed="rId3"/>
          <a:stretch>
            <a:fillRect/>
          </a:stretch>
        </p:blipFill>
        <p:spPr>
          <a:xfrm>
            <a:off x="1905000" y="3232785"/>
            <a:ext cx="2797175" cy="368935"/>
          </a:xfrm>
          <a:prstGeom prst="rect">
            <a:avLst/>
          </a:prstGeom>
        </p:spPr>
      </p:pic>
      <p:sp>
        <p:nvSpPr>
          <p:cNvPr id="12" name="文本框 11"/>
          <p:cNvSpPr txBox="1"/>
          <p:nvPr/>
        </p:nvSpPr>
        <p:spPr>
          <a:xfrm>
            <a:off x="203200" y="3810000"/>
            <a:ext cx="4064000" cy="368300"/>
          </a:xfrm>
          <a:prstGeom prst="rect">
            <a:avLst/>
          </a:prstGeom>
          <a:noFill/>
        </p:spPr>
        <p:txBody>
          <a:bodyPr wrap="square" rtlCol="0">
            <a:spAutoFit/>
          </a:bodyPr>
          <a:p>
            <a:r>
              <a:rPr lang="zh-CN" altLang="en-US"/>
              <a:t>用条件速度</a:t>
            </a:r>
            <a:r>
              <a:rPr lang="en-US" altLang="zh-CN"/>
              <a:t>vt</a:t>
            </a:r>
            <a:r>
              <a:rPr lang="zh-CN" altLang="en-US"/>
              <a:t>来近似真实的</a:t>
            </a:r>
            <a:r>
              <a:rPr lang="en-US" altLang="zh-CN"/>
              <a:t>v(zt,t)</a:t>
            </a:r>
            <a:endParaRPr lang="en-US" altLang="zh-CN"/>
          </a:p>
        </p:txBody>
      </p:sp>
      <p:pic>
        <p:nvPicPr>
          <p:cNvPr id="13" name="图片 12"/>
          <p:cNvPicPr>
            <a:picLocks noChangeAspect="1"/>
          </p:cNvPicPr>
          <p:nvPr/>
        </p:nvPicPr>
        <p:blipFill>
          <a:blip r:embed="rId4"/>
          <a:stretch>
            <a:fillRect/>
          </a:stretch>
        </p:blipFill>
        <p:spPr>
          <a:xfrm>
            <a:off x="3810000" y="3691255"/>
            <a:ext cx="2527935" cy="553085"/>
          </a:xfrm>
          <a:prstGeom prst="rect">
            <a:avLst/>
          </a:prstGeom>
        </p:spPr>
      </p:pic>
      <p:sp>
        <p:nvSpPr>
          <p:cNvPr id="30" name="文本框 29"/>
          <p:cNvSpPr txBox="1"/>
          <p:nvPr/>
        </p:nvSpPr>
        <p:spPr>
          <a:xfrm>
            <a:off x="177800" y="4578985"/>
            <a:ext cx="4064000" cy="368300"/>
          </a:xfrm>
          <a:prstGeom prst="rect">
            <a:avLst/>
          </a:prstGeom>
          <a:noFill/>
        </p:spPr>
        <p:txBody>
          <a:bodyPr wrap="square" rtlCol="0">
            <a:spAutoFit/>
          </a:bodyPr>
          <a:p>
            <a:r>
              <a:rPr lang="zh-CN"/>
              <a:t>损失函数</a:t>
            </a:r>
            <a:endParaRPr lang="zh-CN"/>
          </a:p>
        </p:txBody>
      </p:sp>
      <p:pic>
        <p:nvPicPr>
          <p:cNvPr id="32" name="图片 31"/>
          <p:cNvPicPr>
            <a:picLocks noChangeAspect="1"/>
          </p:cNvPicPr>
          <p:nvPr/>
        </p:nvPicPr>
        <p:blipFill>
          <a:blip r:embed="rId5"/>
          <a:stretch>
            <a:fillRect/>
          </a:stretch>
        </p:blipFill>
        <p:spPr>
          <a:xfrm>
            <a:off x="203200" y="5061585"/>
            <a:ext cx="2866390" cy="483870"/>
          </a:xfrm>
          <a:prstGeom prst="rect">
            <a:avLst/>
          </a:prstGeom>
        </p:spPr>
      </p:pic>
      <p:sp>
        <p:nvSpPr>
          <p:cNvPr id="37" name="文本框 36"/>
          <p:cNvSpPr txBox="1"/>
          <p:nvPr/>
        </p:nvSpPr>
        <p:spPr>
          <a:xfrm>
            <a:off x="203200" y="5715000"/>
            <a:ext cx="11025505" cy="738505"/>
          </a:xfrm>
          <a:prstGeom prst="rect">
            <a:avLst/>
          </a:prstGeom>
          <a:noFill/>
        </p:spPr>
        <p:txBody>
          <a:bodyPr wrap="square" rtlCol="0">
            <a:noAutofit/>
          </a:bodyPr>
          <a:p>
            <a:r>
              <a:rPr lang="en-US" altLang="zh-CN"/>
              <a:t>sg</a:t>
            </a:r>
            <a:r>
              <a:rPr lang="zh-CN" altLang="en-US"/>
              <a:t>为停止梯度操作，它告诉计算图，在计算损失关于网络参数的梯度时，把</a:t>
            </a:r>
            <a:r>
              <a:rPr lang="en-US" altLang="zh-CN"/>
              <a:t>sg</a:t>
            </a:r>
            <a:r>
              <a:rPr lang="zh-CN" altLang="en-US"/>
              <a:t>包围的部分视为常数</a:t>
            </a:r>
            <a:endParaRPr lang="zh-CN" altLang="en-US"/>
          </a:p>
        </p:txBody>
      </p:sp>
      <p:sp>
        <p:nvSpPr>
          <p:cNvPr id="38" name="文本框 37"/>
          <p:cNvSpPr txBox="1"/>
          <p:nvPr/>
        </p:nvSpPr>
        <p:spPr>
          <a:xfrm>
            <a:off x="286385" y="6251575"/>
            <a:ext cx="11067415" cy="606425"/>
          </a:xfrm>
          <a:prstGeom prst="rect">
            <a:avLst/>
          </a:prstGeom>
          <a:noFill/>
        </p:spPr>
        <p:txBody>
          <a:bodyPr wrap="square" rtlCol="0">
            <a:noAutofit/>
          </a:bodyPr>
          <a:p>
            <a:r>
              <a:rPr lang="zh-CN" altLang="en-US"/>
              <a:t>训练完成之后，知道起点和时间，模型提供平均速度，就能得到目的样本</a:t>
            </a:r>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0" y="0"/>
            <a:ext cx="4064000" cy="368300"/>
          </a:xfrm>
          <a:prstGeom prst="rect">
            <a:avLst/>
          </a:prstGeom>
          <a:noFill/>
        </p:spPr>
        <p:txBody>
          <a:bodyPr wrap="square" rtlCol="0">
            <a:spAutoFit/>
          </a:bodyPr>
          <a:p>
            <a:r>
              <a:rPr lang="en-US" altLang="zh-CN"/>
              <a:t>MeanFlow</a:t>
            </a:r>
            <a:r>
              <a:rPr lang="zh-CN" altLang="en-US"/>
              <a:t>结合</a:t>
            </a:r>
            <a:r>
              <a:rPr lang="en-US" altLang="zh-CN"/>
              <a:t>CFG</a:t>
            </a:r>
            <a:endParaRPr lang="en-US" altLang="zh-CN"/>
          </a:p>
        </p:txBody>
      </p:sp>
      <p:sp>
        <p:nvSpPr>
          <p:cNvPr id="9" name="文本框 8"/>
          <p:cNvSpPr txBox="1"/>
          <p:nvPr/>
        </p:nvSpPr>
        <p:spPr>
          <a:xfrm>
            <a:off x="76200" y="914400"/>
            <a:ext cx="11177270" cy="2452370"/>
          </a:xfrm>
          <a:prstGeom prst="rect">
            <a:avLst/>
          </a:prstGeom>
          <a:noFill/>
        </p:spPr>
        <p:txBody>
          <a:bodyPr wrap="square" rtlCol="0">
            <a:noAutofit/>
          </a:bodyPr>
          <a:p>
            <a:r>
              <a:rPr lang="zh-CN" altLang="en-US"/>
              <a:t>分类器无关引导（</a:t>
            </a:r>
            <a:r>
              <a:rPr lang="en-US" altLang="zh-CN"/>
              <a:t>Classifier-Free Guidance, CFG</a:t>
            </a:r>
            <a:r>
              <a:rPr lang="zh-CN" altLang="en-US"/>
              <a:t>）是提高类别条件生成质量的常用技术。它通过结合有条件模型输出和无条件模型输出来增强类别信息。</a:t>
            </a:r>
            <a:endParaRPr lang="zh-CN" altLang="en-US"/>
          </a:p>
          <a:p>
            <a:endParaRPr lang="zh-CN" altLang="en-US"/>
          </a:p>
          <a:p>
            <a:r>
              <a:rPr lang="zh-CN" altLang="en-US"/>
              <a:t>在扩散模型中，由于同时计算条件生成和无条件生成，网络需要执行两次前向传播，从而导致每次采样所需的</a:t>
            </a:r>
            <a:r>
              <a:rPr lang="en-US" altLang="en-US"/>
              <a:t> </a:t>
            </a:r>
            <a:r>
              <a:rPr lang="en-US" altLang="zh-CN"/>
              <a:t>NFE</a:t>
            </a:r>
            <a:r>
              <a:rPr lang="en-US" altLang="en-US"/>
              <a:t> </a:t>
            </a:r>
            <a:r>
              <a:rPr lang="zh-CN" altLang="en-US"/>
              <a:t>数量翻倍。</a:t>
            </a:r>
            <a:endParaRPr lang="zh-CN" altLang="en-US"/>
          </a:p>
          <a:p>
            <a:endParaRPr lang="zh-CN" altLang="en-US"/>
          </a:p>
          <a:p>
            <a:r>
              <a:rPr lang="en-US" altLang="zh-CN"/>
              <a:t>MeanFlow </a:t>
            </a:r>
            <a:r>
              <a:rPr lang="zh-CN" altLang="en-US"/>
              <a:t>的一个亮点在于，它能在训练阶段就将</a:t>
            </a:r>
            <a:r>
              <a:rPr lang="en-US" altLang="zh-CN"/>
              <a:t> CFG </a:t>
            </a:r>
            <a:r>
              <a:rPr lang="zh-CN" altLang="en-US"/>
              <a:t>的效果融入到模型中，使得采样时仍然是</a:t>
            </a:r>
            <a:r>
              <a:rPr lang="en-US" altLang="zh-CN"/>
              <a:t> 1-NFE</a:t>
            </a:r>
            <a:r>
              <a:rPr lang="zh-CN" altLang="en-US"/>
              <a:t>。</a:t>
            </a:r>
            <a:endParaRPr lang="zh-CN" altLang="en-US"/>
          </a:p>
          <a:p>
            <a:endParaRPr lang="zh-CN" altLang="en-US"/>
          </a:p>
        </p:txBody>
      </p:sp>
      <p:pic>
        <p:nvPicPr>
          <p:cNvPr id="11" name="图片 10"/>
          <p:cNvPicPr>
            <a:picLocks noChangeAspect="1"/>
          </p:cNvPicPr>
          <p:nvPr/>
        </p:nvPicPr>
        <p:blipFill>
          <a:blip r:embed="rId1"/>
          <a:stretch>
            <a:fillRect/>
          </a:stretch>
        </p:blipFill>
        <p:spPr>
          <a:xfrm>
            <a:off x="152400" y="3352800"/>
            <a:ext cx="3977640" cy="690880"/>
          </a:xfrm>
          <a:prstGeom prst="rect">
            <a:avLst/>
          </a:prstGeom>
        </p:spPr>
      </p:pic>
      <p:sp>
        <p:nvSpPr>
          <p:cNvPr id="13" name="文本框 12"/>
          <p:cNvSpPr txBox="1"/>
          <p:nvPr/>
        </p:nvSpPr>
        <p:spPr>
          <a:xfrm>
            <a:off x="76200" y="4724400"/>
            <a:ext cx="9018270" cy="495300"/>
          </a:xfrm>
          <a:prstGeom prst="rect">
            <a:avLst/>
          </a:prstGeom>
          <a:noFill/>
        </p:spPr>
        <p:txBody>
          <a:bodyPr wrap="square" rtlCol="0">
            <a:noAutofit/>
          </a:bodyPr>
          <a:p>
            <a:r>
              <a:rPr lang="zh-CN" altLang="en-US"/>
              <a:t>速度场中，</a:t>
            </a:r>
            <a:r>
              <a:rPr lang="en-US" altLang="zh-CN"/>
              <a:t>CFG </a:t>
            </a:r>
            <a:r>
              <a:rPr lang="zh-CN" altLang="en-US"/>
              <a:t>是通过线性组合瞬时速度场实现的，那就直接预测</a:t>
            </a:r>
            <a:r>
              <a:rPr lang="en-US" altLang="zh-CN"/>
              <a:t>vcfg</a:t>
            </a:r>
            <a:endParaRPr lang="en-US" altLang="zh-CN"/>
          </a:p>
        </p:txBody>
      </p:sp>
      <p:pic>
        <p:nvPicPr>
          <p:cNvPr id="14" name="图片 13"/>
          <p:cNvPicPr>
            <a:picLocks noChangeAspect="1"/>
          </p:cNvPicPr>
          <p:nvPr/>
        </p:nvPicPr>
        <p:blipFill>
          <a:blip r:embed="rId2"/>
          <a:stretch>
            <a:fillRect/>
          </a:stretch>
        </p:blipFill>
        <p:spPr>
          <a:xfrm>
            <a:off x="457200" y="5257800"/>
            <a:ext cx="2637790" cy="39433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0"/>
            <a:ext cx="4064000" cy="368300"/>
          </a:xfrm>
          <a:prstGeom prst="rect">
            <a:avLst/>
          </a:prstGeom>
          <a:noFill/>
        </p:spPr>
        <p:txBody>
          <a:bodyPr wrap="square" rtlCol="0">
            <a:spAutoFit/>
          </a:bodyPr>
          <a:p>
            <a:r>
              <a:rPr lang="zh-CN" altLang="en-US"/>
              <a:t>实验</a:t>
            </a:r>
            <a:endParaRPr lang="zh-CN" altLang="en-US"/>
          </a:p>
        </p:txBody>
      </p:sp>
      <p:sp>
        <p:nvSpPr>
          <p:cNvPr id="5" name="文本框 4"/>
          <p:cNvSpPr txBox="1"/>
          <p:nvPr/>
        </p:nvSpPr>
        <p:spPr>
          <a:xfrm>
            <a:off x="95885" y="553720"/>
            <a:ext cx="12096115" cy="1081405"/>
          </a:xfrm>
          <a:prstGeom prst="rect">
            <a:avLst/>
          </a:prstGeom>
          <a:noFill/>
        </p:spPr>
        <p:txBody>
          <a:bodyPr wrap="square" rtlCol="0">
            <a:noAutofit/>
          </a:bodyPr>
          <a:p>
            <a:r>
              <a:rPr lang="zh-CN" altLang="en-US"/>
              <a:t>展示了作者在</a:t>
            </a:r>
            <a:r>
              <a:rPr lang="en-US" altLang="zh-CN"/>
              <a:t>ImageNet 256</a:t>
            </a:r>
            <a:r>
              <a:rPr lang="en-US" altLang="en-US"/>
              <a:t>×</a:t>
            </a:r>
            <a:r>
              <a:rPr lang="en-US" altLang="zh-CN"/>
              <a:t>256</a:t>
            </a:r>
            <a:r>
              <a:rPr lang="zh-CN" altLang="en-US"/>
              <a:t>数据集上进行的消融研究结果，主要关注单步生成（</a:t>
            </a:r>
            <a:r>
              <a:rPr lang="en-US" altLang="zh-CN"/>
              <a:t>1-NFE</a:t>
            </a:r>
            <a:r>
              <a:rPr lang="zh-CN" altLang="en-US"/>
              <a:t>）的性能，使用</a:t>
            </a:r>
            <a:r>
              <a:rPr lang="en-US" altLang="zh-CN"/>
              <a:t>Fr</a:t>
            </a:r>
            <a:r>
              <a:rPr lang="en-US" altLang="en-US"/>
              <a:t>é</a:t>
            </a:r>
            <a:r>
              <a:rPr lang="en-US" altLang="zh-CN"/>
              <a:t>chet Inception Distance</a:t>
            </a:r>
            <a:r>
              <a:rPr lang="zh-CN" altLang="en-US"/>
              <a:t>（</a:t>
            </a:r>
            <a:r>
              <a:rPr lang="en-US" altLang="zh-CN"/>
              <a:t>FID</a:t>
            </a:r>
            <a:r>
              <a:rPr lang="zh-CN" altLang="en-US"/>
              <a:t>）作为评估指标。</a:t>
            </a:r>
            <a:endParaRPr lang="zh-CN" altLang="en-US"/>
          </a:p>
          <a:p>
            <a:r>
              <a:rPr lang="zh-CN" altLang="en-US"/>
              <a:t>消融研究验证了</a:t>
            </a:r>
            <a:r>
              <a:rPr lang="en-US" altLang="zh-CN"/>
              <a:t>MeanFlow</a:t>
            </a:r>
            <a:r>
              <a:rPr lang="zh-CN" altLang="en-US"/>
              <a:t>模型中各个组件的有效性，并展示了如何通过调整不同的参数来优化模型性能。</a:t>
            </a:r>
            <a:endParaRPr lang="zh-CN" altLang="en-US"/>
          </a:p>
        </p:txBody>
      </p:sp>
      <p:pic>
        <p:nvPicPr>
          <p:cNvPr id="6" name="图片 5"/>
          <p:cNvPicPr>
            <a:picLocks noChangeAspect="1"/>
          </p:cNvPicPr>
          <p:nvPr/>
        </p:nvPicPr>
        <p:blipFill>
          <a:blip r:embed="rId1"/>
          <a:stretch>
            <a:fillRect/>
          </a:stretch>
        </p:blipFill>
        <p:spPr>
          <a:xfrm>
            <a:off x="1905000" y="1981200"/>
            <a:ext cx="7054215" cy="362712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752600" y="762000"/>
            <a:ext cx="7143115" cy="4260215"/>
          </a:xfrm>
          <a:prstGeom prst="rect">
            <a:avLst/>
          </a:prstGeom>
        </p:spPr>
      </p:pic>
      <p:sp>
        <p:nvSpPr>
          <p:cNvPr id="3" name="文本框 2"/>
          <p:cNvSpPr txBox="1"/>
          <p:nvPr/>
        </p:nvSpPr>
        <p:spPr>
          <a:xfrm>
            <a:off x="0" y="0"/>
            <a:ext cx="4064000" cy="368300"/>
          </a:xfrm>
          <a:prstGeom prst="rect">
            <a:avLst/>
          </a:prstGeom>
          <a:noFill/>
        </p:spPr>
        <p:txBody>
          <a:bodyPr wrap="square" rtlCol="0">
            <a:spAutoFit/>
          </a:bodyPr>
          <a:p>
            <a:r>
              <a:rPr lang="zh-CN" altLang="en-US"/>
              <a:t>可扩展性</a:t>
            </a:r>
            <a:endParaRPr lang="zh-CN" altLang="en-US"/>
          </a:p>
        </p:txBody>
      </p:sp>
      <p:sp>
        <p:nvSpPr>
          <p:cNvPr id="4" name="文本框 3"/>
          <p:cNvSpPr txBox="1"/>
          <p:nvPr/>
        </p:nvSpPr>
        <p:spPr>
          <a:xfrm>
            <a:off x="447675" y="5117465"/>
            <a:ext cx="11455400" cy="1138555"/>
          </a:xfrm>
          <a:prstGeom prst="rect">
            <a:avLst/>
          </a:prstGeom>
          <a:noFill/>
        </p:spPr>
        <p:txBody>
          <a:bodyPr wrap="square" rtlCol="0">
            <a:noAutofit/>
          </a:bodyPr>
          <a:p>
            <a:r>
              <a:rPr lang="en-US" altLang="zh-CN"/>
              <a:t>ImageNet 256</a:t>
            </a:r>
            <a:r>
              <a:rPr lang="en-US" altLang="en-US"/>
              <a:t>×</a:t>
            </a:r>
            <a:r>
              <a:rPr lang="en-US" altLang="zh-CN"/>
              <a:t>256</a:t>
            </a:r>
            <a:r>
              <a:rPr lang="zh-CN" altLang="en-US"/>
              <a:t>上</a:t>
            </a:r>
            <a:r>
              <a:rPr lang="en-US" altLang="zh-CN"/>
              <a:t>MeanFlow</a:t>
            </a:r>
            <a:r>
              <a:rPr lang="zh-CN" altLang="en-US"/>
              <a:t>模型的可扩展性。</a:t>
            </a:r>
            <a:r>
              <a:rPr lang="en-US" altLang="zh-CN"/>
              <a:t>1-NFE</a:t>
            </a:r>
            <a:r>
              <a:rPr lang="zh-CN" altLang="en-US"/>
              <a:t>生成</a:t>
            </a:r>
            <a:r>
              <a:rPr lang="en-US" altLang="zh-CN"/>
              <a:t>FID</a:t>
            </a:r>
            <a:r>
              <a:rPr lang="zh-CN" altLang="en-US"/>
              <a:t>被报道。所有模型都是从头开始训练的。在保持</a:t>
            </a:r>
            <a:r>
              <a:rPr lang="en-US" altLang="zh-CN"/>
              <a:t>1-NFE</a:t>
            </a:r>
            <a:r>
              <a:rPr lang="zh-CN" altLang="en-US"/>
              <a:t>采样行为的同时应用</a:t>
            </a:r>
            <a:r>
              <a:rPr lang="en-US" altLang="zh-CN"/>
              <a:t>CFG</a:t>
            </a:r>
            <a:r>
              <a:rPr lang="zh-CN" altLang="en-US"/>
              <a:t>。方法在模型大小方面表现出很好的可扩展性。</a:t>
            </a:r>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4064000" cy="368300"/>
          </a:xfrm>
          <a:prstGeom prst="rect">
            <a:avLst/>
          </a:prstGeom>
          <a:noFill/>
        </p:spPr>
        <p:txBody>
          <a:bodyPr wrap="square" rtlCol="0">
            <a:spAutoFit/>
          </a:bodyPr>
          <a:p>
            <a:r>
              <a:rPr lang="zh-CN" altLang="en-US"/>
              <a:t>模型性能</a:t>
            </a:r>
            <a:endParaRPr lang="zh-CN" altLang="en-US"/>
          </a:p>
        </p:txBody>
      </p:sp>
      <p:sp>
        <p:nvSpPr>
          <p:cNvPr id="5" name="文本框 4"/>
          <p:cNvSpPr txBox="1"/>
          <p:nvPr/>
        </p:nvSpPr>
        <p:spPr>
          <a:xfrm>
            <a:off x="962660" y="4904740"/>
            <a:ext cx="11232515" cy="1758950"/>
          </a:xfrm>
          <a:prstGeom prst="rect">
            <a:avLst/>
          </a:prstGeom>
          <a:noFill/>
        </p:spPr>
        <p:txBody>
          <a:bodyPr wrap="square" rtlCol="0">
            <a:noAutofit/>
          </a:bodyPr>
          <a:p>
            <a:r>
              <a:rPr lang="zh-CN" altLang="en-US"/>
              <a:t>比较了在</a:t>
            </a:r>
            <a:r>
              <a:rPr lang="en-US" altLang="zh-CN"/>
              <a:t>ImageNet 256</a:t>
            </a:r>
            <a:r>
              <a:rPr lang="en-US" altLang="en-US"/>
              <a:t>×</a:t>
            </a:r>
            <a:r>
              <a:rPr lang="en-US" altLang="zh-CN"/>
              <a:t>256</a:t>
            </a:r>
            <a:r>
              <a:rPr lang="zh-CN" altLang="en-US"/>
              <a:t>数据集上不同生成模型的性能，主要使用</a:t>
            </a:r>
            <a:r>
              <a:rPr lang="en-US" altLang="zh-CN"/>
              <a:t>Fr</a:t>
            </a:r>
            <a:r>
              <a:rPr lang="en-US" altLang="en-US"/>
              <a:t>é</a:t>
            </a:r>
            <a:r>
              <a:rPr lang="en-US" altLang="zh-CN"/>
              <a:t>chet Inception Distance</a:t>
            </a:r>
            <a:r>
              <a:rPr lang="zh-CN" altLang="en-US"/>
              <a:t>（</a:t>
            </a:r>
            <a:r>
              <a:rPr lang="en-US" altLang="zh-CN"/>
              <a:t>FID</a:t>
            </a:r>
            <a:r>
              <a:rPr lang="zh-CN" altLang="en-US"/>
              <a:t>）作为评估指标。</a:t>
            </a:r>
            <a:r>
              <a:rPr lang="en-US" altLang="en-US"/>
              <a:t> </a:t>
            </a:r>
            <a:r>
              <a:rPr lang="zh-CN" altLang="en-US"/>
              <a:t>表</a:t>
            </a:r>
            <a:r>
              <a:rPr lang="en-US" altLang="zh-CN"/>
              <a:t>2</a:t>
            </a:r>
            <a:r>
              <a:rPr lang="zh-CN" altLang="en-US"/>
              <a:t>展示了</a:t>
            </a:r>
            <a:r>
              <a:rPr lang="en-US" altLang="zh-CN"/>
              <a:t>MeanFlow</a:t>
            </a:r>
            <a:r>
              <a:rPr lang="zh-CN" altLang="en-US"/>
              <a:t>模型在单步和少步生成任务中的竞争力，特别是在</a:t>
            </a:r>
            <a:r>
              <a:rPr lang="en-US" altLang="zh-CN"/>
              <a:t>1-NFE</a:t>
            </a:r>
            <a:r>
              <a:rPr lang="zh-CN" altLang="en-US"/>
              <a:t>生成上取得了最先进的性能</a:t>
            </a:r>
            <a:endParaRPr lang="zh-CN" altLang="en-US"/>
          </a:p>
        </p:txBody>
      </p:sp>
      <p:pic>
        <p:nvPicPr>
          <p:cNvPr id="6" name="图片 5"/>
          <p:cNvPicPr>
            <a:picLocks noChangeAspect="1"/>
          </p:cNvPicPr>
          <p:nvPr/>
        </p:nvPicPr>
        <p:blipFill>
          <a:blip r:embed="rId1"/>
          <a:stretch>
            <a:fillRect/>
          </a:stretch>
        </p:blipFill>
        <p:spPr>
          <a:xfrm>
            <a:off x="457200" y="685800"/>
            <a:ext cx="10196830" cy="415734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0"/>
            <a:ext cx="4064000" cy="368300"/>
          </a:xfrm>
          <a:prstGeom prst="rect">
            <a:avLst/>
          </a:prstGeom>
          <a:noFill/>
        </p:spPr>
        <p:txBody>
          <a:bodyPr wrap="square" rtlCol="0">
            <a:spAutoFit/>
          </a:bodyPr>
          <a:p>
            <a:r>
              <a:rPr lang="zh-CN" altLang="en-US"/>
              <a:t>流量生成</a:t>
            </a:r>
            <a:endParaRPr lang="zh-CN" altLang="en-US"/>
          </a:p>
        </p:txBody>
      </p:sp>
      <p:pic>
        <p:nvPicPr>
          <p:cNvPr id="2" name="图片 1"/>
          <p:cNvPicPr>
            <a:picLocks noChangeAspect="1"/>
          </p:cNvPicPr>
          <p:nvPr/>
        </p:nvPicPr>
        <p:blipFill>
          <a:blip r:embed="rId1"/>
          <a:stretch>
            <a:fillRect/>
          </a:stretch>
        </p:blipFill>
        <p:spPr>
          <a:xfrm>
            <a:off x="2286000" y="152400"/>
            <a:ext cx="6656705" cy="3471545"/>
          </a:xfrm>
          <a:prstGeom prst="rect">
            <a:avLst/>
          </a:prstGeom>
        </p:spPr>
      </p:pic>
      <p:sp>
        <p:nvSpPr>
          <p:cNvPr id="4" name="文本框 3"/>
          <p:cNvSpPr txBox="1"/>
          <p:nvPr/>
        </p:nvSpPr>
        <p:spPr>
          <a:xfrm>
            <a:off x="48260" y="3676650"/>
            <a:ext cx="12033250" cy="2908935"/>
          </a:xfrm>
          <a:prstGeom prst="rect">
            <a:avLst/>
          </a:prstGeom>
          <a:noFill/>
        </p:spPr>
        <p:txBody>
          <a:bodyPr wrap="square" rtlCol="0">
            <a:noAutofit/>
          </a:bodyPr>
          <a:p>
            <a:r>
              <a:rPr lang="zh-CN" altLang="en-US"/>
              <a:t>提出</a:t>
            </a:r>
            <a:r>
              <a:rPr lang="en-US" altLang="zh-CN"/>
              <a:t>NetDiffus</a:t>
            </a:r>
            <a:r>
              <a:rPr lang="zh-CN" altLang="en-US"/>
              <a:t>，一个基于扩散模型</a:t>
            </a:r>
            <a:r>
              <a:rPr lang="en-US" altLang="zh-CN"/>
              <a:t>(DM)</a:t>
            </a:r>
            <a:r>
              <a:rPr lang="zh-CN" altLang="en-US"/>
              <a:t>的网络流量生成工具。</a:t>
            </a:r>
            <a:endParaRPr lang="zh-CN" altLang="en-US"/>
          </a:p>
          <a:p>
            <a:r>
              <a:rPr lang="zh-CN" altLang="en-US"/>
              <a:t>它将时间序列网络流量数据转换为称为</a:t>
            </a:r>
            <a:r>
              <a:rPr lang="en-US" altLang="zh-CN"/>
              <a:t>Grammian Angular Summation Field (GASF)</a:t>
            </a:r>
            <a:r>
              <a:rPr lang="zh-CN" altLang="en-US"/>
              <a:t>的特定图像格式。</a:t>
            </a:r>
            <a:endParaRPr lang="zh-CN" altLang="en-US"/>
          </a:p>
          <a:p>
            <a:r>
              <a:rPr lang="zh-CN" altLang="en-US"/>
              <a:t>在解决与合成网络流量生成相关的多个挑战以实现更高的数据保真度的同时，还展示了</a:t>
            </a:r>
            <a:r>
              <a:rPr lang="en-US" altLang="zh-CN"/>
              <a:t>GASF</a:t>
            </a:r>
            <a:r>
              <a:rPr lang="zh-CN" altLang="en-US"/>
              <a:t>格式的合成数据在各种下游</a:t>
            </a:r>
            <a:r>
              <a:rPr lang="en-US" altLang="zh-CN"/>
              <a:t>ML</a:t>
            </a:r>
            <a:r>
              <a:rPr lang="zh-CN" altLang="en-US"/>
              <a:t>任务中的有效性，以提高其分类性能。此外，</a:t>
            </a:r>
            <a:r>
              <a:rPr lang="en-US" altLang="zh-CN"/>
              <a:t>NetDiffus</a:t>
            </a:r>
            <a:r>
              <a:rPr lang="zh-CN" altLang="en-US"/>
              <a:t>的性能超过了基于</a:t>
            </a:r>
            <a:r>
              <a:rPr lang="en-US" altLang="zh-CN"/>
              <a:t>SOTA GAN</a:t>
            </a:r>
            <a:r>
              <a:rPr lang="zh-CN" altLang="en-US"/>
              <a:t>的方法和</a:t>
            </a:r>
            <a:r>
              <a:rPr lang="en-US" altLang="zh-CN"/>
              <a:t>1D DM</a:t>
            </a:r>
            <a:r>
              <a:rPr lang="zh-CN" altLang="en-US"/>
              <a:t>。</a:t>
            </a:r>
            <a:endParaRPr lang="zh-CN" altLang="en-US"/>
          </a:p>
          <a:p>
            <a:endParaRPr lang="zh-CN" altLang="en-US"/>
          </a:p>
          <a:p>
            <a:r>
              <a:rPr lang="zh-CN" altLang="en-US"/>
              <a:t>数据集采用</a:t>
            </a:r>
            <a:r>
              <a:rPr lang="en-US" altLang="zh-CN"/>
              <a:t>cicids2017</a:t>
            </a:r>
            <a:r>
              <a:rPr lang="zh-CN" altLang="en-US"/>
              <a:t>、</a:t>
            </a:r>
            <a:r>
              <a:rPr lang="en-US" altLang="zh-CN"/>
              <a:t>vpnnovpn</a:t>
            </a:r>
            <a:r>
              <a:rPr lang="zh-CN" altLang="en-US"/>
              <a:t>、</a:t>
            </a:r>
            <a:r>
              <a:rPr lang="en-US" altLang="zh-CN"/>
              <a:t>CTU13</a:t>
            </a:r>
            <a:r>
              <a:rPr lang="zh-CN" altLang="en-US"/>
              <a:t>、</a:t>
            </a:r>
            <a:r>
              <a:rPr lang="en-US" altLang="zh-CN"/>
              <a:t>unswnb15</a:t>
            </a:r>
            <a:r>
              <a:rPr lang="zh-CN" altLang="en-US"/>
              <a:t>等</a:t>
            </a:r>
            <a:r>
              <a:rPr lang="en-US" altLang="zh-CN"/>
              <a:t>csv</a:t>
            </a:r>
            <a:r>
              <a:rPr lang="zh-CN" altLang="en-US"/>
              <a:t>分类数据集</a:t>
            </a:r>
            <a:endParaRPr lang="zh-CN" altLang="en-US"/>
          </a:p>
          <a:p>
            <a:r>
              <a:rPr lang="en-US" altLang="zh-CN"/>
              <a:t>GASF</a:t>
            </a:r>
            <a:r>
              <a:rPr lang="zh-CN" altLang="en-US"/>
              <a:t>把</a:t>
            </a:r>
            <a:r>
              <a:rPr lang="en-US" altLang="zh-CN"/>
              <a:t>csv</a:t>
            </a:r>
            <a:r>
              <a:rPr lang="zh-CN" altLang="en-US"/>
              <a:t>转图像（单变量但是给的数据集是多变量的）</a:t>
            </a:r>
            <a:r>
              <a:rPr lang="en-US" altLang="zh-CN"/>
              <a:t> -&gt; meanflow/</a:t>
            </a:r>
            <a:r>
              <a:rPr lang="en-US" altLang="zh-CN">
                <a:sym typeface="+mn-ea"/>
              </a:rPr>
              <a:t>netdiffus/GAN</a:t>
            </a:r>
            <a:r>
              <a:rPr lang="zh-CN" altLang="en-US">
                <a:sym typeface="+mn-ea"/>
              </a:rPr>
              <a:t>生成能力对比</a:t>
            </a:r>
            <a:r>
              <a:rPr lang="en-US" altLang="zh-CN">
                <a:sym typeface="+mn-ea"/>
              </a:rPr>
              <a:t> -&gt;</a:t>
            </a:r>
            <a:r>
              <a:rPr lang="zh-CN" altLang="en-US">
                <a:sym typeface="+mn-ea"/>
              </a:rPr>
              <a:t>下游任务</a:t>
            </a:r>
            <a:endParaRPr lang="zh-CN" altLang="en-US">
              <a:sym typeface="+mn-ea"/>
            </a:endParaRPr>
          </a:p>
          <a:p>
            <a:r>
              <a:rPr lang="zh-CN" altLang="en-US">
                <a:sym typeface="+mn-ea"/>
              </a:rPr>
              <a:t>（</a:t>
            </a:r>
            <a:r>
              <a:rPr lang="en-US" altLang="zh-CN">
                <a:sym typeface="+mn-ea"/>
              </a:rPr>
              <a:t>csv</a:t>
            </a:r>
            <a:r>
              <a:rPr lang="zh-CN" altLang="en-US">
                <a:sym typeface="+mn-ea"/>
              </a:rPr>
              <a:t>文件每一行一条流，</a:t>
            </a:r>
            <a:r>
              <a:rPr lang="en-US" altLang="zh-CN">
                <a:sym typeface="+mn-ea"/>
              </a:rPr>
              <a:t>84</a:t>
            </a:r>
            <a:r>
              <a:rPr lang="zh-CN" altLang="en-US">
                <a:sym typeface="+mn-ea"/>
              </a:rPr>
              <a:t>个特征，一个标签。</a:t>
            </a:r>
            <a:r>
              <a:rPr lang="en-US" altLang="zh-CN">
                <a:sym typeface="+mn-ea"/>
              </a:rPr>
              <a:t>cicids2017</a:t>
            </a:r>
            <a:r>
              <a:rPr lang="zh-CN" altLang="en-US">
                <a:sym typeface="+mn-ea"/>
              </a:rPr>
              <a:t>按时间取样，按时间顺序选</a:t>
            </a:r>
            <a:r>
              <a:rPr lang="en-US" altLang="zh-CN">
                <a:sym typeface="+mn-ea"/>
              </a:rPr>
              <a:t>64</a:t>
            </a:r>
            <a:r>
              <a:rPr lang="zh-CN" altLang="en-US">
                <a:sym typeface="+mn-ea"/>
              </a:rPr>
              <a:t>行相同标签，每一个特征用</a:t>
            </a:r>
            <a:r>
              <a:rPr lang="en-US" altLang="zh-CN">
                <a:sym typeface="+mn-ea"/>
              </a:rPr>
              <a:t>gaf</a:t>
            </a:r>
            <a:r>
              <a:rPr lang="zh-CN" altLang="en-US">
                <a:sym typeface="+mn-ea"/>
              </a:rPr>
              <a:t>生成一个通道的</a:t>
            </a:r>
            <a:r>
              <a:rPr lang="en-US" altLang="zh-CN">
                <a:sym typeface="+mn-ea"/>
              </a:rPr>
              <a:t>64*64</a:t>
            </a:r>
            <a:r>
              <a:rPr lang="zh-CN" altLang="en-US">
                <a:sym typeface="+mn-ea"/>
              </a:rPr>
              <a:t>二维图像，</a:t>
            </a:r>
            <a:r>
              <a:rPr lang="en-US" altLang="zh-CN">
                <a:sym typeface="+mn-ea"/>
              </a:rPr>
              <a:t>84</a:t>
            </a:r>
            <a:r>
              <a:rPr lang="zh-CN" altLang="en-US">
                <a:sym typeface="+mn-ea"/>
              </a:rPr>
              <a:t>个特征通道堆叠保存为</a:t>
            </a:r>
            <a:r>
              <a:rPr lang="en-US" altLang="zh-CN">
                <a:sym typeface="+mn-ea"/>
              </a:rPr>
              <a:t>.npy</a:t>
            </a:r>
            <a:r>
              <a:rPr lang="zh-CN" altLang="en-US">
                <a:sym typeface="+mn-ea"/>
              </a:rPr>
              <a:t>文件，类似于图像的</a:t>
            </a:r>
            <a:r>
              <a:rPr lang="en-US" altLang="zh-CN">
                <a:sym typeface="+mn-ea"/>
              </a:rPr>
              <a:t>rgb</a:t>
            </a:r>
            <a:r>
              <a:rPr lang="zh-CN" altLang="en-US">
                <a:sym typeface="+mn-ea"/>
              </a:rPr>
              <a:t>的三通道再输入</a:t>
            </a:r>
            <a:r>
              <a:rPr lang="en-US" altLang="zh-CN">
                <a:sym typeface="+mn-ea"/>
              </a:rPr>
              <a:t>meanflow</a:t>
            </a:r>
            <a:r>
              <a:rPr lang="zh-CN" altLang="en-US">
                <a:sym typeface="+mn-ea"/>
              </a:rPr>
              <a:t>训练）</a:t>
            </a:r>
            <a:endParaRPr lang="zh-CN" altLang="en-US">
              <a:sym typeface="+mn-ea"/>
            </a:endParaRPr>
          </a:p>
          <a:p>
            <a:endParaRPr lang="zh-CN" altLang="en-US">
              <a:sym typeface="+mn-ea"/>
            </a:endParaRPr>
          </a:p>
          <a:p>
            <a:endParaRPr lang="zh-CN" altLang="en-US"/>
          </a:p>
          <a:p>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533400" y="3276600"/>
            <a:ext cx="8147050" cy="3536950"/>
          </a:xfrm>
          <a:prstGeom prst="rect">
            <a:avLst/>
          </a:prstGeom>
        </p:spPr>
      </p:pic>
      <p:pic>
        <p:nvPicPr>
          <p:cNvPr id="7" name="图片 6"/>
          <p:cNvPicPr>
            <a:picLocks noChangeAspect="1"/>
          </p:cNvPicPr>
          <p:nvPr/>
        </p:nvPicPr>
        <p:blipFill>
          <a:blip r:embed="rId2"/>
          <a:stretch>
            <a:fillRect/>
          </a:stretch>
        </p:blipFill>
        <p:spPr>
          <a:xfrm>
            <a:off x="685800" y="152400"/>
            <a:ext cx="5640070" cy="272796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81000" y="228600"/>
            <a:ext cx="5169535" cy="5156200"/>
          </a:xfrm>
          <a:prstGeom prst="rect">
            <a:avLst/>
          </a:prstGeom>
        </p:spPr>
      </p:pic>
      <p:pic>
        <p:nvPicPr>
          <p:cNvPr id="4" name="图片 3"/>
          <p:cNvPicPr>
            <a:picLocks noChangeAspect="1"/>
          </p:cNvPicPr>
          <p:nvPr/>
        </p:nvPicPr>
        <p:blipFill>
          <a:blip r:embed="rId2"/>
          <a:stretch>
            <a:fillRect/>
          </a:stretch>
        </p:blipFill>
        <p:spPr>
          <a:xfrm>
            <a:off x="1371600" y="4114800"/>
            <a:ext cx="10003155" cy="2672715"/>
          </a:xfrm>
          <a:prstGeom prst="rect">
            <a:avLst/>
          </a:prstGeom>
        </p:spPr>
      </p:pic>
      <p:sp>
        <p:nvSpPr>
          <p:cNvPr id="5" name="文本框 4"/>
          <p:cNvSpPr txBox="1"/>
          <p:nvPr/>
        </p:nvSpPr>
        <p:spPr>
          <a:xfrm>
            <a:off x="5693410" y="261620"/>
            <a:ext cx="6272530" cy="2437765"/>
          </a:xfrm>
          <a:prstGeom prst="rect">
            <a:avLst/>
          </a:prstGeom>
          <a:noFill/>
        </p:spPr>
        <p:txBody>
          <a:bodyPr wrap="square" rtlCol="0">
            <a:noAutofit/>
          </a:bodyPr>
          <a:p>
            <a:r>
              <a:rPr lang="zh-CN" altLang="en-US"/>
              <a:t>将</a:t>
            </a:r>
            <a:r>
              <a:rPr lang="en-US" altLang="zh-CN"/>
              <a:t> pcap </a:t>
            </a:r>
            <a:r>
              <a:rPr lang="zh-CN" altLang="en-US"/>
              <a:t>文件中的原始网络流量按</a:t>
            </a:r>
            <a:r>
              <a:rPr lang="en-US" altLang="zh-CN"/>
              <a:t> 1024 </a:t>
            </a:r>
            <a:r>
              <a:rPr lang="zh-CN" altLang="en-US"/>
              <a:t>个包</a:t>
            </a:r>
            <a:r>
              <a:rPr lang="en-US" altLang="zh-CN"/>
              <a:t>/</a:t>
            </a:r>
            <a:r>
              <a:rPr lang="zh-CN" altLang="en-US"/>
              <a:t>组</a:t>
            </a:r>
            <a:r>
              <a:rPr lang="en-US" altLang="zh-CN"/>
              <a:t> </a:t>
            </a:r>
            <a:r>
              <a:rPr lang="zh-CN" altLang="en-US"/>
              <a:t>切割，通过</a:t>
            </a:r>
            <a:r>
              <a:rPr lang="en-US" altLang="zh-CN"/>
              <a:t> nPrint </a:t>
            </a:r>
            <a:r>
              <a:rPr lang="zh-CN" altLang="en-US"/>
              <a:t>编码为标准化比特矩阵（</a:t>
            </a:r>
            <a:r>
              <a:rPr lang="en-US" altLang="zh-CN"/>
              <a:t>1024</a:t>
            </a:r>
            <a:r>
              <a:rPr lang="en-US" altLang="en-US"/>
              <a:t>×</a:t>
            </a:r>
            <a:r>
              <a:rPr lang="en-US" altLang="zh-CN"/>
              <a:t>1088</a:t>
            </a:r>
            <a:r>
              <a:rPr lang="zh-CN" altLang="en-US"/>
              <a:t>），再转换为</a:t>
            </a:r>
            <a:r>
              <a:rPr lang="en-US" altLang="zh-CN"/>
              <a:t> </a:t>
            </a:r>
            <a:r>
              <a:rPr lang="zh-CN" altLang="en-US"/>
              <a:t>三色图像（绿</a:t>
            </a:r>
            <a:r>
              <a:rPr lang="en-US" altLang="zh-CN"/>
              <a:t>=1/</a:t>
            </a:r>
            <a:r>
              <a:rPr lang="zh-CN" altLang="en-US"/>
              <a:t>红</a:t>
            </a:r>
            <a:r>
              <a:rPr lang="en-US" altLang="zh-CN"/>
              <a:t>=0/</a:t>
            </a:r>
            <a:r>
              <a:rPr lang="zh-CN" altLang="en-US"/>
              <a:t>灰</a:t>
            </a:r>
            <a:r>
              <a:rPr lang="en-US" altLang="zh-CN"/>
              <a:t>=-1</a:t>
            </a:r>
            <a:r>
              <a:rPr lang="zh-CN" altLang="en-US"/>
              <a:t>）</a:t>
            </a:r>
            <a:endParaRPr lang="zh-CN" altLang="en-US"/>
          </a:p>
          <a:p>
            <a:r>
              <a:rPr lang="zh-CN" altLang="en-US"/>
              <a:t>从文本提示到合成流量图像，基于</a:t>
            </a:r>
            <a:r>
              <a:rPr lang="en-US" altLang="zh-CN"/>
              <a:t> Stable Diffusion</a:t>
            </a:r>
            <a:r>
              <a:rPr lang="zh-CN" altLang="en-US"/>
              <a:t>，通过</a:t>
            </a:r>
            <a:r>
              <a:rPr lang="en-US" altLang="zh-CN"/>
              <a:t> LoRA </a:t>
            </a:r>
            <a:r>
              <a:rPr lang="zh-CN" altLang="en-US"/>
              <a:t>微调</a:t>
            </a:r>
            <a:r>
              <a:rPr lang="en-US" altLang="zh-CN"/>
              <a:t> </a:t>
            </a:r>
            <a:r>
              <a:rPr lang="zh-CN" altLang="en-US"/>
              <a:t>使其理解</a:t>
            </a:r>
            <a:r>
              <a:rPr lang="en-US" altLang="zh-CN"/>
              <a:t>“</a:t>
            </a:r>
            <a:r>
              <a:rPr lang="zh-CN" altLang="en-US"/>
              <a:t>网络流量图像</a:t>
            </a:r>
            <a:r>
              <a:rPr lang="en-US" altLang="zh-CN"/>
              <a:t>”</a:t>
            </a:r>
            <a:r>
              <a:rPr lang="zh-CN" altLang="en-US"/>
              <a:t>的特征</a:t>
            </a:r>
            <a:endParaRPr lang="zh-CN" altLang="en-US"/>
          </a:p>
          <a:p>
            <a:r>
              <a:rPr lang="en-US" altLang="zh-CN"/>
              <a:t>ControlNet </a:t>
            </a:r>
            <a:r>
              <a:rPr lang="zh-CN" altLang="en-US"/>
              <a:t>的作用：强制模型在</a:t>
            </a:r>
            <a:r>
              <a:rPr lang="en-US" altLang="zh-CN"/>
              <a:t>“TCP </a:t>
            </a:r>
            <a:r>
              <a:rPr lang="zh-CN" altLang="en-US"/>
              <a:t>目的端口</a:t>
            </a:r>
            <a:r>
              <a:rPr lang="en-US" altLang="zh-CN"/>
              <a:t>”</a:t>
            </a:r>
            <a:r>
              <a:rPr lang="zh-CN" altLang="en-US"/>
              <a:t>对应的图像列</a:t>
            </a:r>
            <a:endParaRPr lang="zh-CN" altLang="en-US"/>
          </a:p>
          <a:p>
            <a:r>
              <a:rPr lang="zh-CN" altLang="en-US"/>
              <a:t>协议合规性检查与修正：比如序列号和字段长度校正</a:t>
            </a:r>
            <a:endParaRPr lang="zh-CN" altLang="en-US"/>
          </a:p>
          <a:p>
            <a:endParaRPr lang="zh-CN" altLang="en-US"/>
          </a:p>
          <a:p>
            <a:r>
              <a:rPr lang="en-US" altLang="zh-CN"/>
              <a:t>NetShare</a:t>
            </a:r>
            <a:endParaRPr lang="en-US" altLang="zh-CN"/>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404040"/>
      </a:dk1>
      <a:lt1>
        <a:srgbClr val="FFFFFF"/>
      </a:lt1>
      <a:dk2>
        <a:srgbClr val="000000"/>
      </a:dk2>
      <a:lt2>
        <a:srgbClr val="FFFFFF"/>
      </a:lt2>
      <a:accent1>
        <a:srgbClr val="4C678E"/>
      </a:accent1>
      <a:accent2>
        <a:srgbClr val="6684B0"/>
      </a:accent2>
      <a:accent3>
        <a:srgbClr val="639CD6"/>
      </a:accent3>
      <a:accent4>
        <a:srgbClr val="6EB7F0"/>
      </a:accent4>
      <a:accent5>
        <a:srgbClr val="6991E0"/>
      </a:accent5>
      <a:accent6>
        <a:srgbClr val="9EA2D9"/>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2749</Words>
  <Application>WPS 演示</Application>
  <PresentationFormat>自定义</PresentationFormat>
  <Paragraphs>143</Paragraphs>
  <Slides>14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宋体</vt:lpstr>
      <vt:lpstr>Wingdings</vt:lpstr>
      <vt:lpstr>Arial</vt:lpstr>
      <vt:lpstr>Noto Sans SC</vt:lpstr>
      <vt:lpstr>Segoe Print</vt:lpstr>
      <vt:lpstr>-apple-system</vt:lpstr>
      <vt:lpstr>Calibri</vt:lpstr>
      <vt:lpstr>微软雅黑</vt:lpstr>
      <vt:lpstr>Arial Unicode MS</vt:lpstr>
      <vt:lpstr>BatangChe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枝豆</cp:lastModifiedBy>
  <cp:revision>341</cp:revision>
  <dcterms:created xsi:type="dcterms:W3CDTF">2024-05-28T07:42:00Z</dcterms:created>
  <dcterms:modified xsi:type="dcterms:W3CDTF">2025-11-12T05:18:28Z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FAD24979FD654EF6A71EB33ADB919921_12</vt:lpwstr>
  </property>
  <property fmtid="{D5CDD505-2E9C-101B-9397-08002B2CF9AE}" pid="3" name="KSOProductBuildVer">
    <vt:lpwstr>2052-12.1.0.23125</vt:lpwstr>
  </property>
</Properties>
</file>