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60" r:id="rId2"/>
    <p:sldId id="285" r:id="rId3"/>
    <p:sldId id="269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299" r:id="rId18"/>
  </p:sldIdLst>
  <p:sldSz cx="12192000" cy="6858000"/>
  <p:notesSz cx="6858000" cy="9144000"/>
  <p:embeddedFontLs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  <p:embeddedFont>
      <p:font typeface="黑体" panose="02010609060101010101" pitchFamily="49" charset="-122"/>
      <p:regular r:id="rId2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248" y="808"/>
      </p:cViewPr>
      <p:guideLst>
        <p:guide orient="horz" pos="217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84DFE4-18A2-4A1C-B36D-3590F67219D7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B027B6FB-B1F7-4D1F-BAFB-DB186928E70C}">
      <dgm:prSet phldrT="[文本]" phldr="0"/>
      <dgm:spPr/>
      <dgm:t>
        <a:bodyPr/>
        <a:lstStyle/>
        <a:p>
          <a:r>
            <a:rPr lang="zh-CN" altLang="en-US" dirty="0">
              <a:latin typeface="黑体" panose="02010609060101010101" pitchFamily="49" charset="-122"/>
              <a:ea typeface="黑体" panose="02010609060101010101" pitchFamily="49" charset="-122"/>
            </a:rPr>
            <a:t>历史数据</a:t>
          </a:r>
        </a:p>
      </dgm:t>
    </dgm:pt>
    <dgm:pt modelId="{1673246F-3489-4F46-AF48-6DDF0208333B}" type="parTrans" cxnId="{1DB9C32B-34F4-4220-8264-BAD8F724A518}">
      <dgm:prSet/>
      <dgm:spPr/>
      <dgm:t>
        <a:bodyPr/>
        <a:lstStyle/>
        <a:p>
          <a:endParaRPr lang="zh-CN" altLang="en-US"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93D4C418-7CDD-46DE-8888-3DCB075375E2}" type="sibTrans" cxnId="{1DB9C32B-34F4-4220-8264-BAD8F724A518}">
      <dgm:prSet/>
      <dgm:spPr/>
      <dgm:t>
        <a:bodyPr/>
        <a:lstStyle/>
        <a:p>
          <a:endParaRPr lang="zh-CN" altLang="en-US"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56E0234D-E5A9-4BC8-AAF8-8CB0C1A1415B}">
      <dgm:prSet phldrT="[文本]"/>
      <dgm:spPr/>
      <dgm:t>
        <a:bodyPr/>
        <a:lstStyle/>
        <a:p>
          <a:r>
            <a:rPr lang="zh-CN" altLang="en-US" dirty="0">
              <a:latin typeface="黑体" panose="02010609060101010101" pitchFamily="49" charset="-122"/>
              <a:ea typeface="黑体" panose="02010609060101010101" pitchFamily="49" charset="-122"/>
            </a:rPr>
            <a:t>模型</a:t>
          </a:r>
        </a:p>
      </dgm:t>
    </dgm:pt>
    <dgm:pt modelId="{C7343EE9-2B3A-4E96-9F9E-01B5F9E8B4A5}" type="parTrans" cxnId="{7B5E608E-7880-4832-897F-B28047158C3E}">
      <dgm:prSet/>
      <dgm:spPr/>
      <dgm:t>
        <a:bodyPr/>
        <a:lstStyle/>
        <a:p>
          <a:endParaRPr lang="zh-CN" altLang="en-US"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372F4BCC-3993-4BB0-B142-F0CBFAC0179D}" type="sibTrans" cxnId="{7B5E608E-7880-4832-897F-B28047158C3E}">
      <dgm:prSet/>
      <dgm:spPr/>
      <dgm:t>
        <a:bodyPr/>
        <a:lstStyle/>
        <a:p>
          <a:endParaRPr lang="zh-CN" altLang="en-US"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DAA13397-ECCA-4DBD-90D0-98D4D3F549A1}">
      <dgm:prSet phldrT="[文本]"/>
      <dgm:spPr/>
      <dgm:t>
        <a:bodyPr/>
        <a:lstStyle/>
        <a:p>
          <a:r>
            <a:rPr lang="zh-CN" altLang="en-US" dirty="0">
              <a:latin typeface="黑体" panose="02010609060101010101" pitchFamily="49" charset="-122"/>
              <a:ea typeface="黑体" panose="02010609060101010101" pitchFamily="49" charset="-122"/>
            </a:rPr>
            <a:t>未来预测</a:t>
          </a:r>
        </a:p>
      </dgm:t>
    </dgm:pt>
    <dgm:pt modelId="{2BB4FAEB-AA69-40A5-A392-488F102B6D39}" type="parTrans" cxnId="{9688FE2D-C7FA-459B-A602-4D1B1B9651EC}">
      <dgm:prSet/>
      <dgm:spPr/>
      <dgm:t>
        <a:bodyPr/>
        <a:lstStyle/>
        <a:p>
          <a:endParaRPr lang="zh-CN" altLang="en-US"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BA9A4960-5C51-4622-B154-4339713AC0A0}" type="sibTrans" cxnId="{9688FE2D-C7FA-459B-A602-4D1B1B9651EC}">
      <dgm:prSet/>
      <dgm:spPr/>
      <dgm:t>
        <a:bodyPr/>
        <a:lstStyle/>
        <a:p>
          <a:endParaRPr lang="zh-CN" altLang="en-US"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D4B45902-08D2-4ECA-8139-F3549979741F}" type="pres">
      <dgm:prSet presAssocID="{D784DFE4-18A2-4A1C-B36D-3590F67219D7}" presName="Name0" presStyleCnt="0">
        <dgm:presLayoutVars>
          <dgm:dir/>
          <dgm:animLvl val="lvl"/>
          <dgm:resizeHandles val="exact"/>
        </dgm:presLayoutVars>
      </dgm:prSet>
      <dgm:spPr/>
    </dgm:pt>
    <dgm:pt modelId="{4974F12D-BF1B-4D58-9D45-397A354A12C6}" type="pres">
      <dgm:prSet presAssocID="{B027B6FB-B1F7-4D1F-BAFB-DB186928E70C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A07EAC91-FCDE-4814-ABA1-907283FD3832}" type="pres">
      <dgm:prSet presAssocID="{93D4C418-7CDD-46DE-8888-3DCB075375E2}" presName="parTxOnlySpace" presStyleCnt="0"/>
      <dgm:spPr/>
    </dgm:pt>
    <dgm:pt modelId="{7D7D9C73-907B-4FC5-A9C2-C603ECDDDECF}" type="pres">
      <dgm:prSet presAssocID="{56E0234D-E5A9-4BC8-AAF8-8CB0C1A1415B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EB315D37-B378-4DF1-AFFC-F26013B0EFE5}" type="pres">
      <dgm:prSet presAssocID="{372F4BCC-3993-4BB0-B142-F0CBFAC0179D}" presName="parTxOnlySpace" presStyleCnt="0"/>
      <dgm:spPr/>
    </dgm:pt>
    <dgm:pt modelId="{D15A738F-5427-4711-84C0-53E86150F0F3}" type="pres">
      <dgm:prSet presAssocID="{DAA13397-ECCA-4DBD-90D0-98D4D3F549A1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2B497D04-0DA9-4880-912D-C641D8C57256}" type="presOf" srcId="{56E0234D-E5A9-4BC8-AAF8-8CB0C1A1415B}" destId="{7D7D9C73-907B-4FC5-A9C2-C603ECDDDECF}" srcOrd="0" destOrd="0" presId="urn:microsoft.com/office/officeart/2005/8/layout/chevron1"/>
    <dgm:cxn modelId="{1DB9C32B-34F4-4220-8264-BAD8F724A518}" srcId="{D784DFE4-18A2-4A1C-B36D-3590F67219D7}" destId="{B027B6FB-B1F7-4D1F-BAFB-DB186928E70C}" srcOrd="0" destOrd="0" parTransId="{1673246F-3489-4F46-AF48-6DDF0208333B}" sibTransId="{93D4C418-7CDD-46DE-8888-3DCB075375E2}"/>
    <dgm:cxn modelId="{9688FE2D-C7FA-459B-A602-4D1B1B9651EC}" srcId="{D784DFE4-18A2-4A1C-B36D-3590F67219D7}" destId="{DAA13397-ECCA-4DBD-90D0-98D4D3F549A1}" srcOrd="2" destOrd="0" parTransId="{2BB4FAEB-AA69-40A5-A392-488F102B6D39}" sibTransId="{BA9A4960-5C51-4622-B154-4339713AC0A0}"/>
    <dgm:cxn modelId="{76DE0969-51D0-49CC-8C3F-96E427B598A0}" type="presOf" srcId="{DAA13397-ECCA-4DBD-90D0-98D4D3F549A1}" destId="{D15A738F-5427-4711-84C0-53E86150F0F3}" srcOrd="0" destOrd="0" presId="urn:microsoft.com/office/officeart/2005/8/layout/chevron1"/>
    <dgm:cxn modelId="{4AB2644A-A47B-46B3-A7EB-6E86AF1E4228}" type="presOf" srcId="{D784DFE4-18A2-4A1C-B36D-3590F67219D7}" destId="{D4B45902-08D2-4ECA-8139-F3549979741F}" srcOrd="0" destOrd="0" presId="urn:microsoft.com/office/officeart/2005/8/layout/chevron1"/>
    <dgm:cxn modelId="{7B5E608E-7880-4832-897F-B28047158C3E}" srcId="{D784DFE4-18A2-4A1C-B36D-3590F67219D7}" destId="{56E0234D-E5A9-4BC8-AAF8-8CB0C1A1415B}" srcOrd="1" destOrd="0" parTransId="{C7343EE9-2B3A-4E96-9F9E-01B5F9E8B4A5}" sibTransId="{372F4BCC-3993-4BB0-B142-F0CBFAC0179D}"/>
    <dgm:cxn modelId="{B94792E1-6DBD-47F4-AD9E-B88FE9E5FE43}" type="presOf" srcId="{B027B6FB-B1F7-4D1F-BAFB-DB186928E70C}" destId="{4974F12D-BF1B-4D58-9D45-397A354A12C6}" srcOrd="0" destOrd="0" presId="urn:microsoft.com/office/officeart/2005/8/layout/chevron1"/>
    <dgm:cxn modelId="{2B711718-0DFE-4ACC-86B3-2769ED407592}" type="presParOf" srcId="{D4B45902-08D2-4ECA-8139-F3549979741F}" destId="{4974F12D-BF1B-4D58-9D45-397A354A12C6}" srcOrd="0" destOrd="0" presId="urn:microsoft.com/office/officeart/2005/8/layout/chevron1"/>
    <dgm:cxn modelId="{0754B2C5-3E4A-4DD6-A5BF-5A3632373057}" type="presParOf" srcId="{D4B45902-08D2-4ECA-8139-F3549979741F}" destId="{A07EAC91-FCDE-4814-ABA1-907283FD3832}" srcOrd="1" destOrd="0" presId="urn:microsoft.com/office/officeart/2005/8/layout/chevron1"/>
    <dgm:cxn modelId="{4C06D55D-BC4B-4517-9AD2-15399A088C17}" type="presParOf" srcId="{D4B45902-08D2-4ECA-8139-F3549979741F}" destId="{7D7D9C73-907B-4FC5-A9C2-C603ECDDDECF}" srcOrd="2" destOrd="0" presId="urn:microsoft.com/office/officeart/2005/8/layout/chevron1"/>
    <dgm:cxn modelId="{66340FE7-2062-40EC-9AAC-410F61073689}" type="presParOf" srcId="{D4B45902-08D2-4ECA-8139-F3549979741F}" destId="{EB315D37-B378-4DF1-AFFC-F26013B0EFE5}" srcOrd="3" destOrd="0" presId="urn:microsoft.com/office/officeart/2005/8/layout/chevron1"/>
    <dgm:cxn modelId="{63AEFD94-DB36-447D-B72E-D201808DA0F8}" type="presParOf" srcId="{D4B45902-08D2-4ECA-8139-F3549979741F}" destId="{D15A738F-5427-4711-84C0-53E86150F0F3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74F12D-BF1B-4D58-9D45-397A354A12C6}">
      <dsp:nvSpPr>
        <dsp:cNvPr id="0" name=""/>
        <dsp:cNvSpPr/>
      </dsp:nvSpPr>
      <dsp:spPr>
        <a:xfrm>
          <a:off x="2452" y="0"/>
          <a:ext cx="2988291" cy="61989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018" tIns="46673" rIns="46673" bIns="46673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500" kern="1200" dirty="0">
              <a:latin typeface="黑体" panose="02010609060101010101" pitchFamily="49" charset="-122"/>
              <a:ea typeface="黑体" panose="02010609060101010101" pitchFamily="49" charset="-122"/>
            </a:rPr>
            <a:t>历史数据</a:t>
          </a:r>
        </a:p>
      </dsp:txBody>
      <dsp:txXfrm>
        <a:off x="312402" y="0"/>
        <a:ext cx="2368392" cy="619899"/>
      </dsp:txXfrm>
    </dsp:sp>
    <dsp:sp modelId="{7D7D9C73-907B-4FC5-A9C2-C603ECDDDECF}">
      <dsp:nvSpPr>
        <dsp:cNvPr id="0" name=""/>
        <dsp:cNvSpPr/>
      </dsp:nvSpPr>
      <dsp:spPr>
        <a:xfrm>
          <a:off x="2691915" y="0"/>
          <a:ext cx="2988291" cy="61989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018" tIns="46673" rIns="46673" bIns="46673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500" kern="1200" dirty="0">
              <a:latin typeface="黑体" panose="02010609060101010101" pitchFamily="49" charset="-122"/>
              <a:ea typeface="黑体" panose="02010609060101010101" pitchFamily="49" charset="-122"/>
            </a:rPr>
            <a:t>模型</a:t>
          </a:r>
        </a:p>
      </dsp:txBody>
      <dsp:txXfrm>
        <a:off x="3001865" y="0"/>
        <a:ext cx="2368392" cy="619899"/>
      </dsp:txXfrm>
    </dsp:sp>
    <dsp:sp modelId="{D15A738F-5427-4711-84C0-53E86150F0F3}">
      <dsp:nvSpPr>
        <dsp:cNvPr id="0" name=""/>
        <dsp:cNvSpPr/>
      </dsp:nvSpPr>
      <dsp:spPr>
        <a:xfrm>
          <a:off x="5381378" y="0"/>
          <a:ext cx="2988291" cy="61989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018" tIns="46673" rIns="46673" bIns="46673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500" kern="1200" dirty="0">
              <a:latin typeface="黑体" panose="02010609060101010101" pitchFamily="49" charset="-122"/>
              <a:ea typeface="黑体" panose="02010609060101010101" pitchFamily="49" charset="-122"/>
            </a:rPr>
            <a:t>未来预测</a:t>
          </a:r>
        </a:p>
      </dsp:txBody>
      <dsp:txXfrm>
        <a:off x="5691328" y="0"/>
        <a:ext cx="2368392" cy="6198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</a:pP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现有的工作主要侧重于局部观察，时间戳仅被视为可选补充，仍未充分利用。</a:t>
            </a:r>
            <a:endParaRPr lang="zh-CN" altLang="en-US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>
              <a:lnSpc>
                <a:spcPct val="130000"/>
              </a:lnSpc>
            </a:pP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当从现实世界收集的数据受到污染时，缺乏全局信息，将损害这些算法的鲁棒的预测能力。</a:t>
            </a:r>
            <a:endParaRPr lang="zh-CN" altLang="en-US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B7B7-35F1-4BFE-893A-FB3AB41E4770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1A339-1CDA-40CC-9997-9A163F99DF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B7B7-35F1-4BFE-893A-FB3AB41E4770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1A339-1CDA-40CC-9997-9A163F99DF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B7B7-35F1-4BFE-893A-FB3AB41E4770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1A339-1CDA-40CC-9997-9A163F99DF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B7B7-35F1-4BFE-893A-FB3AB41E4770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1A339-1CDA-40CC-9997-9A163F99DF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B7B7-35F1-4BFE-893A-FB3AB41E4770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1A339-1CDA-40CC-9997-9A163F99DF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B7B7-35F1-4BFE-893A-FB3AB41E4770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1A339-1CDA-40CC-9997-9A163F99DF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B7B7-35F1-4BFE-893A-FB3AB41E4770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1A339-1CDA-40CC-9997-9A163F99DF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B7B7-35F1-4BFE-893A-FB3AB41E4770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1A339-1CDA-40CC-9997-9A163F99DF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B7B7-35F1-4BFE-893A-FB3AB41E4770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1A339-1CDA-40CC-9997-9A163F99DF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B7B7-35F1-4BFE-893A-FB3AB41E4770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1A339-1CDA-40CC-9997-9A163F99DF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B7B7-35F1-4BFE-893A-FB3AB41E4770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1A339-1CDA-40CC-9997-9A163F99DF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5DB7B7-35F1-4BFE-893A-FB3AB41E4770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71A339-1CDA-40CC-9997-9A163F99DF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连接符 10"/>
          <p:cNvCxnSpPr/>
          <p:nvPr/>
        </p:nvCxnSpPr>
        <p:spPr>
          <a:xfrm>
            <a:off x="5505691" y="3771920"/>
            <a:ext cx="1180618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3337560" y="0"/>
            <a:ext cx="5516880" cy="2895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217043" y="6724889"/>
            <a:ext cx="3757914" cy="1331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: 形状 13"/>
          <p:cNvSpPr/>
          <p:nvPr/>
        </p:nvSpPr>
        <p:spPr>
          <a:xfrm rot="5400000">
            <a:off x="6029444" y="5271075"/>
            <a:ext cx="133114" cy="624840"/>
          </a:xfrm>
          <a:custGeom>
            <a:avLst/>
            <a:gdLst>
              <a:gd name="connsiteX0" fmla="*/ 0 w 187181"/>
              <a:gd name="connsiteY0" fmla="*/ 624840 h 624840"/>
              <a:gd name="connsiteX1" fmla="*/ 137160 w 187181"/>
              <a:gd name="connsiteY1" fmla="*/ 312420 h 624840"/>
              <a:gd name="connsiteX2" fmla="*/ 0 w 187181"/>
              <a:gd name="connsiteY2" fmla="*/ 0 h 624840"/>
              <a:gd name="connsiteX3" fmla="*/ 50021 w 187181"/>
              <a:gd name="connsiteY3" fmla="*/ 0 h 624840"/>
              <a:gd name="connsiteX4" fmla="*/ 187181 w 187181"/>
              <a:gd name="connsiteY4" fmla="*/ 312420 h 624840"/>
              <a:gd name="connsiteX5" fmla="*/ 50021 w 187181"/>
              <a:gd name="connsiteY5" fmla="*/ 624840 h 624840"/>
              <a:gd name="connsiteX6" fmla="*/ 0 w 187181"/>
              <a:gd name="connsiteY6" fmla="*/ 624840 h 624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7181" h="624840">
                <a:moveTo>
                  <a:pt x="0" y="624840"/>
                </a:moveTo>
                <a:lnTo>
                  <a:pt x="137160" y="312420"/>
                </a:lnTo>
                <a:lnTo>
                  <a:pt x="0" y="0"/>
                </a:lnTo>
                <a:lnTo>
                  <a:pt x="50021" y="0"/>
                </a:lnTo>
                <a:lnTo>
                  <a:pt x="187181" y="312420"/>
                </a:lnTo>
                <a:lnTo>
                  <a:pt x="50021" y="624840"/>
                </a:lnTo>
                <a:lnTo>
                  <a:pt x="0" y="62484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任意多边形: 形状 16"/>
          <p:cNvSpPr/>
          <p:nvPr/>
        </p:nvSpPr>
        <p:spPr>
          <a:xfrm rot="5400000">
            <a:off x="6022340" y="5173980"/>
            <a:ext cx="147320" cy="624840"/>
          </a:xfrm>
          <a:custGeom>
            <a:avLst/>
            <a:gdLst>
              <a:gd name="connsiteX0" fmla="*/ 0 w 187181"/>
              <a:gd name="connsiteY0" fmla="*/ 624840 h 624840"/>
              <a:gd name="connsiteX1" fmla="*/ 137160 w 187181"/>
              <a:gd name="connsiteY1" fmla="*/ 312420 h 624840"/>
              <a:gd name="connsiteX2" fmla="*/ 0 w 187181"/>
              <a:gd name="connsiteY2" fmla="*/ 0 h 624840"/>
              <a:gd name="connsiteX3" fmla="*/ 50021 w 187181"/>
              <a:gd name="connsiteY3" fmla="*/ 0 h 624840"/>
              <a:gd name="connsiteX4" fmla="*/ 187181 w 187181"/>
              <a:gd name="connsiteY4" fmla="*/ 312420 h 624840"/>
              <a:gd name="connsiteX5" fmla="*/ 50021 w 187181"/>
              <a:gd name="connsiteY5" fmla="*/ 624840 h 624840"/>
              <a:gd name="connsiteX6" fmla="*/ 0 w 187181"/>
              <a:gd name="connsiteY6" fmla="*/ 624840 h 624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7181" h="624840">
                <a:moveTo>
                  <a:pt x="0" y="624840"/>
                </a:moveTo>
                <a:lnTo>
                  <a:pt x="137160" y="312420"/>
                </a:lnTo>
                <a:lnTo>
                  <a:pt x="0" y="0"/>
                </a:lnTo>
                <a:lnTo>
                  <a:pt x="50021" y="0"/>
                </a:lnTo>
                <a:lnTo>
                  <a:pt x="187181" y="312420"/>
                </a:lnTo>
                <a:lnTo>
                  <a:pt x="50021" y="624840"/>
                </a:lnTo>
                <a:lnTo>
                  <a:pt x="0" y="62484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任意多边形: 形状 17"/>
          <p:cNvSpPr/>
          <p:nvPr/>
        </p:nvSpPr>
        <p:spPr>
          <a:xfrm rot="5400000">
            <a:off x="6029444" y="5091091"/>
            <a:ext cx="133114" cy="624840"/>
          </a:xfrm>
          <a:custGeom>
            <a:avLst/>
            <a:gdLst>
              <a:gd name="connsiteX0" fmla="*/ 0 w 187181"/>
              <a:gd name="connsiteY0" fmla="*/ 624840 h 624840"/>
              <a:gd name="connsiteX1" fmla="*/ 137160 w 187181"/>
              <a:gd name="connsiteY1" fmla="*/ 312420 h 624840"/>
              <a:gd name="connsiteX2" fmla="*/ 0 w 187181"/>
              <a:gd name="connsiteY2" fmla="*/ 0 h 624840"/>
              <a:gd name="connsiteX3" fmla="*/ 50021 w 187181"/>
              <a:gd name="connsiteY3" fmla="*/ 0 h 624840"/>
              <a:gd name="connsiteX4" fmla="*/ 187181 w 187181"/>
              <a:gd name="connsiteY4" fmla="*/ 312420 h 624840"/>
              <a:gd name="connsiteX5" fmla="*/ 50021 w 187181"/>
              <a:gd name="connsiteY5" fmla="*/ 624840 h 624840"/>
              <a:gd name="connsiteX6" fmla="*/ 0 w 187181"/>
              <a:gd name="connsiteY6" fmla="*/ 624840 h 624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7181" h="624840">
                <a:moveTo>
                  <a:pt x="0" y="624840"/>
                </a:moveTo>
                <a:lnTo>
                  <a:pt x="137160" y="312420"/>
                </a:lnTo>
                <a:lnTo>
                  <a:pt x="0" y="0"/>
                </a:lnTo>
                <a:lnTo>
                  <a:pt x="50021" y="0"/>
                </a:lnTo>
                <a:lnTo>
                  <a:pt x="187181" y="312420"/>
                </a:lnTo>
                <a:lnTo>
                  <a:pt x="50021" y="624840"/>
                </a:lnTo>
                <a:lnTo>
                  <a:pt x="0" y="62484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168582" y="4283916"/>
            <a:ext cx="2479675" cy="5156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800" dirty="0">
                <a:latin typeface="Times New Roman" panose="02020603050405020304" charset="0"/>
                <a:cs typeface="Times New Roman" panose="02020603050405020304" charset="0"/>
              </a:rPr>
              <a:t>ICDE 2025</a:t>
            </a:r>
            <a:endParaRPr lang="zh-CN" alt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2" descr="电子科技大学 的图像结果">
            <a:extLst>
              <a:ext uri="{FF2B5EF4-FFF2-40B4-BE49-F238E27FC236}">
                <a16:creationId xmlns:a16="http://schemas.microsoft.com/office/drawing/2014/main" id="{3CF558C6-B006-6C44-0B96-54BD81BADC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2" t="14367" r="23565" b="15598"/>
          <a:stretch>
            <a:fillRect/>
          </a:stretch>
        </p:blipFill>
        <p:spPr bwMode="auto">
          <a:xfrm>
            <a:off x="10573305" y="53148"/>
            <a:ext cx="1225119" cy="123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47DF9F92-9116-37E4-697B-E434FDA366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311" y="1493671"/>
            <a:ext cx="11531064" cy="1655762"/>
          </a:xfrm>
        </p:spPr>
        <p:txBody>
          <a:bodyPr>
            <a:normAutofit/>
          </a:bodyPr>
          <a:lstStyle/>
          <a:p>
            <a:br>
              <a:rPr lang="en-US" altLang="zh-CN" sz="36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Multivariate Time Series Forecasting via Calibrated Language Models with Privileged Knowledge Distillation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9633A88-9263-4267-C921-D8636754A558}"/>
              </a:ext>
            </a:extLst>
          </p:cNvPr>
          <p:cNvSpPr txBox="1"/>
          <p:nvPr/>
        </p:nvSpPr>
        <p:spPr>
          <a:xfrm>
            <a:off x="4794820" y="5880864"/>
            <a:ext cx="2928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汇报人：姜睿临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3"/>
          <p:cNvSpPr/>
          <p:nvPr/>
        </p:nvSpPr>
        <p:spPr>
          <a:xfrm rot="16200000">
            <a:off x="105225" y="333863"/>
            <a:ext cx="688050" cy="899954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899228" y="501562"/>
            <a:ext cx="3009207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研究背景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0EAC8AF-0C60-7433-C64B-48446F818F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33" t="-164"/>
          <a:stretch>
            <a:fillRect/>
          </a:stretch>
        </p:blipFill>
        <p:spPr>
          <a:xfrm>
            <a:off x="2615953" y="1086337"/>
            <a:ext cx="6190695" cy="4353780"/>
          </a:xfrm>
          <a:prstGeom prst="rect">
            <a:avLst/>
          </a:prstGeom>
        </p:spPr>
      </p:pic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0DC687FB-A662-9799-3D50-ABF1856646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9638055"/>
              </p:ext>
            </p:extLst>
          </p:nvPr>
        </p:nvGraphicFramePr>
        <p:xfrm>
          <a:off x="1730665" y="5736539"/>
          <a:ext cx="8372123" cy="6198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2" descr="电子科技大学 的图像结果">
            <a:extLst>
              <a:ext uri="{FF2B5EF4-FFF2-40B4-BE49-F238E27FC236}">
                <a16:creationId xmlns:a16="http://schemas.microsoft.com/office/drawing/2014/main" id="{07C80862-FDB8-FF00-44D9-6B1EEB2214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2" t="14367" r="23565" b="15598"/>
          <a:stretch>
            <a:fillRect/>
          </a:stretch>
        </p:blipFill>
        <p:spPr bwMode="auto">
          <a:xfrm>
            <a:off x="10573305" y="53148"/>
            <a:ext cx="1225119" cy="123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3"/>
          <p:cNvSpPr/>
          <p:nvPr/>
        </p:nvSpPr>
        <p:spPr>
          <a:xfrm rot="16200000">
            <a:off x="105225" y="333863"/>
            <a:ext cx="688050" cy="899954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132478" y="543090"/>
            <a:ext cx="4321424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从传统模型到</a:t>
            </a:r>
            <a:r>
              <a:rPr lang="en-US" altLang="zh-CN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LLM</a:t>
            </a:r>
            <a:endParaRPr lang="zh-CN" altLang="en-US" sz="3200" dirty="0">
              <a:solidFill>
                <a:schemeClr val="accent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C716669-A5AD-C61B-005F-34608D019C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776"/>
          <a:stretch>
            <a:fillRect/>
          </a:stretch>
        </p:blipFill>
        <p:spPr>
          <a:xfrm>
            <a:off x="324853" y="2021306"/>
            <a:ext cx="11356392" cy="26289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BD79FD8-12F9-87EA-60AF-53CAA5A5C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478" y="5257183"/>
            <a:ext cx="8388247" cy="1005831"/>
          </a:xfrm>
          <a:prstGeom prst="rect">
            <a:avLst/>
          </a:prstGeom>
        </p:spPr>
      </p:pic>
      <p:pic>
        <p:nvPicPr>
          <p:cNvPr id="10" name="Picture 2" descr="电子科技大学 的图像结果">
            <a:extLst>
              <a:ext uri="{FF2B5EF4-FFF2-40B4-BE49-F238E27FC236}">
                <a16:creationId xmlns:a16="http://schemas.microsoft.com/office/drawing/2014/main" id="{1FFF86DF-37CE-174D-85B6-D8C66CDDAA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2" t="14367" r="23565" b="15598"/>
          <a:stretch>
            <a:fillRect/>
          </a:stretch>
        </p:blipFill>
        <p:spPr bwMode="auto">
          <a:xfrm>
            <a:off x="10573305" y="53148"/>
            <a:ext cx="1225119" cy="123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73212-43EB-D32C-5352-93F4F064F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3">
            <a:extLst>
              <a:ext uri="{FF2B5EF4-FFF2-40B4-BE49-F238E27FC236}">
                <a16:creationId xmlns:a16="http://schemas.microsoft.com/office/drawing/2014/main" id="{E43578C0-B115-5D95-E3A8-7B3B84B98084}"/>
              </a:ext>
            </a:extLst>
          </p:cNvPr>
          <p:cNvSpPr/>
          <p:nvPr/>
        </p:nvSpPr>
        <p:spPr>
          <a:xfrm rot="16200000">
            <a:off x="105225" y="333863"/>
            <a:ext cx="688050" cy="899954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D7FA9B9-1FC2-0966-0008-A8112949FEE3}"/>
              </a:ext>
            </a:extLst>
          </p:cNvPr>
          <p:cNvSpPr txBox="1"/>
          <p:nvPr/>
        </p:nvSpPr>
        <p:spPr>
          <a:xfrm>
            <a:off x="1005178" y="491451"/>
            <a:ext cx="4321424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研究动机与挑战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1DCF82F-3F41-D765-DF50-183CD1CB5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995" y="1636508"/>
            <a:ext cx="9812009" cy="4613980"/>
          </a:xfrm>
          <a:prstGeom prst="rect">
            <a:avLst/>
          </a:prstGeom>
        </p:spPr>
      </p:pic>
      <p:pic>
        <p:nvPicPr>
          <p:cNvPr id="5" name="Picture 2" descr="电子科技大学 的图像结果">
            <a:extLst>
              <a:ext uri="{FF2B5EF4-FFF2-40B4-BE49-F238E27FC236}">
                <a16:creationId xmlns:a16="http://schemas.microsoft.com/office/drawing/2014/main" id="{4F6ED126-77E3-4C49-7E38-C1A1D666C5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2" t="14367" r="23565" b="15598"/>
          <a:stretch>
            <a:fillRect/>
          </a:stretch>
        </p:blipFill>
        <p:spPr bwMode="auto">
          <a:xfrm>
            <a:off x="10573305" y="53148"/>
            <a:ext cx="1225119" cy="123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5038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86C29-21D1-2AFB-468C-AF424E613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3">
            <a:extLst>
              <a:ext uri="{FF2B5EF4-FFF2-40B4-BE49-F238E27FC236}">
                <a16:creationId xmlns:a16="http://schemas.microsoft.com/office/drawing/2014/main" id="{7F5FBF37-6A2C-431C-701D-9F160018E876}"/>
              </a:ext>
            </a:extLst>
          </p:cNvPr>
          <p:cNvSpPr/>
          <p:nvPr/>
        </p:nvSpPr>
        <p:spPr>
          <a:xfrm rot="16200000">
            <a:off x="105225" y="333863"/>
            <a:ext cx="688050" cy="899954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DDDFCB-10E2-5A00-9ECC-B83E60B6A7B1}"/>
              </a:ext>
            </a:extLst>
          </p:cNvPr>
          <p:cNvSpPr txBox="1"/>
          <p:nvPr/>
        </p:nvSpPr>
        <p:spPr>
          <a:xfrm>
            <a:off x="1005178" y="491451"/>
            <a:ext cx="4321424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3200" dirty="0" err="1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TimeKD</a:t>
            </a:r>
            <a:r>
              <a:rPr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框架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A8368DA-CF69-0779-CF1D-6CB959430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82" y="1135919"/>
            <a:ext cx="11733196" cy="5452771"/>
          </a:xfrm>
          <a:prstGeom prst="rect">
            <a:avLst/>
          </a:prstGeom>
        </p:spPr>
      </p:pic>
      <p:pic>
        <p:nvPicPr>
          <p:cNvPr id="9" name="Picture 2" descr="电子科技大学 的图像结果">
            <a:extLst>
              <a:ext uri="{FF2B5EF4-FFF2-40B4-BE49-F238E27FC236}">
                <a16:creationId xmlns:a16="http://schemas.microsoft.com/office/drawing/2014/main" id="{2FD67011-950D-2F20-4985-98EA1A976F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2" t="14367" r="23565" b="15598"/>
          <a:stretch>
            <a:fillRect/>
          </a:stretch>
        </p:blipFill>
        <p:spPr bwMode="auto">
          <a:xfrm>
            <a:off x="10573305" y="53148"/>
            <a:ext cx="1225119" cy="123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474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D98A0-09C9-F15A-F781-85FF4C6BF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3">
            <a:extLst>
              <a:ext uri="{FF2B5EF4-FFF2-40B4-BE49-F238E27FC236}">
                <a16:creationId xmlns:a16="http://schemas.microsoft.com/office/drawing/2014/main" id="{E6D355C9-44DA-227D-3FF1-C825854BABE0}"/>
              </a:ext>
            </a:extLst>
          </p:cNvPr>
          <p:cNvSpPr/>
          <p:nvPr/>
        </p:nvSpPr>
        <p:spPr>
          <a:xfrm rot="16200000">
            <a:off x="105225" y="333863"/>
            <a:ext cx="688050" cy="899954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086EF5A-795D-D6C0-10E0-F42CF41820C8}"/>
              </a:ext>
            </a:extLst>
          </p:cNvPr>
          <p:cNvSpPr txBox="1"/>
          <p:nvPr/>
        </p:nvSpPr>
        <p:spPr>
          <a:xfrm>
            <a:off x="1005178" y="491451"/>
            <a:ext cx="4321424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Student Model</a:t>
            </a:r>
            <a:endParaRPr lang="zh-CN" altLang="en-US" sz="3200" dirty="0">
              <a:solidFill>
                <a:schemeClr val="accent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E5B21AD-E1FF-0B13-10DF-3EDF20A44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1059"/>
            <a:ext cx="11875041" cy="213440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B7DD573-73F3-3AEA-2EC2-A220EF8BE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821" y="3375462"/>
            <a:ext cx="8427830" cy="3549007"/>
          </a:xfrm>
          <a:prstGeom prst="rect">
            <a:avLst/>
          </a:prstGeom>
        </p:spPr>
      </p:pic>
      <p:pic>
        <p:nvPicPr>
          <p:cNvPr id="12" name="Picture 2" descr="电子科技大学 的图像结果">
            <a:extLst>
              <a:ext uri="{FF2B5EF4-FFF2-40B4-BE49-F238E27FC236}">
                <a16:creationId xmlns:a16="http://schemas.microsoft.com/office/drawing/2014/main" id="{433F499F-774D-8958-0690-E1CA0FF0F9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2" t="14367" r="23565" b="15598"/>
          <a:stretch>
            <a:fillRect/>
          </a:stretch>
        </p:blipFill>
        <p:spPr bwMode="auto">
          <a:xfrm>
            <a:off x="10573305" y="53148"/>
            <a:ext cx="1225119" cy="123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8482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13214-A46C-1F5D-68D0-7A5A6E367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3">
            <a:extLst>
              <a:ext uri="{FF2B5EF4-FFF2-40B4-BE49-F238E27FC236}">
                <a16:creationId xmlns:a16="http://schemas.microsoft.com/office/drawing/2014/main" id="{DAC16AC7-BB98-C1AA-707D-CAA28ED1E418}"/>
              </a:ext>
            </a:extLst>
          </p:cNvPr>
          <p:cNvSpPr/>
          <p:nvPr/>
        </p:nvSpPr>
        <p:spPr>
          <a:xfrm rot="16200000">
            <a:off x="105225" y="333863"/>
            <a:ext cx="688050" cy="899954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B9BD722-8FD1-C756-8BFA-1B6207CBDFA5}"/>
              </a:ext>
            </a:extLst>
          </p:cNvPr>
          <p:cNvSpPr txBox="1"/>
          <p:nvPr/>
        </p:nvSpPr>
        <p:spPr>
          <a:xfrm>
            <a:off x="1005178" y="491451"/>
            <a:ext cx="8918468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Cross-Modality Teacher Model</a:t>
            </a:r>
            <a:r>
              <a:rPr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（跨模态教师）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E8B7A60-C958-C6BF-8FA4-B02D1767E9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14" t="3955" r="2568" b="3149"/>
          <a:stretch>
            <a:fillRect/>
          </a:stretch>
        </p:blipFill>
        <p:spPr>
          <a:xfrm>
            <a:off x="-728" y="2078711"/>
            <a:ext cx="4261442" cy="228153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7D386F9-4A02-6095-B34D-6962C5352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714" y="1646696"/>
            <a:ext cx="8011496" cy="3887830"/>
          </a:xfrm>
          <a:prstGeom prst="rect">
            <a:avLst/>
          </a:prstGeom>
        </p:spPr>
      </p:pic>
      <p:pic>
        <p:nvPicPr>
          <p:cNvPr id="13" name="Picture 2" descr="电子科技大学 的图像结果">
            <a:extLst>
              <a:ext uri="{FF2B5EF4-FFF2-40B4-BE49-F238E27FC236}">
                <a16:creationId xmlns:a16="http://schemas.microsoft.com/office/drawing/2014/main" id="{64B52933-8C73-356D-994E-F9792A3060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2" t="14367" r="23565" b="15598"/>
          <a:stretch>
            <a:fillRect/>
          </a:stretch>
        </p:blipFill>
        <p:spPr bwMode="auto">
          <a:xfrm>
            <a:off x="10573305" y="53148"/>
            <a:ext cx="1225119" cy="123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4150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DB6B7-734A-284F-5548-8694979FC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3">
            <a:extLst>
              <a:ext uri="{FF2B5EF4-FFF2-40B4-BE49-F238E27FC236}">
                <a16:creationId xmlns:a16="http://schemas.microsoft.com/office/drawing/2014/main" id="{2BB71C97-0133-1982-F4FB-8EA7D817C3E4}"/>
              </a:ext>
            </a:extLst>
          </p:cNvPr>
          <p:cNvSpPr/>
          <p:nvPr/>
        </p:nvSpPr>
        <p:spPr>
          <a:xfrm rot="16200000">
            <a:off x="105225" y="333863"/>
            <a:ext cx="688050" cy="899954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33C0D6E-A5D8-0110-51A2-CC36E55C68E4}"/>
              </a:ext>
            </a:extLst>
          </p:cNvPr>
          <p:cNvSpPr txBox="1"/>
          <p:nvPr/>
        </p:nvSpPr>
        <p:spPr>
          <a:xfrm>
            <a:off x="1005177" y="491451"/>
            <a:ext cx="9380482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Calibrated Language Model</a:t>
            </a:r>
            <a:r>
              <a:rPr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（校准语言模型）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33275F9-23A5-6CA8-64EA-2C934E96CD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59" t="-329"/>
          <a:stretch>
            <a:fillRect/>
          </a:stretch>
        </p:blipFill>
        <p:spPr>
          <a:xfrm>
            <a:off x="4400445" y="1476607"/>
            <a:ext cx="7791555" cy="432742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1207B3D-9A59-55A1-B0A2-68E3A0B12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30963"/>
            <a:ext cx="4426177" cy="4565885"/>
          </a:xfrm>
          <a:prstGeom prst="rect">
            <a:avLst/>
          </a:prstGeom>
        </p:spPr>
      </p:pic>
      <p:pic>
        <p:nvPicPr>
          <p:cNvPr id="13" name="Picture 2" descr="电子科技大学 的图像结果">
            <a:extLst>
              <a:ext uri="{FF2B5EF4-FFF2-40B4-BE49-F238E27FC236}">
                <a16:creationId xmlns:a16="http://schemas.microsoft.com/office/drawing/2014/main" id="{BEA4CAC9-B543-4779-2711-F48FAFF638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2" t="14367" r="23565" b="15598"/>
          <a:stretch>
            <a:fillRect/>
          </a:stretch>
        </p:blipFill>
        <p:spPr bwMode="auto">
          <a:xfrm>
            <a:off x="10573305" y="53148"/>
            <a:ext cx="1225119" cy="123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4932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4C90C-365F-5AE7-30A4-96A4BB526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3">
            <a:extLst>
              <a:ext uri="{FF2B5EF4-FFF2-40B4-BE49-F238E27FC236}">
                <a16:creationId xmlns:a16="http://schemas.microsoft.com/office/drawing/2014/main" id="{C6471462-6390-EFAE-5D0F-96CABA129E4B}"/>
              </a:ext>
            </a:extLst>
          </p:cNvPr>
          <p:cNvSpPr/>
          <p:nvPr/>
        </p:nvSpPr>
        <p:spPr>
          <a:xfrm rot="16200000">
            <a:off x="105225" y="333863"/>
            <a:ext cx="688050" cy="899954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8DCDB6C-32AE-30E6-8DC8-85095FF39C88}"/>
              </a:ext>
            </a:extLst>
          </p:cNvPr>
          <p:cNvSpPr txBox="1"/>
          <p:nvPr/>
        </p:nvSpPr>
        <p:spPr>
          <a:xfrm>
            <a:off x="1005177" y="491451"/>
            <a:ext cx="9380482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Subtractive Cross Attention</a:t>
            </a:r>
            <a:r>
              <a:rPr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（减法交叉注意力）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67D484D-34EC-A7EA-18F1-6E8F637C2B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627" t="8485" r="1627"/>
          <a:stretch>
            <a:fillRect/>
          </a:stretch>
        </p:blipFill>
        <p:spPr>
          <a:xfrm>
            <a:off x="2257946" y="1076226"/>
            <a:ext cx="6874943" cy="261457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BBAFDE4-8FB5-B226-9021-9AB482430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60650"/>
            <a:ext cx="7093246" cy="250589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CEFDB27-FE35-A523-6D0F-0DACE212B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7781" y="3969859"/>
            <a:ext cx="6484219" cy="1397460"/>
          </a:xfrm>
          <a:prstGeom prst="rect">
            <a:avLst/>
          </a:prstGeom>
        </p:spPr>
      </p:pic>
      <p:pic>
        <p:nvPicPr>
          <p:cNvPr id="11" name="Picture 2" descr="电子科技大学 的图像结果">
            <a:extLst>
              <a:ext uri="{FF2B5EF4-FFF2-40B4-BE49-F238E27FC236}">
                <a16:creationId xmlns:a16="http://schemas.microsoft.com/office/drawing/2014/main" id="{C709BC1F-BE4D-FB02-676F-6ED9BA4D88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2" t="14367" r="23565" b="15598"/>
          <a:stretch>
            <a:fillRect/>
          </a:stretch>
        </p:blipFill>
        <p:spPr bwMode="auto">
          <a:xfrm>
            <a:off x="10573305" y="53148"/>
            <a:ext cx="1225119" cy="123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1374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B970C-FA25-FE2B-CDA3-9F6B079BA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3">
            <a:extLst>
              <a:ext uri="{FF2B5EF4-FFF2-40B4-BE49-F238E27FC236}">
                <a16:creationId xmlns:a16="http://schemas.microsoft.com/office/drawing/2014/main" id="{42DBAB34-7300-79E5-27EC-65FA9BA72ECC}"/>
              </a:ext>
            </a:extLst>
          </p:cNvPr>
          <p:cNvSpPr/>
          <p:nvPr/>
        </p:nvSpPr>
        <p:spPr>
          <a:xfrm rot="16200000">
            <a:off x="105225" y="333863"/>
            <a:ext cx="688050" cy="899954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0996DFC-2B68-D2C1-1F0C-E4E752530737}"/>
              </a:ext>
            </a:extLst>
          </p:cNvPr>
          <p:cNvSpPr txBox="1"/>
          <p:nvPr/>
        </p:nvSpPr>
        <p:spPr>
          <a:xfrm>
            <a:off x="1005177" y="491451"/>
            <a:ext cx="8947345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Privileged Knowledge Distillation</a:t>
            </a:r>
            <a:r>
              <a:rPr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（特权知识蒸馏）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3707335-085A-0D28-C447-CB121A8128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9" t="3670" r="2223" b="1855"/>
          <a:stretch>
            <a:fillRect/>
          </a:stretch>
        </p:blipFill>
        <p:spPr>
          <a:xfrm>
            <a:off x="2979860" y="2490104"/>
            <a:ext cx="9212140" cy="244986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A1FF790-84E4-2290-46E9-0CED893461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65" r="3112"/>
          <a:stretch>
            <a:fillRect/>
          </a:stretch>
        </p:blipFill>
        <p:spPr>
          <a:xfrm>
            <a:off x="-728" y="1684422"/>
            <a:ext cx="2980588" cy="4293006"/>
          </a:xfrm>
          <a:prstGeom prst="rect">
            <a:avLst/>
          </a:prstGeom>
        </p:spPr>
      </p:pic>
      <p:pic>
        <p:nvPicPr>
          <p:cNvPr id="11" name="Picture 2" descr="电子科技大学 的图像结果">
            <a:extLst>
              <a:ext uri="{FF2B5EF4-FFF2-40B4-BE49-F238E27FC236}">
                <a16:creationId xmlns:a16="http://schemas.microsoft.com/office/drawing/2014/main" id="{FA3E433E-E2DD-1038-8E0D-42BDAE6F94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2" t="14367" r="23565" b="15598"/>
          <a:stretch>
            <a:fillRect/>
          </a:stretch>
        </p:blipFill>
        <p:spPr bwMode="auto">
          <a:xfrm>
            <a:off x="10573305" y="53148"/>
            <a:ext cx="1225119" cy="123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8110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DC0DE-826E-FA6E-D2E2-4095EB202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3">
            <a:extLst>
              <a:ext uri="{FF2B5EF4-FFF2-40B4-BE49-F238E27FC236}">
                <a16:creationId xmlns:a16="http://schemas.microsoft.com/office/drawing/2014/main" id="{0E2134AC-C6B3-CE1E-F41D-9ECA4F70EB44}"/>
              </a:ext>
            </a:extLst>
          </p:cNvPr>
          <p:cNvSpPr/>
          <p:nvPr/>
        </p:nvSpPr>
        <p:spPr>
          <a:xfrm rot="16200000">
            <a:off x="105225" y="333863"/>
            <a:ext cx="688050" cy="899954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3F729BB-880A-66BB-D983-AEBD33402943}"/>
              </a:ext>
            </a:extLst>
          </p:cNvPr>
          <p:cNvSpPr txBox="1"/>
          <p:nvPr/>
        </p:nvSpPr>
        <p:spPr>
          <a:xfrm>
            <a:off x="1005177" y="491451"/>
            <a:ext cx="8947345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消融实验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E9881E2-C687-A86F-41B4-6F5CF2216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161" y="963077"/>
            <a:ext cx="6805468" cy="5692425"/>
          </a:xfrm>
          <a:prstGeom prst="rect">
            <a:avLst/>
          </a:prstGeom>
        </p:spPr>
      </p:pic>
      <p:pic>
        <p:nvPicPr>
          <p:cNvPr id="5" name="Picture 2" descr="电子科技大学 的图像结果">
            <a:extLst>
              <a:ext uri="{FF2B5EF4-FFF2-40B4-BE49-F238E27FC236}">
                <a16:creationId xmlns:a16="http://schemas.microsoft.com/office/drawing/2014/main" id="{46D5682A-8166-D828-9E43-F033730656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2" t="14367" r="23565" b="15598"/>
          <a:stretch>
            <a:fillRect/>
          </a:stretch>
        </p:blipFill>
        <p:spPr bwMode="auto">
          <a:xfrm>
            <a:off x="10573305" y="53148"/>
            <a:ext cx="1225119" cy="123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6983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83138-6BDC-B252-9970-7BE870611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3">
            <a:extLst>
              <a:ext uri="{FF2B5EF4-FFF2-40B4-BE49-F238E27FC236}">
                <a16:creationId xmlns:a16="http://schemas.microsoft.com/office/drawing/2014/main" id="{20556C93-237F-E189-76BB-0BBCB2DA4ADD}"/>
              </a:ext>
            </a:extLst>
          </p:cNvPr>
          <p:cNvSpPr/>
          <p:nvPr/>
        </p:nvSpPr>
        <p:spPr>
          <a:xfrm rot="16200000">
            <a:off x="105225" y="333863"/>
            <a:ext cx="688050" cy="899954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241D756-3C84-195E-03BE-76D94E327B94}"/>
              </a:ext>
            </a:extLst>
          </p:cNvPr>
          <p:cNvSpPr txBox="1"/>
          <p:nvPr/>
        </p:nvSpPr>
        <p:spPr>
          <a:xfrm>
            <a:off x="1005177" y="491451"/>
            <a:ext cx="8947345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数据集对比实验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44E4DE3-5B82-38FC-3FB1-CF58C344C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395" y="1127865"/>
            <a:ext cx="6352980" cy="5554235"/>
          </a:xfrm>
          <a:prstGeom prst="rect">
            <a:avLst/>
          </a:prstGeom>
        </p:spPr>
      </p:pic>
      <p:pic>
        <p:nvPicPr>
          <p:cNvPr id="10" name="Picture 2" descr="电子科技大学 的图像结果">
            <a:extLst>
              <a:ext uri="{FF2B5EF4-FFF2-40B4-BE49-F238E27FC236}">
                <a16:creationId xmlns:a16="http://schemas.microsoft.com/office/drawing/2014/main" id="{D6AD4A2F-7446-5C0D-A8BB-34627E9B9F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2" t="14367" r="23565" b="15598"/>
          <a:stretch>
            <a:fillRect/>
          </a:stretch>
        </p:blipFill>
        <p:spPr bwMode="auto">
          <a:xfrm>
            <a:off x="10573305" y="53148"/>
            <a:ext cx="1225119" cy="123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379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6E208-1016-C76A-D22D-81ACB33CF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3">
            <a:extLst>
              <a:ext uri="{FF2B5EF4-FFF2-40B4-BE49-F238E27FC236}">
                <a16:creationId xmlns:a16="http://schemas.microsoft.com/office/drawing/2014/main" id="{C5F880FD-8E10-168A-D6E6-74B10E4AAF8A}"/>
              </a:ext>
            </a:extLst>
          </p:cNvPr>
          <p:cNvSpPr/>
          <p:nvPr/>
        </p:nvSpPr>
        <p:spPr>
          <a:xfrm rot="16200000">
            <a:off x="105225" y="333863"/>
            <a:ext cx="688050" cy="899954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215A30A-65F0-5379-4583-77ECCACA9BC2}"/>
              </a:ext>
            </a:extLst>
          </p:cNvPr>
          <p:cNvSpPr txBox="1"/>
          <p:nvPr/>
        </p:nvSpPr>
        <p:spPr>
          <a:xfrm>
            <a:off x="1005177" y="491451"/>
            <a:ext cx="8947345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模块对比实验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C613A0C-13F5-666F-622E-766E9AC7D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703" y="1424410"/>
            <a:ext cx="5702593" cy="5029458"/>
          </a:xfrm>
          <a:prstGeom prst="rect">
            <a:avLst/>
          </a:prstGeom>
        </p:spPr>
      </p:pic>
      <p:pic>
        <p:nvPicPr>
          <p:cNvPr id="2" name="Picture 2" descr="电子科技大学 的图像结果">
            <a:extLst>
              <a:ext uri="{FF2B5EF4-FFF2-40B4-BE49-F238E27FC236}">
                <a16:creationId xmlns:a16="http://schemas.microsoft.com/office/drawing/2014/main" id="{6EC98D71-DA51-82B5-E545-A01A94CC3C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2" t="14367" r="23565" b="15598"/>
          <a:stretch>
            <a:fillRect/>
          </a:stretch>
        </p:blipFill>
        <p:spPr bwMode="auto">
          <a:xfrm>
            <a:off x="10573305" y="53148"/>
            <a:ext cx="1225119" cy="123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137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C4B24-12F2-08F4-B106-547ECFBF5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3">
            <a:extLst>
              <a:ext uri="{FF2B5EF4-FFF2-40B4-BE49-F238E27FC236}">
                <a16:creationId xmlns:a16="http://schemas.microsoft.com/office/drawing/2014/main" id="{05511077-35EF-8254-6C71-59D8C878401C}"/>
              </a:ext>
            </a:extLst>
          </p:cNvPr>
          <p:cNvSpPr/>
          <p:nvPr/>
        </p:nvSpPr>
        <p:spPr>
          <a:xfrm rot="16200000">
            <a:off x="105225" y="333863"/>
            <a:ext cx="688050" cy="899954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245A346-BF85-1680-9712-D3F8FD873D57}"/>
              </a:ext>
            </a:extLst>
          </p:cNvPr>
          <p:cNvSpPr txBox="1"/>
          <p:nvPr/>
        </p:nvSpPr>
        <p:spPr>
          <a:xfrm>
            <a:off x="1005177" y="491451"/>
            <a:ext cx="8947345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注意力图及表征图对比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90E63A5-6822-EF59-98C3-05BDF1680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23" y="1835068"/>
            <a:ext cx="5620039" cy="318786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D53BAEE-8D31-C63B-46B9-78EFF13EC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3531" y="1711236"/>
            <a:ext cx="5480332" cy="3435527"/>
          </a:xfrm>
          <a:prstGeom prst="rect">
            <a:avLst/>
          </a:prstGeom>
        </p:spPr>
      </p:pic>
      <p:pic>
        <p:nvPicPr>
          <p:cNvPr id="9" name="Picture 2" descr="电子科技大学 的图像结果">
            <a:extLst>
              <a:ext uri="{FF2B5EF4-FFF2-40B4-BE49-F238E27FC236}">
                <a16:creationId xmlns:a16="http://schemas.microsoft.com/office/drawing/2014/main" id="{0F37FE0B-FD3A-5524-74EE-6A0DE830B7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2" t="14367" r="23565" b="15598"/>
          <a:stretch>
            <a:fillRect/>
          </a:stretch>
        </p:blipFill>
        <p:spPr bwMode="auto">
          <a:xfrm>
            <a:off x="10573305" y="53148"/>
            <a:ext cx="1225119" cy="123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589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8B3DB-C2FA-844C-FB9C-B14B648D4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3">
            <a:extLst>
              <a:ext uri="{FF2B5EF4-FFF2-40B4-BE49-F238E27FC236}">
                <a16:creationId xmlns:a16="http://schemas.microsoft.com/office/drawing/2014/main" id="{1F7DF93D-748D-0038-B699-7DBBF3026E9D}"/>
              </a:ext>
            </a:extLst>
          </p:cNvPr>
          <p:cNvSpPr/>
          <p:nvPr/>
        </p:nvSpPr>
        <p:spPr>
          <a:xfrm rot="16200000">
            <a:off x="105225" y="333863"/>
            <a:ext cx="688050" cy="899954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71AE129-6FCF-690E-63CC-93048EE376DA}"/>
              </a:ext>
            </a:extLst>
          </p:cNvPr>
          <p:cNvSpPr txBox="1"/>
          <p:nvPr/>
        </p:nvSpPr>
        <p:spPr>
          <a:xfrm>
            <a:off x="1062232" y="543090"/>
            <a:ext cx="8947345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Long-term Forecasting</a:t>
            </a:r>
            <a:endParaRPr lang="zh-CN" altLang="en-US" sz="3200" dirty="0">
              <a:solidFill>
                <a:schemeClr val="accent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8A21C08-355B-3465-4A27-F917AA3F4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375" y="1653452"/>
            <a:ext cx="8709823" cy="269489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1362E35-A782-839E-EFF7-6A3FC27A7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232" y="5204548"/>
            <a:ext cx="10067536" cy="427739"/>
          </a:xfrm>
          <a:prstGeom prst="rect">
            <a:avLst/>
          </a:prstGeom>
        </p:spPr>
      </p:pic>
      <p:pic>
        <p:nvPicPr>
          <p:cNvPr id="10" name="Picture 2" descr="电子科技大学 的图像结果">
            <a:extLst>
              <a:ext uri="{FF2B5EF4-FFF2-40B4-BE49-F238E27FC236}">
                <a16:creationId xmlns:a16="http://schemas.microsoft.com/office/drawing/2014/main" id="{AF23A398-E47F-147D-DCD0-F2CEED3970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2" t="14367" r="23565" b="15598"/>
          <a:stretch>
            <a:fillRect/>
          </a:stretch>
        </p:blipFill>
        <p:spPr bwMode="auto">
          <a:xfrm>
            <a:off x="10573305" y="53148"/>
            <a:ext cx="1225119" cy="123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9818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43ACD-380F-2ABF-65A2-76A193E41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3">
            <a:extLst>
              <a:ext uri="{FF2B5EF4-FFF2-40B4-BE49-F238E27FC236}">
                <a16:creationId xmlns:a16="http://schemas.microsoft.com/office/drawing/2014/main" id="{17CBD096-259F-9A0D-A753-23F8E8636D9C}"/>
              </a:ext>
            </a:extLst>
          </p:cNvPr>
          <p:cNvSpPr/>
          <p:nvPr/>
        </p:nvSpPr>
        <p:spPr>
          <a:xfrm rot="16200000">
            <a:off x="105225" y="333863"/>
            <a:ext cx="688050" cy="899954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10A5D7B-F16C-FD6A-33FA-49D10C585DE3}"/>
              </a:ext>
            </a:extLst>
          </p:cNvPr>
          <p:cNvSpPr txBox="1"/>
          <p:nvPr/>
        </p:nvSpPr>
        <p:spPr>
          <a:xfrm>
            <a:off x="1005177" y="491451"/>
            <a:ext cx="8947345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Few-shot</a:t>
            </a:r>
            <a:r>
              <a:rPr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Zero-shot</a:t>
            </a:r>
            <a:endParaRPr lang="zh-CN" altLang="en-US" sz="3200" dirty="0">
              <a:solidFill>
                <a:schemeClr val="accent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06FA0A1-6540-CDA3-A8E0-AD98F47FC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32" y="1290536"/>
            <a:ext cx="11386135" cy="4584936"/>
          </a:xfrm>
          <a:prstGeom prst="rect">
            <a:avLst/>
          </a:prstGeom>
        </p:spPr>
      </p:pic>
      <p:pic>
        <p:nvPicPr>
          <p:cNvPr id="10" name="Picture 2" descr="电子科技大学 的图像结果">
            <a:extLst>
              <a:ext uri="{FF2B5EF4-FFF2-40B4-BE49-F238E27FC236}">
                <a16:creationId xmlns:a16="http://schemas.microsoft.com/office/drawing/2014/main" id="{182C5B1C-4B67-433C-B955-F5F2477508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2" t="14367" r="23565" b="15598"/>
          <a:stretch>
            <a:fillRect/>
          </a:stretch>
        </p:blipFill>
        <p:spPr bwMode="auto">
          <a:xfrm>
            <a:off x="10573305" y="53148"/>
            <a:ext cx="1225119" cy="123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23176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0FA5D-F30E-73DE-1E33-06A10F09F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3">
            <a:extLst>
              <a:ext uri="{FF2B5EF4-FFF2-40B4-BE49-F238E27FC236}">
                <a16:creationId xmlns:a16="http://schemas.microsoft.com/office/drawing/2014/main" id="{F709AAB3-AD26-B24B-1250-003EDA35F369}"/>
              </a:ext>
            </a:extLst>
          </p:cNvPr>
          <p:cNvSpPr/>
          <p:nvPr/>
        </p:nvSpPr>
        <p:spPr>
          <a:xfrm rot="16200000">
            <a:off x="105225" y="333863"/>
            <a:ext cx="688050" cy="899954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60098A2-C42E-81DA-3309-D69E90BD0640}"/>
              </a:ext>
            </a:extLst>
          </p:cNvPr>
          <p:cNvSpPr txBox="1"/>
          <p:nvPr/>
        </p:nvSpPr>
        <p:spPr>
          <a:xfrm>
            <a:off x="899228" y="491451"/>
            <a:ext cx="8947345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ETTh1</a:t>
            </a:r>
            <a:r>
              <a:rPr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预测折线图对比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54E3803-45ED-5B6C-4139-B361785A0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427" y="1127864"/>
            <a:ext cx="6153186" cy="5702609"/>
          </a:xfrm>
          <a:prstGeom prst="rect">
            <a:avLst/>
          </a:prstGeom>
        </p:spPr>
      </p:pic>
      <p:pic>
        <p:nvPicPr>
          <p:cNvPr id="4" name="Picture 2" descr="电子科技大学 的图像结果">
            <a:extLst>
              <a:ext uri="{FF2B5EF4-FFF2-40B4-BE49-F238E27FC236}">
                <a16:creationId xmlns:a16="http://schemas.microsoft.com/office/drawing/2014/main" id="{189F6A8D-64CB-9B97-E1F0-7719A8DB77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2" t="14367" r="23565" b="15598"/>
          <a:stretch>
            <a:fillRect/>
          </a:stretch>
        </p:blipFill>
        <p:spPr bwMode="auto">
          <a:xfrm>
            <a:off x="10573305" y="53148"/>
            <a:ext cx="1225119" cy="123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9953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自定义 103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95959"/>
      </a:accent1>
      <a:accent2>
        <a:srgbClr val="7F7F7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1550</TotalTime>
  <Words>143</Words>
  <Application>Microsoft Office PowerPoint</Application>
  <PresentationFormat>宽屏</PresentationFormat>
  <Paragraphs>24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等线 Light</vt:lpstr>
      <vt:lpstr>黑体</vt:lpstr>
      <vt:lpstr>等线</vt:lpstr>
      <vt:lpstr>Times New Roman</vt:lpstr>
      <vt:lpstr>Arial</vt:lpstr>
      <vt:lpstr>宋体</vt:lpstr>
      <vt:lpstr>Calibri</vt:lpstr>
      <vt:lpstr>Office 主题​​</vt:lpstr>
      <vt:lpstr> Efficient Multivariate Time Series Forecasting via Calibrated Language Models with Privileged Knowledge Distillation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稻壳儿演示武汉组</dc:creator>
  <cp:lastModifiedBy>Ruilin Jiang</cp:lastModifiedBy>
  <cp:revision>25</cp:revision>
  <dcterms:created xsi:type="dcterms:W3CDTF">2019-06-02T14:35:00Z</dcterms:created>
  <dcterms:modified xsi:type="dcterms:W3CDTF">2025-10-11T03:22:17Z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KSOTemplateUUID">
    <vt:lpwstr>v1.0_mb_szrRjUgx2PmzcCAeeyC59A==</vt:lpwstr>
  </property>
  <property fmtid="{D5CDD505-2E9C-101B-9397-08002B2CF9AE}" pid="4" name="ICV">
    <vt:lpwstr>36C806E2DC9A443AA69DC10DEDAF43A2_13</vt:lpwstr>
  </property>
</Properties>
</file>