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0" r:id="rId2"/>
    <p:sldId id="285" r:id="rId3"/>
    <p:sldId id="269" r:id="rId4"/>
    <p:sldId id="286" r:id="rId5"/>
    <p:sldId id="287" r:id="rId6"/>
    <p:sldId id="303" r:id="rId7"/>
    <p:sldId id="288" r:id="rId8"/>
    <p:sldId id="289" r:id="rId9"/>
    <p:sldId id="290" r:id="rId10"/>
    <p:sldId id="300" r:id="rId11"/>
    <p:sldId id="301" r:id="rId12"/>
    <p:sldId id="291" r:id="rId13"/>
    <p:sldId id="292" r:id="rId14"/>
    <p:sldId id="293" r:id="rId15"/>
    <p:sldId id="299" r:id="rId16"/>
    <p:sldId id="302" r:id="rId17"/>
  </p:sldIdLst>
  <p:sldSz cx="12192000" cy="6858000"/>
  <p:notesSz cx="6858000" cy="9144000"/>
  <p:embeddedFontLst>
    <p:embeddedFont>
      <p:font typeface="等线" panose="02010600030101010101" pitchFamily="2" charset="-122"/>
      <p:regular r:id="rId20"/>
      <p:bold r:id="rId21"/>
    </p:embeddedFont>
    <p:embeddedFont>
      <p:font typeface="等线 Light" panose="02010600030101010101" pitchFamily="2" charset="-122"/>
      <p:regular r:id="rId22"/>
    </p:embeddedFont>
    <p:embeddedFont>
      <p:font typeface="黑体" panose="02010609060101010101" pitchFamily="49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896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6" y="80"/>
      </p:cViewPr>
      <p:guideLst>
        <p:guide orient="horz" pos="21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现有的工作主要侧重于局部观察，时间戳仅被视为可选补充，仍未充分利用。</a:t>
            </a:r>
            <a:endParaRPr lang="zh-CN" altLang="en-US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>
              <a:lnSpc>
                <a:spcPct val="130000"/>
              </a:lnSpc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当从现实世界收集的数据受到污染时，缺乏全局信息，将损害这些算法的鲁棒的预测能力。</a:t>
            </a:r>
            <a:endParaRPr lang="zh-CN" altLang="en-US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DB7B7-35F1-4BFE-893A-FB3AB41E477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>
            <a:off x="5505691" y="3839775"/>
            <a:ext cx="118061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337560" y="0"/>
            <a:ext cx="5516880" cy="2895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217043" y="6724889"/>
            <a:ext cx="3757914" cy="1331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/>
          <p:cNvSpPr/>
          <p:nvPr/>
        </p:nvSpPr>
        <p:spPr>
          <a:xfrm rot="5400000">
            <a:off x="6029444" y="5271075"/>
            <a:ext cx="133114" cy="624840"/>
          </a:xfrm>
          <a:custGeom>
            <a:avLst/>
            <a:gdLst>
              <a:gd name="connsiteX0" fmla="*/ 0 w 187181"/>
              <a:gd name="connsiteY0" fmla="*/ 624840 h 624840"/>
              <a:gd name="connsiteX1" fmla="*/ 137160 w 187181"/>
              <a:gd name="connsiteY1" fmla="*/ 312420 h 624840"/>
              <a:gd name="connsiteX2" fmla="*/ 0 w 187181"/>
              <a:gd name="connsiteY2" fmla="*/ 0 h 624840"/>
              <a:gd name="connsiteX3" fmla="*/ 50021 w 187181"/>
              <a:gd name="connsiteY3" fmla="*/ 0 h 624840"/>
              <a:gd name="connsiteX4" fmla="*/ 187181 w 187181"/>
              <a:gd name="connsiteY4" fmla="*/ 312420 h 624840"/>
              <a:gd name="connsiteX5" fmla="*/ 50021 w 187181"/>
              <a:gd name="connsiteY5" fmla="*/ 624840 h 624840"/>
              <a:gd name="connsiteX6" fmla="*/ 0 w 187181"/>
              <a:gd name="connsiteY6" fmla="*/ 62484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7181" h="624840">
                <a:moveTo>
                  <a:pt x="0" y="624840"/>
                </a:moveTo>
                <a:lnTo>
                  <a:pt x="137160" y="312420"/>
                </a:lnTo>
                <a:lnTo>
                  <a:pt x="0" y="0"/>
                </a:lnTo>
                <a:lnTo>
                  <a:pt x="50021" y="0"/>
                </a:lnTo>
                <a:lnTo>
                  <a:pt x="187181" y="312420"/>
                </a:lnTo>
                <a:lnTo>
                  <a:pt x="50021" y="624840"/>
                </a:lnTo>
                <a:lnTo>
                  <a:pt x="0" y="62484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任意多边形: 形状 16"/>
          <p:cNvSpPr/>
          <p:nvPr/>
        </p:nvSpPr>
        <p:spPr>
          <a:xfrm rot="5400000">
            <a:off x="6022340" y="5173980"/>
            <a:ext cx="147320" cy="624840"/>
          </a:xfrm>
          <a:custGeom>
            <a:avLst/>
            <a:gdLst>
              <a:gd name="connsiteX0" fmla="*/ 0 w 187181"/>
              <a:gd name="connsiteY0" fmla="*/ 624840 h 624840"/>
              <a:gd name="connsiteX1" fmla="*/ 137160 w 187181"/>
              <a:gd name="connsiteY1" fmla="*/ 312420 h 624840"/>
              <a:gd name="connsiteX2" fmla="*/ 0 w 187181"/>
              <a:gd name="connsiteY2" fmla="*/ 0 h 624840"/>
              <a:gd name="connsiteX3" fmla="*/ 50021 w 187181"/>
              <a:gd name="connsiteY3" fmla="*/ 0 h 624840"/>
              <a:gd name="connsiteX4" fmla="*/ 187181 w 187181"/>
              <a:gd name="connsiteY4" fmla="*/ 312420 h 624840"/>
              <a:gd name="connsiteX5" fmla="*/ 50021 w 187181"/>
              <a:gd name="connsiteY5" fmla="*/ 624840 h 624840"/>
              <a:gd name="connsiteX6" fmla="*/ 0 w 187181"/>
              <a:gd name="connsiteY6" fmla="*/ 62484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7181" h="624840">
                <a:moveTo>
                  <a:pt x="0" y="624840"/>
                </a:moveTo>
                <a:lnTo>
                  <a:pt x="137160" y="312420"/>
                </a:lnTo>
                <a:lnTo>
                  <a:pt x="0" y="0"/>
                </a:lnTo>
                <a:lnTo>
                  <a:pt x="50021" y="0"/>
                </a:lnTo>
                <a:lnTo>
                  <a:pt x="187181" y="312420"/>
                </a:lnTo>
                <a:lnTo>
                  <a:pt x="50021" y="624840"/>
                </a:lnTo>
                <a:lnTo>
                  <a:pt x="0" y="62484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任意多边形: 形状 17"/>
          <p:cNvSpPr/>
          <p:nvPr/>
        </p:nvSpPr>
        <p:spPr>
          <a:xfrm rot="5400000">
            <a:off x="6029444" y="5091091"/>
            <a:ext cx="133114" cy="624840"/>
          </a:xfrm>
          <a:custGeom>
            <a:avLst/>
            <a:gdLst>
              <a:gd name="connsiteX0" fmla="*/ 0 w 187181"/>
              <a:gd name="connsiteY0" fmla="*/ 624840 h 624840"/>
              <a:gd name="connsiteX1" fmla="*/ 137160 w 187181"/>
              <a:gd name="connsiteY1" fmla="*/ 312420 h 624840"/>
              <a:gd name="connsiteX2" fmla="*/ 0 w 187181"/>
              <a:gd name="connsiteY2" fmla="*/ 0 h 624840"/>
              <a:gd name="connsiteX3" fmla="*/ 50021 w 187181"/>
              <a:gd name="connsiteY3" fmla="*/ 0 h 624840"/>
              <a:gd name="connsiteX4" fmla="*/ 187181 w 187181"/>
              <a:gd name="connsiteY4" fmla="*/ 312420 h 624840"/>
              <a:gd name="connsiteX5" fmla="*/ 50021 w 187181"/>
              <a:gd name="connsiteY5" fmla="*/ 624840 h 624840"/>
              <a:gd name="connsiteX6" fmla="*/ 0 w 187181"/>
              <a:gd name="connsiteY6" fmla="*/ 62484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7181" h="624840">
                <a:moveTo>
                  <a:pt x="0" y="624840"/>
                </a:moveTo>
                <a:lnTo>
                  <a:pt x="137160" y="312420"/>
                </a:lnTo>
                <a:lnTo>
                  <a:pt x="0" y="0"/>
                </a:lnTo>
                <a:lnTo>
                  <a:pt x="50021" y="0"/>
                </a:lnTo>
                <a:lnTo>
                  <a:pt x="187181" y="312420"/>
                </a:lnTo>
                <a:lnTo>
                  <a:pt x="50021" y="624840"/>
                </a:lnTo>
                <a:lnTo>
                  <a:pt x="0" y="62484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0553" y="3918354"/>
            <a:ext cx="9150894" cy="12500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IJCAI 2025</a:t>
            </a:r>
          </a:p>
          <a:p>
            <a:pPr algn="ctr"/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Nanyang Technological University, Singapore</a:t>
            </a:r>
          </a:p>
          <a:p>
            <a:pPr algn="ctr"/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商汤科技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Picture 2" descr="电子科技大学 的图像结果">
            <a:extLst>
              <a:ext uri="{FF2B5EF4-FFF2-40B4-BE49-F238E27FC236}">
                <a16:creationId xmlns:a16="http://schemas.microsoft.com/office/drawing/2014/main" id="{3CF558C6-B006-6C44-0B96-54BD81BAD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47DF9F92-9116-37E4-697B-E434FDA36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425" y="1533973"/>
            <a:ext cx="11785150" cy="1655762"/>
          </a:xfrm>
        </p:spPr>
        <p:txBody>
          <a:bodyPr>
            <a:normAutofit/>
          </a:bodyPr>
          <a:lstStyle/>
          <a:p>
            <a:br>
              <a:rPr lang="en-US" altLang="zh-CN" sz="3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Towards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Cross-Modality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Modeling for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Analytics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Survey in the LLM Era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633A88-9263-4267-C921-D8636754A558}"/>
              </a:ext>
            </a:extLst>
          </p:cNvPr>
          <p:cNvSpPr txBox="1"/>
          <p:nvPr/>
        </p:nvSpPr>
        <p:spPr>
          <a:xfrm>
            <a:off x="4794820" y="5880864"/>
            <a:ext cx="2928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汇报人：姜睿临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3"/>
          <p:cNvSpPr/>
          <p:nvPr/>
        </p:nvSpPr>
        <p:spPr>
          <a:xfrm rot="16200000">
            <a:off x="180554" y="221011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74557" y="378599"/>
            <a:ext cx="300920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研究背景</a:t>
            </a:r>
          </a:p>
        </p:txBody>
      </p:sp>
      <p:pic>
        <p:nvPicPr>
          <p:cNvPr id="6" name="Picture 2" descr="电子科技大学 的图像结果">
            <a:extLst>
              <a:ext uri="{FF2B5EF4-FFF2-40B4-BE49-F238E27FC236}">
                <a16:creationId xmlns:a16="http://schemas.microsoft.com/office/drawing/2014/main" id="{07C80862-FDB8-FF00-44D9-6B1EEB2214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46B84F8-900A-25E7-53AB-8D1087DAB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004" y="1022245"/>
            <a:ext cx="8667359" cy="58314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/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32478" y="543090"/>
            <a:ext cx="4321424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跨模态时序分析框架</a:t>
            </a:r>
          </a:p>
        </p:txBody>
      </p:sp>
      <p:pic>
        <p:nvPicPr>
          <p:cNvPr id="10" name="Picture 2" descr="电子科技大学 的图像结果">
            <a:extLst>
              <a:ext uri="{FF2B5EF4-FFF2-40B4-BE49-F238E27FC236}">
                <a16:creationId xmlns:a16="http://schemas.microsoft.com/office/drawing/2014/main" id="{1FFF86DF-37CE-174D-85B6-D8C66CDDAA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50538D6-AA4B-E08E-47C8-243B2C033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899" y="1127865"/>
            <a:ext cx="7798201" cy="359428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E96219A-3116-AF1F-7EB9-1CFADD925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07" y="5002263"/>
            <a:ext cx="6469158" cy="141592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CFFB6F8-68D2-A9D3-96E3-7871DA518D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033" y="4877806"/>
            <a:ext cx="2312676" cy="25352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53DFCA1-4F9D-39E7-B30E-84B4183F72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6887" y="5114153"/>
            <a:ext cx="3098959" cy="31116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0765677-95B6-1A34-21B8-BDD0992D58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3816" y="5383757"/>
            <a:ext cx="2921150" cy="30481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9A4882F-8029-224B-8422-7E84F14F8E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6887" y="5789724"/>
            <a:ext cx="2346001" cy="47956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0724800-C95F-D7D1-5D09-A0D3582E60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5709" y="6089176"/>
            <a:ext cx="171459" cy="1524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3212-43EB-D32C-5352-93F4F064F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E43578C0-B115-5D95-E3A8-7B3B84B98084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7FA9B9-1FC2-0966-0008-A8112949FEE3}"/>
              </a:ext>
            </a:extLst>
          </p:cNvPr>
          <p:cNvSpPr txBox="1"/>
          <p:nvPr/>
        </p:nvSpPr>
        <p:spPr>
          <a:xfrm>
            <a:off x="1005178" y="491451"/>
            <a:ext cx="3137331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现有的方法分类</a:t>
            </a:r>
          </a:p>
        </p:txBody>
      </p:sp>
      <p:pic>
        <p:nvPicPr>
          <p:cNvPr id="5" name="Picture 2" descr="电子科技大学 的图像结果">
            <a:extLst>
              <a:ext uri="{FF2B5EF4-FFF2-40B4-BE49-F238E27FC236}">
                <a16:creationId xmlns:a16="http://schemas.microsoft.com/office/drawing/2014/main" id="{4F6ED126-77E3-4C49-7E38-C1A1D666C5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D55A469-95F7-6EA0-A487-4DE3958314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9" b="4266"/>
          <a:stretch>
            <a:fillRect/>
          </a:stretch>
        </p:blipFill>
        <p:spPr>
          <a:xfrm>
            <a:off x="3928043" y="0"/>
            <a:ext cx="64478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03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86C29-21D1-2AFB-468C-AF424E613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7F5FBF37-6A2C-431C-701D-9F160018E876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DDDFCB-10E2-5A00-9ECC-B83E60B6A7B1}"/>
              </a:ext>
            </a:extLst>
          </p:cNvPr>
          <p:cNvSpPr txBox="1"/>
          <p:nvPr/>
        </p:nvSpPr>
        <p:spPr>
          <a:xfrm>
            <a:off x="1005178" y="491451"/>
            <a:ext cx="4321424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文本提示方法</a:t>
            </a:r>
          </a:p>
        </p:txBody>
      </p:sp>
      <p:pic>
        <p:nvPicPr>
          <p:cNvPr id="9" name="Picture 2" descr="电子科技大学 的图像结果">
            <a:extLst>
              <a:ext uri="{FF2B5EF4-FFF2-40B4-BE49-F238E27FC236}">
                <a16:creationId xmlns:a16="http://schemas.microsoft.com/office/drawing/2014/main" id="{2FD67011-950D-2F20-4985-98EA1A976F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388C753-1ED9-E48D-13E7-48807AB05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268" y="1432286"/>
            <a:ext cx="10401464" cy="49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74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BF19C-EE66-1918-42FF-13D79631C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1F0F4AA5-F33D-6B37-0FC9-8A49E2434ECA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6D1716-33EF-AA4B-ADDF-BD295A74D589}"/>
              </a:ext>
            </a:extLst>
          </p:cNvPr>
          <p:cNvSpPr txBox="1"/>
          <p:nvPr/>
        </p:nvSpPr>
        <p:spPr>
          <a:xfrm>
            <a:off x="1005178" y="491451"/>
            <a:ext cx="4321424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文本提示方法</a:t>
            </a:r>
          </a:p>
        </p:txBody>
      </p:sp>
      <p:pic>
        <p:nvPicPr>
          <p:cNvPr id="9" name="Picture 2" descr="电子科技大学 的图像结果">
            <a:extLst>
              <a:ext uri="{FF2B5EF4-FFF2-40B4-BE49-F238E27FC236}">
                <a16:creationId xmlns:a16="http://schemas.microsoft.com/office/drawing/2014/main" id="{0043D140-C58E-BC1C-E086-C1CCA954FD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7719A7-8451-54A9-8065-E5132646B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259" y="1076226"/>
            <a:ext cx="5128167" cy="549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26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D98A0-09C9-F15A-F781-85FF4C6BF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E6D355C9-44DA-227D-3FF1-C825854BABE0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86EF5A-795D-D6C0-10E0-F42CF41820C8}"/>
              </a:ext>
            </a:extLst>
          </p:cNvPr>
          <p:cNvSpPr txBox="1"/>
          <p:nvPr/>
        </p:nvSpPr>
        <p:spPr>
          <a:xfrm>
            <a:off x="1005178" y="491451"/>
            <a:ext cx="4321424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技术路径</a:t>
            </a:r>
          </a:p>
        </p:txBody>
      </p:sp>
      <p:pic>
        <p:nvPicPr>
          <p:cNvPr id="12" name="Picture 2" descr="电子科技大学 的图像结果">
            <a:extLst>
              <a:ext uri="{FF2B5EF4-FFF2-40B4-BE49-F238E27FC236}">
                <a16:creationId xmlns:a16="http://schemas.microsoft.com/office/drawing/2014/main" id="{433F499F-774D-8958-0690-E1CA0FF0F9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657E668-3815-80D9-F86C-2C1EEA14D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228" y="1127865"/>
            <a:ext cx="9674077" cy="39930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066BDD8-88A9-CD27-E4C9-918D4E8B4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472" y="5264110"/>
            <a:ext cx="7468963" cy="142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82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13214-A46C-1F5D-68D0-7A5A6E36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DAC16AC7-BB98-C1AA-707D-CAA28ED1E418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9BD722-8FD1-C756-8BFA-1B6207CBDFA5}"/>
              </a:ext>
            </a:extLst>
          </p:cNvPr>
          <p:cNvSpPr txBox="1"/>
          <p:nvPr/>
        </p:nvSpPr>
        <p:spPr>
          <a:xfrm>
            <a:off x="1005178" y="491451"/>
            <a:ext cx="4446586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时序分析的跨模态建模</a:t>
            </a:r>
            <a:endParaRPr lang="en-US" altLang="zh-CN" sz="3200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sz="3200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3" name="Picture 2" descr="电子科技大学 的图像结果">
            <a:extLst>
              <a:ext uri="{FF2B5EF4-FFF2-40B4-BE49-F238E27FC236}">
                <a16:creationId xmlns:a16="http://schemas.microsoft.com/office/drawing/2014/main" id="{64B52933-8C73-356D-994E-F9792A3060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6F38109-70A8-DF59-CDD9-998BB0615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859" y="1769509"/>
            <a:ext cx="5865559" cy="5123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3391B4-DD40-D9B0-0623-EAF6CC038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986" y="2907983"/>
            <a:ext cx="9449455" cy="150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50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DB6B7-734A-284F-5548-8694979FC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2BB71C97-0133-1982-F4FB-8EA7D817C3E4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3C0D6E-A5D8-0110-51A2-CC36E55C68E4}"/>
              </a:ext>
            </a:extLst>
          </p:cNvPr>
          <p:cNvSpPr txBox="1"/>
          <p:nvPr/>
        </p:nvSpPr>
        <p:spPr>
          <a:xfrm>
            <a:off x="1005177" y="491451"/>
            <a:ext cx="9380482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对齐 </a:t>
            </a:r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 </a:t>
            </a:r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检索</a:t>
            </a:r>
          </a:p>
        </p:txBody>
      </p:sp>
      <p:pic>
        <p:nvPicPr>
          <p:cNvPr id="13" name="Picture 2" descr="电子科技大学 的图像结果">
            <a:extLst>
              <a:ext uri="{FF2B5EF4-FFF2-40B4-BE49-F238E27FC236}">
                <a16:creationId xmlns:a16="http://schemas.microsoft.com/office/drawing/2014/main" id="{BEA4CAC9-B543-4779-2711-F48FAFF638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888A541-A9C8-7D27-9E47-0E489EB30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228" y="1076226"/>
            <a:ext cx="8743536" cy="573033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AA4B4E-D2C3-2083-FCFB-B699DDAAE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6487" y="4861207"/>
            <a:ext cx="292115" cy="26671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5C8374A-F8D0-9937-3714-1729EEA02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6487" y="6099835"/>
            <a:ext cx="292115" cy="26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32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EAC55-2123-BDB9-7F8B-EF7DBAD8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9F4299EC-59D0-BB9D-7D70-2D49C2F5304D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C10969-04A4-C787-C74E-5C310A12C10D}"/>
              </a:ext>
            </a:extLst>
          </p:cNvPr>
          <p:cNvSpPr txBox="1"/>
          <p:nvPr/>
        </p:nvSpPr>
        <p:spPr>
          <a:xfrm>
            <a:off x="1005177" y="491451"/>
            <a:ext cx="9380482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对齐 </a:t>
            </a:r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对比学习</a:t>
            </a:r>
          </a:p>
        </p:txBody>
      </p:sp>
      <p:pic>
        <p:nvPicPr>
          <p:cNvPr id="13" name="Picture 2" descr="电子科技大学 的图像结果">
            <a:extLst>
              <a:ext uri="{FF2B5EF4-FFF2-40B4-BE49-F238E27FC236}">
                <a16:creationId xmlns:a16="http://schemas.microsoft.com/office/drawing/2014/main" id="{EB516E52-7937-EF5B-3B9F-55DE6865F4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5DA19B1-4E9A-0D2A-1991-71A79AFD7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487" y="4861207"/>
            <a:ext cx="292115" cy="26671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72A5234-AC70-D1CB-7862-B42B2F403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487" y="6099835"/>
            <a:ext cx="292115" cy="26671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1CA66ED-ABE2-7A01-FE98-DC78D1C60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228" y="1476432"/>
            <a:ext cx="10077860" cy="46484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3A870B3-4262-2F27-A749-AA7896ECB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3051" y="3131406"/>
            <a:ext cx="361969" cy="38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85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70CB6-401F-B019-E101-6895B4FBA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D9859C77-F0D8-1DA8-7D19-C60B94F2B3B9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17D80E-F92A-869A-2461-9F717FDD8DBE}"/>
              </a:ext>
            </a:extLst>
          </p:cNvPr>
          <p:cNvSpPr txBox="1"/>
          <p:nvPr/>
        </p:nvSpPr>
        <p:spPr>
          <a:xfrm>
            <a:off x="1005177" y="491451"/>
            <a:ext cx="9380482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对齐 </a:t>
            </a:r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知识蒸馏</a:t>
            </a:r>
          </a:p>
        </p:txBody>
      </p:sp>
      <p:pic>
        <p:nvPicPr>
          <p:cNvPr id="13" name="Picture 2" descr="电子科技大学 的图像结果">
            <a:extLst>
              <a:ext uri="{FF2B5EF4-FFF2-40B4-BE49-F238E27FC236}">
                <a16:creationId xmlns:a16="http://schemas.microsoft.com/office/drawing/2014/main" id="{2E5D7650-F157-E70D-FBF7-90D3B572EC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E20BA8D-65DB-0353-57E2-0690720DF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487" y="4861207"/>
            <a:ext cx="292115" cy="26671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2563848-B5DB-FAEA-1C08-8A823359C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487" y="6099835"/>
            <a:ext cx="292115" cy="2667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1CDD755-A91C-19D6-568B-8434648A0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051" y="3131406"/>
            <a:ext cx="361969" cy="38737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32EFA94-F382-2461-76B7-0C65DA586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70" y="1658648"/>
            <a:ext cx="11083740" cy="430573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C734B44-8C6F-84AD-5A6C-EA64D6257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3274" y="3197213"/>
            <a:ext cx="565179" cy="46357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9EB5B1B-FABC-6C8E-631F-B42C38F3FE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6869" y="1711319"/>
            <a:ext cx="222261" cy="20956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10DF8A5-851C-9230-C270-6D68E28247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3219" y="2060569"/>
            <a:ext cx="222261" cy="20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50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4C90C-365F-5AE7-30A4-96A4BB526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C6471462-6390-EFAE-5D0F-96CABA129E4B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8DCDB6C-32AE-30E6-8DC8-85095FF39C88}"/>
              </a:ext>
            </a:extLst>
          </p:cNvPr>
          <p:cNvSpPr txBox="1"/>
          <p:nvPr/>
        </p:nvSpPr>
        <p:spPr>
          <a:xfrm>
            <a:off x="1005177" y="491451"/>
            <a:ext cx="9380482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加法融合（</a:t>
            </a:r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Addition</a:t>
            </a:r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</a:p>
        </p:txBody>
      </p:sp>
      <p:pic>
        <p:nvPicPr>
          <p:cNvPr id="11" name="Picture 2" descr="电子科技大学 的图像结果">
            <a:extLst>
              <a:ext uri="{FF2B5EF4-FFF2-40B4-BE49-F238E27FC236}">
                <a16:creationId xmlns:a16="http://schemas.microsoft.com/office/drawing/2014/main" id="{C709BC1F-BE4D-FB02-676F-6ED9BA4D88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5832C58-1237-DA65-4926-6B0C44733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68" y="1640236"/>
            <a:ext cx="10657660" cy="415096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6EAA48E-097E-B866-33CE-4D1EC2C22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5659" y="3169590"/>
            <a:ext cx="654084" cy="54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74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B970C-FA25-FE2B-CDA3-9F6B079BA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42DBAB34-7300-79E5-27EC-65FA9BA72ECC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996DFC-2B68-D2C1-1F0C-E4E752530737}"/>
              </a:ext>
            </a:extLst>
          </p:cNvPr>
          <p:cNvSpPr txBox="1"/>
          <p:nvPr/>
        </p:nvSpPr>
        <p:spPr>
          <a:xfrm>
            <a:off x="1005177" y="491451"/>
            <a:ext cx="894734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拼接融合（</a:t>
            </a:r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Concatenation</a:t>
            </a:r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</a:p>
        </p:txBody>
      </p:sp>
      <p:pic>
        <p:nvPicPr>
          <p:cNvPr id="11" name="Picture 2" descr="电子科技大学 的图像结果">
            <a:extLst>
              <a:ext uri="{FF2B5EF4-FFF2-40B4-BE49-F238E27FC236}">
                <a16:creationId xmlns:a16="http://schemas.microsoft.com/office/drawing/2014/main" id="{FA3E433E-E2DD-1038-8E0D-42BDAE6F94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E4F49D0-1084-0230-6E3D-6C1B997E3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72" y="1713853"/>
            <a:ext cx="11622161" cy="37197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0E4F567-3A93-4919-ED62-28ADA7CD4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3801" y="2838420"/>
            <a:ext cx="596931" cy="5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10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C0DE-826E-FA6E-D2E2-4095EB202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0E2134AC-C6B3-CE1E-F41D-9ECA4F70EB44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F729BB-880A-66BB-D983-AEBD33402943}"/>
              </a:ext>
            </a:extLst>
          </p:cNvPr>
          <p:cNvSpPr txBox="1"/>
          <p:nvPr/>
        </p:nvSpPr>
        <p:spPr>
          <a:xfrm>
            <a:off x="1005177" y="491451"/>
            <a:ext cx="894734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融合的优缺点</a:t>
            </a:r>
          </a:p>
        </p:txBody>
      </p:sp>
      <p:pic>
        <p:nvPicPr>
          <p:cNvPr id="5" name="Picture 2" descr="电子科技大学 的图像结果">
            <a:extLst>
              <a:ext uri="{FF2B5EF4-FFF2-40B4-BE49-F238E27FC236}">
                <a16:creationId xmlns:a16="http://schemas.microsoft.com/office/drawing/2014/main" id="{46D5682A-8166-D828-9E43-F033730656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E350B3C-3E66-9776-0671-F1A6D684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55" y="1615991"/>
            <a:ext cx="10984690" cy="425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83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FA5D-F30E-73DE-1E33-06A10F09F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F709AAB3-AD26-B24B-1250-003EDA35F369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0098A2-C42E-81DA-3309-D69E90BD0640}"/>
              </a:ext>
            </a:extLst>
          </p:cNvPr>
          <p:cNvSpPr txBox="1"/>
          <p:nvPr/>
        </p:nvSpPr>
        <p:spPr>
          <a:xfrm>
            <a:off x="899228" y="491451"/>
            <a:ext cx="894734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跨模态建模框架</a:t>
            </a:r>
          </a:p>
        </p:txBody>
      </p:sp>
      <p:pic>
        <p:nvPicPr>
          <p:cNvPr id="4" name="Picture 2" descr="电子科技大学 的图像结果">
            <a:extLst>
              <a:ext uri="{FF2B5EF4-FFF2-40B4-BE49-F238E27FC236}">
                <a16:creationId xmlns:a16="http://schemas.microsoft.com/office/drawing/2014/main" id="{189F6A8D-64CB-9B97-E1F0-7719A8DB77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98728CB-FC4C-F3F3-B6B7-78AC51E2E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822" y="954141"/>
            <a:ext cx="4256354" cy="465290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2884697-884E-0556-2BA1-CB3A1E918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310" y="5767387"/>
            <a:ext cx="9259379" cy="109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953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4884-3FD3-B084-A6E8-E72DB517A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9A99ED42-8343-8E9C-5A4B-D0DB8135FC32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AB4EA8-C249-4F52-2145-F26AD1B7A646}"/>
              </a:ext>
            </a:extLst>
          </p:cNvPr>
          <p:cNvSpPr txBox="1"/>
          <p:nvPr/>
        </p:nvSpPr>
        <p:spPr>
          <a:xfrm>
            <a:off x="899228" y="491451"/>
            <a:ext cx="894734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实验结果</a:t>
            </a:r>
          </a:p>
        </p:txBody>
      </p:sp>
      <p:pic>
        <p:nvPicPr>
          <p:cNvPr id="4" name="Picture 2" descr="电子科技大学 的图像结果">
            <a:extLst>
              <a:ext uri="{FF2B5EF4-FFF2-40B4-BE49-F238E27FC236}">
                <a16:creationId xmlns:a16="http://schemas.microsoft.com/office/drawing/2014/main" id="{CECD7A3A-1886-8035-D156-EBEA343D8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81C0470-66AC-6067-1D3D-C5114FC09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28" y="1340466"/>
            <a:ext cx="10432887" cy="501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753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03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5959"/>
      </a:accent1>
      <a:accent2>
        <a:srgbClr val="7F7F7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2070</TotalTime>
  <Words>133</Words>
  <Application>Microsoft Office PowerPoint</Application>
  <PresentationFormat>宽屏</PresentationFormat>
  <Paragraphs>22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宋体</vt:lpstr>
      <vt:lpstr>Calibri</vt:lpstr>
      <vt:lpstr>Arial</vt:lpstr>
      <vt:lpstr>等线 Light</vt:lpstr>
      <vt:lpstr>黑体</vt:lpstr>
      <vt:lpstr>等线</vt:lpstr>
      <vt:lpstr>Times New Roman</vt:lpstr>
      <vt:lpstr>Office 主题​​</vt:lpstr>
      <vt:lpstr> Towards Cross-Modality Modeling for Time Series Analytics: A Survey in the LLM Era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稻壳儿演示武汉组</dc:creator>
  <cp:lastModifiedBy>Ruilin Jiang</cp:lastModifiedBy>
  <cp:revision>27</cp:revision>
  <dcterms:created xsi:type="dcterms:W3CDTF">2019-06-02T14:35:00Z</dcterms:created>
  <dcterms:modified xsi:type="dcterms:W3CDTF">2025-11-12T08:18:01Z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KSOTemplateUUID">
    <vt:lpwstr>v1.0_mb_szrRjUgx2PmzcCAeeyC59A==</vt:lpwstr>
  </property>
  <property fmtid="{D5CDD505-2E9C-101B-9397-08002B2CF9AE}" pid="4" name="ICV">
    <vt:lpwstr>36C806E2DC9A443AA69DC10DEDAF43A2_13</vt:lpwstr>
  </property>
</Properties>
</file>