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39" r:id="rId3"/>
    <p:sldId id="382" r:id="rId5"/>
    <p:sldId id="383" r:id="rId6"/>
    <p:sldId id="384" r:id="rId7"/>
    <p:sldId id="385" r:id="rId8"/>
    <p:sldId id="386" r:id="rId9"/>
    <p:sldId id="388" r:id="rId10"/>
    <p:sldId id="389" r:id="rId11"/>
    <p:sldId id="387" r:id="rId12"/>
    <p:sldId id="39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95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showGuides="1">
      <p:cViewPr varScale="1">
        <p:scale>
          <a:sx n="108" d="100"/>
          <a:sy n="108" d="100"/>
        </p:scale>
        <p:origin x="-636" y="-84"/>
      </p:cViewPr>
      <p:guideLst>
        <p:guide orient="horz" pos="2160"/>
        <p:guide pos="2952"/>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lradj</a:t>
            </a:r>
            <a:r>
              <a:rPr lang="zh-CN" altLang="en-US"/>
              <a:t>（学习率调整策略）</a:t>
            </a:r>
            <a:endParaRPr lang="zh-CN" altLang="en-US"/>
          </a:p>
          <a:p>
            <a:r>
              <a:rPr lang="en-US" altLang="zh-CN"/>
              <a:t>individual </a:t>
            </a:r>
            <a:r>
              <a:rPr lang="zh-CN" altLang="en-US"/>
              <a:t>控制模型是否对输入数据的每一个变量或通道</a:t>
            </a:r>
            <a:r>
              <a:rPr lang="en-US" altLang="zh-CN"/>
              <a:t> </a:t>
            </a:r>
            <a:r>
              <a:rPr lang="zh-CN" altLang="en-US"/>
              <a:t>使用独立的线性层。</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239000" y="802640"/>
            <a:ext cx="4839335" cy="1516380"/>
          </a:xfrm>
          <a:prstGeom prst="rect">
            <a:avLst/>
          </a:prstGeom>
          <a:noFill/>
        </p:spPr>
        <p:txBody>
          <a:bodyPr wrap="square" rtlCol="0">
            <a:noAutofit/>
          </a:bodyPr>
          <a:p>
            <a:r>
              <a:rPr lang="en-US" altLang="zh-CN"/>
              <a:t>Netshare</a:t>
            </a:r>
            <a:r>
              <a:rPr lang="zh-CN" altLang="en-US"/>
              <a:t>：</a:t>
            </a:r>
            <a:r>
              <a:rPr lang="en-US" altLang="zh-CN"/>
              <a:t>ACM SIGCOMM 2022 </a:t>
            </a:r>
            <a:r>
              <a:rPr lang="zh-CN" altLang="en-US"/>
              <a:t>会议</a:t>
            </a:r>
            <a:endParaRPr lang="zh-CN" altLang="en-US"/>
          </a:p>
          <a:p>
            <a:r>
              <a:rPr lang="en-US" altLang="zh-CN"/>
              <a:t>Netdiffusion</a:t>
            </a:r>
            <a:r>
              <a:rPr lang="zh-CN" altLang="en-US"/>
              <a:t>：</a:t>
            </a:r>
            <a:r>
              <a:rPr lang="en-US" altLang="zh-CN"/>
              <a:t> Proceedings of the ACM on Measurement and Analysis of Computing Systems</a:t>
            </a:r>
            <a:r>
              <a:rPr lang="zh-CN" altLang="en-US"/>
              <a:t>（</a:t>
            </a:r>
            <a:r>
              <a:rPr lang="en-US" altLang="zh-CN"/>
              <a:t>POMACS</a:t>
            </a:r>
            <a:r>
              <a:rPr lang="zh-CN" altLang="en-US"/>
              <a:t>）</a:t>
            </a:r>
            <a:r>
              <a:rPr lang="en-US" altLang="zh-CN"/>
              <a:t>2023</a:t>
            </a:r>
            <a:r>
              <a:rPr lang="zh-CN" altLang="en-US"/>
              <a:t>年</a:t>
            </a:r>
            <a:r>
              <a:rPr lang="en-US" altLang="zh-CN"/>
              <a:t>Q2</a:t>
            </a:r>
            <a:r>
              <a:rPr lang="zh-CN" altLang="en-US"/>
              <a:t>分区</a:t>
            </a:r>
            <a:endParaRPr lang="zh-CN" altLang="en-US"/>
          </a:p>
          <a:p>
            <a:endParaRPr lang="zh-CN" altLang="en-US"/>
          </a:p>
        </p:txBody>
      </p:sp>
      <p:pic>
        <p:nvPicPr>
          <p:cNvPr id="6" name="图片 5"/>
          <p:cNvPicPr>
            <a:picLocks noChangeAspect="1"/>
          </p:cNvPicPr>
          <p:nvPr/>
        </p:nvPicPr>
        <p:blipFill>
          <a:blip r:embed="rId1"/>
          <a:stretch>
            <a:fillRect/>
          </a:stretch>
        </p:blipFill>
        <p:spPr>
          <a:xfrm>
            <a:off x="609600" y="304800"/>
            <a:ext cx="6715760" cy="2512695"/>
          </a:xfrm>
          <a:prstGeom prst="rect">
            <a:avLst/>
          </a:prstGeom>
        </p:spPr>
      </p:pic>
      <p:sp>
        <p:nvSpPr>
          <p:cNvPr id="7" name="文本框 6"/>
          <p:cNvSpPr txBox="1"/>
          <p:nvPr/>
        </p:nvSpPr>
        <p:spPr>
          <a:xfrm>
            <a:off x="341630" y="3169285"/>
            <a:ext cx="11796395" cy="3688715"/>
          </a:xfrm>
          <a:prstGeom prst="rect">
            <a:avLst/>
          </a:prstGeom>
          <a:noFill/>
        </p:spPr>
        <p:txBody>
          <a:bodyPr wrap="square" rtlCol="0">
            <a:noAutofit/>
          </a:bodyPr>
          <a:p>
            <a:r>
              <a:rPr lang="zh-CN" altLang="en-US"/>
              <a:t>这篇文章提出了</a:t>
            </a:r>
            <a:r>
              <a:rPr lang="en-US" altLang="zh-CN"/>
              <a:t> NetDiffusion</a:t>
            </a:r>
            <a:r>
              <a:rPr lang="zh-CN" altLang="en-US"/>
              <a:t>，一种基于扩散模型的网络流量生成方法，通过将</a:t>
            </a:r>
            <a:r>
              <a:rPr lang="en-US" altLang="zh-CN"/>
              <a:t> pcap </a:t>
            </a:r>
            <a:r>
              <a:rPr lang="zh-CN" altLang="en-US"/>
              <a:t>流量编码为图像（使用</a:t>
            </a:r>
            <a:r>
              <a:rPr lang="en-US" altLang="zh-CN"/>
              <a:t> nPrint </a:t>
            </a:r>
            <a:r>
              <a:rPr lang="zh-CN" altLang="en-US"/>
              <a:t>标准化比特表示），并利用</a:t>
            </a:r>
            <a:r>
              <a:rPr lang="en-US" altLang="zh-CN"/>
              <a:t> </a:t>
            </a:r>
            <a:r>
              <a:rPr lang="zh-CN" altLang="en-US"/>
              <a:t>微调的</a:t>
            </a:r>
            <a:r>
              <a:rPr lang="en-US" altLang="zh-CN"/>
              <a:t> Stable Diffusion </a:t>
            </a:r>
            <a:r>
              <a:rPr lang="zh-CN" altLang="en-US"/>
              <a:t>模型生成高保真合成流量，同时结合</a:t>
            </a:r>
            <a:r>
              <a:rPr lang="en-US" altLang="zh-CN"/>
              <a:t> ControlNet </a:t>
            </a:r>
            <a:r>
              <a:rPr lang="zh-CN" altLang="en-US"/>
              <a:t>约束协议字段和后处理修正确保流量符合协议规则，最终生成的流量可用于机器学习数据增强和网络设备测试，在统计相似性和分类任务性能上优于传统</a:t>
            </a:r>
            <a:r>
              <a:rPr lang="en-US" altLang="zh-CN"/>
              <a:t> GAN </a:t>
            </a:r>
            <a:r>
              <a:rPr lang="zh-CN" altLang="en-US"/>
              <a:t>方法。</a:t>
            </a:r>
            <a:endParaRPr lang="zh-CN" altLang="en-US"/>
          </a:p>
          <a:p>
            <a:r>
              <a:rPr lang="en-US" altLang="zh-CN"/>
              <a:t>1. </a:t>
            </a:r>
            <a:r>
              <a:rPr lang="zh-CN" altLang="en-US"/>
              <a:t>生成质量突破</a:t>
            </a:r>
            <a:endParaRPr lang="zh-CN" altLang="en-US"/>
          </a:p>
          <a:p>
            <a:r>
              <a:rPr lang="zh-CN" altLang="en-US"/>
              <a:t>首次将扩散模型</a:t>
            </a:r>
            <a:r>
              <a:rPr lang="en-US" altLang="zh-CN"/>
              <a:t> </a:t>
            </a:r>
            <a:r>
              <a:rPr lang="zh-CN" altLang="en-US"/>
              <a:t>应用于原始网络流量生成，相比传统</a:t>
            </a:r>
            <a:r>
              <a:rPr lang="en-US" altLang="zh-CN"/>
              <a:t> GAN </a:t>
            </a:r>
            <a:r>
              <a:rPr lang="zh-CN" altLang="en-US"/>
              <a:t>方法，能精准还原包头字段的细粒度比特级特征（如</a:t>
            </a:r>
            <a:r>
              <a:rPr lang="en-US" altLang="zh-CN"/>
              <a:t> TCP </a:t>
            </a:r>
            <a:r>
              <a:rPr lang="zh-CN" altLang="en-US"/>
              <a:t>标志位、</a:t>
            </a:r>
            <a:r>
              <a:rPr lang="en-US" altLang="zh-CN"/>
              <a:t>IP </a:t>
            </a:r>
            <a:r>
              <a:rPr lang="zh-CN" altLang="en-US"/>
              <a:t>分片），生成流量与真实数据的统计相似性提升</a:t>
            </a:r>
            <a:r>
              <a:rPr lang="en-US" altLang="zh-CN"/>
              <a:t> 30%+</a:t>
            </a:r>
            <a:endParaRPr lang="zh-CN" altLang="en-US"/>
          </a:p>
          <a:p>
            <a:r>
              <a:rPr lang="en-US" altLang="zh-CN"/>
              <a:t>2. </a:t>
            </a:r>
            <a:r>
              <a:rPr lang="zh-CN" altLang="en-US"/>
              <a:t>协议感知生成</a:t>
            </a:r>
            <a:endParaRPr lang="zh-CN" altLang="en-US"/>
          </a:p>
          <a:p>
            <a:r>
              <a:rPr lang="en-US" altLang="zh-CN"/>
              <a:t>ControlNet </a:t>
            </a:r>
            <a:r>
              <a:rPr lang="zh-CN" altLang="en-US"/>
              <a:t>硬约束，通过空间条件控制，强制生成流量</a:t>
            </a:r>
            <a:r>
              <a:rPr lang="en-US" altLang="zh-CN"/>
              <a:t> 100% </a:t>
            </a:r>
            <a:r>
              <a:rPr lang="zh-CN" altLang="en-US"/>
              <a:t>符合协议规则（如</a:t>
            </a:r>
            <a:r>
              <a:rPr lang="en-US" altLang="zh-CN"/>
              <a:t> TCP </a:t>
            </a:r>
            <a:r>
              <a:rPr lang="zh-CN" altLang="en-US"/>
              <a:t>校验和、序列号连续性），解决了</a:t>
            </a:r>
            <a:r>
              <a:rPr lang="en-US" altLang="zh-CN"/>
              <a:t> GAN </a:t>
            </a:r>
            <a:r>
              <a:rPr lang="zh-CN" altLang="en-US"/>
              <a:t>生成非法字段的问题。对生成结果自动修正校验和等字段，确保可直接被</a:t>
            </a:r>
            <a:r>
              <a:rPr lang="en-US" altLang="zh-CN"/>
              <a:t>Wireshark/tcpreplay </a:t>
            </a:r>
            <a:r>
              <a:rPr lang="zh-CN" altLang="en-US"/>
              <a:t>解析。</a:t>
            </a:r>
            <a:endParaRPr lang="zh-CN" altLang="en-US"/>
          </a:p>
          <a:p>
            <a:r>
              <a:rPr lang="en-US" altLang="zh-CN"/>
              <a:t>3. </a:t>
            </a:r>
            <a:r>
              <a:rPr lang="zh-CN" altLang="en-US"/>
              <a:t>图像化表示</a:t>
            </a:r>
            <a:endParaRPr lang="zh-CN" altLang="en-US"/>
          </a:p>
          <a:p>
            <a:r>
              <a:rPr lang="zh-CN" altLang="en-US"/>
              <a:t>首创将网络流量编码为</a:t>
            </a:r>
            <a:r>
              <a:rPr lang="en-US" altLang="zh-CN"/>
              <a:t> </a:t>
            </a:r>
            <a:r>
              <a:rPr lang="zh-CN" altLang="en-US"/>
              <a:t>三色图像（绿</a:t>
            </a:r>
            <a:r>
              <a:rPr lang="en-US" altLang="zh-CN"/>
              <a:t>/</a:t>
            </a:r>
            <a:r>
              <a:rPr lang="zh-CN" altLang="en-US"/>
              <a:t>红</a:t>
            </a:r>
            <a:r>
              <a:rPr lang="en-US" altLang="zh-CN"/>
              <a:t>/</a:t>
            </a:r>
            <a:r>
              <a:rPr lang="zh-CN" altLang="en-US"/>
              <a:t>灰），利用扩散模型对高维图像的高效生成能力，捕获多维信息，解决了传统表格型生成方法（如</a:t>
            </a:r>
            <a:r>
              <a:rPr lang="en-US" altLang="zh-CN"/>
              <a:t> NetFlow</a:t>
            </a:r>
            <a:r>
              <a:rPr lang="zh-CN" altLang="en-US"/>
              <a:t>）丢失时序依赖的问题。</a:t>
            </a:r>
            <a:endParaRPr lang="zh-CN" altLang="en-US"/>
          </a:p>
          <a:p>
            <a:endParaRPr lang="zh-CN" alt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457200" y="990600"/>
            <a:ext cx="11080115" cy="3258185"/>
          </a:xfrm>
          <a:prstGeom prst="rect">
            <a:avLst/>
          </a:prstGeom>
        </p:spPr>
      </p:pic>
      <p:sp>
        <p:nvSpPr>
          <p:cNvPr id="3" name="文本框 2"/>
          <p:cNvSpPr txBox="1"/>
          <p:nvPr/>
        </p:nvSpPr>
        <p:spPr>
          <a:xfrm>
            <a:off x="228600" y="4495800"/>
            <a:ext cx="11237595" cy="1429385"/>
          </a:xfrm>
          <a:prstGeom prst="rect">
            <a:avLst/>
          </a:prstGeom>
          <a:noFill/>
        </p:spPr>
        <p:txBody>
          <a:bodyPr wrap="square" rtlCol="0">
            <a:noAutofit/>
          </a:bodyPr>
          <a:p>
            <a:r>
              <a:rPr lang="en-US" altLang="zh-CN"/>
              <a:t>NetDiffusion</a:t>
            </a:r>
            <a:r>
              <a:rPr lang="zh-CN" altLang="en-US"/>
              <a:t>框架将扩散模型的操作原理扩展到网络流量数据。方法围绕三个主要组成部分</a:t>
            </a:r>
            <a:r>
              <a:rPr lang="en-US" altLang="zh-CN"/>
              <a:t>:</a:t>
            </a:r>
            <a:endParaRPr lang="en-US" altLang="zh-CN"/>
          </a:p>
          <a:p>
            <a:r>
              <a:rPr lang="en-US" altLang="zh-CN"/>
              <a:t>(1)</a:t>
            </a:r>
            <a:r>
              <a:rPr lang="zh-CN" altLang="en-US"/>
              <a:t>将数据包捕获</a:t>
            </a:r>
            <a:r>
              <a:rPr lang="en-US" altLang="zh-CN"/>
              <a:t>(pcap)</a:t>
            </a:r>
            <a:r>
              <a:rPr lang="zh-CN" altLang="en-US"/>
              <a:t>格式的</a:t>
            </a:r>
            <a:r>
              <a:rPr lang="zh-CN" altLang="en-US" b="1"/>
              <a:t>原始网络流量</a:t>
            </a:r>
            <a:r>
              <a:rPr lang="zh-CN" altLang="en-US"/>
              <a:t>转换为基于图像的表示</a:t>
            </a:r>
            <a:endParaRPr lang="zh-CN" altLang="en-US"/>
          </a:p>
          <a:p>
            <a:r>
              <a:rPr lang="en-US" altLang="zh-CN"/>
              <a:t>(2)</a:t>
            </a:r>
            <a:r>
              <a:rPr lang="zh-CN" altLang="en-US"/>
              <a:t>微调一个稳定的扩散模型，使受控的文本到流量的生成在报头字段与现实世界的网络流量之间具有高度的分布相似性</a:t>
            </a:r>
            <a:endParaRPr lang="zh-CN" altLang="en-US"/>
          </a:p>
          <a:p>
            <a:r>
              <a:rPr lang="en-US" altLang="zh-CN"/>
              <a:t>(3)</a:t>
            </a:r>
            <a:r>
              <a:rPr lang="zh-CN" altLang="en-US"/>
              <a:t>基于领域知识的后处理启发式方法，用于对生成的网络流量进行详细修改，以确保高水平的协议规则遵从性。</a:t>
            </a: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77470" y="69215"/>
            <a:ext cx="12033885" cy="5788025"/>
          </a:xfrm>
          <a:prstGeom prst="rect">
            <a:avLst/>
          </a:prstGeom>
          <a:noFill/>
        </p:spPr>
        <p:txBody>
          <a:bodyPr wrap="square" rtlCol="0">
            <a:noAutofit/>
          </a:bodyPr>
          <a:p>
            <a:r>
              <a:rPr lang="en-US" altLang="zh-CN"/>
              <a:t> </a:t>
            </a:r>
            <a:r>
              <a:rPr lang="zh-CN" altLang="en-US"/>
              <a:t>网络流量图像转换</a:t>
            </a:r>
            <a:endParaRPr lang="zh-CN" altLang="en-US"/>
          </a:p>
          <a:p>
            <a:endParaRPr lang="zh-CN" altLang="en-US"/>
          </a:p>
          <a:p>
            <a:r>
              <a:rPr lang="zh-CN" altLang="en-US"/>
              <a:t>为了获得网络流量的图像表示，首先使用</a:t>
            </a:r>
            <a:r>
              <a:rPr lang="en-US" altLang="zh-CN"/>
              <a:t>nPrint</a:t>
            </a:r>
            <a:r>
              <a:rPr lang="zh-CN" altLang="en-US"/>
              <a:t>对数据包捕获</a:t>
            </a:r>
            <a:r>
              <a:rPr lang="en-US" altLang="zh-CN"/>
              <a:t>(pcap)</a:t>
            </a:r>
            <a:r>
              <a:rPr lang="zh-CN" altLang="en-US"/>
              <a:t>进行编码，它将网络流量转换为标准化位，其中</a:t>
            </a:r>
            <a:r>
              <a:rPr lang="zh-CN" altLang="en-US" b="1"/>
              <a:t>每个位对应于一个数据包报头字段位</a:t>
            </a:r>
            <a:r>
              <a:rPr lang="zh-CN" altLang="en-US"/>
              <a:t>。</a:t>
            </a:r>
            <a:endParaRPr lang="zh-CN" altLang="en-US"/>
          </a:p>
          <a:p>
            <a:r>
              <a:rPr lang="en-US" altLang="zh-CN"/>
              <a:t>nPrint</a:t>
            </a:r>
            <a:r>
              <a:rPr lang="zh-CN" altLang="en-US"/>
              <a:t>使用位级和标准化的表示，通过考虑所有可能的报头字段</a:t>
            </a:r>
            <a:r>
              <a:rPr lang="en-US" altLang="zh-CN"/>
              <a:t>(</a:t>
            </a:r>
            <a:r>
              <a:rPr lang="zh-CN" altLang="en-US"/>
              <a:t>即使原始数据包中不存在</a:t>
            </a:r>
            <a:r>
              <a:rPr lang="en-US" altLang="zh-CN"/>
              <a:t>)</a:t>
            </a:r>
            <a:r>
              <a:rPr lang="zh-CN" altLang="en-US"/>
              <a:t>，为不同协议的每个数据包提供一致的格式。</a:t>
            </a:r>
            <a:r>
              <a:rPr lang="zh-CN" altLang="en-US" b="1">
                <a:sym typeface="+mn-ea"/>
              </a:rPr>
              <a:t>有效负载内容没有编码，因为它通常是加密的。</a:t>
            </a:r>
            <a:endParaRPr lang="zh-CN" altLang="en-US"/>
          </a:p>
          <a:p>
            <a:r>
              <a:rPr lang="zh-CN" altLang="en-US"/>
              <a:t>比特值定义：</a:t>
            </a:r>
            <a:r>
              <a:rPr lang="en-US" altLang="zh-CN"/>
              <a:t>                                                                            1</a:t>
            </a:r>
            <a:r>
              <a:rPr lang="zh-CN" altLang="en-US"/>
              <a:t>：字段存在且置位（如</a:t>
            </a:r>
            <a:r>
              <a:rPr lang="en-US" altLang="zh-CN"/>
              <a:t>SYN=1</a:t>
            </a:r>
            <a:r>
              <a:rPr lang="zh-CN" altLang="en-US"/>
              <a:t>）</a:t>
            </a:r>
            <a:r>
              <a:rPr lang="en-US" altLang="zh-CN"/>
              <a:t> </a:t>
            </a:r>
            <a:r>
              <a:rPr lang="en-US" altLang="en-US"/>
              <a:t>→</a:t>
            </a:r>
            <a:r>
              <a:rPr lang="en-US" altLang="zh-CN"/>
              <a:t> </a:t>
            </a:r>
            <a:r>
              <a:rPr lang="zh-CN" altLang="en-US"/>
              <a:t>绿色</a:t>
            </a:r>
            <a:endParaRPr lang="zh-CN" altLang="en-US"/>
          </a:p>
          <a:p>
            <a:r>
              <a:rPr lang="en-US" altLang="zh-CN"/>
              <a:t>0</a:t>
            </a:r>
            <a:r>
              <a:rPr lang="zh-CN" altLang="en-US"/>
              <a:t>：字段存在但未置位（如保留位</a:t>
            </a:r>
            <a:r>
              <a:rPr lang="en-US" altLang="zh-CN"/>
              <a:t>=0</a:t>
            </a:r>
            <a:r>
              <a:rPr lang="zh-CN" altLang="en-US"/>
              <a:t>）</a:t>
            </a:r>
            <a:r>
              <a:rPr lang="en-US" altLang="zh-CN"/>
              <a:t> </a:t>
            </a:r>
            <a:r>
              <a:rPr lang="en-US" altLang="en-US"/>
              <a:t>→</a:t>
            </a:r>
            <a:r>
              <a:rPr lang="en-US" altLang="zh-CN"/>
              <a:t> </a:t>
            </a:r>
            <a:r>
              <a:rPr lang="zh-CN" altLang="en-US"/>
              <a:t>红色</a:t>
            </a:r>
            <a:r>
              <a:rPr lang="en-US" altLang="zh-CN"/>
              <a:t>              -1</a:t>
            </a:r>
            <a:r>
              <a:rPr lang="zh-CN" altLang="en-US"/>
              <a:t>：字段缺失（如</a:t>
            </a:r>
            <a:r>
              <a:rPr lang="en-US" altLang="zh-CN"/>
              <a:t>UDP</a:t>
            </a:r>
            <a:r>
              <a:rPr lang="zh-CN" altLang="en-US"/>
              <a:t>包无</a:t>
            </a:r>
            <a:r>
              <a:rPr lang="en-US" altLang="zh-CN"/>
              <a:t>TCP</a:t>
            </a:r>
            <a:r>
              <a:rPr lang="zh-CN" altLang="en-US"/>
              <a:t>字段）</a:t>
            </a:r>
            <a:r>
              <a:rPr lang="en-US" altLang="zh-CN"/>
              <a:t> </a:t>
            </a:r>
            <a:r>
              <a:rPr lang="en-US" altLang="en-US"/>
              <a:t>→</a:t>
            </a:r>
            <a:r>
              <a:rPr lang="en-US" altLang="zh-CN"/>
              <a:t> </a:t>
            </a:r>
            <a:r>
              <a:rPr lang="zh-CN" altLang="en-US"/>
              <a:t>灰色</a:t>
            </a:r>
            <a:endParaRPr lang="zh-CN" altLang="en-US"/>
          </a:p>
          <a:p>
            <a:endParaRPr lang="zh-CN" altLang="en-US"/>
          </a:p>
          <a:p>
            <a:r>
              <a:rPr lang="zh-CN" altLang="en-US"/>
              <a:t>按照这种编码，</a:t>
            </a:r>
            <a:r>
              <a:rPr lang="en-US" altLang="zh-CN"/>
              <a:t>pcap</a:t>
            </a:r>
            <a:r>
              <a:rPr lang="zh-CN" altLang="en-US"/>
              <a:t>中的数据包序列被转换成矩阵，然后将其解释为图像。</a:t>
            </a:r>
            <a:endParaRPr lang="zh-CN" altLang="en-US"/>
          </a:p>
          <a:p>
            <a:r>
              <a:rPr lang="zh-CN" altLang="en-US"/>
              <a:t>绿色、红色和灰色分别代表一个设置位</a:t>
            </a:r>
            <a:r>
              <a:rPr lang="en-US" altLang="zh-CN"/>
              <a:t>(1)</a:t>
            </a:r>
            <a:r>
              <a:rPr lang="zh-CN" altLang="en-US"/>
              <a:t>、一个未设置位</a:t>
            </a:r>
            <a:r>
              <a:rPr lang="en-US" altLang="zh-CN"/>
              <a:t>(0)</a:t>
            </a:r>
            <a:r>
              <a:rPr lang="zh-CN" altLang="en-US"/>
              <a:t>和一个空位</a:t>
            </a:r>
            <a:r>
              <a:rPr lang="en-US" altLang="zh-CN"/>
              <a:t>(-1)</a:t>
            </a:r>
            <a:r>
              <a:rPr lang="zh-CN" altLang="en-US"/>
              <a:t>。</a:t>
            </a:r>
            <a:endParaRPr lang="zh-CN" altLang="en-US"/>
          </a:p>
          <a:p>
            <a:r>
              <a:rPr lang="zh-CN" altLang="en-US"/>
              <a:t>然后，将数据包分组为</a:t>
            </a:r>
            <a:r>
              <a:rPr lang="en-US" altLang="zh-CN"/>
              <a:t>1024</a:t>
            </a:r>
            <a:r>
              <a:rPr lang="zh-CN" altLang="en-US"/>
              <a:t>组，表示流中前</a:t>
            </a:r>
            <a:r>
              <a:rPr lang="en-US" altLang="zh-CN"/>
              <a:t>1024</a:t>
            </a:r>
            <a:r>
              <a:rPr lang="zh-CN" altLang="en-US"/>
              <a:t>个数据包的数据包头。通过这个过程，任何</a:t>
            </a:r>
            <a:r>
              <a:rPr lang="en-US" altLang="zh-CN"/>
              <a:t>pcap</a:t>
            </a:r>
            <a:r>
              <a:rPr lang="zh-CN" altLang="en-US"/>
              <a:t>格式的网络流量都被转换成宽</a:t>
            </a:r>
            <a:r>
              <a:rPr lang="en-US" altLang="zh-CN"/>
              <a:t>1088</a:t>
            </a:r>
            <a:r>
              <a:rPr lang="zh-CN" altLang="en-US"/>
              <a:t>像素、高</a:t>
            </a:r>
            <a:r>
              <a:rPr lang="en-US" altLang="zh-CN"/>
              <a:t>1024</a:t>
            </a:r>
            <a:r>
              <a:rPr lang="zh-CN" altLang="en-US"/>
              <a:t>像素的图像，每一行像素代表网络流量流中的一个数据包。</a:t>
            </a:r>
            <a:endParaRPr lang="zh-CN" altLang="en-US"/>
          </a:p>
          <a:p>
            <a:endParaRPr lang="zh-CN" altLang="en-US"/>
          </a:p>
          <a:p>
            <a:r>
              <a:rPr lang="en-US" altLang="zh-CN"/>
              <a:t>pcap-&gt;</a:t>
            </a:r>
            <a:r>
              <a:rPr lang="zh-CN" altLang="en-US"/>
              <a:t>多个流</a:t>
            </a:r>
            <a:r>
              <a:rPr lang="en-US" altLang="zh-CN"/>
              <a:t>-&gt;</a:t>
            </a:r>
            <a:r>
              <a:rPr lang="zh-CN" altLang="en-US"/>
              <a:t>每条流划分</a:t>
            </a:r>
            <a:r>
              <a:rPr lang="en-US" altLang="zh-CN"/>
              <a:t>1024</a:t>
            </a:r>
            <a:r>
              <a:rPr lang="zh-CN" altLang="en-US"/>
              <a:t>数据包</a:t>
            </a:r>
            <a:endParaRPr lang="zh-CN" altLang="en-US"/>
          </a:p>
          <a:p>
            <a:r>
              <a:rPr lang="en-US" altLang="zh-CN"/>
              <a:t>1088=IPv4</a:t>
            </a:r>
            <a:r>
              <a:rPr lang="zh-CN" altLang="en-US"/>
              <a:t>头部最大长度</a:t>
            </a:r>
            <a:r>
              <a:rPr lang="en-US" altLang="zh-CN"/>
              <a:t> (60</a:t>
            </a:r>
            <a:r>
              <a:rPr lang="zh-CN" altLang="en-US"/>
              <a:t>字节</a:t>
            </a:r>
            <a:r>
              <a:rPr lang="en-US" altLang="zh-CN"/>
              <a:t>480</a:t>
            </a:r>
            <a:r>
              <a:rPr lang="zh-CN" altLang="en-US"/>
              <a:t>比特</a:t>
            </a:r>
            <a:r>
              <a:rPr lang="en-US" altLang="zh-CN"/>
              <a:t>)+</a:t>
            </a:r>
            <a:r>
              <a:rPr lang="en-US" altLang="zh-CN">
                <a:sym typeface="+mn-ea"/>
              </a:rPr>
              <a:t>TCP </a:t>
            </a:r>
            <a:r>
              <a:rPr lang="zh-CN" altLang="en-US">
                <a:sym typeface="+mn-ea"/>
              </a:rPr>
              <a:t>头部</a:t>
            </a:r>
            <a:r>
              <a:rPr lang="en-US" altLang="zh-CN">
                <a:sym typeface="+mn-ea"/>
              </a:rPr>
              <a:t>(480)+UDP </a:t>
            </a:r>
            <a:r>
              <a:rPr lang="zh-CN" altLang="en-US">
                <a:sym typeface="+mn-ea"/>
              </a:rPr>
              <a:t>头部</a:t>
            </a:r>
            <a:r>
              <a:rPr lang="en-US" altLang="zh-CN">
                <a:sym typeface="+mn-ea"/>
              </a:rPr>
              <a:t>(64)+64</a:t>
            </a:r>
            <a:r>
              <a:rPr lang="zh-CN" altLang="en-US">
                <a:sym typeface="+mn-ea"/>
              </a:rPr>
              <a:t>，</a:t>
            </a:r>
            <a:r>
              <a:rPr lang="zh-CN" altLang="en-US"/>
              <a:t>现代</a:t>
            </a:r>
            <a:r>
              <a:rPr lang="en-US" altLang="zh-CN"/>
              <a:t>GPU</a:t>
            </a:r>
            <a:r>
              <a:rPr lang="zh-CN" altLang="en-US"/>
              <a:t>内存访问效率在</a:t>
            </a:r>
            <a:r>
              <a:rPr lang="en-US" altLang="zh-CN"/>
              <a:t>64</a:t>
            </a:r>
            <a:r>
              <a:rPr lang="zh-CN" altLang="en-US"/>
              <a:t>比特对齐时最高。</a:t>
            </a:r>
            <a:endParaRPr lang="zh-CN" altLang="en-US"/>
          </a:p>
          <a:p>
            <a:endParaRPr lang="en-US" altLang="zh-CN"/>
          </a:p>
          <a:p>
            <a:r>
              <a:rPr lang="zh-CN" altLang="en-US"/>
              <a:t>比如：</a:t>
            </a:r>
            <a:r>
              <a:rPr lang="en-US" altLang="zh-CN"/>
              <a:t>PCAP</a:t>
            </a:r>
            <a:r>
              <a:rPr lang="zh-CN" altLang="en-US"/>
              <a:t>文件（含</a:t>
            </a:r>
            <a:r>
              <a:rPr lang="en-US" altLang="zh-CN"/>
              <a:t>3</a:t>
            </a:r>
            <a:r>
              <a:rPr lang="zh-CN" altLang="en-US"/>
              <a:t>个流，包数分别为</a:t>
            </a:r>
            <a:r>
              <a:rPr lang="en-US" altLang="zh-CN"/>
              <a:t>500/1200/300</a:t>
            </a:r>
            <a:r>
              <a:rPr lang="zh-CN" altLang="en-US"/>
              <a:t>）</a:t>
            </a:r>
            <a:endParaRPr lang="zh-CN" altLang="en-US"/>
          </a:p>
          <a:p>
            <a:r>
              <a:rPr lang="zh-CN" altLang="en-US"/>
              <a:t>流</a:t>
            </a:r>
            <a:r>
              <a:rPr lang="en-US" altLang="zh-CN"/>
              <a:t>1</a:t>
            </a:r>
            <a:r>
              <a:rPr lang="zh-CN" altLang="en-US"/>
              <a:t>：</a:t>
            </a:r>
            <a:r>
              <a:rPr lang="en-US" altLang="zh-CN"/>
              <a:t>500</a:t>
            </a:r>
            <a:r>
              <a:rPr lang="zh-CN" altLang="en-US"/>
              <a:t>包</a:t>
            </a:r>
            <a:r>
              <a:rPr lang="en-US" altLang="zh-CN"/>
              <a:t> </a:t>
            </a:r>
            <a:r>
              <a:rPr lang="en-US" altLang="en-US"/>
              <a:t>→</a:t>
            </a:r>
            <a:r>
              <a:rPr lang="en-US" altLang="zh-CN"/>
              <a:t> 1</a:t>
            </a:r>
            <a:r>
              <a:rPr lang="zh-CN" altLang="en-US"/>
              <a:t>组（</a:t>
            </a:r>
            <a:r>
              <a:rPr lang="en-US" altLang="zh-CN"/>
              <a:t>500</a:t>
            </a:r>
            <a:r>
              <a:rPr lang="zh-CN" altLang="en-US"/>
              <a:t>包</a:t>
            </a:r>
            <a:r>
              <a:rPr lang="en-US" altLang="zh-CN"/>
              <a:t> + </a:t>
            </a:r>
            <a:r>
              <a:rPr lang="zh-CN" altLang="en-US"/>
              <a:t>填充</a:t>
            </a:r>
            <a:r>
              <a:rPr lang="en-US" altLang="zh-CN"/>
              <a:t>524</a:t>
            </a:r>
            <a:r>
              <a:rPr lang="zh-CN" altLang="en-US"/>
              <a:t>个</a:t>
            </a:r>
            <a:r>
              <a:rPr lang="en-US" altLang="zh-CN"/>
              <a:t>-1</a:t>
            </a:r>
            <a:r>
              <a:rPr lang="zh-CN" altLang="en-US"/>
              <a:t>）</a:t>
            </a:r>
            <a:endParaRPr lang="zh-CN" altLang="en-US"/>
          </a:p>
          <a:p>
            <a:r>
              <a:rPr lang="zh-CN" altLang="en-US"/>
              <a:t>流</a:t>
            </a:r>
            <a:r>
              <a:rPr lang="en-US" altLang="zh-CN"/>
              <a:t>2</a:t>
            </a:r>
            <a:r>
              <a:rPr lang="zh-CN" altLang="en-US"/>
              <a:t>：</a:t>
            </a:r>
            <a:r>
              <a:rPr lang="en-US" altLang="zh-CN"/>
              <a:t>1200</a:t>
            </a:r>
            <a:r>
              <a:rPr lang="zh-CN" altLang="en-US"/>
              <a:t>包</a:t>
            </a:r>
            <a:r>
              <a:rPr lang="en-US" altLang="zh-CN"/>
              <a:t> </a:t>
            </a:r>
            <a:r>
              <a:rPr lang="en-US" altLang="en-US"/>
              <a:t>→</a:t>
            </a:r>
            <a:r>
              <a:rPr lang="en-US" altLang="zh-CN"/>
              <a:t> 2</a:t>
            </a:r>
            <a:r>
              <a:rPr lang="zh-CN" altLang="en-US"/>
              <a:t>组（</a:t>
            </a:r>
            <a:r>
              <a:rPr lang="en-US" altLang="zh-CN"/>
              <a:t>1024</a:t>
            </a:r>
            <a:r>
              <a:rPr lang="zh-CN" altLang="en-US"/>
              <a:t>包</a:t>
            </a:r>
            <a:r>
              <a:rPr lang="en-US" altLang="zh-CN"/>
              <a:t> + 176</a:t>
            </a:r>
            <a:r>
              <a:rPr lang="zh-CN" altLang="en-US"/>
              <a:t>包</a:t>
            </a:r>
            <a:r>
              <a:rPr lang="en-US" altLang="zh-CN"/>
              <a:t> + </a:t>
            </a:r>
            <a:r>
              <a:rPr lang="zh-CN" altLang="en-US"/>
              <a:t>填充</a:t>
            </a:r>
            <a:r>
              <a:rPr lang="en-US" altLang="zh-CN"/>
              <a:t>848</a:t>
            </a:r>
            <a:r>
              <a:rPr lang="zh-CN" altLang="en-US"/>
              <a:t>个</a:t>
            </a:r>
            <a:r>
              <a:rPr lang="en-US" altLang="zh-CN"/>
              <a:t>-1</a:t>
            </a:r>
            <a:r>
              <a:rPr lang="zh-CN" altLang="en-US"/>
              <a:t>）</a:t>
            </a:r>
            <a:endParaRPr lang="zh-CN" altLang="en-US"/>
          </a:p>
          <a:p>
            <a:r>
              <a:rPr lang="zh-CN" altLang="en-US"/>
              <a:t>流</a:t>
            </a:r>
            <a:r>
              <a:rPr lang="en-US" altLang="zh-CN"/>
              <a:t>3</a:t>
            </a:r>
            <a:r>
              <a:rPr lang="zh-CN" altLang="en-US"/>
              <a:t>：</a:t>
            </a:r>
            <a:r>
              <a:rPr lang="en-US" altLang="zh-CN"/>
              <a:t>300</a:t>
            </a:r>
            <a:r>
              <a:rPr lang="zh-CN" altLang="en-US"/>
              <a:t>包</a:t>
            </a:r>
            <a:r>
              <a:rPr lang="en-US" altLang="zh-CN"/>
              <a:t> </a:t>
            </a:r>
            <a:r>
              <a:rPr lang="en-US" altLang="en-US"/>
              <a:t>→</a:t>
            </a:r>
            <a:r>
              <a:rPr lang="en-US" altLang="zh-CN"/>
              <a:t> 1</a:t>
            </a:r>
            <a:r>
              <a:rPr lang="zh-CN" altLang="en-US"/>
              <a:t>组（</a:t>
            </a:r>
            <a:r>
              <a:rPr lang="en-US" altLang="zh-CN"/>
              <a:t>300</a:t>
            </a:r>
            <a:r>
              <a:rPr lang="zh-CN" altLang="en-US"/>
              <a:t>包</a:t>
            </a:r>
            <a:r>
              <a:rPr lang="en-US" altLang="zh-CN"/>
              <a:t> + </a:t>
            </a:r>
            <a:r>
              <a:rPr lang="zh-CN" altLang="en-US"/>
              <a:t>填充</a:t>
            </a:r>
            <a:r>
              <a:rPr lang="en-US" altLang="zh-CN"/>
              <a:t>724</a:t>
            </a:r>
            <a:r>
              <a:rPr lang="zh-CN" altLang="en-US"/>
              <a:t>个</a:t>
            </a:r>
            <a:r>
              <a:rPr lang="en-US" altLang="zh-CN"/>
              <a:t>-1</a:t>
            </a:r>
            <a:r>
              <a:rPr lang="zh-CN" altLang="en-US"/>
              <a:t>）图像生成：共生成</a:t>
            </a:r>
            <a:r>
              <a:rPr lang="en-US" altLang="zh-CN"/>
              <a:t>4</a:t>
            </a:r>
            <a:r>
              <a:rPr lang="zh-CN" altLang="en-US"/>
              <a:t>张</a:t>
            </a:r>
            <a:r>
              <a:rPr lang="en-US" altLang="zh-CN"/>
              <a:t> 1024</a:t>
            </a:r>
            <a:r>
              <a:rPr lang="en-US" altLang="en-US"/>
              <a:t>×</a:t>
            </a:r>
            <a:r>
              <a:rPr lang="en-US" altLang="zh-CN"/>
              <a:t>1088 </a:t>
            </a:r>
            <a:r>
              <a:rPr lang="zh-CN" altLang="en-US"/>
              <a:t>图像。</a:t>
            </a:r>
            <a:endParaRPr lang="zh-CN" altLang="en-US"/>
          </a:p>
          <a:p>
            <a:r>
              <a:rPr lang="zh-CN" altLang="en-US"/>
              <a:t>这种格式的任何图像都可以以简单的方式转换回</a:t>
            </a:r>
            <a:r>
              <a:rPr lang="en-US" altLang="zh-CN"/>
              <a:t>pcaps</a:t>
            </a:r>
            <a:r>
              <a:rPr lang="zh-CN" altLang="en-US"/>
              <a:t>。</a:t>
            </a: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0" y="0"/>
            <a:ext cx="4064000" cy="368300"/>
          </a:xfrm>
          <a:prstGeom prst="rect">
            <a:avLst/>
          </a:prstGeom>
          <a:noFill/>
        </p:spPr>
        <p:txBody>
          <a:bodyPr wrap="square" rtlCol="0">
            <a:spAutoFit/>
          </a:bodyPr>
          <a:p>
            <a:r>
              <a:rPr lang="zh-CN" altLang="en-US"/>
              <a:t>微调扩散模型与控制生成</a:t>
            </a:r>
            <a:endParaRPr lang="zh-CN" altLang="en-US"/>
          </a:p>
        </p:txBody>
      </p:sp>
      <p:sp>
        <p:nvSpPr>
          <p:cNvPr id="4" name="文本框 3"/>
          <p:cNvSpPr txBox="1"/>
          <p:nvPr/>
        </p:nvSpPr>
        <p:spPr>
          <a:xfrm>
            <a:off x="161925" y="464820"/>
            <a:ext cx="11753215" cy="5880100"/>
          </a:xfrm>
          <a:prstGeom prst="rect">
            <a:avLst/>
          </a:prstGeom>
          <a:noFill/>
        </p:spPr>
        <p:txBody>
          <a:bodyPr wrap="square" rtlCol="0">
            <a:noAutofit/>
          </a:bodyPr>
          <a:p>
            <a:r>
              <a:rPr lang="zh-CN" altLang="en-US"/>
              <a:t>文本到图像</a:t>
            </a:r>
            <a:r>
              <a:rPr lang="zh-CN" altLang="en-US" b="1"/>
              <a:t>扩散模型在网络流量生成中的优势</a:t>
            </a:r>
            <a:endParaRPr lang="zh-CN" altLang="en-US" b="1"/>
          </a:p>
          <a:p>
            <a:r>
              <a:rPr lang="en-US" altLang="zh-CN"/>
              <a:t>(1)</a:t>
            </a:r>
            <a:r>
              <a:rPr lang="zh-CN" altLang="en-US"/>
              <a:t>高保真生成：</a:t>
            </a:r>
            <a:endParaRPr lang="zh-CN" altLang="en-US"/>
          </a:p>
          <a:p>
            <a:r>
              <a:rPr lang="zh-CN" altLang="en-US"/>
              <a:t>扩散模型在捕获和复制复杂的数据分布方面表现出色，保真度高。扩散模型模仿这些模式的能力确保了它们产生的合成轨迹</a:t>
            </a:r>
            <a:r>
              <a:rPr lang="zh-CN" altLang="en-US" b="1"/>
              <a:t>与真实轨迹高度相似</a:t>
            </a:r>
            <a:r>
              <a:rPr lang="zh-CN" altLang="en-US"/>
              <a:t>。</a:t>
            </a:r>
            <a:endParaRPr lang="zh-CN" altLang="en-US"/>
          </a:p>
          <a:p>
            <a:endParaRPr lang="zh-CN" altLang="en-US"/>
          </a:p>
          <a:p>
            <a:r>
              <a:rPr lang="en-US" altLang="zh-CN"/>
              <a:t>(2)</a:t>
            </a:r>
            <a:r>
              <a:rPr lang="zh-CN" altLang="en-US"/>
              <a:t>高分辨率图像处理：</a:t>
            </a:r>
            <a:endParaRPr lang="zh-CN" altLang="en-US"/>
          </a:p>
          <a:p>
            <a:r>
              <a:rPr lang="zh-CN" altLang="en-US"/>
              <a:t>扩散模型通过潜在扩散等技术，擅长</a:t>
            </a:r>
            <a:r>
              <a:rPr lang="zh-CN" altLang="en-US" b="1"/>
              <a:t>生成和管理高分辨率图像</a:t>
            </a:r>
            <a:r>
              <a:rPr lang="zh-CN" altLang="en-US"/>
              <a:t>。这个功能对</a:t>
            </a:r>
            <a:r>
              <a:rPr lang="en-US" altLang="zh-CN"/>
              <a:t>NetDiffusion</a:t>
            </a:r>
            <a:r>
              <a:rPr lang="zh-CN" altLang="en-US"/>
              <a:t>框架至关重要，因为它需要网络流量的图像表示高分辨率的准确性和细节保留。</a:t>
            </a:r>
            <a:endParaRPr lang="zh-CN" altLang="en-US"/>
          </a:p>
          <a:p>
            <a:endParaRPr lang="zh-CN" altLang="en-US"/>
          </a:p>
          <a:p>
            <a:r>
              <a:rPr lang="en-US" altLang="zh-CN"/>
              <a:t>(3)</a:t>
            </a:r>
            <a:r>
              <a:rPr lang="zh-CN" altLang="en-US"/>
              <a:t>条件生成：</a:t>
            </a:r>
            <a:endParaRPr lang="zh-CN" altLang="en-US"/>
          </a:p>
          <a:p>
            <a:r>
              <a:rPr lang="zh-CN" altLang="en-US"/>
              <a:t>通过允许基于文本提示的条件生成，可以指示文本到图像扩散模型生成特定类别的网络流量。</a:t>
            </a:r>
            <a:endParaRPr lang="zh-CN" altLang="en-US"/>
          </a:p>
          <a:p>
            <a:r>
              <a:rPr lang="zh-CN" altLang="en-US"/>
              <a:t>该模型在</a:t>
            </a:r>
            <a:r>
              <a:rPr lang="zh-CN" altLang="en-US" b="1"/>
              <a:t>训练阶段通过根据给定的文本提示</a:t>
            </a:r>
            <a:r>
              <a:rPr lang="zh-CN" altLang="en-US"/>
              <a:t>调整其反向扩散轨迹来</a:t>
            </a:r>
            <a:r>
              <a:rPr lang="zh-CN" altLang="en-US" b="1"/>
              <a:t>学习文本和图像之间</a:t>
            </a:r>
            <a:r>
              <a:rPr lang="zh-CN" altLang="en-US"/>
              <a:t>的关系。这确保了最终生成的图像与期望的图像分布一致。</a:t>
            </a:r>
            <a:endParaRPr lang="zh-CN" altLang="en-US"/>
          </a:p>
          <a:p>
            <a:endParaRPr lang="zh-CN" altLang="en-US"/>
          </a:p>
          <a:p>
            <a:r>
              <a:rPr lang="en-US" altLang="zh-CN"/>
              <a:t>(4)</a:t>
            </a:r>
            <a:r>
              <a:rPr lang="zh-CN" altLang="en-US"/>
              <a:t>透明性和训练稳定性：扩散模型的性质保证了生成过程的透明性，从而产生可重复的结果，它显示了良好的可解释性。</a:t>
            </a:r>
            <a:endParaRPr lang="zh-CN" altLang="en-US"/>
          </a:p>
          <a:p>
            <a:r>
              <a:rPr lang="zh-CN" altLang="en-US"/>
              <a:t>由于</a:t>
            </a:r>
            <a:r>
              <a:rPr lang="en-US" altLang="zh-CN"/>
              <a:t>GAN</a:t>
            </a:r>
            <a:r>
              <a:rPr lang="zh-CN" altLang="en-US"/>
              <a:t>的对抗性，</a:t>
            </a:r>
            <a:r>
              <a:rPr lang="zh-CN" altLang="en-US">
                <a:sym typeface="+mn-ea"/>
              </a:rPr>
              <a:t>它的训练动态常常是不可预测的</a:t>
            </a:r>
            <a:r>
              <a:rPr lang="zh-CN" altLang="en-US"/>
              <a:t>，而扩散模型则表现出稳定的训练行为和良好的梯度动态。这种稳定性不仅确保了一致和无异常输出，而且简化了优化过程。</a:t>
            </a: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0" y="0"/>
            <a:ext cx="4064000" cy="368300"/>
          </a:xfrm>
          <a:prstGeom prst="rect">
            <a:avLst/>
          </a:prstGeom>
          <a:noFill/>
        </p:spPr>
        <p:txBody>
          <a:bodyPr wrap="square" rtlCol="0">
            <a:spAutoFit/>
          </a:bodyPr>
          <a:p>
            <a:r>
              <a:rPr lang="zh-CN" altLang="en-US"/>
              <a:t>基于</a:t>
            </a:r>
            <a:r>
              <a:rPr lang="en-US" altLang="zh-CN"/>
              <a:t>LoRa</a:t>
            </a:r>
            <a:r>
              <a:rPr lang="zh-CN" altLang="en-US"/>
              <a:t>的稳定扩散基模型微调</a:t>
            </a:r>
            <a:endParaRPr lang="zh-CN" altLang="en-US"/>
          </a:p>
        </p:txBody>
      </p:sp>
      <p:sp>
        <p:nvSpPr>
          <p:cNvPr id="4" name="文本框 3"/>
          <p:cNvSpPr txBox="1"/>
          <p:nvPr/>
        </p:nvSpPr>
        <p:spPr>
          <a:xfrm>
            <a:off x="0" y="638175"/>
            <a:ext cx="12173585" cy="4128770"/>
          </a:xfrm>
          <a:prstGeom prst="rect">
            <a:avLst/>
          </a:prstGeom>
          <a:noFill/>
        </p:spPr>
        <p:txBody>
          <a:bodyPr wrap="square" rtlCol="0">
            <a:noAutofit/>
          </a:bodyPr>
          <a:p>
            <a:r>
              <a:rPr lang="zh-CN" altLang="en-US"/>
              <a:t>在</a:t>
            </a:r>
            <a:r>
              <a:rPr lang="en-US" altLang="zh-CN"/>
              <a:t>Stable Diffusion 1.5</a:t>
            </a:r>
            <a:r>
              <a:rPr lang="zh-CN" altLang="en-US"/>
              <a:t>上进行微调，该模型已经在</a:t>
            </a:r>
            <a:r>
              <a:rPr lang="en-US" altLang="zh-CN"/>
              <a:t>LAION-5B</a:t>
            </a:r>
            <a:r>
              <a:rPr lang="zh-CN" altLang="en-US"/>
              <a:t>数据集上进行了预训练，该数据集包含超过</a:t>
            </a:r>
            <a:r>
              <a:rPr lang="en-US" altLang="zh-CN"/>
              <a:t>5.85B</a:t>
            </a:r>
            <a:r>
              <a:rPr lang="zh-CN" altLang="en-US"/>
              <a:t>个</a:t>
            </a:r>
            <a:r>
              <a:rPr lang="en-US" altLang="zh-CN"/>
              <a:t>clip</a:t>
            </a:r>
            <a:r>
              <a:rPr lang="zh-CN" altLang="en-US"/>
              <a:t>过滤的图像</a:t>
            </a:r>
            <a:r>
              <a:rPr lang="en-US" altLang="zh-CN"/>
              <a:t>-</a:t>
            </a:r>
            <a:r>
              <a:rPr lang="zh-CN" altLang="en-US"/>
              <a:t>文本对。对特定网络数据集的稳定扩散进行微调，可以增强模型的表达能力，使其能够更好地与网络流量域的特定模式或嵌入相关联。</a:t>
            </a:r>
            <a:endParaRPr lang="zh-CN" altLang="en-US"/>
          </a:p>
          <a:p>
            <a:r>
              <a:rPr lang="zh-CN" altLang="en-US"/>
              <a:t>为了加速微调，采用了低秩自适应</a:t>
            </a:r>
            <a:r>
              <a:rPr lang="en-US" altLang="zh-CN"/>
              <a:t>(LoRa)</a:t>
            </a:r>
            <a:r>
              <a:rPr lang="zh-CN" altLang="en-US"/>
              <a:t>，用于快速微调</a:t>
            </a:r>
            <a:r>
              <a:rPr lang="zh-CN" altLang="en-US">
                <a:sym typeface="+mn-ea"/>
              </a:rPr>
              <a:t>文本到图像的</a:t>
            </a:r>
            <a:r>
              <a:rPr lang="zh-CN" altLang="en-US"/>
              <a:t>扩散模型的训练技术。</a:t>
            </a:r>
            <a:endParaRPr lang="zh-CN" altLang="en-US"/>
          </a:p>
          <a:p>
            <a:r>
              <a:rPr lang="zh-CN" altLang="en-US"/>
              <a:t>模型在微调过程中的权重变化</a:t>
            </a:r>
            <a:r>
              <a:rPr lang="en-US" altLang="zh-CN"/>
              <a:t> ΔW </a:t>
            </a:r>
            <a:r>
              <a:rPr lang="zh-CN" altLang="en-US"/>
              <a:t>具有低秩特性。因此，可以用两个小矩阵的乘积</a:t>
            </a:r>
            <a:r>
              <a:rPr lang="en-US" altLang="zh-CN"/>
              <a:t> B·A </a:t>
            </a:r>
            <a:r>
              <a:rPr lang="zh-CN" altLang="en-US"/>
              <a:t>来近似表示</a:t>
            </a:r>
            <a:r>
              <a:rPr lang="en-US" altLang="zh-CN"/>
              <a:t> ΔW</a:t>
            </a:r>
            <a:r>
              <a:rPr lang="zh-CN" altLang="en-US"/>
              <a:t>。</a:t>
            </a:r>
            <a:endParaRPr lang="zh-CN" altLang="en-US"/>
          </a:p>
          <a:p>
            <a:endParaRPr lang="zh-CN" altLang="en-US"/>
          </a:p>
          <a:p>
            <a:r>
              <a:rPr lang="zh-CN" altLang="en-US"/>
              <a:t>流程：</a:t>
            </a:r>
            <a:endParaRPr lang="zh-CN" altLang="en-US"/>
          </a:p>
          <a:p>
            <a:r>
              <a:rPr lang="zh-CN" altLang="en-US"/>
              <a:t>从真实网络流量数据集中抽样，把流量样本转换成图像表示</a:t>
            </a:r>
            <a:endParaRPr lang="zh-CN" altLang="en-US"/>
          </a:p>
          <a:p>
            <a:r>
              <a:rPr lang="zh-CN" altLang="en-US"/>
              <a:t>为</a:t>
            </a:r>
            <a:r>
              <a:rPr lang="zh-CN" altLang="en-US" b="1"/>
              <a:t>每类流量图像设计一个独特的文本提示</a:t>
            </a:r>
            <a:r>
              <a:rPr lang="zh-CN" altLang="en-US"/>
              <a:t>（例如</a:t>
            </a:r>
            <a:r>
              <a:rPr lang="en-US" altLang="zh-CN"/>
              <a:t>“Netflix </a:t>
            </a:r>
            <a:r>
              <a:rPr lang="zh-CN" altLang="en-US"/>
              <a:t>流量的</a:t>
            </a:r>
            <a:r>
              <a:rPr lang="en-US" altLang="zh-CN"/>
              <a:t>type 0”</a:t>
            </a:r>
            <a:r>
              <a:rPr lang="zh-CN" altLang="en-US"/>
              <a:t>），用简洁的文本描述其所属的流量类别</a:t>
            </a:r>
            <a:endParaRPr lang="zh-CN" altLang="en-US"/>
          </a:p>
          <a:p>
            <a:r>
              <a:rPr lang="zh-CN" altLang="en-US"/>
              <a:t>这些文本提示对应数据集中不同的网络流量类型，例如在评估任务中使用了</a:t>
            </a:r>
            <a:r>
              <a:rPr lang="en-US" altLang="zh-CN"/>
              <a:t> 10 </a:t>
            </a:r>
            <a:r>
              <a:rPr lang="zh-CN" altLang="en-US"/>
              <a:t>个应用程序的流量，就对应</a:t>
            </a:r>
            <a:r>
              <a:rPr lang="en-US" altLang="zh-CN"/>
              <a:t> 10 </a:t>
            </a:r>
            <a:r>
              <a:rPr lang="zh-CN" altLang="en-US"/>
              <a:t>种不同的文本提示类别，</a:t>
            </a:r>
            <a:r>
              <a:rPr lang="zh-CN" altLang="en-US" b="1"/>
              <a:t>如</a:t>
            </a:r>
            <a:r>
              <a:rPr lang="en-US" altLang="zh-CN" b="1"/>
              <a:t> Zoom </a:t>
            </a:r>
            <a:r>
              <a:rPr lang="zh-CN" altLang="en-US" b="1"/>
              <a:t>流量用</a:t>
            </a:r>
            <a:r>
              <a:rPr lang="en-US" altLang="zh-CN" b="1"/>
              <a:t>“</a:t>
            </a:r>
            <a:r>
              <a:rPr lang="zh-CN" altLang="en-US" b="1"/>
              <a:t>像素化网络数据，类型</a:t>
            </a:r>
            <a:r>
              <a:rPr lang="en-US" altLang="zh-CN" b="1"/>
              <a:t> 5”</a:t>
            </a:r>
            <a:r>
              <a:rPr lang="zh-CN" altLang="en-US"/>
              <a:t>、</a:t>
            </a:r>
            <a:r>
              <a:rPr lang="en-US" altLang="zh-CN" b="1"/>
              <a:t>Google Meet </a:t>
            </a:r>
            <a:r>
              <a:rPr lang="zh-CN" altLang="en-US" b="1"/>
              <a:t>流量用</a:t>
            </a:r>
            <a:r>
              <a:rPr lang="en-US" altLang="zh-CN" b="1"/>
              <a:t>“</a:t>
            </a:r>
            <a:r>
              <a:rPr lang="zh-CN" altLang="en-US" b="1"/>
              <a:t>像素化网络数据，类型</a:t>
            </a:r>
            <a:r>
              <a:rPr lang="en-US" altLang="zh-CN" b="1"/>
              <a:t> 6”</a:t>
            </a:r>
            <a:r>
              <a:rPr lang="zh-CN" altLang="en-US"/>
              <a:t>等。</a:t>
            </a:r>
            <a:endParaRPr lang="zh-CN" altLang="en-US"/>
          </a:p>
          <a:p>
            <a:r>
              <a:rPr lang="zh-CN" altLang="en-US"/>
              <a:t>最终利用这些文本</a:t>
            </a:r>
            <a:r>
              <a:rPr lang="en-US" altLang="zh-CN"/>
              <a:t>‑</a:t>
            </a:r>
            <a:r>
              <a:rPr lang="zh-CN" altLang="en-US"/>
              <a:t>图像对来微调扩散模型以生成合成流量数据，通过扩散模型的文本编码器，处理得到向量嵌入，输入模型微调</a:t>
            </a:r>
            <a:endParaRPr lang="zh-CN" altLang="en-US"/>
          </a:p>
          <a:p>
            <a:endParaRPr lang="zh-CN" altLang="en-US"/>
          </a:p>
          <a:p>
            <a:r>
              <a:rPr lang="zh-CN" altLang="en-US"/>
              <a:t>实现了两个主要目标。</a:t>
            </a:r>
            <a:endParaRPr lang="zh-CN" altLang="en-US"/>
          </a:p>
          <a:p>
            <a:r>
              <a:rPr lang="zh-CN" altLang="en-US"/>
              <a:t>（</a:t>
            </a:r>
            <a:r>
              <a:rPr lang="en-US" altLang="zh-CN"/>
              <a:t>1</a:t>
            </a:r>
            <a:r>
              <a:rPr lang="zh-CN" altLang="en-US"/>
              <a:t>）它提供了一个特定的词汇表，可以减少歧义，并确保模型关注网络流量的细微差别。</a:t>
            </a:r>
            <a:endParaRPr lang="zh-CN" altLang="en-US"/>
          </a:p>
          <a:p>
            <a:r>
              <a:rPr lang="zh-CN" altLang="en-US"/>
              <a:t>（</a:t>
            </a:r>
            <a:r>
              <a:rPr lang="en-US" altLang="zh-CN"/>
              <a:t>2</a:t>
            </a:r>
            <a:r>
              <a:rPr lang="zh-CN" altLang="en-US"/>
              <a:t>）此外，它最大限度地减少了来自基本模型原始词嵌入的干扰，优化了生成过程。</a:t>
            </a:r>
            <a:endParaRPr lang="zh-CN" altLang="en-US"/>
          </a:p>
          <a:p>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0" y="0"/>
            <a:ext cx="4064000" cy="645160"/>
          </a:xfrm>
          <a:prstGeom prst="rect">
            <a:avLst/>
          </a:prstGeom>
          <a:noFill/>
        </p:spPr>
        <p:txBody>
          <a:bodyPr wrap="square" rtlCol="0">
            <a:spAutoFit/>
          </a:bodyPr>
          <a:p>
            <a:r>
              <a:rPr lang="zh-CN" altLang="en-US">
                <a:sym typeface="+mn-ea"/>
              </a:rPr>
              <a:t>提升传输与网络层协议合规性</a:t>
            </a:r>
            <a:r>
              <a:rPr lang="en-US" altLang="zh-CN"/>
              <a:t>ControlNet</a:t>
            </a:r>
            <a:r>
              <a:rPr lang="zh-CN" altLang="en-US"/>
              <a:t>的基于控制提示的生成</a:t>
            </a:r>
            <a:endParaRPr lang="zh-CN" altLang="en-US"/>
          </a:p>
        </p:txBody>
      </p:sp>
      <p:sp>
        <p:nvSpPr>
          <p:cNvPr id="4" name="文本框 3"/>
          <p:cNvSpPr txBox="1"/>
          <p:nvPr/>
        </p:nvSpPr>
        <p:spPr>
          <a:xfrm>
            <a:off x="-635" y="685800"/>
            <a:ext cx="12078970" cy="4672330"/>
          </a:xfrm>
          <a:prstGeom prst="rect">
            <a:avLst/>
          </a:prstGeom>
          <a:noFill/>
        </p:spPr>
        <p:txBody>
          <a:bodyPr wrap="square" rtlCol="0">
            <a:noAutofit/>
          </a:bodyPr>
          <a:p>
            <a:r>
              <a:rPr lang="zh-CN" altLang="en-US"/>
              <a:t>通过向扩散模型输入描述流量类别的文本提示（如</a:t>
            </a:r>
            <a:r>
              <a:rPr lang="en-US" altLang="zh-CN"/>
              <a:t>“</a:t>
            </a:r>
            <a:r>
              <a:rPr lang="zh-CN" altLang="en-US"/>
              <a:t>像素化网络数据，类型</a:t>
            </a:r>
            <a:r>
              <a:rPr lang="en-US" altLang="zh-CN"/>
              <a:t> 5”</a:t>
            </a:r>
            <a:r>
              <a:rPr lang="zh-CN" altLang="en-US"/>
              <a:t>对应</a:t>
            </a:r>
            <a:r>
              <a:rPr lang="en-US" altLang="zh-CN"/>
              <a:t> Zoom </a:t>
            </a:r>
            <a:r>
              <a:rPr lang="zh-CN" altLang="en-US"/>
              <a:t>流量），模型逐步去噪并生成对应的流量图像表示，从而合成符合类分布要求的</a:t>
            </a:r>
            <a:r>
              <a:rPr lang="en-US" altLang="zh-CN"/>
              <a:t> nPrint </a:t>
            </a:r>
            <a:r>
              <a:rPr lang="zh-CN" altLang="en-US"/>
              <a:t>编码流量数据集</a:t>
            </a:r>
            <a:endParaRPr lang="zh-CN" altLang="en-US"/>
          </a:p>
          <a:p>
            <a:r>
              <a:rPr lang="zh-CN" altLang="en-US"/>
              <a:t>图中展示了一个用于</a:t>
            </a:r>
            <a:r>
              <a:rPr lang="en-US" altLang="zh-CN"/>
              <a:t>Amazon</a:t>
            </a:r>
            <a:r>
              <a:rPr lang="zh-CN" altLang="en-US"/>
              <a:t>流量的图像表示的示例合成网络流量。</a:t>
            </a:r>
            <a:endParaRPr lang="zh-CN" altLang="en-US"/>
          </a:p>
          <a:p>
            <a:endParaRPr lang="zh-CN" altLang="en-US"/>
          </a:p>
          <a:p>
            <a:r>
              <a:rPr lang="zh-CN" altLang="en-US"/>
              <a:t>但是生成的流量可能存在</a:t>
            </a:r>
            <a:r>
              <a:rPr lang="zh-CN" altLang="en-US" b="1"/>
              <a:t>合成流量和真实流量之间的协议分布差异</a:t>
            </a:r>
            <a:r>
              <a:rPr lang="zh-CN" altLang="en-US"/>
              <a:t>。</a:t>
            </a:r>
            <a:endParaRPr lang="zh-CN" altLang="en-US"/>
          </a:p>
          <a:p>
            <a:r>
              <a:rPr lang="zh-CN" altLang="en-US"/>
              <a:t>为了确保生成的流量与实际流量中观察到的流行协议和报头字段值分布紧密一致，在生成过程中引入了一定的约束。</a:t>
            </a:r>
            <a:endParaRPr lang="zh-CN" altLang="en-US"/>
          </a:p>
          <a:p>
            <a:r>
              <a:rPr lang="zh-CN" altLang="en-US"/>
              <a:t>例如，若</a:t>
            </a:r>
            <a:r>
              <a:rPr lang="en-US" altLang="zh-CN"/>
              <a:t>Amazon</a:t>
            </a:r>
            <a:r>
              <a:rPr lang="zh-CN" altLang="en-US"/>
              <a:t>网络流量主要由</a:t>
            </a:r>
            <a:r>
              <a:rPr lang="en-US" altLang="zh-CN"/>
              <a:t>TCP</a:t>
            </a:r>
            <a:r>
              <a:rPr lang="zh-CN" altLang="en-US"/>
              <a:t>数据包组成，则生成过程应该优先填充与</a:t>
            </a:r>
            <a:r>
              <a:rPr lang="en-US" altLang="zh-CN"/>
              <a:t>TCP</a:t>
            </a:r>
            <a:r>
              <a:rPr lang="zh-CN" altLang="en-US"/>
              <a:t>数据包相关的报头字段。这种方法确保生成的流量图像主要具有与</a:t>
            </a:r>
            <a:r>
              <a:rPr lang="en-US" altLang="zh-CN"/>
              <a:t>TCP</a:t>
            </a:r>
            <a:r>
              <a:rPr lang="zh-CN" altLang="en-US"/>
              <a:t>包头对应的绿色或红色像素，而其他像素保持灰色。</a:t>
            </a:r>
            <a:endParaRPr lang="zh-CN" altLang="en-US"/>
          </a:p>
          <a:p>
            <a:endParaRPr lang="zh-CN" altLang="en-US"/>
          </a:p>
          <a:p>
            <a:endParaRPr lang="zh-CN" altLang="en-US"/>
          </a:p>
        </p:txBody>
      </p:sp>
      <p:pic>
        <p:nvPicPr>
          <p:cNvPr id="5" name="图片 4"/>
          <p:cNvPicPr>
            <a:picLocks noChangeAspect="1"/>
          </p:cNvPicPr>
          <p:nvPr/>
        </p:nvPicPr>
        <p:blipFill>
          <a:blip r:embed="rId1"/>
          <a:stretch>
            <a:fillRect/>
          </a:stretch>
        </p:blipFill>
        <p:spPr>
          <a:xfrm>
            <a:off x="533400" y="3048000"/>
            <a:ext cx="11506200" cy="28352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0" y="0"/>
            <a:ext cx="4064000" cy="645160"/>
          </a:xfrm>
          <a:prstGeom prst="rect">
            <a:avLst/>
          </a:prstGeom>
          <a:noFill/>
        </p:spPr>
        <p:txBody>
          <a:bodyPr wrap="square" rtlCol="0">
            <a:spAutoFit/>
          </a:bodyPr>
          <a:p>
            <a:r>
              <a:rPr lang="zh-CN" altLang="en-US">
                <a:sym typeface="+mn-ea"/>
              </a:rPr>
              <a:t>提升传输与网络层协议合规性</a:t>
            </a:r>
            <a:endParaRPr lang="zh-CN" altLang="en-US"/>
          </a:p>
          <a:p>
            <a:r>
              <a:rPr lang="zh-CN" altLang="en-US"/>
              <a:t>通过</a:t>
            </a:r>
            <a:r>
              <a:rPr lang="en-US" altLang="zh-CN"/>
              <a:t>ControlNet</a:t>
            </a:r>
            <a:r>
              <a:rPr lang="zh-CN" altLang="en-US"/>
              <a:t>的基于控制提示的生成</a:t>
            </a:r>
            <a:endParaRPr lang="zh-CN" altLang="en-US"/>
          </a:p>
        </p:txBody>
      </p:sp>
      <p:sp>
        <p:nvSpPr>
          <p:cNvPr id="4" name="文本框 3"/>
          <p:cNvSpPr txBox="1"/>
          <p:nvPr/>
        </p:nvSpPr>
        <p:spPr>
          <a:xfrm>
            <a:off x="0" y="645160"/>
            <a:ext cx="12078970" cy="4672330"/>
          </a:xfrm>
          <a:prstGeom prst="rect">
            <a:avLst/>
          </a:prstGeom>
          <a:noFill/>
        </p:spPr>
        <p:txBody>
          <a:bodyPr wrap="square" rtlCol="0">
            <a:noAutofit/>
          </a:bodyPr>
          <a:p>
            <a:r>
              <a:rPr lang="zh-CN" altLang="en-US"/>
              <a:t>为了克服扩散模型可能产生的协议字段填充错误，文中集成</a:t>
            </a:r>
            <a:r>
              <a:rPr lang="en-US" altLang="zh-CN"/>
              <a:t> ControlNet </a:t>
            </a:r>
            <a:r>
              <a:rPr lang="zh-CN" altLang="en-US"/>
              <a:t>架构，借助其空间条件控制能力（使用</a:t>
            </a:r>
            <a:r>
              <a:rPr lang="en-US" altLang="zh-CN"/>
              <a:t> M‑LSD </a:t>
            </a:r>
            <a:r>
              <a:rPr lang="zh-CN" altLang="en-US"/>
              <a:t>直线检测或</a:t>
            </a:r>
            <a:r>
              <a:rPr lang="en-US" altLang="zh-CN"/>
              <a:t> Canny </a:t>
            </a:r>
            <a:r>
              <a:rPr lang="zh-CN" altLang="en-US"/>
              <a:t>边缘检测）来识别并约束报头字段的边界，使生成的流量图像在像素级别更贴近真实流量的协议分布（例如</a:t>
            </a:r>
            <a:r>
              <a:rPr lang="en-US" altLang="zh-CN"/>
              <a:t> Amazon </a:t>
            </a:r>
            <a:r>
              <a:rPr lang="zh-CN" altLang="en-US"/>
              <a:t>流量中</a:t>
            </a:r>
            <a:r>
              <a:rPr lang="en-US" altLang="zh-CN"/>
              <a:t> TCP </a:t>
            </a:r>
            <a:r>
              <a:rPr lang="zh-CN" altLang="en-US"/>
              <a:t>包头对应的绿色</a:t>
            </a:r>
            <a:r>
              <a:rPr lang="en-US" altLang="zh-CN"/>
              <a:t>/</a:t>
            </a:r>
            <a:r>
              <a:rPr lang="zh-CN" altLang="en-US"/>
              <a:t>红色像素）结合</a:t>
            </a:r>
            <a:r>
              <a:rPr lang="en-US" altLang="zh-CN"/>
              <a:t>ControlNet</a:t>
            </a:r>
            <a:r>
              <a:rPr lang="zh-CN" altLang="en-US"/>
              <a:t>允许合成生成过程更接近地模拟在真实网络流量中观察到的协议和报头字段值分布。这样可以最大限度地减少偏差，并确保生成的数据包在很大程度上符合预期的协议类型和报头字段值，从而提高合成网络流量数据集的质量和可靠性。</a:t>
            </a:r>
            <a:endParaRPr lang="zh-CN" altLang="en-US"/>
          </a:p>
          <a:p>
            <a:r>
              <a:rPr lang="en-US" altLang="zh-CN"/>
              <a:t>ControlNet </a:t>
            </a:r>
            <a:r>
              <a:rPr lang="zh-CN" altLang="en-US"/>
              <a:t>提供粗粒度控制（确定填充区域），扩散模型本身提供细粒度控制（指定像素值）</a:t>
            </a:r>
            <a:endParaRPr lang="zh-CN" altLang="en-US"/>
          </a:p>
          <a:p>
            <a:endParaRPr lang="zh-CN" altLang="en-US"/>
          </a:p>
          <a:p>
            <a:r>
              <a:rPr lang="en-US" altLang="zh-CN"/>
              <a:t>M-LSD </a:t>
            </a:r>
            <a:r>
              <a:rPr lang="zh-CN" altLang="en-US"/>
              <a:t>直线检测：一种轻量级算法，专门从图像中提取直线段，用于检测网络流量图像中包头字段之间的分界轮廓。</a:t>
            </a:r>
            <a:endParaRPr lang="zh-CN" altLang="en-US"/>
          </a:p>
          <a:p>
            <a:r>
              <a:rPr lang="en-US" altLang="zh-CN"/>
              <a:t>Canny </a:t>
            </a:r>
            <a:r>
              <a:rPr lang="zh-CN" altLang="en-US"/>
              <a:t>边缘检测：经典的边缘提取算法，通过多步骤滤波与阈值处理得到整体边缘图，用于捕捉包头字段的完整轮廓。</a:t>
            </a:r>
            <a:endParaRPr lang="zh-CN" altLang="en-US"/>
          </a:p>
          <a:p>
            <a:r>
              <a:rPr lang="en-US" altLang="zh-CN"/>
              <a:t>ControlNet</a:t>
            </a:r>
            <a:r>
              <a:rPr lang="zh-CN" altLang="en-US"/>
              <a:t>：一种神经网络架构，通过输入边缘</a:t>
            </a:r>
            <a:r>
              <a:rPr lang="en-US" altLang="zh-CN"/>
              <a:t>/</a:t>
            </a:r>
            <a:r>
              <a:rPr lang="zh-CN" altLang="en-US"/>
              <a:t>直线等空间条件图，引导扩散模型生成符合指定结构的图像，控制图像轮廓，从而控制合成网络流量的协议字段分布。</a:t>
            </a:r>
            <a:endParaRPr lang="zh-CN" altLang="en-US"/>
          </a:p>
        </p:txBody>
      </p:sp>
      <p:pic>
        <p:nvPicPr>
          <p:cNvPr id="5" name="图片 4"/>
          <p:cNvPicPr>
            <a:picLocks noChangeAspect="1"/>
          </p:cNvPicPr>
          <p:nvPr/>
        </p:nvPicPr>
        <p:blipFill>
          <a:blip r:embed="rId1"/>
          <a:stretch>
            <a:fillRect/>
          </a:stretch>
        </p:blipFill>
        <p:spPr>
          <a:xfrm>
            <a:off x="533400" y="4038600"/>
            <a:ext cx="11377295" cy="28035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0" y="0"/>
            <a:ext cx="11887835" cy="1843405"/>
          </a:xfrm>
          <a:prstGeom prst="rect">
            <a:avLst/>
          </a:prstGeom>
          <a:noFill/>
        </p:spPr>
        <p:txBody>
          <a:bodyPr wrap="square" rtlCol="0">
            <a:noAutofit/>
          </a:bodyPr>
          <a:p>
            <a:r>
              <a:rPr lang="zh-CN" altLang="en-US"/>
              <a:t>提升传输与网络层协议合规性</a:t>
            </a:r>
            <a:endParaRPr lang="zh-CN" altLang="en-US"/>
          </a:p>
          <a:p>
            <a:r>
              <a:rPr lang="zh-CN" altLang="en-US"/>
              <a:t>后处理启发式修正</a:t>
            </a:r>
            <a:r>
              <a:rPr lang="en-US" altLang="zh-CN"/>
              <a:t>Post-Processing Heuristic for Protocol Rule Compliance</a:t>
            </a:r>
            <a:endParaRPr lang="en-US" altLang="zh-CN"/>
          </a:p>
          <a:p>
            <a:endParaRPr lang="en-US" altLang="zh-CN"/>
          </a:p>
          <a:p>
            <a:r>
              <a:rPr lang="zh-CN"/>
              <a:t>它</a:t>
            </a:r>
            <a:r>
              <a:rPr lang="zh-CN" altLang="en-US"/>
              <a:t>是确保生成流量完全符合网络协议规则的最终保障步骤。尽管</a:t>
            </a:r>
            <a:r>
              <a:rPr lang="en-US" altLang="zh-CN"/>
              <a:t>ControlNet</a:t>
            </a:r>
            <a:r>
              <a:rPr lang="zh-CN" altLang="en-US"/>
              <a:t>在生成阶段已对关键字段进行约束，但某些协议规则（如校验和、跨包依赖）仍需通过后处理精确修正。</a:t>
            </a:r>
            <a:endParaRPr lang="zh-CN" altLang="en-US"/>
          </a:p>
        </p:txBody>
      </p:sp>
      <p:sp>
        <p:nvSpPr>
          <p:cNvPr id="3" name="文本框 2"/>
          <p:cNvSpPr txBox="1"/>
          <p:nvPr/>
        </p:nvSpPr>
        <p:spPr>
          <a:xfrm>
            <a:off x="2741930" y="3843655"/>
            <a:ext cx="4064000" cy="368300"/>
          </a:xfrm>
          <a:prstGeom prst="rect">
            <a:avLst/>
          </a:prstGeom>
          <a:noFill/>
        </p:spPr>
        <p:txBody>
          <a:bodyPr wrap="square" rtlCol="0">
            <a:spAutoFit/>
          </a:bodyPr>
          <a:p>
            <a:endParaRPr lang="zh-CN" altLang="en-US"/>
          </a:p>
        </p:txBody>
      </p:sp>
      <p:graphicFrame>
        <p:nvGraphicFramePr>
          <p:cNvPr id="10" name="表格 9"/>
          <p:cNvGraphicFramePr/>
          <p:nvPr>
            <p:custDataLst>
              <p:tags r:id="rId1"/>
            </p:custDataLst>
          </p:nvPr>
        </p:nvGraphicFramePr>
        <p:xfrm>
          <a:off x="6096000" y="1447800"/>
          <a:ext cx="5937885" cy="5047615"/>
        </p:xfrm>
        <a:graphic>
          <a:graphicData uri="http://schemas.openxmlformats.org/drawingml/2006/table">
            <a:tbl>
              <a:tblPr firstRow="1" bandRow="1">
                <a:tableStyleId>{5C22544A-7EE6-4342-B048-85BDC9FD1C3A}</a:tableStyleId>
              </a:tblPr>
              <a:tblGrid>
                <a:gridCol w="1979295"/>
                <a:gridCol w="1979295"/>
                <a:gridCol w="1979295"/>
              </a:tblGrid>
              <a:tr h="514350">
                <a:tc>
                  <a:txBody>
                    <a:bodyPr/>
                    <a:p>
                      <a:r>
                        <a:rPr lang="zh-CN" sz="1800" b="0" i="0">
                          <a:solidFill>
                            <a:schemeClr val="tx1"/>
                          </a:solidFill>
                        </a:rPr>
                        <a:t>规则</a:t>
                      </a:r>
                      <a:endParaRPr lang="zh-CN" sz="1800" b="0" i="0">
                        <a:solidFill>
                          <a:schemeClr val="tx1"/>
                        </a:solidFill>
                      </a:endParaRPr>
                    </a:p>
                  </a:txBody>
                  <a:tcPr marL="100209" marR="100209" marT="46421" marB="46421" anchor="ctr" anchorCtr="0"/>
                </a:tc>
                <a:tc>
                  <a:txBody>
                    <a:bodyPr/>
                    <a:p>
                      <a:r>
                        <a:rPr lang="zh-CN" sz="1800" b="0" i="0">
                          <a:solidFill>
                            <a:schemeClr val="tx1"/>
                          </a:solidFill>
                        </a:rPr>
                        <a:t>修正逻辑</a:t>
                      </a:r>
                      <a:endParaRPr lang="zh-CN" sz="1800" b="0" i="0">
                        <a:solidFill>
                          <a:schemeClr val="tx1"/>
                        </a:solidFill>
                      </a:endParaRPr>
                    </a:p>
                  </a:txBody>
                  <a:tcPr marL="100209" marR="100209" marT="46421" marB="46421" anchor="ctr" anchorCtr="0"/>
                </a:tc>
                <a:tc>
                  <a:txBody>
                    <a:bodyPr/>
                    <a:p>
                      <a:r>
                        <a:rPr lang="zh-CN" sz="1800" b="0" i="0">
                          <a:solidFill>
                            <a:schemeClr val="tx1"/>
                          </a:solidFill>
                        </a:rPr>
                        <a:t>示例</a:t>
                      </a:r>
                      <a:endParaRPr lang="zh-CN" sz="1800" b="0" i="0">
                        <a:solidFill>
                          <a:schemeClr val="tx1"/>
                        </a:solidFill>
                      </a:endParaRPr>
                    </a:p>
                  </a:txBody>
                  <a:tcPr marL="100209" marR="100209" marT="46421" marB="46421" anchor="ctr" anchorCtr="0"/>
                </a:tc>
              </a:tr>
              <a:tr h="1604645">
                <a:tc>
                  <a:txBody>
                    <a:bodyPr/>
                    <a:p>
                      <a:r>
                        <a:rPr lang="zh-CN" sz="1800" b="0" i="0">
                          <a:solidFill>
                            <a:schemeClr val="tx1"/>
                          </a:solidFill>
                        </a:rPr>
                        <a:t>TCP序列号连续性</a:t>
                      </a:r>
                      <a:endParaRPr lang="zh-CN" sz="1800" b="0" i="0">
                        <a:solidFill>
                          <a:schemeClr val="tx1"/>
                        </a:solidFill>
                      </a:endParaRPr>
                    </a:p>
                  </a:txBody>
                  <a:tcPr marL="100209" marR="100209" marT="46421" marB="46421" anchor="ctr" anchorCtr="0"/>
                </a:tc>
                <a:tc>
                  <a:txBody>
                    <a:bodyPr/>
                    <a:p>
                      <a:r>
                        <a:rPr lang="zh-CN" sz="1800" b="0" i="0">
                          <a:solidFill>
                            <a:schemeClr val="tx1"/>
                          </a:solidFill>
                        </a:rPr>
                        <a:t>当前包的序列号 = 上一包的序列号 + 上一包的数据长度</a:t>
                      </a:r>
                      <a:endParaRPr lang="zh-CN" sz="1800" b="0" i="0">
                        <a:solidFill>
                          <a:schemeClr val="tx1"/>
                        </a:solidFill>
                      </a:endParaRPr>
                    </a:p>
                  </a:txBody>
                  <a:tcPr marL="100209" marR="100209" marT="46421" marB="46421" anchor="ctr" anchorCtr="0"/>
                </a:tc>
                <a:tc>
                  <a:txBody>
                    <a:bodyPr/>
                    <a:p>
                      <a:pPr marL="0" indent="0">
                        <a:spcBef>
                          <a:spcPct val="0"/>
                        </a:spcBef>
                        <a:spcAft>
                          <a:spcPct val="0"/>
                        </a:spcAft>
                      </a:pPr>
                      <a:r>
                        <a:rPr lang="zh-CN" sz="1800" b="0" i="0">
                          <a:solidFill>
                            <a:schemeClr val="tx1"/>
                          </a:solidFill>
                        </a:rPr>
                        <a:t>pkt2[TCP].seq = pkt1[TCP].seq + len(pkt1[TCP].payload)</a:t>
                      </a:r>
                      <a:endParaRPr lang="zh-CN" sz="1800" b="0" i="0">
                        <a:solidFill>
                          <a:schemeClr val="tx1"/>
                        </a:solidFill>
                      </a:endParaRPr>
                    </a:p>
                  </a:txBody>
                  <a:tcPr marL="100209" marR="100209" marT="46421" marB="46421" anchor="ctr" anchorCtr="0"/>
                </a:tc>
              </a:tr>
              <a:tr h="1464310">
                <a:tc>
                  <a:txBody>
                    <a:bodyPr/>
                    <a:p>
                      <a:r>
                        <a:rPr lang="zh-CN" sz="1800" b="0" i="0">
                          <a:solidFill>
                            <a:schemeClr val="tx1"/>
                          </a:solidFill>
                        </a:rPr>
                        <a:t>TCP三次握手</a:t>
                      </a:r>
                      <a:endParaRPr lang="zh-CN" sz="1800" b="0" i="0">
                        <a:solidFill>
                          <a:schemeClr val="tx1"/>
                        </a:solidFill>
                      </a:endParaRPr>
                    </a:p>
                  </a:txBody>
                  <a:tcPr marL="100209" marR="100209" marT="46421" marB="46421" anchor="ctr" anchorCtr="0"/>
                </a:tc>
                <a:tc>
                  <a:txBody>
                    <a:bodyPr/>
                    <a:p>
                      <a:r>
                        <a:rPr lang="zh-CN" sz="1800" b="0" i="0">
                          <a:solidFill>
                            <a:schemeClr val="tx1"/>
                          </a:solidFill>
                        </a:rPr>
                        <a:t>SYN → SYN-ACK → ACK 的顺序必须严格遵循</a:t>
                      </a:r>
                      <a:endParaRPr lang="zh-CN" sz="1800" b="0" i="0">
                        <a:solidFill>
                          <a:schemeClr val="tx1"/>
                        </a:solidFill>
                      </a:endParaRPr>
                    </a:p>
                  </a:txBody>
                  <a:tcPr marL="100209" marR="100209" marT="46421" marB="46421" anchor="ctr" anchorCtr="0"/>
                </a:tc>
                <a:tc>
                  <a:txBody>
                    <a:bodyPr/>
                    <a:p>
                      <a:r>
                        <a:rPr lang="zh-CN" sz="1800" b="0" i="0">
                          <a:solidFill>
                            <a:schemeClr val="tx1"/>
                          </a:solidFill>
                        </a:rPr>
                        <a:t>若检测到非法标志组合（如ACK无SYN），自动插入缺失包或重置标志位</a:t>
                      </a:r>
                      <a:endParaRPr lang="zh-CN" sz="1800" b="0" i="0">
                        <a:solidFill>
                          <a:schemeClr val="tx1"/>
                        </a:solidFill>
                      </a:endParaRPr>
                    </a:p>
                  </a:txBody>
                  <a:tcPr marL="100209" marR="100209" marT="46421" marB="46421" anchor="ctr" anchorCtr="0"/>
                </a:tc>
              </a:tr>
              <a:tr h="1464310">
                <a:tc>
                  <a:txBody>
                    <a:bodyPr/>
                    <a:p>
                      <a:r>
                        <a:rPr lang="zh-CN" sz="1800" b="0" i="0">
                          <a:solidFill>
                            <a:schemeClr val="tx1"/>
                          </a:solidFill>
                        </a:rPr>
                        <a:t>IP分片标识与偏移</a:t>
                      </a:r>
                      <a:endParaRPr lang="zh-CN" sz="1800" b="0" i="0">
                        <a:solidFill>
                          <a:schemeClr val="tx1"/>
                        </a:solidFill>
                      </a:endParaRPr>
                    </a:p>
                  </a:txBody>
                  <a:tcPr marL="100209" marR="100209" marT="46421" marB="46421" anchor="ctr" anchorCtr="0"/>
                </a:tc>
                <a:tc>
                  <a:txBody>
                    <a:bodyPr/>
                    <a:p>
                      <a:r>
                        <a:rPr lang="zh-CN" sz="1800" b="0" i="0">
                          <a:solidFill>
                            <a:schemeClr val="tx1"/>
                          </a:solidFill>
                        </a:rPr>
                        <a:t>分片包的标识符一致，偏移量按MTU递增</a:t>
                      </a:r>
                      <a:endParaRPr lang="zh-CN" sz="1800" b="0" i="0">
                        <a:solidFill>
                          <a:schemeClr val="tx1"/>
                        </a:solidFill>
                      </a:endParaRPr>
                    </a:p>
                  </a:txBody>
                  <a:tcPr marL="100209" marR="100209" marT="46421" marB="46421" anchor="ctr" anchorCtr="0"/>
                </a:tc>
                <a:tc>
                  <a:txBody>
                    <a:bodyPr/>
                    <a:p>
                      <a:pPr marL="0" indent="0">
                        <a:spcBef>
                          <a:spcPct val="0"/>
                        </a:spcBef>
                        <a:spcAft>
                          <a:spcPct val="0"/>
                        </a:spcAft>
                      </a:pPr>
                      <a:r>
                        <a:rPr lang="zh-CN" sz="1800" b="0" i="0">
                          <a:solidFill>
                            <a:schemeClr val="tx1"/>
                          </a:solidFill>
                        </a:rPr>
                        <a:t>pkt2[IP].frag = pkt1[IP].id; pkt2[IP].offset = pkt1[IP].offset + MTU</a:t>
                      </a:r>
                      <a:endParaRPr lang="zh-CN" sz="1800" b="0" i="0">
                        <a:solidFill>
                          <a:schemeClr val="tx1"/>
                        </a:solidFill>
                      </a:endParaRPr>
                    </a:p>
                  </a:txBody>
                  <a:tcPr marL="100209" marR="100209" marT="46421" marB="46421" anchor="ctr" anchorCtr="0"/>
                </a:tc>
              </a:tr>
            </a:tbl>
          </a:graphicData>
        </a:graphic>
      </p:graphicFrame>
      <p:graphicFrame>
        <p:nvGraphicFramePr>
          <p:cNvPr id="12" name="表格 11"/>
          <p:cNvGraphicFramePr/>
          <p:nvPr>
            <p:custDataLst>
              <p:tags r:id="rId2"/>
            </p:custDataLst>
          </p:nvPr>
        </p:nvGraphicFramePr>
        <p:xfrm>
          <a:off x="152400" y="1447800"/>
          <a:ext cx="5848350" cy="4981575"/>
        </p:xfrm>
        <a:graphic>
          <a:graphicData uri="http://schemas.openxmlformats.org/drawingml/2006/table">
            <a:tbl>
              <a:tblPr firstRow="1" bandRow="1">
                <a:tableStyleId>{5C22544A-7EE6-4342-B048-85BDC9FD1C3A}</a:tableStyleId>
              </a:tblPr>
              <a:tblGrid>
                <a:gridCol w="1949450"/>
                <a:gridCol w="1949450"/>
                <a:gridCol w="1949450"/>
              </a:tblGrid>
              <a:tr h="367030">
                <a:tc>
                  <a:txBody>
                    <a:bodyPr/>
                    <a:p>
                      <a:pPr algn="l">
                        <a:buClrTx/>
                        <a:buSzTx/>
                        <a:buFontTx/>
                      </a:pPr>
                      <a:r>
                        <a:rPr lang="zh-CN" altLang="en-US" sz="1800" b="0" i="0">
                          <a:solidFill>
                            <a:schemeClr val="tx1"/>
                          </a:solidFill>
                        </a:rPr>
                        <a:t>字段</a:t>
                      </a:r>
                      <a:endParaRPr lang="zh-CN" altLang="en-US" sz="1800" b="0" i="0">
                        <a:solidFill>
                          <a:schemeClr val="tx1"/>
                        </a:solidFill>
                      </a:endParaRPr>
                    </a:p>
                  </a:txBody>
                  <a:tcPr marL="100209" marR="100209" marT="46421" marB="46421" anchor="ctr" anchorCtr="0"/>
                </a:tc>
                <a:tc>
                  <a:txBody>
                    <a:bodyPr/>
                    <a:p>
                      <a:pPr algn="l">
                        <a:buClrTx/>
                        <a:buSzTx/>
                        <a:buFontTx/>
                      </a:pPr>
                      <a:r>
                        <a:rPr lang="zh-CN" altLang="en-US" sz="1800" b="0" i="0">
                          <a:solidFill>
                            <a:schemeClr val="tx1"/>
                          </a:solidFill>
                        </a:rPr>
                        <a:t>修正规则</a:t>
                      </a:r>
                      <a:endParaRPr lang="zh-CN" altLang="en-US" sz="1800" b="0" i="0">
                        <a:solidFill>
                          <a:schemeClr val="tx1"/>
                        </a:solidFill>
                      </a:endParaRPr>
                    </a:p>
                  </a:txBody>
                  <a:tcPr marL="100209" marR="100209" marT="46421" marB="46421" anchor="ctr" anchorCtr="0"/>
                </a:tc>
                <a:tc>
                  <a:txBody>
                    <a:bodyPr/>
                    <a:p>
                      <a:pPr algn="l">
                        <a:buClrTx/>
                        <a:buSzTx/>
                        <a:buFontTx/>
                      </a:pPr>
                      <a:r>
                        <a:rPr lang="zh-CN" altLang="en-US" sz="1800" b="0" i="0">
                          <a:solidFill>
                            <a:schemeClr val="tx1"/>
                          </a:solidFill>
                        </a:rPr>
                        <a:t>实现方法</a:t>
                      </a:r>
                      <a:endParaRPr lang="zh-CN" altLang="en-US" sz="1800" b="0" i="0">
                        <a:solidFill>
                          <a:schemeClr val="tx1"/>
                        </a:solidFill>
                      </a:endParaRPr>
                    </a:p>
                  </a:txBody>
                  <a:tcPr marL="100209" marR="100209" marT="46421" marB="46421" anchor="ctr" anchorCtr="0"/>
                </a:tc>
              </a:tr>
              <a:tr h="1960245">
                <a:tc>
                  <a:txBody>
                    <a:bodyPr/>
                    <a:p>
                      <a:pPr algn="l">
                        <a:buClrTx/>
                        <a:buSzTx/>
                        <a:buFontTx/>
                      </a:pPr>
                      <a:r>
                        <a:rPr lang="zh-CN" altLang="en-US" sz="1800" b="0" i="0">
                          <a:solidFill>
                            <a:schemeClr val="tx1"/>
                          </a:solidFill>
                        </a:rPr>
                        <a:t>IP/TCP校验和</a:t>
                      </a:r>
                      <a:endParaRPr lang="zh-CN" altLang="en-US" sz="1800" b="0" i="0">
                        <a:solidFill>
                          <a:schemeClr val="tx1"/>
                        </a:solidFill>
                      </a:endParaRPr>
                    </a:p>
                  </a:txBody>
                  <a:tcPr marL="100209" marR="100209" marT="46421" marB="46421" anchor="ctr" anchorCtr="0"/>
                </a:tc>
                <a:tc>
                  <a:txBody>
                    <a:bodyPr/>
                    <a:p>
                      <a:pPr algn="l">
                        <a:buClrTx/>
                        <a:buSzTx/>
                        <a:buFontTx/>
                      </a:pPr>
                      <a:r>
                        <a:rPr lang="zh-CN" altLang="en-US" sz="1800" b="0" i="0">
                          <a:solidFill>
                            <a:schemeClr val="tx1"/>
                          </a:solidFill>
                        </a:rPr>
                        <a:t>校验和需基于头部所有字段实时计算</a:t>
                      </a:r>
                      <a:endParaRPr lang="zh-CN" altLang="en-US" sz="1800" b="0" i="0">
                        <a:solidFill>
                          <a:schemeClr val="tx1"/>
                        </a:solidFill>
                      </a:endParaRPr>
                    </a:p>
                  </a:txBody>
                  <a:tcPr marL="100209" marR="100209" marT="46421" marB="46421" anchor="ctr" anchorCtr="0"/>
                </a:tc>
                <a:tc>
                  <a:txBody>
                    <a:bodyPr/>
                    <a:p>
                      <a:pPr algn="l">
                        <a:buClrTx/>
                        <a:buSzTx/>
                        <a:buFontTx/>
                      </a:pPr>
                      <a:r>
                        <a:rPr lang="zh-CN" altLang="en-US" sz="1800" b="0" i="0">
                          <a:solidFill>
                            <a:schemeClr val="tx1"/>
                          </a:solidFill>
                        </a:rPr>
                        <a:t>删除旧校验和，触发Scapy自动重算：</a:t>
                      </a:r>
                      <a:br>
                        <a:rPr lang="zh-CN" altLang="en-US" sz="1800" b="0" i="0">
                          <a:solidFill>
                            <a:schemeClr val="tx1"/>
                          </a:solidFill>
                        </a:rPr>
                      </a:br>
                      <a:r>
                        <a:rPr lang="zh-CN" altLang="en-US" sz="1800" b="0" i="0">
                          <a:solidFill>
                            <a:schemeClr val="tx1"/>
                          </a:solidFill>
                        </a:rPr>
                        <a:t>del pkt[IP].chksum; del pkt[TCP].chksum</a:t>
                      </a:r>
                      <a:endParaRPr lang="zh-CN" altLang="en-US" sz="1800" b="0" i="0">
                        <a:solidFill>
                          <a:schemeClr val="tx1"/>
                        </a:solidFill>
                      </a:endParaRPr>
                    </a:p>
                  </a:txBody>
                  <a:tcPr marL="100209" marR="100209" marT="46421" marB="46421" anchor="ctr" anchorCtr="0"/>
                </a:tc>
              </a:tr>
              <a:tr h="1189990">
                <a:tc>
                  <a:txBody>
                    <a:bodyPr/>
                    <a:p>
                      <a:pPr algn="l">
                        <a:buClrTx/>
                        <a:buSzTx/>
                        <a:buFontTx/>
                      </a:pPr>
                      <a:r>
                        <a:rPr lang="zh-CN" altLang="en-US" sz="1800" b="0" i="0">
                          <a:solidFill>
                            <a:schemeClr val="tx1"/>
                          </a:solidFill>
                        </a:rPr>
                        <a:t>IP总长度</a:t>
                      </a:r>
                      <a:endParaRPr lang="zh-CN" altLang="en-US" sz="1800" b="0" i="0">
                        <a:solidFill>
                          <a:schemeClr val="tx1"/>
                        </a:solidFill>
                      </a:endParaRPr>
                    </a:p>
                  </a:txBody>
                  <a:tcPr marL="100209" marR="100209" marT="46421" marB="46421" anchor="ctr" anchorCtr="0"/>
                </a:tc>
                <a:tc>
                  <a:txBody>
                    <a:bodyPr/>
                    <a:p>
                      <a:pPr algn="l">
                        <a:buClrTx/>
                        <a:buSzTx/>
                        <a:buFontTx/>
                      </a:pPr>
                      <a:r>
                        <a:rPr lang="zh-CN" altLang="en-US" sz="1800" b="0" i="0">
                          <a:solidFill>
                            <a:schemeClr val="tx1"/>
                          </a:solidFill>
                        </a:rPr>
                        <a:t>必须等于实际包长度（包括头部和载荷）</a:t>
                      </a:r>
                      <a:endParaRPr lang="zh-CN" altLang="en-US" sz="1800" b="0" i="0">
                        <a:solidFill>
                          <a:schemeClr val="tx1"/>
                        </a:solidFill>
                      </a:endParaRPr>
                    </a:p>
                  </a:txBody>
                  <a:tcPr marL="100209" marR="100209" marT="46421" marB="46421" anchor="ctr" anchorCtr="0"/>
                </a:tc>
                <a:tc>
                  <a:txBody>
                    <a:bodyPr/>
                    <a:p>
                      <a:pPr algn="l">
                        <a:buClrTx/>
                        <a:buSzTx/>
                        <a:buFontTx/>
                      </a:pPr>
                      <a:r>
                        <a:rPr lang="zh-CN" altLang="en-US" sz="1800" b="0" i="0">
                          <a:solidFill>
                            <a:schemeClr val="tx1"/>
                          </a:solidFill>
                        </a:rPr>
                        <a:t>根据包实际字节数更新：</a:t>
                      </a:r>
                      <a:br>
                        <a:rPr lang="zh-CN" altLang="en-US" sz="1800" b="0" i="0">
                          <a:solidFill>
                            <a:schemeClr val="tx1"/>
                          </a:solidFill>
                        </a:rPr>
                      </a:br>
                      <a:r>
                        <a:rPr lang="zh-CN" altLang="en-US" sz="1800" b="0" i="0">
                          <a:solidFill>
                            <a:schemeClr val="tx1"/>
                          </a:solidFill>
                        </a:rPr>
                        <a:t>pkt[IP].len = len(pkt)</a:t>
                      </a:r>
                      <a:endParaRPr lang="zh-CN" altLang="en-US" sz="1800" b="0" i="0">
                        <a:solidFill>
                          <a:schemeClr val="tx1"/>
                        </a:solidFill>
                      </a:endParaRPr>
                    </a:p>
                  </a:txBody>
                  <a:tcPr marL="100209" marR="100209" marT="46421" marB="46421" anchor="ctr" anchorCtr="0"/>
                </a:tc>
              </a:tr>
              <a:tr h="1464310">
                <a:tc>
                  <a:txBody>
                    <a:bodyPr/>
                    <a:p>
                      <a:pPr algn="l">
                        <a:buClrTx/>
                        <a:buSzTx/>
                        <a:buFontTx/>
                      </a:pPr>
                      <a:r>
                        <a:rPr lang="zh-CN" altLang="en-US" sz="1800" b="0" i="0">
                          <a:solidFill>
                            <a:schemeClr val="tx1"/>
                          </a:solidFill>
                        </a:rPr>
                        <a:t>TCP数据偏移</a:t>
                      </a:r>
                      <a:endParaRPr lang="zh-CN" altLang="en-US" sz="1800" b="0" i="0">
                        <a:solidFill>
                          <a:schemeClr val="tx1"/>
                        </a:solidFill>
                      </a:endParaRPr>
                    </a:p>
                  </a:txBody>
                  <a:tcPr marL="100209" marR="100209" marT="46421" marB="46421" anchor="ctr" anchorCtr="0"/>
                </a:tc>
                <a:tc>
                  <a:txBody>
                    <a:bodyPr/>
                    <a:p>
                      <a:pPr algn="l">
                        <a:buClrTx/>
                        <a:buSzTx/>
                        <a:buFontTx/>
                      </a:pPr>
                      <a:r>
                        <a:rPr lang="zh-CN" altLang="en-US" sz="1800" b="0" i="0">
                          <a:solidFill>
                            <a:schemeClr val="tx1"/>
                          </a:solidFill>
                        </a:rPr>
                        <a:t>指示TCP头部长度（需是4字节的整数倍）</a:t>
                      </a:r>
                      <a:endParaRPr lang="zh-CN" altLang="en-US" sz="1800" b="0" i="0">
                        <a:solidFill>
                          <a:schemeClr val="tx1"/>
                        </a:solidFill>
                      </a:endParaRPr>
                    </a:p>
                  </a:txBody>
                  <a:tcPr marL="100209" marR="100209" marT="46421" marB="46421" anchor="ctr" anchorCtr="0"/>
                </a:tc>
                <a:tc>
                  <a:txBody>
                    <a:bodyPr/>
                    <a:p>
                      <a:pPr algn="l">
                        <a:buClrTx/>
                        <a:buSzTx/>
                        <a:buFontTx/>
                      </a:pPr>
                      <a:r>
                        <a:rPr lang="zh-CN" altLang="en-US" sz="1800" b="0" i="0">
                          <a:solidFill>
                            <a:schemeClr val="tx1"/>
                          </a:solidFill>
                        </a:rPr>
                        <a:t>计算头部长度并四舍五入：</a:t>
                      </a:r>
                      <a:br>
                        <a:rPr lang="zh-CN" altLang="en-US" sz="1800" b="0" i="0">
                          <a:solidFill>
                            <a:schemeClr val="tx1"/>
                          </a:solidFill>
                        </a:rPr>
                      </a:br>
                      <a:r>
                        <a:rPr lang="zh-CN" altLang="en-US" sz="1800" b="0" i="0">
                          <a:solidFill>
                            <a:schemeClr val="tx1"/>
                          </a:solidFill>
                        </a:rPr>
                        <a:t>pkt[TCP].dataoff = (len(pkt[TCP]) + 3) // 4</a:t>
                      </a:r>
                      <a:endParaRPr lang="zh-CN" altLang="en-US" sz="1800" b="0" i="0">
                        <a:solidFill>
                          <a:schemeClr val="tx1"/>
                        </a:solidFill>
                      </a:endParaRPr>
                    </a:p>
                  </a:txBody>
                  <a:tcPr marL="100209" marR="100209" marT="46421" marB="46421" anchor="ctr" anchorCtr="0"/>
                </a:tc>
              </a:tr>
            </a:tbl>
          </a:graphicData>
        </a:graphic>
      </p:graphicFrame>
      <p:sp>
        <p:nvSpPr>
          <p:cNvPr id="14" name="文本框 13"/>
          <p:cNvSpPr txBox="1"/>
          <p:nvPr/>
        </p:nvSpPr>
        <p:spPr>
          <a:xfrm>
            <a:off x="838200" y="6477000"/>
            <a:ext cx="4064000" cy="368300"/>
          </a:xfrm>
          <a:prstGeom prst="rect">
            <a:avLst/>
          </a:prstGeom>
          <a:noFill/>
        </p:spPr>
        <p:txBody>
          <a:bodyPr wrap="square" rtlCol="0">
            <a:spAutoFit/>
          </a:bodyPr>
          <a:p>
            <a:r>
              <a:rPr lang="en-US" altLang="zh-CN"/>
              <a:t>Intra-Packet</a:t>
            </a:r>
            <a:r>
              <a:rPr lang="zh-CN" altLang="en-US"/>
              <a:t>（单个包内）修正</a:t>
            </a:r>
            <a:endParaRPr lang="zh-CN" altLang="en-US"/>
          </a:p>
        </p:txBody>
      </p:sp>
      <p:sp>
        <p:nvSpPr>
          <p:cNvPr id="15" name="文本框 14"/>
          <p:cNvSpPr txBox="1"/>
          <p:nvPr/>
        </p:nvSpPr>
        <p:spPr>
          <a:xfrm>
            <a:off x="7315200" y="6489700"/>
            <a:ext cx="4064000" cy="368300"/>
          </a:xfrm>
          <a:prstGeom prst="rect">
            <a:avLst/>
          </a:prstGeom>
          <a:noFill/>
        </p:spPr>
        <p:txBody>
          <a:bodyPr wrap="square" rtlCol="0">
            <a:spAutoFit/>
          </a:bodyPr>
          <a:p>
            <a:r>
              <a:rPr lang="en-US" altLang="zh-CN"/>
              <a:t> Inter-Packet</a:t>
            </a:r>
            <a:r>
              <a:rPr lang="zh-CN" altLang="en-US"/>
              <a:t>（跨包）修正</a:t>
            </a: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64770" y="1828800"/>
            <a:ext cx="5033010" cy="2520315"/>
          </a:xfrm>
          <a:prstGeom prst="rect">
            <a:avLst/>
          </a:prstGeom>
        </p:spPr>
      </p:pic>
      <p:pic>
        <p:nvPicPr>
          <p:cNvPr id="4" name="图片 3"/>
          <p:cNvPicPr>
            <a:picLocks noChangeAspect="1"/>
          </p:cNvPicPr>
          <p:nvPr/>
        </p:nvPicPr>
        <p:blipFill>
          <a:blip r:embed="rId2"/>
          <a:stretch>
            <a:fillRect/>
          </a:stretch>
        </p:blipFill>
        <p:spPr>
          <a:xfrm>
            <a:off x="685800" y="4495800"/>
            <a:ext cx="10066020" cy="2381885"/>
          </a:xfrm>
          <a:prstGeom prst="rect">
            <a:avLst/>
          </a:prstGeom>
        </p:spPr>
      </p:pic>
      <p:sp>
        <p:nvSpPr>
          <p:cNvPr id="2" name="文本框 1"/>
          <p:cNvSpPr txBox="1"/>
          <p:nvPr/>
        </p:nvSpPr>
        <p:spPr>
          <a:xfrm>
            <a:off x="4945380" y="-635"/>
            <a:ext cx="7185660" cy="4294505"/>
          </a:xfrm>
          <a:prstGeom prst="rect">
            <a:avLst/>
          </a:prstGeom>
          <a:noFill/>
        </p:spPr>
        <p:txBody>
          <a:bodyPr wrap="square" rtlCol="0">
            <a:noAutofit/>
          </a:bodyPr>
          <a:p>
            <a:r>
              <a:rPr lang="en-US" altLang="zh-CN"/>
              <a:t>baseline</a:t>
            </a:r>
            <a:r>
              <a:rPr lang="zh-CN" altLang="en-US"/>
              <a:t>：</a:t>
            </a:r>
            <a:endParaRPr lang="zh-CN" altLang="en-US"/>
          </a:p>
          <a:p>
            <a:r>
              <a:rPr lang="en-US" altLang="zh-CN"/>
              <a:t>(1)NetShare</a:t>
            </a:r>
            <a:r>
              <a:rPr lang="zh-CN" altLang="en-US"/>
              <a:t>方法，该方法产生合成</a:t>
            </a:r>
            <a:r>
              <a:rPr lang="en-US" altLang="zh-CN"/>
              <a:t>NetFlow</a:t>
            </a:r>
            <a:r>
              <a:rPr lang="zh-CN" altLang="en-US"/>
              <a:t>属性并优于大多数其他基于</a:t>
            </a:r>
            <a:r>
              <a:rPr lang="en-US" altLang="zh-CN"/>
              <a:t>GAN</a:t>
            </a:r>
            <a:r>
              <a:rPr lang="zh-CN" altLang="en-US"/>
              <a:t>的方法；</a:t>
            </a:r>
            <a:endParaRPr lang="zh-CN" altLang="en-US"/>
          </a:p>
          <a:p>
            <a:r>
              <a:rPr lang="en-US" altLang="zh-CN"/>
              <a:t>(2)</a:t>
            </a:r>
            <a:r>
              <a:rPr lang="zh-CN" altLang="en-US"/>
              <a:t>朴素随机生成方法，生成纯粹的随机值，充当了最坏情况的角色，说明了相似性的下限，并强调了更复杂的方法所增加的价值。</a:t>
            </a:r>
            <a:endParaRPr lang="zh-CN" altLang="en-US"/>
          </a:p>
          <a:p>
            <a:r>
              <a:rPr lang="zh-CN" altLang="en-US"/>
              <a:t>在聚合级别</a:t>
            </a:r>
            <a:r>
              <a:rPr lang="en-US" altLang="zh-CN"/>
              <a:t>(</a:t>
            </a:r>
            <a:r>
              <a:rPr lang="zh-CN" altLang="en-US"/>
              <a:t>包含所有特征</a:t>
            </a:r>
            <a:r>
              <a:rPr lang="en-US" altLang="zh-CN"/>
              <a:t>)</a:t>
            </a:r>
            <a:r>
              <a:rPr lang="zh-CN" altLang="en-US"/>
              <a:t>和更集中的级别</a:t>
            </a:r>
            <a:r>
              <a:rPr lang="en-US" altLang="zh-CN"/>
              <a:t>(</a:t>
            </a:r>
            <a:r>
              <a:rPr lang="zh-CN" altLang="en-US"/>
              <a:t>仅针对</a:t>
            </a:r>
            <a:r>
              <a:rPr lang="en-US" altLang="zh-CN"/>
              <a:t>NetDiffusion</a:t>
            </a:r>
            <a:r>
              <a:rPr lang="zh-CN" altLang="en-US"/>
              <a:t>和</a:t>
            </a:r>
            <a:r>
              <a:rPr lang="en-US" altLang="zh-CN"/>
              <a:t>NetShare</a:t>
            </a:r>
            <a:r>
              <a:rPr lang="zh-CN" altLang="en-US"/>
              <a:t>之间的共同特征</a:t>
            </a:r>
            <a:r>
              <a:rPr lang="en-US" altLang="zh-CN"/>
              <a:t>)</a:t>
            </a:r>
            <a:r>
              <a:rPr lang="zh-CN" altLang="en-US"/>
              <a:t>检查相似性。</a:t>
            </a:r>
            <a:endParaRPr lang="zh-CN" altLang="en-US"/>
          </a:p>
          <a:p>
            <a:endParaRPr lang="zh-CN" altLang="en-US"/>
          </a:p>
          <a:p>
            <a:r>
              <a:rPr lang="zh-CN" altLang="en-US"/>
              <a:t>三种不同的度量来量化统计相似性：</a:t>
            </a:r>
            <a:r>
              <a:rPr lang="en-US" altLang="zh-CN"/>
              <a:t>Jensen-Shannon</a:t>
            </a:r>
            <a:r>
              <a:rPr lang="zh-CN" altLang="en-US"/>
              <a:t>散度</a:t>
            </a:r>
            <a:r>
              <a:rPr lang="en-US" altLang="zh-CN"/>
              <a:t>(JSD)</a:t>
            </a:r>
            <a:r>
              <a:rPr lang="zh-CN" altLang="en-US"/>
              <a:t>、总变异距离</a:t>
            </a:r>
            <a:r>
              <a:rPr lang="en-US" altLang="zh-CN"/>
              <a:t>(TVD)</a:t>
            </a:r>
            <a:r>
              <a:rPr lang="zh-CN" altLang="en-US"/>
              <a:t>和</a:t>
            </a:r>
            <a:r>
              <a:rPr lang="en-US" altLang="zh-CN"/>
              <a:t>Hellinger</a:t>
            </a:r>
            <a:r>
              <a:rPr lang="zh-CN" altLang="en-US"/>
              <a:t>距离</a:t>
            </a:r>
            <a:r>
              <a:rPr lang="en-US" altLang="zh-CN"/>
              <a:t>(HD)</a:t>
            </a:r>
            <a:r>
              <a:rPr lang="zh-CN" altLang="en-US"/>
              <a:t>。</a:t>
            </a:r>
            <a:endParaRPr lang="zh-CN" altLang="en-US"/>
          </a:p>
          <a:p>
            <a:r>
              <a:rPr lang="en-US" altLang="zh-CN"/>
              <a:t>JSD</a:t>
            </a:r>
            <a:r>
              <a:rPr lang="zh-CN" altLang="en-US"/>
              <a:t>衡量分布之间的信息重叠，提供对共享模式的洞察。</a:t>
            </a:r>
            <a:endParaRPr lang="zh-CN" altLang="en-US"/>
          </a:p>
          <a:p>
            <a:r>
              <a:rPr lang="en-US" altLang="zh-CN"/>
              <a:t>TVD</a:t>
            </a:r>
            <a:r>
              <a:rPr lang="zh-CN" altLang="en-US"/>
              <a:t>捕获两个分布之间的最大差异，突出最坏情况下的差异。</a:t>
            </a:r>
            <a:endParaRPr lang="zh-CN" altLang="en-US"/>
          </a:p>
          <a:p>
            <a:r>
              <a:rPr lang="zh-CN" altLang="en-US"/>
              <a:t>基于欧几里得距离的</a:t>
            </a:r>
            <a:r>
              <a:rPr lang="en-US" altLang="zh-CN"/>
              <a:t>HD</a:t>
            </a:r>
            <a:r>
              <a:rPr lang="zh-CN" altLang="en-US"/>
              <a:t>对分布尾部的差异特别敏感，可以揭示罕见事件或异常值的差异。值越接近</a:t>
            </a:r>
            <a:r>
              <a:rPr lang="en-US" altLang="zh-CN"/>
              <a:t>0</a:t>
            </a:r>
            <a:r>
              <a:rPr lang="zh-CN" altLang="en-US"/>
              <a:t>表示统计相似性越高，与原始数据集的相似性越高。</a:t>
            </a:r>
            <a:endParaRPr lang="zh-CN" altLang="en-US"/>
          </a:p>
        </p:txBody>
      </p:sp>
      <p:sp>
        <p:nvSpPr>
          <p:cNvPr id="5" name="文本框 4"/>
          <p:cNvSpPr txBox="1"/>
          <p:nvPr/>
        </p:nvSpPr>
        <p:spPr>
          <a:xfrm>
            <a:off x="228600" y="177165"/>
            <a:ext cx="4346575" cy="3375025"/>
          </a:xfrm>
          <a:prstGeom prst="rect">
            <a:avLst/>
          </a:prstGeom>
          <a:noFill/>
        </p:spPr>
        <p:txBody>
          <a:bodyPr wrap="square" rtlCol="0">
            <a:noAutofit/>
          </a:bodyPr>
          <a:p>
            <a:r>
              <a:rPr lang="en-US" altLang="zh-CN"/>
              <a:t>NetDiffusion </a:t>
            </a:r>
            <a:r>
              <a:rPr lang="zh-CN" altLang="en-US"/>
              <a:t>使用的数据集是</a:t>
            </a:r>
            <a:r>
              <a:rPr lang="en-US" altLang="zh-CN"/>
              <a:t> </a:t>
            </a:r>
            <a:r>
              <a:rPr lang="zh-CN" altLang="en-US"/>
              <a:t>未公开命名的私有混合网络流量集合，包含企业或云环境捕获的真实流量，涵盖常见服务（如</a:t>
            </a:r>
            <a:r>
              <a:rPr lang="en-US" altLang="zh-CN"/>
              <a:t> Netflix </a:t>
            </a:r>
            <a:r>
              <a:rPr lang="zh-CN" altLang="en-US"/>
              <a:t>视频流、</a:t>
            </a:r>
            <a:r>
              <a:rPr lang="en-US" altLang="zh-CN"/>
              <a:t>HTTPS </a:t>
            </a:r>
            <a:r>
              <a:rPr lang="zh-CN" altLang="en-US"/>
              <a:t>网页浏览、</a:t>
            </a:r>
            <a:r>
              <a:rPr lang="en-US" altLang="zh-CN"/>
              <a:t>Zoom </a:t>
            </a:r>
            <a:r>
              <a:rPr lang="zh-CN" altLang="en-US"/>
              <a:t>通话）和恶意流量（如</a:t>
            </a:r>
            <a:r>
              <a:rPr lang="en-US" altLang="zh-CN"/>
              <a:t> DDoS </a:t>
            </a:r>
            <a:r>
              <a:rPr lang="zh-CN" altLang="en-US"/>
              <a:t>攻击）。</a:t>
            </a: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a:picLocks noChangeAspect="1"/>
          </p:cNvPicPr>
          <p:nvPr/>
        </p:nvPicPr>
        <p:blipFill>
          <a:blip r:embed="rId1"/>
          <a:stretch>
            <a:fillRect/>
          </a:stretch>
        </p:blipFill>
        <p:spPr>
          <a:xfrm>
            <a:off x="228600" y="76200"/>
            <a:ext cx="5227955" cy="2566670"/>
          </a:xfrm>
          <a:prstGeom prst="rect">
            <a:avLst/>
          </a:prstGeom>
        </p:spPr>
      </p:pic>
      <p:pic>
        <p:nvPicPr>
          <p:cNvPr id="6" name="图片 5"/>
          <p:cNvPicPr>
            <a:picLocks noChangeAspect="1"/>
          </p:cNvPicPr>
          <p:nvPr/>
        </p:nvPicPr>
        <p:blipFill>
          <a:blip r:embed="rId2"/>
          <a:stretch>
            <a:fillRect/>
          </a:stretch>
        </p:blipFill>
        <p:spPr>
          <a:xfrm>
            <a:off x="228600" y="2594610"/>
            <a:ext cx="9037320" cy="2089785"/>
          </a:xfrm>
          <a:prstGeom prst="rect">
            <a:avLst/>
          </a:prstGeom>
        </p:spPr>
      </p:pic>
      <p:sp>
        <p:nvSpPr>
          <p:cNvPr id="7" name="文本框 6"/>
          <p:cNvSpPr txBox="1"/>
          <p:nvPr/>
        </p:nvSpPr>
        <p:spPr>
          <a:xfrm>
            <a:off x="5885815" y="509905"/>
            <a:ext cx="6123305" cy="1725295"/>
          </a:xfrm>
          <a:prstGeom prst="rect">
            <a:avLst/>
          </a:prstGeom>
          <a:noFill/>
        </p:spPr>
        <p:txBody>
          <a:bodyPr wrap="square" rtlCol="0">
            <a:noAutofit/>
          </a:bodyPr>
          <a:p>
            <a:r>
              <a:rPr lang="zh-CN" altLang="en-US"/>
              <a:t>合成数据是否能真实替代或有效扩充真实数据集</a:t>
            </a:r>
            <a:endParaRPr lang="zh-CN" altLang="en-US"/>
          </a:p>
          <a:p>
            <a:endParaRPr lang="zh-CN" altLang="en-US"/>
          </a:p>
          <a:p>
            <a:r>
              <a:rPr lang="zh-CN" altLang="en-US"/>
              <a:t>使用</a:t>
            </a:r>
            <a:r>
              <a:rPr lang="en-US" altLang="zh-CN"/>
              <a:t>NetDiffusion</a:t>
            </a:r>
            <a:r>
              <a:rPr lang="zh-CN" altLang="en-US"/>
              <a:t>生成的流量增强的数据集始终优于使用</a:t>
            </a:r>
            <a:r>
              <a:rPr lang="en-US" altLang="zh-CN"/>
              <a:t>NetShare</a:t>
            </a:r>
            <a:r>
              <a:rPr lang="zh-CN" altLang="en-US"/>
              <a:t>生成的</a:t>
            </a:r>
            <a:r>
              <a:rPr lang="en-US" altLang="zh-CN"/>
              <a:t>NetFlow</a:t>
            </a:r>
            <a:r>
              <a:rPr lang="zh-CN" altLang="en-US"/>
              <a:t>属性的数据集。</a:t>
            </a:r>
            <a:endParaRPr lang="zh-CN" altLang="en-US"/>
          </a:p>
        </p:txBody>
      </p:sp>
      <p:pic>
        <p:nvPicPr>
          <p:cNvPr id="8" name="图片 7"/>
          <p:cNvPicPr>
            <a:picLocks noChangeAspect="1"/>
          </p:cNvPicPr>
          <p:nvPr/>
        </p:nvPicPr>
        <p:blipFill>
          <a:blip r:embed="rId3"/>
          <a:stretch>
            <a:fillRect/>
          </a:stretch>
        </p:blipFill>
        <p:spPr>
          <a:xfrm>
            <a:off x="228600" y="4684395"/>
            <a:ext cx="9864090" cy="2140585"/>
          </a:xfrm>
          <a:prstGeom prst="rect">
            <a:avLst/>
          </a:prstGeom>
        </p:spPr>
      </p:pic>
    </p:spTree>
  </p:cSld>
  <p:clrMapOvr>
    <a:masterClrMapping/>
  </p:clrMapOvr>
</p:sld>
</file>

<file path=ppt/tags/tag1.xml><?xml version="1.0" encoding="utf-8"?>
<p:tagLst xmlns:p="http://schemas.openxmlformats.org/presentationml/2006/main">
  <p:tag name="TABLE_ENDDRAG_ORIGIN_RECT" val="467*385"/>
  <p:tag name="TABLE_ENDDRAG_RECT" val="480*114*467*385"/>
</p:tagLst>
</file>

<file path=ppt/tags/tag2.xml><?xml version="1.0" encoding="utf-8"?>
<p:tagLst xmlns:p="http://schemas.openxmlformats.org/presentationml/2006/main">
  <p:tag name="TABLE_ENDDRAG_ORIGIN_RECT" val="460*386"/>
  <p:tag name="TABLE_ENDDRAG_RECT" val="12*114*460*386"/>
</p:tagLst>
</file>

<file path=ppt/theme/theme1.xml><?xml version="1.0" encoding="utf-8"?>
<a:theme xmlns:a="http://schemas.openxmlformats.org/drawingml/2006/main" name="Office Theme">
  <a:themeElements>
    <a:clrScheme name="Office">
      <a:dk1>
        <a:srgbClr val="404040"/>
      </a:dk1>
      <a:lt1>
        <a:srgbClr val="FFFFFF"/>
      </a:lt1>
      <a:dk2>
        <a:srgbClr val="000000"/>
      </a:dk2>
      <a:lt2>
        <a:srgbClr val="FFFFFF"/>
      </a:lt2>
      <a:accent1>
        <a:srgbClr val="4C678E"/>
      </a:accent1>
      <a:accent2>
        <a:srgbClr val="6684B0"/>
      </a:accent2>
      <a:accent3>
        <a:srgbClr val="639CD6"/>
      </a:accent3>
      <a:accent4>
        <a:srgbClr val="6EB7F0"/>
      </a:accent4>
      <a:accent5>
        <a:srgbClr val="6991E0"/>
      </a:accent5>
      <a:accent6>
        <a:srgbClr val="9EA2D9"/>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4787</Words>
  <Application>WPS 演示</Application>
  <PresentationFormat>自定义</PresentationFormat>
  <Paragraphs>165</Paragraphs>
  <Slides>10</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10</vt:i4>
      </vt:variant>
    </vt:vector>
  </HeadingPairs>
  <TitlesOfParts>
    <vt:vector size="17" baseType="lpstr">
      <vt:lpstr>Arial</vt:lpstr>
      <vt:lpstr>宋体</vt:lpstr>
      <vt:lpstr>Wingdings</vt:lpstr>
      <vt:lpstr>Calibri</vt:lpstr>
      <vt:lpstr>微软雅黑</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枝豆</cp:lastModifiedBy>
  <cp:revision>384</cp:revision>
  <dcterms:created xsi:type="dcterms:W3CDTF">2024-05-28T07:42:00Z</dcterms:created>
  <dcterms:modified xsi:type="dcterms:W3CDTF">2025-11-25T12:40:46Z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FAD24979FD654EF6A71EB33ADB919921_12</vt:lpwstr>
  </property>
  <property fmtid="{D5CDD505-2E9C-101B-9397-08002B2CF9AE}" pid="3" name="KSOProductBuildVer">
    <vt:lpwstr>2052-12.1.0.23125</vt:lpwstr>
  </property>
</Properties>
</file>