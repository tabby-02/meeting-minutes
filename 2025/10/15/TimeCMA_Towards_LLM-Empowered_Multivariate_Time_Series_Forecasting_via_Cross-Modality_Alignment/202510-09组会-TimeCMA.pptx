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80" r:id="rId3"/>
    <p:sldId id="299" r:id="rId4"/>
    <p:sldId id="271" r:id="rId5"/>
    <p:sldId id="272" r:id="rId6"/>
    <p:sldId id="302" r:id="rId7"/>
    <p:sldId id="290" r:id="rId8"/>
    <p:sldId id="294" r:id="rId9"/>
    <p:sldId id="264" r:id="rId10"/>
    <p:sldId id="303" r:id="rId11"/>
    <p:sldId id="304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敬博 王" initials="敬王" lastIdx="1" clrIdx="0">
    <p:extLst>
      <p:ext uri="{19B8F6BF-5375-455C-9EA6-DF929625EA0E}">
        <p15:presenceInfo xmlns:p15="http://schemas.microsoft.com/office/powerpoint/2012/main" userId="e474d6ed222a2c2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38" autoAdjust="0"/>
  </p:normalViewPr>
  <p:slideViewPr>
    <p:cSldViewPr snapToGrid="0">
      <p:cViewPr varScale="1">
        <p:scale>
          <a:sx n="104" d="100"/>
          <a:sy n="104" d="100"/>
        </p:scale>
        <p:origin x="7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09T09:58:48.167" idx="1">
    <p:pos x="7162" y="2345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8F68E-BEFC-4916-9FAD-AC93A2E5EF91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30BA7-2075-480F-ACAB-C32C28AF9A8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30BA7-2075-480F-ACAB-C32C28AF9A8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748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30BA7-2075-480F-ACAB-C32C28AF9A8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659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77EEC-36BC-1593-B965-3750C8821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0301CA-452C-CCBB-065F-43C77F280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911B49-D52A-0042-35ED-777A1B774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D0E8A9-486C-57B8-920C-F6E569156A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30BA7-2075-480F-ACAB-C32C28AF9A8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1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26212-703E-6B21-BC86-9D28BDDED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530388-A73F-BC57-C655-3E71230AB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1DDE476-80B0-0A28-DFCD-B2A735547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611FB9-BA79-47C6-DCD6-61D6F31FF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30BA7-2075-480F-ACAB-C32C28AF9A8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345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CE52-A8A3-48CC-A8BB-EB3ABCEAA7AD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CA40-4E25-42DF-8820-65307B1EA4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CE52-A8A3-48CC-A8BB-EB3ABCEAA7AD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CA40-4E25-42DF-8820-65307B1EA4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CE52-A8A3-48CC-A8BB-EB3ABCEAA7AD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CA40-4E25-42DF-8820-65307B1EA4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CE52-A8A3-48CC-A8BB-EB3ABCEAA7AD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CA40-4E25-42DF-8820-65307B1EA4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CE52-A8A3-48CC-A8BB-EB3ABCEAA7AD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CA40-4E25-42DF-8820-65307B1EA4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CE52-A8A3-48CC-A8BB-EB3ABCEAA7AD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CA40-4E25-42DF-8820-65307B1EA4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CE52-A8A3-48CC-A8BB-EB3ABCEAA7AD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CA40-4E25-42DF-8820-65307B1EA4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CE52-A8A3-48CC-A8BB-EB3ABCEAA7AD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CA40-4E25-42DF-8820-65307B1EA4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CE52-A8A3-48CC-A8BB-EB3ABCEAA7AD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CA40-4E25-42DF-8820-65307B1EA4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CE52-A8A3-48CC-A8BB-EB3ABCEAA7AD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CA40-4E25-42DF-8820-65307B1EA4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CE52-A8A3-48CC-A8BB-EB3ABCEAA7AD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CA40-4E25-42DF-8820-65307B1EA4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6CE52-A8A3-48CC-A8BB-EB3ABCEAA7AD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4CA40-4E25-42DF-8820-65307B1EA4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4768" y="1283856"/>
            <a:ext cx="11822464" cy="1587818"/>
          </a:xfrm>
        </p:spPr>
        <p:txBody>
          <a:bodyPr>
            <a:normAutofit fontScale="90000"/>
          </a:bodyPr>
          <a:lstStyle/>
          <a:p>
            <a:r>
              <a:rPr lang="en-US" altLang="zh-CN" sz="2800" dirty="0" err="1"/>
              <a:t>TimeCMA</a:t>
            </a:r>
            <a:r>
              <a:rPr lang="en-US" altLang="zh-CN" sz="2800" dirty="0"/>
              <a:t>: Towards LLM-Empowered Multivariate Time Series Forecasting via Cross-Modality Alignment</a:t>
            </a:r>
            <a:br>
              <a:rPr lang="en-US" altLang="zh-CN" sz="2800" dirty="0"/>
            </a:br>
            <a:br>
              <a:rPr lang="en-US" altLang="zh-CN" sz="2800" dirty="0"/>
            </a:br>
            <a:r>
              <a:rPr lang="en-US" altLang="zh-CN" sz="2800" dirty="0"/>
              <a:t>AAAI 2025</a:t>
            </a:r>
            <a:endParaRPr lang="zh-CN" altLang="en-US" sz="2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E8BD69-FC20-B1D3-3206-2173D221B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908" y="3141973"/>
            <a:ext cx="10540291" cy="18220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1EE9-80A6-AF2E-C825-E53C6D759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AF65B-DF3C-6F79-966C-BBA9A3129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42836" cy="79295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动机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93B499-83FB-3DEE-2826-A36FB907C6C1}"/>
              </a:ext>
            </a:extLst>
          </p:cNvPr>
          <p:cNvSpPr txBox="1"/>
          <p:nvPr/>
        </p:nvSpPr>
        <p:spPr>
          <a:xfrm>
            <a:off x="145653" y="782297"/>
            <a:ext cx="11571865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/>
              <a:t>(a)</a:t>
            </a:r>
            <a:r>
              <a:rPr lang="zh-CN" altLang="en-US" sz="2400" b="1" dirty="0"/>
              <a:t>单模态模型嵌入局限性</a:t>
            </a:r>
            <a:r>
              <a:rPr lang="zh-CN" altLang="en-US" sz="2400" dirty="0"/>
              <a:t>：单一的时间序列嵌入是解缠但弱的。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0D14CD-286E-D66A-31C7-1CE0952C9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28" y="169969"/>
            <a:ext cx="2336800" cy="172424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D273C1C-C0D8-D4F8-9B76-25C7CE4D4901}"/>
              </a:ext>
            </a:extLst>
          </p:cNvPr>
          <p:cNvSpPr txBox="1"/>
          <p:nvPr/>
        </p:nvSpPr>
        <p:spPr>
          <a:xfrm>
            <a:off x="145652" y="2280566"/>
            <a:ext cx="11571865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/>
              <a:t>(b)</a:t>
            </a:r>
            <a:r>
              <a:rPr lang="zh-CN" altLang="en-US" sz="2400" b="1" dirty="0"/>
              <a:t>直接融合嵌入的模型是纠缠的</a:t>
            </a:r>
            <a:r>
              <a:rPr lang="zh-CN" altLang="en-US" sz="2400" dirty="0"/>
              <a:t>：因为文本信息充当了噪音，融合嵌入是纠缠的。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D30D68B-69ED-D6A2-AAD7-84F5C8410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762" y="3094578"/>
            <a:ext cx="2990476" cy="197142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D7C18D2-C049-4EB2-7EDF-F1C8F829EC8E}"/>
              </a:ext>
            </a:extLst>
          </p:cNvPr>
          <p:cNvSpPr txBox="1"/>
          <p:nvPr/>
        </p:nvSpPr>
        <p:spPr>
          <a:xfrm>
            <a:off x="145652" y="5360893"/>
            <a:ext cx="11571865" cy="114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/>
              <a:t>(c)</a:t>
            </a:r>
            <a:r>
              <a:rPr lang="zh-CN" altLang="en-US" sz="2400" b="1" dirty="0"/>
              <a:t>包装时间序列到提示中的模型也是纠缠的</a:t>
            </a:r>
            <a:r>
              <a:rPr lang="zh-CN" altLang="en-US" sz="2400" dirty="0"/>
              <a:t>：由于</a:t>
            </a:r>
            <a:r>
              <a:rPr lang="en-US" altLang="zh-CN" sz="2400" dirty="0"/>
              <a:t>LLM</a:t>
            </a:r>
            <a:r>
              <a:rPr lang="zh-CN" altLang="en-US" sz="2400" dirty="0"/>
              <a:t>串联方法和</a:t>
            </a:r>
            <a:r>
              <a:rPr lang="en-US" altLang="zh-CN" sz="2400" dirty="0"/>
              <a:t>Transformer</a:t>
            </a:r>
            <a:r>
              <a:rPr lang="zh-CN" altLang="en-US" sz="2400" dirty="0"/>
              <a:t>块的性质，提示嵌入变得纠缠但稳健。</a:t>
            </a:r>
            <a:endParaRPr lang="en-US" altLang="zh-CN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6DFBAAE-5F78-8C70-979C-5466C4199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646" y="3094578"/>
            <a:ext cx="2857143" cy="2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2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5BA12-FED5-3A41-5437-EF68E6B0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154566D9-EFC9-A909-9EA8-F504C22B3E94}"/>
              </a:ext>
            </a:extLst>
          </p:cNvPr>
          <p:cNvSpPr txBox="1">
            <a:spLocks/>
          </p:cNvSpPr>
          <p:nvPr/>
        </p:nvSpPr>
        <p:spPr>
          <a:xfrm>
            <a:off x="0" y="2080"/>
            <a:ext cx="2142836" cy="79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/>
              <a:t>创新点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5C0432-430E-0BE7-23C2-40E1FFABEC31}"/>
              </a:ext>
            </a:extLst>
          </p:cNvPr>
          <p:cNvSpPr txBox="1"/>
          <p:nvPr/>
        </p:nvSpPr>
        <p:spPr>
          <a:xfrm>
            <a:off x="301133" y="719693"/>
            <a:ext cx="11405007" cy="114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识别时间序列预测的双模态</a:t>
            </a:r>
            <a:r>
              <a:rPr lang="en-US" altLang="zh-CN" sz="2400" dirty="0"/>
              <a:t>LLM</a:t>
            </a:r>
            <a:r>
              <a:rPr lang="zh-CN" altLang="en-US" sz="2400" dirty="0"/>
              <a:t>嵌入中的数据纠缠问题，并提出了一个</a:t>
            </a:r>
            <a:r>
              <a:rPr lang="en-US" altLang="zh-CN" sz="2400" dirty="0" err="1"/>
              <a:t>TimeCMA</a:t>
            </a:r>
            <a:r>
              <a:rPr lang="zh-CN" altLang="en-US" sz="2400" dirty="0"/>
              <a:t>框架，使用文本时间序列数据从</a:t>
            </a:r>
            <a:r>
              <a:rPr lang="en-US" altLang="zh-CN" sz="2400" dirty="0"/>
              <a:t>LLM</a:t>
            </a:r>
            <a:r>
              <a:rPr lang="zh-CN" altLang="en-US" sz="2400" dirty="0"/>
              <a:t>中学习解缠的嵌入。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DF23285-6B90-7CFC-794E-79ED35C6F042}"/>
              </a:ext>
            </a:extLst>
          </p:cNvPr>
          <p:cNvSpPr txBox="1"/>
          <p:nvPr/>
        </p:nvSpPr>
        <p:spPr>
          <a:xfrm>
            <a:off x="301132" y="2284969"/>
            <a:ext cx="11405007" cy="114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提出跨模态对齐模块，通过通道相似性从 </a:t>
            </a:r>
            <a:r>
              <a:rPr lang="en-US" altLang="zh-CN" sz="2400" dirty="0"/>
              <a:t>LLM</a:t>
            </a:r>
            <a:r>
              <a:rPr lang="zh-CN" altLang="en-US" sz="2400" dirty="0"/>
              <a:t>提示嵌入中检索解缠和稳健的时间序列嵌入，以增强预测。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641FB6-4D6A-0227-7BBA-905CAAFF53A4}"/>
              </a:ext>
            </a:extLst>
          </p:cNvPr>
          <p:cNvSpPr txBox="1"/>
          <p:nvPr/>
        </p:nvSpPr>
        <p:spPr>
          <a:xfrm>
            <a:off x="301131" y="3684279"/>
            <a:ext cx="11405007" cy="114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存储每个提示的最后一个</a:t>
            </a:r>
            <a:r>
              <a:rPr lang="en-US" altLang="zh-CN" sz="2400" dirty="0"/>
              <a:t>token</a:t>
            </a:r>
            <a:r>
              <a:rPr lang="zh-CN" altLang="en-US" sz="2400" dirty="0"/>
              <a:t>以降低计算成本，避免使用冻结的 </a:t>
            </a:r>
            <a:r>
              <a:rPr lang="en-US" altLang="zh-CN" sz="2400" dirty="0"/>
              <a:t>LLM </a:t>
            </a:r>
            <a:r>
              <a:rPr lang="zh-CN" altLang="en-US" sz="2400" dirty="0"/>
              <a:t>进行重复处理，实现高效预测。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D01A12-2479-873D-6E61-B5A0185718C3}"/>
              </a:ext>
            </a:extLst>
          </p:cNvPr>
          <p:cNvSpPr txBox="1"/>
          <p:nvPr/>
        </p:nvSpPr>
        <p:spPr>
          <a:xfrm>
            <a:off x="301130" y="5174218"/>
            <a:ext cx="11405007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在八个数据集上，</a:t>
            </a:r>
            <a:r>
              <a:rPr lang="en-US" altLang="zh-CN" sz="2400" dirty="0" err="1"/>
              <a:t>TimeCMA</a:t>
            </a:r>
            <a:r>
              <a:rPr lang="en-US" altLang="zh-CN" sz="2400" dirty="0"/>
              <a:t> </a:t>
            </a:r>
            <a:r>
              <a:rPr lang="zh-CN" altLang="en-US" sz="2400" dirty="0"/>
              <a:t>的性能优于最先进的模型。</a:t>
            </a:r>
          </a:p>
        </p:txBody>
      </p:sp>
    </p:spTree>
    <p:extLst>
      <p:ext uri="{BB962C8B-B14F-4D97-AF65-F5344CB8AC3E}">
        <p14:creationId xmlns:p14="http://schemas.microsoft.com/office/powerpoint/2010/main" val="2233896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4631-93B1-15D2-1972-BEE3F574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C1D89-A3C3-4770-0E96-4837AA857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42836" cy="79295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整体架构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B1EC4D-171F-65C5-54DA-C110ED7E0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2585"/>
            <a:ext cx="12192000" cy="377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5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2DE6-13DA-9183-EFCC-1BA327713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55738-9FBA-FE92-5FA8-77AF2CC7B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278256" cy="79295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第一部分：双模态编码</a:t>
            </a:r>
            <a:r>
              <a:rPr lang="en-US" altLang="zh-CN" sz="2800" dirty="0"/>
              <a:t>-</a:t>
            </a:r>
            <a:r>
              <a:rPr lang="zh-CN" altLang="en-US" sz="2800" dirty="0"/>
              <a:t>时间序列编码分支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641162-7DF5-61EC-AC0E-9008FF7FDB0F}"/>
              </a:ext>
            </a:extLst>
          </p:cNvPr>
          <p:cNvSpPr txBox="1"/>
          <p:nvPr/>
        </p:nvSpPr>
        <p:spPr>
          <a:xfrm>
            <a:off x="290943" y="3467642"/>
            <a:ext cx="116054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）时序编码器：受现有 </a:t>
            </a:r>
            <a:r>
              <a:rPr lang="af-ZA" altLang="zh-CN" dirty="0"/>
              <a:t>LLM </a:t>
            </a:r>
            <a:r>
              <a:rPr lang="zh-CN" altLang="en-US" dirty="0"/>
              <a:t>中的 </a:t>
            </a:r>
            <a:r>
              <a:rPr lang="af-ZA" altLang="zh-CN" dirty="0"/>
              <a:t>Transformer </a:t>
            </a:r>
            <a:r>
              <a:rPr lang="zh-CN" altLang="en-US" dirty="0"/>
              <a:t>结构的启发，首先在编码器中应用</a:t>
            </a:r>
            <a:r>
              <a:rPr lang="zh-CN" altLang="en-US" b="1" dirty="0"/>
              <a:t>层归一化</a:t>
            </a:r>
            <a:r>
              <a:rPr lang="zh-CN" altLang="en-US" dirty="0"/>
              <a:t>，与原始 </a:t>
            </a:r>
            <a:r>
              <a:rPr lang="af-ZA" altLang="zh-CN" dirty="0"/>
              <a:t>Transformer </a:t>
            </a:r>
            <a:r>
              <a:rPr lang="zh-CN" altLang="en-US" dirty="0"/>
              <a:t>相比，这种 </a:t>
            </a:r>
            <a:r>
              <a:rPr lang="af-ZA" altLang="zh-CN" dirty="0"/>
              <a:t>Pre-LN Transformer </a:t>
            </a:r>
            <a:r>
              <a:rPr lang="zh-CN" altLang="en-US" dirty="0"/>
              <a:t>具有更稳定、收敛更快等优点。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7FA186E-2223-1DD3-3F5D-AF03D092DB75}"/>
                  </a:ext>
                </a:extLst>
              </p:cNvPr>
              <p:cNvSpPr txBox="1"/>
              <p:nvPr/>
            </p:nvSpPr>
            <p:spPr>
              <a:xfrm>
                <a:off x="290943" y="929382"/>
                <a:ext cx="11605491" cy="669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）倒置嵌入：给定时间序列数据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zh-CN" altLang="en-US" dirty="0"/>
                  <a:t>，倒置嵌入旨在将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/>
                  <a:t>转换为可学习矩阵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，以捕获变量的时间依赖关系</a:t>
                </a:r>
                <a:r>
                  <a:rPr lang="en-US" altLang="zh-CN" dirty="0"/>
                  <a:t>,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dirty="0"/>
                  <a:t>时间序列嵌入隐藏维度。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7FA186E-2223-1DD3-3F5D-AF03D092D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3" y="929382"/>
                <a:ext cx="11605491" cy="669992"/>
              </a:xfrm>
              <a:prstGeom prst="rect">
                <a:avLst/>
              </a:prstGeom>
              <a:blipFill>
                <a:blip r:embed="rId2"/>
                <a:stretch>
                  <a:fillRect l="-473" t="-4545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C84D28B0-1FCE-7693-7AFE-B1961F0F1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324" y="1808187"/>
            <a:ext cx="2380952" cy="52381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9C2FD0F-5FB9-432F-F535-0C31D4A6A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43" y="4395395"/>
            <a:ext cx="2844800" cy="85422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6D254B1-8844-764F-94B0-7440E6100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688" y="4373682"/>
            <a:ext cx="5400000" cy="82857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83B3CA8-770E-C6D5-F575-758EF62DC9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5743" y="5808726"/>
            <a:ext cx="3466667" cy="94285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DC010D8-3AE9-C7FF-8F96-565F77B8E2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846" y="1230258"/>
            <a:ext cx="6228571" cy="2028571"/>
          </a:xfrm>
          <a:prstGeom prst="rect">
            <a:avLst/>
          </a:prstGeom>
        </p:spPr>
      </p:pic>
      <p:sp>
        <p:nvSpPr>
          <p:cNvPr id="18" name="箭头: 右 17">
            <a:extLst>
              <a:ext uri="{FF2B5EF4-FFF2-40B4-BE49-F238E27FC236}">
                <a16:creationId xmlns:a16="http://schemas.microsoft.com/office/drawing/2014/main" id="{601FC9FE-6F1E-8C60-6058-95E9240402DA}"/>
              </a:ext>
            </a:extLst>
          </p:cNvPr>
          <p:cNvSpPr/>
          <p:nvPr/>
        </p:nvSpPr>
        <p:spPr>
          <a:xfrm>
            <a:off x="3403099" y="4562765"/>
            <a:ext cx="2332683" cy="27092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02D40BF1-342F-BEB9-F2E0-37C5FDF85B63}"/>
              </a:ext>
            </a:extLst>
          </p:cNvPr>
          <p:cNvSpPr/>
          <p:nvPr/>
        </p:nvSpPr>
        <p:spPr>
          <a:xfrm rot="8236907">
            <a:off x="6545495" y="5793157"/>
            <a:ext cx="1690527" cy="27092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829F2A3-AABE-B038-D87B-AF87323B4337}"/>
              </a:ext>
            </a:extLst>
          </p:cNvPr>
          <p:cNvSpPr txBox="1"/>
          <p:nvPr/>
        </p:nvSpPr>
        <p:spPr>
          <a:xfrm>
            <a:off x="900546" y="5249618"/>
            <a:ext cx="12238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层归一化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EAE3570-881A-BF0B-A596-CFB12921CFAC}"/>
              </a:ext>
            </a:extLst>
          </p:cNvPr>
          <p:cNvSpPr txBox="1"/>
          <p:nvPr/>
        </p:nvSpPr>
        <p:spPr>
          <a:xfrm>
            <a:off x="8793688" y="5202253"/>
            <a:ext cx="1350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多头注意力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B49BFEA-7DD4-6E65-7A78-06E84B241EFA}"/>
              </a:ext>
            </a:extLst>
          </p:cNvPr>
          <p:cNvSpPr txBox="1"/>
          <p:nvPr/>
        </p:nvSpPr>
        <p:spPr>
          <a:xfrm>
            <a:off x="1654324" y="6027476"/>
            <a:ext cx="1350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残差和</a:t>
            </a:r>
            <a:r>
              <a:rPr lang="en-US" altLang="zh-CN" dirty="0"/>
              <a:t>FFN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7915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E29B1-2FBA-CFE3-AFB7-6F7126606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64529-DAC3-9D86-6011-7D3D18CAF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278256" cy="792950"/>
          </a:xfrm>
        </p:spPr>
        <p:txBody>
          <a:bodyPr>
            <a:normAutofit/>
          </a:bodyPr>
          <a:lstStyle/>
          <a:p>
            <a:pPr>
              <a:tabLst>
                <a:tab pos="5827713" algn="l"/>
              </a:tabLst>
            </a:pPr>
            <a:r>
              <a:rPr lang="zh-CN" altLang="en-US" sz="2800" dirty="0"/>
              <a:t>第一部分：双模态编码</a:t>
            </a:r>
            <a:r>
              <a:rPr lang="en-US" altLang="zh-CN" sz="2800" dirty="0"/>
              <a:t>-LLM</a:t>
            </a:r>
            <a:r>
              <a:rPr lang="zh-CN" altLang="en-US" sz="2800" dirty="0"/>
              <a:t>赋能的编码分支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0D9A7D3-1771-5D21-4D5A-92C770ABCDEA}"/>
                  </a:ext>
                </a:extLst>
              </p:cNvPr>
              <p:cNvSpPr txBox="1"/>
              <p:nvPr/>
            </p:nvSpPr>
            <p:spPr>
              <a:xfrm>
                <a:off x="290943" y="2949493"/>
                <a:ext cx="116054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）离线存储最后一个</a:t>
                </a:r>
                <a:r>
                  <a:rPr lang="en-US" altLang="zh-CN" dirty="0"/>
                  <a:t>token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：</a:t>
                </a:r>
                <a:r>
                  <a:rPr lang="af-ZA" altLang="zh-CN" dirty="0"/>
                  <a:t>LLM </a:t>
                </a:r>
                <a:r>
                  <a:rPr lang="zh-CN" altLang="en-US" dirty="0"/>
                  <a:t>中最后 </a:t>
                </a:r>
                <a:r>
                  <a:rPr lang="af-ZA" altLang="zh-CN" dirty="0"/>
                  <a:t>token </a:t>
                </a:r>
                <a:r>
                  <a:rPr lang="zh-CN" altLang="en-US" dirty="0"/>
                  <a:t>受所有前序 </a:t>
                </a:r>
                <a:r>
                  <a:rPr lang="af-ZA" altLang="zh-CN" dirty="0"/>
                  <a:t>token </a:t>
                </a:r>
                <a:r>
                  <a:rPr lang="zh-CN" altLang="en-US" dirty="0"/>
                  <a:t>影响，包含最完整时序摘要信息。</a:t>
                </a:r>
                <a:endParaRPr lang="en-US" altLang="zh-CN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0D9A7D3-1771-5D21-4D5A-92C770ABC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3" y="2949493"/>
                <a:ext cx="11605491" cy="369332"/>
              </a:xfrm>
              <a:prstGeom prst="rect">
                <a:avLst/>
              </a:prstGeom>
              <a:blipFill>
                <a:blip r:embed="rId2"/>
                <a:stretch>
                  <a:fillRect l="-473" t="-10000" r="-2363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9DDF775-5878-42CE-2600-7F9241F64347}"/>
                  </a:ext>
                </a:extLst>
              </p:cNvPr>
              <p:cNvSpPr txBox="1"/>
              <p:nvPr/>
            </p:nvSpPr>
            <p:spPr>
              <a:xfrm>
                <a:off x="290943" y="929382"/>
                <a:ext cx="11605491" cy="678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）冻结</a:t>
                </a:r>
                <a:r>
                  <a:rPr lang="en-US" altLang="zh-CN" dirty="0"/>
                  <a:t>LLM</a:t>
                </a:r>
                <a:r>
                  <a:rPr lang="zh-CN" altLang="en-US" dirty="0"/>
                  <a:t>生成嵌入：首先将提示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转为</m:t>
                    </m:r>
                  </m:oMath>
                </a14:m>
                <a:r>
                  <a:rPr lang="zh-CN" altLang="en-US" dirty="0"/>
                  <a:t>一系列</a:t>
                </a:r>
                <a:r>
                  <a:rPr lang="en-US" altLang="zh-CN" dirty="0"/>
                  <a:t>tokens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en-US" altLang="zh-CN" dirty="0"/>
                  <a:t>token</a:t>
                </a:r>
                <a:r>
                  <a:rPr lang="zh-CN" altLang="en-US" dirty="0"/>
                  <a:t>数量，接着通过</a:t>
                </a:r>
                <a:r>
                  <a:rPr lang="en-US" altLang="zh-CN" dirty="0"/>
                  <a:t>GPT2</a:t>
                </a:r>
                <a:r>
                  <a:rPr lang="zh-CN" altLang="en-US" dirty="0"/>
                  <a:t>掩码多头注意力与</a:t>
                </a:r>
                <a:r>
                  <a:rPr lang="en-US" altLang="zh-CN" dirty="0"/>
                  <a:t>FFN</a:t>
                </a:r>
                <a:r>
                  <a:rPr lang="zh-CN" altLang="en-US" dirty="0"/>
                  <a:t>，输出嵌入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sup>
                    </m:sSup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GPT2</a:t>
                </a:r>
                <a:r>
                  <a:rPr lang="zh-CN" altLang="en-US" dirty="0"/>
                  <a:t>所有参数已冻结。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9DDF775-5878-42CE-2600-7F9241F64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3" y="929382"/>
                <a:ext cx="11605491" cy="678968"/>
              </a:xfrm>
              <a:prstGeom prst="rect">
                <a:avLst/>
              </a:prstGeom>
              <a:blipFill>
                <a:blip r:embed="rId3"/>
                <a:stretch>
                  <a:fillRect l="-473" t="-4464"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86C92E63-7CE8-0C6C-A7D8-0129C62AC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2259" y="1557680"/>
            <a:ext cx="5742857" cy="13142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F76EF05-DD15-D605-F05D-8F3B77B11BB6}"/>
                  </a:ext>
                </a:extLst>
              </p:cNvPr>
              <p:cNvSpPr txBox="1"/>
              <p:nvPr/>
            </p:nvSpPr>
            <p:spPr>
              <a:xfrm>
                <a:off x="290941" y="3889943"/>
                <a:ext cx="116054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（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）提示编码器：与时序编码器一致，对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CN" altLang="en-US" dirty="0"/>
                  <a:t>进行优化，输出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F76EF05-DD15-D605-F05D-8F3B77B11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1" y="3889943"/>
                <a:ext cx="11605491" cy="369332"/>
              </a:xfrm>
              <a:prstGeom prst="rect">
                <a:avLst/>
              </a:prstGeom>
              <a:blipFill>
                <a:blip r:embed="rId5"/>
                <a:stretch>
                  <a:fillRect l="-473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27AB5245-4006-9116-BD03-D5EA4DD086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810" y="4507468"/>
            <a:ext cx="6057143" cy="1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66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91FA9-3CE8-4DEF-1EDA-65384911D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0EC06-3951-061A-6524-4A78B1A9C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9522692" cy="79295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第二部分：</a:t>
            </a:r>
            <a:r>
              <a:rPr lang="af-ZA" altLang="zh-CN" sz="2800" dirty="0"/>
              <a:t> </a:t>
            </a:r>
            <a:r>
              <a:rPr lang="zh-CN" altLang="en-US" sz="2800" dirty="0"/>
              <a:t>跨模态对齐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CCD080-DDC1-9558-1CF4-4B283D3EEE0A}"/>
                  </a:ext>
                </a:extLst>
              </p:cNvPr>
              <p:cNvSpPr txBox="1"/>
              <p:nvPr/>
            </p:nvSpPr>
            <p:spPr>
              <a:xfrm>
                <a:off x="290943" y="929382"/>
                <a:ext cx="11605491" cy="1782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）嵌入压缩：用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个线性层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dirty="0"/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分别转换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查询（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）：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（时序嵌入的查询表示）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键（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）：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（提示嵌入的键表示）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值（</a:t>
                </a:r>
                <a:r>
                  <a:rPr lang="en-US" altLang="zh-CN" dirty="0"/>
                  <a:t>V</a:t>
                </a:r>
                <a:r>
                  <a:rPr lang="zh-CN" altLang="en-US" dirty="0"/>
                  <a:t>）：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（提示嵌入的值表示）</a:t>
                </a:r>
                <a:endParaRPr lang="en-US" altLang="zh-CN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CCD080-DDC1-9558-1CF4-4B283D3EE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3" y="929382"/>
                <a:ext cx="11605491" cy="1782026"/>
              </a:xfrm>
              <a:prstGeom prst="rect">
                <a:avLst/>
              </a:prstGeom>
              <a:blipFill>
                <a:blip r:embed="rId2"/>
                <a:stretch>
                  <a:fillRect l="-473" b="-4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458F31D3-8F17-3C06-5714-96FB7B6828A2}"/>
              </a:ext>
            </a:extLst>
          </p:cNvPr>
          <p:cNvSpPr txBox="1"/>
          <p:nvPr/>
        </p:nvSpPr>
        <p:spPr>
          <a:xfrm>
            <a:off x="203198" y="4798828"/>
            <a:ext cx="11605491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）通道相似度计算：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E7BF7B8-BD1E-C2FB-D87C-98AFC9EBF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997" y="4854888"/>
            <a:ext cx="4076190" cy="4857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E76D0D8-A50A-FE95-4943-D9C5339DC76C}"/>
                  </a:ext>
                </a:extLst>
              </p:cNvPr>
              <p:cNvSpPr txBox="1"/>
              <p:nvPr/>
            </p:nvSpPr>
            <p:spPr>
              <a:xfrm>
                <a:off x="6974932" y="4798828"/>
                <a:ext cx="3435830" cy="465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其中，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sup>
                    </m:sSup>
                  </m:oMath>
                </a14:m>
                <a:r>
                  <a:rPr lang="zh-CN" altLang="en-US" dirty="0"/>
                  <a:t>为相似度矩阵</a:t>
                </a:r>
                <a:endParaRPr lang="en-US" altLang="zh-CN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E76D0D8-A50A-FE95-4943-D9C5339DC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932" y="4798828"/>
                <a:ext cx="3435830" cy="465640"/>
              </a:xfrm>
              <a:prstGeom prst="rect">
                <a:avLst/>
              </a:prstGeom>
              <a:blipFill>
                <a:blip r:embed="rId4"/>
                <a:stretch>
                  <a:fillRect l="-1418" r="-532" b="-19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8354D625-5DAE-6B23-44C9-87BE3E3A37A4}"/>
              </a:ext>
            </a:extLst>
          </p:cNvPr>
          <p:cNvSpPr txBox="1"/>
          <p:nvPr/>
        </p:nvSpPr>
        <p:spPr>
          <a:xfrm>
            <a:off x="203197" y="5516420"/>
            <a:ext cx="11605491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）嵌入融合与增强：</a:t>
            </a:r>
            <a:endParaRPr lang="en-US" altLang="zh-CN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A81FBB0-E898-2118-B80B-A0B5D5752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9980" y="5607806"/>
            <a:ext cx="3885714" cy="5523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114428C-09EF-4EA0-6978-366EF75D8391}"/>
                  </a:ext>
                </a:extLst>
              </p:cNvPr>
              <p:cNvSpPr txBox="1"/>
              <p:nvPr/>
            </p:nvSpPr>
            <p:spPr>
              <a:xfrm>
                <a:off x="745004" y="6234012"/>
                <a:ext cx="6320814" cy="463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其中，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zh-CN" altLang="en-US" dirty="0"/>
                  <a:t>为线性层，输出解纠缠且鲁棒的最终时序嵌入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114428C-09EF-4EA0-6978-366EF75D8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04" y="6234012"/>
                <a:ext cx="6320814" cy="463653"/>
              </a:xfrm>
              <a:prstGeom prst="rect">
                <a:avLst/>
              </a:prstGeom>
              <a:blipFill>
                <a:blip r:embed="rId6"/>
                <a:stretch>
                  <a:fillRect l="-771"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64D24F6C-9DB4-2AE3-38A7-2E22E826ED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7163" y="1380884"/>
            <a:ext cx="6139872" cy="342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71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38196-04A3-7458-BC36-08A716D1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5E839E-5335-1728-F92A-7604D7FE9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0"/>
            <a:ext cx="10612583" cy="79295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第三部分：时间序列预测模块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B7ACD7-5307-8E63-2FE7-1212A55D64F3}"/>
              </a:ext>
            </a:extLst>
          </p:cNvPr>
          <p:cNvSpPr txBox="1"/>
          <p:nvPr/>
        </p:nvSpPr>
        <p:spPr>
          <a:xfrm>
            <a:off x="290943" y="929382"/>
            <a:ext cx="11605491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）多元</a:t>
            </a:r>
            <a:r>
              <a:rPr lang="en-US" altLang="zh-CN" dirty="0"/>
              <a:t>Transformer</a:t>
            </a:r>
            <a:r>
              <a:rPr lang="zh-CN" altLang="en-US" dirty="0"/>
              <a:t>解码器：与时间序列编码器结构一致，在多头注意力层前加入层归一化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9C9357-6FC8-B830-066E-DF46AC8D1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372" y="1397331"/>
            <a:ext cx="5752381" cy="105714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C260E45-0496-6E3E-FB66-C0DFEEBECA3B}"/>
              </a:ext>
            </a:extLst>
          </p:cNvPr>
          <p:cNvSpPr txBox="1"/>
          <p:nvPr/>
        </p:nvSpPr>
        <p:spPr>
          <a:xfrm>
            <a:off x="290943" y="2587310"/>
            <a:ext cx="11605491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）投影与反归一化：将解码器输出映射为预测序列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B4EC79-4AC7-0D93-6657-B011104B9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562" y="2587310"/>
            <a:ext cx="2657143" cy="5047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C573306-3C8B-5633-DDF5-466613DD977A}"/>
                  </a:ext>
                </a:extLst>
              </p:cNvPr>
              <p:cNvSpPr txBox="1"/>
              <p:nvPr/>
            </p:nvSpPr>
            <p:spPr>
              <a:xfrm>
                <a:off x="209974" y="3395411"/>
                <a:ext cx="11605491" cy="50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）损失函数：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𝑝𝑟𝑒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预测损失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zh-CN" altLang="en-US" dirty="0"/>
                  <a:t>是</a:t>
                </a:r>
                <a:r>
                  <a:rPr lang="en-US" altLang="zh-CN" dirty="0"/>
                  <a:t>L2</a:t>
                </a:r>
                <a:r>
                  <a:rPr lang="zh-CN" altLang="en-US" dirty="0"/>
                  <a:t>正则化损失</a:t>
                </a:r>
                <a:endParaRPr lang="en-US" altLang="zh-CN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C573306-3C8B-5633-DDF5-466613DD9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74" y="3395411"/>
                <a:ext cx="11605491" cy="502702"/>
              </a:xfrm>
              <a:prstGeom prst="rect">
                <a:avLst/>
              </a:prstGeom>
              <a:blipFill>
                <a:blip r:embed="rId4"/>
                <a:stretch>
                  <a:fillRect l="-420" b="-15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04007959-D574-06E9-5439-980EE5BA5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8324" y="3940577"/>
            <a:ext cx="2438095" cy="51428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7675C34-AFD7-3975-7A2D-4283F1B9A1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1337" y="3623213"/>
            <a:ext cx="5319189" cy="307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8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7E19F28-71B2-CE85-F309-77FEF330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3823855" cy="79295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序列预测实验结果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2A026D5-E877-34FD-538F-9D34616A9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79" y="947804"/>
            <a:ext cx="11333333" cy="6380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659C7B4-CDCB-6305-F8BE-26A7CE95B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33" y="1585899"/>
            <a:ext cx="11228571" cy="40095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4C53-B069-9FE3-9B5B-726818525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C47D81B-C9B4-6DEE-4639-C9E62A9D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3823855" cy="79295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序列预测实验结果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BC94512-86C4-2644-666B-938028FF8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79" y="947804"/>
            <a:ext cx="11333333" cy="63809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6865E79-EB29-9CCA-F9F2-B62314A72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79" y="1740753"/>
            <a:ext cx="11266667" cy="3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5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C2654-9E52-217F-384C-275C0B847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D3FF905-2090-0007-2992-8461FF49E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3823855" cy="79295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消融实验结果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C84372-CD24-1320-D95B-16E36882E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635" y="617457"/>
            <a:ext cx="8456838" cy="395454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F9E7041-78E1-5BE1-74F7-50A298D91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857" y="4735342"/>
            <a:ext cx="3314286" cy="1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72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gzYzQwNjUxNDYyZTcyOGQ2ZTY1NjZlNGNiMmM2NG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2970</TotalTime>
  <Words>599</Words>
  <Application>Microsoft Office PowerPoint</Application>
  <PresentationFormat>宽屏</PresentationFormat>
  <Paragraphs>41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Arial</vt:lpstr>
      <vt:lpstr>Cambria Math</vt:lpstr>
      <vt:lpstr>Office 主题​​</vt:lpstr>
      <vt:lpstr>TimeCMA: Towards LLM-Empowered Multivariate Time Series Forecasting via Cross-Modality Alignment  AAAI 2025</vt:lpstr>
      <vt:lpstr>动机</vt:lpstr>
      <vt:lpstr>PowerPoint 演示文稿</vt:lpstr>
      <vt:lpstr>整体架构</vt:lpstr>
      <vt:lpstr>第一部分：双模态编码-时间序列编码分支</vt:lpstr>
      <vt:lpstr>第一部分：双模态编码-LLM赋能的编码分支</vt:lpstr>
      <vt:lpstr>第二部分： 跨模态对齐</vt:lpstr>
      <vt:lpstr>第三部分：时间序列预测模块</vt:lpstr>
      <vt:lpstr>序列预测实验结果</vt:lpstr>
      <vt:lpstr>序列预测实验结果</vt:lpstr>
      <vt:lpstr>消融实验结果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Graph Convolutional Recurrent Network for Traffic Prediction</dc:title>
  <dc:creator>潞</dc:creator>
  <cp:lastModifiedBy>敬博 王</cp:lastModifiedBy>
  <cp:revision>470</cp:revision>
  <dcterms:created xsi:type="dcterms:W3CDTF">2024-06-19T01:45:00Z</dcterms:created>
  <dcterms:modified xsi:type="dcterms:W3CDTF">2025-10-09T03:01:18Z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DD4C17BA504A4B5FA99E295CA6457B51_12</vt:lpwstr>
  </property>
  <property fmtid="{D5CDD505-2E9C-101B-9397-08002B2CF9AE}" pid="3" name="KSOProductBuildVer">
    <vt:lpwstr>2052-12.1.0.16929</vt:lpwstr>
  </property>
</Properties>
</file>