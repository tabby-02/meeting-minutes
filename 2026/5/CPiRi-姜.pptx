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 id="2147483672" r:id="rId3"/>
    <p:sldMasterId id="2147483678" r:id="rId4"/>
    <p:sldMasterId id="2147483684" r:id="rId5"/>
  </p:sldMasterIdLst>
  <p:notesMasterIdLst>
    <p:notesMasterId r:id="rId15"/>
  </p:notesMasterIdLst>
  <p:sldIdLst>
    <p:sldId id="256" r:id="rId6"/>
    <p:sldId id="257" r:id="rId7"/>
    <p:sldId id="258" r:id="rId8"/>
    <p:sldId id="259" r:id="rId9"/>
    <p:sldId id="260" r:id="rId10"/>
    <p:sldId id="261" r:id="rId11"/>
    <p:sldId id="262" r:id="rId12"/>
    <p:sldId id="263" r:id="rId13"/>
    <p:sldId id="264" r:id="rId1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4346" autoAdjust="0"/>
    <p:restoredTop sz="96233" autoAdjust="0"/>
  </p:normalViewPr>
  <p:slideViewPr>
    <p:cSldViewPr>
      <p:cViewPr varScale="1">
        <p:scale>
          <a:sx n="109" d="100"/>
          <a:sy n="109" d="100"/>
        </p:scale>
        <p:origin x="136"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2018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大家好，今天我在组会上分享的论文是一篇被ICLR 2026接收的时间序列预测方向的文章，题目是《CPiRi：面向多变量时间序列预测的通道排列不变性关系交互》。本文的核心贡献在于揭示了现有通道依赖模型在位置过拟合上的严重缺陷，并提出了一套从理论到架构均具备排列不变性的时空解耦模型设计。</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我们首先来看本文的研究动机。目前MTSF领域存在两种主要范式：通道独立（CI）和通道依赖（CD）。CI模型将每个变量孤立起来预测，鲁棒性好但不算严格意义上的多变量分析；而CD模型虽然能学习交叉关系，但往往因为吸收了固定的位置编码，把通道顺序死记硬背了下来。这就导致了一个严重问题：一旦测试环境发生了通道重排或增删也就是我们常说的结构分布共变漂移，CD模型就会立刻崩溃。如图1所示，真正的关系应当是基于内容的，而不是基于索引排列的。</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为了严谨地验证这个动机，作者设计了CPI诊断实验，也就是我们在表2中看到的测试期通道混洗操作（Test Shuffle）。测试结果非常惊人，那些复杂的图神经网络或者Cross-Attention模型，比如Informer、STID等等，一旦在推理阶段对输入通道进行随意排列，评价指标WAPE会灾难性地恶化。比如在PEMS-08上，Informer的误差增加了大约10倍。这说明模型根本没有在学这些变量之间的动态相关性，它只是硬记住：“第三个通道跟第五个通道的数值变化一致”，一旦你把第五个通道挪到第一的位置，它就不会算了。这构成了本文方法设计的直接依据。</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为了解决上述缺陷，作者提出了CPiRi架构，其核心是高度的时空解耦设计。请看图2。第一阶段，使用冻结的大模型Sundial针对每个通道并行、独立地提取时间维度的特征，这一步保证了CI的鲁棒特质。第二阶段非常关键，把各个通道提出来的特征集合，丢给一个不带位置编码的空间注意力模块。因为没有位置前置信息，模块在计算相关性时，唯一的依据只有特征的内容。这里把时间特征看作一个无序的Node集合；第三步，把带有图节点交互信息的更新特征，再次交由冷冻的解码器单独吐出预测值。这种中间可训练、两头冷冻的非对称范式，就是保障强特征质量而不被局部空间图拉偏的关键。</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要在模型上实现排列分布的无偏性，设计的训练目标自然是在所有通道排列的数学期望上最小化Loss。既然目标是排列不变，空间模块本身必须满足“排列等变性”，即对输入做任意置换，输出只做相同的置换而数值不改变。根据经典集合学习论文Deep Sets的定理，任何处理集合的等变函数，都可以分解为公式中所示的形式：先针对个体做变换，再通过一个对称的聚合函数比如求和、平均来汇聚全局信息，最后再融合。我们采用的Self-attention机制，正是计算元素相似度后进行加权求和，这本质上就是一个完备的、满足定理基本约束的对称聚合操作 $\bigoplus$。因此，架构在数学层面上就杜绝了向位置特征坍缩的可能。</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有了理论框架，我们来看具体的训练过程。这不仅仅是一个数据增强，更是强制让模型进入元学习状态的一个正则化手段。请看伪代码的逻辑：在每一个Epoch的每一个Batch提取时，我们在所有通道组成的对称群上均匀采样一个排列操作。特征经过第一层冷冻的通道独立编码器独立转换；而在空间维度汇聚时，模型面对的是完全未知的排序。空间网络要想降低最终的拟合误差，绝不可能依赖像过去那样查表一样的固定索引权重，它被迫只能通过计算向量本身的表征相似度来构建注意力图。这个从结构层发起的强迫学习手段，直接把由于通道拓扑引入的过拟合路径切断了。</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我们现在来看实验数据。表1是主要性能的结果。我们重点考察了多个极度依赖互相之间空间图拉扯的数据集，比如路网和电网。大家可以看到，与诸如Crossformer、iTransformer等高度特化的时空模型架构相比，我们的CPI$R_i$在4个数据集上取得了最低的误差率。更为关键的是，即便相对于同样试图解决序列问题的大规模基座模型如Timer-XL，由于我们采用了精细的隔离设计，模型并没有被大规模数据集产生的伪相关性绑架，在SD数据集上的WAPE预测精度改善甚至达到了惊人的12%以上。这说明摒弃掉那些虚假的位置信息，并不会损害精度，反而让模型更加轻装上阵。</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如果说常规性能是基础保障，那么表3呈现的结果则是本文模型设计的核心杀手锏：抗重排扰动的绝对鲁棒性。这张表展示了我们人为加入部分或者全部乱序的情况。随着乱序比例从0增加到100%，那些传统CD模型的误差指标是在一直发散的。而大家看最后一行，CPiRi的WAPE数据雷打不动地锁死在9.43%。这就彻底验证了我们在架构推导中的逻辑。虽然iTransformer也能在这个测试下获得不变性，但它需要在每一层对整个时空矩阵进行复杂的联合运算，消耗特别庞大的内存；而我们仅使用提纯后的最后一个Token在局部空间维度求解，不仅算得准，计算复杂度更低。</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最后是模型在“归纳泛化”测试中的表现，即模拟实际部署里添加全新的、未曾见过的传感器的极端挑战。图4中在纵轴画了预测误差，横轴展现的是将训练阶段通道遮蔽，比如只用25%的传感器去训练，然后测试全体。数据反映出哪怕剥除四分之三的图信息进行训练，CPiRi在新数据上的误差依然微乎其微。更有意思的是当跟取消掉Shuffle策略的对比版本比较时，在可获取的历史通道越少的情况下，打乱策略挽救指标、防止模型去记忆特定几个“主导传感器”的威力就越显著。这深刻佐证了：通过在时间空间域彻底断开并且强制洗牌通道，实际上是帮助模型凝练了基于跨模态动力学的内容关联，而不是生硬的几何位置映射。</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050" b="1" i="0">
                <a:solidFill>
                  <a:srgbClr val="1D40AF"/>
                </a:solidFill>
                <a:latin typeface="微软雅黑"/>
                <a:cs typeface="微软雅黑"/>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50" b="1" i="0">
                <a:solidFill>
                  <a:srgbClr val="1D40AF"/>
                </a:solidFill>
                <a:latin typeface="微软雅黑"/>
                <a:cs typeface="微软雅黑"/>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50" b="1" i="0">
                <a:solidFill>
                  <a:srgbClr val="1D40AF"/>
                </a:solidFill>
                <a:latin typeface="微软雅黑"/>
                <a:cs typeface="微软雅黑"/>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50" b="1" i="0">
                <a:solidFill>
                  <a:srgbClr val="1D40AF"/>
                </a:solidFill>
                <a:latin typeface="微软雅黑"/>
                <a:cs typeface="微软雅黑"/>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100" b="1" i="0">
                <a:solidFill>
                  <a:srgbClr val="1D40AF"/>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650" b="1" i="0">
                <a:solidFill>
                  <a:schemeClr val="tx1"/>
                </a:solidFill>
                <a:latin typeface="Arial"/>
                <a:cs typeface="Arial"/>
              </a:defRPr>
            </a:lvl1pPr>
          </a:lstStyle>
          <a:p>
            <a:endParaRPr lang="zh-CN" alt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5/20/2026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t>‹#›</a:t>
            </a:fld>
            <a:endParaRPr lang="en-US" altLang="zh-CN"/>
          </a:p>
        </p:txBody>
      </p:sp>
    </p:spTree>
    <p:extLst>
      <p:ext uri="{BB962C8B-B14F-4D97-AF65-F5344CB8AC3E}">
        <p14:creationId xmlns:p14="http://schemas.microsoft.com/office/powerpoint/2010/main" val="2543805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00" b="1" i="0">
                <a:solidFill>
                  <a:srgbClr val="1D40AF"/>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650" b="1" i="0">
                <a:solidFill>
                  <a:schemeClr val="tx1"/>
                </a:solidFill>
                <a:latin typeface="Arial"/>
                <a:cs typeface="Arial"/>
              </a:defRPr>
            </a:lvl1pPr>
          </a:lstStyle>
          <a:p>
            <a:endParaRPr lang="zh-CN" alt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5/20/2026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t>‹#›</a:t>
            </a:fld>
            <a:endParaRPr lang="en-US" altLang="zh-CN"/>
          </a:p>
        </p:txBody>
      </p:sp>
    </p:spTree>
    <p:extLst>
      <p:ext uri="{BB962C8B-B14F-4D97-AF65-F5344CB8AC3E}">
        <p14:creationId xmlns:p14="http://schemas.microsoft.com/office/powerpoint/2010/main" val="3542823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00" b="1" i="0">
                <a:solidFill>
                  <a:srgbClr val="1D40AF"/>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50" b="1" i="0">
                <a:solidFill>
                  <a:schemeClr val="tx1"/>
                </a:solidFill>
                <a:latin typeface="Arial"/>
                <a:cs typeface="Arial"/>
              </a:defRPr>
            </a:lvl1pPr>
          </a:lstStyle>
          <a:p>
            <a:endParaRPr lang="zh-CN" altLang="en-US"/>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5/20/2026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t>‹#›</a:t>
            </a:fld>
            <a:endParaRPr lang="en-US" altLang="zh-CN"/>
          </a:p>
        </p:txBody>
      </p:sp>
    </p:spTree>
    <p:extLst>
      <p:ext uri="{BB962C8B-B14F-4D97-AF65-F5344CB8AC3E}">
        <p14:creationId xmlns:p14="http://schemas.microsoft.com/office/powerpoint/2010/main" val="2280025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00" b="1" i="0">
                <a:solidFill>
                  <a:srgbClr val="1D40AF"/>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650" b="1" i="0">
                <a:solidFill>
                  <a:schemeClr val="tx1"/>
                </a:solidFill>
                <a:latin typeface="Arial"/>
                <a:cs typeface="Arial"/>
              </a:defRPr>
            </a:lvl1pPr>
          </a:lstStyle>
          <a:p>
            <a:endParaRPr lang="zh-CN" altLang="en-US"/>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5/20/2026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t>‹#›</a:t>
            </a:fld>
            <a:endParaRPr lang="en-US" altLang="zh-CN"/>
          </a:p>
        </p:txBody>
      </p:sp>
    </p:spTree>
    <p:extLst>
      <p:ext uri="{BB962C8B-B14F-4D97-AF65-F5344CB8AC3E}">
        <p14:creationId xmlns:p14="http://schemas.microsoft.com/office/powerpoint/2010/main" val="3222991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650" b="1" i="0">
                <a:solidFill>
                  <a:schemeClr val="tx1"/>
                </a:solidFill>
                <a:latin typeface="Arial"/>
                <a:cs typeface="Arial"/>
              </a:defRPr>
            </a:lvl1pPr>
          </a:lstStyle>
          <a:p>
            <a:endParaRPr lang="zh-CN" altLang="en-US"/>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5/20/2026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t>‹#›</a:t>
            </a:fld>
            <a:endParaRPr lang="en-US" altLang="zh-CN"/>
          </a:p>
        </p:txBody>
      </p:sp>
    </p:spTree>
    <p:extLst>
      <p:ext uri="{BB962C8B-B14F-4D97-AF65-F5344CB8AC3E}">
        <p14:creationId xmlns:p14="http://schemas.microsoft.com/office/powerpoint/2010/main" val="2790138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100" b="1" i="0">
                <a:solidFill>
                  <a:srgbClr val="1D40AF"/>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650" b="1" i="0">
                <a:solidFill>
                  <a:schemeClr val="tx1"/>
                </a:solidFill>
                <a:latin typeface="Arial"/>
                <a:cs typeface="Arial"/>
              </a:defRPr>
            </a:lvl1pPr>
          </a:lstStyle>
          <a:p>
            <a:endParaRPr lang="zh-CN" alt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5/20/2026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t>‹#›</a:t>
            </a:fld>
            <a:endParaRPr lang="en-US" altLang="zh-CN"/>
          </a:p>
        </p:txBody>
      </p:sp>
    </p:spTree>
    <p:extLst>
      <p:ext uri="{BB962C8B-B14F-4D97-AF65-F5344CB8AC3E}">
        <p14:creationId xmlns:p14="http://schemas.microsoft.com/office/powerpoint/2010/main" val="33704628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00" b="1" i="0">
                <a:solidFill>
                  <a:srgbClr val="1D40AF"/>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650" b="1" i="0">
                <a:solidFill>
                  <a:schemeClr val="tx1"/>
                </a:solidFill>
                <a:latin typeface="Arial"/>
                <a:cs typeface="Arial"/>
              </a:defRPr>
            </a:lvl1pPr>
          </a:lstStyle>
          <a:p>
            <a:endParaRPr lang="zh-CN" alt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5/20/2026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t>‹#›</a:t>
            </a:fld>
            <a:endParaRPr lang="en-US" altLang="zh-CN"/>
          </a:p>
        </p:txBody>
      </p:sp>
    </p:spTree>
    <p:extLst>
      <p:ext uri="{BB962C8B-B14F-4D97-AF65-F5344CB8AC3E}">
        <p14:creationId xmlns:p14="http://schemas.microsoft.com/office/powerpoint/2010/main" val="14213570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00" b="1" i="0">
                <a:solidFill>
                  <a:srgbClr val="1D40AF"/>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50" b="1" i="0">
                <a:solidFill>
                  <a:schemeClr val="tx1"/>
                </a:solidFill>
                <a:latin typeface="Arial"/>
                <a:cs typeface="Arial"/>
              </a:defRPr>
            </a:lvl1pPr>
          </a:lstStyle>
          <a:p>
            <a:endParaRPr lang="zh-CN" altLang="en-US"/>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5/20/2026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t>‹#›</a:t>
            </a:fld>
            <a:endParaRPr lang="en-US" altLang="zh-CN"/>
          </a:p>
        </p:txBody>
      </p:sp>
    </p:spTree>
    <p:extLst>
      <p:ext uri="{BB962C8B-B14F-4D97-AF65-F5344CB8AC3E}">
        <p14:creationId xmlns:p14="http://schemas.microsoft.com/office/powerpoint/2010/main" val="34888156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00" b="1" i="0">
                <a:solidFill>
                  <a:srgbClr val="1D40AF"/>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650" b="1" i="0">
                <a:solidFill>
                  <a:schemeClr val="tx1"/>
                </a:solidFill>
                <a:latin typeface="Arial"/>
                <a:cs typeface="Arial"/>
              </a:defRPr>
            </a:lvl1pPr>
          </a:lstStyle>
          <a:p>
            <a:endParaRPr lang="zh-CN" altLang="en-US"/>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5/20/2026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t>‹#›</a:t>
            </a:fld>
            <a:endParaRPr lang="en-US" altLang="zh-CN"/>
          </a:p>
        </p:txBody>
      </p:sp>
    </p:spTree>
    <p:extLst>
      <p:ext uri="{BB962C8B-B14F-4D97-AF65-F5344CB8AC3E}">
        <p14:creationId xmlns:p14="http://schemas.microsoft.com/office/powerpoint/2010/main" val="32489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650" b="1" i="0">
                <a:solidFill>
                  <a:schemeClr val="tx1"/>
                </a:solidFill>
                <a:latin typeface="Arial"/>
                <a:cs typeface="Arial"/>
              </a:defRPr>
            </a:lvl1pPr>
          </a:lstStyle>
          <a:p>
            <a:endParaRPr lang="zh-CN" altLang="en-US"/>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5/20/2026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t>‹#›</a:t>
            </a:fld>
            <a:endParaRPr lang="en-US" altLang="zh-CN"/>
          </a:p>
        </p:txBody>
      </p:sp>
    </p:spTree>
    <p:extLst>
      <p:ext uri="{BB962C8B-B14F-4D97-AF65-F5344CB8AC3E}">
        <p14:creationId xmlns:p14="http://schemas.microsoft.com/office/powerpoint/2010/main" val="28241516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100" b="1" i="0">
                <a:solidFill>
                  <a:srgbClr val="1D40AF"/>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650" b="1" i="0">
                <a:solidFill>
                  <a:schemeClr val="tx1"/>
                </a:solidFill>
                <a:latin typeface="Arial"/>
                <a:cs typeface="Arial"/>
              </a:defRPr>
            </a:lvl1pPr>
          </a:lstStyle>
          <a:p>
            <a:endParaRPr lang="zh-CN" alt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5/20/2026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t>‹#›</a:t>
            </a:fld>
            <a:endParaRPr lang="en-US" altLang="zh-CN"/>
          </a:p>
        </p:txBody>
      </p:sp>
    </p:spTree>
    <p:extLst>
      <p:ext uri="{BB962C8B-B14F-4D97-AF65-F5344CB8AC3E}">
        <p14:creationId xmlns:p14="http://schemas.microsoft.com/office/powerpoint/2010/main" val="13005310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00" b="1" i="0">
                <a:solidFill>
                  <a:srgbClr val="1D40AF"/>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650" b="1" i="0">
                <a:solidFill>
                  <a:schemeClr val="tx1"/>
                </a:solidFill>
                <a:latin typeface="Arial"/>
                <a:cs typeface="Arial"/>
              </a:defRPr>
            </a:lvl1pPr>
          </a:lstStyle>
          <a:p>
            <a:endParaRPr lang="zh-CN" alt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5/20/2026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t>‹#›</a:t>
            </a:fld>
            <a:endParaRPr lang="en-US" altLang="zh-CN"/>
          </a:p>
        </p:txBody>
      </p:sp>
    </p:spTree>
    <p:extLst>
      <p:ext uri="{BB962C8B-B14F-4D97-AF65-F5344CB8AC3E}">
        <p14:creationId xmlns:p14="http://schemas.microsoft.com/office/powerpoint/2010/main" val="32994427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00" b="1" i="0">
                <a:solidFill>
                  <a:srgbClr val="1D40AF"/>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50" b="1" i="0">
                <a:solidFill>
                  <a:schemeClr val="tx1"/>
                </a:solidFill>
                <a:latin typeface="Arial"/>
                <a:cs typeface="Arial"/>
              </a:defRPr>
            </a:lvl1pPr>
          </a:lstStyle>
          <a:p>
            <a:endParaRPr lang="zh-CN" altLang="en-US"/>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5/20/2026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t>‹#›</a:t>
            </a:fld>
            <a:endParaRPr lang="en-US" altLang="zh-CN"/>
          </a:p>
        </p:txBody>
      </p:sp>
    </p:spTree>
    <p:extLst>
      <p:ext uri="{BB962C8B-B14F-4D97-AF65-F5344CB8AC3E}">
        <p14:creationId xmlns:p14="http://schemas.microsoft.com/office/powerpoint/2010/main" val="12301683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00" b="1" i="0">
                <a:solidFill>
                  <a:srgbClr val="1D40AF"/>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650" b="1" i="0">
                <a:solidFill>
                  <a:schemeClr val="tx1"/>
                </a:solidFill>
                <a:latin typeface="Arial"/>
                <a:cs typeface="Arial"/>
              </a:defRPr>
            </a:lvl1pPr>
          </a:lstStyle>
          <a:p>
            <a:endParaRPr lang="zh-CN" altLang="en-US"/>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5/20/2026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t>‹#›</a:t>
            </a:fld>
            <a:endParaRPr lang="en-US" altLang="zh-CN"/>
          </a:p>
        </p:txBody>
      </p:sp>
    </p:spTree>
    <p:extLst>
      <p:ext uri="{BB962C8B-B14F-4D97-AF65-F5344CB8AC3E}">
        <p14:creationId xmlns:p14="http://schemas.microsoft.com/office/powerpoint/2010/main" val="4017911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650" b="1" i="0">
                <a:solidFill>
                  <a:schemeClr val="tx1"/>
                </a:solidFill>
                <a:latin typeface="Arial"/>
                <a:cs typeface="Arial"/>
              </a:defRPr>
            </a:lvl1pPr>
          </a:lstStyle>
          <a:p>
            <a:endParaRPr lang="zh-CN" altLang="en-US"/>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5/20/2026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t>‹#›</a:t>
            </a:fld>
            <a:endParaRPr lang="en-US" altLang="zh-CN"/>
          </a:p>
        </p:txBody>
      </p:sp>
    </p:spTree>
    <p:extLst>
      <p:ext uri="{BB962C8B-B14F-4D97-AF65-F5344CB8AC3E}">
        <p14:creationId xmlns:p14="http://schemas.microsoft.com/office/powerpoint/2010/main" val="4136250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100" b="1" i="0">
                <a:solidFill>
                  <a:srgbClr val="1D40AF"/>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650" b="1" i="0">
                <a:solidFill>
                  <a:schemeClr val="tx1"/>
                </a:solidFill>
                <a:latin typeface="Arial"/>
                <a:cs typeface="Arial"/>
              </a:defRPr>
            </a:lvl1pPr>
          </a:lstStyle>
          <a:p>
            <a:endParaRPr lang="zh-CN" alt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5/20/2026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t>‹#›</a:t>
            </a:fld>
            <a:endParaRPr lang="en-US" altLang="zh-CN"/>
          </a:p>
        </p:txBody>
      </p:sp>
    </p:spTree>
    <p:extLst>
      <p:ext uri="{BB962C8B-B14F-4D97-AF65-F5344CB8AC3E}">
        <p14:creationId xmlns:p14="http://schemas.microsoft.com/office/powerpoint/2010/main" val="383250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00" b="1" i="0">
                <a:solidFill>
                  <a:srgbClr val="1D40AF"/>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650" b="1" i="0">
                <a:solidFill>
                  <a:schemeClr val="tx1"/>
                </a:solidFill>
                <a:latin typeface="Arial"/>
                <a:cs typeface="Arial"/>
              </a:defRPr>
            </a:lvl1pPr>
          </a:lstStyle>
          <a:p>
            <a:endParaRPr lang="zh-CN" alt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5/20/2026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t>‹#›</a:t>
            </a:fld>
            <a:endParaRPr lang="en-US" altLang="zh-CN"/>
          </a:p>
        </p:txBody>
      </p:sp>
    </p:spTree>
    <p:extLst>
      <p:ext uri="{BB962C8B-B14F-4D97-AF65-F5344CB8AC3E}">
        <p14:creationId xmlns:p14="http://schemas.microsoft.com/office/powerpoint/2010/main" val="34959021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00" b="1" i="0">
                <a:solidFill>
                  <a:srgbClr val="1D40AF"/>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50" b="1" i="0">
                <a:solidFill>
                  <a:schemeClr val="tx1"/>
                </a:solidFill>
                <a:latin typeface="Arial"/>
                <a:cs typeface="Arial"/>
              </a:defRPr>
            </a:lvl1pPr>
          </a:lstStyle>
          <a:p>
            <a:endParaRPr lang="zh-CN" altLang="en-US"/>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5/20/2026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t>‹#›</a:t>
            </a:fld>
            <a:endParaRPr lang="en-US" altLang="zh-CN"/>
          </a:p>
        </p:txBody>
      </p:sp>
    </p:spTree>
    <p:extLst>
      <p:ext uri="{BB962C8B-B14F-4D97-AF65-F5344CB8AC3E}">
        <p14:creationId xmlns:p14="http://schemas.microsoft.com/office/powerpoint/2010/main" val="38434742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00" b="1" i="0">
                <a:solidFill>
                  <a:srgbClr val="1D40AF"/>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650" b="1" i="0">
                <a:solidFill>
                  <a:schemeClr val="tx1"/>
                </a:solidFill>
                <a:latin typeface="Arial"/>
                <a:cs typeface="Arial"/>
              </a:defRPr>
            </a:lvl1pPr>
          </a:lstStyle>
          <a:p>
            <a:endParaRPr lang="zh-CN" altLang="en-US"/>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5/20/2026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t>‹#›</a:t>
            </a:fld>
            <a:endParaRPr lang="en-US" altLang="zh-CN"/>
          </a:p>
        </p:txBody>
      </p:sp>
    </p:spTree>
    <p:extLst>
      <p:ext uri="{BB962C8B-B14F-4D97-AF65-F5344CB8AC3E}">
        <p14:creationId xmlns:p14="http://schemas.microsoft.com/office/powerpoint/2010/main" val="16979087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650" b="1" i="0">
                <a:solidFill>
                  <a:schemeClr val="tx1"/>
                </a:solidFill>
                <a:latin typeface="Arial"/>
                <a:cs typeface="Arial"/>
              </a:defRPr>
            </a:lvl1pPr>
          </a:lstStyle>
          <a:p>
            <a:endParaRPr lang="zh-CN" altLang="en-US"/>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5/20/2026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t>‹#›</a:t>
            </a:fld>
            <a:endParaRPr lang="en-US" altLang="zh-CN"/>
          </a:p>
        </p:txBody>
      </p:sp>
    </p:spTree>
    <p:extLst>
      <p:ext uri="{BB962C8B-B14F-4D97-AF65-F5344CB8AC3E}">
        <p14:creationId xmlns:p14="http://schemas.microsoft.com/office/powerpoint/2010/main" val="8929878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theme" Target="../theme/theme3.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380999" y="962024"/>
            <a:ext cx="761999" cy="38099"/>
          </a:xfrm>
          <a:prstGeom prst="rect">
            <a:avLst/>
          </a:prstGeom>
        </p:spPr>
      </p:pic>
      <p:sp>
        <p:nvSpPr>
          <p:cNvPr id="2" name="Holder 2"/>
          <p:cNvSpPr>
            <a:spLocks noGrp="1"/>
          </p:cNvSpPr>
          <p:nvPr>
            <p:ph type="title"/>
          </p:nvPr>
        </p:nvSpPr>
        <p:spPr>
          <a:xfrm>
            <a:off x="368299" y="329310"/>
            <a:ext cx="8178800" cy="495300"/>
          </a:xfrm>
          <a:prstGeom prst="rect">
            <a:avLst/>
          </a:prstGeom>
        </p:spPr>
        <p:txBody>
          <a:bodyPr wrap="square" lIns="0" tIns="0" rIns="0" bIns="0">
            <a:spAutoFit/>
          </a:bodyPr>
          <a:lstStyle>
            <a:lvl1pPr>
              <a:defRPr sz="3050" b="1" i="0">
                <a:solidFill>
                  <a:srgbClr val="1D40AF"/>
                </a:solidFill>
                <a:latin typeface="微软雅黑"/>
                <a:cs typeface="微软雅黑"/>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5/20/2026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380999" y="962024"/>
            <a:ext cx="761999" cy="38099"/>
          </a:xfrm>
          <a:prstGeom prst="rect">
            <a:avLst/>
          </a:prstGeom>
        </p:spPr>
      </p:pic>
      <p:sp>
        <p:nvSpPr>
          <p:cNvPr id="2" name="Holder 2"/>
          <p:cNvSpPr>
            <a:spLocks noGrp="1"/>
          </p:cNvSpPr>
          <p:nvPr>
            <p:ph type="title"/>
          </p:nvPr>
        </p:nvSpPr>
        <p:spPr>
          <a:xfrm>
            <a:off x="368299" y="326315"/>
            <a:ext cx="7559675" cy="499109"/>
          </a:xfrm>
          <a:prstGeom prst="rect">
            <a:avLst/>
          </a:prstGeom>
        </p:spPr>
        <p:txBody>
          <a:bodyPr wrap="square" lIns="0" tIns="0" rIns="0" bIns="0">
            <a:spAutoFit/>
          </a:bodyPr>
          <a:lstStyle>
            <a:lvl1pPr>
              <a:defRPr sz="3100" b="1" i="0">
                <a:solidFill>
                  <a:srgbClr val="1D40AF"/>
                </a:solidFill>
                <a:latin typeface="Arial"/>
                <a:cs typeface="Arial"/>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9934226" y="6329758"/>
            <a:ext cx="1984375" cy="238125"/>
          </a:xfrm>
          <a:prstGeom prst="rect">
            <a:avLst/>
          </a:prstGeom>
        </p:spPr>
        <p:txBody>
          <a:bodyPr wrap="square" lIns="0" tIns="0" rIns="0" bIns="0">
            <a:spAutoFit/>
          </a:bodyPr>
          <a:lstStyle>
            <a:lvl1pPr>
              <a:defRPr sz="1650" b="1" i="0">
                <a:solidFill>
                  <a:schemeClr val="tx1"/>
                </a:solidFill>
                <a:latin typeface="Arial"/>
                <a:cs typeface="Arial"/>
              </a:defRPr>
            </a:lvl1pPr>
          </a:lstStyle>
          <a:p>
            <a:endParaRPr lang="zh-CN" altLang="en-US"/>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smtClean="0"/>
              <a:t>5/20/2026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lang="en-US" altLang="zh-CN" smtClean="0"/>
              <a:t>‹#›</a:t>
            </a:fld>
            <a:endParaRPr lang="en-US" altLang="zh-CN"/>
          </a:p>
        </p:txBody>
      </p:sp>
    </p:spTree>
    <p:extLst>
      <p:ext uri="{BB962C8B-B14F-4D97-AF65-F5344CB8AC3E}">
        <p14:creationId xmlns:p14="http://schemas.microsoft.com/office/powerpoint/2010/main" val="1903515455"/>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380999" y="962024"/>
            <a:ext cx="761999" cy="38099"/>
          </a:xfrm>
          <a:prstGeom prst="rect">
            <a:avLst/>
          </a:prstGeom>
        </p:spPr>
      </p:pic>
      <p:sp>
        <p:nvSpPr>
          <p:cNvPr id="2" name="Holder 2"/>
          <p:cNvSpPr>
            <a:spLocks noGrp="1"/>
          </p:cNvSpPr>
          <p:nvPr>
            <p:ph type="title"/>
          </p:nvPr>
        </p:nvSpPr>
        <p:spPr>
          <a:xfrm>
            <a:off x="368299" y="326315"/>
            <a:ext cx="7559675" cy="499109"/>
          </a:xfrm>
          <a:prstGeom prst="rect">
            <a:avLst/>
          </a:prstGeom>
        </p:spPr>
        <p:txBody>
          <a:bodyPr wrap="square" lIns="0" tIns="0" rIns="0" bIns="0">
            <a:spAutoFit/>
          </a:bodyPr>
          <a:lstStyle>
            <a:lvl1pPr>
              <a:defRPr sz="3100" b="1" i="0">
                <a:solidFill>
                  <a:srgbClr val="1D40AF"/>
                </a:solidFill>
                <a:latin typeface="Arial"/>
                <a:cs typeface="Arial"/>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9934226" y="6329758"/>
            <a:ext cx="1984375" cy="238125"/>
          </a:xfrm>
          <a:prstGeom prst="rect">
            <a:avLst/>
          </a:prstGeom>
        </p:spPr>
        <p:txBody>
          <a:bodyPr wrap="square" lIns="0" tIns="0" rIns="0" bIns="0">
            <a:spAutoFit/>
          </a:bodyPr>
          <a:lstStyle>
            <a:lvl1pPr>
              <a:defRPr sz="1650" b="1" i="0">
                <a:solidFill>
                  <a:schemeClr val="tx1"/>
                </a:solidFill>
                <a:latin typeface="Arial"/>
                <a:cs typeface="Arial"/>
              </a:defRPr>
            </a:lvl1pPr>
          </a:lstStyle>
          <a:p>
            <a:endParaRPr lang="zh-CN" altLang="en-US"/>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smtClean="0"/>
              <a:t>5/20/2026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lang="en-US" altLang="zh-CN" smtClean="0"/>
              <a:t>‹#›</a:t>
            </a:fld>
            <a:endParaRPr lang="en-US" altLang="zh-CN"/>
          </a:p>
        </p:txBody>
      </p:sp>
    </p:spTree>
    <p:extLst>
      <p:ext uri="{BB962C8B-B14F-4D97-AF65-F5344CB8AC3E}">
        <p14:creationId xmlns:p14="http://schemas.microsoft.com/office/powerpoint/2010/main" val="14887731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380999" y="962024"/>
            <a:ext cx="761999" cy="38099"/>
          </a:xfrm>
          <a:prstGeom prst="rect">
            <a:avLst/>
          </a:prstGeom>
        </p:spPr>
      </p:pic>
      <p:sp>
        <p:nvSpPr>
          <p:cNvPr id="2" name="Holder 2"/>
          <p:cNvSpPr>
            <a:spLocks noGrp="1"/>
          </p:cNvSpPr>
          <p:nvPr>
            <p:ph type="title"/>
          </p:nvPr>
        </p:nvSpPr>
        <p:spPr>
          <a:xfrm>
            <a:off x="368299" y="326315"/>
            <a:ext cx="7559675" cy="499109"/>
          </a:xfrm>
          <a:prstGeom prst="rect">
            <a:avLst/>
          </a:prstGeom>
        </p:spPr>
        <p:txBody>
          <a:bodyPr wrap="square" lIns="0" tIns="0" rIns="0" bIns="0">
            <a:spAutoFit/>
          </a:bodyPr>
          <a:lstStyle>
            <a:lvl1pPr>
              <a:defRPr sz="3100" b="1" i="0">
                <a:solidFill>
                  <a:srgbClr val="1D40AF"/>
                </a:solidFill>
                <a:latin typeface="Arial"/>
                <a:cs typeface="Arial"/>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9934226" y="6329758"/>
            <a:ext cx="1984375" cy="238125"/>
          </a:xfrm>
          <a:prstGeom prst="rect">
            <a:avLst/>
          </a:prstGeom>
        </p:spPr>
        <p:txBody>
          <a:bodyPr wrap="square" lIns="0" tIns="0" rIns="0" bIns="0">
            <a:spAutoFit/>
          </a:bodyPr>
          <a:lstStyle>
            <a:lvl1pPr>
              <a:defRPr sz="1650" b="1" i="0">
                <a:solidFill>
                  <a:schemeClr val="tx1"/>
                </a:solidFill>
                <a:latin typeface="Arial"/>
                <a:cs typeface="Arial"/>
              </a:defRPr>
            </a:lvl1pPr>
          </a:lstStyle>
          <a:p>
            <a:endParaRPr lang="zh-CN" altLang="en-US"/>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smtClean="0"/>
              <a:t>5/20/2026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lang="en-US" altLang="zh-CN" smtClean="0"/>
              <a:t>‹#›</a:t>
            </a:fld>
            <a:endParaRPr lang="en-US" altLang="zh-CN"/>
          </a:p>
        </p:txBody>
      </p:sp>
    </p:spTree>
    <p:extLst>
      <p:ext uri="{BB962C8B-B14F-4D97-AF65-F5344CB8AC3E}">
        <p14:creationId xmlns:p14="http://schemas.microsoft.com/office/powerpoint/2010/main" val="404398093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380999" y="962024"/>
            <a:ext cx="761999" cy="38099"/>
          </a:xfrm>
          <a:prstGeom prst="rect">
            <a:avLst/>
          </a:prstGeom>
        </p:spPr>
      </p:pic>
      <p:sp>
        <p:nvSpPr>
          <p:cNvPr id="2" name="Holder 2"/>
          <p:cNvSpPr>
            <a:spLocks noGrp="1"/>
          </p:cNvSpPr>
          <p:nvPr>
            <p:ph type="title"/>
          </p:nvPr>
        </p:nvSpPr>
        <p:spPr>
          <a:xfrm>
            <a:off x="368299" y="326315"/>
            <a:ext cx="7559675" cy="499109"/>
          </a:xfrm>
          <a:prstGeom prst="rect">
            <a:avLst/>
          </a:prstGeom>
        </p:spPr>
        <p:txBody>
          <a:bodyPr wrap="square" lIns="0" tIns="0" rIns="0" bIns="0">
            <a:spAutoFit/>
          </a:bodyPr>
          <a:lstStyle>
            <a:lvl1pPr>
              <a:defRPr sz="3100" b="1" i="0">
                <a:solidFill>
                  <a:srgbClr val="1D40AF"/>
                </a:solidFill>
                <a:latin typeface="Arial"/>
                <a:cs typeface="Arial"/>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9934226" y="6329758"/>
            <a:ext cx="1984375" cy="238125"/>
          </a:xfrm>
          <a:prstGeom prst="rect">
            <a:avLst/>
          </a:prstGeom>
        </p:spPr>
        <p:txBody>
          <a:bodyPr wrap="square" lIns="0" tIns="0" rIns="0" bIns="0">
            <a:spAutoFit/>
          </a:bodyPr>
          <a:lstStyle>
            <a:lvl1pPr>
              <a:defRPr sz="1650" b="1" i="0">
                <a:solidFill>
                  <a:schemeClr val="tx1"/>
                </a:solidFill>
                <a:latin typeface="Arial"/>
                <a:cs typeface="Arial"/>
              </a:defRPr>
            </a:lvl1pPr>
          </a:lstStyle>
          <a:p>
            <a:endParaRPr lang="zh-CN" altLang="en-US"/>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smtClean="0"/>
              <a:t>5/20/2026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lang="en-US" altLang="zh-CN" smtClean="0"/>
              <a:t>‹#›</a:t>
            </a:fld>
            <a:endParaRPr lang="en-US" altLang="zh-CN"/>
          </a:p>
        </p:txBody>
      </p:sp>
    </p:spTree>
    <p:extLst>
      <p:ext uri="{BB962C8B-B14F-4D97-AF65-F5344CB8AC3E}">
        <p14:creationId xmlns:p14="http://schemas.microsoft.com/office/powerpoint/2010/main" val="409148910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7.png"/><Relationship Id="rId7" Type="http://schemas.openxmlformats.org/officeDocument/2006/relationships/image" Target="../media/image11.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1.png"/><Relationship Id="rId5" Type="http://schemas.openxmlformats.org/officeDocument/2006/relationships/image" Target="../media/image17.png"/><Relationship Id="rId10" Type="http://schemas.openxmlformats.org/officeDocument/2006/relationships/image" Target="../media/image20.png"/><Relationship Id="rId4" Type="http://schemas.openxmlformats.org/officeDocument/2006/relationships/image" Target="../media/image4.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2.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24.jpg"/><Relationship Id="rId10" Type="http://schemas.openxmlformats.org/officeDocument/2006/relationships/image" Target="../media/image27.png"/><Relationship Id="rId4" Type="http://schemas.openxmlformats.org/officeDocument/2006/relationships/image" Target="../media/image23.png"/><Relationship Id="rId9" Type="http://schemas.openxmlformats.org/officeDocument/2006/relationships/image" Target="../media/image26.png"/></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8.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1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6.png"/><Relationship Id="rId7" Type="http://schemas.openxmlformats.org/officeDocument/2006/relationships/image" Target="../media/image39.png"/><Relationship Id="rId2" Type="http://schemas.openxmlformats.org/officeDocument/2006/relationships/notesSlide" Target="../notesSlides/notesSlide9.xml"/><Relationship Id="rId1" Type="http://schemas.openxmlformats.org/officeDocument/2006/relationships/slideLayout" Target="../slideLayouts/slideLayout22.xml"/><Relationship Id="rId6" Type="http://schemas.openxmlformats.org/officeDocument/2006/relationships/image" Target="../media/image38.png"/><Relationship Id="rId5" Type="http://schemas.openxmlformats.org/officeDocument/2006/relationships/image" Target="../media/image7.png"/><Relationship Id="rId4" Type="http://schemas.openxmlformats.org/officeDocument/2006/relationships/image" Target="../media/image37.png"/><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80999" y="380999"/>
            <a:ext cx="11430000" cy="6096000"/>
            <a:chOff x="380999" y="380999"/>
            <a:chExt cx="11430000" cy="6096000"/>
          </a:xfrm>
        </p:grpSpPr>
        <p:pic>
          <p:nvPicPr>
            <p:cNvPr id="3" name="object 3"/>
            <p:cNvPicPr/>
            <p:nvPr/>
          </p:nvPicPr>
          <p:blipFill>
            <a:blip r:embed="rId3" cstate="print"/>
            <a:stretch>
              <a:fillRect/>
            </a:stretch>
          </p:blipFill>
          <p:spPr>
            <a:xfrm>
              <a:off x="380999" y="380999"/>
              <a:ext cx="11429999" cy="6095999"/>
            </a:xfrm>
            <a:prstGeom prst="rect">
              <a:avLst/>
            </a:prstGeom>
          </p:spPr>
        </p:pic>
        <p:sp>
          <p:nvSpPr>
            <p:cNvPr id="4" name="object 4"/>
            <p:cNvSpPr/>
            <p:nvPr/>
          </p:nvSpPr>
          <p:spPr>
            <a:xfrm>
              <a:off x="385762" y="1776412"/>
              <a:ext cx="1800225" cy="238125"/>
            </a:xfrm>
            <a:custGeom>
              <a:avLst/>
              <a:gdLst/>
              <a:ahLst/>
              <a:cxnLst/>
              <a:rect l="l" t="t" r="r" b="b"/>
              <a:pathLst>
                <a:path w="1800225" h="238125">
                  <a:moveTo>
                    <a:pt x="1771308" y="238124"/>
                  </a:moveTo>
                  <a:lnTo>
                    <a:pt x="28916" y="238124"/>
                  </a:lnTo>
                  <a:lnTo>
                    <a:pt x="24664" y="237279"/>
                  </a:lnTo>
                  <a:lnTo>
                    <a:pt x="0" y="209208"/>
                  </a:lnTo>
                  <a:lnTo>
                    <a:pt x="0" y="204787"/>
                  </a:lnTo>
                  <a:lnTo>
                    <a:pt x="0" y="28916"/>
                  </a:lnTo>
                  <a:lnTo>
                    <a:pt x="28916" y="0"/>
                  </a:lnTo>
                  <a:lnTo>
                    <a:pt x="1771308" y="0"/>
                  </a:lnTo>
                  <a:lnTo>
                    <a:pt x="1800224" y="28916"/>
                  </a:lnTo>
                  <a:lnTo>
                    <a:pt x="1800224" y="209208"/>
                  </a:lnTo>
                  <a:lnTo>
                    <a:pt x="1775560" y="237279"/>
                  </a:lnTo>
                  <a:lnTo>
                    <a:pt x="1771308" y="238124"/>
                  </a:lnTo>
                  <a:close/>
                </a:path>
              </a:pathLst>
            </a:custGeom>
            <a:solidFill>
              <a:srgbClr val="EFF5FF"/>
            </a:solidFill>
          </p:spPr>
          <p:txBody>
            <a:bodyPr wrap="square" lIns="0" tIns="0" rIns="0" bIns="0" rtlCol="0"/>
            <a:lstStyle/>
            <a:p>
              <a:endParaRPr/>
            </a:p>
          </p:txBody>
        </p:sp>
        <p:sp>
          <p:nvSpPr>
            <p:cNvPr id="5" name="object 5"/>
            <p:cNvSpPr/>
            <p:nvPr/>
          </p:nvSpPr>
          <p:spPr>
            <a:xfrm>
              <a:off x="385762" y="1776412"/>
              <a:ext cx="1800225" cy="238125"/>
            </a:xfrm>
            <a:custGeom>
              <a:avLst/>
              <a:gdLst/>
              <a:ahLst/>
              <a:cxnLst/>
              <a:rect l="l" t="t" r="r" b="b"/>
              <a:pathLst>
                <a:path w="1800225" h="238125">
                  <a:moveTo>
                    <a:pt x="0" y="204787"/>
                  </a:moveTo>
                  <a:lnTo>
                    <a:pt x="0" y="33337"/>
                  </a:lnTo>
                  <a:lnTo>
                    <a:pt x="0" y="28916"/>
                  </a:lnTo>
                  <a:lnTo>
                    <a:pt x="845" y="24664"/>
                  </a:lnTo>
                  <a:lnTo>
                    <a:pt x="28916" y="0"/>
                  </a:lnTo>
                  <a:lnTo>
                    <a:pt x="33337" y="0"/>
                  </a:lnTo>
                  <a:lnTo>
                    <a:pt x="1766887" y="0"/>
                  </a:lnTo>
                  <a:lnTo>
                    <a:pt x="1771308" y="0"/>
                  </a:lnTo>
                  <a:lnTo>
                    <a:pt x="1775560" y="845"/>
                  </a:lnTo>
                  <a:lnTo>
                    <a:pt x="1779644" y="2537"/>
                  </a:lnTo>
                  <a:lnTo>
                    <a:pt x="1783729" y="4229"/>
                  </a:lnTo>
                  <a:lnTo>
                    <a:pt x="1797686" y="20579"/>
                  </a:lnTo>
                  <a:lnTo>
                    <a:pt x="1799378" y="24664"/>
                  </a:lnTo>
                  <a:lnTo>
                    <a:pt x="1800224" y="28916"/>
                  </a:lnTo>
                  <a:lnTo>
                    <a:pt x="1800224" y="33337"/>
                  </a:lnTo>
                  <a:lnTo>
                    <a:pt x="1800224" y="204787"/>
                  </a:lnTo>
                  <a:lnTo>
                    <a:pt x="1800224" y="209208"/>
                  </a:lnTo>
                  <a:lnTo>
                    <a:pt x="1799378" y="213460"/>
                  </a:lnTo>
                  <a:lnTo>
                    <a:pt x="1797686" y="217545"/>
                  </a:lnTo>
                  <a:lnTo>
                    <a:pt x="1795995" y="221629"/>
                  </a:lnTo>
                  <a:lnTo>
                    <a:pt x="1766887" y="238124"/>
                  </a:lnTo>
                  <a:lnTo>
                    <a:pt x="33337" y="238124"/>
                  </a:lnTo>
                  <a:lnTo>
                    <a:pt x="2537" y="217545"/>
                  </a:lnTo>
                  <a:lnTo>
                    <a:pt x="845" y="213460"/>
                  </a:lnTo>
                  <a:lnTo>
                    <a:pt x="0" y="209208"/>
                  </a:lnTo>
                  <a:lnTo>
                    <a:pt x="0" y="204787"/>
                  </a:lnTo>
                  <a:close/>
                </a:path>
              </a:pathLst>
            </a:custGeom>
            <a:ln w="9524">
              <a:solidFill>
                <a:srgbClr val="DAE9FE"/>
              </a:solidFill>
            </a:ln>
          </p:spPr>
          <p:txBody>
            <a:bodyPr wrap="square" lIns="0" tIns="0" rIns="0" bIns="0" rtlCol="0"/>
            <a:lstStyle/>
            <a:p>
              <a:endParaRPr/>
            </a:p>
          </p:txBody>
        </p:sp>
      </p:grpSp>
      <p:sp>
        <p:nvSpPr>
          <p:cNvPr id="6" name="object 6"/>
          <p:cNvSpPr txBox="1"/>
          <p:nvPr/>
        </p:nvSpPr>
        <p:spPr>
          <a:xfrm>
            <a:off x="492125" y="1797050"/>
            <a:ext cx="1580515" cy="162560"/>
          </a:xfrm>
          <a:prstGeom prst="rect">
            <a:avLst/>
          </a:prstGeom>
        </p:spPr>
        <p:txBody>
          <a:bodyPr vert="horz" wrap="square" lIns="0" tIns="12700" rIns="0" bIns="0" rtlCol="0">
            <a:spAutoFit/>
          </a:bodyPr>
          <a:lstStyle/>
          <a:p>
            <a:pPr marL="12700">
              <a:lnSpc>
                <a:spcPct val="100000"/>
              </a:lnSpc>
              <a:spcBef>
                <a:spcPts val="100"/>
              </a:spcBef>
            </a:pPr>
            <a:r>
              <a:rPr sz="900" b="1">
                <a:solidFill>
                  <a:srgbClr val="1D40AF"/>
                </a:solidFill>
                <a:latin typeface="Courier New"/>
                <a:cs typeface="Courier New"/>
              </a:rPr>
              <a:t>MTS</a:t>
            </a:r>
            <a:r>
              <a:rPr sz="900" b="1" spc="360">
                <a:solidFill>
                  <a:srgbClr val="1D40AF"/>
                </a:solidFill>
                <a:latin typeface="Courier New"/>
                <a:cs typeface="Courier New"/>
              </a:rPr>
              <a:t> </a:t>
            </a:r>
            <a:r>
              <a:rPr sz="900" b="1">
                <a:solidFill>
                  <a:srgbClr val="1D40AF"/>
                </a:solidFill>
                <a:latin typeface="Courier New"/>
                <a:cs typeface="Courier New"/>
              </a:rPr>
              <a:t>FORECASTING</a:t>
            </a:r>
            <a:r>
              <a:rPr sz="900" b="1" spc="360">
                <a:solidFill>
                  <a:srgbClr val="1D40AF"/>
                </a:solidFill>
                <a:latin typeface="Courier New"/>
                <a:cs typeface="Courier New"/>
              </a:rPr>
              <a:t> </a:t>
            </a:r>
            <a:r>
              <a:rPr sz="900" b="1" spc="-10">
                <a:solidFill>
                  <a:srgbClr val="1D40AF"/>
                </a:solidFill>
                <a:latin typeface="Courier New"/>
                <a:cs typeface="Courier New"/>
              </a:rPr>
              <a:t>MODEL</a:t>
            </a:r>
            <a:endParaRPr sz="900">
              <a:latin typeface="Courier New"/>
              <a:cs typeface="Courier New"/>
            </a:endParaRPr>
          </a:p>
        </p:txBody>
      </p:sp>
      <p:grpSp>
        <p:nvGrpSpPr>
          <p:cNvPr id="7" name="object 7"/>
          <p:cNvGrpSpPr/>
          <p:nvPr/>
        </p:nvGrpSpPr>
        <p:grpSpPr>
          <a:xfrm>
            <a:off x="352202" y="465503"/>
            <a:ext cx="11430000" cy="5429250"/>
            <a:chOff x="380999" y="476249"/>
            <a:chExt cx="11430000" cy="5429250"/>
          </a:xfrm>
        </p:grpSpPr>
        <p:sp>
          <p:nvSpPr>
            <p:cNvPr id="8" name="object 8"/>
            <p:cNvSpPr/>
            <p:nvPr/>
          </p:nvSpPr>
          <p:spPr>
            <a:xfrm>
              <a:off x="2305049" y="1885949"/>
              <a:ext cx="762000" cy="9525"/>
            </a:xfrm>
            <a:custGeom>
              <a:avLst/>
              <a:gdLst/>
              <a:ahLst/>
              <a:cxnLst/>
              <a:rect l="l" t="t" r="r" b="b"/>
              <a:pathLst>
                <a:path w="762000" h="9525">
                  <a:moveTo>
                    <a:pt x="761999" y="9524"/>
                  </a:moveTo>
                  <a:lnTo>
                    <a:pt x="0" y="9524"/>
                  </a:lnTo>
                  <a:lnTo>
                    <a:pt x="0" y="0"/>
                  </a:lnTo>
                  <a:lnTo>
                    <a:pt x="761999" y="0"/>
                  </a:lnTo>
                  <a:lnTo>
                    <a:pt x="761999" y="9524"/>
                  </a:lnTo>
                  <a:close/>
                </a:path>
              </a:pathLst>
            </a:custGeom>
            <a:solidFill>
              <a:srgbClr val="E4E7EB"/>
            </a:solidFill>
          </p:spPr>
          <p:txBody>
            <a:bodyPr wrap="square" lIns="0" tIns="0" rIns="0" bIns="0" rtlCol="0"/>
            <a:lstStyle/>
            <a:p>
              <a:endParaRPr/>
            </a:p>
          </p:txBody>
        </p:sp>
        <p:sp>
          <p:nvSpPr>
            <p:cNvPr id="9" name="object 9"/>
            <p:cNvSpPr/>
            <p:nvPr/>
          </p:nvSpPr>
          <p:spPr>
            <a:xfrm>
              <a:off x="380999" y="3162299"/>
              <a:ext cx="38100" cy="1028700"/>
            </a:xfrm>
            <a:custGeom>
              <a:avLst/>
              <a:gdLst/>
              <a:ahLst/>
              <a:cxnLst/>
              <a:rect l="l" t="t" r="r" b="b"/>
              <a:pathLst>
                <a:path w="38100" h="1028700">
                  <a:moveTo>
                    <a:pt x="38099" y="1028699"/>
                  </a:moveTo>
                  <a:lnTo>
                    <a:pt x="0" y="1028699"/>
                  </a:lnTo>
                  <a:lnTo>
                    <a:pt x="0" y="0"/>
                  </a:lnTo>
                  <a:lnTo>
                    <a:pt x="38099" y="0"/>
                  </a:lnTo>
                  <a:lnTo>
                    <a:pt x="38099" y="1028699"/>
                  </a:lnTo>
                  <a:close/>
                </a:path>
              </a:pathLst>
            </a:custGeom>
            <a:solidFill>
              <a:srgbClr val="D97705"/>
            </a:solidFill>
          </p:spPr>
          <p:txBody>
            <a:bodyPr wrap="square" lIns="0" tIns="0" rIns="0" bIns="0" rtlCol="0"/>
            <a:lstStyle/>
            <a:p>
              <a:endParaRPr/>
            </a:p>
          </p:txBody>
        </p:sp>
        <p:pic>
          <p:nvPicPr>
            <p:cNvPr id="10" name="object 10"/>
            <p:cNvPicPr/>
            <p:nvPr/>
          </p:nvPicPr>
          <p:blipFill>
            <a:blip r:embed="rId4" cstate="print"/>
            <a:stretch>
              <a:fillRect/>
            </a:stretch>
          </p:blipFill>
          <p:spPr>
            <a:xfrm>
              <a:off x="380999" y="5867399"/>
              <a:ext cx="11429999" cy="38099"/>
            </a:xfrm>
            <a:prstGeom prst="rect">
              <a:avLst/>
            </a:prstGeom>
          </p:spPr>
        </p:pic>
        <p:sp>
          <p:nvSpPr>
            <p:cNvPr id="11" name="object 11"/>
            <p:cNvSpPr/>
            <p:nvPr/>
          </p:nvSpPr>
          <p:spPr>
            <a:xfrm>
              <a:off x="10896599" y="5867399"/>
              <a:ext cx="914400" cy="38100"/>
            </a:xfrm>
            <a:custGeom>
              <a:avLst/>
              <a:gdLst/>
              <a:ahLst/>
              <a:cxnLst/>
              <a:rect l="l" t="t" r="r" b="b"/>
              <a:pathLst>
                <a:path w="914400" h="38100">
                  <a:moveTo>
                    <a:pt x="914399" y="38099"/>
                  </a:moveTo>
                  <a:lnTo>
                    <a:pt x="0" y="38099"/>
                  </a:lnTo>
                  <a:lnTo>
                    <a:pt x="0" y="0"/>
                  </a:lnTo>
                  <a:lnTo>
                    <a:pt x="914399" y="0"/>
                  </a:lnTo>
                  <a:lnTo>
                    <a:pt x="914399" y="38099"/>
                  </a:lnTo>
                  <a:close/>
                </a:path>
              </a:pathLst>
            </a:custGeom>
            <a:solidFill>
              <a:srgbClr val="FFFFFF">
                <a:alpha val="39999"/>
              </a:srgbClr>
            </a:solidFill>
          </p:spPr>
          <p:txBody>
            <a:bodyPr wrap="square" lIns="0" tIns="0" rIns="0" bIns="0" rtlCol="0"/>
            <a:lstStyle/>
            <a:p>
              <a:endParaRPr/>
            </a:p>
          </p:txBody>
        </p:sp>
        <p:sp>
          <p:nvSpPr>
            <p:cNvPr id="18" name="object 18"/>
            <p:cNvSpPr/>
            <p:nvPr/>
          </p:nvSpPr>
          <p:spPr>
            <a:xfrm>
              <a:off x="380999" y="752474"/>
              <a:ext cx="11430000" cy="9525"/>
            </a:xfrm>
            <a:custGeom>
              <a:avLst/>
              <a:gdLst/>
              <a:ahLst/>
              <a:cxnLst/>
              <a:rect l="l" t="t" r="r" b="b"/>
              <a:pathLst>
                <a:path w="11430000" h="9525">
                  <a:moveTo>
                    <a:pt x="11429999" y="9524"/>
                  </a:moveTo>
                  <a:lnTo>
                    <a:pt x="0" y="9524"/>
                  </a:lnTo>
                  <a:lnTo>
                    <a:pt x="0" y="0"/>
                  </a:lnTo>
                  <a:lnTo>
                    <a:pt x="11429999" y="0"/>
                  </a:lnTo>
                  <a:lnTo>
                    <a:pt x="11429999" y="9524"/>
                  </a:lnTo>
                  <a:close/>
                </a:path>
              </a:pathLst>
            </a:custGeom>
            <a:solidFill>
              <a:srgbClr val="F2F4F5"/>
            </a:solidFill>
          </p:spPr>
          <p:txBody>
            <a:bodyPr wrap="square" lIns="0" tIns="0" rIns="0" bIns="0" rtlCol="0"/>
            <a:lstStyle/>
            <a:p>
              <a:endParaRPr/>
            </a:p>
          </p:txBody>
        </p:sp>
        <p:pic>
          <p:nvPicPr>
            <p:cNvPr id="19" name="object 19"/>
            <p:cNvPicPr/>
            <p:nvPr/>
          </p:nvPicPr>
          <p:blipFill>
            <a:blip r:embed="rId5" cstate="print"/>
            <a:stretch>
              <a:fillRect/>
            </a:stretch>
          </p:blipFill>
          <p:spPr>
            <a:xfrm>
              <a:off x="11734797" y="476249"/>
              <a:ext cx="76201" cy="76199"/>
            </a:xfrm>
            <a:prstGeom prst="rect">
              <a:avLst/>
            </a:prstGeom>
          </p:spPr>
        </p:pic>
      </p:grpSp>
      <p:sp>
        <p:nvSpPr>
          <p:cNvPr id="21" name="object 21"/>
          <p:cNvSpPr txBox="1">
            <a:spLocks noGrp="1"/>
          </p:cNvSpPr>
          <p:nvPr>
            <p:ph type="title"/>
          </p:nvPr>
        </p:nvSpPr>
        <p:spPr>
          <a:xfrm>
            <a:off x="368299" y="2075660"/>
            <a:ext cx="1869439" cy="971550"/>
          </a:xfrm>
          <a:prstGeom prst="rect">
            <a:avLst/>
          </a:prstGeom>
        </p:spPr>
        <p:txBody>
          <a:bodyPr vert="horz" wrap="square" lIns="0" tIns="13335" rIns="0" bIns="0" rtlCol="0">
            <a:spAutoFit/>
          </a:bodyPr>
          <a:lstStyle/>
          <a:p>
            <a:pPr marL="12700">
              <a:lnSpc>
                <a:spcPct val="100000"/>
              </a:lnSpc>
              <a:spcBef>
                <a:spcPts val="105"/>
              </a:spcBef>
            </a:pPr>
            <a:r>
              <a:rPr sz="6200" spc="-440">
                <a:latin typeface="Arial"/>
                <a:cs typeface="Arial"/>
              </a:rPr>
              <a:t>CPiRi</a:t>
            </a:r>
            <a:endParaRPr sz="6200">
              <a:latin typeface="Arial"/>
              <a:cs typeface="Arial"/>
            </a:endParaRPr>
          </a:p>
        </p:txBody>
      </p:sp>
      <p:sp>
        <p:nvSpPr>
          <p:cNvPr id="22" name="object 22"/>
          <p:cNvSpPr txBox="1"/>
          <p:nvPr/>
        </p:nvSpPr>
        <p:spPr>
          <a:xfrm>
            <a:off x="558800" y="4067265"/>
            <a:ext cx="5994400" cy="406778"/>
          </a:xfrm>
          <a:prstGeom prst="rect">
            <a:avLst/>
          </a:prstGeom>
        </p:spPr>
        <p:txBody>
          <a:bodyPr vert="horz" wrap="square" lIns="0" tIns="12700" rIns="0" bIns="0" rtlCol="0">
            <a:spAutoFit/>
          </a:bodyPr>
          <a:lstStyle/>
          <a:p>
            <a:pPr marL="12700" marR="5080">
              <a:lnSpc>
                <a:spcPct val="131900"/>
              </a:lnSpc>
              <a:spcBef>
                <a:spcPts val="100"/>
              </a:spcBef>
            </a:pPr>
            <a:r>
              <a:rPr sz="1000">
                <a:solidFill>
                  <a:srgbClr val="9CA2AF"/>
                </a:solidFill>
                <a:latin typeface="Courier New"/>
                <a:cs typeface="Courier New"/>
              </a:rPr>
              <a:t>Evaluating variable-wise permutations and generalized </a:t>
            </a:r>
            <a:r>
              <a:rPr sz="1000" spc="-10">
                <a:solidFill>
                  <a:srgbClr val="9CA2AF"/>
                </a:solidFill>
                <a:latin typeface="Courier New"/>
                <a:cs typeface="Courier New"/>
              </a:rPr>
              <a:t>structural </a:t>
            </a:r>
            <a:r>
              <a:rPr sz="1000">
                <a:solidFill>
                  <a:srgbClr val="9CA2AF"/>
                </a:solidFill>
                <a:latin typeface="Courier New"/>
                <a:cs typeface="Courier New"/>
              </a:rPr>
              <a:t>transformations inside topological temporal graph </a:t>
            </a:r>
            <a:r>
              <a:rPr sz="1000" spc="-10">
                <a:solidFill>
                  <a:srgbClr val="9CA2AF"/>
                </a:solidFill>
                <a:latin typeface="Courier New"/>
                <a:cs typeface="Courier New"/>
              </a:rPr>
              <a:t>representations.</a:t>
            </a:r>
            <a:endParaRPr sz="1000">
              <a:latin typeface="Courier New"/>
              <a:cs typeface="Courier New"/>
            </a:endParaRPr>
          </a:p>
        </p:txBody>
      </p:sp>
      <p:sp>
        <p:nvSpPr>
          <p:cNvPr id="23" name="object 23"/>
          <p:cNvSpPr txBox="1"/>
          <p:nvPr/>
        </p:nvSpPr>
        <p:spPr>
          <a:xfrm>
            <a:off x="558800" y="3122791"/>
            <a:ext cx="9118600" cy="819263"/>
          </a:xfrm>
          <a:prstGeom prst="rect">
            <a:avLst/>
          </a:prstGeom>
        </p:spPr>
        <p:txBody>
          <a:bodyPr vert="horz" wrap="square" lIns="0" tIns="12700" rIns="0" bIns="0" rtlCol="0">
            <a:spAutoFit/>
          </a:bodyPr>
          <a:lstStyle/>
          <a:p>
            <a:pPr marL="12700" marR="5080">
              <a:lnSpc>
                <a:spcPct val="115399"/>
              </a:lnSpc>
              <a:spcBef>
                <a:spcPts val="100"/>
              </a:spcBef>
            </a:pPr>
            <a:r>
              <a:rPr sz="2400" b="1" spc="-120">
                <a:solidFill>
                  <a:srgbClr val="111726"/>
                </a:solidFill>
                <a:latin typeface="Tahoma"/>
                <a:cs typeface="Tahoma"/>
              </a:rPr>
              <a:t>CHANNEL</a:t>
            </a:r>
            <a:r>
              <a:rPr sz="2400" b="1" spc="5">
                <a:solidFill>
                  <a:srgbClr val="111726"/>
                </a:solidFill>
                <a:latin typeface="Tahoma"/>
                <a:cs typeface="Tahoma"/>
              </a:rPr>
              <a:t> </a:t>
            </a:r>
            <a:r>
              <a:rPr sz="2400" b="1" spc="-145">
                <a:solidFill>
                  <a:srgbClr val="111726"/>
                </a:solidFill>
                <a:latin typeface="Tahoma"/>
                <a:cs typeface="Tahoma"/>
              </a:rPr>
              <a:t>PERMUTATION-</a:t>
            </a:r>
            <a:r>
              <a:rPr sz="2400" b="1" spc="-204">
                <a:solidFill>
                  <a:srgbClr val="111726"/>
                </a:solidFill>
                <a:latin typeface="Tahoma"/>
                <a:cs typeface="Tahoma"/>
              </a:rPr>
              <a:t>INVARIANT</a:t>
            </a:r>
            <a:r>
              <a:rPr sz="2400" b="1" spc="-114">
                <a:solidFill>
                  <a:srgbClr val="111726"/>
                </a:solidFill>
                <a:latin typeface="Tahoma"/>
                <a:cs typeface="Tahoma"/>
              </a:rPr>
              <a:t> </a:t>
            </a:r>
            <a:r>
              <a:rPr sz="2400" b="1" spc="-100">
                <a:solidFill>
                  <a:srgbClr val="111726"/>
                </a:solidFill>
                <a:latin typeface="Tahoma"/>
                <a:cs typeface="Tahoma"/>
              </a:rPr>
              <a:t>RELATIONAL </a:t>
            </a:r>
            <a:r>
              <a:rPr sz="2400" b="1" spc="-150">
                <a:solidFill>
                  <a:srgbClr val="111726"/>
                </a:solidFill>
                <a:latin typeface="Tahoma"/>
                <a:cs typeface="Tahoma"/>
              </a:rPr>
              <a:t>INTERACTION</a:t>
            </a:r>
            <a:r>
              <a:rPr sz="2400" b="1" spc="-90">
                <a:solidFill>
                  <a:srgbClr val="111726"/>
                </a:solidFill>
                <a:latin typeface="Tahoma"/>
                <a:cs typeface="Tahoma"/>
              </a:rPr>
              <a:t> </a:t>
            </a:r>
            <a:r>
              <a:rPr sz="2400" b="1" spc="-135">
                <a:solidFill>
                  <a:srgbClr val="111726"/>
                </a:solidFill>
                <a:latin typeface="Tahoma"/>
                <a:cs typeface="Tahoma"/>
              </a:rPr>
              <a:t>FOR</a:t>
            </a:r>
            <a:r>
              <a:rPr sz="2400" b="1" spc="-20">
                <a:solidFill>
                  <a:srgbClr val="111726"/>
                </a:solidFill>
                <a:latin typeface="Tahoma"/>
                <a:cs typeface="Tahoma"/>
              </a:rPr>
              <a:t> </a:t>
            </a:r>
            <a:r>
              <a:rPr sz="2400" b="1" spc="-170">
                <a:solidFill>
                  <a:srgbClr val="111726"/>
                </a:solidFill>
                <a:latin typeface="Tahoma"/>
                <a:cs typeface="Tahoma"/>
              </a:rPr>
              <a:t>MULTIVARIATE</a:t>
            </a:r>
            <a:r>
              <a:rPr sz="2400" b="1" spc="-160">
                <a:solidFill>
                  <a:srgbClr val="111726"/>
                </a:solidFill>
                <a:latin typeface="Tahoma"/>
                <a:cs typeface="Tahoma"/>
              </a:rPr>
              <a:t> </a:t>
            </a:r>
            <a:r>
              <a:rPr sz="2400" b="1" spc="-120">
                <a:solidFill>
                  <a:srgbClr val="111726"/>
                </a:solidFill>
                <a:latin typeface="Tahoma"/>
                <a:cs typeface="Tahoma"/>
              </a:rPr>
              <a:t>TIME</a:t>
            </a:r>
            <a:r>
              <a:rPr sz="2400" b="1" spc="-75">
                <a:solidFill>
                  <a:srgbClr val="111726"/>
                </a:solidFill>
                <a:latin typeface="Tahoma"/>
                <a:cs typeface="Tahoma"/>
              </a:rPr>
              <a:t> </a:t>
            </a:r>
            <a:r>
              <a:rPr sz="2400" b="1" spc="-10">
                <a:solidFill>
                  <a:srgbClr val="111726"/>
                </a:solidFill>
                <a:latin typeface="Tahoma"/>
                <a:cs typeface="Tahoma"/>
              </a:rPr>
              <a:t>SERIES </a:t>
            </a:r>
            <a:r>
              <a:rPr sz="2400" b="1" spc="-45">
                <a:solidFill>
                  <a:srgbClr val="111726"/>
                </a:solidFill>
                <a:latin typeface="Tahoma"/>
                <a:cs typeface="Tahoma"/>
              </a:rPr>
              <a:t>FORECASTING</a:t>
            </a:r>
            <a:endParaRPr sz="2400">
              <a:latin typeface="Tahoma"/>
              <a:cs typeface="Tahoma"/>
            </a:endParaRPr>
          </a:p>
        </p:txBody>
      </p:sp>
      <p:sp>
        <p:nvSpPr>
          <p:cNvPr id="26" name="object 26"/>
          <p:cNvSpPr txBox="1"/>
          <p:nvPr/>
        </p:nvSpPr>
        <p:spPr>
          <a:xfrm>
            <a:off x="11112350" y="6035674"/>
            <a:ext cx="711835" cy="162560"/>
          </a:xfrm>
          <a:prstGeom prst="rect">
            <a:avLst/>
          </a:prstGeom>
        </p:spPr>
        <p:txBody>
          <a:bodyPr vert="horz" wrap="square" lIns="0" tIns="12700" rIns="0" bIns="0" rtlCol="0">
            <a:spAutoFit/>
          </a:bodyPr>
          <a:lstStyle/>
          <a:p>
            <a:pPr marL="12700">
              <a:lnSpc>
                <a:spcPct val="100000"/>
              </a:lnSpc>
              <a:spcBef>
                <a:spcPts val="100"/>
              </a:spcBef>
            </a:pPr>
            <a:r>
              <a:rPr sz="900" b="1">
                <a:solidFill>
                  <a:srgbClr val="1D40AF"/>
                </a:solidFill>
                <a:latin typeface="Courier New"/>
                <a:cs typeface="Courier New"/>
              </a:rPr>
              <a:t>SECTION </a:t>
            </a:r>
            <a:r>
              <a:rPr sz="900" b="1" spc="-25">
                <a:solidFill>
                  <a:srgbClr val="1D40AF"/>
                </a:solidFill>
                <a:latin typeface="Courier New"/>
                <a:cs typeface="Courier New"/>
              </a:rPr>
              <a:t>01</a:t>
            </a:r>
            <a:endParaRPr sz="900">
              <a:latin typeface="Courier New"/>
              <a:cs typeface="Courier New"/>
            </a:endParaRPr>
          </a:p>
        </p:txBody>
      </p:sp>
      <p:sp>
        <p:nvSpPr>
          <p:cNvPr id="27" name="object 27"/>
          <p:cNvSpPr txBox="1"/>
          <p:nvPr/>
        </p:nvSpPr>
        <p:spPr>
          <a:xfrm>
            <a:off x="10197801" y="6264274"/>
            <a:ext cx="1616710" cy="139700"/>
          </a:xfrm>
          <a:prstGeom prst="rect">
            <a:avLst/>
          </a:prstGeom>
        </p:spPr>
        <p:txBody>
          <a:bodyPr vert="horz" wrap="square" lIns="0" tIns="12700" rIns="0" bIns="0" rtlCol="0">
            <a:spAutoFit/>
          </a:bodyPr>
          <a:lstStyle/>
          <a:p>
            <a:pPr marL="12700">
              <a:lnSpc>
                <a:spcPct val="100000"/>
              </a:lnSpc>
              <a:spcBef>
                <a:spcPts val="100"/>
              </a:spcBef>
            </a:pPr>
            <a:r>
              <a:rPr sz="750" spc="60">
                <a:solidFill>
                  <a:srgbClr val="9CA2AF"/>
                </a:solidFill>
                <a:latin typeface="Courier New"/>
                <a:cs typeface="Courier New"/>
              </a:rPr>
              <a:t>OPENING</a:t>
            </a:r>
            <a:r>
              <a:rPr sz="750" spc="155">
                <a:solidFill>
                  <a:srgbClr val="9CA2AF"/>
                </a:solidFill>
                <a:latin typeface="Courier New"/>
                <a:cs typeface="Courier New"/>
              </a:rPr>
              <a:t> </a:t>
            </a:r>
            <a:r>
              <a:rPr sz="750" spc="60">
                <a:solidFill>
                  <a:srgbClr val="9CA2AF"/>
                </a:solidFill>
                <a:latin typeface="Courier New"/>
                <a:cs typeface="Courier New"/>
              </a:rPr>
              <a:t>MATRIX</a:t>
            </a:r>
            <a:r>
              <a:rPr sz="750" spc="165">
                <a:solidFill>
                  <a:srgbClr val="9CA2AF"/>
                </a:solidFill>
                <a:latin typeface="Courier New"/>
                <a:cs typeface="Courier New"/>
              </a:rPr>
              <a:t> </a:t>
            </a:r>
            <a:r>
              <a:rPr sz="750">
                <a:solidFill>
                  <a:srgbClr val="9CA2AF"/>
                </a:solidFill>
                <a:latin typeface="Courier New"/>
                <a:cs typeface="Courier New"/>
              </a:rPr>
              <a:t>&amp;</a:t>
            </a:r>
            <a:r>
              <a:rPr sz="750" spc="165">
                <a:solidFill>
                  <a:srgbClr val="9CA2AF"/>
                </a:solidFill>
                <a:latin typeface="Courier New"/>
                <a:cs typeface="Courier New"/>
              </a:rPr>
              <a:t> </a:t>
            </a:r>
            <a:r>
              <a:rPr sz="750" spc="50">
                <a:solidFill>
                  <a:srgbClr val="9CA2AF"/>
                </a:solidFill>
                <a:latin typeface="Courier New"/>
                <a:cs typeface="Courier New"/>
              </a:rPr>
              <a:t>CONCEPT</a:t>
            </a:r>
            <a:endParaRPr sz="750">
              <a:latin typeface="Courier New"/>
              <a:cs typeface="Courier New"/>
            </a:endParaRPr>
          </a:p>
        </p:txBody>
      </p:sp>
      <p:pic>
        <p:nvPicPr>
          <p:cNvPr id="29" name="object 29"/>
          <p:cNvPicPr/>
          <p:nvPr/>
        </p:nvPicPr>
        <p:blipFill>
          <a:blip r:embed="rId6" cstate="print"/>
          <a:stretch>
            <a:fillRect/>
          </a:stretch>
        </p:blipFill>
        <p:spPr>
          <a:xfrm>
            <a:off x="0" y="0"/>
            <a:ext cx="12191999" cy="57149"/>
          </a:xfrm>
          <a:prstGeom prst="rect">
            <a:avLst/>
          </a:prstGeom>
        </p:spPr>
      </p:pic>
      <p:pic>
        <p:nvPicPr>
          <p:cNvPr id="30" name="object 30"/>
          <p:cNvPicPr/>
          <p:nvPr/>
        </p:nvPicPr>
        <p:blipFill>
          <a:blip r:embed="rId7" cstate="print"/>
          <a:stretch>
            <a:fillRect/>
          </a:stretch>
        </p:blipFill>
        <p:spPr>
          <a:xfrm>
            <a:off x="0" y="6800849"/>
            <a:ext cx="12191999" cy="5714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8298" y="333247"/>
            <a:ext cx="9613901" cy="482183"/>
          </a:xfrm>
          <a:prstGeom prst="rect">
            <a:avLst/>
          </a:prstGeom>
        </p:spPr>
        <p:txBody>
          <a:bodyPr vert="horz" wrap="square" lIns="0" tIns="12700" rIns="0" bIns="0" rtlCol="0">
            <a:spAutoFit/>
          </a:bodyPr>
          <a:lstStyle/>
          <a:p>
            <a:pPr marL="12700">
              <a:lnSpc>
                <a:spcPct val="100000"/>
              </a:lnSpc>
              <a:spcBef>
                <a:spcPts val="100"/>
              </a:spcBef>
            </a:pPr>
            <a:r>
              <a:rPr err="1"/>
              <a:t>动机：多变量时间序列预测中的</a:t>
            </a:r>
            <a:r>
              <a:rPr sz="2900" b="0" err="1">
                <a:latin typeface="Arial Black"/>
                <a:cs typeface="Arial Black"/>
              </a:rPr>
              <a:t>CI</a:t>
            </a:r>
            <a:r>
              <a:rPr err="1"/>
              <a:t>与</a:t>
            </a:r>
            <a:r>
              <a:rPr sz="2900" b="0" err="1">
                <a:latin typeface="Arial Black"/>
                <a:cs typeface="Arial Black"/>
              </a:rPr>
              <a:t>CD</a:t>
            </a:r>
            <a:r>
              <a:rPr lang="zh-CN" altLang="en-US"/>
              <a:t>无法兼顾</a:t>
            </a:r>
            <a:endParaRPr sz="2900">
              <a:latin typeface="Arial Black"/>
              <a:cs typeface="Arial Black"/>
            </a:endParaRPr>
          </a:p>
        </p:txBody>
      </p:sp>
      <p:pic>
        <p:nvPicPr>
          <p:cNvPr id="3" name="object 3"/>
          <p:cNvPicPr/>
          <p:nvPr/>
        </p:nvPicPr>
        <p:blipFill>
          <a:blip r:embed="rId3" cstate="print"/>
          <a:stretch>
            <a:fillRect/>
          </a:stretch>
        </p:blipFill>
        <p:spPr>
          <a:xfrm>
            <a:off x="380999" y="1257299"/>
            <a:ext cx="95249" cy="95249"/>
          </a:xfrm>
          <a:prstGeom prst="rect">
            <a:avLst/>
          </a:prstGeom>
        </p:spPr>
      </p:pic>
      <p:sp>
        <p:nvSpPr>
          <p:cNvPr id="4" name="object 4"/>
          <p:cNvSpPr txBox="1"/>
          <p:nvPr/>
        </p:nvSpPr>
        <p:spPr>
          <a:xfrm>
            <a:off x="539750" y="1206500"/>
            <a:ext cx="2814955" cy="162560"/>
          </a:xfrm>
          <a:prstGeom prst="rect">
            <a:avLst/>
          </a:prstGeom>
        </p:spPr>
        <p:txBody>
          <a:bodyPr vert="horz" wrap="square" lIns="0" tIns="12700" rIns="0" bIns="0" rtlCol="0">
            <a:spAutoFit/>
          </a:bodyPr>
          <a:lstStyle/>
          <a:p>
            <a:pPr marL="12700">
              <a:lnSpc>
                <a:spcPct val="100000"/>
              </a:lnSpc>
              <a:spcBef>
                <a:spcPts val="100"/>
              </a:spcBef>
            </a:pPr>
            <a:r>
              <a:rPr sz="900" spc="100">
                <a:solidFill>
                  <a:srgbClr val="6A7280"/>
                </a:solidFill>
                <a:latin typeface="宋体"/>
                <a:cs typeface="宋体"/>
              </a:rPr>
              <a:t>研究背景与痛点 </a:t>
            </a:r>
            <a:r>
              <a:rPr sz="900" b="1" spc="90">
                <a:solidFill>
                  <a:srgbClr val="6A7280"/>
                </a:solidFill>
                <a:latin typeface="Courier New"/>
                <a:cs typeface="Courier New"/>
              </a:rPr>
              <a:t>/ </a:t>
            </a:r>
            <a:r>
              <a:rPr sz="900" b="1" spc="80">
                <a:solidFill>
                  <a:srgbClr val="6A7280"/>
                </a:solidFill>
                <a:latin typeface="Courier New"/>
                <a:cs typeface="Courier New"/>
              </a:rPr>
              <a:t>TRADITIONAL</a:t>
            </a:r>
            <a:r>
              <a:rPr sz="900" b="1" spc="190">
                <a:solidFill>
                  <a:srgbClr val="6A7280"/>
                </a:solidFill>
                <a:latin typeface="Courier New"/>
                <a:cs typeface="Courier New"/>
              </a:rPr>
              <a:t> </a:t>
            </a:r>
            <a:r>
              <a:rPr sz="900" b="1" spc="70">
                <a:solidFill>
                  <a:srgbClr val="6A7280"/>
                </a:solidFill>
                <a:latin typeface="Courier New"/>
                <a:cs typeface="Courier New"/>
              </a:rPr>
              <a:t>PARADIGMS</a:t>
            </a:r>
            <a:endParaRPr sz="900">
              <a:latin typeface="Courier New"/>
              <a:cs typeface="Courier New"/>
            </a:endParaRPr>
          </a:p>
        </p:txBody>
      </p:sp>
      <p:sp>
        <p:nvSpPr>
          <p:cNvPr id="5" name="object 5"/>
          <p:cNvSpPr txBox="1"/>
          <p:nvPr/>
        </p:nvSpPr>
        <p:spPr>
          <a:xfrm>
            <a:off x="368299" y="1461889"/>
            <a:ext cx="4302125" cy="210820"/>
          </a:xfrm>
          <a:prstGeom prst="rect">
            <a:avLst/>
          </a:prstGeom>
        </p:spPr>
        <p:txBody>
          <a:bodyPr vert="horz" wrap="square" lIns="0" tIns="14605" rIns="0" bIns="0" rtlCol="0">
            <a:spAutoFit/>
          </a:bodyPr>
          <a:lstStyle/>
          <a:p>
            <a:pPr marL="12700">
              <a:lnSpc>
                <a:spcPct val="100000"/>
              </a:lnSpc>
              <a:spcBef>
                <a:spcPts val="115"/>
              </a:spcBef>
            </a:pPr>
            <a:r>
              <a:rPr sz="1150" spc="-120">
                <a:solidFill>
                  <a:srgbClr val="374050"/>
                </a:solidFill>
                <a:latin typeface="宋体"/>
                <a:cs typeface="宋体"/>
              </a:rPr>
              <a:t>多变量时间序列预测 </a:t>
            </a:r>
            <a:r>
              <a:rPr sz="1200" spc="-65">
                <a:solidFill>
                  <a:srgbClr val="374050"/>
                </a:solidFill>
                <a:latin typeface="Trebuchet MS"/>
                <a:cs typeface="Trebuchet MS"/>
              </a:rPr>
              <a:t>(</a:t>
            </a:r>
            <a:r>
              <a:rPr sz="1150" spc="-65">
                <a:solidFill>
                  <a:srgbClr val="374050"/>
                </a:solidFill>
                <a:latin typeface="Microsoft Sans Serif"/>
                <a:cs typeface="Microsoft Sans Serif"/>
              </a:rPr>
              <a:t>MTSF</a:t>
            </a:r>
            <a:r>
              <a:rPr sz="1200" spc="-20">
                <a:solidFill>
                  <a:srgbClr val="374050"/>
                </a:solidFill>
                <a:latin typeface="Trebuchet MS"/>
                <a:cs typeface="Trebuchet MS"/>
              </a:rPr>
              <a:t>) </a:t>
            </a:r>
            <a:r>
              <a:rPr sz="1150" spc="-110">
                <a:solidFill>
                  <a:srgbClr val="374050"/>
                </a:solidFill>
                <a:latin typeface="宋体"/>
                <a:cs typeface="宋体"/>
              </a:rPr>
              <a:t>当前面临两条主流研究路线的分裂与博弈：</a:t>
            </a:r>
            <a:endParaRPr sz="1150">
              <a:latin typeface="宋体"/>
              <a:cs typeface="宋体"/>
            </a:endParaRPr>
          </a:p>
        </p:txBody>
      </p:sp>
      <p:grpSp>
        <p:nvGrpSpPr>
          <p:cNvPr id="6" name="object 6"/>
          <p:cNvGrpSpPr/>
          <p:nvPr/>
        </p:nvGrpSpPr>
        <p:grpSpPr>
          <a:xfrm>
            <a:off x="381000" y="5010149"/>
            <a:ext cx="6096000" cy="1466850"/>
            <a:chOff x="381000" y="5010149"/>
            <a:chExt cx="6572250" cy="1466850"/>
          </a:xfrm>
        </p:grpSpPr>
        <p:sp>
          <p:nvSpPr>
            <p:cNvPr id="7" name="object 7"/>
            <p:cNvSpPr/>
            <p:nvPr/>
          </p:nvSpPr>
          <p:spPr>
            <a:xfrm>
              <a:off x="400049" y="5010149"/>
              <a:ext cx="6553200" cy="1466850"/>
            </a:xfrm>
            <a:custGeom>
              <a:avLst/>
              <a:gdLst/>
              <a:ahLst/>
              <a:cxnLst/>
              <a:rect l="l" t="t" r="r" b="b"/>
              <a:pathLst>
                <a:path w="6553200" h="1466850">
                  <a:moveTo>
                    <a:pt x="6446404" y="1466849"/>
                  </a:moveTo>
                  <a:lnTo>
                    <a:pt x="88995" y="1466849"/>
                  </a:lnTo>
                  <a:lnTo>
                    <a:pt x="82801" y="1466117"/>
                  </a:lnTo>
                  <a:lnTo>
                    <a:pt x="37131" y="1443416"/>
                  </a:lnTo>
                  <a:lnTo>
                    <a:pt x="12577" y="1409810"/>
                  </a:lnTo>
                  <a:lnTo>
                    <a:pt x="610" y="1367487"/>
                  </a:lnTo>
                  <a:lnTo>
                    <a:pt x="0" y="1360054"/>
                  </a:lnTo>
                  <a:lnTo>
                    <a:pt x="0" y="1352549"/>
                  </a:lnTo>
                  <a:lnTo>
                    <a:pt x="0" y="106794"/>
                  </a:lnTo>
                  <a:lnTo>
                    <a:pt x="9643" y="63624"/>
                  </a:lnTo>
                  <a:lnTo>
                    <a:pt x="32320" y="28170"/>
                  </a:lnTo>
                  <a:lnTo>
                    <a:pt x="64577" y="5828"/>
                  </a:lnTo>
                  <a:lnTo>
                    <a:pt x="88995" y="0"/>
                  </a:lnTo>
                  <a:lnTo>
                    <a:pt x="6446404" y="0"/>
                  </a:lnTo>
                  <a:lnTo>
                    <a:pt x="6489573" y="11572"/>
                  </a:lnTo>
                  <a:lnTo>
                    <a:pt x="6525028" y="38783"/>
                  </a:lnTo>
                  <a:lnTo>
                    <a:pt x="6547370" y="77492"/>
                  </a:lnTo>
                  <a:lnTo>
                    <a:pt x="6553198" y="106794"/>
                  </a:lnTo>
                  <a:lnTo>
                    <a:pt x="6553198" y="1360054"/>
                  </a:lnTo>
                  <a:lnTo>
                    <a:pt x="6541626" y="1403224"/>
                  </a:lnTo>
                  <a:lnTo>
                    <a:pt x="6514414" y="1438678"/>
                  </a:lnTo>
                  <a:lnTo>
                    <a:pt x="6475705" y="1461021"/>
                  </a:lnTo>
                  <a:lnTo>
                    <a:pt x="6453836" y="1466117"/>
                  </a:lnTo>
                  <a:lnTo>
                    <a:pt x="6446404" y="1466849"/>
                  </a:lnTo>
                  <a:close/>
                </a:path>
              </a:pathLst>
            </a:custGeom>
            <a:solidFill>
              <a:srgbClr val="FFFAEB">
                <a:alpha val="39999"/>
              </a:srgbClr>
            </a:solidFill>
          </p:spPr>
          <p:txBody>
            <a:bodyPr wrap="square" lIns="0" tIns="0" rIns="0" bIns="0" rtlCol="0"/>
            <a:lstStyle/>
            <a:p>
              <a:endParaRPr/>
            </a:p>
          </p:txBody>
        </p:sp>
        <p:sp>
          <p:nvSpPr>
            <p:cNvPr id="8" name="object 8"/>
            <p:cNvSpPr/>
            <p:nvPr/>
          </p:nvSpPr>
          <p:spPr>
            <a:xfrm>
              <a:off x="381000" y="5010149"/>
              <a:ext cx="114300" cy="1466850"/>
            </a:xfrm>
            <a:custGeom>
              <a:avLst/>
              <a:gdLst/>
              <a:ahLst/>
              <a:cxnLst/>
              <a:rect l="l" t="t" r="r" b="b"/>
              <a:pathLst>
                <a:path w="114300" h="1466850">
                  <a:moveTo>
                    <a:pt x="114299" y="1466849"/>
                  </a:moveTo>
                  <a:lnTo>
                    <a:pt x="70559" y="1458149"/>
                  </a:lnTo>
                  <a:lnTo>
                    <a:pt x="33477" y="1433372"/>
                  </a:lnTo>
                  <a:lnTo>
                    <a:pt x="8700" y="1396290"/>
                  </a:lnTo>
                  <a:lnTo>
                    <a:pt x="0" y="1352550"/>
                  </a:lnTo>
                  <a:lnTo>
                    <a:pt x="0" y="114300"/>
                  </a:lnTo>
                  <a:lnTo>
                    <a:pt x="8700" y="70558"/>
                  </a:lnTo>
                  <a:lnTo>
                    <a:pt x="33477" y="33477"/>
                  </a:lnTo>
                  <a:lnTo>
                    <a:pt x="70559" y="8700"/>
                  </a:lnTo>
                  <a:lnTo>
                    <a:pt x="114299" y="0"/>
                  </a:lnTo>
                  <a:lnTo>
                    <a:pt x="106793" y="543"/>
                  </a:lnTo>
                  <a:lnTo>
                    <a:pt x="99431" y="2175"/>
                  </a:lnTo>
                  <a:lnTo>
                    <a:pt x="65982" y="25900"/>
                  </a:lnTo>
                  <a:lnTo>
                    <a:pt x="47107" y="60364"/>
                  </a:lnTo>
                  <a:lnTo>
                    <a:pt x="38462" y="103040"/>
                  </a:lnTo>
                  <a:lnTo>
                    <a:pt x="38100" y="114300"/>
                  </a:lnTo>
                  <a:lnTo>
                    <a:pt x="38100" y="1352550"/>
                  </a:lnTo>
                  <a:lnTo>
                    <a:pt x="43900" y="1396290"/>
                  </a:lnTo>
                  <a:lnTo>
                    <a:pt x="60418" y="1433372"/>
                  </a:lnTo>
                  <a:lnTo>
                    <a:pt x="92213" y="1461956"/>
                  </a:lnTo>
                  <a:lnTo>
                    <a:pt x="106793" y="1466306"/>
                  </a:lnTo>
                  <a:lnTo>
                    <a:pt x="114299" y="1466849"/>
                  </a:lnTo>
                  <a:close/>
                </a:path>
              </a:pathLst>
            </a:custGeom>
            <a:solidFill>
              <a:srgbClr val="D97705"/>
            </a:solidFill>
          </p:spPr>
          <p:txBody>
            <a:bodyPr wrap="square" lIns="0" tIns="0" rIns="0" bIns="0" rtlCol="0"/>
            <a:lstStyle/>
            <a:p>
              <a:endParaRPr/>
            </a:p>
          </p:txBody>
        </p:sp>
        <p:pic>
          <p:nvPicPr>
            <p:cNvPr id="9" name="object 9"/>
            <p:cNvPicPr/>
            <p:nvPr/>
          </p:nvPicPr>
          <p:blipFill>
            <a:blip r:embed="rId4" cstate="print"/>
            <a:stretch>
              <a:fillRect/>
            </a:stretch>
          </p:blipFill>
          <p:spPr>
            <a:xfrm>
              <a:off x="571499" y="5162549"/>
              <a:ext cx="228599" cy="228599"/>
            </a:xfrm>
            <a:prstGeom prst="rect">
              <a:avLst/>
            </a:prstGeom>
          </p:spPr>
        </p:pic>
        <p:sp>
          <p:nvSpPr>
            <p:cNvPr id="10" name="object 10"/>
            <p:cNvSpPr/>
            <p:nvPr/>
          </p:nvSpPr>
          <p:spPr>
            <a:xfrm>
              <a:off x="571499" y="5543549"/>
              <a:ext cx="57150" cy="57150"/>
            </a:xfrm>
            <a:custGeom>
              <a:avLst/>
              <a:gdLst/>
              <a:ahLst/>
              <a:cxnLst/>
              <a:rect l="l" t="t" r="r" b="b"/>
              <a:pathLst>
                <a:path w="57150" h="57150">
                  <a:moveTo>
                    <a:pt x="32364" y="57149"/>
                  </a:moveTo>
                  <a:lnTo>
                    <a:pt x="24785" y="57149"/>
                  </a:lnTo>
                  <a:lnTo>
                    <a:pt x="21140" y="56424"/>
                  </a:lnTo>
                  <a:lnTo>
                    <a:pt x="0" y="32364"/>
                  </a:lnTo>
                  <a:lnTo>
                    <a:pt x="0" y="24785"/>
                  </a:lnTo>
                  <a:lnTo>
                    <a:pt x="24785" y="0"/>
                  </a:lnTo>
                  <a:lnTo>
                    <a:pt x="32364" y="0"/>
                  </a:lnTo>
                  <a:lnTo>
                    <a:pt x="57150" y="28574"/>
                  </a:lnTo>
                  <a:lnTo>
                    <a:pt x="57149" y="32364"/>
                  </a:lnTo>
                  <a:lnTo>
                    <a:pt x="32364" y="57149"/>
                  </a:lnTo>
                  <a:close/>
                </a:path>
              </a:pathLst>
            </a:custGeom>
            <a:solidFill>
              <a:srgbClr val="D97705"/>
            </a:solidFill>
          </p:spPr>
          <p:txBody>
            <a:bodyPr wrap="square" lIns="0" tIns="0" rIns="0" bIns="0" rtlCol="0"/>
            <a:lstStyle/>
            <a:p>
              <a:endParaRPr/>
            </a:p>
          </p:txBody>
        </p:sp>
      </p:grpSp>
      <p:sp>
        <p:nvSpPr>
          <p:cNvPr id="11" name="object 11"/>
          <p:cNvSpPr txBox="1"/>
          <p:nvPr/>
        </p:nvSpPr>
        <p:spPr>
          <a:xfrm>
            <a:off x="711199" y="5178425"/>
            <a:ext cx="5613401" cy="661912"/>
          </a:xfrm>
          <a:prstGeom prst="rect">
            <a:avLst/>
          </a:prstGeom>
        </p:spPr>
        <p:txBody>
          <a:bodyPr vert="horz" wrap="square" lIns="0" tIns="12700" rIns="0" bIns="0" rtlCol="0">
            <a:spAutoFit/>
          </a:bodyPr>
          <a:lstStyle/>
          <a:p>
            <a:pPr marL="164465">
              <a:lnSpc>
                <a:spcPct val="100000"/>
              </a:lnSpc>
              <a:spcBef>
                <a:spcPts val="100"/>
              </a:spcBef>
            </a:pPr>
            <a:r>
              <a:rPr sz="900" spc="100">
                <a:solidFill>
                  <a:srgbClr val="91400D"/>
                </a:solidFill>
                <a:latin typeface="宋体"/>
                <a:cs typeface="宋体"/>
              </a:rPr>
              <a:t>核心观察与部署挑战 </a:t>
            </a:r>
            <a:r>
              <a:rPr sz="900" b="1" spc="95">
                <a:solidFill>
                  <a:srgbClr val="91400D"/>
                </a:solidFill>
                <a:latin typeface="Courier New"/>
                <a:cs typeface="Courier New"/>
              </a:rPr>
              <a:t>/ </a:t>
            </a:r>
            <a:r>
              <a:rPr sz="900" b="1" spc="75">
                <a:solidFill>
                  <a:srgbClr val="91400D"/>
                </a:solidFill>
                <a:latin typeface="Courier New"/>
                <a:cs typeface="Courier New"/>
              </a:rPr>
              <a:t>CRITICAL</a:t>
            </a:r>
            <a:r>
              <a:rPr sz="900" b="1" spc="190">
                <a:solidFill>
                  <a:srgbClr val="91400D"/>
                </a:solidFill>
                <a:latin typeface="Courier New"/>
                <a:cs typeface="Courier New"/>
              </a:rPr>
              <a:t> </a:t>
            </a:r>
            <a:r>
              <a:rPr sz="900" b="1" spc="65">
                <a:solidFill>
                  <a:srgbClr val="91400D"/>
                </a:solidFill>
                <a:latin typeface="Courier New"/>
                <a:cs typeface="Courier New"/>
              </a:rPr>
              <a:t>INSIGHT</a:t>
            </a:r>
            <a:endParaRPr sz="900">
              <a:latin typeface="Courier New"/>
              <a:cs typeface="Courier New"/>
            </a:endParaRPr>
          </a:p>
          <a:p>
            <a:pPr marL="12700" marR="5080">
              <a:lnSpc>
                <a:spcPct val="129000"/>
              </a:lnSpc>
              <a:spcBef>
                <a:spcPts val="880"/>
              </a:spcBef>
            </a:pPr>
            <a:r>
              <a:rPr sz="1050">
                <a:solidFill>
                  <a:srgbClr val="030712"/>
                </a:solidFill>
                <a:latin typeface="宋体"/>
                <a:cs typeface="宋体"/>
              </a:rPr>
              <a:t>机制失真： </a:t>
            </a:r>
            <a:r>
              <a:rPr sz="1050">
                <a:solidFill>
                  <a:srgbClr val="374050"/>
                </a:solidFill>
                <a:latin typeface="宋体"/>
                <a:cs typeface="宋体"/>
              </a:rPr>
              <a:t>现有的 </a:t>
            </a:r>
            <a:r>
              <a:rPr sz="1050">
                <a:solidFill>
                  <a:srgbClr val="374050"/>
                </a:solidFill>
                <a:latin typeface="Microsoft Sans Serif"/>
                <a:cs typeface="Microsoft Sans Serif"/>
              </a:rPr>
              <a:t>CD </a:t>
            </a:r>
            <a:r>
              <a:rPr sz="1050" err="1">
                <a:solidFill>
                  <a:srgbClr val="374050"/>
                </a:solidFill>
                <a:latin typeface="宋体"/>
                <a:cs typeface="宋体"/>
              </a:rPr>
              <a:t>模型并没有真正学习到基于内容的语义关系，而是通过位置编码等方式</a:t>
            </a:r>
            <a:r>
              <a:rPr sz="1050" b="1" err="1">
                <a:solidFill>
                  <a:srgbClr val="78340E"/>
                </a:solidFill>
                <a:latin typeface="Arial"/>
                <a:cs typeface="Arial"/>
              </a:rPr>
              <a:t>“</a:t>
            </a:r>
            <a:r>
              <a:rPr sz="1050" b="1" err="1">
                <a:solidFill>
                  <a:srgbClr val="78340E"/>
                </a:solidFill>
                <a:latin typeface="微软雅黑"/>
                <a:cs typeface="微软雅黑"/>
              </a:rPr>
              <a:t>死记硬背</a:t>
            </a:r>
            <a:r>
              <a:rPr sz="1050" b="1" err="1">
                <a:solidFill>
                  <a:srgbClr val="78340E"/>
                </a:solidFill>
                <a:latin typeface="Arial"/>
                <a:cs typeface="Arial"/>
              </a:rPr>
              <a:t>”</a:t>
            </a:r>
            <a:r>
              <a:rPr sz="1050" b="1" err="1">
                <a:solidFill>
                  <a:srgbClr val="78340E"/>
                </a:solidFill>
                <a:latin typeface="微软雅黑"/>
                <a:cs typeface="微软雅黑"/>
              </a:rPr>
              <a:t>了通道的索引</a:t>
            </a:r>
            <a:r>
              <a:rPr sz="1050">
                <a:solidFill>
                  <a:srgbClr val="374050"/>
                </a:solidFill>
                <a:latin typeface="宋体"/>
                <a:cs typeface="宋体"/>
              </a:rPr>
              <a:t>。</a:t>
            </a:r>
            <a:endParaRPr sz="1050">
              <a:latin typeface="宋体"/>
              <a:cs typeface="宋体"/>
            </a:endParaRPr>
          </a:p>
        </p:txBody>
      </p:sp>
      <p:sp>
        <p:nvSpPr>
          <p:cNvPr id="12" name="object 12"/>
          <p:cNvSpPr/>
          <p:nvPr/>
        </p:nvSpPr>
        <p:spPr>
          <a:xfrm>
            <a:off x="571499" y="6000749"/>
            <a:ext cx="57150" cy="57150"/>
          </a:xfrm>
          <a:custGeom>
            <a:avLst/>
            <a:gdLst/>
            <a:ahLst/>
            <a:cxnLst/>
            <a:rect l="l" t="t" r="r" b="b"/>
            <a:pathLst>
              <a:path w="57150" h="57150">
                <a:moveTo>
                  <a:pt x="32364" y="57149"/>
                </a:moveTo>
                <a:lnTo>
                  <a:pt x="24785" y="57149"/>
                </a:lnTo>
                <a:lnTo>
                  <a:pt x="21140" y="56425"/>
                </a:lnTo>
                <a:lnTo>
                  <a:pt x="0" y="32364"/>
                </a:lnTo>
                <a:lnTo>
                  <a:pt x="0" y="24785"/>
                </a:lnTo>
                <a:lnTo>
                  <a:pt x="24785" y="0"/>
                </a:lnTo>
                <a:lnTo>
                  <a:pt x="32364" y="0"/>
                </a:lnTo>
                <a:lnTo>
                  <a:pt x="57150" y="28574"/>
                </a:lnTo>
                <a:lnTo>
                  <a:pt x="57149" y="32364"/>
                </a:lnTo>
                <a:lnTo>
                  <a:pt x="32364" y="57149"/>
                </a:lnTo>
                <a:close/>
              </a:path>
            </a:pathLst>
          </a:custGeom>
          <a:solidFill>
            <a:srgbClr val="D97705"/>
          </a:solidFill>
        </p:spPr>
        <p:txBody>
          <a:bodyPr wrap="square" lIns="0" tIns="0" rIns="0" bIns="0" rtlCol="0"/>
          <a:lstStyle/>
          <a:p>
            <a:endParaRPr/>
          </a:p>
        </p:txBody>
      </p:sp>
      <p:sp>
        <p:nvSpPr>
          <p:cNvPr id="13" name="object 13"/>
          <p:cNvSpPr txBox="1"/>
          <p:nvPr/>
        </p:nvSpPr>
        <p:spPr>
          <a:xfrm>
            <a:off x="711199" y="5890056"/>
            <a:ext cx="5632451" cy="412934"/>
          </a:xfrm>
          <a:prstGeom prst="rect">
            <a:avLst/>
          </a:prstGeom>
        </p:spPr>
        <p:txBody>
          <a:bodyPr vert="horz" wrap="square" lIns="0" tIns="12065" rIns="0" bIns="0" rtlCol="0">
            <a:spAutoFit/>
          </a:bodyPr>
          <a:lstStyle/>
          <a:p>
            <a:pPr marL="12700" marR="5080">
              <a:lnSpc>
                <a:spcPct val="131300"/>
              </a:lnSpc>
              <a:spcBef>
                <a:spcPts val="95"/>
              </a:spcBef>
            </a:pPr>
            <a:r>
              <a:rPr sz="1000">
                <a:solidFill>
                  <a:srgbClr val="030712"/>
                </a:solidFill>
                <a:latin typeface="宋体"/>
                <a:cs typeface="宋体"/>
              </a:rPr>
              <a:t>共变漂移 (Co-drift) 灾难： </a:t>
            </a:r>
            <a:r>
              <a:rPr sz="1050">
                <a:solidFill>
                  <a:srgbClr val="374050"/>
                </a:solidFill>
                <a:latin typeface="宋体"/>
                <a:cs typeface="宋体"/>
              </a:rPr>
              <a:t>真实物理设备或金融系统中通道重排、新增或缺失极常发生。依赖固定拓扑的静态网络将面临</a:t>
            </a:r>
            <a:r>
              <a:rPr sz="1050" b="1">
                <a:solidFill>
                  <a:srgbClr val="78340E"/>
                </a:solidFill>
                <a:latin typeface="微软雅黑"/>
                <a:cs typeface="微软雅黑"/>
              </a:rPr>
              <a:t>灾难性失效</a:t>
            </a:r>
            <a:r>
              <a:rPr sz="1050">
                <a:solidFill>
                  <a:srgbClr val="374050"/>
                </a:solidFill>
                <a:latin typeface="宋体"/>
                <a:cs typeface="宋体"/>
              </a:rPr>
              <a:t>。</a:t>
            </a:r>
            <a:endParaRPr sz="1050">
              <a:latin typeface="宋体"/>
              <a:cs typeface="宋体"/>
            </a:endParaRPr>
          </a:p>
        </p:txBody>
      </p:sp>
      <p:grpSp>
        <p:nvGrpSpPr>
          <p:cNvPr id="14" name="object 14"/>
          <p:cNvGrpSpPr/>
          <p:nvPr/>
        </p:nvGrpSpPr>
        <p:grpSpPr>
          <a:xfrm>
            <a:off x="380999" y="1790700"/>
            <a:ext cx="3209925" cy="1114425"/>
            <a:chOff x="380999" y="1790700"/>
            <a:chExt cx="3209925" cy="1114425"/>
          </a:xfrm>
        </p:grpSpPr>
        <p:sp>
          <p:nvSpPr>
            <p:cNvPr id="15" name="object 15"/>
            <p:cNvSpPr/>
            <p:nvPr/>
          </p:nvSpPr>
          <p:spPr>
            <a:xfrm>
              <a:off x="385762" y="1795462"/>
              <a:ext cx="3200400" cy="1104900"/>
            </a:xfrm>
            <a:custGeom>
              <a:avLst/>
              <a:gdLst/>
              <a:ahLst/>
              <a:cxnLst/>
              <a:rect l="l" t="t" r="r" b="b"/>
              <a:pathLst>
                <a:path w="3200400" h="1104900">
                  <a:moveTo>
                    <a:pt x="3098054" y="1104899"/>
                  </a:moveTo>
                  <a:lnTo>
                    <a:pt x="102345" y="1104899"/>
                  </a:lnTo>
                  <a:lnTo>
                    <a:pt x="95221" y="1104198"/>
                  </a:lnTo>
                  <a:lnTo>
                    <a:pt x="54661" y="1090435"/>
                  </a:lnTo>
                  <a:lnTo>
                    <a:pt x="22456" y="1062198"/>
                  </a:lnTo>
                  <a:lnTo>
                    <a:pt x="3507" y="1023786"/>
                  </a:lnTo>
                  <a:lnTo>
                    <a:pt x="0" y="1002554"/>
                  </a:lnTo>
                  <a:lnTo>
                    <a:pt x="0" y="995362"/>
                  </a:lnTo>
                  <a:lnTo>
                    <a:pt x="0" y="102345"/>
                  </a:lnTo>
                  <a:lnTo>
                    <a:pt x="11090" y="60974"/>
                  </a:lnTo>
                  <a:lnTo>
                    <a:pt x="37168" y="26996"/>
                  </a:lnTo>
                  <a:lnTo>
                    <a:pt x="74264" y="5585"/>
                  </a:lnTo>
                  <a:lnTo>
                    <a:pt x="102345" y="0"/>
                  </a:lnTo>
                  <a:lnTo>
                    <a:pt x="3098054" y="0"/>
                  </a:lnTo>
                  <a:lnTo>
                    <a:pt x="3139424" y="11090"/>
                  </a:lnTo>
                  <a:lnTo>
                    <a:pt x="3173401" y="37168"/>
                  </a:lnTo>
                  <a:lnTo>
                    <a:pt x="3194813" y="74264"/>
                  </a:lnTo>
                  <a:lnTo>
                    <a:pt x="3200399" y="102345"/>
                  </a:lnTo>
                  <a:lnTo>
                    <a:pt x="3200399" y="1002554"/>
                  </a:lnTo>
                  <a:lnTo>
                    <a:pt x="3189308" y="1043925"/>
                  </a:lnTo>
                  <a:lnTo>
                    <a:pt x="3163230" y="1077902"/>
                  </a:lnTo>
                  <a:lnTo>
                    <a:pt x="3126135" y="1099314"/>
                  </a:lnTo>
                  <a:lnTo>
                    <a:pt x="3105177" y="1104198"/>
                  </a:lnTo>
                  <a:lnTo>
                    <a:pt x="3098054" y="1104899"/>
                  </a:lnTo>
                  <a:close/>
                </a:path>
              </a:pathLst>
            </a:custGeom>
            <a:solidFill>
              <a:srgbClr val="F9FAFA"/>
            </a:solidFill>
          </p:spPr>
          <p:txBody>
            <a:bodyPr wrap="square" lIns="0" tIns="0" rIns="0" bIns="0" rtlCol="0"/>
            <a:lstStyle/>
            <a:p>
              <a:endParaRPr/>
            </a:p>
          </p:txBody>
        </p:sp>
        <p:sp>
          <p:nvSpPr>
            <p:cNvPr id="16" name="object 16"/>
            <p:cNvSpPr/>
            <p:nvPr/>
          </p:nvSpPr>
          <p:spPr>
            <a:xfrm>
              <a:off x="385762" y="1795462"/>
              <a:ext cx="3200400" cy="1104900"/>
            </a:xfrm>
            <a:custGeom>
              <a:avLst/>
              <a:gdLst/>
              <a:ahLst/>
              <a:cxnLst/>
              <a:rect l="l" t="t" r="r" b="b"/>
              <a:pathLst>
                <a:path w="3200400" h="1104900">
                  <a:moveTo>
                    <a:pt x="0" y="995362"/>
                  </a:moveTo>
                  <a:lnTo>
                    <a:pt x="0" y="109537"/>
                  </a:lnTo>
                  <a:lnTo>
                    <a:pt x="0" y="102345"/>
                  </a:lnTo>
                  <a:lnTo>
                    <a:pt x="701" y="95221"/>
                  </a:lnTo>
                  <a:lnTo>
                    <a:pt x="14464" y="54661"/>
                  </a:lnTo>
                  <a:lnTo>
                    <a:pt x="18460" y="48681"/>
                  </a:lnTo>
                  <a:lnTo>
                    <a:pt x="22456" y="42701"/>
                  </a:lnTo>
                  <a:lnTo>
                    <a:pt x="26997" y="37168"/>
                  </a:lnTo>
                  <a:lnTo>
                    <a:pt x="32082" y="32082"/>
                  </a:lnTo>
                  <a:lnTo>
                    <a:pt x="37168" y="26996"/>
                  </a:lnTo>
                  <a:lnTo>
                    <a:pt x="74264" y="5585"/>
                  </a:lnTo>
                  <a:lnTo>
                    <a:pt x="102345" y="0"/>
                  </a:lnTo>
                  <a:lnTo>
                    <a:pt x="109537" y="0"/>
                  </a:lnTo>
                  <a:lnTo>
                    <a:pt x="3090862" y="0"/>
                  </a:lnTo>
                  <a:lnTo>
                    <a:pt x="3098054" y="0"/>
                  </a:lnTo>
                  <a:lnTo>
                    <a:pt x="3105177" y="701"/>
                  </a:lnTo>
                  <a:lnTo>
                    <a:pt x="3112231" y="2104"/>
                  </a:lnTo>
                  <a:lnTo>
                    <a:pt x="3119285" y="3507"/>
                  </a:lnTo>
                  <a:lnTo>
                    <a:pt x="3157697" y="22456"/>
                  </a:lnTo>
                  <a:lnTo>
                    <a:pt x="3185934" y="54661"/>
                  </a:lnTo>
                  <a:lnTo>
                    <a:pt x="3199698" y="95221"/>
                  </a:lnTo>
                  <a:lnTo>
                    <a:pt x="3200399" y="102345"/>
                  </a:lnTo>
                  <a:lnTo>
                    <a:pt x="3200399" y="109537"/>
                  </a:lnTo>
                  <a:lnTo>
                    <a:pt x="3200399" y="995362"/>
                  </a:lnTo>
                  <a:lnTo>
                    <a:pt x="3200399" y="1002554"/>
                  </a:lnTo>
                  <a:lnTo>
                    <a:pt x="3199698" y="1009677"/>
                  </a:lnTo>
                  <a:lnTo>
                    <a:pt x="3198294" y="1016732"/>
                  </a:lnTo>
                  <a:lnTo>
                    <a:pt x="3196891" y="1023786"/>
                  </a:lnTo>
                  <a:lnTo>
                    <a:pt x="3181938" y="1056217"/>
                  </a:lnTo>
                  <a:lnTo>
                    <a:pt x="3177942" y="1062198"/>
                  </a:lnTo>
                  <a:lnTo>
                    <a:pt x="3145737" y="1090435"/>
                  </a:lnTo>
                  <a:lnTo>
                    <a:pt x="3105177" y="1104198"/>
                  </a:lnTo>
                  <a:lnTo>
                    <a:pt x="3090862" y="1104899"/>
                  </a:lnTo>
                  <a:lnTo>
                    <a:pt x="109537" y="1104899"/>
                  </a:lnTo>
                  <a:lnTo>
                    <a:pt x="67619" y="1096561"/>
                  </a:lnTo>
                  <a:lnTo>
                    <a:pt x="48681" y="1086439"/>
                  </a:lnTo>
                  <a:lnTo>
                    <a:pt x="42701" y="1082443"/>
                  </a:lnTo>
                  <a:lnTo>
                    <a:pt x="18460" y="1056217"/>
                  </a:lnTo>
                  <a:lnTo>
                    <a:pt x="14464" y="1050237"/>
                  </a:lnTo>
                  <a:lnTo>
                    <a:pt x="2104" y="1016732"/>
                  </a:lnTo>
                  <a:lnTo>
                    <a:pt x="701" y="1009677"/>
                  </a:lnTo>
                  <a:lnTo>
                    <a:pt x="0" y="1002554"/>
                  </a:lnTo>
                  <a:lnTo>
                    <a:pt x="0" y="995362"/>
                  </a:lnTo>
                  <a:close/>
                </a:path>
              </a:pathLst>
            </a:custGeom>
            <a:ln w="9524">
              <a:solidFill>
                <a:srgbClr val="E4E7EB"/>
              </a:solidFill>
            </a:ln>
          </p:spPr>
          <p:txBody>
            <a:bodyPr wrap="square" lIns="0" tIns="0" rIns="0" bIns="0" rtlCol="0"/>
            <a:lstStyle/>
            <a:p>
              <a:endParaRPr/>
            </a:p>
          </p:txBody>
        </p:sp>
      </p:grpSp>
      <p:sp>
        <p:nvSpPr>
          <p:cNvPr id="17" name="object 17"/>
          <p:cNvSpPr txBox="1"/>
          <p:nvPr/>
        </p:nvSpPr>
        <p:spPr>
          <a:xfrm>
            <a:off x="530225" y="1930400"/>
            <a:ext cx="1102995" cy="185420"/>
          </a:xfrm>
          <a:prstGeom prst="rect">
            <a:avLst/>
          </a:prstGeom>
        </p:spPr>
        <p:txBody>
          <a:bodyPr vert="horz" wrap="square" lIns="0" tIns="12700" rIns="0" bIns="0" rtlCol="0">
            <a:spAutoFit/>
          </a:bodyPr>
          <a:lstStyle/>
          <a:p>
            <a:pPr marL="12700">
              <a:lnSpc>
                <a:spcPct val="100000"/>
              </a:lnSpc>
              <a:spcBef>
                <a:spcPts val="100"/>
              </a:spcBef>
            </a:pPr>
            <a:r>
              <a:rPr sz="1050" spc="-40">
                <a:solidFill>
                  <a:srgbClr val="1D3A8A"/>
                </a:solidFill>
                <a:latin typeface="宋体"/>
                <a:cs typeface="宋体"/>
              </a:rPr>
              <a:t>通道独立 </a:t>
            </a:r>
            <a:r>
              <a:rPr sz="1050" spc="-150">
                <a:solidFill>
                  <a:srgbClr val="1D3A8A"/>
                </a:solidFill>
                <a:latin typeface="宋体"/>
                <a:cs typeface="宋体"/>
              </a:rPr>
              <a:t>(CI)</a:t>
            </a:r>
            <a:r>
              <a:rPr sz="1050" spc="-85">
                <a:solidFill>
                  <a:srgbClr val="1D3A8A"/>
                </a:solidFill>
                <a:latin typeface="宋体"/>
                <a:cs typeface="宋体"/>
              </a:rPr>
              <a:t> 模型</a:t>
            </a:r>
            <a:endParaRPr sz="1050">
              <a:latin typeface="宋体"/>
              <a:cs typeface="宋体"/>
            </a:endParaRPr>
          </a:p>
        </p:txBody>
      </p:sp>
      <p:sp>
        <p:nvSpPr>
          <p:cNvPr id="18" name="object 18"/>
          <p:cNvSpPr/>
          <p:nvPr/>
        </p:nvSpPr>
        <p:spPr>
          <a:xfrm>
            <a:off x="2005472" y="1930400"/>
            <a:ext cx="1423528" cy="203199"/>
          </a:xfrm>
          <a:custGeom>
            <a:avLst/>
            <a:gdLst/>
            <a:ahLst/>
            <a:cxnLst/>
            <a:rect l="l" t="t" r="r" b="b"/>
            <a:pathLst>
              <a:path w="1076325" h="171450">
                <a:moveTo>
                  <a:pt x="1043277" y="171449"/>
                </a:moveTo>
                <a:lnTo>
                  <a:pt x="33047" y="171449"/>
                </a:lnTo>
                <a:lnTo>
                  <a:pt x="28187" y="170483"/>
                </a:lnTo>
                <a:lnTo>
                  <a:pt x="966" y="143262"/>
                </a:lnTo>
                <a:lnTo>
                  <a:pt x="0" y="138402"/>
                </a:lnTo>
                <a:lnTo>
                  <a:pt x="0" y="133349"/>
                </a:lnTo>
                <a:lnTo>
                  <a:pt x="0" y="33047"/>
                </a:lnTo>
                <a:lnTo>
                  <a:pt x="28187" y="966"/>
                </a:lnTo>
                <a:lnTo>
                  <a:pt x="33047" y="0"/>
                </a:lnTo>
                <a:lnTo>
                  <a:pt x="1043277" y="0"/>
                </a:lnTo>
                <a:lnTo>
                  <a:pt x="1075357" y="28187"/>
                </a:lnTo>
                <a:lnTo>
                  <a:pt x="1076324" y="33047"/>
                </a:lnTo>
                <a:lnTo>
                  <a:pt x="1076324" y="138402"/>
                </a:lnTo>
                <a:lnTo>
                  <a:pt x="1048137" y="170483"/>
                </a:lnTo>
                <a:lnTo>
                  <a:pt x="1043277" y="171449"/>
                </a:lnTo>
                <a:close/>
              </a:path>
            </a:pathLst>
          </a:custGeom>
          <a:solidFill>
            <a:srgbClr val="DAE9FE"/>
          </a:solidFill>
        </p:spPr>
        <p:txBody>
          <a:bodyPr wrap="square" lIns="0" tIns="0" rIns="0" bIns="0" rtlCol="0"/>
          <a:lstStyle/>
          <a:p>
            <a:endParaRPr/>
          </a:p>
        </p:txBody>
      </p:sp>
      <p:sp>
        <p:nvSpPr>
          <p:cNvPr id="19" name="object 19"/>
          <p:cNvSpPr txBox="1"/>
          <p:nvPr/>
        </p:nvSpPr>
        <p:spPr>
          <a:xfrm>
            <a:off x="2109129" y="1952431"/>
            <a:ext cx="1460956" cy="154529"/>
          </a:xfrm>
          <a:prstGeom prst="rect">
            <a:avLst/>
          </a:prstGeom>
        </p:spPr>
        <p:txBody>
          <a:bodyPr vert="horz" wrap="square" lIns="0" tIns="15875" rIns="0" bIns="0" rtlCol="0">
            <a:spAutoFit/>
          </a:bodyPr>
          <a:lstStyle/>
          <a:p>
            <a:pPr marL="12700">
              <a:lnSpc>
                <a:spcPct val="100000"/>
              </a:lnSpc>
              <a:spcBef>
                <a:spcPts val="125"/>
              </a:spcBef>
            </a:pPr>
            <a:r>
              <a:rPr sz="900" b="1">
                <a:solidFill>
                  <a:srgbClr val="1D40AF"/>
                </a:solidFill>
                <a:latin typeface="Courier New"/>
                <a:cs typeface="Courier New"/>
              </a:rPr>
              <a:t>DLINEAR</a:t>
            </a:r>
            <a:r>
              <a:rPr sz="900" b="1" spc="75">
                <a:solidFill>
                  <a:srgbClr val="1D40AF"/>
                </a:solidFill>
                <a:latin typeface="Courier New"/>
                <a:cs typeface="Courier New"/>
              </a:rPr>
              <a:t> </a:t>
            </a:r>
            <a:r>
              <a:rPr sz="900" b="1">
                <a:solidFill>
                  <a:srgbClr val="1D40AF"/>
                </a:solidFill>
                <a:latin typeface="Courier New"/>
                <a:cs typeface="Courier New"/>
              </a:rPr>
              <a:t>/</a:t>
            </a:r>
            <a:r>
              <a:rPr sz="900" b="1" spc="75">
                <a:solidFill>
                  <a:srgbClr val="1D40AF"/>
                </a:solidFill>
                <a:latin typeface="Courier New"/>
                <a:cs typeface="Courier New"/>
              </a:rPr>
              <a:t> </a:t>
            </a:r>
            <a:r>
              <a:rPr sz="900" b="1" spc="-10">
                <a:solidFill>
                  <a:srgbClr val="1D40AF"/>
                </a:solidFill>
                <a:latin typeface="Courier New"/>
                <a:cs typeface="Courier New"/>
              </a:rPr>
              <a:t>PATCHTST</a:t>
            </a:r>
            <a:endParaRPr sz="900" b="1">
              <a:latin typeface="Courier New"/>
              <a:cs typeface="Courier New"/>
            </a:endParaRPr>
          </a:p>
        </p:txBody>
      </p:sp>
      <p:sp>
        <p:nvSpPr>
          <p:cNvPr id="20" name="object 20"/>
          <p:cNvSpPr txBox="1"/>
          <p:nvPr/>
        </p:nvSpPr>
        <p:spPr>
          <a:xfrm>
            <a:off x="530225" y="2201291"/>
            <a:ext cx="2654300" cy="180975"/>
          </a:xfrm>
          <a:prstGeom prst="rect">
            <a:avLst/>
          </a:prstGeom>
        </p:spPr>
        <p:txBody>
          <a:bodyPr vert="horz" wrap="square" lIns="0" tIns="14604" rIns="0" bIns="0" rtlCol="0">
            <a:spAutoFit/>
          </a:bodyPr>
          <a:lstStyle/>
          <a:p>
            <a:pPr marL="12700">
              <a:lnSpc>
                <a:spcPct val="100000"/>
              </a:lnSpc>
              <a:spcBef>
                <a:spcPts val="114"/>
              </a:spcBef>
            </a:pPr>
            <a:r>
              <a:rPr sz="1000" spc="-100">
                <a:solidFill>
                  <a:srgbClr val="4A5462"/>
                </a:solidFill>
                <a:latin typeface="宋体"/>
                <a:cs typeface="宋体"/>
              </a:rPr>
              <a:t>单独处理每个通道。具备极佳的抗噪能力和灵活度。</a:t>
            </a:r>
            <a:endParaRPr sz="1000">
              <a:latin typeface="宋体"/>
              <a:cs typeface="宋体"/>
            </a:endParaRPr>
          </a:p>
        </p:txBody>
      </p:sp>
      <p:grpSp>
        <p:nvGrpSpPr>
          <p:cNvPr id="21" name="object 21"/>
          <p:cNvGrpSpPr/>
          <p:nvPr/>
        </p:nvGrpSpPr>
        <p:grpSpPr>
          <a:xfrm>
            <a:off x="390525" y="1824183"/>
            <a:ext cx="3038475" cy="1047750"/>
            <a:chOff x="390525" y="1824183"/>
            <a:chExt cx="3038475" cy="1047750"/>
          </a:xfrm>
        </p:grpSpPr>
        <p:sp>
          <p:nvSpPr>
            <p:cNvPr id="22" name="object 22"/>
            <p:cNvSpPr/>
            <p:nvPr/>
          </p:nvSpPr>
          <p:spPr>
            <a:xfrm>
              <a:off x="542924" y="2505074"/>
              <a:ext cx="2886075" cy="9525"/>
            </a:xfrm>
            <a:custGeom>
              <a:avLst/>
              <a:gdLst/>
              <a:ahLst/>
              <a:cxnLst/>
              <a:rect l="l" t="t" r="r" b="b"/>
              <a:pathLst>
                <a:path w="2886075" h="9525">
                  <a:moveTo>
                    <a:pt x="2886074" y="9524"/>
                  </a:moveTo>
                  <a:lnTo>
                    <a:pt x="0" y="9524"/>
                  </a:lnTo>
                  <a:lnTo>
                    <a:pt x="0" y="0"/>
                  </a:lnTo>
                  <a:lnTo>
                    <a:pt x="2886074" y="0"/>
                  </a:lnTo>
                  <a:lnTo>
                    <a:pt x="2886074" y="9524"/>
                  </a:lnTo>
                  <a:close/>
                </a:path>
              </a:pathLst>
            </a:custGeom>
            <a:solidFill>
              <a:srgbClr val="E4E7EB"/>
            </a:solidFill>
          </p:spPr>
          <p:txBody>
            <a:bodyPr wrap="square" lIns="0" tIns="0" rIns="0" bIns="0" rtlCol="0"/>
            <a:lstStyle/>
            <a:p>
              <a:endParaRPr/>
            </a:p>
          </p:txBody>
        </p:sp>
        <p:pic>
          <p:nvPicPr>
            <p:cNvPr id="23" name="object 23"/>
            <p:cNvPicPr/>
            <p:nvPr/>
          </p:nvPicPr>
          <p:blipFill>
            <a:blip r:embed="rId5" cstate="print"/>
            <a:stretch>
              <a:fillRect/>
            </a:stretch>
          </p:blipFill>
          <p:spPr>
            <a:xfrm>
              <a:off x="554037" y="2611437"/>
              <a:ext cx="111124" cy="111124"/>
            </a:xfrm>
            <a:prstGeom prst="rect">
              <a:avLst/>
            </a:prstGeom>
          </p:spPr>
        </p:pic>
        <p:sp>
          <p:nvSpPr>
            <p:cNvPr id="24" name="object 24"/>
            <p:cNvSpPr/>
            <p:nvPr/>
          </p:nvSpPr>
          <p:spPr>
            <a:xfrm>
              <a:off x="390525" y="1824183"/>
              <a:ext cx="38100" cy="1047750"/>
            </a:xfrm>
            <a:custGeom>
              <a:avLst/>
              <a:gdLst/>
              <a:ahLst/>
              <a:cxnLst/>
              <a:rect l="l" t="t" r="r" b="b"/>
              <a:pathLst>
                <a:path w="38100" h="1047750">
                  <a:moveTo>
                    <a:pt x="38099" y="1047457"/>
                  </a:moveTo>
                  <a:lnTo>
                    <a:pt x="12385" y="1016081"/>
                  </a:lnTo>
                  <a:lnTo>
                    <a:pt x="498" y="976962"/>
                  </a:lnTo>
                  <a:lnTo>
                    <a:pt x="0" y="966641"/>
                  </a:lnTo>
                  <a:lnTo>
                    <a:pt x="0" y="80816"/>
                  </a:lnTo>
                  <a:lnTo>
                    <a:pt x="7975" y="40720"/>
                  </a:lnTo>
                  <a:lnTo>
                    <a:pt x="30687" y="6729"/>
                  </a:lnTo>
                  <a:lnTo>
                    <a:pt x="38099" y="0"/>
                  </a:lnTo>
                  <a:lnTo>
                    <a:pt x="38099" y="1047457"/>
                  </a:lnTo>
                  <a:close/>
                </a:path>
              </a:pathLst>
            </a:custGeom>
            <a:solidFill>
              <a:srgbClr val="1D40AF"/>
            </a:solidFill>
          </p:spPr>
          <p:txBody>
            <a:bodyPr wrap="square" lIns="0" tIns="0" rIns="0" bIns="0" rtlCol="0"/>
            <a:lstStyle/>
            <a:p>
              <a:endParaRPr/>
            </a:p>
          </p:txBody>
        </p:sp>
      </p:grpSp>
      <p:sp>
        <p:nvSpPr>
          <p:cNvPr id="25" name="object 25"/>
          <p:cNvSpPr txBox="1"/>
          <p:nvPr/>
        </p:nvSpPr>
        <p:spPr>
          <a:xfrm>
            <a:off x="720724" y="2578100"/>
            <a:ext cx="1397000" cy="162560"/>
          </a:xfrm>
          <a:prstGeom prst="rect">
            <a:avLst/>
          </a:prstGeom>
        </p:spPr>
        <p:txBody>
          <a:bodyPr vert="horz" wrap="square" lIns="0" tIns="12700" rIns="0" bIns="0" rtlCol="0">
            <a:spAutoFit/>
          </a:bodyPr>
          <a:lstStyle/>
          <a:p>
            <a:pPr marL="12700">
              <a:lnSpc>
                <a:spcPct val="100000"/>
              </a:lnSpc>
              <a:spcBef>
                <a:spcPts val="100"/>
              </a:spcBef>
            </a:pPr>
            <a:r>
              <a:rPr sz="900" spc="-5">
                <a:solidFill>
                  <a:srgbClr val="E11C48"/>
                </a:solidFill>
                <a:latin typeface="宋体"/>
                <a:cs typeface="宋体"/>
              </a:rPr>
              <a:t>完全丢失变量交叉结构依赖</a:t>
            </a:r>
            <a:endParaRPr sz="900">
              <a:latin typeface="宋体"/>
              <a:cs typeface="宋体"/>
            </a:endParaRPr>
          </a:p>
        </p:txBody>
      </p:sp>
      <p:grpSp>
        <p:nvGrpSpPr>
          <p:cNvPr id="26" name="object 26"/>
          <p:cNvGrpSpPr/>
          <p:nvPr/>
        </p:nvGrpSpPr>
        <p:grpSpPr>
          <a:xfrm>
            <a:off x="374799" y="3263353"/>
            <a:ext cx="3209925" cy="1114425"/>
            <a:chOff x="3743325" y="1790700"/>
            <a:chExt cx="3209925" cy="1114425"/>
          </a:xfrm>
        </p:grpSpPr>
        <p:sp>
          <p:nvSpPr>
            <p:cNvPr id="27" name="object 27"/>
            <p:cNvSpPr/>
            <p:nvPr/>
          </p:nvSpPr>
          <p:spPr>
            <a:xfrm>
              <a:off x="3748087" y="1795462"/>
              <a:ext cx="3200400" cy="1104900"/>
            </a:xfrm>
            <a:custGeom>
              <a:avLst/>
              <a:gdLst/>
              <a:ahLst/>
              <a:cxnLst/>
              <a:rect l="l" t="t" r="r" b="b"/>
              <a:pathLst>
                <a:path w="3200400" h="1104900">
                  <a:moveTo>
                    <a:pt x="3098054" y="1104899"/>
                  </a:moveTo>
                  <a:lnTo>
                    <a:pt x="102345" y="1104899"/>
                  </a:lnTo>
                  <a:lnTo>
                    <a:pt x="95221" y="1104198"/>
                  </a:lnTo>
                  <a:lnTo>
                    <a:pt x="54661" y="1090435"/>
                  </a:lnTo>
                  <a:lnTo>
                    <a:pt x="22456" y="1062198"/>
                  </a:lnTo>
                  <a:lnTo>
                    <a:pt x="3507" y="1023786"/>
                  </a:lnTo>
                  <a:lnTo>
                    <a:pt x="0" y="1002554"/>
                  </a:lnTo>
                  <a:lnTo>
                    <a:pt x="0" y="995362"/>
                  </a:lnTo>
                  <a:lnTo>
                    <a:pt x="0" y="102345"/>
                  </a:lnTo>
                  <a:lnTo>
                    <a:pt x="11090" y="60974"/>
                  </a:lnTo>
                  <a:lnTo>
                    <a:pt x="37168" y="26997"/>
                  </a:lnTo>
                  <a:lnTo>
                    <a:pt x="74264" y="5585"/>
                  </a:lnTo>
                  <a:lnTo>
                    <a:pt x="102345" y="0"/>
                  </a:lnTo>
                  <a:lnTo>
                    <a:pt x="3098054" y="0"/>
                  </a:lnTo>
                  <a:lnTo>
                    <a:pt x="3139424" y="11090"/>
                  </a:lnTo>
                  <a:lnTo>
                    <a:pt x="3173401" y="37168"/>
                  </a:lnTo>
                  <a:lnTo>
                    <a:pt x="3194813" y="74264"/>
                  </a:lnTo>
                  <a:lnTo>
                    <a:pt x="3200399" y="102345"/>
                  </a:lnTo>
                  <a:lnTo>
                    <a:pt x="3200399" y="1002554"/>
                  </a:lnTo>
                  <a:lnTo>
                    <a:pt x="3189308" y="1043925"/>
                  </a:lnTo>
                  <a:lnTo>
                    <a:pt x="3163230" y="1077902"/>
                  </a:lnTo>
                  <a:lnTo>
                    <a:pt x="3126135" y="1099314"/>
                  </a:lnTo>
                  <a:lnTo>
                    <a:pt x="3105177" y="1104198"/>
                  </a:lnTo>
                  <a:lnTo>
                    <a:pt x="3098054" y="1104899"/>
                  </a:lnTo>
                  <a:close/>
                </a:path>
              </a:pathLst>
            </a:custGeom>
            <a:solidFill>
              <a:srgbClr val="F9FAFA"/>
            </a:solidFill>
          </p:spPr>
          <p:txBody>
            <a:bodyPr wrap="square" lIns="0" tIns="0" rIns="0" bIns="0" rtlCol="0"/>
            <a:lstStyle/>
            <a:p>
              <a:endParaRPr/>
            </a:p>
          </p:txBody>
        </p:sp>
        <p:sp>
          <p:nvSpPr>
            <p:cNvPr id="28" name="object 28"/>
            <p:cNvSpPr/>
            <p:nvPr/>
          </p:nvSpPr>
          <p:spPr>
            <a:xfrm>
              <a:off x="3748087" y="1795462"/>
              <a:ext cx="3200400" cy="1104900"/>
            </a:xfrm>
            <a:custGeom>
              <a:avLst/>
              <a:gdLst/>
              <a:ahLst/>
              <a:cxnLst/>
              <a:rect l="l" t="t" r="r" b="b"/>
              <a:pathLst>
                <a:path w="3200400" h="1104900">
                  <a:moveTo>
                    <a:pt x="0" y="995362"/>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3090862" y="0"/>
                  </a:lnTo>
                  <a:lnTo>
                    <a:pt x="3098054" y="0"/>
                  </a:lnTo>
                  <a:lnTo>
                    <a:pt x="3105177" y="701"/>
                  </a:lnTo>
                  <a:lnTo>
                    <a:pt x="3112231" y="2104"/>
                  </a:lnTo>
                  <a:lnTo>
                    <a:pt x="3119285" y="3507"/>
                  </a:lnTo>
                  <a:lnTo>
                    <a:pt x="3151717" y="18460"/>
                  </a:lnTo>
                  <a:lnTo>
                    <a:pt x="3157697" y="22456"/>
                  </a:lnTo>
                  <a:lnTo>
                    <a:pt x="3185934" y="54661"/>
                  </a:lnTo>
                  <a:lnTo>
                    <a:pt x="3192061" y="67619"/>
                  </a:lnTo>
                  <a:lnTo>
                    <a:pt x="3194813" y="74264"/>
                  </a:lnTo>
                  <a:lnTo>
                    <a:pt x="3196891" y="81113"/>
                  </a:lnTo>
                  <a:lnTo>
                    <a:pt x="3198294" y="88167"/>
                  </a:lnTo>
                  <a:lnTo>
                    <a:pt x="3199698" y="95221"/>
                  </a:lnTo>
                  <a:lnTo>
                    <a:pt x="3200399" y="102345"/>
                  </a:lnTo>
                  <a:lnTo>
                    <a:pt x="3200399" y="109537"/>
                  </a:lnTo>
                  <a:lnTo>
                    <a:pt x="3200399" y="995362"/>
                  </a:lnTo>
                  <a:lnTo>
                    <a:pt x="3200399" y="1002554"/>
                  </a:lnTo>
                  <a:lnTo>
                    <a:pt x="3199698" y="1009677"/>
                  </a:lnTo>
                  <a:lnTo>
                    <a:pt x="3198294" y="1016732"/>
                  </a:lnTo>
                  <a:lnTo>
                    <a:pt x="3196891" y="1023786"/>
                  </a:lnTo>
                  <a:lnTo>
                    <a:pt x="3194813" y="1030635"/>
                  </a:lnTo>
                  <a:lnTo>
                    <a:pt x="3192061" y="1037280"/>
                  </a:lnTo>
                  <a:lnTo>
                    <a:pt x="3189308" y="1043925"/>
                  </a:lnTo>
                  <a:lnTo>
                    <a:pt x="3163230" y="1077902"/>
                  </a:lnTo>
                  <a:lnTo>
                    <a:pt x="3126135" y="1099314"/>
                  </a:lnTo>
                  <a:lnTo>
                    <a:pt x="3112231" y="1102795"/>
                  </a:lnTo>
                  <a:lnTo>
                    <a:pt x="3105177" y="1104198"/>
                  </a:lnTo>
                  <a:lnTo>
                    <a:pt x="3098054" y="1104899"/>
                  </a:lnTo>
                  <a:lnTo>
                    <a:pt x="3090862" y="1104899"/>
                  </a:lnTo>
                  <a:lnTo>
                    <a:pt x="109537" y="1104899"/>
                  </a:lnTo>
                  <a:lnTo>
                    <a:pt x="67619" y="1096561"/>
                  </a:lnTo>
                  <a:lnTo>
                    <a:pt x="48681" y="1086439"/>
                  </a:lnTo>
                  <a:lnTo>
                    <a:pt x="42701" y="1082443"/>
                  </a:lnTo>
                  <a:lnTo>
                    <a:pt x="18460" y="1056218"/>
                  </a:lnTo>
                  <a:lnTo>
                    <a:pt x="14464" y="1050237"/>
                  </a:lnTo>
                  <a:lnTo>
                    <a:pt x="11090" y="1043925"/>
                  </a:lnTo>
                  <a:lnTo>
                    <a:pt x="8338" y="1037280"/>
                  </a:lnTo>
                  <a:lnTo>
                    <a:pt x="5585" y="1030635"/>
                  </a:lnTo>
                  <a:lnTo>
                    <a:pt x="3507" y="1023786"/>
                  </a:lnTo>
                  <a:lnTo>
                    <a:pt x="2104" y="1016732"/>
                  </a:lnTo>
                  <a:lnTo>
                    <a:pt x="701" y="1009677"/>
                  </a:lnTo>
                  <a:lnTo>
                    <a:pt x="0" y="1002554"/>
                  </a:lnTo>
                  <a:lnTo>
                    <a:pt x="0" y="995362"/>
                  </a:lnTo>
                  <a:close/>
                </a:path>
              </a:pathLst>
            </a:custGeom>
            <a:ln w="9524">
              <a:solidFill>
                <a:srgbClr val="E4E7EB"/>
              </a:solidFill>
            </a:ln>
          </p:spPr>
          <p:txBody>
            <a:bodyPr wrap="square" lIns="0" tIns="0" rIns="0" bIns="0" rtlCol="0"/>
            <a:lstStyle/>
            <a:p>
              <a:endParaRPr/>
            </a:p>
          </p:txBody>
        </p:sp>
      </p:grpSp>
      <p:sp>
        <p:nvSpPr>
          <p:cNvPr id="29" name="object 29"/>
          <p:cNvSpPr txBox="1"/>
          <p:nvPr/>
        </p:nvSpPr>
        <p:spPr>
          <a:xfrm>
            <a:off x="532271" y="3427524"/>
            <a:ext cx="1156335" cy="185420"/>
          </a:xfrm>
          <a:prstGeom prst="rect">
            <a:avLst/>
          </a:prstGeom>
        </p:spPr>
        <p:txBody>
          <a:bodyPr vert="horz" wrap="square" lIns="0" tIns="12700" rIns="0" bIns="0" rtlCol="0">
            <a:spAutoFit/>
          </a:bodyPr>
          <a:lstStyle/>
          <a:p>
            <a:pPr marL="12700">
              <a:lnSpc>
                <a:spcPct val="100000"/>
              </a:lnSpc>
              <a:spcBef>
                <a:spcPts val="100"/>
              </a:spcBef>
            </a:pPr>
            <a:r>
              <a:rPr sz="1050" spc="-40">
                <a:solidFill>
                  <a:srgbClr val="312E81"/>
                </a:solidFill>
                <a:latin typeface="宋体"/>
                <a:cs typeface="宋体"/>
              </a:rPr>
              <a:t>通道依赖 </a:t>
            </a:r>
            <a:r>
              <a:rPr sz="1050" spc="-45">
                <a:solidFill>
                  <a:srgbClr val="312E81"/>
                </a:solidFill>
                <a:latin typeface="宋体"/>
                <a:cs typeface="宋体"/>
              </a:rPr>
              <a:t>(CD)</a:t>
            </a:r>
            <a:r>
              <a:rPr sz="1050" spc="-85">
                <a:solidFill>
                  <a:srgbClr val="312E81"/>
                </a:solidFill>
                <a:latin typeface="宋体"/>
                <a:cs typeface="宋体"/>
              </a:rPr>
              <a:t> 模型</a:t>
            </a:r>
            <a:endParaRPr sz="1050">
              <a:latin typeface="宋体"/>
              <a:cs typeface="宋体"/>
            </a:endParaRPr>
          </a:p>
        </p:txBody>
      </p:sp>
      <p:sp>
        <p:nvSpPr>
          <p:cNvPr id="30" name="object 30"/>
          <p:cNvSpPr/>
          <p:nvPr/>
        </p:nvSpPr>
        <p:spPr>
          <a:xfrm>
            <a:off x="2117724" y="3445303"/>
            <a:ext cx="1416051" cy="185420"/>
          </a:xfrm>
          <a:custGeom>
            <a:avLst/>
            <a:gdLst/>
            <a:ahLst/>
            <a:cxnLst/>
            <a:rect l="l" t="t" r="r" b="b"/>
            <a:pathLst>
              <a:path w="1028700" h="171450">
                <a:moveTo>
                  <a:pt x="995652" y="171449"/>
                </a:moveTo>
                <a:lnTo>
                  <a:pt x="33047" y="171449"/>
                </a:lnTo>
                <a:lnTo>
                  <a:pt x="28187" y="170483"/>
                </a:lnTo>
                <a:lnTo>
                  <a:pt x="966" y="143262"/>
                </a:lnTo>
                <a:lnTo>
                  <a:pt x="0" y="138402"/>
                </a:lnTo>
                <a:lnTo>
                  <a:pt x="0" y="133349"/>
                </a:lnTo>
                <a:lnTo>
                  <a:pt x="0" y="33047"/>
                </a:lnTo>
                <a:lnTo>
                  <a:pt x="28187" y="966"/>
                </a:lnTo>
                <a:lnTo>
                  <a:pt x="33047" y="0"/>
                </a:lnTo>
                <a:lnTo>
                  <a:pt x="995652" y="0"/>
                </a:lnTo>
                <a:lnTo>
                  <a:pt x="1027732" y="28187"/>
                </a:lnTo>
                <a:lnTo>
                  <a:pt x="1028699" y="33047"/>
                </a:lnTo>
                <a:lnTo>
                  <a:pt x="1028699" y="138402"/>
                </a:lnTo>
                <a:lnTo>
                  <a:pt x="1000512" y="170483"/>
                </a:lnTo>
                <a:lnTo>
                  <a:pt x="995652" y="171449"/>
                </a:lnTo>
                <a:close/>
              </a:path>
            </a:pathLst>
          </a:custGeom>
          <a:solidFill>
            <a:srgbClr val="DFE7FF"/>
          </a:solidFill>
        </p:spPr>
        <p:txBody>
          <a:bodyPr wrap="square" lIns="0" tIns="0" rIns="0" bIns="0" rtlCol="0"/>
          <a:lstStyle/>
          <a:p>
            <a:endParaRPr/>
          </a:p>
        </p:txBody>
      </p:sp>
      <p:sp>
        <p:nvSpPr>
          <p:cNvPr id="31" name="object 31"/>
          <p:cNvSpPr txBox="1"/>
          <p:nvPr/>
        </p:nvSpPr>
        <p:spPr>
          <a:xfrm>
            <a:off x="2240420" y="3455626"/>
            <a:ext cx="1274404" cy="154529"/>
          </a:xfrm>
          <a:prstGeom prst="rect">
            <a:avLst/>
          </a:prstGeom>
        </p:spPr>
        <p:txBody>
          <a:bodyPr vert="horz" wrap="square" lIns="0" tIns="15875" rIns="0" bIns="0" rtlCol="0">
            <a:spAutoFit/>
          </a:bodyPr>
          <a:lstStyle/>
          <a:p>
            <a:pPr marL="12700">
              <a:lnSpc>
                <a:spcPct val="100000"/>
              </a:lnSpc>
              <a:spcBef>
                <a:spcPts val="125"/>
              </a:spcBef>
            </a:pPr>
            <a:r>
              <a:rPr sz="900" b="1">
                <a:solidFill>
                  <a:srgbClr val="372FA2"/>
                </a:solidFill>
                <a:latin typeface="Courier New"/>
                <a:cs typeface="Courier New"/>
              </a:rPr>
              <a:t>GNN</a:t>
            </a:r>
            <a:r>
              <a:rPr sz="900" b="1" spc="45">
                <a:solidFill>
                  <a:srgbClr val="372FA2"/>
                </a:solidFill>
                <a:latin typeface="Courier New"/>
                <a:cs typeface="Courier New"/>
              </a:rPr>
              <a:t> </a:t>
            </a:r>
            <a:r>
              <a:rPr sz="900" b="1">
                <a:solidFill>
                  <a:srgbClr val="372FA2"/>
                </a:solidFill>
                <a:latin typeface="Courier New"/>
                <a:cs typeface="Courier New"/>
              </a:rPr>
              <a:t>/</a:t>
            </a:r>
            <a:r>
              <a:rPr sz="900" b="1" spc="45">
                <a:solidFill>
                  <a:srgbClr val="372FA2"/>
                </a:solidFill>
                <a:latin typeface="Courier New"/>
                <a:cs typeface="Courier New"/>
              </a:rPr>
              <a:t> </a:t>
            </a:r>
            <a:r>
              <a:rPr sz="900" b="1" spc="-10">
                <a:solidFill>
                  <a:srgbClr val="372FA2"/>
                </a:solidFill>
                <a:latin typeface="Courier New"/>
                <a:cs typeface="Courier New"/>
              </a:rPr>
              <a:t>TRANSFORMER</a:t>
            </a:r>
            <a:endParaRPr sz="900" b="1">
              <a:latin typeface="Courier New"/>
              <a:cs typeface="Courier New"/>
            </a:endParaRPr>
          </a:p>
        </p:txBody>
      </p:sp>
      <p:sp>
        <p:nvSpPr>
          <p:cNvPr id="32" name="object 32"/>
          <p:cNvSpPr txBox="1"/>
          <p:nvPr/>
        </p:nvSpPr>
        <p:spPr>
          <a:xfrm>
            <a:off x="532271" y="3698415"/>
            <a:ext cx="2654300" cy="180975"/>
          </a:xfrm>
          <a:prstGeom prst="rect">
            <a:avLst/>
          </a:prstGeom>
        </p:spPr>
        <p:txBody>
          <a:bodyPr vert="horz" wrap="square" lIns="0" tIns="14604" rIns="0" bIns="0" rtlCol="0">
            <a:spAutoFit/>
          </a:bodyPr>
          <a:lstStyle/>
          <a:p>
            <a:pPr marL="12700">
              <a:lnSpc>
                <a:spcPct val="100000"/>
              </a:lnSpc>
              <a:spcBef>
                <a:spcPts val="114"/>
              </a:spcBef>
            </a:pPr>
            <a:r>
              <a:rPr sz="1000" spc="-100">
                <a:solidFill>
                  <a:srgbClr val="4A5462"/>
                </a:solidFill>
                <a:latin typeface="宋体"/>
                <a:cs typeface="宋体"/>
              </a:rPr>
              <a:t>显式建模通道交互。提取变量间交叉非线性相关性。</a:t>
            </a:r>
            <a:endParaRPr sz="1000">
              <a:latin typeface="宋体"/>
              <a:cs typeface="宋体"/>
            </a:endParaRPr>
          </a:p>
        </p:txBody>
      </p:sp>
      <p:grpSp>
        <p:nvGrpSpPr>
          <p:cNvPr id="33" name="object 33"/>
          <p:cNvGrpSpPr/>
          <p:nvPr/>
        </p:nvGrpSpPr>
        <p:grpSpPr>
          <a:xfrm>
            <a:off x="409575" y="3316730"/>
            <a:ext cx="3038475" cy="1047750"/>
            <a:chOff x="3752849" y="1824183"/>
            <a:chExt cx="3038475" cy="1047750"/>
          </a:xfrm>
        </p:grpSpPr>
        <p:sp>
          <p:nvSpPr>
            <p:cNvPr id="34" name="object 34"/>
            <p:cNvSpPr/>
            <p:nvPr/>
          </p:nvSpPr>
          <p:spPr>
            <a:xfrm>
              <a:off x="3905249" y="2505074"/>
              <a:ext cx="2886075" cy="9525"/>
            </a:xfrm>
            <a:custGeom>
              <a:avLst/>
              <a:gdLst/>
              <a:ahLst/>
              <a:cxnLst/>
              <a:rect l="l" t="t" r="r" b="b"/>
              <a:pathLst>
                <a:path w="2886075" h="9525">
                  <a:moveTo>
                    <a:pt x="2886074" y="9524"/>
                  </a:moveTo>
                  <a:lnTo>
                    <a:pt x="0" y="9524"/>
                  </a:lnTo>
                  <a:lnTo>
                    <a:pt x="0" y="0"/>
                  </a:lnTo>
                  <a:lnTo>
                    <a:pt x="2886074" y="0"/>
                  </a:lnTo>
                  <a:lnTo>
                    <a:pt x="2886074" y="9524"/>
                  </a:lnTo>
                  <a:close/>
                </a:path>
              </a:pathLst>
            </a:custGeom>
            <a:solidFill>
              <a:srgbClr val="E4E7EB"/>
            </a:solidFill>
          </p:spPr>
          <p:txBody>
            <a:bodyPr wrap="square" lIns="0" tIns="0" rIns="0" bIns="0" rtlCol="0"/>
            <a:lstStyle/>
            <a:p>
              <a:endParaRPr/>
            </a:p>
          </p:txBody>
        </p:sp>
        <p:pic>
          <p:nvPicPr>
            <p:cNvPr id="35" name="object 35"/>
            <p:cNvPicPr/>
            <p:nvPr/>
          </p:nvPicPr>
          <p:blipFill>
            <a:blip r:embed="rId5" cstate="print"/>
            <a:stretch>
              <a:fillRect/>
            </a:stretch>
          </p:blipFill>
          <p:spPr>
            <a:xfrm>
              <a:off x="3916362" y="2611437"/>
              <a:ext cx="111124" cy="111124"/>
            </a:xfrm>
            <a:prstGeom prst="rect">
              <a:avLst/>
            </a:prstGeom>
          </p:spPr>
        </p:pic>
        <p:sp>
          <p:nvSpPr>
            <p:cNvPr id="36" name="object 36"/>
            <p:cNvSpPr/>
            <p:nvPr/>
          </p:nvSpPr>
          <p:spPr>
            <a:xfrm>
              <a:off x="3752849" y="1824183"/>
              <a:ext cx="38100" cy="1047750"/>
            </a:xfrm>
            <a:custGeom>
              <a:avLst/>
              <a:gdLst/>
              <a:ahLst/>
              <a:cxnLst/>
              <a:rect l="l" t="t" r="r" b="b"/>
              <a:pathLst>
                <a:path w="38100" h="1047750">
                  <a:moveTo>
                    <a:pt x="38099" y="1047458"/>
                  </a:moveTo>
                  <a:lnTo>
                    <a:pt x="12385" y="1016081"/>
                  </a:lnTo>
                  <a:lnTo>
                    <a:pt x="498" y="976962"/>
                  </a:lnTo>
                  <a:lnTo>
                    <a:pt x="0" y="966641"/>
                  </a:lnTo>
                  <a:lnTo>
                    <a:pt x="0" y="80816"/>
                  </a:lnTo>
                  <a:lnTo>
                    <a:pt x="7975" y="40720"/>
                  </a:lnTo>
                  <a:lnTo>
                    <a:pt x="30687" y="6729"/>
                  </a:lnTo>
                  <a:lnTo>
                    <a:pt x="38099" y="0"/>
                  </a:lnTo>
                  <a:lnTo>
                    <a:pt x="38099" y="1047458"/>
                  </a:lnTo>
                  <a:close/>
                </a:path>
              </a:pathLst>
            </a:custGeom>
            <a:solidFill>
              <a:srgbClr val="4237CA"/>
            </a:solidFill>
          </p:spPr>
          <p:txBody>
            <a:bodyPr wrap="square" lIns="0" tIns="0" rIns="0" bIns="0" rtlCol="0"/>
            <a:lstStyle/>
            <a:p>
              <a:endParaRPr/>
            </a:p>
          </p:txBody>
        </p:sp>
      </p:grpSp>
      <p:sp>
        <p:nvSpPr>
          <p:cNvPr id="37" name="object 37"/>
          <p:cNvSpPr txBox="1"/>
          <p:nvPr/>
        </p:nvSpPr>
        <p:spPr>
          <a:xfrm>
            <a:off x="722771" y="4075224"/>
            <a:ext cx="1282700" cy="162560"/>
          </a:xfrm>
          <a:prstGeom prst="rect">
            <a:avLst/>
          </a:prstGeom>
        </p:spPr>
        <p:txBody>
          <a:bodyPr vert="horz" wrap="square" lIns="0" tIns="12700" rIns="0" bIns="0" rtlCol="0">
            <a:spAutoFit/>
          </a:bodyPr>
          <a:lstStyle/>
          <a:p>
            <a:pPr marL="12700">
              <a:lnSpc>
                <a:spcPct val="100000"/>
              </a:lnSpc>
              <a:spcBef>
                <a:spcPts val="100"/>
              </a:spcBef>
            </a:pPr>
            <a:r>
              <a:rPr sz="900" spc="-5">
                <a:solidFill>
                  <a:srgbClr val="E11C48"/>
                </a:solidFill>
                <a:latin typeface="宋体"/>
                <a:cs typeface="宋体"/>
              </a:rPr>
              <a:t>严重过拟合静态通道顺序</a:t>
            </a:r>
            <a:endParaRPr sz="900">
              <a:latin typeface="宋体"/>
              <a:cs typeface="宋体"/>
            </a:endParaRPr>
          </a:p>
        </p:txBody>
      </p:sp>
      <p:grpSp>
        <p:nvGrpSpPr>
          <p:cNvPr id="38" name="object 38"/>
          <p:cNvGrpSpPr/>
          <p:nvPr/>
        </p:nvGrpSpPr>
        <p:grpSpPr>
          <a:xfrm>
            <a:off x="6616699" y="1139280"/>
            <a:ext cx="5194301" cy="5337719"/>
            <a:chOff x="7181850" y="1228724"/>
            <a:chExt cx="4629150" cy="5248275"/>
          </a:xfrm>
        </p:grpSpPr>
        <p:sp>
          <p:nvSpPr>
            <p:cNvPr id="39" name="object 39"/>
            <p:cNvSpPr/>
            <p:nvPr/>
          </p:nvSpPr>
          <p:spPr>
            <a:xfrm>
              <a:off x="7186612" y="1233487"/>
              <a:ext cx="4619625" cy="5238750"/>
            </a:xfrm>
            <a:custGeom>
              <a:avLst/>
              <a:gdLst/>
              <a:ahLst/>
              <a:cxnLst/>
              <a:rect l="l" t="t" r="r" b="b"/>
              <a:pathLst>
                <a:path w="4619625" h="5238750">
                  <a:moveTo>
                    <a:pt x="4517279" y="5238749"/>
                  </a:moveTo>
                  <a:lnTo>
                    <a:pt x="102345" y="5238749"/>
                  </a:lnTo>
                  <a:lnTo>
                    <a:pt x="95221" y="5238047"/>
                  </a:lnTo>
                  <a:lnTo>
                    <a:pt x="54661" y="5224284"/>
                  </a:lnTo>
                  <a:lnTo>
                    <a:pt x="22456" y="5196048"/>
                  </a:lnTo>
                  <a:lnTo>
                    <a:pt x="3507" y="5157635"/>
                  </a:lnTo>
                  <a:lnTo>
                    <a:pt x="0" y="5136404"/>
                  </a:lnTo>
                  <a:lnTo>
                    <a:pt x="0" y="5129212"/>
                  </a:lnTo>
                  <a:lnTo>
                    <a:pt x="0" y="102345"/>
                  </a:lnTo>
                  <a:lnTo>
                    <a:pt x="11090" y="60974"/>
                  </a:lnTo>
                  <a:lnTo>
                    <a:pt x="37168" y="26997"/>
                  </a:lnTo>
                  <a:lnTo>
                    <a:pt x="74264" y="5585"/>
                  </a:lnTo>
                  <a:lnTo>
                    <a:pt x="102345" y="0"/>
                  </a:lnTo>
                  <a:lnTo>
                    <a:pt x="4517279" y="0"/>
                  </a:lnTo>
                  <a:lnTo>
                    <a:pt x="4558649" y="11090"/>
                  </a:lnTo>
                  <a:lnTo>
                    <a:pt x="4592626" y="37168"/>
                  </a:lnTo>
                  <a:lnTo>
                    <a:pt x="4614038" y="74264"/>
                  </a:lnTo>
                  <a:lnTo>
                    <a:pt x="4619624" y="102345"/>
                  </a:lnTo>
                  <a:lnTo>
                    <a:pt x="4619624" y="5136404"/>
                  </a:lnTo>
                  <a:lnTo>
                    <a:pt x="4608533" y="5177774"/>
                  </a:lnTo>
                  <a:lnTo>
                    <a:pt x="4582455" y="5211751"/>
                  </a:lnTo>
                  <a:lnTo>
                    <a:pt x="4545360" y="5233163"/>
                  </a:lnTo>
                  <a:lnTo>
                    <a:pt x="4524402" y="5238047"/>
                  </a:lnTo>
                  <a:lnTo>
                    <a:pt x="4517279" y="5238749"/>
                  </a:lnTo>
                  <a:close/>
                </a:path>
              </a:pathLst>
            </a:custGeom>
            <a:solidFill>
              <a:srgbClr val="F9FAFA"/>
            </a:solidFill>
          </p:spPr>
          <p:txBody>
            <a:bodyPr wrap="square" lIns="0" tIns="0" rIns="0" bIns="0" rtlCol="0"/>
            <a:lstStyle/>
            <a:p>
              <a:endParaRPr/>
            </a:p>
          </p:txBody>
        </p:sp>
        <p:sp>
          <p:nvSpPr>
            <p:cNvPr id="40" name="object 40"/>
            <p:cNvSpPr/>
            <p:nvPr/>
          </p:nvSpPr>
          <p:spPr>
            <a:xfrm>
              <a:off x="7186612" y="1233487"/>
              <a:ext cx="4619625" cy="5238750"/>
            </a:xfrm>
            <a:custGeom>
              <a:avLst/>
              <a:gdLst/>
              <a:ahLst/>
              <a:cxnLst/>
              <a:rect l="l" t="t" r="r" b="b"/>
              <a:pathLst>
                <a:path w="4619625" h="5238750">
                  <a:moveTo>
                    <a:pt x="0" y="5129212"/>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4510087" y="0"/>
                  </a:lnTo>
                  <a:lnTo>
                    <a:pt x="4517279" y="0"/>
                  </a:lnTo>
                  <a:lnTo>
                    <a:pt x="4524402" y="701"/>
                  </a:lnTo>
                  <a:lnTo>
                    <a:pt x="4531456" y="2104"/>
                  </a:lnTo>
                  <a:lnTo>
                    <a:pt x="4538510" y="3507"/>
                  </a:lnTo>
                  <a:lnTo>
                    <a:pt x="4545360" y="5585"/>
                  </a:lnTo>
                  <a:lnTo>
                    <a:pt x="4552004" y="8338"/>
                  </a:lnTo>
                  <a:lnTo>
                    <a:pt x="4558649" y="11090"/>
                  </a:lnTo>
                  <a:lnTo>
                    <a:pt x="4592626" y="37168"/>
                  </a:lnTo>
                  <a:lnTo>
                    <a:pt x="4611285" y="67619"/>
                  </a:lnTo>
                  <a:lnTo>
                    <a:pt x="4614038" y="74264"/>
                  </a:lnTo>
                  <a:lnTo>
                    <a:pt x="4616116" y="81113"/>
                  </a:lnTo>
                  <a:lnTo>
                    <a:pt x="4617519" y="88167"/>
                  </a:lnTo>
                  <a:lnTo>
                    <a:pt x="4618922" y="95221"/>
                  </a:lnTo>
                  <a:lnTo>
                    <a:pt x="4619624" y="102345"/>
                  </a:lnTo>
                  <a:lnTo>
                    <a:pt x="4619624" y="109537"/>
                  </a:lnTo>
                  <a:lnTo>
                    <a:pt x="4619624" y="5129212"/>
                  </a:lnTo>
                  <a:lnTo>
                    <a:pt x="4619624" y="5136404"/>
                  </a:lnTo>
                  <a:lnTo>
                    <a:pt x="4618922" y="5143526"/>
                  </a:lnTo>
                  <a:lnTo>
                    <a:pt x="4617519" y="5150581"/>
                  </a:lnTo>
                  <a:lnTo>
                    <a:pt x="4616116" y="5157635"/>
                  </a:lnTo>
                  <a:lnTo>
                    <a:pt x="4614038" y="5164484"/>
                  </a:lnTo>
                  <a:lnTo>
                    <a:pt x="4611285" y="5171129"/>
                  </a:lnTo>
                  <a:lnTo>
                    <a:pt x="4608533" y="5177774"/>
                  </a:lnTo>
                  <a:lnTo>
                    <a:pt x="4582455" y="5211751"/>
                  </a:lnTo>
                  <a:lnTo>
                    <a:pt x="4552004" y="5230411"/>
                  </a:lnTo>
                  <a:lnTo>
                    <a:pt x="4545360" y="5233163"/>
                  </a:lnTo>
                  <a:lnTo>
                    <a:pt x="4538510" y="5235241"/>
                  </a:lnTo>
                  <a:lnTo>
                    <a:pt x="4531456" y="5236644"/>
                  </a:lnTo>
                  <a:lnTo>
                    <a:pt x="4524402" y="5238047"/>
                  </a:lnTo>
                  <a:lnTo>
                    <a:pt x="4517279" y="5238749"/>
                  </a:lnTo>
                  <a:lnTo>
                    <a:pt x="4510087" y="5238749"/>
                  </a:lnTo>
                  <a:lnTo>
                    <a:pt x="109537" y="5238749"/>
                  </a:lnTo>
                  <a:lnTo>
                    <a:pt x="67619" y="5230411"/>
                  </a:lnTo>
                  <a:lnTo>
                    <a:pt x="60974" y="5227658"/>
                  </a:lnTo>
                  <a:lnTo>
                    <a:pt x="26997" y="5201580"/>
                  </a:lnTo>
                  <a:lnTo>
                    <a:pt x="18460" y="5190067"/>
                  </a:lnTo>
                  <a:lnTo>
                    <a:pt x="14464" y="5184087"/>
                  </a:lnTo>
                  <a:lnTo>
                    <a:pt x="11090" y="5177774"/>
                  </a:lnTo>
                  <a:lnTo>
                    <a:pt x="8338" y="5171129"/>
                  </a:lnTo>
                  <a:lnTo>
                    <a:pt x="5585" y="5164484"/>
                  </a:lnTo>
                  <a:lnTo>
                    <a:pt x="3507" y="5157635"/>
                  </a:lnTo>
                  <a:lnTo>
                    <a:pt x="2104" y="5150581"/>
                  </a:lnTo>
                  <a:lnTo>
                    <a:pt x="701" y="5143526"/>
                  </a:lnTo>
                  <a:lnTo>
                    <a:pt x="0" y="5136404"/>
                  </a:lnTo>
                  <a:lnTo>
                    <a:pt x="0" y="5129212"/>
                  </a:lnTo>
                  <a:close/>
                </a:path>
              </a:pathLst>
            </a:custGeom>
            <a:ln w="9524">
              <a:solidFill>
                <a:srgbClr val="E4E7EB"/>
              </a:solidFill>
            </a:ln>
          </p:spPr>
          <p:txBody>
            <a:bodyPr wrap="square" lIns="0" tIns="0" rIns="0" bIns="0" rtlCol="0"/>
            <a:lstStyle/>
            <a:p>
              <a:endParaRPr/>
            </a:p>
          </p:txBody>
        </p:sp>
        <p:pic>
          <p:nvPicPr>
            <p:cNvPr id="41" name="object 41"/>
            <p:cNvPicPr/>
            <p:nvPr/>
          </p:nvPicPr>
          <p:blipFill>
            <a:blip r:embed="rId6" cstate="print"/>
            <a:stretch>
              <a:fillRect/>
            </a:stretch>
          </p:blipFill>
          <p:spPr>
            <a:xfrm>
              <a:off x="7362824" y="1428749"/>
              <a:ext cx="114300" cy="114300"/>
            </a:xfrm>
            <a:prstGeom prst="rect">
              <a:avLst/>
            </a:prstGeom>
          </p:spPr>
        </p:pic>
      </p:grpSp>
      <p:sp>
        <p:nvSpPr>
          <p:cNvPr id="42" name="object 42"/>
          <p:cNvSpPr txBox="1"/>
          <p:nvPr/>
        </p:nvSpPr>
        <p:spPr>
          <a:xfrm>
            <a:off x="7026836" y="1297983"/>
            <a:ext cx="958850" cy="185420"/>
          </a:xfrm>
          <a:prstGeom prst="rect">
            <a:avLst/>
          </a:prstGeom>
        </p:spPr>
        <p:txBody>
          <a:bodyPr vert="horz" wrap="square" lIns="0" tIns="12700" rIns="0" bIns="0" rtlCol="0">
            <a:spAutoFit/>
          </a:bodyPr>
          <a:lstStyle/>
          <a:p>
            <a:pPr marL="12700">
              <a:lnSpc>
                <a:spcPct val="100000"/>
              </a:lnSpc>
              <a:spcBef>
                <a:spcPts val="100"/>
              </a:spcBef>
            </a:pPr>
            <a:r>
              <a:rPr sz="1050" spc="-10">
                <a:solidFill>
                  <a:srgbClr val="1D3A8A"/>
                </a:solidFill>
                <a:latin typeface="宋体"/>
                <a:cs typeface="宋体"/>
              </a:rPr>
              <a:t>方法论多维比对</a:t>
            </a:r>
            <a:endParaRPr sz="1050">
              <a:latin typeface="宋体"/>
              <a:cs typeface="宋体"/>
            </a:endParaRPr>
          </a:p>
        </p:txBody>
      </p:sp>
      <p:grpSp>
        <p:nvGrpSpPr>
          <p:cNvPr id="43" name="object 43"/>
          <p:cNvGrpSpPr/>
          <p:nvPr/>
        </p:nvGrpSpPr>
        <p:grpSpPr>
          <a:xfrm>
            <a:off x="7348537" y="1395412"/>
            <a:ext cx="4295775" cy="4914900"/>
            <a:chOff x="7348537" y="1395412"/>
            <a:chExt cx="4295775" cy="4914900"/>
          </a:xfrm>
        </p:grpSpPr>
        <p:sp>
          <p:nvSpPr>
            <p:cNvPr id="44" name="object 44"/>
            <p:cNvSpPr/>
            <p:nvPr/>
          </p:nvSpPr>
          <p:spPr>
            <a:xfrm>
              <a:off x="10310811" y="1395412"/>
              <a:ext cx="1333500" cy="180975"/>
            </a:xfrm>
            <a:custGeom>
              <a:avLst/>
              <a:gdLst/>
              <a:ahLst/>
              <a:cxnLst/>
              <a:rect l="l" t="t" r="r" b="b"/>
              <a:pathLst>
                <a:path w="1333500" h="180975">
                  <a:moveTo>
                    <a:pt x="1248953" y="180974"/>
                  </a:moveTo>
                  <a:lnTo>
                    <a:pt x="84545" y="180974"/>
                  </a:lnTo>
                  <a:lnTo>
                    <a:pt x="78661" y="180395"/>
                  </a:lnTo>
                  <a:lnTo>
                    <a:pt x="35274" y="162424"/>
                  </a:lnTo>
                  <a:lnTo>
                    <a:pt x="9161" y="130604"/>
                  </a:lnTo>
                  <a:lnTo>
                    <a:pt x="0" y="96428"/>
                  </a:lnTo>
                  <a:lnTo>
                    <a:pt x="0" y="90487"/>
                  </a:lnTo>
                  <a:lnTo>
                    <a:pt x="0" y="84545"/>
                  </a:lnTo>
                  <a:lnTo>
                    <a:pt x="11948" y="45155"/>
                  </a:lnTo>
                  <a:lnTo>
                    <a:pt x="45155" y="11948"/>
                  </a:lnTo>
                  <a:lnTo>
                    <a:pt x="84545" y="0"/>
                  </a:lnTo>
                  <a:lnTo>
                    <a:pt x="1248953" y="0"/>
                  </a:lnTo>
                  <a:lnTo>
                    <a:pt x="1288344" y="11948"/>
                  </a:lnTo>
                  <a:lnTo>
                    <a:pt x="1321550" y="45155"/>
                  </a:lnTo>
                  <a:lnTo>
                    <a:pt x="1333499" y="84545"/>
                  </a:lnTo>
                  <a:lnTo>
                    <a:pt x="1333499" y="96428"/>
                  </a:lnTo>
                  <a:lnTo>
                    <a:pt x="1321550" y="135819"/>
                  </a:lnTo>
                  <a:lnTo>
                    <a:pt x="1288344" y="169025"/>
                  </a:lnTo>
                  <a:lnTo>
                    <a:pt x="1254838" y="180395"/>
                  </a:lnTo>
                  <a:lnTo>
                    <a:pt x="1248953" y="180974"/>
                  </a:lnTo>
                  <a:close/>
                </a:path>
              </a:pathLst>
            </a:custGeom>
            <a:solidFill>
              <a:srgbClr val="FFFFFF"/>
            </a:solidFill>
          </p:spPr>
          <p:txBody>
            <a:bodyPr wrap="square" lIns="0" tIns="0" rIns="0" bIns="0" rtlCol="0"/>
            <a:lstStyle/>
            <a:p>
              <a:endParaRPr/>
            </a:p>
          </p:txBody>
        </p:sp>
        <p:sp>
          <p:nvSpPr>
            <p:cNvPr id="45" name="object 45"/>
            <p:cNvSpPr/>
            <p:nvPr/>
          </p:nvSpPr>
          <p:spPr>
            <a:xfrm>
              <a:off x="10310811" y="1395412"/>
              <a:ext cx="1333500" cy="180975"/>
            </a:xfrm>
            <a:custGeom>
              <a:avLst/>
              <a:gdLst/>
              <a:ahLst/>
              <a:cxnLst/>
              <a:rect l="l" t="t" r="r" b="b"/>
              <a:pathLst>
                <a:path w="1333500" h="180975">
                  <a:moveTo>
                    <a:pt x="0" y="90487"/>
                  </a:moveTo>
                  <a:lnTo>
                    <a:pt x="0" y="84545"/>
                  </a:lnTo>
                  <a:lnTo>
                    <a:pt x="579" y="78661"/>
                  </a:lnTo>
                  <a:lnTo>
                    <a:pt x="1738" y="72834"/>
                  </a:lnTo>
                  <a:lnTo>
                    <a:pt x="2897" y="67006"/>
                  </a:lnTo>
                  <a:lnTo>
                    <a:pt x="22301" y="30704"/>
                  </a:lnTo>
                  <a:lnTo>
                    <a:pt x="26503" y="26503"/>
                  </a:lnTo>
                  <a:lnTo>
                    <a:pt x="30704" y="22301"/>
                  </a:lnTo>
                  <a:lnTo>
                    <a:pt x="35274" y="18550"/>
                  </a:lnTo>
                  <a:lnTo>
                    <a:pt x="40215" y="15249"/>
                  </a:lnTo>
                  <a:lnTo>
                    <a:pt x="45155" y="11948"/>
                  </a:lnTo>
                  <a:lnTo>
                    <a:pt x="84545" y="0"/>
                  </a:lnTo>
                  <a:lnTo>
                    <a:pt x="90487" y="0"/>
                  </a:lnTo>
                  <a:lnTo>
                    <a:pt x="1243012" y="0"/>
                  </a:lnTo>
                  <a:lnTo>
                    <a:pt x="1248953" y="0"/>
                  </a:lnTo>
                  <a:lnTo>
                    <a:pt x="1254838" y="579"/>
                  </a:lnTo>
                  <a:lnTo>
                    <a:pt x="1293284" y="15249"/>
                  </a:lnTo>
                  <a:lnTo>
                    <a:pt x="1298224" y="18550"/>
                  </a:lnTo>
                  <a:lnTo>
                    <a:pt x="1324337" y="50370"/>
                  </a:lnTo>
                  <a:lnTo>
                    <a:pt x="1326611" y="55859"/>
                  </a:lnTo>
                  <a:lnTo>
                    <a:pt x="1328885" y="61348"/>
                  </a:lnTo>
                  <a:lnTo>
                    <a:pt x="1330601" y="67006"/>
                  </a:lnTo>
                  <a:lnTo>
                    <a:pt x="1331761" y="72834"/>
                  </a:lnTo>
                  <a:lnTo>
                    <a:pt x="1332920" y="78661"/>
                  </a:lnTo>
                  <a:lnTo>
                    <a:pt x="1333499" y="84545"/>
                  </a:lnTo>
                  <a:lnTo>
                    <a:pt x="1333500" y="90487"/>
                  </a:lnTo>
                  <a:lnTo>
                    <a:pt x="1333499" y="96428"/>
                  </a:lnTo>
                  <a:lnTo>
                    <a:pt x="1332920" y="102313"/>
                  </a:lnTo>
                  <a:lnTo>
                    <a:pt x="1331761" y="108140"/>
                  </a:lnTo>
                  <a:lnTo>
                    <a:pt x="1330601" y="113968"/>
                  </a:lnTo>
                  <a:lnTo>
                    <a:pt x="1328885" y="119626"/>
                  </a:lnTo>
                  <a:lnTo>
                    <a:pt x="1326611" y="125115"/>
                  </a:lnTo>
                  <a:lnTo>
                    <a:pt x="1324337" y="130604"/>
                  </a:lnTo>
                  <a:lnTo>
                    <a:pt x="1298224" y="162424"/>
                  </a:lnTo>
                  <a:lnTo>
                    <a:pt x="1293284" y="165725"/>
                  </a:lnTo>
                  <a:lnTo>
                    <a:pt x="1288344" y="169025"/>
                  </a:lnTo>
                  <a:lnTo>
                    <a:pt x="1248953" y="180974"/>
                  </a:lnTo>
                  <a:lnTo>
                    <a:pt x="1243012" y="180974"/>
                  </a:lnTo>
                  <a:lnTo>
                    <a:pt x="90487" y="180974"/>
                  </a:lnTo>
                  <a:lnTo>
                    <a:pt x="50369" y="171813"/>
                  </a:lnTo>
                  <a:lnTo>
                    <a:pt x="40215" y="165725"/>
                  </a:lnTo>
                  <a:lnTo>
                    <a:pt x="35274" y="162424"/>
                  </a:lnTo>
                  <a:lnTo>
                    <a:pt x="9161" y="130604"/>
                  </a:lnTo>
                  <a:lnTo>
                    <a:pt x="1738" y="108140"/>
                  </a:lnTo>
                  <a:lnTo>
                    <a:pt x="579" y="102313"/>
                  </a:lnTo>
                  <a:lnTo>
                    <a:pt x="0" y="96428"/>
                  </a:lnTo>
                  <a:lnTo>
                    <a:pt x="0" y="90487"/>
                  </a:lnTo>
                  <a:close/>
                </a:path>
              </a:pathLst>
            </a:custGeom>
            <a:ln w="9524">
              <a:solidFill>
                <a:srgbClr val="E4E7EB"/>
              </a:solidFill>
            </a:ln>
          </p:spPr>
          <p:txBody>
            <a:bodyPr wrap="square" lIns="0" tIns="0" rIns="0" bIns="0" rtlCol="0"/>
            <a:lstStyle/>
            <a:p>
              <a:endParaRPr/>
            </a:p>
          </p:txBody>
        </p:sp>
        <p:sp>
          <p:nvSpPr>
            <p:cNvPr id="46" name="object 46"/>
            <p:cNvSpPr/>
            <p:nvPr/>
          </p:nvSpPr>
          <p:spPr>
            <a:xfrm>
              <a:off x="7348537" y="5795962"/>
              <a:ext cx="4295775" cy="514350"/>
            </a:xfrm>
            <a:custGeom>
              <a:avLst/>
              <a:gdLst/>
              <a:ahLst/>
              <a:cxnLst/>
              <a:rect l="l" t="t" r="r" b="b"/>
              <a:pathLst>
                <a:path w="4295775" h="514350">
                  <a:moveTo>
                    <a:pt x="4229027" y="514349"/>
                  </a:moveTo>
                  <a:lnTo>
                    <a:pt x="66746" y="514349"/>
                  </a:lnTo>
                  <a:lnTo>
                    <a:pt x="62101" y="513891"/>
                  </a:lnTo>
                  <a:lnTo>
                    <a:pt x="24240" y="496742"/>
                  </a:lnTo>
                  <a:lnTo>
                    <a:pt x="2287" y="461449"/>
                  </a:lnTo>
                  <a:lnTo>
                    <a:pt x="0" y="447602"/>
                  </a:lnTo>
                  <a:lnTo>
                    <a:pt x="0" y="442912"/>
                  </a:lnTo>
                  <a:lnTo>
                    <a:pt x="0" y="66746"/>
                  </a:lnTo>
                  <a:lnTo>
                    <a:pt x="14645" y="27848"/>
                  </a:lnTo>
                  <a:lnTo>
                    <a:pt x="48433" y="3642"/>
                  </a:lnTo>
                  <a:lnTo>
                    <a:pt x="66746" y="0"/>
                  </a:lnTo>
                  <a:lnTo>
                    <a:pt x="4229027" y="0"/>
                  </a:lnTo>
                  <a:lnTo>
                    <a:pt x="4267925" y="14644"/>
                  </a:lnTo>
                  <a:lnTo>
                    <a:pt x="4292131" y="48432"/>
                  </a:lnTo>
                  <a:lnTo>
                    <a:pt x="4295774" y="66746"/>
                  </a:lnTo>
                  <a:lnTo>
                    <a:pt x="4295774" y="447602"/>
                  </a:lnTo>
                  <a:lnTo>
                    <a:pt x="4281128" y="486500"/>
                  </a:lnTo>
                  <a:lnTo>
                    <a:pt x="4247340" y="510706"/>
                  </a:lnTo>
                  <a:lnTo>
                    <a:pt x="4233672" y="513891"/>
                  </a:lnTo>
                  <a:lnTo>
                    <a:pt x="4229027" y="514349"/>
                  </a:lnTo>
                  <a:close/>
                </a:path>
              </a:pathLst>
            </a:custGeom>
            <a:solidFill>
              <a:srgbClr val="F2F4F5"/>
            </a:solidFill>
          </p:spPr>
          <p:txBody>
            <a:bodyPr wrap="square" lIns="0" tIns="0" rIns="0" bIns="0" rtlCol="0"/>
            <a:lstStyle/>
            <a:p>
              <a:endParaRPr/>
            </a:p>
          </p:txBody>
        </p:sp>
        <p:sp>
          <p:nvSpPr>
            <p:cNvPr id="47" name="object 47"/>
            <p:cNvSpPr/>
            <p:nvPr/>
          </p:nvSpPr>
          <p:spPr>
            <a:xfrm>
              <a:off x="7348537" y="5795962"/>
              <a:ext cx="4295775" cy="514350"/>
            </a:xfrm>
            <a:custGeom>
              <a:avLst/>
              <a:gdLst/>
              <a:ahLst/>
              <a:cxnLst/>
              <a:rect l="l" t="t" r="r" b="b"/>
              <a:pathLst>
                <a:path w="4295775" h="514350">
                  <a:moveTo>
                    <a:pt x="0" y="442912"/>
                  </a:moveTo>
                  <a:lnTo>
                    <a:pt x="0" y="71437"/>
                  </a:lnTo>
                  <a:lnTo>
                    <a:pt x="0" y="66746"/>
                  </a:lnTo>
                  <a:lnTo>
                    <a:pt x="457" y="62100"/>
                  </a:lnTo>
                  <a:lnTo>
                    <a:pt x="17606" y="24240"/>
                  </a:lnTo>
                  <a:lnTo>
                    <a:pt x="20923" y="20923"/>
                  </a:lnTo>
                  <a:lnTo>
                    <a:pt x="24240" y="17606"/>
                  </a:lnTo>
                  <a:lnTo>
                    <a:pt x="62101" y="457"/>
                  </a:lnTo>
                  <a:lnTo>
                    <a:pt x="66746" y="0"/>
                  </a:lnTo>
                  <a:lnTo>
                    <a:pt x="71437" y="0"/>
                  </a:lnTo>
                  <a:lnTo>
                    <a:pt x="4224337" y="0"/>
                  </a:lnTo>
                  <a:lnTo>
                    <a:pt x="4229027" y="0"/>
                  </a:lnTo>
                  <a:lnTo>
                    <a:pt x="4233672" y="457"/>
                  </a:lnTo>
                  <a:lnTo>
                    <a:pt x="4238273" y="1372"/>
                  </a:lnTo>
                  <a:lnTo>
                    <a:pt x="4242874" y="2287"/>
                  </a:lnTo>
                  <a:lnTo>
                    <a:pt x="4264025" y="12038"/>
                  </a:lnTo>
                  <a:lnTo>
                    <a:pt x="4267925" y="14644"/>
                  </a:lnTo>
                  <a:lnTo>
                    <a:pt x="4292131" y="48432"/>
                  </a:lnTo>
                  <a:lnTo>
                    <a:pt x="4295774" y="71437"/>
                  </a:lnTo>
                  <a:lnTo>
                    <a:pt x="4295774" y="442912"/>
                  </a:lnTo>
                  <a:lnTo>
                    <a:pt x="4290336" y="470249"/>
                  </a:lnTo>
                  <a:lnTo>
                    <a:pt x="4288541" y="474583"/>
                  </a:lnTo>
                  <a:lnTo>
                    <a:pt x="4264025" y="502309"/>
                  </a:lnTo>
                  <a:lnTo>
                    <a:pt x="4260125" y="504915"/>
                  </a:lnTo>
                  <a:lnTo>
                    <a:pt x="4256008" y="507116"/>
                  </a:lnTo>
                  <a:lnTo>
                    <a:pt x="4251674" y="508911"/>
                  </a:lnTo>
                  <a:lnTo>
                    <a:pt x="4247340" y="510706"/>
                  </a:lnTo>
                  <a:lnTo>
                    <a:pt x="4242874" y="512061"/>
                  </a:lnTo>
                  <a:lnTo>
                    <a:pt x="4238273" y="512976"/>
                  </a:lnTo>
                  <a:lnTo>
                    <a:pt x="4233672" y="513891"/>
                  </a:lnTo>
                  <a:lnTo>
                    <a:pt x="4229027" y="514349"/>
                  </a:lnTo>
                  <a:lnTo>
                    <a:pt x="4224337" y="514349"/>
                  </a:lnTo>
                  <a:lnTo>
                    <a:pt x="71437" y="514349"/>
                  </a:lnTo>
                  <a:lnTo>
                    <a:pt x="66746" y="514349"/>
                  </a:lnTo>
                  <a:lnTo>
                    <a:pt x="62101" y="513891"/>
                  </a:lnTo>
                  <a:lnTo>
                    <a:pt x="57500" y="512976"/>
                  </a:lnTo>
                  <a:lnTo>
                    <a:pt x="52900" y="512061"/>
                  </a:lnTo>
                  <a:lnTo>
                    <a:pt x="48433" y="510706"/>
                  </a:lnTo>
                  <a:lnTo>
                    <a:pt x="44099" y="508911"/>
                  </a:lnTo>
                  <a:lnTo>
                    <a:pt x="39765" y="507116"/>
                  </a:lnTo>
                  <a:lnTo>
                    <a:pt x="35649" y="504915"/>
                  </a:lnTo>
                  <a:lnTo>
                    <a:pt x="31748" y="502309"/>
                  </a:lnTo>
                  <a:lnTo>
                    <a:pt x="27848" y="499704"/>
                  </a:lnTo>
                  <a:lnTo>
                    <a:pt x="5437" y="470249"/>
                  </a:lnTo>
                  <a:lnTo>
                    <a:pt x="3642" y="465916"/>
                  </a:lnTo>
                  <a:lnTo>
                    <a:pt x="2287" y="461449"/>
                  </a:lnTo>
                  <a:lnTo>
                    <a:pt x="1372" y="456848"/>
                  </a:lnTo>
                  <a:lnTo>
                    <a:pt x="457" y="452248"/>
                  </a:lnTo>
                  <a:lnTo>
                    <a:pt x="0" y="447602"/>
                  </a:lnTo>
                  <a:lnTo>
                    <a:pt x="0" y="442912"/>
                  </a:lnTo>
                  <a:close/>
                </a:path>
              </a:pathLst>
            </a:custGeom>
            <a:ln w="9524">
              <a:solidFill>
                <a:srgbClr val="E4E7EB"/>
              </a:solidFill>
            </a:ln>
          </p:spPr>
          <p:txBody>
            <a:bodyPr wrap="square" lIns="0" tIns="0" rIns="0" bIns="0" rtlCol="0"/>
            <a:lstStyle/>
            <a:p>
              <a:endParaRPr/>
            </a:p>
          </p:txBody>
        </p:sp>
        <p:sp>
          <p:nvSpPr>
            <p:cNvPr id="48" name="object 48"/>
            <p:cNvSpPr/>
            <p:nvPr/>
          </p:nvSpPr>
          <p:spPr>
            <a:xfrm>
              <a:off x="7743824" y="5895974"/>
              <a:ext cx="9525" cy="133350"/>
            </a:xfrm>
            <a:custGeom>
              <a:avLst/>
              <a:gdLst/>
              <a:ahLst/>
              <a:cxnLst/>
              <a:rect l="l" t="t" r="r" b="b"/>
              <a:pathLst>
                <a:path w="9525" h="133350">
                  <a:moveTo>
                    <a:pt x="9524" y="133349"/>
                  </a:moveTo>
                  <a:lnTo>
                    <a:pt x="0" y="133349"/>
                  </a:lnTo>
                  <a:lnTo>
                    <a:pt x="0" y="0"/>
                  </a:lnTo>
                  <a:lnTo>
                    <a:pt x="9524" y="0"/>
                  </a:lnTo>
                  <a:lnTo>
                    <a:pt x="9524" y="133349"/>
                  </a:lnTo>
                  <a:close/>
                </a:path>
              </a:pathLst>
            </a:custGeom>
            <a:solidFill>
              <a:srgbClr val="D0D5DA"/>
            </a:solidFill>
          </p:spPr>
          <p:txBody>
            <a:bodyPr wrap="square" lIns="0" tIns="0" rIns="0" bIns="0" rtlCol="0"/>
            <a:lstStyle/>
            <a:p>
              <a:endParaRPr/>
            </a:p>
          </p:txBody>
        </p:sp>
      </p:grpSp>
      <p:sp>
        <p:nvSpPr>
          <p:cNvPr id="49" name="object 49"/>
          <p:cNvSpPr txBox="1"/>
          <p:nvPr/>
        </p:nvSpPr>
        <p:spPr>
          <a:xfrm>
            <a:off x="7416800" y="5873749"/>
            <a:ext cx="278765" cy="151130"/>
          </a:xfrm>
          <a:prstGeom prst="rect">
            <a:avLst/>
          </a:prstGeom>
        </p:spPr>
        <p:txBody>
          <a:bodyPr vert="horz" wrap="square" lIns="0" tIns="15875" rIns="0" bIns="0" rtlCol="0">
            <a:spAutoFit/>
          </a:bodyPr>
          <a:lstStyle/>
          <a:p>
            <a:pPr marL="12700">
              <a:lnSpc>
                <a:spcPct val="100000"/>
              </a:lnSpc>
              <a:spcBef>
                <a:spcPts val="125"/>
              </a:spcBef>
            </a:pPr>
            <a:r>
              <a:rPr sz="800" spc="-95">
                <a:solidFill>
                  <a:srgbClr val="374050"/>
                </a:solidFill>
                <a:latin typeface="宋体"/>
                <a:cs typeface="宋体"/>
              </a:rPr>
              <a:t>Fig.</a:t>
            </a:r>
            <a:r>
              <a:rPr sz="800" spc="-130">
                <a:solidFill>
                  <a:srgbClr val="374050"/>
                </a:solidFill>
                <a:latin typeface="宋体"/>
                <a:cs typeface="宋体"/>
              </a:rPr>
              <a:t> </a:t>
            </a:r>
            <a:r>
              <a:rPr sz="800" spc="40">
                <a:solidFill>
                  <a:srgbClr val="374050"/>
                </a:solidFill>
                <a:latin typeface="宋体"/>
                <a:cs typeface="宋体"/>
              </a:rPr>
              <a:t>1</a:t>
            </a:r>
            <a:endParaRPr sz="800">
              <a:latin typeface="宋体"/>
              <a:cs typeface="宋体"/>
            </a:endParaRPr>
          </a:p>
        </p:txBody>
      </p:sp>
      <p:sp>
        <p:nvSpPr>
          <p:cNvPr id="50" name="object 50"/>
          <p:cNvSpPr txBox="1"/>
          <p:nvPr/>
        </p:nvSpPr>
        <p:spPr>
          <a:xfrm>
            <a:off x="10355014" y="1397000"/>
            <a:ext cx="1246505" cy="128270"/>
          </a:xfrm>
          <a:prstGeom prst="rect">
            <a:avLst/>
          </a:prstGeom>
        </p:spPr>
        <p:txBody>
          <a:bodyPr vert="horz" wrap="square" lIns="0" tIns="15875" rIns="0" bIns="0" rtlCol="0">
            <a:spAutoFit/>
          </a:bodyPr>
          <a:lstStyle/>
          <a:p>
            <a:pPr marL="38100">
              <a:lnSpc>
                <a:spcPct val="100000"/>
              </a:lnSpc>
              <a:spcBef>
                <a:spcPts val="125"/>
              </a:spcBef>
            </a:pPr>
            <a:r>
              <a:rPr sz="650">
                <a:solidFill>
                  <a:srgbClr val="9CA2AF"/>
                </a:solidFill>
                <a:latin typeface="Courier New"/>
                <a:cs typeface="Courier New"/>
              </a:rPr>
              <a:t>CPI</a:t>
            </a:r>
            <a:r>
              <a:rPr sz="650" i="1">
                <a:solidFill>
                  <a:srgbClr val="9CA2AF"/>
                </a:solidFill>
                <a:latin typeface="Cambria"/>
                <a:cs typeface="Cambria"/>
              </a:rPr>
              <a:t>R</a:t>
            </a:r>
            <a:r>
              <a:rPr sz="675" i="1" baseline="-18518">
                <a:solidFill>
                  <a:srgbClr val="9CA2AF"/>
                </a:solidFill>
                <a:latin typeface="Cambria"/>
                <a:cs typeface="Cambria"/>
              </a:rPr>
              <a:t>i</a:t>
            </a:r>
            <a:r>
              <a:rPr sz="675" i="1" spc="300" baseline="-18518">
                <a:solidFill>
                  <a:srgbClr val="9CA2AF"/>
                </a:solidFill>
                <a:latin typeface="Cambria"/>
                <a:cs typeface="Cambria"/>
              </a:rPr>
              <a:t>  </a:t>
            </a:r>
            <a:r>
              <a:rPr sz="650">
                <a:solidFill>
                  <a:srgbClr val="9CA2AF"/>
                </a:solidFill>
                <a:latin typeface="Courier New"/>
                <a:cs typeface="Courier New"/>
              </a:rPr>
              <a:t>Paradigm</a:t>
            </a:r>
            <a:r>
              <a:rPr sz="650" spc="180">
                <a:solidFill>
                  <a:srgbClr val="9CA2AF"/>
                </a:solidFill>
                <a:latin typeface="Courier New"/>
                <a:cs typeface="Courier New"/>
              </a:rPr>
              <a:t> </a:t>
            </a:r>
            <a:r>
              <a:rPr sz="650" spc="-10">
                <a:solidFill>
                  <a:srgbClr val="9CA2AF"/>
                </a:solidFill>
                <a:latin typeface="Courier New"/>
                <a:cs typeface="Courier New"/>
              </a:rPr>
              <a:t>Contrast</a:t>
            </a:r>
            <a:endParaRPr sz="650">
              <a:latin typeface="Courier New"/>
              <a:cs typeface="Courier New"/>
            </a:endParaRPr>
          </a:p>
        </p:txBody>
      </p:sp>
      <p:grpSp>
        <p:nvGrpSpPr>
          <p:cNvPr id="51" name="object 51"/>
          <p:cNvGrpSpPr/>
          <p:nvPr/>
        </p:nvGrpSpPr>
        <p:grpSpPr>
          <a:xfrm>
            <a:off x="6691559" y="1536749"/>
            <a:ext cx="5044578" cy="4219291"/>
            <a:chOff x="7348537" y="1700212"/>
            <a:chExt cx="4295775" cy="3971925"/>
          </a:xfrm>
        </p:grpSpPr>
        <p:sp>
          <p:nvSpPr>
            <p:cNvPr id="52" name="object 52"/>
            <p:cNvSpPr/>
            <p:nvPr/>
          </p:nvSpPr>
          <p:spPr>
            <a:xfrm>
              <a:off x="7348537" y="1700212"/>
              <a:ext cx="4295775" cy="3971925"/>
            </a:xfrm>
            <a:custGeom>
              <a:avLst/>
              <a:gdLst/>
              <a:ahLst/>
              <a:cxnLst/>
              <a:rect l="l" t="t" r="r" b="b"/>
              <a:pathLst>
                <a:path w="4295775" h="3971925">
                  <a:moveTo>
                    <a:pt x="4229027" y="3971924"/>
                  </a:moveTo>
                  <a:lnTo>
                    <a:pt x="66746" y="3971924"/>
                  </a:lnTo>
                  <a:lnTo>
                    <a:pt x="62101" y="3971466"/>
                  </a:lnTo>
                  <a:lnTo>
                    <a:pt x="24240" y="3954317"/>
                  </a:lnTo>
                  <a:lnTo>
                    <a:pt x="2287" y="3919024"/>
                  </a:lnTo>
                  <a:lnTo>
                    <a:pt x="0" y="3905177"/>
                  </a:lnTo>
                  <a:lnTo>
                    <a:pt x="0" y="3900487"/>
                  </a:lnTo>
                  <a:lnTo>
                    <a:pt x="0" y="66746"/>
                  </a:lnTo>
                  <a:lnTo>
                    <a:pt x="14645" y="27848"/>
                  </a:lnTo>
                  <a:lnTo>
                    <a:pt x="48433" y="3642"/>
                  </a:lnTo>
                  <a:lnTo>
                    <a:pt x="66746" y="0"/>
                  </a:lnTo>
                  <a:lnTo>
                    <a:pt x="4229027" y="0"/>
                  </a:lnTo>
                  <a:lnTo>
                    <a:pt x="4267925" y="14645"/>
                  </a:lnTo>
                  <a:lnTo>
                    <a:pt x="4292131" y="48433"/>
                  </a:lnTo>
                  <a:lnTo>
                    <a:pt x="4295774" y="66746"/>
                  </a:lnTo>
                  <a:lnTo>
                    <a:pt x="4295774" y="3905177"/>
                  </a:lnTo>
                  <a:lnTo>
                    <a:pt x="4281128" y="3944074"/>
                  </a:lnTo>
                  <a:lnTo>
                    <a:pt x="4247340" y="3968281"/>
                  </a:lnTo>
                  <a:lnTo>
                    <a:pt x="4233672" y="3971466"/>
                  </a:lnTo>
                  <a:lnTo>
                    <a:pt x="4229027" y="3971924"/>
                  </a:lnTo>
                  <a:close/>
                </a:path>
              </a:pathLst>
            </a:custGeom>
            <a:solidFill>
              <a:srgbClr val="FFFFFF"/>
            </a:solidFill>
          </p:spPr>
          <p:txBody>
            <a:bodyPr wrap="square" lIns="0" tIns="0" rIns="0" bIns="0" rtlCol="0"/>
            <a:lstStyle/>
            <a:p>
              <a:endParaRPr/>
            </a:p>
          </p:txBody>
        </p:sp>
        <p:sp>
          <p:nvSpPr>
            <p:cNvPr id="53" name="object 53"/>
            <p:cNvSpPr/>
            <p:nvPr/>
          </p:nvSpPr>
          <p:spPr>
            <a:xfrm>
              <a:off x="7348537" y="1700212"/>
              <a:ext cx="4295775" cy="3971925"/>
            </a:xfrm>
            <a:custGeom>
              <a:avLst/>
              <a:gdLst/>
              <a:ahLst/>
              <a:cxnLst/>
              <a:rect l="l" t="t" r="r" b="b"/>
              <a:pathLst>
                <a:path w="4295775" h="3971925">
                  <a:moveTo>
                    <a:pt x="0" y="3900487"/>
                  </a:moveTo>
                  <a:lnTo>
                    <a:pt x="0" y="71437"/>
                  </a:lnTo>
                  <a:lnTo>
                    <a:pt x="0" y="66746"/>
                  </a:lnTo>
                  <a:lnTo>
                    <a:pt x="457" y="62101"/>
                  </a:lnTo>
                  <a:lnTo>
                    <a:pt x="1372" y="57500"/>
                  </a:lnTo>
                  <a:lnTo>
                    <a:pt x="2287" y="52900"/>
                  </a:lnTo>
                  <a:lnTo>
                    <a:pt x="3642" y="48433"/>
                  </a:lnTo>
                  <a:lnTo>
                    <a:pt x="5437" y="44099"/>
                  </a:lnTo>
                  <a:lnTo>
                    <a:pt x="7232" y="39765"/>
                  </a:lnTo>
                  <a:lnTo>
                    <a:pt x="20923" y="20923"/>
                  </a:lnTo>
                  <a:lnTo>
                    <a:pt x="24240" y="17606"/>
                  </a:lnTo>
                  <a:lnTo>
                    <a:pt x="62101" y="457"/>
                  </a:lnTo>
                  <a:lnTo>
                    <a:pt x="66746" y="0"/>
                  </a:lnTo>
                  <a:lnTo>
                    <a:pt x="71437" y="0"/>
                  </a:lnTo>
                  <a:lnTo>
                    <a:pt x="4224337" y="0"/>
                  </a:lnTo>
                  <a:lnTo>
                    <a:pt x="4229027" y="0"/>
                  </a:lnTo>
                  <a:lnTo>
                    <a:pt x="4233672" y="457"/>
                  </a:lnTo>
                  <a:lnTo>
                    <a:pt x="4238273" y="1372"/>
                  </a:lnTo>
                  <a:lnTo>
                    <a:pt x="4242874" y="2287"/>
                  </a:lnTo>
                  <a:lnTo>
                    <a:pt x="4247340" y="3642"/>
                  </a:lnTo>
                  <a:lnTo>
                    <a:pt x="4251674" y="5437"/>
                  </a:lnTo>
                  <a:lnTo>
                    <a:pt x="4256008" y="7232"/>
                  </a:lnTo>
                  <a:lnTo>
                    <a:pt x="4260125" y="9433"/>
                  </a:lnTo>
                  <a:lnTo>
                    <a:pt x="4264025" y="12039"/>
                  </a:lnTo>
                  <a:lnTo>
                    <a:pt x="4267925" y="14645"/>
                  </a:lnTo>
                  <a:lnTo>
                    <a:pt x="4283734" y="31748"/>
                  </a:lnTo>
                  <a:lnTo>
                    <a:pt x="4286340" y="35649"/>
                  </a:lnTo>
                  <a:lnTo>
                    <a:pt x="4295774" y="71437"/>
                  </a:lnTo>
                  <a:lnTo>
                    <a:pt x="4295774" y="3900487"/>
                  </a:lnTo>
                  <a:lnTo>
                    <a:pt x="4283734" y="3940174"/>
                  </a:lnTo>
                  <a:lnTo>
                    <a:pt x="4264025" y="3959884"/>
                  </a:lnTo>
                  <a:lnTo>
                    <a:pt x="4260125" y="3962490"/>
                  </a:lnTo>
                  <a:lnTo>
                    <a:pt x="4238273" y="3970551"/>
                  </a:lnTo>
                  <a:lnTo>
                    <a:pt x="4233672" y="3971466"/>
                  </a:lnTo>
                  <a:lnTo>
                    <a:pt x="4229027" y="3971924"/>
                  </a:lnTo>
                  <a:lnTo>
                    <a:pt x="4224337" y="3971924"/>
                  </a:lnTo>
                  <a:lnTo>
                    <a:pt x="71437" y="3971924"/>
                  </a:lnTo>
                  <a:lnTo>
                    <a:pt x="66746" y="3971924"/>
                  </a:lnTo>
                  <a:lnTo>
                    <a:pt x="62101" y="3971466"/>
                  </a:lnTo>
                  <a:lnTo>
                    <a:pt x="57500" y="3970551"/>
                  </a:lnTo>
                  <a:lnTo>
                    <a:pt x="52900" y="3969636"/>
                  </a:lnTo>
                  <a:lnTo>
                    <a:pt x="48433" y="3968281"/>
                  </a:lnTo>
                  <a:lnTo>
                    <a:pt x="44099" y="3966486"/>
                  </a:lnTo>
                  <a:lnTo>
                    <a:pt x="39765" y="3964691"/>
                  </a:lnTo>
                  <a:lnTo>
                    <a:pt x="35649" y="3962490"/>
                  </a:lnTo>
                  <a:lnTo>
                    <a:pt x="31748" y="3959884"/>
                  </a:lnTo>
                  <a:lnTo>
                    <a:pt x="27848" y="3957278"/>
                  </a:lnTo>
                  <a:lnTo>
                    <a:pt x="3642" y="3923491"/>
                  </a:lnTo>
                  <a:lnTo>
                    <a:pt x="0" y="3905177"/>
                  </a:lnTo>
                  <a:lnTo>
                    <a:pt x="0" y="3900487"/>
                  </a:lnTo>
                  <a:close/>
                </a:path>
              </a:pathLst>
            </a:custGeom>
            <a:ln w="9524">
              <a:solidFill>
                <a:srgbClr val="E4E7EB"/>
              </a:solidFill>
            </a:ln>
          </p:spPr>
          <p:txBody>
            <a:bodyPr wrap="square" lIns="0" tIns="0" rIns="0" bIns="0" rtlCol="0"/>
            <a:lstStyle/>
            <a:p>
              <a:endParaRPr/>
            </a:p>
          </p:txBody>
        </p:sp>
        <p:pic>
          <p:nvPicPr>
            <p:cNvPr id="54" name="object 54"/>
            <p:cNvPicPr/>
            <p:nvPr/>
          </p:nvPicPr>
          <p:blipFill>
            <a:blip r:embed="rId7" cstate="print"/>
            <a:stretch>
              <a:fillRect/>
            </a:stretch>
          </p:blipFill>
          <p:spPr>
            <a:xfrm>
              <a:off x="7686675" y="1857375"/>
              <a:ext cx="3619499" cy="3657599"/>
            </a:xfrm>
            <a:prstGeom prst="rect">
              <a:avLst/>
            </a:prstGeom>
          </p:spPr>
        </p:pic>
      </p:grpSp>
      <p:sp>
        <p:nvSpPr>
          <p:cNvPr id="56" name="object 56"/>
          <p:cNvSpPr txBox="1"/>
          <p:nvPr/>
        </p:nvSpPr>
        <p:spPr>
          <a:xfrm>
            <a:off x="7797254" y="5860129"/>
            <a:ext cx="3787140" cy="170560"/>
          </a:xfrm>
          <a:prstGeom prst="rect">
            <a:avLst/>
          </a:prstGeom>
        </p:spPr>
        <p:txBody>
          <a:bodyPr vert="horz" wrap="square" lIns="0" tIns="16510" rIns="0" bIns="0" rtlCol="0">
            <a:spAutoFit/>
          </a:bodyPr>
          <a:lstStyle/>
          <a:p>
            <a:pPr marL="38100">
              <a:lnSpc>
                <a:spcPct val="100000"/>
              </a:lnSpc>
              <a:spcBef>
                <a:spcPts val="130"/>
              </a:spcBef>
            </a:pPr>
            <a:r>
              <a:rPr sz="1000" err="1">
                <a:solidFill>
                  <a:srgbClr val="6A7280"/>
                </a:solidFill>
                <a:latin typeface="Calibri" panose="020F0502020204030204" pitchFamily="34" charset="0"/>
                <a:ea typeface="Calibri" panose="020F0502020204030204" pitchFamily="34" charset="0"/>
                <a:cs typeface="Calibri" panose="020F0502020204030204" pitchFamily="34" charset="0"/>
              </a:rPr>
              <a:t>CPI</a:t>
            </a:r>
            <a:r>
              <a:rPr lang="en-US" altLang="zh-CN" sz="1000" err="1">
                <a:solidFill>
                  <a:srgbClr val="6A7280"/>
                </a:solidFill>
                <a:latin typeface="Calibri" panose="020F0502020204030204" pitchFamily="34" charset="0"/>
                <a:ea typeface="Calibri" panose="020F0502020204030204" pitchFamily="34" charset="0"/>
                <a:cs typeface="Calibri" panose="020F0502020204030204" pitchFamily="34" charset="0"/>
              </a:rPr>
              <a:t>RI</a:t>
            </a:r>
            <a:r>
              <a:rPr sz="900" spc="-90" err="1">
                <a:solidFill>
                  <a:srgbClr val="6A7280"/>
                </a:solidFill>
                <a:latin typeface="宋体"/>
                <a:cs typeface="宋体"/>
              </a:rPr>
              <a:t>框架的概念概览，对比了</a:t>
            </a:r>
            <a:r>
              <a:rPr sz="900" spc="-60" err="1">
                <a:solidFill>
                  <a:srgbClr val="6A7280"/>
                </a:solidFill>
                <a:latin typeface="Microsoft Sans Serif"/>
                <a:cs typeface="Microsoft Sans Serif"/>
              </a:rPr>
              <a:t>CD</a:t>
            </a:r>
            <a:r>
              <a:rPr sz="900" spc="-90" err="1">
                <a:solidFill>
                  <a:srgbClr val="6A7280"/>
                </a:solidFill>
                <a:latin typeface="宋体"/>
                <a:cs typeface="宋体"/>
              </a:rPr>
              <a:t>模型的位置过拟合问题、</a:t>
            </a:r>
            <a:r>
              <a:rPr sz="900" spc="-50" err="1">
                <a:solidFill>
                  <a:srgbClr val="6A7280"/>
                </a:solidFill>
                <a:latin typeface="Microsoft Sans Serif"/>
                <a:cs typeface="Microsoft Sans Serif"/>
              </a:rPr>
              <a:t>CI</a:t>
            </a:r>
            <a:r>
              <a:rPr sz="900" spc="-85" err="1">
                <a:solidFill>
                  <a:srgbClr val="6A7280"/>
                </a:solidFill>
                <a:latin typeface="宋体"/>
                <a:cs typeface="宋体"/>
              </a:rPr>
              <a:t>模型的交互缺失问</a:t>
            </a:r>
            <a:endParaRPr sz="900">
              <a:latin typeface="宋体"/>
              <a:cs typeface="宋体"/>
            </a:endParaRPr>
          </a:p>
        </p:txBody>
      </p:sp>
      <p:sp>
        <p:nvSpPr>
          <p:cNvPr id="57" name="object 57"/>
          <p:cNvSpPr txBox="1"/>
          <p:nvPr/>
        </p:nvSpPr>
        <p:spPr>
          <a:xfrm>
            <a:off x="7391400" y="6041104"/>
            <a:ext cx="1777364" cy="170560"/>
          </a:xfrm>
          <a:prstGeom prst="rect">
            <a:avLst/>
          </a:prstGeom>
        </p:spPr>
        <p:txBody>
          <a:bodyPr vert="horz" wrap="square" lIns="0" tIns="16510" rIns="0" bIns="0" rtlCol="0">
            <a:spAutoFit/>
          </a:bodyPr>
          <a:lstStyle/>
          <a:p>
            <a:pPr marL="38100">
              <a:lnSpc>
                <a:spcPct val="100000"/>
              </a:lnSpc>
              <a:spcBef>
                <a:spcPts val="130"/>
              </a:spcBef>
            </a:pPr>
            <a:r>
              <a:rPr sz="900" spc="-110">
                <a:solidFill>
                  <a:srgbClr val="6A7280"/>
                </a:solidFill>
                <a:latin typeface="宋体"/>
                <a:cs typeface="宋体"/>
              </a:rPr>
              <a:t>题，以及 </a:t>
            </a:r>
            <a:r>
              <a:rPr sz="1000">
                <a:solidFill>
                  <a:srgbClr val="6A7280"/>
                </a:solidFill>
                <a:latin typeface="Calibri" panose="020F0502020204030204" pitchFamily="34" charset="0"/>
                <a:ea typeface="Calibri" panose="020F0502020204030204" pitchFamily="34" charset="0"/>
                <a:cs typeface="Calibri" panose="020F0502020204030204" pitchFamily="34" charset="0"/>
              </a:rPr>
              <a:t>CPIRi </a:t>
            </a:r>
            <a:r>
              <a:rPr sz="900" spc="-90">
                <a:solidFill>
                  <a:srgbClr val="6A7280"/>
                </a:solidFill>
                <a:latin typeface="宋体"/>
              </a:rPr>
              <a:t>解决此困境的路径。</a:t>
            </a:r>
          </a:p>
        </p:txBody>
      </p:sp>
      <p:pic>
        <p:nvPicPr>
          <p:cNvPr id="58" name="object 58"/>
          <p:cNvPicPr/>
          <p:nvPr/>
        </p:nvPicPr>
        <p:blipFill>
          <a:blip r:embed="rId8" cstate="print"/>
          <a:stretch>
            <a:fillRect/>
          </a:stretch>
        </p:blipFill>
        <p:spPr>
          <a:xfrm>
            <a:off x="0" y="0"/>
            <a:ext cx="12191999" cy="57149"/>
          </a:xfrm>
          <a:prstGeom prst="rect">
            <a:avLst/>
          </a:prstGeom>
        </p:spPr>
      </p:pic>
      <p:pic>
        <p:nvPicPr>
          <p:cNvPr id="59" name="object 59"/>
          <p:cNvPicPr/>
          <p:nvPr/>
        </p:nvPicPr>
        <p:blipFill>
          <a:blip r:embed="rId9" cstate="print"/>
          <a:stretch>
            <a:fillRect/>
          </a:stretch>
        </p:blipFill>
        <p:spPr>
          <a:xfrm>
            <a:off x="0" y="6800849"/>
            <a:ext cx="12191999" cy="5714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360"/>
              <a:t>通道排列不变性 </a:t>
            </a:r>
            <a:r>
              <a:rPr sz="2900" spc="-105">
                <a:latin typeface="Arial"/>
                <a:cs typeface="Arial"/>
              </a:rPr>
              <a:t>(CPI</a:t>
            </a:r>
            <a:r>
              <a:rPr sz="2900" spc="-150">
                <a:latin typeface="Arial"/>
                <a:cs typeface="Arial"/>
              </a:rPr>
              <a:t>) </a:t>
            </a:r>
            <a:r>
              <a:rPr spc="-375"/>
              <a:t>诊断：对位置过拟合的实证验证</a:t>
            </a:r>
            <a:endParaRPr sz="2900">
              <a:latin typeface="Arial"/>
              <a:cs typeface="Arial"/>
            </a:endParaRPr>
          </a:p>
        </p:txBody>
      </p:sp>
      <p:grpSp>
        <p:nvGrpSpPr>
          <p:cNvPr id="3" name="object 3"/>
          <p:cNvGrpSpPr/>
          <p:nvPr/>
        </p:nvGrpSpPr>
        <p:grpSpPr>
          <a:xfrm>
            <a:off x="380999" y="1228724"/>
            <a:ext cx="4391025" cy="1133475"/>
            <a:chOff x="380999" y="1228724"/>
            <a:chExt cx="4391025" cy="1133475"/>
          </a:xfrm>
        </p:grpSpPr>
        <p:sp>
          <p:nvSpPr>
            <p:cNvPr id="4" name="object 4"/>
            <p:cNvSpPr/>
            <p:nvPr/>
          </p:nvSpPr>
          <p:spPr>
            <a:xfrm>
              <a:off x="400049" y="1228724"/>
              <a:ext cx="4371975" cy="1133475"/>
            </a:xfrm>
            <a:custGeom>
              <a:avLst/>
              <a:gdLst/>
              <a:ahLst/>
              <a:cxnLst/>
              <a:rect l="l" t="t" r="r" b="b"/>
              <a:pathLst>
                <a:path w="4371975" h="1133475">
                  <a:moveTo>
                    <a:pt x="4265179" y="1133474"/>
                  </a:moveTo>
                  <a:lnTo>
                    <a:pt x="0" y="1133474"/>
                  </a:lnTo>
                  <a:lnTo>
                    <a:pt x="0" y="0"/>
                  </a:lnTo>
                  <a:lnTo>
                    <a:pt x="4265179" y="0"/>
                  </a:lnTo>
                  <a:lnTo>
                    <a:pt x="4272612" y="732"/>
                  </a:lnTo>
                  <a:lnTo>
                    <a:pt x="4314935" y="15093"/>
                  </a:lnTo>
                  <a:lnTo>
                    <a:pt x="4348541" y="44558"/>
                  </a:lnTo>
                  <a:lnTo>
                    <a:pt x="4368313" y="84640"/>
                  </a:lnTo>
                  <a:lnTo>
                    <a:pt x="4371974" y="106794"/>
                  </a:lnTo>
                  <a:lnTo>
                    <a:pt x="4371974" y="1026679"/>
                  </a:lnTo>
                  <a:lnTo>
                    <a:pt x="4360401" y="1069849"/>
                  </a:lnTo>
                  <a:lnTo>
                    <a:pt x="4333189" y="1105304"/>
                  </a:lnTo>
                  <a:lnTo>
                    <a:pt x="4294481" y="1127646"/>
                  </a:lnTo>
                  <a:lnTo>
                    <a:pt x="4265179" y="1133474"/>
                  </a:lnTo>
                  <a:close/>
                </a:path>
              </a:pathLst>
            </a:custGeom>
            <a:solidFill>
              <a:srgbClr val="F9FAFA"/>
            </a:solidFill>
          </p:spPr>
          <p:txBody>
            <a:bodyPr wrap="square" lIns="0" tIns="0" rIns="0" bIns="0" rtlCol="0"/>
            <a:lstStyle/>
            <a:p>
              <a:endParaRPr/>
            </a:p>
          </p:txBody>
        </p:sp>
        <p:sp>
          <p:nvSpPr>
            <p:cNvPr id="5" name="object 5"/>
            <p:cNvSpPr/>
            <p:nvPr/>
          </p:nvSpPr>
          <p:spPr>
            <a:xfrm>
              <a:off x="380999" y="1228724"/>
              <a:ext cx="38100" cy="1133475"/>
            </a:xfrm>
            <a:custGeom>
              <a:avLst/>
              <a:gdLst/>
              <a:ahLst/>
              <a:cxnLst/>
              <a:rect l="l" t="t" r="r" b="b"/>
              <a:pathLst>
                <a:path w="38100" h="1133475">
                  <a:moveTo>
                    <a:pt x="38099" y="1133474"/>
                  </a:moveTo>
                  <a:lnTo>
                    <a:pt x="0" y="1133474"/>
                  </a:lnTo>
                  <a:lnTo>
                    <a:pt x="0" y="0"/>
                  </a:lnTo>
                  <a:lnTo>
                    <a:pt x="38099" y="0"/>
                  </a:lnTo>
                  <a:lnTo>
                    <a:pt x="38099" y="1133474"/>
                  </a:lnTo>
                  <a:close/>
                </a:path>
              </a:pathLst>
            </a:custGeom>
            <a:solidFill>
              <a:srgbClr val="D97705"/>
            </a:solidFill>
          </p:spPr>
          <p:txBody>
            <a:bodyPr wrap="square" lIns="0" tIns="0" rIns="0" bIns="0" rtlCol="0"/>
            <a:lstStyle/>
            <a:p>
              <a:endParaRPr/>
            </a:p>
          </p:txBody>
        </p:sp>
        <p:sp>
          <p:nvSpPr>
            <p:cNvPr id="6" name="object 6"/>
            <p:cNvSpPr/>
            <p:nvPr/>
          </p:nvSpPr>
          <p:spPr>
            <a:xfrm>
              <a:off x="571499" y="1381124"/>
              <a:ext cx="609600" cy="190500"/>
            </a:xfrm>
            <a:custGeom>
              <a:avLst/>
              <a:gdLst/>
              <a:ahLst/>
              <a:cxnLst/>
              <a:rect l="l" t="t" r="r" b="b"/>
              <a:pathLst>
                <a:path w="609600" h="190500">
                  <a:moveTo>
                    <a:pt x="576552" y="190499"/>
                  </a:moveTo>
                  <a:lnTo>
                    <a:pt x="33047" y="190499"/>
                  </a:lnTo>
                  <a:lnTo>
                    <a:pt x="28187" y="189533"/>
                  </a:lnTo>
                  <a:lnTo>
                    <a:pt x="966" y="162312"/>
                  </a:lnTo>
                  <a:lnTo>
                    <a:pt x="0" y="157452"/>
                  </a:lnTo>
                  <a:lnTo>
                    <a:pt x="0" y="152399"/>
                  </a:lnTo>
                  <a:lnTo>
                    <a:pt x="0" y="33047"/>
                  </a:lnTo>
                  <a:lnTo>
                    <a:pt x="28187" y="966"/>
                  </a:lnTo>
                  <a:lnTo>
                    <a:pt x="33047" y="0"/>
                  </a:lnTo>
                  <a:lnTo>
                    <a:pt x="576552" y="0"/>
                  </a:lnTo>
                  <a:lnTo>
                    <a:pt x="608633" y="28187"/>
                  </a:lnTo>
                  <a:lnTo>
                    <a:pt x="609599" y="33047"/>
                  </a:lnTo>
                  <a:lnTo>
                    <a:pt x="609599" y="157452"/>
                  </a:lnTo>
                  <a:lnTo>
                    <a:pt x="581412" y="189533"/>
                  </a:lnTo>
                  <a:lnTo>
                    <a:pt x="576552" y="190499"/>
                  </a:lnTo>
                  <a:close/>
                </a:path>
              </a:pathLst>
            </a:custGeom>
            <a:solidFill>
              <a:srgbClr val="FEF2C7"/>
            </a:solidFill>
          </p:spPr>
          <p:txBody>
            <a:bodyPr wrap="square" lIns="0" tIns="0" rIns="0" bIns="0" rtlCol="0"/>
            <a:lstStyle/>
            <a:p>
              <a:endParaRPr/>
            </a:p>
          </p:txBody>
        </p:sp>
      </p:grpSp>
      <p:sp>
        <p:nvSpPr>
          <p:cNvPr id="7" name="object 7"/>
          <p:cNvSpPr txBox="1"/>
          <p:nvPr/>
        </p:nvSpPr>
        <p:spPr>
          <a:xfrm>
            <a:off x="634999" y="1387475"/>
            <a:ext cx="482600" cy="162560"/>
          </a:xfrm>
          <a:prstGeom prst="rect">
            <a:avLst/>
          </a:prstGeom>
        </p:spPr>
        <p:txBody>
          <a:bodyPr vert="horz" wrap="square" lIns="0" tIns="12700" rIns="0" bIns="0" rtlCol="0">
            <a:spAutoFit/>
          </a:bodyPr>
          <a:lstStyle/>
          <a:p>
            <a:pPr marL="12700">
              <a:lnSpc>
                <a:spcPct val="100000"/>
              </a:lnSpc>
              <a:spcBef>
                <a:spcPts val="100"/>
              </a:spcBef>
            </a:pPr>
            <a:r>
              <a:rPr sz="900" spc="-15">
                <a:solidFill>
                  <a:srgbClr val="91400D"/>
                </a:solidFill>
                <a:latin typeface="宋体"/>
                <a:cs typeface="宋体"/>
              </a:rPr>
              <a:t>诊断方法</a:t>
            </a:r>
            <a:endParaRPr sz="900">
              <a:latin typeface="宋体"/>
              <a:cs typeface="宋体"/>
            </a:endParaRPr>
          </a:p>
        </p:txBody>
      </p:sp>
      <p:sp>
        <p:nvSpPr>
          <p:cNvPr id="8" name="object 8"/>
          <p:cNvSpPr txBox="1"/>
          <p:nvPr/>
        </p:nvSpPr>
        <p:spPr>
          <a:xfrm>
            <a:off x="1263649" y="1358900"/>
            <a:ext cx="1577340" cy="185420"/>
          </a:xfrm>
          <a:prstGeom prst="rect">
            <a:avLst/>
          </a:prstGeom>
        </p:spPr>
        <p:txBody>
          <a:bodyPr vert="horz" wrap="square" lIns="0" tIns="12700" rIns="0" bIns="0" rtlCol="0">
            <a:spAutoFit/>
          </a:bodyPr>
          <a:lstStyle/>
          <a:p>
            <a:pPr marL="12700">
              <a:lnSpc>
                <a:spcPct val="100000"/>
              </a:lnSpc>
              <a:spcBef>
                <a:spcPts val="100"/>
              </a:spcBef>
            </a:pPr>
            <a:r>
              <a:rPr sz="1050" spc="-25">
                <a:solidFill>
                  <a:srgbClr val="111726"/>
                </a:solidFill>
                <a:latin typeface="宋体"/>
                <a:cs typeface="宋体"/>
              </a:rPr>
              <a:t>通道排列不变性 </a:t>
            </a:r>
            <a:r>
              <a:rPr sz="1050" spc="-80">
                <a:solidFill>
                  <a:srgbClr val="111726"/>
                </a:solidFill>
                <a:latin typeface="宋体"/>
                <a:cs typeface="宋体"/>
              </a:rPr>
              <a:t>(CPI</a:t>
            </a:r>
            <a:r>
              <a:rPr sz="1050" spc="-114">
                <a:solidFill>
                  <a:srgbClr val="111726"/>
                </a:solidFill>
                <a:latin typeface="宋体"/>
                <a:cs typeface="宋体"/>
              </a:rPr>
              <a:t> 诊断)</a:t>
            </a:r>
            <a:endParaRPr sz="1050">
              <a:latin typeface="宋体"/>
              <a:cs typeface="宋体"/>
            </a:endParaRPr>
          </a:p>
        </p:txBody>
      </p:sp>
      <p:sp>
        <p:nvSpPr>
          <p:cNvPr id="9" name="object 9"/>
          <p:cNvSpPr txBox="1"/>
          <p:nvPr/>
        </p:nvSpPr>
        <p:spPr>
          <a:xfrm>
            <a:off x="558800" y="1603806"/>
            <a:ext cx="4044950" cy="587375"/>
          </a:xfrm>
          <a:prstGeom prst="rect">
            <a:avLst/>
          </a:prstGeom>
        </p:spPr>
        <p:txBody>
          <a:bodyPr vert="horz" wrap="square" lIns="0" tIns="16510" rIns="0" bIns="0" rtlCol="0">
            <a:spAutoFit/>
          </a:bodyPr>
          <a:lstStyle/>
          <a:p>
            <a:pPr marL="12700" marR="5080">
              <a:lnSpc>
                <a:spcPct val="121900"/>
              </a:lnSpc>
              <a:spcBef>
                <a:spcPts val="130"/>
              </a:spcBef>
            </a:pPr>
            <a:r>
              <a:rPr sz="1000" spc="-114">
                <a:solidFill>
                  <a:srgbClr val="4A5462"/>
                </a:solidFill>
                <a:latin typeface="宋体"/>
                <a:cs typeface="宋体"/>
              </a:rPr>
              <a:t>为验证原假说，作者引入 </a:t>
            </a:r>
            <a:r>
              <a:rPr sz="950" b="1" spc="-35">
                <a:solidFill>
                  <a:srgbClr val="4A5462"/>
                </a:solidFill>
                <a:latin typeface="Arial"/>
                <a:cs typeface="Arial"/>
              </a:rPr>
              <a:t>CPI</a:t>
            </a:r>
            <a:r>
              <a:rPr sz="950" b="1" spc="-65">
                <a:solidFill>
                  <a:srgbClr val="4A5462"/>
                </a:solidFill>
                <a:latin typeface="Arial"/>
                <a:cs typeface="Arial"/>
              </a:rPr>
              <a:t> </a:t>
            </a:r>
            <a:r>
              <a:rPr sz="1000" b="1" spc="-100">
                <a:solidFill>
                  <a:srgbClr val="4A5462"/>
                </a:solidFill>
                <a:latin typeface="微软雅黑"/>
                <a:cs typeface="微软雅黑"/>
              </a:rPr>
              <a:t>诊断标准</a:t>
            </a:r>
            <a:r>
              <a:rPr sz="1000" spc="-105">
                <a:solidFill>
                  <a:srgbClr val="4A5462"/>
                </a:solidFill>
                <a:latin typeface="宋体"/>
                <a:cs typeface="宋体"/>
              </a:rPr>
              <a:t>：在推理测试阶段，将原本固定的多通道</a:t>
            </a:r>
            <a:r>
              <a:rPr sz="1000" spc="-100">
                <a:solidFill>
                  <a:srgbClr val="4A5462"/>
                </a:solidFill>
                <a:latin typeface="宋体"/>
                <a:cs typeface="宋体"/>
              </a:rPr>
              <a:t>输入进行随机乱序打破</a:t>
            </a:r>
            <a:r>
              <a:rPr sz="1000" spc="-40">
                <a:solidFill>
                  <a:srgbClr val="4A5462"/>
                </a:solidFill>
                <a:latin typeface="宋体"/>
                <a:cs typeface="宋体"/>
              </a:rPr>
              <a:t>（</a:t>
            </a:r>
            <a:r>
              <a:rPr sz="950" spc="-40">
                <a:solidFill>
                  <a:srgbClr val="4A5462"/>
                </a:solidFill>
                <a:latin typeface="Microsoft Sans Serif"/>
                <a:cs typeface="Microsoft Sans Serif"/>
              </a:rPr>
              <a:t>Test</a:t>
            </a:r>
            <a:r>
              <a:rPr sz="950" spc="65">
                <a:solidFill>
                  <a:srgbClr val="4A5462"/>
                </a:solidFill>
                <a:latin typeface="Microsoft Sans Serif"/>
                <a:cs typeface="Microsoft Sans Serif"/>
              </a:rPr>
              <a:t> </a:t>
            </a:r>
            <a:r>
              <a:rPr sz="950" spc="5">
                <a:solidFill>
                  <a:srgbClr val="4A5462"/>
                </a:solidFill>
                <a:latin typeface="Microsoft Sans Serif"/>
                <a:cs typeface="Microsoft Sans Serif"/>
              </a:rPr>
              <a:t>S</a:t>
            </a:r>
            <a:r>
              <a:rPr sz="950" spc="-25">
                <a:solidFill>
                  <a:srgbClr val="4A5462"/>
                </a:solidFill>
                <a:latin typeface="Microsoft Sans Serif"/>
                <a:cs typeface="Microsoft Sans Serif"/>
              </a:rPr>
              <a:t>hu</a:t>
            </a:r>
            <a:r>
              <a:rPr sz="950" spc="-45">
                <a:solidFill>
                  <a:srgbClr val="4A5462"/>
                </a:solidFill>
                <a:latin typeface="Microsoft Sans Serif"/>
                <a:cs typeface="Microsoft Sans Serif"/>
              </a:rPr>
              <a:t>ff</a:t>
            </a:r>
            <a:r>
              <a:rPr sz="950" spc="-10">
                <a:solidFill>
                  <a:srgbClr val="4A5462"/>
                </a:solidFill>
                <a:latin typeface="Microsoft Sans Serif"/>
                <a:cs typeface="Microsoft Sans Serif"/>
              </a:rPr>
              <a:t>l</a:t>
            </a:r>
            <a:r>
              <a:rPr sz="950" spc="-15">
                <a:solidFill>
                  <a:srgbClr val="4A5462"/>
                </a:solidFill>
                <a:latin typeface="Microsoft Sans Serif"/>
                <a:cs typeface="Microsoft Sans Serif"/>
              </a:rPr>
              <a:t>e</a:t>
            </a:r>
            <a:r>
              <a:rPr sz="1000" spc="-515">
                <a:solidFill>
                  <a:srgbClr val="4A5462"/>
                </a:solidFill>
                <a:latin typeface="宋体"/>
                <a:cs typeface="宋体"/>
              </a:rPr>
              <a:t>）</a:t>
            </a:r>
            <a:r>
              <a:rPr sz="1000" spc="-100">
                <a:solidFill>
                  <a:srgbClr val="4A5462"/>
                </a:solidFill>
                <a:latin typeface="宋体"/>
                <a:cs typeface="宋体"/>
              </a:rPr>
              <a:t>，以此评估预测误差是否会产生剧烈波</a:t>
            </a:r>
            <a:r>
              <a:rPr sz="1000" spc="-50">
                <a:solidFill>
                  <a:srgbClr val="4A5462"/>
                </a:solidFill>
                <a:latin typeface="宋体"/>
                <a:cs typeface="宋体"/>
              </a:rPr>
              <a:t> </a:t>
            </a:r>
            <a:r>
              <a:rPr sz="1000" spc="-75">
                <a:solidFill>
                  <a:srgbClr val="4A5462"/>
                </a:solidFill>
                <a:latin typeface="宋体"/>
                <a:cs typeface="宋体"/>
              </a:rPr>
              <a:t>动。</a:t>
            </a:r>
            <a:endParaRPr sz="1000">
              <a:latin typeface="宋体"/>
              <a:cs typeface="宋体"/>
            </a:endParaRPr>
          </a:p>
        </p:txBody>
      </p:sp>
      <p:grpSp>
        <p:nvGrpSpPr>
          <p:cNvPr id="10" name="object 10"/>
          <p:cNvGrpSpPr/>
          <p:nvPr/>
        </p:nvGrpSpPr>
        <p:grpSpPr>
          <a:xfrm>
            <a:off x="385762" y="2519362"/>
            <a:ext cx="4391024" cy="3971186"/>
            <a:chOff x="385762" y="2519362"/>
            <a:chExt cx="4391024" cy="3971186"/>
          </a:xfrm>
        </p:grpSpPr>
        <p:sp>
          <p:nvSpPr>
            <p:cNvPr id="11" name="object 11"/>
            <p:cNvSpPr/>
            <p:nvPr/>
          </p:nvSpPr>
          <p:spPr>
            <a:xfrm>
              <a:off x="395286" y="2537673"/>
              <a:ext cx="4381500" cy="3952875"/>
            </a:xfrm>
            <a:custGeom>
              <a:avLst/>
              <a:gdLst/>
              <a:ahLst/>
              <a:cxnLst/>
              <a:rect l="l" t="t" r="r" b="b"/>
              <a:pathLst>
                <a:path w="4381500" h="3952875">
                  <a:moveTo>
                    <a:pt x="4279154" y="3952874"/>
                  </a:moveTo>
                  <a:lnTo>
                    <a:pt x="102345" y="3952874"/>
                  </a:lnTo>
                  <a:lnTo>
                    <a:pt x="95221" y="3952172"/>
                  </a:lnTo>
                  <a:lnTo>
                    <a:pt x="54661" y="3938409"/>
                  </a:lnTo>
                  <a:lnTo>
                    <a:pt x="22456" y="3910173"/>
                  </a:lnTo>
                  <a:lnTo>
                    <a:pt x="3507" y="3871760"/>
                  </a:lnTo>
                  <a:lnTo>
                    <a:pt x="0" y="3850529"/>
                  </a:lnTo>
                  <a:lnTo>
                    <a:pt x="0" y="3843337"/>
                  </a:lnTo>
                  <a:lnTo>
                    <a:pt x="0" y="102345"/>
                  </a:lnTo>
                  <a:lnTo>
                    <a:pt x="11090" y="60974"/>
                  </a:lnTo>
                  <a:lnTo>
                    <a:pt x="37168" y="26996"/>
                  </a:lnTo>
                  <a:lnTo>
                    <a:pt x="74264" y="5585"/>
                  </a:lnTo>
                  <a:lnTo>
                    <a:pt x="102345" y="0"/>
                  </a:lnTo>
                  <a:lnTo>
                    <a:pt x="4279154" y="0"/>
                  </a:lnTo>
                  <a:lnTo>
                    <a:pt x="4320524" y="11090"/>
                  </a:lnTo>
                  <a:lnTo>
                    <a:pt x="4354502" y="37168"/>
                  </a:lnTo>
                  <a:lnTo>
                    <a:pt x="4375913" y="74263"/>
                  </a:lnTo>
                  <a:lnTo>
                    <a:pt x="4381499" y="102345"/>
                  </a:lnTo>
                  <a:lnTo>
                    <a:pt x="4381499" y="3850529"/>
                  </a:lnTo>
                  <a:lnTo>
                    <a:pt x="4370408" y="3891899"/>
                  </a:lnTo>
                  <a:lnTo>
                    <a:pt x="4344330" y="3925876"/>
                  </a:lnTo>
                  <a:lnTo>
                    <a:pt x="4307234" y="3947288"/>
                  </a:lnTo>
                  <a:lnTo>
                    <a:pt x="4286277" y="3952172"/>
                  </a:lnTo>
                  <a:lnTo>
                    <a:pt x="4279154" y="3952874"/>
                  </a:lnTo>
                  <a:close/>
                </a:path>
              </a:pathLst>
            </a:custGeom>
            <a:solidFill>
              <a:srgbClr val="EFF5FF">
                <a:alpha val="50199"/>
              </a:srgbClr>
            </a:solidFill>
          </p:spPr>
          <p:txBody>
            <a:bodyPr wrap="square" lIns="0" tIns="0" rIns="0" bIns="0" rtlCol="0"/>
            <a:lstStyle/>
            <a:p>
              <a:endParaRPr/>
            </a:p>
          </p:txBody>
        </p:sp>
        <p:sp>
          <p:nvSpPr>
            <p:cNvPr id="12" name="object 12"/>
            <p:cNvSpPr/>
            <p:nvPr/>
          </p:nvSpPr>
          <p:spPr>
            <a:xfrm>
              <a:off x="385762" y="2519362"/>
              <a:ext cx="4381500" cy="3952875"/>
            </a:xfrm>
            <a:custGeom>
              <a:avLst/>
              <a:gdLst/>
              <a:ahLst/>
              <a:cxnLst/>
              <a:rect l="l" t="t" r="r" b="b"/>
              <a:pathLst>
                <a:path w="4381500" h="3952875">
                  <a:moveTo>
                    <a:pt x="0" y="3843337"/>
                  </a:moveTo>
                  <a:lnTo>
                    <a:pt x="0" y="109537"/>
                  </a:lnTo>
                  <a:lnTo>
                    <a:pt x="0" y="102345"/>
                  </a:lnTo>
                  <a:lnTo>
                    <a:pt x="701" y="95221"/>
                  </a:lnTo>
                  <a:lnTo>
                    <a:pt x="2104" y="88167"/>
                  </a:lnTo>
                  <a:lnTo>
                    <a:pt x="3507" y="81113"/>
                  </a:lnTo>
                  <a:lnTo>
                    <a:pt x="5585" y="74263"/>
                  </a:lnTo>
                  <a:lnTo>
                    <a:pt x="26997" y="37168"/>
                  </a:lnTo>
                  <a:lnTo>
                    <a:pt x="32082" y="32082"/>
                  </a:lnTo>
                  <a:lnTo>
                    <a:pt x="37168" y="26996"/>
                  </a:lnTo>
                  <a:lnTo>
                    <a:pt x="42701" y="22456"/>
                  </a:lnTo>
                  <a:lnTo>
                    <a:pt x="48681" y="18460"/>
                  </a:lnTo>
                  <a:lnTo>
                    <a:pt x="54661" y="14464"/>
                  </a:lnTo>
                  <a:lnTo>
                    <a:pt x="88167" y="2104"/>
                  </a:lnTo>
                  <a:lnTo>
                    <a:pt x="95221" y="701"/>
                  </a:lnTo>
                  <a:lnTo>
                    <a:pt x="102345" y="0"/>
                  </a:lnTo>
                  <a:lnTo>
                    <a:pt x="109537" y="0"/>
                  </a:lnTo>
                  <a:lnTo>
                    <a:pt x="4271962" y="0"/>
                  </a:lnTo>
                  <a:lnTo>
                    <a:pt x="4279154" y="0"/>
                  </a:lnTo>
                  <a:lnTo>
                    <a:pt x="4286277" y="701"/>
                  </a:lnTo>
                  <a:lnTo>
                    <a:pt x="4293331" y="2104"/>
                  </a:lnTo>
                  <a:lnTo>
                    <a:pt x="4300385" y="3507"/>
                  </a:lnTo>
                  <a:lnTo>
                    <a:pt x="4332817" y="18460"/>
                  </a:lnTo>
                  <a:lnTo>
                    <a:pt x="4338797" y="22456"/>
                  </a:lnTo>
                  <a:lnTo>
                    <a:pt x="4367034" y="54661"/>
                  </a:lnTo>
                  <a:lnTo>
                    <a:pt x="4379394" y="88167"/>
                  </a:lnTo>
                  <a:lnTo>
                    <a:pt x="4380797" y="95221"/>
                  </a:lnTo>
                  <a:lnTo>
                    <a:pt x="4381499" y="102345"/>
                  </a:lnTo>
                  <a:lnTo>
                    <a:pt x="4381499" y="109537"/>
                  </a:lnTo>
                  <a:lnTo>
                    <a:pt x="4381499" y="3843337"/>
                  </a:lnTo>
                  <a:lnTo>
                    <a:pt x="4381499" y="3850529"/>
                  </a:lnTo>
                  <a:lnTo>
                    <a:pt x="4380797" y="3857652"/>
                  </a:lnTo>
                  <a:lnTo>
                    <a:pt x="4379394" y="3864706"/>
                  </a:lnTo>
                  <a:lnTo>
                    <a:pt x="4377991" y="3871760"/>
                  </a:lnTo>
                  <a:lnTo>
                    <a:pt x="4363038" y="3904192"/>
                  </a:lnTo>
                  <a:lnTo>
                    <a:pt x="4359042" y="3910173"/>
                  </a:lnTo>
                  <a:lnTo>
                    <a:pt x="4326837" y="3938409"/>
                  </a:lnTo>
                  <a:lnTo>
                    <a:pt x="4313879" y="3944536"/>
                  </a:lnTo>
                  <a:lnTo>
                    <a:pt x="4307234" y="3947288"/>
                  </a:lnTo>
                  <a:lnTo>
                    <a:pt x="4300385" y="3949366"/>
                  </a:lnTo>
                  <a:lnTo>
                    <a:pt x="4293331" y="3950769"/>
                  </a:lnTo>
                  <a:lnTo>
                    <a:pt x="4286277" y="3952172"/>
                  </a:lnTo>
                  <a:lnTo>
                    <a:pt x="4279154" y="3952874"/>
                  </a:lnTo>
                  <a:lnTo>
                    <a:pt x="4271962" y="3952874"/>
                  </a:lnTo>
                  <a:lnTo>
                    <a:pt x="109537" y="3952874"/>
                  </a:lnTo>
                  <a:lnTo>
                    <a:pt x="67619" y="3944536"/>
                  </a:lnTo>
                  <a:lnTo>
                    <a:pt x="60974" y="3941783"/>
                  </a:lnTo>
                  <a:lnTo>
                    <a:pt x="26997" y="3915706"/>
                  </a:lnTo>
                  <a:lnTo>
                    <a:pt x="18460" y="3904192"/>
                  </a:lnTo>
                  <a:lnTo>
                    <a:pt x="14464" y="3898212"/>
                  </a:lnTo>
                  <a:lnTo>
                    <a:pt x="11090" y="3891899"/>
                  </a:lnTo>
                  <a:lnTo>
                    <a:pt x="8338" y="3885255"/>
                  </a:lnTo>
                  <a:lnTo>
                    <a:pt x="5585" y="3878610"/>
                  </a:lnTo>
                  <a:lnTo>
                    <a:pt x="3507" y="3871760"/>
                  </a:lnTo>
                  <a:lnTo>
                    <a:pt x="2104" y="3864706"/>
                  </a:lnTo>
                  <a:lnTo>
                    <a:pt x="701" y="3857652"/>
                  </a:lnTo>
                  <a:lnTo>
                    <a:pt x="0" y="3850529"/>
                  </a:lnTo>
                  <a:lnTo>
                    <a:pt x="0" y="3843337"/>
                  </a:lnTo>
                  <a:close/>
                </a:path>
              </a:pathLst>
            </a:custGeom>
            <a:ln w="9524">
              <a:solidFill>
                <a:srgbClr val="DAE9FE"/>
              </a:solidFill>
            </a:ln>
          </p:spPr>
          <p:txBody>
            <a:bodyPr wrap="square" lIns="0" tIns="0" rIns="0" bIns="0" rtlCol="0"/>
            <a:lstStyle/>
            <a:p>
              <a:endParaRPr/>
            </a:p>
          </p:txBody>
        </p:sp>
      </p:grpSp>
      <p:sp>
        <p:nvSpPr>
          <p:cNvPr id="13" name="object 13"/>
          <p:cNvSpPr txBox="1"/>
          <p:nvPr/>
        </p:nvSpPr>
        <p:spPr>
          <a:xfrm>
            <a:off x="663574" y="2663825"/>
            <a:ext cx="2503805" cy="162560"/>
          </a:xfrm>
          <a:prstGeom prst="rect">
            <a:avLst/>
          </a:prstGeom>
        </p:spPr>
        <p:txBody>
          <a:bodyPr vert="horz" wrap="square" lIns="0" tIns="12700" rIns="0" bIns="0" rtlCol="0">
            <a:spAutoFit/>
          </a:bodyPr>
          <a:lstStyle/>
          <a:p>
            <a:pPr marL="12700">
              <a:lnSpc>
                <a:spcPct val="100000"/>
              </a:lnSpc>
              <a:spcBef>
                <a:spcPts val="100"/>
              </a:spcBef>
            </a:pPr>
            <a:r>
              <a:rPr sz="900" spc="5">
                <a:solidFill>
                  <a:srgbClr val="1D40AF"/>
                </a:solidFill>
                <a:latin typeface="宋体"/>
                <a:cs typeface="宋体"/>
              </a:rPr>
              <a:t>具体量化指标：以 </a:t>
            </a:r>
            <a:r>
              <a:rPr sz="900" spc="110">
                <a:solidFill>
                  <a:srgbClr val="1D40AF"/>
                </a:solidFill>
                <a:latin typeface="宋体"/>
                <a:cs typeface="宋体"/>
              </a:rPr>
              <a:t>INFORMER</a:t>
            </a:r>
            <a:r>
              <a:rPr sz="900" spc="60">
                <a:solidFill>
                  <a:srgbClr val="1D40AF"/>
                </a:solidFill>
                <a:latin typeface="宋体"/>
                <a:cs typeface="宋体"/>
              </a:rPr>
              <a:t> (PEMS-</a:t>
            </a:r>
            <a:r>
              <a:rPr sz="900">
                <a:solidFill>
                  <a:srgbClr val="1D40AF"/>
                </a:solidFill>
                <a:latin typeface="宋体"/>
                <a:cs typeface="宋体"/>
              </a:rPr>
              <a:t>08) 为例</a:t>
            </a:r>
            <a:endParaRPr sz="900">
              <a:latin typeface="宋体"/>
              <a:cs typeface="宋体"/>
            </a:endParaRPr>
          </a:p>
        </p:txBody>
      </p:sp>
      <p:grpSp>
        <p:nvGrpSpPr>
          <p:cNvPr id="14" name="object 14"/>
          <p:cNvGrpSpPr/>
          <p:nvPr/>
        </p:nvGrpSpPr>
        <p:grpSpPr>
          <a:xfrm>
            <a:off x="542925" y="3019424"/>
            <a:ext cx="1952625" cy="819150"/>
            <a:chOff x="542925" y="3019424"/>
            <a:chExt cx="1952625" cy="819150"/>
          </a:xfrm>
        </p:grpSpPr>
        <p:sp>
          <p:nvSpPr>
            <p:cNvPr id="15" name="object 15"/>
            <p:cNvSpPr/>
            <p:nvPr/>
          </p:nvSpPr>
          <p:spPr>
            <a:xfrm>
              <a:off x="542925" y="3019424"/>
              <a:ext cx="1952625" cy="819150"/>
            </a:xfrm>
            <a:custGeom>
              <a:avLst/>
              <a:gdLst/>
              <a:ahLst/>
              <a:cxnLst/>
              <a:rect l="l" t="t" r="r" b="b"/>
              <a:pathLst>
                <a:path w="1952625" h="819150">
                  <a:moveTo>
                    <a:pt x="1876424" y="819149"/>
                  </a:moveTo>
                  <a:lnTo>
                    <a:pt x="76199" y="819149"/>
                  </a:lnTo>
                  <a:lnTo>
                    <a:pt x="68693" y="818787"/>
                  </a:lnTo>
                  <a:lnTo>
                    <a:pt x="27882" y="801882"/>
                  </a:lnTo>
                  <a:lnTo>
                    <a:pt x="3262" y="765036"/>
                  </a:lnTo>
                  <a:lnTo>
                    <a:pt x="0" y="742949"/>
                  </a:lnTo>
                  <a:lnTo>
                    <a:pt x="0" y="76199"/>
                  </a:lnTo>
                  <a:lnTo>
                    <a:pt x="12830" y="33857"/>
                  </a:lnTo>
                  <a:lnTo>
                    <a:pt x="47039" y="5800"/>
                  </a:lnTo>
                  <a:lnTo>
                    <a:pt x="76199" y="0"/>
                  </a:lnTo>
                  <a:lnTo>
                    <a:pt x="1876424" y="0"/>
                  </a:lnTo>
                  <a:lnTo>
                    <a:pt x="1918766" y="12829"/>
                  </a:lnTo>
                  <a:lnTo>
                    <a:pt x="1946823" y="47039"/>
                  </a:lnTo>
                  <a:lnTo>
                    <a:pt x="1952624" y="76199"/>
                  </a:lnTo>
                  <a:lnTo>
                    <a:pt x="1952624" y="742949"/>
                  </a:lnTo>
                  <a:lnTo>
                    <a:pt x="1939794" y="785292"/>
                  </a:lnTo>
                  <a:lnTo>
                    <a:pt x="1905584" y="813349"/>
                  </a:lnTo>
                  <a:lnTo>
                    <a:pt x="1876424" y="819149"/>
                  </a:lnTo>
                  <a:close/>
                </a:path>
              </a:pathLst>
            </a:custGeom>
            <a:solidFill>
              <a:srgbClr val="FFFFFF"/>
            </a:solidFill>
          </p:spPr>
          <p:txBody>
            <a:bodyPr wrap="square" lIns="0" tIns="0" rIns="0" bIns="0" rtlCol="0"/>
            <a:lstStyle/>
            <a:p>
              <a:endParaRPr/>
            </a:p>
          </p:txBody>
        </p:sp>
        <p:sp>
          <p:nvSpPr>
            <p:cNvPr id="16" name="object 16"/>
            <p:cNvSpPr/>
            <p:nvPr/>
          </p:nvSpPr>
          <p:spPr>
            <a:xfrm>
              <a:off x="542925" y="3019425"/>
              <a:ext cx="1952625" cy="819150"/>
            </a:xfrm>
            <a:custGeom>
              <a:avLst/>
              <a:gdLst/>
              <a:ahLst/>
              <a:cxnLst/>
              <a:rect l="l" t="t" r="r" b="b"/>
              <a:pathLst>
                <a:path w="1952625" h="819150">
                  <a:moveTo>
                    <a:pt x="1876424" y="819149"/>
                  </a:moveTo>
                  <a:lnTo>
                    <a:pt x="76199" y="819149"/>
                  </a:lnTo>
                  <a:lnTo>
                    <a:pt x="68693" y="818787"/>
                  </a:lnTo>
                  <a:lnTo>
                    <a:pt x="27882" y="801882"/>
                  </a:lnTo>
                  <a:lnTo>
                    <a:pt x="3262" y="765036"/>
                  </a:lnTo>
                  <a:lnTo>
                    <a:pt x="0" y="742949"/>
                  </a:lnTo>
                  <a:lnTo>
                    <a:pt x="0" y="76199"/>
                  </a:lnTo>
                  <a:lnTo>
                    <a:pt x="12830" y="33857"/>
                  </a:lnTo>
                  <a:lnTo>
                    <a:pt x="47039" y="5800"/>
                  </a:lnTo>
                  <a:lnTo>
                    <a:pt x="76199" y="0"/>
                  </a:lnTo>
                  <a:lnTo>
                    <a:pt x="1876424" y="0"/>
                  </a:lnTo>
                  <a:lnTo>
                    <a:pt x="1913245" y="9524"/>
                  </a:lnTo>
                  <a:lnTo>
                    <a:pt x="71822" y="9524"/>
                  </a:lnTo>
                  <a:lnTo>
                    <a:pt x="67486" y="9951"/>
                  </a:lnTo>
                  <a:lnTo>
                    <a:pt x="32149" y="25957"/>
                  </a:lnTo>
                  <a:lnTo>
                    <a:pt x="11660" y="58898"/>
                  </a:lnTo>
                  <a:lnTo>
                    <a:pt x="9524" y="71821"/>
                  </a:lnTo>
                  <a:lnTo>
                    <a:pt x="9524" y="747327"/>
                  </a:lnTo>
                  <a:lnTo>
                    <a:pt x="9833" y="750456"/>
                  </a:lnTo>
                  <a:lnTo>
                    <a:pt x="9952" y="751663"/>
                  </a:lnTo>
                  <a:lnTo>
                    <a:pt x="25957" y="787000"/>
                  </a:lnTo>
                  <a:lnTo>
                    <a:pt x="58898" y="807489"/>
                  </a:lnTo>
                  <a:lnTo>
                    <a:pt x="71822" y="809624"/>
                  </a:lnTo>
                  <a:lnTo>
                    <a:pt x="1913244" y="809624"/>
                  </a:lnTo>
                  <a:lnTo>
                    <a:pt x="1912381" y="810141"/>
                  </a:lnTo>
                  <a:lnTo>
                    <a:pt x="1905584" y="813349"/>
                  </a:lnTo>
                  <a:lnTo>
                    <a:pt x="1898511" y="815887"/>
                  </a:lnTo>
                  <a:lnTo>
                    <a:pt x="1891293" y="817699"/>
                  </a:lnTo>
                  <a:lnTo>
                    <a:pt x="1883931" y="818787"/>
                  </a:lnTo>
                  <a:lnTo>
                    <a:pt x="1876424" y="819149"/>
                  </a:lnTo>
                  <a:close/>
                </a:path>
                <a:path w="1952625" h="819150">
                  <a:moveTo>
                    <a:pt x="1913244" y="809624"/>
                  </a:moveTo>
                  <a:lnTo>
                    <a:pt x="1880802" y="809624"/>
                  </a:lnTo>
                  <a:lnTo>
                    <a:pt x="1885138" y="809197"/>
                  </a:lnTo>
                  <a:lnTo>
                    <a:pt x="1893726" y="807489"/>
                  </a:lnTo>
                  <a:lnTo>
                    <a:pt x="1926666" y="787000"/>
                  </a:lnTo>
                  <a:lnTo>
                    <a:pt x="1942672" y="751663"/>
                  </a:lnTo>
                  <a:lnTo>
                    <a:pt x="1943099" y="747327"/>
                  </a:lnTo>
                  <a:lnTo>
                    <a:pt x="1943099" y="71821"/>
                  </a:lnTo>
                  <a:lnTo>
                    <a:pt x="1929430" y="35517"/>
                  </a:lnTo>
                  <a:lnTo>
                    <a:pt x="1897582" y="12829"/>
                  </a:lnTo>
                  <a:lnTo>
                    <a:pt x="1880802" y="9524"/>
                  </a:lnTo>
                  <a:lnTo>
                    <a:pt x="1913245" y="9524"/>
                  </a:lnTo>
                  <a:lnTo>
                    <a:pt x="1943616" y="40242"/>
                  </a:lnTo>
                  <a:lnTo>
                    <a:pt x="1952624" y="742949"/>
                  </a:lnTo>
                  <a:lnTo>
                    <a:pt x="1952262" y="750456"/>
                  </a:lnTo>
                  <a:lnTo>
                    <a:pt x="1935357" y="791267"/>
                  </a:lnTo>
                  <a:lnTo>
                    <a:pt x="1918894" y="806224"/>
                  </a:lnTo>
                  <a:lnTo>
                    <a:pt x="1913244" y="809624"/>
                  </a:lnTo>
                  <a:close/>
                </a:path>
              </a:pathLst>
            </a:custGeom>
            <a:solidFill>
              <a:srgbClr val="E4E7EB">
                <a:alpha val="59999"/>
              </a:srgbClr>
            </a:solidFill>
          </p:spPr>
          <p:txBody>
            <a:bodyPr wrap="square" lIns="0" tIns="0" rIns="0" bIns="0" rtlCol="0"/>
            <a:lstStyle/>
            <a:p>
              <a:endParaRPr/>
            </a:p>
          </p:txBody>
        </p:sp>
      </p:grpSp>
      <p:sp>
        <p:nvSpPr>
          <p:cNvPr id="17" name="object 17"/>
          <p:cNvSpPr txBox="1"/>
          <p:nvPr/>
        </p:nvSpPr>
        <p:spPr>
          <a:xfrm>
            <a:off x="654049" y="3140075"/>
            <a:ext cx="673735" cy="566420"/>
          </a:xfrm>
          <a:prstGeom prst="rect">
            <a:avLst/>
          </a:prstGeom>
        </p:spPr>
        <p:txBody>
          <a:bodyPr vert="horz" wrap="square" lIns="0" tIns="12700" rIns="0" bIns="0" rtlCol="0">
            <a:spAutoFit/>
          </a:bodyPr>
          <a:lstStyle/>
          <a:p>
            <a:pPr marL="12700">
              <a:lnSpc>
                <a:spcPct val="100000"/>
              </a:lnSpc>
              <a:spcBef>
                <a:spcPts val="100"/>
              </a:spcBef>
            </a:pPr>
            <a:r>
              <a:rPr sz="750" spc="-10">
                <a:solidFill>
                  <a:srgbClr val="9CA2AF"/>
                </a:solidFill>
                <a:latin typeface="宋体"/>
                <a:cs typeface="宋体"/>
              </a:rPr>
              <a:t>模型正常预测</a:t>
            </a:r>
            <a:endParaRPr sz="750">
              <a:latin typeface="宋体"/>
              <a:cs typeface="宋体"/>
            </a:endParaRPr>
          </a:p>
          <a:p>
            <a:pPr marL="12700">
              <a:lnSpc>
                <a:spcPct val="100000"/>
              </a:lnSpc>
            </a:pPr>
            <a:r>
              <a:rPr sz="1500" b="1">
                <a:solidFill>
                  <a:srgbClr val="1F2937"/>
                </a:solidFill>
                <a:latin typeface="Courier New"/>
                <a:cs typeface="Courier New"/>
              </a:rPr>
              <a:t>13.02</a:t>
            </a:r>
            <a:r>
              <a:rPr sz="1500" b="1" spc="-750">
                <a:solidFill>
                  <a:srgbClr val="1F2937"/>
                </a:solidFill>
                <a:latin typeface="Courier New"/>
                <a:cs typeface="Courier New"/>
              </a:rPr>
              <a:t> </a:t>
            </a:r>
            <a:r>
              <a:rPr sz="750" spc="-50">
                <a:solidFill>
                  <a:srgbClr val="6A7280"/>
                </a:solidFill>
                <a:latin typeface="Courier New"/>
                <a:cs typeface="Courier New"/>
              </a:rPr>
              <a:t>%</a:t>
            </a:r>
            <a:endParaRPr sz="750">
              <a:latin typeface="Courier New"/>
              <a:cs typeface="Courier New"/>
            </a:endParaRPr>
          </a:p>
          <a:p>
            <a:pPr marL="12700">
              <a:lnSpc>
                <a:spcPct val="100000"/>
              </a:lnSpc>
              <a:spcBef>
                <a:spcPts val="775"/>
              </a:spcBef>
            </a:pPr>
            <a:r>
              <a:rPr sz="650" spc="-10">
                <a:solidFill>
                  <a:srgbClr val="9CA2AF"/>
                </a:solidFill>
                <a:latin typeface="宋体"/>
                <a:cs typeface="宋体"/>
              </a:rPr>
              <a:t>评估误差 (WAPE)</a:t>
            </a:r>
            <a:endParaRPr sz="650">
              <a:latin typeface="宋体"/>
              <a:cs typeface="宋体"/>
            </a:endParaRPr>
          </a:p>
        </p:txBody>
      </p:sp>
      <p:grpSp>
        <p:nvGrpSpPr>
          <p:cNvPr id="18" name="object 18"/>
          <p:cNvGrpSpPr/>
          <p:nvPr/>
        </p:nvGrpSpPr>
        <p:grpSpPr>
          <a:xfrm>
            <a:off x="542924" y="2714624"/>
            <a:ext cx="4067175" cy="2933700"/>
            <a:chOff x="542924" y="2714624"/>
            <a:chExt cx="4067175" cy="2933700"/>
          </a:xfrm>
        </p:grpSpPr>
        <p:sp>
          <p:nvSpPr>
            <p:cNvPr id="19" name="object 19"/>
            <p:cNvSpPr/>
            <p:nvPr/>
          </p:nvSpPr>
          <p:spPr>
            <a:xfrm>
              <a:off x="542924" y="5638799"/>
              <a:ext cx="4067175" cy="9525"/>
            </a:xfrm>
            <a:custGeom>
              <a:avLst/>
              <a:gdLst/>
              <a:ahLst/>
              <a:cxnLst/>
              <a:rect l="l" t="t" r="r" b="b"/>
              <a:pathLst>
                <a:path w="4067175" h="9525">
                  <a:moveTo>
                    <a:pt x="4067174" y="9524"/>
                  </a:moveTo>
                  <a:lnTo>
                    <a:pt x="0" y="9524"/>
                  </a:lnTo>
                  <a:lnTo>
                    <a:pt x="0" y="0"/>
                  </a:lnTo>
                  <a:lnTo>
                    <a:pt x="4067174" y="0"/>
                  </a:lnTo>
                  <a:lnTo>
                    <a:pt x="4067174" y="9524"/>
                  </a:lnTo>
                  <a:close/>
                </a:path>
              </a:pathLst>
            </a:custGeom>
            <a:solidFill>
              <a:srgbClr val="DAE9FE"/>
            </a:solidFill>
          </p:spPr>
          <p:txBody>
            <a:bodyPr wrap="square" lIns="0" tIns="0" rIns="0" bIns="0" rtlCol="0"/>
            <a:lstStyle/>
            <a:p>
              <a:endParaRPr/>
            </a:p>
          </p:txBody>
        </p:sp>
        <p:pic>
          <p:nvPicPr>
            <p:cNvPr id="20" name="object 20"/>
            <p:cNvPicPr/>
            <p:nvPr/>
          </p:nvPicPr>
          <p:blipFill>
            <a:blip r:embed="rId3" cstate="print"/>
            <a:stretch>
              <a:fillRect/>
            </a:stretch>
          </p:blipFill>
          <p:spPr>
            <a:xfrm>
              <a:off x="542924" y="2714624"/>
              <a:ext cx="76200" cy="76199"/>
            </a:xfrm>
            <a:prstGeom prst="rect">
              <a:avLst/>
            </a:prstGeom>
          </p:spPr>
        </p:pic>
        <p:sp>
          <p:nvSpPr>
            <p:cNvPr id="21" name="object 21"/>
            <p:cNvSpPr/>
            <p:nvPr/>
          </p:nvSpPr>
          <p:spPr>
            <a:xfrm>
              <a:off x="558800" y="4114512"/>
              <a:ext cx="1962150" cy="819150"/>
            </a:xfrm>
            <a:custGeom>
              <a:avLst/>
              <a:gdLst/>
              <a:ahLst/>
              <a:cxnLst/>
              <a:rect l="l" t="t" r="r" b="b"/>
              <a:pathLst>
                <a:path w="1962150" h="819150">
                  <a:moveTo>
                    <a:pt x="1885949" y="819149"/>
                  </a:moveTo>
                  <a:lnTo>
                    <a:pt x="76199" y="819149"/>
                  </a:lnTo>
                  <a:lnTo>
                    <a:pt x="68693" y="818787"/>
                  </a:lnTo>
                  <a:lnTo>
                    <a:pt x="27882" y="801882"/>
                  </a:lnTo>
                  <a:lnTo>
                    <a:pt x="3262" y="765036"/>
                  </a:lnTo>
                  <a:lnTo>
                    <a:pt x="0" y="742949"/>
                  </a:lnTo>
                  <a:lnTo>
                    <a:pt x="0" y="76199"/>
                  </a:lnTo>
                  <a:lnTo>
                    <a:pt x="12829" y="33857"/>
                  </a:lnTo>
                  <a:lnTo>
                    <a:pt x="47039" y="5800"/>
                  </a:lnTo>
                  <a:lnTo>
                    <a:pt x="76199" y="0"/>
                  </a:lnTo>
                  <a:lnTo>
                    <a:pt x="1885949" y="0"/>
                  </a:lnTo>
                  <a:lnTo>
                    <a:pt x="1928292" y="12829"/>
                  </a:lnTo>
                  <a:lnTo>
                    <a:pt x="1956348" y="47039"/>
                  </a:lnTo>
                  <a:lnTo>
                    <a:pt x="1962149" y="76199"/>
                  </a:lnTo>
                  <a:lnTo>
                    <a:pt x="1962149" y="742949"/>
                  </a:lnTo>
                  <a:lnTo>
                    <a:pt x="1949319" y="785292"/>
                  </a:lnTo>
                  <a:lnTo>
                    <a:pt x="1915110" y="813349"/>
                  </a:lnTo>
                  <a:lnTo>
                    <a:pt x="1885949" y="819149"/>
                  </a:lnTo>
                  <a:close/>
                </a:path>
              </a:pathLst>
            </a:custGeom>
            <a:solidFill>
              <a:srgbClr val="FFFAEB"/>
            </a:solidFill>
          </p:spPr>
          <p:txBody>
            <a:bodyPr wrap="square" lIns="0" tIns="0" rIns="0" bIns="0" rtlCol="0"/>
            <a:lstStyle/>
            <a:p>
              <a:endParaRPr/>
            </a:p>
          </p:txBody>
        </p:sp>
        <p:sp>
          <p:nvSpPr>
            <p:cNvPr id="22" name="object 22"/>
            <p:cNvSpPr/>
            <p:nvPr/>
          </p:nvSpPr>
          <p:spPr>
            <a:xfrm>
              <a:off x="558800" y="4092654"/>
              <a:ext cx="1962150" cy="819150"/>
            </a:xfrm>
            <a:custGeom>
              <a:avLst/>
              <a:gdLst/>
              <a:ahLst/>
              <a:cxnLst/>
              <a:rect l="l" t="t" r="r" b="b"/>
              <a:pathLst>
                <a:path w="1962150" h="819150">
                  <a:moveTo>
                    <a:pt x="1885949" y="819149"/>
                  </a:moveTo>
                  <a:lnTo>
                    <a:pt x="76199" y="819149"/>
                  </a:lnTo>
                  <a:lnTo>
                    <a:pt x="68693" y="818787"/>
                  </a:lnTo>
                  <a:lnTo>
                    <a:pt x="27882" y="801882"/>
                  </a:lnTo>
                  <a:lnTo>
                    <a:pt x="3262" y="765036"/>
                  </a:lnTo>
                  <a:lnTo>
                    <a:pt x="0" y="742949"/>
                  </a:lnTo>
                  <a:lnTo>
                    <a:pt x="0" y="76199"/>
                  </a:lnTo>
                  <a:lnTo>
                    <a:pt x="12829" y="33857"/>
                  </a:lnTo>
                  <a:lnTo>
                    <a:pt x="47039" y="5800"/>
                  </a:lnTo>
                  <a:lnTo>
                    <a:pt x="76199" y="0"/>
                  </a:lnTo>
                  <a:lnTo>
                    <a:pt x="1885949" y="0"/>
                  </a:lnTo>
                  <a:lnTo>
                    <a:pt x="1922770" y="9524"/>
                  </a:lnTo>
                  <a:lnTo>
                    <a:pt x="71821" y="9524"/>
                  </a:lnTo>
                  <a:lnTo>
                    <a:pt x="67486" y="9951"/>
                  </a:lnTo>
                  <a:lnTo>
                    <a:pt x="32149" y="25957"/>
                  </a:lnTo>
                  <a:lnTo>
                    <a:pt x="11660" y="58898"/>
                  </a:lnTo>
                  <a:lnTo>
                    <a:pt x="9524" y="71821"/>
                  </a:lnTo>
                  <a:lnTo>
                    <a:pt x="9524" y="747327"/>
                  </a:lnTo>
                  <a:lnTo>
                    <a:pt x="9833" y="750456"/>
                  </a:lnTo>
                  <a:lnTo>
                    <a:pt x="9951" y="751663"/>
                  </a:lnTo>
                  <a:lnTo>
                    <a:pt x="25957" y="787000"/>
                  </a:lnTo>
                  <a:lnTo>
                    <a:pt x="58898" y="807489"/>
                  </a:lnTo>
                  <a:lnTo>
                    <a:pt x="71821" y="809624"/>
                  </a:lnTo>
                  <a:lnTo>
                    <a:pt x="1922770" y="809624"/>
                  </a:lnTo>
                  <a:lnTo>
                    <a:pt x="1921906" y="810141"/>
                  </a:lnTo>
                  <a:lnTo>
                    <a:pt x="1915110" y="813349"/>
                  </a:lnTo>
                  <a:lnTo>
                    <a:pt x="1908036" y="815887"/>
                  </a:lnTo>
                  <a:lnTo>
                    <a:pt x="1900818" y="817699"/>
                  </a:lnTo>
                  <a:lnTo>
                    <a:pt x="1893456" y="818787"/>
                  </a:lnTo>
                  <a:lnTo>
                    <a:pt x="1885949" y="819149"/>
                  </a:lnTo>
                  <a:close/>
                </a:path>
                <a:path w="1962150" h="819150">
                  <a:moveTo>
                    <a:pt x="1922770" y="809624"/>
                  </a:moveTo>
                  <a:lnTo>
                    <a:pt x="1890327" y="809624"/>
                  </a:lnTo>
                  <a:lnTo>
                    <a:pt x="1894663" y="809197"/>
                  </a:lnTo>
                  <a:lnTo>
                    <a:pt x="1903251" y="807489"/>
                  </a:lnTo>
                  <a:lnTo>
                    <a:pt x="1936191" y="787000"/>
                  </a:lnTo>
                  <a:lnTo>
                    <a:pt x="1952197" y="751663"/>
                  </a:lnTo>
                  <a:lnTo>
                    <a:pt x="1952624" y="747327"/>
                  </a:lnTo>
                  <a:lnTo>
                    <a:pt x="1952624" y="71821"/>
                  </a:lnTo>
                  <a:lnTo>
                    <a:pt x="1938955" y="35517"/>
                  </a:lnTo>
                  <a:lnTo>
                    <a:pt x="1907107" y="12829"/>
                  </a:lnTo>
                  <a:lnTo>
                    <a:pt x="1890327" y="9524"/>
                  </a:lnTo>
                  <a:lnTo>
                    <a:pt x="1922770" y="9524"/>
                  </a:lnTo>
                  <a:lnTo>
                    <a:pt x="1953141" y="40242"/>
                  </a:lnTo>
                  <a:lnTo>
                    <a:pt x="1962149" y="742949"/>
                  </a:lnTo>
                  <a:lnTo>
                    <a:pt x="1961787" y="750456"/>
                  </a:lnTo>
                  <a:lnTo>
                    <a:pt x="1944882" y="791267"/>
                  </a:lnTo>
                  <a:lnTo>
                    <a:pt x="1928419" y="806224"/>
                  </a:lnTo>
                  <a:lnTo>
                    <a:pt x="1922770" y="809624"/>
                  </a:lnTo>
                  <a:close/>
                </a:path>
              </a:pathLst>
            </a:custGeom>
            <a:solidFill>
              <a:srgbClr val="FDE68A">
                <a:alpha val="59999"/>
              </a:srgbClr>
            </a:solidFill>
          </p:spPr>
          <p:txBody>
            <a:bodyPr wrap="square" lIns="0" tIns="0" rIns="0" bIns="0" rtlCol="0"/>
            <a:lstStyle/>
            <a:p>
              <a:endParaRPr/>
            </a:p>
          </p:txBody>
        </p:sp>
      </p:grpSp>
      <p:sp>
        <p:nvSpPr>
          <p:cNvPr id="23" name="object 23"/>
          <p:cNvSpPr txBox="1"/>
          <p:nvPr/>
        </p:nvSpPr>
        <p:spPr>
          <a:xfrm>
            <a:off x="530225" y="5731653"/>
            <a:ext cx="4054475" cy="574675"/>
          </a:xfrm>
          <a:prstGeom prst="rect">
            <a:avLst/>
          </a:prstGeom>
        </p:spPr>
        <p:txBody>
          <a:bodyPr vert="horz" wrap="square" lIns="0" tIns="8255" rIns="0" bIns="0" rtlCol="0">
            <a:spAutoFit/>
          </a:bodyPr>
          <a:lstStyle/>
          <a:p>
            <a:pPr marL="12700" marR="5080">
              <a:lnSpc>
                <a:spcPct val="118800"/>
              </a:lnSpc>
              <a:spcBef>
                <a:spcPts val="65"/>
              </a:spcBef>
            </a:pPr>
            <a:r>
              <a:rPr sz="1000" b="1" spc="-100">
                <a:solidFill>
                  <a:srgbClr val="D97705"/>
                </a:solidFill>
                <a:latin typeface="微软雅黑"/>
                <a:cs typeface="微软雅黑"/>
              </a:rPr>
              <a:t>结论支撑</a:t>
            </a:r>
            <a:r>
              <a:rPr sz="1000" b="1" spc="-80">
                <a:solidFill>
                  <a:srgbClr val="D97705"/>
                </a:solidFill>
                <a:latin typeface="Microsoft New Tai Lue"/>
                <a:cs typeface="Microsoft New Tai Lue"/>
              </a:rPr>
              <a:t>： </a:t>
            </a:r>
            <a:r>
              <a:rPr sz="1000" spc="-105">
                <a:solidFill>
                  <a:srgbClr val="1F2937"/>
                </a:solidFill>
                <a:latin typeface="宋体"/>
                <a:cs typeface="宋体"/>
              </a:rPr>
              <a:t>这从实证角度确凿地证明了，当前主流空间交互模块极度依赖固定通</a:t>
            </a:r>
            <a:r>
              <a:rPr sz="1000" spc="-100">
                <a:solidFill>
                  <a:srgbClr val="1F2937"/>
                </a:solidFill>
                <a:latin typeface="宋体"/>
                <a:cs typeface="宋体"/>
              </a:rPr>
              <a:t>道顺序，实则是利用</a:t>
            </a:r>
            <a:r>
              <a:rPr sz="1050">
                <a:solidFill>
                  <a:srgbClr val="1F2937"/>
                </a:solidFill>
                <a:latin typeface="Microsoft Sans Serif"/>
                <a:cs typeface="Microsoft Sans Serif"/>
              </a:rPr>
              <a:t>“</a:t>
            </a:r>
            <a:r>
              <a:rPr sz="1000" spc="-100">
                <a:solidFill>
                  <a:srgbClr val="1F2937"/>
                </a:solidFill>
                <a:latin typeface="宋体"/>
                <a:cs typeface="宋体"/>
              </a:rPr>
              <a:t>位置捷径</a:t>
            </a:r>
            <a:r>
              <a:rPr sz="1050">
                <a:solidFill>
                  <a:srgbClr val="1F2937"/>
                </a:solidFill>
                <a:latin typeface="Microsoft Sans Serif"/>
                <a:cs typeface="Microsoft Sans Serif"/>
              </a:rPr>
              <a:t>”</a:t>
            </a:r>
            <a:r>
              <a:rPr sz="1000" spc="-100">
                <a:solidFill>
                  <a:srgbClr val="1F2937"/>
                </a:solidFill>
                <a:latin typeface="宋体"/>
                <a:cs typeface="宋体"/>
              </a:rPr>
              <a:t>获取局部泛化表象，并未学到真正的物理与业务</a:t>
            </a:r>
            <a:r>
              <a:rPr sz="1000" spc="-90">
                <a:solidFill>
                  <a:srgbClr val="1F2937"/>
                </a:solidFill>
                <a:latin typeface="宋体"/>
                <a:cs typeface="宋体"/>
              </a:rPr>
              <a:t>逻辑羁绊。</a:t>
            </a:r>
            <a:endParaRPr sz="1000">
              <a:latin typeface="宋体"/>
              <a:cs typeface="宋体"/>
            </a:endParaRPr>
          </a:p>
        </p:txBody>
      </p:sp>
      <p:sp>
        <p:nvSpPr>
          <p:cNvPr id="24" name="object 24"/>
          <p:cNvSpPr txBox="1"/>
          <p:nvPr/>
        </p:nvSpPr>
        <p:spPr>
          <a:xfrm>
            <a:off x="654049" y="4190191"/>
            <a:ext cx="1016635" cy="566420"/>
          </a:xfrm>
          <a:prstGeom prst="rect">
            <a:avLst/>
          </a:prstGeom>
        </p:spPr>
        <p:txBody>
          <a:bodyPr vert="horz" wrap="square" lIns="0" tIns="12700" rIns="0" bIns="0" rtlCol="0">
            <a:spAutoFit/>
          </a:bodyPr>
          <a:lstStyle/>
          <a:p>
            <a:pPr marL="12700">
              <a:lnSpc>
                <a:spcPct val="100000"/>
              </a:lnSpc>
              <a:spcBef>
                <a:spcPts val="100"/>
              </a:spcBef>
            </a:pPr>
            <a:r>
              <a:rPr sz="750" spc="-10">
                <a:solidFill>
                  <a:srgbClr val="91400D"/>
                </a:solidFill>
                <a:latin typeface="宋体"/>
                <a:cs typeface="宋体"/>
              </a:rPr>
              <a:t>随机混洗测试</a:t>
            </a:r>
            <a:endParaRPr sz="750">
              <a:latin typeface="宋体"/>
              <a:cs typeface="宋体"/>
            </a:endParaRPr>
          </a:p>
          <a:p>
            <a:pPr marL="12700">
              <a:lnSpc>
                <a:spcPct val="100000"/>
              </a:lnSpc>
            </a:pPr>
            <a:r>
              <a:rPr sz="1500" b="1">
                <a:solidFill>
                  <a:srgbClr val="D97705"/>
                </a:solidFill>
                <a:latin typeface="Courier New"/>
                <a:cs typeface="Courier New"/>
              </a:rPr>
              <a:t>&gt; 118.00</a:t>
            </a:r>
            <a:r>
              <a:rPr sz="1500" b="1" spc="-755">
                <a:solidFill>
                  <a:srgbClr val="D97705"/>
                </a:solidFill>
                <a:latin typeface="Courier New"/>
                <a:cs typeface="Courier New"/>
              </a:rPr>
              <a:t> </a:t>
            </a:r>
            <a:r>
              <a:rPr sz="750" spc="-50">
                <a:solidFill>
                  <a:srgbClr val="D97705"/>
                </a:solidFill>
                <a:latin typeface="Courier New"/>
                <a:cs typeface="Courier New"/>
              </a:rPr>
              <a:t>%</a:t>
            </a:r>
            <a:endParaRPr sz="750">
              <a:latin typeface="Courier New"/>
              <a:cs typeface="Courier New"/>
            </a:endParaRPr>
          </a:p>
          <a:p>
            <a:pPr marL="12700">
              <a:lnSpc>
                <a:spcPct val="100000"/>
              </a:lnSpc>
              <a:spcBef>
                <a:spcPts val="775"/>
              </a:spcBef>
            </a:pPr>
            <a:r>
              <a:rPr sz="650" spc="-10">
                <a:solidFill>
                  <a:srgbClr val="D97705"/>
                </a:solidFill>
                <a:latin typeface="宋体"/>
                <a:cs typeface="宋体"/>
              </a:rPr>
              <a:t>误差惊人飙升</a:t>
            </a:r>
            <a:endParaRPr sz="650">
              <a:latin typeface="宋体"/>
              <a:cs typeface="宋体"/>
            </a:endParaRPr>
          </a:p>
        </p:txBody>
      </p:sp>
      <p:grpSp>
        <p:nvGrpSpPr>
          <p:cNvPr id="25" name="object 25"/>
          <p:cNvGrpSpPr/>
          <p:nvPr/>
        </p:nvGrpSpPr>
        <p:grpSpPr>
          <a:xfrm>
            <a:off x="5076824" y="1228724"/>
            <a:ext cx="6734175" cy="5248275"/>
            <a:chOff x="5076824" y="1228724"/>
            <a:chExt cx="6734175" cy="5248275"/>
          </a:xfrm>
        </p:grpSpPr>
        <p:sp>
          <p:nvSpPr>
            <p:cNvPr id="26" name="object 26"/>
            <p:cNvSpPr/>
            <p:nvPr/>
          </p:nvSpPr>
          <p:spPr>
            <a:xfrm>
              <a:off x="5081587" y="1233487"/>
              <a:ext cx="6724650" cy="5238750"/>
            </a:xfrm>
            <a:custGeom>
              <a:avLst/>
              <a:gdLst/>
              <a:ahLst/>
              <a:cxnLst/>
              <a:rect l="l" t="t" r="r" b="b"/>
              <a:pathLst>
                <a:path w="6724650" h="5238750">
                  <a:moveTo>
                    <a:pt x="6622304" y="5238749"/>
                  </a:moveTo>
                  <a:lnTo>
                    <a:pt x="102345" y="5238749"/>
                  </a:lnTo>
                  <a:lnTo>
                    <a:pt x="95221" y="5238047"/>
                  </a:lnTo>
                  <a:lnTo>
                    <a:pt x="54661" y="5224284"/>
                  </a:lnTo>
                  <a:lnTo>
                    <a:pt x="22456" y="5196048"/>
                  </a:lnTo>
                  <a:lnTo>
                    <a:pt x="3507" y="5157635"/>
                  </a:lnTo>
                  <a:lnTo>
                    <a:pt x="0" y="5136404"/>
                  </a:lnTo>
                  <a:lnTo>
                    <a:pt x="0" y="5129212"/>
                  </a:lnTo>
                  <a:lnTo>
                    <a:pt x="0" y="102345"/>
                  </a:lnTo>
                  <a:lnTo>
                    <a:pt x="11090" y="60974"/>
                  </a:lnTo>
                  <a:lnTo>
                    <a:pt x="37168" y="26997"/>
                  </a:lnTo>
                  <a:lnTo>
                    <a:pt x="74264" y="5585"/>
                  </a:lnTo>
                  <a:lnTo>
                    <a:pt x="102345" y="0"/>
                  </a:lnTo>
                  <a:lnTo>
                    <a:pt x="6622304" y="0"/>
                  </a:lnTo>
                  <a:lnTo>
                    <a:pt x="6663674" y="11090"/>
                  </a:lnTo>
                  <a:lnTo>
                    <a:pt x="6697651" y="37168"/>
                  </a:lnTo>
                  <a:lnTo>
                    <a:pt x="6719062" y="74264"/>
                  </a:lnTo>
                  <a:lnTo>
                    <a:pt x="6724648" y="102345"/>
                  </a:lnTo>
                  <a:lnTo>
                    <a:pt x="6724648" y="5136404"/>
                  </a:lnTo>
                  <a:lnTo>
                    <a:pt x="6713557" y="5177774"/>
                  </a:lnTo>
                  <a:lnTo>
                    <a:pt x="6687480" y="5211751"/>
                  </a:lnTo>
                  <a:lnTo>
                    <a:pt x="6650384" y="5233163"/>
                  </a:lnTo>
                  <a:lnTo>
                    <a:pt x="6629427" y="5238047"/>
                  </a:lnTo>
                  <a:lnTo>
                    <a:pt x="6622304" y="5238749"/>
                  </a:lnTo>
                  <a:close/>
                </a:path>
              </a:pathLst>
            </a:custGeom>
            <a:solidFill>
              <a:srgbClr val="F9FAFA"/>
            </a:solidFill>
          </p:spPr>
          <p:txBody>
            <a:bodyPr wrap="square" lIns="0" tIns="0" rIns="0" bIns="0" rtlCol="0"/>
            <a:lstStyle/>
            <a:p>
              <a:endParaRPr/>
            </a:p>
          </p:txBody>
        </p:sp>
        <p:sp>
          <p:nvSpPr>
            <p:cNvPr id="27" name="object 27"/>
            <p:cNvSpPr/>
            <p:nvPr/>
          </p:nvSpPr>
          <p:spPr>
            <a:xfrm>
              <a:off x="5081587" y="1233487"/>
              <a:ext cx="6724650" cy="5238750"/>
            </a:xfrm>
            <a:custGeom>
              <a:avLst/>
              <a:gdLst/>
              <a:ahLst/>
              <a:cxnLst/>
              <a:rect l="l" t="t" r="r" b="b"/>
              <a:pathLst>
                <a:path w="6724650" h="5238750">
                  <a:moveTo>
                    <a:pt x="0" y="5129212"/>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6615111" y="0"/>
                  </a:lnTo>
                  <a:lnTo>
                    <a:pt x="6622304" y="0"/>
                  </a:lnTo>
                  <a:lnTo>
                    <a:pt x="6629427" y="701"/>
                  </a:lnTo>
                  <a:lnTo>
                    <a:pt x="6669986" y="14464"/>
                  </a:lnTo>
                  <a:lnTo>
                    <a:pt x="6675966" y="18460"/>
                  </a:lnTo>
                  <a:lnTo>
                    <a:pt x="6681946" y="22456"/>
                  </a:lnTo>
                  <a:lnTo>
                    <a:pt x="6687480" y="26997"/>
                  </a:lnTo>
                  <a:lnTo>
                    <a:pt x="6692565" y="32082"/>
                  </a:lnTo>
                  <a:lnTo>
                    <a:pt x="6697651" y="37168"/>
                  </a:lnTo>
                  <a:lnTo>
                    <a:pt x="6719062" y="74264"/>
                  </a:lnTo>
                  <a:lnTo>
                    <a:pt x="6722543" y="88167"/>
                  </a:lnTo>
                  <a:lnTo>
                    <a:pt x="6723947" y="95221"/>
                  </a:lnTo>
                  <a:lnTo>
                    <a:pt x="6724648" y="102345"/>
                  </a:lnTo>
                  <a:lnTo>
                    <a:pt x="6724649" y="109537"/>
                  </a:lnTo>
                  <a:lnTo>
                    <a:pt x="6724649" y="5129212"/>
                  </a:lnTo>
                  <a:lnTo>
                    <a:pt x="6724648" y="5136404"/>
                  </a:lnTo>
                  <a:lnTo>
                    <a:pt x="6723947" y="5143526"/>
                  </a:lnTo>
                  <a:lnTo>
                    <a:pt x="6722543" y="5150581"/>
                  </a:lnTo>
                  <a:lnTo>
                    <a:pt x="6721140" y="5157635"/>
                  </a:lnTo>
                  <a:lnTo>
                    <a:pt x="6702192" y="5196048"/>
                  </a:lnTo>
                  <a:lnTo>
                    <a:pt x="6669986" y="5224284"/>
                  </a:lnTo>
                  <a:lnTo>
                    <a:pt x="6629427" y="5238047"/>
                  </a:lnTo>
                  <a:lnTo>
                    <a:pt x="6615111" y="5238749"/>
                  </a:lnTo>
                  <a:lnTo>
                    <a:pt x="109537" y="5238749"/>
                  </a:lnTo>
                  <a:lnTo>
                    <a:pt x="67619" y="5230411"/>
                  </a:lnTo>
                  <a:lnTo>
                    <a:pt x="60974" y="5227658"/>
                  </a:lnTo>
                  <a:lnTo>
                    <a:pt x="26997" y="5201580"/>
                  </a:lnTo>
                  <a:lnTo>
                    <a:pt x="18460" y="5190067"/>
                  </a:lnTo>
                  <a:lnTo>
                    <a:pt x="14464" y="5184087"/>
                  </a:lnTo>
                  <a:lnTo>
                    <a:pt x="11090" y="5177774"/>
                  </a:lnTo>
                  <a:lnTo>
                    <a:pt x="8338" y="5171129"/>
                  </a:lnTo>
                  <a:lnTo>
                    <a:pt x="5585" y="5164484"/>
                  </a:lnTo>
                  <a:lnTo>
                    <a:pt x="3507" y="5157635"/>
                  </a:lnTo>
                  <a:lnTo>
                    <a:pt x="2104" y="5150581"/>
                  </a:lnTo>
                  <a:lnTo>
                    <a:pt x="701" y="5143526"/>
                  </a:lnTo>
                  <a:lnTo>
                    <a:pt x="0" y="5136404"/>
                  </a:lnTo>
                  <a:lnTo>
                    <a:pt x="0" y="5129212"/>
                  </a:lnTo>
                  <a:close/>
                </a:path>
              </a:pathLst>
            </a:custGeom>
            <a:ln w="9524">
              <a:solidFill>
                <a:srgbClr val="E4E7EB"/>
              </a:solidFill>
            </a:ln>
          </p:spPr>
          <p:txBody>
            <a:bodyPr wrap="square" lIns="0" tIns="0" rIns="0" bIns="0" rtlCol="0"/>
            <a:lstStyle/>
            <a:p>
              <a:endParaRPr/>
            </a:p>
          </p:txBody>
        </p:sp>
        <p:sp>
          <p:nvSpPr>
            <p:cNvPr id="28" name="object 28"/>
            <p:cNvSpPr/>
            <p:nvPr/>
          </p:nvSpPr>
          <p:spPr>
            <a:xfrm>
              <a:off x="5276849" y="1466849"/>
              <a:ext cx="57150" cy="114300"/>
            </a:xfrm>
            <a:custGeom>
              <a:avLst/>
              <a:gdLst/>
              <a:ahLst/>
              <a:cxnLst/>
              <a:rect l="l" t="t" r="r" b="b"/>
              <a:pathLst>
                <a:path w="57150" h="114300">
                  <a:moveTo>
                    <a:pt x="40626" y="114299"/>
                  </a:moveTo>
                  <a:lnTo>
                    <a:pt x="16523" y="114299"/>
                  </a:lnTo>
                  <a:lnTo>
                    <a:pt x="14093" y="113816"/>
                  </a:lnTo>
                  <a:lnTo>
                    <a:pt x="0" y="97776"/>
                  </a:lnTo>
                  <a:lnTo>
                    <a:pt x="0" y="95249"/>
                  </a:lnTo>
                  <a:lnTo>
                    <a:pt x="0" y="16523"/>
                  </a:lnTo>
                  <a:lnTo>
                    <a:pt x="16523" y="0"/>
                  </a:lnTo>
                  <a:lnTo>
                    <a:pt x="40626" y="0"/>
                  </a:lnTo>
                  <a:lnTo>
                    <a:pt x="57149" y="16523"/>
                  </a:lnTo>
                  <a:lnTo>
                    <a:pt x="57149" y="97776"/>
                  </a:lnTo>
                  <a:lnTo>
                    <a:pt x="43056" y="113816"/>
                  </a:lnTo>
                  <a:lnTo>
                    <a:pt x="40626" y="114299"/>
                  </a:lnTo>
                  <a:close/>
                </a:path>
              </a:pathLst>
            </a:custGeom>
            <a:solidFill>
              <a:srgbClr val="1D40AF"/>
            </a:solidFill>
          </p:spPr>
          <p:txBody>
            <a:bodyPr wrap="square" lIns="0" tIns="0" rIns="0" bIns="0" rtlCol="0"/>
            <a:lstStyle/>
            <a:p>
              <a:endParaRPr/>
            </a:p>
          </p:txBody>
        </p:sp>
      </p:grpSp>
      <p:sp>
        <p:nvSpPr>
          <p:cNvPr id="29" name="object 29"/>
          <p:cNvSpPr txBox="1"/>
          <p:nvPr/>
        </p:nvSpPr>
        <p:spPr>
          <a:xfrm>
            <a:off x="5395564" y="1406525"/>
            <a:ext cx="2964180" cy="185420"/>
          </a:xfrm>
          <a:prstGeom prst="rect">
            <a:avLst/>
          </a:prstGeom>
        </p:spPr>
        <p:txBody>
          <a:bodyPr vert="horz" wrap="square" lIns="0" tIns="12700" rIns="0" bIns="0" rtlCol="0">
            <a:spAutoFit/>
          </a:bodyPr>
          <a:lstStyle/>
          <a:p>
            <a:pPr marL="12700">
              <a:lnSpc>
                <a:spcPct val="100000"/>
              </a:lnSpc>
              <a:spcBef>
                <a:spcPts val="100"/>
              </a:spcBef>
            </a:pPr>
            <a:r>
              <a:rPr sz="1050" spc="-40">
                <a:solidFill>
                  <a:srgbClr val="1D40AF"/>
                </a:solidFill>
                <a:latin typeface="宋体"/>
                <a:cs typeface="宋体"/>
              </a:rPr>
              <a:t>各流行模型在通道顺序混洗</a:t>
            </a:r>
            <a:r>
              <a:rPr sz="1050" spc="-25">
                <a:solidFill>
                  <a:srgbClr val="1D40AF"/>
                </a:solidFill>
                <a:latin typeface="宋体"/>
                <a:cs typeface="宋体"/>
              </a:rPr>
              <a:t>(CPI)</a:t>
            </a:r>
            <a:r>
              <a:rPr sz="1050" spc="-45">
                <a:solidFill>
                  <a:srgbClr val="1D40AF"/>
                </a:solidFill>
                <a:latin typeface="宋体"/>
                <a:cs typeface="宋体"/>
              </a:rPr>
              <a:t>条件下的误差表现</a:t>
            </a:r>
            <a:endParaRPr sz="1050">
              <a:latin typeface="宋体"/>
              <a:cs typeface="宋体"/>
            </a:endParaRPr>
          </a:p>
        </p:txBody>
      </p:sp>
      <p:grpSp>
        <p:nvGrpSpPr>
          <p:cNvPr id="30" name="object 30"/>
          <p:cNvGrpSpPr/>
          <p:nvPr/>
        </p:nvGrpSpPr>
        <p:grpSpPr>
          <a:xfrm>
            <a:off x="5281612" y="1738312"/>
            <a:ext cx="6324600" cy="4095750"/>
            <a:chOff x="5281612" y="1738312"/>
            <a:chExt cx="6324600" cy="4095750"/>
          </a:xfrm>
        </p:grpSpPr>
        <p:sp>
          <p:nvSpPr>
            <p:cNvPr id="31" name="object 31"/>
            <p:cNvSpPr/>
            <p:nvPr/>
          </p:nvSpPr>
          <p:spPr>
            <a:xfrm>
              <a:off x="5281612" y="1738312"/>
              <a:ext cx="6324600" cy="4095750"/>
            </a:xfrm>
            <a:custGeom>
              <a:avLst/>
              <a:gdLst/>
              <a:ahLst/>
              <a:cxnLst/>
              <a:rect l="l" t="t" r="r" b="b"/>
              <a:pathLst>
                <a:path w="6324600" h="4095750">
                  <a:moveTo>
                    <a:pt x="6257852" y="4095749"/>
                  </a:moveTo>
                  <a:lnTo>
                    <a:pt x="66746" y="4095749"/>
                  </a:lnTo>
                  <a:lnTo>
                    <a:pt x="62101" y="4095291"/>
                  </a:lnTo>
                  <a:lnTo>
                    <a:pt x="24240" y="4078142"/>
                  </a:lnTo>
                  <a:lnTo>
                    <a:pt x="2287" y="4042849"/>
                  </a:lnTo>
                  <a:lnTo>
                    <a:pt x="0" y="4029002"/>
                  </a:lnTo>
                  <a:lnTo>
                    <a:pt x="0" y="4024312"/>
                  </a:lnTo>
                  <a:lnTo>
                    <a:pt x="0" y="66746"/>
                  </a:lnTo>
                  <a:lnTo>
                    <a:pt x="14645" y="27848"/>
                  </a:lnTo>
                  <a:lnTo>
                    <a:pt x="48433" y="3642"/>
                  </a:lnTo>
                  <a:lnTo>
                    <a:pt x="66746" y="0"/>
                  </a:lnTo>
                  <a:lnTo>
                    <a:pt x="6257852" y="0"/>
                  </a:lnTo>
                  <a:lnTo>
                    <a:pt x="6296750" y="14645"/>
                  </a:lnTo>
                  <a:lnTo>
                    <a:pt x="6320954" y="48433"/>
                  </a:lnTo>
                  <a:lnTo>
                    <a:pt x="6324598" y="66746"/>
                  </a:lnTo>
                  <a:lnTo>
                    <a:pt x="6324598" y="4029002"/>
                  </a:lnTo>
                  <a:lnTo>
                    <a:pt x="6309952" y="4067900"/>
                  </a:lnTo>
                  <a:lnTo>
                    <a:pt x="6276165" y="4092105"/>
                  </a:lnTo>
                  <a:lnTo>
                    <a:pt x="6262498" y="4095291"/>
                  </a:lnTo>
                  <a:lnTo>
                    <a:pt x="6257852" y="4095749"/>
                  </a:lnTo>
                  <a:close/>
                </a:path>
              </a:pathLst>
            </a:custGeom>
            <a:solidFill>
              <a:srgbClr val="FFFFFF"/>
            </a:solidFill>
          </p:spPr>
          <p:txBody>
            <a:bodyPr wrap="square" lIns="0" tIns="0" rIns="0" bIns="0" rtlCol="0"/>
            <a:lstStyle/>
            <a:p>
              <a:endParaRPr/>
            </a:p>
          </p:txBody>
        </p:sp>
        <p:sp>
          <p:nvSpPr>
            <p:cNvPr id="32" name="object 32"/>
            <p:cNvSpPr/>
            <p:nvPr/>
          </p:nvSpPr>
          <p:spPr>
            <a:xfrm>
              <a:off x="5281612" y="1738312"/>
              <a:ext cx="6324600" cy="4095750"/>
            </a:xfrm>
            <a:custGeom>
              <a:avLst/>
              <a:gdLst/>
              <a:ahLst/>
              <a:cxnLst/>
              <a:rect l="l" t="t" r="r" b="b"/>
              <a:pathLst>
                <a:path w="6324600" h="4095750">
                  <a:moveTo>
                    <a:pt x="0" y="4024312"/>
                  </a:moveTo>
                  <a:lnTo>
                    <a:pt x="0" y="71437"/>
                  </a:lnTo>
                  <a:lnTo>
                    <a:pt x="0" y="66746"/>
                  </a:lnTo>
                  <a:lnTo>
                    <a:pt x="457" y="62101"/>
                  </a:lnTo>
                  <a:lnTo>
                    <a:pt x="1372" y="57500"/>
                  </a:lnTo>
                  <a:lnTo>
                    <a:pt x="2287" y="52900"/>
                  </a:lnTo>
                  <a:lnTo>
                    <a:pt x="3642" y="48433"/>
                  </a:lnTo>
                  <a:lnTo>
                    <a:pt x="5437" y="44099"/>
                  </a:lnTo>
                  <a:lnTo>
                    <a:pt x="7232" y="39765"/>
                  </a:lnTo>
                  <a:lnTo>
                    <a:pt x="9433" y="35649"/>
                  </a:lnTo>
                  <a:lnTo>
                    <a:pt x="12039" y="31748"/>
                  </a:lnTo>
                  <a:lnTo>
                    <a:pt x="14645" y="27848"/>
                  </a:lnTo>
                  <a:lnTo>
                    <a:pt x="17606" y="24240"/>
                  </a:lnTo>
                  <a:lnTo>
                    <a:pt x="20923" y="20923"/>
                  </a:lnTo>
                  <a:lnTo>
                    <a:pt x="24240" y="17606"/>
                  </a:lnTo>
                  <a:lnTo>
                    <a:pt x="44099" y="5437"/>
                  </a:lnTo>
                  <a:lnTo>
                    <a:pt x="48433" y="3642"/>
                  </a:lnTo>
                  <a:lnTo>
                    <a:pt x="52900" y="2287"/>
                  </a:lnTo>
                  <a:lnTo>
                    <a:pt x="57500" y="1372"/>
                  </a:lnTo>
                  <a:lnTo>
                    <a:pt x="62101" y="457"/>
                  </a:lnTo>
                  <a:lnTo>
                    <a:pt x="66746" y="0"/>
                  </a:lnTo>
                  <a:lnTo>
                    <a:pt x="71437" y="0"/>
                  </a:lnTo>
                  <a:lnTo>
                    <a:pt x="6253162" y="0"/>
                  </a:lnTo>
                  <a:lnTo>
                    <a:pt x="6257852" y="0"/>
                  </a:lnTo>
                  <a:lnTo>
                    <a:pt x="6262498" y="457"/>
                  </a:lnTo>
                  <a:lnTo>
                    <a:pt x="6267098" y="1372"/>
                  </a:lnTo>
                  <a:lnTo>
                    <a:pt x="6271698" y="2287"/>
                  </a:lnTo>
                  <a:lnTo>
                    <a:pt x="6276165" y="3642"/>
                  </a:lnTo>
                  <a:lnTo>
                    <a:pt x="6280499" y="5437"/>
                  </a:lnTo>
                  <a:lnTo>
                    <a:pt x="6284833" y="7232"/>
                  </a:lnTo>
                  <a:lnTo>
                    <a:pt x="6303675" y="20923"/>
                  </a:lnTo>
                  <a:lnTo>
                    <a:pt x="6306991" y="24240"/>
                  </a:lnTo>
                  <a:lnTo>
                    <a:pt x="6324140" y="62101"/>
                  </a:lnTo>
                  <a:lnTo>
                    <a:pt x="6324599" y="71437"/>
                  </a:lnTo>
                  <a:lnTo>
                    <a:pt x="6324599" y="4024312"/>
                  </a:lnTo>
                  <a:lnTo>
                    <a:pt x="6312558" y="4064000"/>
                  </a:lnTo>
                  <a:lnTo>
                    <a:pt x="6280499" y="4090311"/>
                  </a:lnTo>
                  <a:lnTo>
                    <a:pt x="6276165" y="4092105"/>
                  </a:lnTo>
                  <a:lnTo>
                    <a:pt x="6253162" y="4095749"/>
                  </a:lnTo>
                  <a:lnTo>
                    <a:pt x="71437" y="4095749"/>
                  </a:lnTo>
                  <a:lnTo>
                    <a:pt x="66746" y="4095749"/>
                  </a:lnTo>
                  <a:lnTo>
                    <a:pt x="62101" y="4095291"/>
                  </a:lnTo>
                  <a:lnTo>
                    <a:pt x="57500" y="4094376"/>
                  </a:lnTo>
                  <a:lnTo>
                    <a:pt x="52900" y="4093461"/>
                  </a:lnTo>
                  <a:lnTo>
                    <a:pt x="31748" y="4083709"/>
                  </a:lnTo>
                  <a:lnTo>
                    <a:pt x="27848" y="4081103"/>
                  </a:lnTo>
                  <a:lnTo>
                    <a:pt x="5437" y="4051649"/>
                  </a:lnTo>
                  <a:lnTo>
                    <a:pt x="3642" y="4047316"/>
                  </a:lnTo>
                  <a:lnTo>
                    <a:pt x="2287" y="4042849"/>
                  </a:lnTo>
                  <a:lnTo>
                    <a:pt x="1372" y="4038248"/>
                  </a:lnTo>
                  <a:lnTo>
                    <a:pt x="457" y="4033647"/>
                  </a:lnTo>
                  <a:lnTo>
                    <a:pt x="0" y="4029002"/>
                  </a:lnTo>
                  <a:lnTo>
                    <a:pt x="0" y="4024312"/>
                  </a:lnTo>
                  <a:close/>
                </a:path>
              </a:pathLst>
            </a:custGeom>
            <a:ln w="9524">
              <a:solidFill>
                <a:srgbClr val="F2F4F5"/>
              </a:solidFill>
            </a:ln>
          </p:spPr>
          <p:txBody>
            <a:bodyPr wrap="square" lIns="0" tIns="0" rIns="0" bIns="0" rtlCol="0"/>
            <a:lstStyle/>
            <a:p>
              <a:endParaRPr/>
            </a:p>
          </p:txBody>
        </p:sp>
        <p:pic>
          <p:nvPicPr>
            <p:cNvPr id="33" name="object 33"/>
            <p:cNvPicPr/>
            <p:nvPr/>
          </p:nvPicPr>
          <p:blipFill>
            <a:blip r:embed="rId4" cstate="print"/>
            <a:stretch>
              <a:fillRect/>
            </a:stretch>
          </p:blipFill>
          <p:spPr>
            <a:xfrm>
              <a:off x="5438774" y="2447925"/>
              <a:ext cx="6010274" cy="2676524"/>
            </a:xfrm>
            <a:prstGeom prst="rect">
              <a:avLst/>
            </a:prstGeom>
          </p:spPr>
        </p:pic>
      </p:grpSp>
      <p:sp>
        <p:nvSpPr>
          <p:cNvPr id="35" name="object 35"/>
          <p:cNvSpPr txBox="1"/>
          <p:nvPr/>
        </p:nvSpPr>
        <p:spPr>
          <a:xfrm>
            <a:off x="5262214" y="5876299"/>
            <a:ext cx="6656705" cy="333425"/>
          </a:xfrm>
          <a:prstGeom prst="rect">
            <a:avLst/>
          </a:prstGeom>
        </p:spPr>
        <p:txBody>
          <a:bodyPr vert="horz" wrap="square" lIns="0" tIns="12700" rIns="0" bIns="0" rtlCol="0">
            <a:spAutoFit/>
          </a:bodyPr>
          <a:lstStyle/>
          <a:p>
            <a:pPr marL="429895" marR="354330" indent="-417830">
              <a:lnSpc>
                <a:spcPct val="132400"/>
              </a:lnSpc>
              <a:spcBef>
                <a:spcPts val="100"/>
              </a:spcBef>
            </a:pPr>
            <a:r>
              <a:rPr sz="800" spc="-20">
                <a:solidFill>
                  <a:srgbClr val="D97705"/>
                </a:solidFill>
                <a:latin typeface="宋体"/>
                <a:cs typeface="宋体"/>
              </a:rPr>
              <a:t>Table</a:t>
            </a:r>
            <a:r>
              <a:rPr sz="800" spc="-60">
                <a:solidFill>
                  <a:srgbClr val="D97705"/>
                </a:solidFill>
                <a:latin typeface="宋体"/>
                <a:cs typeface="宋体"/>
              </a:rPr>
              <a:t> </a:t>
            </a:r>
            <a:r>
              <a:rPr sz="800" spc="90">
                <a:solidFill>
                  <a:srgbClr val="D97705"/>
                </a:solidFill>
                <a:latin typeface="宋体"/>
                <a:cs typeface="宋体"/>
              </a:rPr>
              <a:t>2</a:t>
            </a:r>
            <a:r>
              <a:rPr sz="800" spc="430">
                <a:solidFill>
                  <a:srgbClr val="D97705"/>
                </a:solidFill>
                <a:latin typeface="宋体"/>
                <a:cs typeface="宋体"/>
              </a:rPr>
              <a:t> </a:t>
            </a:r>
            <a:r>
              <a:rPr sz="850" i="1" spc="-40">
                <a:solidFill>
                  <a:srgbClr val="6A7280"/>
                </a:solidFill>
                <a:latin typeface="宋体"/>
                <a:cs typeface="宋体"/>
              </a:rPr>
              <a:t>各模型在正常训练和通道混洗情况下的推理鲁棒性分析。普通 </a:t>
            </a:r>
            <a:r>
              <a:rPr sz="850" i="1" spc="100">
                <a:solidFill>
                  <a:srgbClr val="6A7280"/>
                </a:solidFill>
                <a:latin typeface="宋体"/>
                <a:cs typeface="宋体"/>
              </a:rPr>
              <a:t>CD</a:t>
            </a:r>
            <a:r>
              <a:rPr sz="850" i="1" spc="-85">
                <a:solidFill>
                  <a:srgbClr val="6A7280"/>
                </a:solidFill>
                <a:latin typeface="宋体"/>
                <a:cs typeface="宋体"/>
              </a:rPr>
              <a:t> </a:t>
            </a:r>
            <a:r>
              <a:rPr sz="850" i="1" spc="-35">
                <a:solidFill>
                  <a:srgbClr val="6A7280"/>
                </a:solidFill>
                <a:latin typeface="宋体"/>
                <a:cs typeface="宋体"/>
              </a:rPr>
              <a:t>(Channel-Dependency)</a:t>
            </a:r>
            <a:r>
              <a:rPr sz="850" i="1" spc="-50">
                <a:solidFill>
                  <a:srgbClr val="6A7280"/>
                </a:solidFill>
                <a:latin typeface="宋体"/>
                <a:cs typeface="宋体"/>
              </a:rPr>
              <a:t> </a:t>
            </a:r>
            <a:r>
              <a:rPr sz="850" i="1" spc="-50" err="1">
                <a:solidFill>
                  <a:srgbClr val="6A7280"/>
                </a:solidFill>
                <a:latin typeface="宋体"/>
                <a:cs typeface="宋体"/>
              </a:rPr>
              <a:t>模型在测试乱序时均表现出极其脆弱的</a:t>
            </a:r>
            <a:r>
              <a:rPr sz="850" i="1" spc="-40" err="1">
                <a:solidFill>
                  <a:srgbClr val="6A7280"/>
                </a:solidFill>
                <a:latin typeface="宋体"/>
                <a:cs typeface="宋体"/>
              </a:rPr>
              <a:t>位置过拟合缺陷</a:t>
            </a:r>
            <a:r>
              <a:rPr sz="850" i="1" spc="-40">
                <a:solidFill>
                  <a:srgbClr val="6A7280"/>
                </a:solidFill>
                <a:latin typeface="宋体"/>
                <a:cs typeface="宋体"/>
              </a:rPr>
              <a:t>。</a:t>
            </a:r>
            <a:endParaRPr sz="850">
              <a:latin typeface="宋体"/>
              <a:cs typeface="宋体"/>
            </a:endParaRPr>
          </a:p>
        </p:txBody>
      </p:sp>
      <p:pic>
        <p:nvPicPr>
          <p:cNvPr id="36" name="object 36"/>
          <p:cNvPicPr/>
          <p:nvPr/>
        </p:nvPicPr>
        <p:blipFill>
          <a:blip r:embed="rId5" cstate="print"/>
          <a:stretch>
            <a:fillRect/>
          </a:stretch>
        </p:blipFill>
        <p:spPr>
          <a:xfrm>
            <a:off x="0" y="0"/>
            <a:ext cx="12191999" cy="57149"/>
          </a:xfrm>
          <a:prstGeom prst="rect">
            <a:avLst/>
          </a:prstGeom>
        </p:spPr>
      </p:pic>
      <p:pic>
        <p:nvPicPr>
          <p:cNvPr id="37" name="object 37"/>
          <p:cNvPicPr/>
          <p:nvPr/>
        </p:nvPicPr>
        <p:blipFill>
          <a:blip r:embed="rId6" cstate="print"/>
          <a:stretch>
            <a:fillRect/>
          </a:stretch>
        </p:blipFill>
        <p:spPr>
          <a:xfrm>
            <a:off x="0" y="6800849"/>
            <a:ext cx="12191999" cy="5714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8299" y="329310"/>
            <a:ext cx="7861301" cy="486030"/>
          </a:xfrm>
          <a:prstGeom prst="rect">
            <a:avLst/>
          </a:prstGeom>
        </p:spPr>
        <p:txBody>
          <a:bodyPr vert="horz" wrap="square" lIns="0" tIns="16510" rIns="0" bIns="0" rtlCol="0">
            <a:spAutoFit/>
          </a:bodyPr>
          <a:lstStyle/>
          <a:p>
            <a:pPr marL="12700">
              <a:lnSpc>
                <a:spcPct val="100000"/>
              </a:lnSpc>
              <a:spcBef>
                <a:spcPts val="130"/>
              </a:spcBef>
            </a:pPr>
            <a:r>
              <a:t>模型设计：基于激进时空解耦的</a:t>
            </a:r>
            <a:r>
              <a:rPr>
                <a:latin typeface="Arial"/>
                <a:cs typeface="Arial"/>
              </a:rPr>
              <a:t>CPiRi</a:t>
            </a:r>
            <a:r>
              <a:t>架构</a:t>
            </a:r>
          </a:p>
        </p:txBody>
      </p:sp>
      <p:grpSp>
        <p:nvGrpSpPr>
          <p:cNvPr id="3" name="object 3"/>
          <p:cNvGrpSpPr/>
          <p:nvPr/>
        </p:nvGrpSpPr>
        <p:grpSpPr>
          <a:xfrm>
            <a:off x="380999" y="1228724"/>
            <a:ext cx="6543675" cy="1009650"/>
            <a:chOff x="380999" y="1228724"/>
            <a:chExt cx="6543675" cy="1009650"/>
          </a:xfrm>
        </p:grpSpPr>
        <p:sp>
          <p:nvSpPr>
            <p:cNvPr id="4" name="object 4"/>
            <p:cNvSpPr/>
            <p:nvPr/>
          </p:nvSpPr>
          <p:spPr>
            <a:xfrm>
              <a:off x="400049" y="1228724"/>
              <a:ext cx="6524625" cy="1009650"/>
            </a:xfrm>
            <a:custGeom>
              <a:avLst/>
              <a:gdLst/>
              <a:ahLst/>
              <a:cxnLst/>
              <a:rect l="l" t="t" r="r" b="b"/>
              <a:pathLst>
                <a:path w="6524625" h="1009650">
                  <a:moveTo>
                    <a:pt x="6417829" y="1009649"/>
                  </a:moveTo>
                  <a:lnTo>
                    <a:pt x="0" y="1009649"/>
                  </a:lnTo>
                  <a:lnTo>
                    <a:pt x="0" y="0"/>
                  </a:lnTo>
                  <a:lnTo>
                    <a:pt x="6417829" y="0"/>
                  </a:lnTo>
                  <a:lnTo>
                    <a:pt x="6425261" y="732"/>
                  </a:lnTo>
                  <a:lnTo>
                    <a:pt x="6467584" y="15093"/>
                  </a:lnTo>
                  <a:lnTo>
                    <a:pt x="6501190" y="44558"/>
                  </a:lnTo>
                  <a:lnTo>
                    <a:pt x="6520963" y="84640"/>
                  </a:lnTo>
                  <a:lnTo>
                    <a:pt x="6524623" y="106794"/>
                  </a:lnTo>
                  <a:lnTo>
                    <a:pt x="6524623" y="902854"/>
                  </a:lnTo>
                  <a:lnTo>
                    <a:pt x="6513050" y="946024"/>
                  </a:lnTo>
                  <a:lnTo>
                    <a:pt x="6485839" y="981478"/>
                  </a:lnTo>
                  <a:lnTo>
                    <a:pt x="6447130" y="1003821"/>
                  </a:lnTo>
                  <a:lnTo>
                    <a:pt x="6417829" y="1009649"/>
                  </a:lnTo>
                  <a:close/>
                </a:path>
              </a:pathLst>
            </a:custGeom>
            <a:solidFill>
              <a:srgbClr val="EFF5FF">
                <a:alpha val="50199"/>
              </a:srgbClr>
            </a:solidFill>
          </p:spPr>
          <p:txBody>
            <a:bodyPr wrap="square" lIns="0" tIns="0" rIns="0" bIns="0" rtlCol="0"/>
            <a:lstStyle/>
            <a:p>
              <a:endParaRPr/>
            </a:p>
          </p:txBody>
        </p:sp>
        <p:sp>
          <p:nvSpPr>
            <p:cNvPr id="5" name="object 5"/>
            <p:cNvSpPr/>
            <p:nvPr/>
          </p:nvSpPr>
          <p:spPr>
            <a:xfrm>
              <a:off x="380999" y="1228724"/>
              <a:ext cx="38100" cy="1009650"/>
            </a:xfrm>
            <a:custGeom>
              <a:avLst/>
              <a:gdLst/>
              <a:ahLst/>
              <a:cxnLst/>
              <a:rect l="l" t="t" r="r" b="b"/>
              <a:pathLst>
                <a:path w="38100" h="1009650">
                  <a:moveTo>
                    <a:pt x="38099" y="1009649"/>
                  </a:moveTo>
                  <a:lnTo>
                    <a:pt x="0" y="1009649"/>
                  </a:lnTo>
                  <a:lnTo>
                    <a:pt x="0" y="0"/>
                  </a:lnTo>
                  <a:lnTo>
                    <a:pt x="38099" y="0"/>
                  </a:lnTo>
                  <a:lnTo>
                    <a:pt x="38099" y="1009649"/>
                  </a:lnTo>
                  <a:close/>
                </a:path>
              </a:pathLst>
            </a:custGeom>
            <a:solidFill>
              <a:srgbClr val="1D40AF"/>
            </a:solidFill>
          </p:spPr>
          <p:txBody>
            <a:bodyPr wrap="square" lIns="0" tIns="0" rIns="0" bIns="0" rtlCol="0"/>
            <a:lstStyle/>
            <a:p>
              <a:endParaRPr/>
            </a:p>
          </p:txBody>
        </p:sp>
      </p:grpSp>
      <p:sp>
        <p:nvSpPr>
          <p:cNvPr id="6" name="object 6"/>
          <p:cNvSpPr txBox="1"/>
          <p:nvPr/>
        </p:nvSpPr>
        <p:spPr>
          <a:xfrm>
            <a:off x="558800" y="1306280"/>
            <a:ext cx="5803900" cy="756920"/>
          </a:xfrm>
          <a:prstGeom prst="rect">
            <a:avLst/>
          </a:prstGeom>
        </p:spPr>
        <p:txBody>
          <a:bodyPr vert="horz" wrap="square" lIns="0" tIns="84455" rIns="0" bIns="0" rtlCol="0">
            <a:spAutoFit/>
          </a:bodyPr>
          <a:lstStyle/>
          <a:p>
            <a:pPr marL="12700">
              <a:lnSpc>
                <a:spcPct val="100000"/>
              </a:lnSpc>
              <a:spcBef>
                <a:spcPts val="665"/>
              </a:spcBef>
            </a:pPr>
            <a:r>
              <a:rPr sz="1200">
                <a:solidFill>
                  <a:srgbClr val="1D3A8A"/>
                </a:solidFill>
                <a:latin typeface="宋体"/>
                <a:cs typeface="宋体"/>
              </a:rPr>
              <a:t>架构哲学 (Architecture Philosophy)</a:t>
            </a:r>
            <a:endParaRPr sz="1200">
              <a:latin typeface="宋体"/>
              <a:cs typeface="宋体"/>
            </a:endParaRPr>
          </a:p>
          <a:p>
            <a:pPr marL="12700" marR="5080">
              <a:lnSpc>
                <a:spcPct val="119800"/>
              </a:lnSpc>
              <a:spcBef>
                <a:spcPts val="300"/>
              </a:spcBef>
            </a:pPr>
            <a:r>
              <a:rPr sz="1150">
                <a:solidFill>
                  <a:srgbClr val="374050"/>
                </a:solidFill>
                <a:latin typeface="宋体"/>
                <a:cs typeface="宋体"/>
              </a:rPr>
              <a:t>充分结合 </a:t>
            </a:r>
            <a:r>
              <a:rPr sz="1150" b="1">
                <a:solidFill>
                  <a:srgbClr val="1D40AF"/>
                </a:solidFill>
                <a:latin typeface="Arial"/>
                <a:cs typeface="Arial"/>
              </a:rPr>
              <a:t>CI </a:t>
            </a:r>
            <a:r>
              <a:rPr sz="1200" b="1">
                <a:solidFill>
                  <a:srgbClr val="1D40AF"/>
                </a:solidFill>
                <a:latin typeface="Trebuchet MS"/>
                <a:cs typeface="Trebuchet MS"/>
              </a:rPr>
              <a:t>(</a:t>
            </a:r>
            <a:r>
              <a:rPr sz="1150" b="1">
                <a:solidFill>
                  <a:srgbClr val="1D40AF"/>
                </a:solidFill>
                <a:latin typeface="Yu Gothic UI Semibold"/>
                <a:cs typeface="Yu Gothic UI Semibold"/>
              </a:rPr>
              <a:t>通道独立</a:t>
            </a:r>
            <a:r>
              <a:rPr sz="1200" b="1">
                <a:solidFill>
                  <a:srgbClr val="1D40AF"/>
                </a:solidFill>
                <a:latin typeface="Trebuchet MS"/>
                <a:cs typeface="Trebuchet MS"/>
              </a:rPr>
              <a:t>) </a:t>
            </a:r>
            <a:r>
              <a:rPr sz="1150">
                <a:solidFill>
                  <a:srgbClr val="374050"/>
                </a:solidFill>
                <a:latin typeface="宋体"/>
                <a:cs typeface="宋体"/>
              </a:rPr>
              <a:t>前馈鲁棒性与 </a:t>
            </a:r>
            <a:r>
              <a:rPr sz="1150" b="1">
                <a:solidFill>
                  <a:srgbClr val="4237CA"/>
                </a:solidFill>
                <a:latin typeface="Arial"/>
                <a:cs typeface="Arial"/>
              </a:rPr>
              <a:t>CD </a:t>
            </a:r>
            <a:r>
              <a:rPr sz="1200" b="1">
                <a:solidFill>
                  <a:srgbClr val="4237CA"/>
                </a:solidFill>
                <a:latin typeface="Trebuchet MS"/>
                <a:cs typeface="Trebuchet MS"/>
              </a:rPr>
              <a:t>(</a:t>
            </a:r>
            <a:r>
              <a:rPr sz="1150" b="1">
                <a:solidFill>
                  <a:srgbClr val="4237CA"/>
                </a:solidFill>
                <a:latin typeface="Yu Gothic UI Semibold"/>
                <a:cs typeface="Yu Gothic UI Semibold"/>
              </a:rPr>
              <a:t>通道依</a:t>
            </a:r>
            <a:r>
              <a:rPr sz="1150" b="1">
                <a:solidFill>
                  <a:srgbClr val="4237CA"/>
                </a:solidFill>
                <a:latin typeface="微软雅黑"/>
                <a:cs typeface="微软雅黑"/>
              </a:rPr>
              <a:t>赖</a:t>
            </a:r>
            <a:r>
              <a:rPr sz="1200" b="1">
                <a:solidFill>
                  <a:srgbClr val="4237CA"/>
                </a:solidFill>
                <a:latin typeface="Trebuchet MS"/>
                <a:cs typeface="Trebuchet MS"/>
              </a:rPr>
              <a:t>) </a:t>
            </a:r>
            <a:r>
              <a:rPr sz="1150">
                <a:solidFill>
                  <a:srgbClr val="374050"/>
                </a:solidFill>
                <a:latin typeface="宋体"/>
                <a:cs typeface="宋体"/>
              </a:rPr>
              <a:t>交互表达能力，提出一种三阶段时空解耦 </a:t>
            </a:r>
            <a:r>
              <a:rPr sz="1200">
                <a:solidFill>
                  <a:srgbClr val="374050"/>
                </a:solidFill>
                <a:latin typeface="Microsoft Sans Serif"/>
                <a:cs typeface="Microsoft Sans Serif"/>
              </a:rPr>
              <a:t>(</a:t>
            </a:r>
            <a:r>
              <a:rPr sz="1150">
                <a:solidFill>
                  <a:srgbClr val="374050"/>
                </a:solidFill>
                <a:latin typeface="Microsoft Sans Serif"/>
                <a:cs typeface="Microsoft Sans Serif"/>
              </a:rPr>
              <a:t>Spatio</a:t>
            </a:r>
            <a:r>
              <a:rPr sz="1200">
                <a:solidFill>
                  <a:srgbClr val="374050"/>
                </a:solidFill>
                <a:latin typeface="Microsoft Sans Serif"/>
                <a:cs typeface="Microsoft Sans Serif"/>
              </a:rPr>
              <a:t>-</a:t>
            </a:r>
            <a:r>
              <a:rPr sz="1150">
                <a:solidFill>
                  <a:srgbClr val="374050"/>
                </a:solidFill>
                <a:latin typeface="Microsoft Sans Serif"/>
                <a:cs typeface="Microsoft Sans Serif"/>
              </a:rPr>
              <a:t>temporal Decoupling</a:t>
            </a:r>
            <a:r>
              <a:rPr sz="1200">
                <a:solidFill>
                  <a:srgbClr val="374050"/>
                </a:solidFill>
                <a:latin typeface="Microsoft Sans Serif"/>
                <a:cs typeface="Microsoft Sans Serif"/>
              </a:rPr>
              <a:t>) </a:t>
            </a:r>
            <a:r>
              <a:rPr sz="1150">
                <a:solidFill>
                  <a:srgbClr val="374050"/>
                </a:solidFill>
                <a:latin typeface="宋体"/>
                <a:cs typeface="宋体"/>
              </a:rPr>
              <a:t>策略。</a:t>
            </a:r>
            <a:endParaRPr sz="1150">
              <a:latin typeface="宋体"/>
              <a:cs typeface="宋体"/>
            </a:endParaRPr>
          </a:p>
        </p:txBody>
      </p:sp>
      <p:grpSp>
        <p:nvGrpSpPr>
          <p:cNvPr id="7" name="object 7"/>
          <p:cNvGrpSpPr/>
          <p:nvPr/>
        </p:nvGrpSpPr>
        <p:grpSpPr>
          <a:xfrm>
            <a:off x="342900" y="2390774"/>
            <a:ext cx="114300" cy="647700"/>
            <a:chOff x="342900" y="2390774"/>
            <a:chExt cx="114300" cy="647700"/>
          </a:xfrm>
        </p:grpSpPr>
        <p:sp>
          <p:nvSpPr>
            <p:cNvPr id="8" name="object 8"/>
            <p:cNvSpPr/>
            <p:nvPr/>
          </p:nvSpPr>
          <p:spPr>
            <a:xfrm>
              <a:off x="390524" y="2390774"/>
              <a:ext cx="0" cy="647700"/>
            </a:xfrm>
            <a:custGeom>
              <a:avLst/>
              <a:gdLst/>
              <a:ahLst/>
              <a:cxnLst/>
              <a:rect l="l" t="t" r="r" b="b"/>
              <a:pathLst>
                <a:path h="647700">
                  <a:moveTo>
                    <a:pt x="0" y="0"/>
                  </a:moveTo>
                  <a:lnTo>
                    <a:pt x="0" y="647699"/>
                  </a:lnTo>
                </a:path>
              </a:pathLst>
            </a:custGeom>
            <a:ln w="19049">
              <a:solidFill>
                <a:srgbClr val="D97705"/>
              </a:solidFill>
              <a:prstDash val="sysDash"/>
            </a:ln>
          </p:spPr>
          <p:txBody>
            <a:bodyPr wrap="square" lIns="0" tIns="0" rIns="0" bIns="0" rtlCol="0"/>
            <a:lstStyle/>
            <a:p>
              <a:endParaRPr/>
            </a:p>
          </p:txBody>
        </p:sp>
        <p:pic>
          <p:nvPicPr>
            <p:cNvPr id="9" name="object 9"/>
            <p:cNvPicPr/>
            <p:nvPr/>
          </p:nvPicPr>
          <p:blipFill>
            <a:blip r:embed="rId3" cstate="print"/>
            <a:stretch>
              <a:fillRect/>
            </a:stretch>
          </p:blipFill>
          <p:spPr>
            <a:xfrm>
              <a:off x="342900" y="2428874"/>
              <a:ext cx="114299" cy="114299"/>
            </a:xfrm>
            <a:prstGeom prst="rect">
              <a:avLst/>
            </a:prstGeom>
          </p:spPr>
        </p:pic>
      </p:grpSp>
      <p:grpSp>
        <p:nvGrpSpPr>
          <p:cNvPr id="10" name="object 10"/>
          <p:cNvGrpSpPr/>
          <p:nvPr/>
        </p:nvGrpSpPr>
        <p:grpSpPr>
          <a:xfrm>
            <a:off x="628649" y="2390774"/>
            <a:ext cx="561975" cy="200025"/>
            <a:chOff x="628649" y="2390774"/>
            <a:chExt cx="561975" cy="200025"/>
          </a:xfrm>
        </p:grpSpPr>
        <p:sp>
          <p:nvSpPr>
            <p:cNvPr id="11" name="object 11"/>
            <p:cNvSpPr/>
            <p:nvPr/>
          </p:nvSpPr>
          <p:spPr>
            <a:xfrm>
              <a:off x="633412" y="2395537"/>
              <a:ext cx="552450" cy="190500"/>
            </a:xfrm>
            <a:custGeom>
              <a:avLst/>
              <a:gdLst/>
              <a:ahLst/>
              <a:cxnLst/>
              <a:rect l="l" t="t" r="r" b="b"/>
              <a:pathLst>
                <a:path w="552450" h="190500">
                  <a:moveTo>
                    <a:pt x="523533" y="190499"/>
                  </a:moveTo>
                  <a:lnTo>
                    <a:pt x="28916" y="190499"/>
                  </a:lnTo>
                  <a:lnTo>
                    <a:pt x="24664" y="189653"/>
                  </a:lnTo>
                  <a:lnTo>
                    <a:pt x="0" y="161583"/>
                  </a:lnTo>
                  <a:lnTo>
                    <a:pt x="0" y="157162"/>
                  </a:lnTo>
                  <a:lnTo>
                    <a:pt x="0" y="28916"/>
                  </a:lnTo>
                  <a:lnTo>
                    <a:pt x="28916" y="0"/>
                  </a:lnTo>
                  <a:lnTo>
                    <a:pt x="523533" y="0"/>
                  </a:lnTo>
                  <a:lnTo>
                    <a:pt x="552449" y="28916"/>
                  </a:lnTo>
                  <a:lnTo>
                    <a:pt x="552449" y="161583"/>
                  </a:lnTo>
                  <a:lnTo>
                    <a:pt x="527785" y="189653"/>
                  </a:lnTo>
                  <a:lnTo>
                    <a:pt x="523533" y="190499"/>
                  </a:lnTo>
                  <a:close/>
                </a:path>
              </a:pathLst>
            </a:custGeom>
            <a:solidFill>
              <a:srgbClr val="FFFAEB"/>
            </a:solidFill>
          </p:spPr>
          <p:txBody>
            <a:bodyPr wrap="square" lIns="0" tIns="0" rIns="0" bIns="0" rtlCol="0"/>
            <a:lstStyle/>
            <a:p>
              <a:endParaRPr/>
            </a:p>
          </p:txBody>
        </p:sp>
        <p:sp>
          <p:nvSpPr>
            <p:cNvPr id="12" name="object 12"/>
            <p:cNvSpPr/>
            <p:nvPr/>
          </p:nvSpPr>
          <p:spPr>
            <a:xfrm>
              <a:off x="633412" y="2395537"/>
              <a:ext cx="552450" cy="190500"/>
            </a:xfrm>
            <a:custGeom>
              <a:avLst/>
              <a:gdLst/>
              <a:ahLst/>
              <a:cxnLst/>
              <a:rect l="l" t="t" r="r" b="b"/>
              <a:pathLst>
                <a:path w="552450" h="190500">
                  <a:moveTo>
                    <a:pt x="0" y="157162"/>
                  </a:moveTo>
                  <a:lnTo>
                    <a:pt x="0" y="33337"/>
                  </a:lnTo>
                  <a:lnTo>
                    <a:pt x="0" y="28916"/>
                  </a:lnTo>
                  <a:lnTo>
                    <a:pt x="845" y="24663"/>
                  </a:lnTo>
                  <a:lnTo>
                    <a:pt x="2537" y="20579"/>
                  </a:lnTo>
                  <a:lnTo>
                    <a:pt x="4229" y="16495"/>
                  </a:lnTo>
                  <a:lnTo>
                    <a:pt x="6638" y="12890"/>
                  </a:lnTo>
                  <a:lnTo>
                    <a:pt x="9764" y="9764"/>
                  </a:lnTo>
                  <a:lnTo>
                    <a:pt x="12890" y="6638"/>
                  </a:lnTo>
                  <a:lnTo>
                    <a:pt x="16495" y="4229"/>
                  </a:lnTo>
                  <a:lnTo>
                    <a:pt x="20579" y="2537"/>
                  </a:lnTo>
                  <a:lnTo>
                    <a:pt x="24664" y="845"/>
                  </a:lnTo>
                  <a:lnTo>
                    <a:pt x="28916" y="0"/>
                  </a:lnTo>
                  <a:lnTo>
                    <a:pt x="33337" y="0"/>
                  </a:lnTo>
                  <a:lnTo>
                    <a:pt x="519112" y="0"/>
                  </a:lnTo>
                  <a:lnTo>
                    <a:pt x="523533" y="0"/>
                  </a:lnTo>
                  <a:lnTo>
                    <a:pt x="527785" y="845"/>
                  </a:lnTo>
                  <a:lnTo>
                    <a:pt x="552449" y="33337"/>
                  </a:lnTo>
                  <a:lnTo>
                    <a:pt x="552449" y="157162"/>
                  </a:lnTo>
                  <a:lnTo>
                    <a:pt x="552449" y="161583"/>
                  </a:lnTo>
                  <a:lnTo>
                    <a:pt x="551603" y="165835"/>
                  </a:lnTo>
                  <a:lnTo>
                    <a:pt x="549912" y="169919"/>
                  </a:lnTo>
                  <a:lnTo>
                    <a:pt x="548220" y="174004"/>
                  </a:lnTo>
                  <a:lnTo>
                    <a:pt x="519112" y="190499"/>
                  </a:lnTo>
                  <a:lnTo>
                    <a:pt x="33337" y="190499"/>
                  </a:lnTo>
                  <a:lnTo>
                    <a:pt x="2537" y="169919"/>
                  </a:lnTo>
                  <a:lnTo>
                    <a:pt x="845" y="165835"/>
                  </a:lnTo>
                  <a:lnTo>
                    <a:pt x="0" y="161583"/>
                  </a:lnTo>
                  <a:lnTo>
                    <a:pt x="0" y="157162"/>
                  </a:lnTo>
                  <a:close/>
                </a:path>
              </a:pathLst>
            </a:custGeom>
            <a:ln w="9524">
              <a:solidFill>
                <a:srgbClr val="FDE68A"/>
              </a:solidFill>
            </a:ln>
          </p:spPr>
          <p:txBody>
            <a:bodyPr wrap="square" lIns="0" tIns="0" rIns="0" bIns="0" rtlCol="0"/>
            <a:lstStyle/>
            <a:p>
              <a:endParaRPr/>
            </a:p>
          </p:txBody>
        </p:sp>
      </p:grpSp>
      <p:sp>
        <p:nvSpPr>
          <p:cNvPr id="13" name="object 13"/>
          <p:cNvSpPr txBox="1"/>
          <p:nvPr/>
        </p:nvSpPr>
        <p:spPr>
          <a:xfrm>
            <a:off x="701674" y="2416175"/>
            <a:ext cx="415925" cy="128240"/>
          </a:xfrm>
          <a:prstGeom prst="rect">
            <a:avLst/>
          </a:prstGeom>
        </p:spPr>
        <p:txBody>
          <a:bodyPr vert="horz" wrap="square" lIns="0" tIns="12700" rIns="0" bIns="0" rtlCol="0">
            <a:spAutoFit/>
          </a:bodyPr>
          <a:lstStyle/>
          <a:p>
            <a:pPr marL="12700">
              <a:lnSpc>
                <a:spcPct val="100000"/>
              </a:lnSpc>
              <a:spcBef>
                <a:spcPts val="100"/>
              </a:spcBef>
            </a:pPr>
            <a:r>
              <a:rPr sz="750">
                <a:solidFill>
                  <a:srgbClr val="B45309"/>
                </a:solidFill>
                <a:latin typeface="宋体"/>
                <a:cs typeface="宋体"/>
              </a:rPr>
              <a:t>STAGE 1</a:t>
            </a:r>
            <a:endParaRPr sz="750">
              <a:latin typeface="宋体"/>
              <a:cs typeface="宋体"/>
            </a:endParaRPr>
          </a:p>
        </p:txBody>
      </p:sp>
      <p:sp>
        <p:nvSpPr>
          <p:cNvPr id="14" name="object 14"/>
          <p:cNvSpPr txBox="1"/>
          <p:nvPr/>
        </p:nvSpPr>
        <p:spPr>
          <a:xfrm>
            <a:off x="1258588" y="2368550"/>
            <a:ext cx="2475209" cy="174407"/>
          </a:xfrm>
          <a:prstGeom prst="rect">
            <a:avLst/>
          </a:prstGeom>
        </p:spPr>
        <p:txBody>
          <a:bodyPr vert="horz" wrap="square" lIns="0" tIns="12700" rIns="0" bIns="0" rtlCol="0">
            <a:spAutoFit/>
          </a:bodyPr>
          <a:lstStyle/>
          <a:p>
            <a:pPr marL="12700">
              <a:lnSpc>
                <a:spcPct val="100000"/>
              </a:lnSpc>
              <a:spcBef>
                <a:spcPts val="100"/>
              </a:spcBef>
            </a:pPr>
            <a:r>
              <a:rPr sz="1050">
                <a:solidFill>
                  <a:srgbClr val="111726"/>
                </a:solidFill>
                <a:latin typeface="宋体"/>
                <a:cs typeface="宋体"/>
              </a:rPr>
              <a:t>通用时间特征提取 — </a:t>
            </a:r>
            <a:r>
              <a:rPr sz="1050">
                <a:solidFill>
                  <a:srgbClr val="B45309"/>
                </a:solidFill>
                <a:latin typeface="宋体"/>
                <a:cs typeface="宋体"/>
              </a:rPr>
              <a:t>冻结</a:t>
            </a:r>
            <a:r>
              <a:rPr sz="1050" b="1">
                <a:solidFill>
                  <a:srgbClr val="B45309"/>
                </a:solidFill>
                <a:latin typeface="Courier New"/>
                <a:cs typeface="Courier New"/>
              </a:rPr>
              <a:t>CI</a:t>
            </a:r>
            <a:r>
              <a:rPr sz="1050">
                <a:solidFill>
                  <a:srgbClr val="B45309"/>
                </a:solidFill>
                <a:latin typeface="宋体"/>
                <a:cs typeface="宋体"/>
              </a:rPr>
              <a:t>模块</a:t>
            </a:r>
            <a:endParaRPr sz="1050">
              <a:latin typeface="宋体"/>
              <a:cs typeface="宋体"/>
            </a:endParaRPr>
          </a:p>
        </p:txBody>
      </p:sp>
      <p:sp>
        <p:nvSpPr>
          <p:cNvPr id="15" name="object 15"/>
          <p:cNvSpPr txBox="1"/>
          <p:nvPr/>
        </p:nvSpPr>
        <p:spPr>
          <a:xfrm>
            <a:off x="590550" y="2591416"/>
            <a:ext cx="5810250" cy="353302"/>
          </a:xfrm>
          <a:prstGeom prst="rect">
            <a:avLst/>
          </a:prstGeom>
        </p:spPr>
        <p:txBody>
          <a:bodyPr vert="horz" wrap="square" lIns="0" tIns="37465" rIns="0" bIns="0" rtlCol="0">
            <a:spAutoFit/>
          </a:bodyPr>
          <a:lstStyle/>
          <a:p>
            <a:pPr marL="38100">
              <a:lnSpc>
                <a:spcPct val="100000"/>
              </a:lnSpc>
              <a:spcBef>
                <a:spcPts val="295"/>
              </a:spcBef>
            </a:pPr>
            <a:r>
              <a:rPr sz="1000">
                <a:solidFill>
                  <a:srgbClr val="4A5462"/>
                </a:solidFill>
                <a:latin typeface="宋体"/>
                <a:cs typeface="宋体"/>
              </a:rPr>
              <a:t>输入 </a:t>
            </a:r>
            <a:r>
              <a:rPr sz="900">
                <a:solidFill>
                  <a:srgbClr val="4A5462"/>
                </a:solidFill>
                <a:latin typeface="Verdana"/>
                <a:cs typeface="Verdana"/>
              </a:rPr>
              <a:t>X </a:t>
            </a:r>
            <a:r>
              <a:rPr sz="900">
                <a:solidFill>
                  <a:srgbClr val="4A5462"/>
                </a:solidFill>
                <a:latin typeface="Cambria"/>
                <a:cs typeface="Cambria"/>
              </a:rPr>
              <a:t>∈ </a:t>
            </a:r>
            <a:r>
              <a:rPr sz="900">
                <a:solidFill>
                  <a:srgbClr val="4A5462"/>
                </a:solidFill>
                <a:latin typeface="Arial"/>
                <a:cs typeface="Arial"/>
              </a:rPr>
              <a:t>R</a:t>
            </a:r>
            <a:r>
              <a:rPr sz="900" i="1" baseline="32407">
                <a:solidFill>
                  <a:srgbClr val="4A5462"/>
                </a:solidFill>
                <a:latin typeface="Cambria"/>
                <a:cs typeface="Cambria"/>
              </a:rPr>
              <a:t>L</a:t>
            </a:r>
            <a:r>
              <a:rPr sz="900" baseline="32407">
                <a:solidFill>
                  <a:srgbClr val="4A5462"/>
                </a:solidFill>
                <a:latin typeface="Cambria"/>
                <a:cs typeface="Cambria"/>
              </a:rPr>
              <a:t>×</a:t>
            </a:r>
            <a:r>
              <a:rPr sz="900" i="1" baseline="32407">
                <a:solidFill>
                  <a:srgbClr val="4A5462"/>
                </a:solidFill>
                <a:latin typeface="Cambria"/>
                <a:cs typeface="Cambria"/>
              </a:rPr>
              <a:t>C </a:t>
            </a:r>
            <a:r>
              <a:rPr sz="1000">
                <a:solidFill>
                  <a:srgbClr val="4A5462"/>
                </a:solidFill>
                <a:latin typeface="宋体"/>
                <a:cs typeface="宋体"/>
              </a:rPr>
              <a:t>，利用预训练基础模型 </a:t>
            </a:r>
            <a:r>
              <a:rPr sz="1050">
                <a:solidFill>
                  <a:srgbClr val="4A5462"/>
                </a:solidFill>
                <a:latin typeface="Microsoft Sans Serif"/>
                <a:cs typeface="Microsoft Sans Serif"/>
              </a:rPr>
              <a:t>(</a:t>
            </a:r>
            <a:r>
              <a:rPr sz="1000">
                <a:solidFill>
                  <a:srgbClr val="4A5462"/>
                </a:solidFill>
                <a:latin typeface="Microsoft Sans Serif"/>
                <a:cs typeface="Microsoft Sans Serif"/>
              </a:rPr>
              <a:t>Sundial</a:t>
            </a:r>
            <a:r>
              <a:rPr sz="1050">
                <a:solidFill>
                  <a:srgbClr val="4A5462"/>
                </a:solidFill>
                <a:latin typeface="Microsoft Sans Serif"/>
                <a:cs typeface="Microsoft Sans Serif"/>
              </a:rPr>
              <a:t>) </a:t>
            </a:r>
            <a:r>
              <a:rPr sz="1000">
                <a:solidFill>
                  <a:srgbClr val="4A5462"/>
                </a:solidFill>
                <a:latin typeface="宋体"/>
                <a:cs typeface="宋体"/>
              </a:rPr>
              <a:t>的 </a:t>
            </a:r>
            <a:r>
              <a:rPr sz="1000">
                <a:solidFill>
                  <a:srgbClr val="4A5462"/>
                </a:solidFill>
                <a:latin typeface="Microsoft Sans Serif"/>
                <a:cs typeface="Microsoft Sans Serif"/>
              </a:rPr>
              <a:t>Frozen Encoder</a:t>
            </a:r>
            <a:r>
              <a:rPr sz="1000">
                <a:solidFill>
                  <a:srgbClr val="4A5462"/>
                </a:solidFill>
                <a:latin typeface="宋体"/>
                <a:cs typeface="宋体"/>
              </a:rPr>
              <a:t>，在每个通道上独立提取时间特征，得到向量集合</a:t>
            </a:r>
            <a:r>
              <a:rPr sz="900">
                <a:solidFill>
                  <a:srgbClr val="4A5462"/>
                </a:solidFill>
                <a:latin typeface="Cambria"/>
                <a:cs typeface="Cambria"/>
              </a:rPr>
              <a:t>{</a:t>
            </a:r>
            <a:r>
              <a:rPr sz="900" b="1">
                <a:solidFill>
                  <a:srgbClr val="4A5462"/>
                </a:solidFill>
                <a:latin typeface="Tahoma"/>
                <a:cs typeface="Tahoma"/>
              </a:rPr>
              <a:t>h</a:t>
            </a:r>
            <a:r>
              <a:rPr sz="900" baseline="-13888">
                <a:solidFill>
                  <a:srgbClr val="4A5462"/>
                </a:solidFill>
                <a:latin typeface="Cambria"/>
                <a:cs typeface="Cambria"/>
              </a:rPr>
              <a:t>1</a:t>
            </a:r>
            <a:r>
              <a:rPr sz="900">
                <a:solidFill>
                  <a:srgbClr val="4A5462"/>
                </a:solidFill>
                <a:latin typeface="Cambria"/>
                <a:cs typeface="Cambria"/>
              </a:rPr>
              <a:t>,… , </a:t>
            </a:r>
            <a:r>
              <a:rPr sz="900" b="1">
                <a:solidFill>
                  <a:srgbClr val="4A5462"/>
                </a:solidFill>
                <a:latin typeface="Tahoma"/>
                <a:cs typeface="Tahoma"/>
              </a:rPr>
              <a:t>h</a:t>
            </a:r>
            <a:r>
              <a:rPr sz="900" i="1" baseline="-13888">
                <a:solidFill>
                  <a:srgbClr val="4A5462"/>
                </a:solidFill>
                <a:latin typeface="Cambria"/>
                <a:cs typeface="Cambria"/>
              </a:rPr>
              <a:t>C </a:t>
            </a:r>
            <a:r>
              <a:rPr sz="900">
                <a:solidFill>
                  <a:srgbClr val="4A5462"/>
                </a:solidFill>
                <a:latin typeface="Cambria"/>
                <a:cs typeface="Cambria"/>
              </a:rPr>
              <a:t>}</a:t>
            </a:r>
            <a:r>
              <a:rPr sz="1000">
                <a:solidFill>
                  <a:srgbClr val="4A5462"/>
                </a:solidFill>
                <a:latin typeface="宋体"/>
                <a:cs typeface="宋体"/>
              </a:rPr>
              <a:t>，其中 </a:t>
            </a:r>
            <a:r>
              <a:rPr sz="900" b="1">
                <a:solidFill>
                  <a:srgbClr val="4A5462"/>
                </a:solidFill>
                <a:latin typeface="Tahoma"/>
                <a:cs typeface="Tahoma"/>
              </a:rPr>
              <a:t>h</a:t>
            </a:r>
            <a:r>
              <a:rPr sz="900" i="1" baseline="-13888">
                <a:solidFill>
                  <a:srgbClr val="4A5462"/>
                </a:solidFill>
                <a:latin typeface="Cambria"/>
                <a:cs typeface="Cambria"/>
              </a:rPr>
              <a:t>i </a:t>
            </a:r>
            <a:r>
              <a:rPr sz="900">
                <a:solidFill>
                  <a:srgbClr val="4A5462"/>
                </a:solidFill>
                <a:latin typeface="Cambria"/>
                <a:cs typeface="Cambria"/>
              </a:rPr>
              <a:t>∈ </a:t>
            </a:r>
            <a:r>
              <a:rPr sz="900">
                <a:solidFill>
                  <a:srgbClr val="4A5462"/>
                </a:solidFill>
                <a:latin typeface="Arial"/>
                <a:cs typeface="Arial"/>
              </a:rPr>
              <a:t>R</a:t>
            </a:r>
            <a:r>
              <a:rPr sz="900" i="1" baseline="27777">
                <a:solidFill>
                  <a:srgbClr val="4A5462"/>
                </a:solidFill>
                <a:latin typeface="Cambria"/>
                <a:cs typeface="Cambria"/>
              </a:rPr>
              <a:t>D </a:t>
            </a:r>
            <a:r>
              <a:rPr sz="1000">
                <a:solidFill>
                  <a:srgbClr val="4A5462"/>
                </a:solidFill>
                <a:latin typeface="宋体"/>
                <a:cs typeface="宋体"/>
              </a:rPr>
              <a:t>。</a:t>
            </a:r>
            <a:endParaRPr sz="1000">
              <a:latin typeface="宋体"/>
              <a:cs typeface="宋体"/>
            </a:endParaRPr>
          </a:p>
        </p:txBody>
      </p:sp>
      <p:grpSp>
        <p:nvGrpSpPr>
          <p:cNvPr id="16" name="object 16"/>
          <p:cNvGrpSpPr/>
          <p:nvPr/>
        </p:nvGrpSpPr>
        <p:grpSpPr>
          <a:xfrm>
            <a:off x="336989" y="3377709"/>
            <a:ext cx="114300" cy="647700"/>
            <a:chOff x="342900" y="4219575"/>
            <a:chExt cx="114300" cy="647700"/>
          </a:xfrm>
        </p:grpSpPr>
        <p:sp>
          <p:nvSpPr>
            <p:cNvPr id="17" name="object 17"/>
            <p:cNvSpPr/>
            <p:nvPr/>
          </p:nvSpPr>
          <p:spPr>
            <a:xfrm>
              <a:off x="390524" y="4219575"/>
              <a:ext cx="0" cy="647700"/>
            </a:xfrm>
            <a:custGeom>
              <a:avLst/>
              <a:gdLst/>
              <a:ahLst/>
              <a:cxnLst/>
              <a:rect l="l" t="t" r="r" b="b"/>
              <a:pathLst>
                <a:path h="647700">
                  <a:moveTo>
                    <a:pt x="0" y="0"/>
                  </a:moveTo>
                  <a:lnTo>
                    <a:pt x="0" y="647699"/>
                  </a:lnTo>
                </a:path>
              </a:pathLst>
            </a:custGeom>
            <a:ln w="19049">
              <a:solidFill>
                <a:srgbClr val="4E45E4"/>
              </a:solidFill>
              <a:prstDash val="sysDash"/>
            </a:ln>
          </p:spPr>
          <p:txBody>
            <a:bodyPr wrap="square" lIns="0" tIns="0" rIns="0" bIns="0" rtlCol="0"/>
            <a:lstStyle/>
            <a:p>
              <a:endParaRPr/>
            </a:p>
          </p:txBody>
        </p:sp>
        <p:pic>
          <p:nvPicPr>
            <p:cNvPr id="18" name="object 18"/>
            <p:cNvPicPr/>
            <p:nvPr/>
          </p:nvPicPr>
          <p:blipFill>
            <a:blip r:embed="rId4" cstate="print"/>
            <a:stretch>
              <a:fillRect/>
            </a:stretch>
          </p:blipFill>
          <p:spPr>
            <a:xfrm>
              <a:off x="342900" y="4257675"/>
              <a:ext cx="114299" cy="114299"/>
            </a:xfrm>
            <a:prstGeom prst="rect">
              <a:avLst/>
            </a:prstGeom>
          </p:spPr>
        </p:pic>
      </p:grpSp>
      <p:grpSp>
        <p:nvGrpSpPr>
          <p:cNvPr id="19" name="object 19"/>
          <p:cNvGrpSpPr/>
          <p:nvPr/>
        </p:nvGrpSpPr>
        <p:grpSpPr>
          <a:xfrm>
            <a:off x="622738" y="3377708"/>
            <a:ext cx="561975" cy="200025"/>
            <a:chOff x="628649" y="4219574"/>
            <a:chExt cx="561975" cy="200025"/>
          </a:xfrm>
        </p:grpSpPr>
        <p:sp>
          <p:nvSpPr>
            <p:cNvPr id="20" name="object 20"/>
            <p:cNvSpPr/>
            <p:nvPr/>
          </p:nvSpPr>
          <p:spPr>
            <a:xfrm>
              <a:off x="633412" y="4224337"/>
              <a:ext cx="552450" cy="190500"/>
            </a:xfrm>
            <a:custGeom>
              <a:avLst/>
              <a:gdLst/>
              <a:ahLst/>
              <a:cxnLst/>
              <a:rect l="l" t="t" r="r" b="b"/>
              <a:pathLst>
                <a:path w="552450" h="190500">
                  <a:moveTo>
                    <a:pt x="523533" y="190499"/>
                  </a:moveTo>
                  <a:lnTo>
                    <a:pt x="28916" y="190499"/>
                  </a:lnTo>
                  <a:lnTo>
                    <a:pt x="24664" y="189653"/>
                  </a:lnTo>
                  <a:lnTo>
                    <a:pt x="0" y="161583"/>
                  </a:lnTo>
                  <a:lnTo>
                    <a:pt x="0" y="157162"/>
                  </a:lnTo>
                  <a:lnTo>
                    <a:pt x="0" y="28916"/>
                  </a:lnTo>
                  <a:lnTo>
                    <a:pt x="28916" y="0"/>
                  </a:lnTo>
                  <a:lnTo>
                    <a:pt x="523533" y="0"/>
                  </a:lnTo>
                  <a:lnTo>
                    <a:pt x="552449" y="28916"/>
                  </a:lnTo>
                  <a:lnTo>
                    <a:pt x="552449" y="161583"/>
                  </a:lnTo>
                  <a:lnTo>
                    <a:pt x="527785" y="189653"/>
                  </a:lnTo>
                  <a:lnTo>
                    <a:pt x="523533" y="190499"/>
                  </a:lnTo>
                  <a:close/>
                </a:path>
              </a:pathLst>
            </a:custGeom>
            <a:solidFill>
              <a:srgbClr val="EDF1FF"/>
            </a:solidFill>
          </p:spPr>
          <p:txBody>
            <a:bodyPr wrap="square" lIns="0" tIns="0" rIns="0" bIns="0" rtlCol="0"/>
            <a:lstStyle/>
            <a:p>
              <a:endParaRPr/>
            </a:p>
          </p:txBody>
        </p:sp>
        <p:sp>
          <p:nvSpPr>
            <p:cNvPr id="21" name="object 21"/>
            <p:cNvSpPr/>
            <p:nvPr/>
          </p:nvSpPr>
          <p:spPr>
            <a:xfrm>
              <a:off x="633412" y="4224337"/>
              <a:ext cx="552450" cy="190500"/>
            </a:xfrm>
            <a:custGeom>
              <a:avLst/>
              <a:gdLst/>
              <a:ahLst/>
              <a:cxnLst/>
              <a:rect l="l" t="t" r="r" b="b"/>
              <a:pathLst>
                <a:path w="552450" h="190500">
                  <a:moveTo>
                    <a:pt x="0" y="157162"/>
                  </a:moveTo>
                  <a:lnTo>
                    <a:pt x="0" y="33337"/>
                  </a:lnTo>
                  <a:lnTo>
                    <a:pt x="0" y="28916"/>
                  </a:lnTo>
                  <a:lnTo>
                    <a:pt x="845" y="24663"/>
                  </a:lnTo>
                  <a:lnTo>
                    <a:pt x="2537" y="20579"/>
                  </a:lnTo>
                  <a:lnTo>
                    <a:pt x="4229" y="16494"/>
                  </a:lnTo>
                  <a:lnTo>
                    <a:pt x="6638" y="12889"/>
                  </a:lnTo>
                  <a:lnTo>
                    <a:pt x="9764" y="9763"/>
                  </a:lnTo>
                  <a:lnTo>
                    <a:pt x="12890" y="6637"/>
                  </a:lnTo>
                  <a:lnTo>
                    <a:pt x="16495" y="4229"/>
                  </a:lnTo>
                  <a:lnTo>
                    <a:pt x="20579" y="2537"/>
                  </a:lnTo>
                  <a:lnTo>
                    <a:pt x="24664" y="845"/>
                  </a:lnTo>
                  <a:lnTo>
                    <a:pt x="28916" y="0"/>
                  </a:lnTo>
                  <a:lnTo>
                    <a:pt x="33337" y="0"/>
                  </a:lnTo>
                  <a:lnTo>
                    <a:pt x="519112" y="0"/>
                  </a:lnTo>
                  <a:lnTo>
                    <a:pt x="523533" y="0"/>
                  </a:lnTo>
                  <a:lnTo>
                    <a:pt x="527785" y="845"/>
                  </a:lnTo>
                  <a:lnTo>
                    <a:pt x="531870" y="2537"/>
                  </a:lnTo>
                  <a:lnTo>
                    <a:pt x="535954" y="4229"/>
                  </a:lnTo>
                  <a:lnTo>
                    <a:pt x="539559" y="6637"/>
                  </a:lnTo>
                  <a:lnTo>
                    <a:pt x="542685" y="9763"/>
                  </a:lnTo>
                  <a:lnTo>
                    <a:pt x="545811" y="12889"/>
                  </a:lnTo>
                  <a:lnTo>
                    <a:pt x="552449" y="33337"/>
                  </a:lnTo>
                  <a:lnTo>
                    <a:pt x="552449" y="157162"/>
                  </a:lnTo>
                  <a:lnTo>
                    <a:pt x="542685" y="180735"/>
                  </a:lnTo>
                  <a:lnTo>
                    <a:pt x="539559" y="183861"/>
                  </a:lnTo>
                  <a:lnTo>
                    <a:pt x="519112" y="190499"/>
                  </a:lnTo>
                  <a:lnTo>
                    <a:pt x="33337" y="190499"/>
                  </a:lnTo>
                  <a:lnTo>
                    <a:pt x="9764" y="180735"/>
                  </a:lnTo>
                  <a:lnTo>
                    <a:pt x="6638" y="177609"/>
                  </a:lnTo>
                  <a:lnTo>
                    <a:pt x="4229" y="174004"/>
                  </a:lnTo>
                  <a:lnTo>
                    <a:pt x="2537" y="169920"/>
                  </a:lnTo>
                  <a:lnTo>
                    <a:pt x="845" y="165835"/>
                  </a:lnTo>
                  <a:lnTo>
                    <a:pt x="0" y="161583"/>
                  </a:lnTo>
                  <a:lnTo>
                    <a:pt x="0" y="157162"/>
                  </a:lnTo>
                  <a:close/>
                </a:path>
              </a:pathLst>
            </a:custGeom>
            <a:ln w="9524">
              <a:solidFill>
                <a:srgbClr val="C7D1FE"/>
              </a:solidFill>
            </a:ln>
          </p:spPr>
          <p:txBody>
            <a:bodyPr wrap="square" lIns="0" tIns="0" rIns="0" bIns="0" rtlCol="0"/>
            <a:lstStyle/>
            <a:p>
              <a:endParaRPr/>
            </a:p>
          </p:txBody>
        </p:sp>
      </p:grpSp>
      <p:sp>
        <p:nvSpPr>
          <p:cNvPr id="22" name="object 22"/>
          <p:cNvSpPr txBox="1"/>
          <p:nvPr/>
        </p:nvSpPr>
        <p:spPr>
          <a:xfrm>
            <a:off x="627501" y="3286906"/>
            <a:ext cx="5810250" cy="1040028"/>
          </a:xfrm>
          <a:prstGeom prst="rect">
            <a:avLst/>
          </a:prstGeom>
        </p:spPr>
        <p:txBody>
          <a:bodyPr vert="horz" wrap="square" lIns="0" tIns="92710" rIns="0" bIns="0" rtlCol="0">
            <a:spAutoFit/>
          </a:bodyPr>
          <a:lstStyle/>
          <a:p>
            <a:pPr marL="97790">
              <a:lnSpc>
                <a:spcPct val="100000"/>
              </a:lnSpc>
              <a:spcBef>
                <a:spcPts val="730"/>
              </a:spcBef>
              <a:tabLst>
                <a:tab pos="654685" algn="l"/>
              </a:tabLst>
            </a:pPr>
            <a:r>
              <a:rPr sz="750">
                <a:solidFill>
                  <a:srgbClr val="4237CA"/>
                </a:solidFill>
                <a:latin typeface="宋体"/>
                <a:cs typeface="宋体"/>
              </a:rPr>
              <a:t>STAGE 2	</a:t>
            </a:r>
            <a:r>
              <a:rPr sz="1050">
                <a:solidFill>
                  <a:srgbClr val="111726"/>
                </a:solidFill>
                <a:latin typeface="宋体"/>
                <a:cs typeface="宋体"/>
              </a:rPr>
              <a:t>排列等变空间交互 — </a:t>
            </a:r>
            <a:r>
              <a:rPr sz="1050">
                <a:solidFill>
                  <a:srgbClr val="4237CA"/>
                </a:solidFill>
                <a:latin typeface="宋体"/>
                <a:cs typeface="宋体"/>
              </a:rPr>
              <a:t>纯可训练模块</a:t>
            </a:r>
            <a:endParaRPr sz="1050">
              <a:latin typeface="宋体"/>
              <a:cs typeface="宋体"/>
            </a:endParaRPr>
          </a:p>
          <a:p>
            <a:pPr marL="12700">
              <a:spcBef>
                <a:spcPts val="615"/>
              </a:spcBef>
            </a:pPr>
            <a:r>
              <a:rPr sz="1000">
                <a:solidFill>
                  <a:srgbClr val="4A5462"/>
                </a:solidFill>
                <a:latin typeface="宋体"/>
                <a:cs typeface="宋体"/>
              </a:rPr>
              <a:t>将时间特征集合视为 </a:t>
            </a:r>
            <a:r>
              <a:rPr sz="1000" b="1">
                <a:solidFill>
                  <a:srgbClr val="312E81"/>
                </a:solidFill>
                <a:latin typeface="微软雅黑"/>
                <a:cs typeface="微软雅黑"/>
              </a:rPr>
              <a:t>无序集合 </a:t>
            </a:r>
            <a:r>
              <a:rPr sz="1050" b="1">
                <a:solidFill>
                  <a:srgbClr val="312E81"/>
                </a:solidFill>
                <a:latin typeface="Trebuchet MS"/>
                <a:cs typeface="Trebuchet MS"/>
              </a:rPr>
              <a:t>(</a:t>
            </a:r>
            <a:r>
              <a:rPr sz="950" b="1">
                <a:solidFill>
                  <a:srgbClr val="312E81"/>
                </a:solidFill>
                <a:latin typeface="Arial"/>
                <a:cs typeface="Arial"/>
              </a:rPr>
              <a:t>Unordered set</a:t>
            </a:r>
            <a:r>
              <a:rPr sz="1050" b="1">
                <a:solidFill>
                  <a:srgbClr val="312E81"/>
                </a:solidFill>
                <a:latin typeface="Trebuchet MS"/>
                <a:cs typeface="Trebuchet MS"/>
              </a:rPr>
              <a:t>) </a:t>
            </a:r>
            <a:r>
              <a:rPr sz="1000">
                <a:solidFill>
                  <a:srgbClr val="4A5462"/>
                </a:solidFill>
                <a:latin typeface="宋体"/>
                <a:cs typeface="宋体"/>
              </a:rPr>
              <a:t>输入到轻量级 </a:t>
            </a:r>
            <a:r>
              <a:rPr sz="1000">
                <a:solidFill>
                  <a:srgbClr val="4A5462"/>
                </a:solidFill>
                <a:latin typeface="Microsoft Sans Serif"/>
                <a:cs typeface="Microsoft Sans Serif"/>
              </a:rPr>
              <a:t>Transformer Encoder </a:t>
            </a:r>
            <a:r>
              <a:rPr sz="1000">
                <a:solidFill>
                  <a:srgbClr val="4A5462"/>
                </a:solidFill>
                <a:latin typeface="宋体"/>
                <a:cs typeface="宋体"/>
              </a:rPr>
              <a:t>中。利用无位置编码的 </a:t>
            </a:r>
            <a:r>
              <a:rPr sz="1000">
                <a:solidFill>
                  <a:srgbClr val="4A5462"/>
                </a:solidFill>
                <a:latin typeface="Microsoft Sans Serif"/>
                <a:cs typeface="Microsoft Sans Serif"/>
              </a:rPr>
              <a:t>Self</a:t>
            </a:r>
            <a:r>
              <a:rPr sz="1050">
                <a:solidFill>
                  <a:srgbClr val="4A5462"/>
                </a:solidFill>
                <a:latin typeface="Microsoft Sans Serif"/>
                <a:cs typeface="Microsoft Sans Serif"/>
              </a:rPr>
              <a:t>-</a:t>
            </a:r>
            <a:r>
              <a:rPr sz="1000">
                <a:solidFill>
                  <a:srgbClr val="4A5462"/>
                </a:solidFill>
                <a:latin typeface="Microsoft Sans Serif"/>
                <a:cs typeface="Microsoft Sans Serif"/>
              </a:rPr>
              <a:t>Attention</a:t>
            </a:r>
            <a:r>
              <a:rPr lang="zh-CN" altLang="en-US" sz="1000">
                <a:solidFill>
                  <a:srgbClr val="4A5462"/>
                </a:solidFill>
                <a:latin typeface="宋体"/>
                <a:cs typeface="宋体"/>
              </a:rPr>
              <a:t>机制，强制模型仅依靠内容 </a:t>
            </a:r>
            <a:r>
              <a:rPr lang="en-US" altLang="zh-CN" sz="1050">
                <a:solidFill>
                  <a:srgbClr val="4A5462"/>
                </a:solidFill>
                <a:latin typeface="Microsoft Sans Serif"/>
                <a:cs typeface="Microsoft Sans Serif"/>
              </a:rPr>
              <a:t>(</a:t>
            </a:r>
            <a:r>
              <a:rPr lang="en-US" altLang="zh-CN" sz="1000">
                <a:solidFill>
                  <a:srgbClr val="4A5462"/>
                </a:solidFill>
                <a:latin typeface="Microsoft Sans Serif"/>
                <a:cs typeface="Microsoft Sans Serif"/>
              </a:rPr>
              <a:t>Content</a:t>
            </a:r>
            <a:r>
              <a:rPr lang="en-US" altLang="zh-CN" sz="1050">
                <a:solidFill>
                  <a:srgbClr val="4A5462"/>
                </a:solidFill>
                <a:latin typeface="Microsoft Sans Serif"/>
                <a:cs typeface="Microsoft Sans Serif"/>
              </a:rPr>
              <a:t>-</a:t>
            </a:r>
            <a:r>
              <a:rPr lang="en-US" altLang="zh-CN" sz="1000">
                <a:solidFill>
                  <a:srgbClr val="4A5462"/>
                </a:solidFill>
                <a:latin typeface="Microsoft Sans Serif"/>
                <a:cs typeface="Microsoft Sans Serif"/>
              </a:rPr>
              <a:t>driven</a:t>
            </a:r>
            <a:r>
              <a:rPr lang="en-US" altLang="zh-CN" sz="1050">
                <a:solidFill>
                  <a:srgbClr val="4A5462"/>
                </a:solidFill>
                <a:latin typeface="Microsoft Sans Serif"/>
                <a:cs typeface="Microsoft Sans Serif"/>
              </a:rPr>
              <a:t>) </a:t>
            </a:r>
            <a:r>
              <a:rPr lang="zh-CN" altLang="en-US" sz="1000">
                <a:solidFill>
                  <a:srgbClr val="4A5462"/>
                </a:solidFill>
                <a:latin typeface="宋体"/>
                <a:cs typeface="宋体"/>
              </a:rPr>
              <a:t>进行关系推理，生成空间感知的特征 </a:t>
            </a:r>
            <a:r>
              <a:rPr lang="en-US" altLang="zh-CN" sz="900" b="1">
                <a:solidFill>
                  <a:srgbClr val="4A5462"/>
                </a:solidFill>
                <a:latin typeface="Tahoma"/>
                <a:cs typeface="Tahoma"/>
              </a:rPr>
              <a:t>h</a:t>
            </a:r>
            <a:r>
              <a:rPr lang="en-US" altLang="zh-CN" sz="900" baseline="32407">
                <a:solidFill>
                  <a:srgbClr val="4A5462"/>
                </a:solidFill>
                <a:latin typeface="Cambria"/>
                <a:cs typeface="Cambria"/>
              </a:rPr>
              <a:t>′ </a:t>
            </a:r>
            <a:r>
              <a:rPr lang="zh-CN" altLang="en-US" sz="1000">
                <a:solidFill>
                  <a:srgbClr val="4A5462"/>
                </a:solidFill>
                <a:latin typeface="宋体"/>
                <a:cs typeface="宋体"/>
              </a:rPr>
              <a:t>。</a:t>
            </a:r>
            <a:endParaRPr lang="en-US" altLang="zh-CN" sz="1000">
              <a:latin typeface="宋体"/>
              <a:cs typeface="宋体"/>
            </a:endParaRPr>
          </a:p>
          <a:p>
            <a:pPr marL="12700">
              <a:lnSpc>
                <a:spcPct val="100000"/>
              </a:lnSpc>
              <a:spcBef>
                <a:spcPts val="615"/>
              </a:spcBef>
            </a:pPr>
            <a:endParaRPr sz="1000">
              <a:latin typeface="Microsoft Sans Serif"/>
              <a:cs typeface="Microsoft Sans Serif"/>
            </a:endParaRPr>
          </a:p>
        </p:txBody>
      </p:sp>
      <p:sp>
        <p:nvSpPr>
          <p:cNvPr id="23" name="object 23"/>
          <p:cNvSpPr txBox="1"/>
          <p:nvPr/>
        </p:nvSpPr>
        <p:spPr>
          <a:xfrm>
            <a:off x="4877238" y="3875644"/>
            <a:ext cx="53340" cy="109004"/>
          </a:xfrm>
          <a:prstGeom prst="rect">
            <a:avLst/>
          </a:prstGeom>
        </p:spPr>
        <p:txBody>
          <a:bodyPr vert="horz" wrap="square" lIns="0" tIns="16510" rIns="0" bIns="0" rtlCol="0">
            <a:spAutoFit/>
          </a:bodyPr>
          <a:lstStyle/>
          <a:p>
            <a:pPr marL="12700">
              <a:lnSpc>
                <a:spcPct val="100000"/>
              </a:lnSpc>
              <a:spcBef>
                <a:spcPts val="130"/>
              </a:spcBef>
            </a:pPr>
            <a:r>
              <a:rPr sz="600" i="1">
                <a:solidFill>
                  <a:srgbClr val="4A5462"/>
                </a:solidFill>
                <a:latin typeface="Cambria"/>
                <a:cs typeface="Cambria"/>
              </a:rPr>
              <a:t>i</a:t>
            </a:r>
            <a:endParaRPr sz="600">
              <a:latin typeface="Cambria"/>
              <a:cs typeface="Cambria"/>
            </a:endParaRPr>
          </a:p>
        </p:txBody>
      </p:sp>
      <p:grpSp>
        <p:nvGrpSpPr>
          <p:cNvPr id="25" name="object 25"/>
          <p:cNvGrpSpPr/>
          <p:nvPr/>
        </p:nvGrpSpPr>
        <p:grpSpPr>
          <a:xfrm>
            <a:off x="603249" y="4390008"/>
            <a:ext cx="561975" cy="200025"/>
            <a:chOff x="609599" y="6057899"/>
            <a:chExt cx="561975" cy="200025"/>
          </a:xfrm>
        </p:grpSpPr>
        <p:sp>
          <p:nvSpPr>
            <p:cNvPr id="26" name="object 26"/>
            <p:cNvSpPr/>
            <p:nvPr/>
          </p:nvSpPr>
          <p:spPr>
            <a:xfrm>
              <a:off x="614362" y="6062662"/>
              <a:ext cx="552450" cy="190500"/>
            </a:xfrm>
            <a:custGeom>
              <a:avLst/>
              <a:gdLst/>
              <a:ahLst/>
              <a:cxnLst/>
              <a:rect l="l" t="t" r="r" b="b"/>
              <a:pathLst>
                <a:path w="552450" h="190500">
                  <a:moveTo>
                    <a:pt x="523533" y="190499"/>
                  </a:moveTo>
                  <a:lnTo>
                    <a:pt x="28916" y="190499"/>
                  </a:lnTo>
                  <a:lnTo>
                    <a:pt x="24664" y="189653"/>
                  </a:lnTo>
                  <a:lnTo>
                    <a:pt x="0" y="161583"/>
                  </a:lnTo>
                  <a:lnTo>
                    <a:pt x="0" y="157162"/>
                  </a:lnTo>
                  <a:lnTo>
                    <a:pt x="0" y="28916"/>
                  </a:lnTo>
                  <a:lnTo>
                    <a:pt x="28916" y="0"/>
                  </a:lnTo>
                  <a:lnTo>
                    <a:pt x="523533" y="0"/>
                  </a:lnTo>
                  <a:lnTo>
                    <a:pt x="552449" y="28916"/>
                  </a:lnTo>
                  <a:lnTo>
                    <a:pt x="552449" y="161583"/>
                  </a:lnTo>
                  <a:lnTo>
                    <a:pt x="527785" y="189653"/>
                  </a:lnTo>
                  <a:lnTo>
                    <a:pt x="523533" y="190499"/>
                  </a:lnTo>
                  <a:close/>
                </a:path>
              </a:pathLst>
            </a:custGeom>
            <a:solidFill>
              <a:srgbClr val="FFFAEB"/>
            </a:solidFill>
          </p:spPr>
          <p:txBody>
            <a:bodyPr wrap="square" lIns="0" tIns="0" rIns="0" bIns="0" rtlCol="0"/>
            <a:lstStyle/>
            <a:p>
              <a:endParaRPr/>
            </a:p>
          </p:txBody>
        </p:sp>
        <p:sp>
          <p:nvSpPr>
            <p:cNvPr id="27" name="object 27"/>
            <p:cNvSpPr/>
            <p:nvPr/>
          </p:nvSpPr>
          <p:spPr>
            <a:xfrm>
              <a:off x="614362" y="6062662"/>
              <a:ext cx="552450" cy="190500"/>
            </a:xfrm>
            <a:custGeom>
              <a:avLst/>
              <a:gdLst/>
              <a:ahLst/>
              <a:cxnLst/>
              <a:rect l="l" t="t" r="r" b="b"/>
              <a:pathLst>
                <a:path w="552450" h="190500">
                  <a:moveTo>
                    <a:pt x="0" y="157162"/>
                  </a:moveTo>
                  <a:lnTo>
                    <a:pt x="0" y="33337"/>
                  </a:lnTo>
                  <a:lnTo>
                    <a:pt x="0" y="28916"/>
                  </a:lnTo>
                  <a:lnTo>
                    <a:pt x="845" y="24663"/>
                  </a:lnTo>
                  <a:lnTo>
                    <a:pt x="2537" y="20579"/>
                  </a:lnTo>
                  <a:lnTo>
                    <a:pt x="4229" y="16494"/>
                  </a:lnTo>
                  <a:lnTo>
                    <a:pt x="6638" y="12889"/>
                  </a:lnTo>
                  <a:lnTo>
                    <a:pt x="9764" y="9763"/>
                  </a:lnTo>
                  <a:lnTo>
                    <a:pt x="12890" y="6637"/>
                  </a:lnTo>
                  <a:lnTo>
                    <a:pt x="16495" y="4228"/>
                  </a:lnTo>
                  <a:lnTo>
                    <a:pt x="20579" y="2537"/>
                  </a:lnTo>
                  <a:lnTo>
                    <a:pt x="24664" y="845"/>
                  </a:lnTo>
                  <a:lnTo>
                    <a:pt x="28916" y="0"/>
                  </a:lnTo>
                  <a:lnTo>
                    <a:pt x="33337" y="0"/>
                  </a:lnTo>
                  <a:lnTo>
                    <a:pt x="519112" y="0"/>
                  </a:lnTo>
                  <a:lnTo>
                    <a:pt x="523533" y="0"/>
                  </a:lnTo>
                  <a:lnTo>
                    <a:pt x="527785" y="845"/>
                  </a:lnTo>
                  <a:lnTo>
                    <a:pt x="531870" y="2537"/>
                  </a:lnTo>
                  <a:lnTo>
                    <a:pt x="535954" y="4228"/>
                  </a:lnTo>
                  <a:lnTo>
                    <a:pt x="539559" y="6637"/>
                  </a:lnTo>
                  <a:lnTo>
                    <a:pt x="542685" y="9763"/>
                  </a:lnTo>
                  <a:lnTo>
                    <a:pt x="545811" y="12889"/>
                  </a:lnTo>
                  <a:lnTo>
                    <a:pt x="552449" y="33337"/>
                  </a:lnTo>
                  <a:lnTo>
                    <a:pt x="552449" y="157162"/>
                  </a:lnTo>
                  <a:lnTo>
                    <a:pt x="531870" y="187961"/>
                  </a:lnTo>
                  <a:lnTo>
                    <a:pt x="527785" y="189653"/>
                  </a:lnTo>
                  <a:lnTo>
                    <a:pt x="523533" y="190499"/>
                  </a:lnTo>
                  <a:lnTo>
                    <a:pt x="519112" y="190499"/>
                  </a:lnTo>
                  <a:lnTo>
                    <a:pt x="33337" y="190499"/>
                  </a:lnTo>
                  <a:lnTo>
                    <a:pt x="9764" y="180734"/>
                  </a:lnTo>
                  <a:lnTo>
                    <a:pt x="6638" y="177608"/>
                  </a:lnTo>
                  <a:lnTo>
                    <a:pt x="4229" y="174003"/>
                  </a:lnTo>
                  <a:lnTo>
                    <a:pt x="2537" y="169919"/>
                  </a:lnTo>
                  <a:lnTo>
                    <a:pt x="845" y="165835"/>
                  </a:lnTo>
                  <a:lnTo>
                    <a:pt x="0" y="161583"/>
                  </a:lnTo>
                  <a:lnTo>
                    <a:pt x="0" y="157162"/>
                  </a:lnTo>
                  <a:close/>
                </a:path>
              </a:pathLst>
            </a:custGeom>
            <a:ln w="9524">
              <a:solidFill>
                <a:srgbClr val="FDE68A"/>
              </a:solidFill>
            </a:ln>
          </p:spPr>
          <p:txBody>
            <a:bodyPr wrap="square" lIns="0" tIns="0" rIns="0" bIns="0" rtlCol="0"/>
            <a:lstStyle/>
            <a:p>
              <a:endParaRPr/>
            </a:p>
          </p:txBody>
        </p:sp>
      </p:grpSp>
      <p:sp>
        <p:nvSpPr>
          <p:cNvPr id="28" name="object 28"/>
          <p:cNvSpPr txBox="1"/>
          <p:nvPr/>
        </p:nvSpPr>
        <p:spPr>
          <a:xfrm>
            <a:off x="676274" y="4415408"/>
            <a:ext cx="415925" cy="128240"/>
          </a:xfrm>
          <a:prstGeom prst="rect">
            <a:avLst/>
          </a:prstGeom>
        </p:spPr>
        <p:txBody>
          <a:bodyPr vert="horz" wrap="square" lIns="0" tIns="12700" rIns="0" bIns="0" rtlCol="0">
            <a:spAutoFit/>
          </a:bodyPr>
          <a:lstStyle/>
          <a:p>
            <a:pPr marL="12700">
              <a:lnSpc>
                <a:spcPct val="100000"/>
              </a:lnSpc>
              <a:spcBef>
                <a:spcPts val="100"/>
              </a:spcBef>
            </a:pPr>
            <a:r>
              <a:rPr sz="750">
                <a:solidFill>
                  <a:srgbClr val="B45309"/>
                </a:solidFill>
                <a:latin typeface="宋体"/>
                <a:cs typeface="宋体"/>
              </a:rPr>
              <a:t>STAGE 3</a:t>
            </a:r>
            <a:endParaRPr sz="750">
              <a:latin typeface="宋体"/>
              <a:cs typeface="宋体"/>
            </a:endParaRPr>
          </a:p>
        </p:txBody>
      </p:sp>
      <p:sp>
        <p:nvSpPr>
          <p:cNvPr id="29" name="object 29"/>
          <p:cNvSpPr txBox="1"/>
          <p:nvPr/>
        </p:nvSpPr>
        <p:spPr>
          <a:xfrm>
            <a:off x="1233188" y="4367783"/>
            <a:ext cx="2265661" cy="174407"/>
          </a:xfrm>
          <a:prstGeom prst="rect">
            <a:avLst/>
          </a:prstGeom>
        </p:spPr>
        <p:txBody>
          <a:bodyPr vert="horz" wrap="square" lIns="0" tIns="12700" rIns="0" bIns="0" rtlCol="0">
            <a:spAutoFit/>
          </a:bodyPr>
          <a:lstStyle/>
          <a:p>
            <a:pPr marL="12700">
              <a:lnSpc>
                <a:spcPct val="100000"/>
              </a:lnSpc>
              <a:spcBef>
                <a:spcPts val="100"/>
              </a:spcBef>
            </a:pPr>
            <a:r>
              <a:rPr sz="1050">
                <a:solidFill>
                  <a:srgbClr val="111726"/>
                </a:solidFill>
                <a:latin typeface="宋体"/>
                <a:cs typeface="宋体"/>
              </a:rPr>
              <a:t>独立预测生成 — </a:t>
            </a:r>
            <a:r>
              <a:rPr sz="1050">
                <a:solidFill>
                  <a:srgbClr val="B45309"/>
                </a:solidFill>
                <a:latin typeface="宋体"/>
                <a:cs typeface="宋体"/>
              </a:rPr>
              <a:t>冻结</a:t>
            </a:r>
            <a:r>
              <a:rPr sz="1050" b="1">
                <a:solidFill>
                  <a:srgbClr val="B45309"/>
                </a:solidFill>
                <a:latin typeface="Courier New"/>
                <a:cs typeface="Courier New"/>
              </a:rPr>
              <a:t>CI</a:t>
            </a:r>
            <a:r>
              <a:rPr sz="1050">
                <a:solidFill>
                  <a:srgbClr val="B45309"/>
                </a:solidFill>
                <a:latin typeface="宋体"/>
                <a:cs typeface="宋体"/>
              </a:rPr>
              <a:t>模块</a:t>
            </a:r>
            <a:endParaRPr sz="1050">
              <a:latin typeface="宋体"/>
              <a:cs typeface="宋体"/>
            </a:endParaRPr>
          </a:p>
        </p:txBody>
      </p:sp>
      <p:sp>
        <p:nvSpPr>
          <p:cNvPr id="30" name="object 30"/>
          <p:cNvSpPr txBox="1"/>
          <p:nvPr/>
        </p:nvSpPr>
        <p:spPr>
          <a:xfrm>
            <a:off x="590549" y="4619624"/>
            <a:ext cx="4730750" cy="322523"/>
          </a:xfrm>
          <a:prstGeom prst="rect">
            <a:avLst/>
          </a:prstGeom>
        </p:spPr>
        <p:txBody>
          <a:bodyPr vert="horz" wrap="square" lIns="0" tIns="14604" rIns="0" bIns="0" rtlCol="0">
            <a:spAutoFit/>
          </a:bodyPr>
          <a:lstStyle/>
          <a:p>
            <a:pPr marL="12700">
              <a:lnSpc>
                <a:spcPct val="100000"/>
              </a:lnSpc>
              <a:spcBef>
                <a:spcPts val="114"/>
              </a:spcBef>
            </a:pPr>
            <a:r>
              <a:rPr sz="1000">
                <a:solidFill>
                  <a:srgbClr val="4A5462"/>
                </a:solidFill>
                <a:latin typeface="宋体"/>
                <a:cs typeface="宋体"/>
              </a:rPr>
              <a:t>空间更新后的表征独立进入 </a:t>
            </a:r>
            <a:r>
              <a:rPr sz="1000">
                <a:solidFill>
                  <a:srgbClr val="4A5462"/>
                </a:solidFill>
                <a:latin typeface="Microsoft Sans Serif"/>
                <a:cs typeface="Microsoft Sans Serif"/>
              </a:rPr>
              <a:t>Frozen Decoder </a:t>
            </a:r>
            <a:r>
              <a:rPr sz="1000">
                <a:solidFill>
                  <a:srgbClr val="4A5462"/>
                </a:solidFill>
                <a:latin typeface="宋体"/>
                <a:cs typeface="宋体"/>
              </a:rPr>
              <a:t>进行多步预测，防止生成阶段产生结构性纠缠。</a:t>
            </a:r>
            <a:endParaRPr sz="1000">
              <a:latin typeface="宋体"/>
              <a:cs typeface="宋体"/>
            </a:endParaRPr>
          </a:p>
        </p:txBody>
      </p:sp>
      <p:pic>
        <p:nvPicPr>
          <p:cNvPr id="31" name="object 31"/>
          <p:cNvPicPr/>
          <p:nvPr/>
        </p:nvPicPr>
        <p:blipFill>
          <a:blip r:embed="rId3" cstate="print"/>
          <a:stretch>
            <a:fillRect/>
          </a:stretch>
        </p:blipFill>
        <p:spPr>
          <a:xfrm>
            <a:off x="317500" y="4428108"/>
            <a:ext cx="114299" cy="114299"/>
          </a:xfrm>
          <a:prstGeom prst="rect">
            <a:avLst/>
          </a:prstGeom>
        </p:spPr>
      </p:pic>
      <p:sp>
        <p:nvSpPr>
          <p:cNvPr id="39" name="object 39"/>
          <p:cNvSpPr txBox="1"/>
          <p:nvPr/>
        </p:nvSpPr>
        <p:spPr>
          <a:xfrm>
            <a:off x="7391400" y="4270384"/>
            <a:ext cx="4372610" cy="369204"/>
          </a:xfrm>
          <a:prstGeom prst="rect">
            <a:avLst/>
          </a:prstGeom>
        </p:spPr>
        <p:txBody>
          <a:bodyPr vert="horz" wrap="square" lIns="0" tIns="12700" rIns="0" bIns="0" rtlCol="0">
            <a:spAutoFit/>
          </a:bodyPr>
          <a:lstStyle/>
          <a:p>
            <a:pPr marL="1115060" marR="431800" indent="-1102995">
              <a:lnSpc>
                <a:spcPct val="138900"/>
              </a:lnSpc>
              <a:spcBef>
                <a:spcPts val="100"/>
              </a:spcBef>
            </a:pPr>
            <a:r>
              <a:rPr sz="900">
                <a:solidFill>
                  <a:srgbClr val="1D40AF"/>
                </a:solidFill>
                <a:latin typeface="宋体"/>
                <a:cs typeface="宋体"/>
              </a:rPr>
              <a:t>Fig. 2: </a:t>
            </a:r>
            <a:r>
              <a:rPr sz="900" err="1">
                <a:solidFill>
                  <a:srgbClr val="6A7280"/>
                </a:solidFill>
                <a:latin typeface="宋体"/>
                <a:cs typeface="宋体"/>
              </a:rPr>
              <a:t>CPiRi架构的三段式流程图。展示了从冷冻的时间编码器，到中间空间模块，再到冷冻解码器的完整通路</a:t>
            </a:r>
            <a:r>
              <a:rPr sz="900">
                <a:solidFill>
                  <a:srgbClr val="6A7280"/>
                </a:solidFill>
                <a:latin typeface="宋体"/>
                <a:cs typeface="宋体"/>
              </a:rPr>
              <a:t>。</a:t>
            </a:r>
            <a:endParaRPr sz="900">
              <a:latin typeface="宋体"/>
              <a:cs typeface="宋体"/>
            </a:endParaRPr>
          </a:p>
        </p:txBody>
      </p:sp>
      <p:pic>
        <p:nvPicPr>
          <p:cNvPr id="40" name="object 40"/>
          <p:cNvPicPr/>
          <p:nvPr/>
        </p:nvPicPr>
        <p:blipFill>
          <a:blip r:embed="rId5" cstate="print"/>
          <a:stretch>
            <a:fillRect/>
          </a:stretch>
        </p:blipFill>
        <p:spPr>
          <a:xfrm>
            <a:off x="0" y="0"/>
            <a:ext cx="12191999" cy="57149"/>
          </a:xfrm>
          <a:prstGeom prst="rect">
            <a:avLst/>
          </a:prstGeom>
        </p:spPr>
      </p:pic>
      <p:pic>
        <p:nvPicPr>
          <p:cNvPr id="41" name="object 41"/>
          <p:cNvPicPr/>
          <p:nvPr/>
        </p:nvPicPr>
        <p:blipFill>
          <a:blip r:embed="rId6" cstate="print"/>
          <a:stretch>
            <a:fillRect/>
          </a:stretch>
        </p:blipFill>
        <p:spPr>
          <a:xfrm>
            <a:off x="0" y="6800849"/>
            <a:ext cx="12191999" cy="57149"/>
          </a:xfrm>
          <a:prstGeom prst="rect">
            <a:avLst/>
          </a:prstGeom>
        </p:spPr>
      </p:pic>
      <p:pic>
        <p:nvPicPr>
          <p:cNvPr id="42" name="图片 41">
            <a:extLst>
              <a:ext uri="{FF2B5EF4-FFF2-40B4-BE49-F238E27FC236}">
                <a16:creationId xmlns:a16="http://schemas.microsoft.com/office/drawing/2014/main" id="{AE21D3B8-5C25-A8B1-D5F7-25874F14A0A0}"/>
              </a:ext>
            </a:extLst>
          </p:cNvPr>
          <p:cNvPicPr>
            <a:picLocks noChangeAspect="1"/>
          </p:cNvPicPr>
          <p:nvPr/>
        </p:nvPicPr>
        <p:blipFill>
          <a:blip r:embed="rId7"/>
          <a:stretch>
            <a:fillRect/>
          </a:stretch>
        </p:blipFill>
        <p:spPr>
          <a:xfrm>
            <a:off x="6520575" y="2775964"/>
            <a:ext cx="5667241" cy="14944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380999" y="923924"/>
            <a:ext cx="761999" cy="38099"/>
          </a:xfrm>
          <a:prstGeom prst="rect">
            <a:avLst/>
          </a:prstGeom>
        </p:spPr>
      </p:pic>
      <p:sp>
        <p:nvSpPr>
          <p:cNvPr id="3" name="object 3"/>
          <p:cNvSpPr txBox="1">
            <a:spLocks noGrp="1"/>
          </p:cNvSpPr>
          <p:nvPr>
            <p:ph type="title"/>
          </p:nvPr>
        </p:nvSpPr>
        <p:spPr>
          <a:xfrm>
            <a:off x="368299" y="333247"/>
            <a:ext cx="6864350" cy="482183"/>
          </a:xfrm>
          <a:prstGeom prst="rect">
            <a:avLst/>
          </a:prstGeom>
        </p:spPr>
        <p:txBody>
          <a:bodyPr vert="horz" wrap="square" lIns="0" tIns="12700" rIns="0" bIns="0" rtlCol="0">
            <a:spAutoFit/>
          </a:bodyPr>
          <a:lstStyle/>
          <a:p>
            <a:pPr marL="12700">
              <a:lnSpc>
                <a:spcPct val="100000"/>
              </a:lnSpc>
              <a:spcBef>
                <a:spcPts val="100"/>
              </a:spcBef>
            </a:pPr>
            <a:r>
              <a:t>排列等变性的数学推导与理论映射</a:t>
            </a:r>
          </a:p>
        </p:txBody>
      </p:sp>
      <p:grpSp>
        <p:nvGrpSpPr>
          <p:cNvPr id="4" name="object 4"/>
          <p:cNvGrpSpPr/>
          <p:nvPr/>
        </p:nvGrpSpPr>
        <p:grpSpPr>
          <a:xfrm>
            <a:off x="533400" y="1290635"/>
            <a:ext cx="4629150" cy="2590800"/>
            <a:chOff x="380999" y="1190624"/>
            <a:chExt cx="4629150" cy="2590800"/>
          </a:xfrm>
        </p:grpSpPr>
        <p:sp>
          <p:nvSpPr>
            <p:cNvPr id="5" name="object 5"/>
            <p:cNvSpPr/>
            <p:nvPr/>
          </p:nvSpPr>
          <p:spPr>
            <a:xfrm>
              <a:off x="385762" y="1195387"/>
              <a:ext cx="4619625" cy="2581275"/>
            </a:xfrm>
            <a:custGeom>
              <a:avLst/>
              <a:gdLst/>
              <a:ahLst/>
              <a:cxnLst/>
              <a:rect l="l" t="t" r="r" b="b"/>
              <a:pathLst>
                <a:path w="4619625" h="2581275">
                  <a:moveTo>
                    <a:pt x="4517279" y="2581274"/>
                  </a:moveTo>
                  <a:lnTo>
                    <a:pt x="102345" y="2581274"/>
                  </a:lnTo>
                  <a:lnTo>
                    <a:pt x="95221" y="2580573"/>
                  </a:lnTo>
                  <a:lnTo>
                    <a:pt x="54661" y="2566809"/>
                  </a:lnTo>
                  <a:lnTo>
                    <a:pt x="22456" y="2538572"/>
                  </a:lnTo>
                  <a:lnTo>
                    <a:pt x="3507" y="2500160"/>
                  </a:lnTo>
                  <a:lnTo>
                    <a:pt x="0" y="2478929"/>
                  </a:lnTo>
                  <a:lnTo>
                    <a:pt x="0" y="2471737"/>
                  </a:lnTo>
                  <a:lnTo>
                    <a:pt x="0" y="102345"/>
                  </a:lnTo>
                  <a:lnTo>
                    <a:pt x="11090" y="60974"/>
                  </a:lnTo>
                  <a:lnTo>
                    <a:pt x="37168" y="26997"/>
                  </a:lnTo>
                  <a:lnTo>
                    <a:pt x="74264" y="5585"/>
                  </a:lnTo>
                  <a:lnTo>
                    <a:pt x="102345" y="0"/>
                  </a:lnTo>
                  <a:lnTo>
                    <a:pt x="4517279" y="0"/>
                  </a:lnTo>
                  <a:lnTo>
                    <a:pt x="4558649" y="11090"/>
                  </a:lnTo>
                  <a:lnTo>
                    <a:pt x="4592626" y="37168"/>
                  </a:lnTo>
                  <a:lnTo>
                    <a:pt x="4614038" y="74264"/>
                  </a:lnTo>
                  <a:lnTo>
                    <a:pt x="4619624" y="102345"/>
                  </a:lnTo>
                  <a:lnTo>
                    <a:pt x="4619624" y="2478929"/>
                  </a:lnTo>
                  <a:lnTo>
                    <a:pt x="4608533" y="2520299"/>
                  </a:lnTo>
                  <a:lnTo>
                    <a:pt x="4582455" y="2554277"/>
                  </a:lnTo>
                  <a:lnTo>
                    <a:pt x="4545360" y="2575688"/>
                  </a:lnTo>
                  <a:lnTo>
                    <a:pt x="4524402" y="2580573"/>
                  </a:lnTo>
                  <a:lnTo>
                    <a:pt x="4517279" y="2581274"/>
                  </a:lnTo>
                  <a:close/>
                </a:path>
              </a:pathLst>
            </a:custGeom>
            <a:solidFill>
              <a:srgbClr val="F9FAFA">
                <a:alpha val="79998"/>
              </a:srgbClr>
            </a:solidFill>
          </p:spPr>
          <p:txBody>
            <a:bodyPr wrap="square" lIns="0" tIns="0" rIns="0" bIns="0" rtlCol="0"/>
            <a:lstStyle/>
            <a:p>
              <a:endParaRPr/>
            </a:p>
          </p:txBody>
        </p:sp>
        <p:sp>
          <p:nvSpPr>
            <p:cNvPr id="6" name="object 6"/>
            <p:cNvSpPr/>
            <p:nvPr/>
          </p:nvSpPr>
          <p:spPr>
            <a:xfrm>
              <a:off x="385762" y="1195387"/>
              <a:ext cx="4619625" cy="2581275"/>
            </a:xfrm>
            <a:custGeom>
              <a:avLst/>
              <a:gdLst/>
              <a:ahLst/>
              <a:cxnLst/>
              <a:rect l="l" t="t" r="r" b="b"/>
              <a:pathLst>
                <a:path w="4619625" h="2581275">
                  <a:moveTo>
                    <a:pt x="0" y="2471737"/>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4510087" y="0"/>
                  </a:lnTo>
                  <a:lnTo>
                    <a:pt x="4517279" y="0"/>
                  </a:lnTo>
                  <a:lnTo>
                    <a:pt x="4524402" y="701"/>
                  </a:lnTo>
                  <a:lnTo>
                    <a:pt x="4531456" y="2104"/>
                  </a:lnTo>
                  <a:lnTo>
                    <a:pt x="4538510" y="3507"/>
                  </a:lnTo>
                  <a:lnTo>
                    <a:pt x="4545360" y="5585"/>
                  </a:lnTo>
                  <a:lnTo>
                    <a:pt x="4552004" y="8338"/>
                  </a:lnTo>
                  <a:lnTo>
                    <a:pt x="4558649" y="11090"/>
                  </a:lnTo>
                  <a:lnTo>
                    <a:pt x="4592626" y="37168"/>
                  </a:lnTo>
                  <a:lnTo>
                    <a:pt x="4611285" y="67619"/>
                  </a:lnTo>
                  <a:lnTo>
                    <a:pt x="4614038" y="74264"/>
                  </a:lnTo>
                  <a:lnTo>
                    <a:pt x="4616116" y="81113"/>
                  </a:lnTo>
                  <a:lnTo>
                    <a:pt x="4617519" y="88167"/>
                  </a:lnTo>
                  <a:lnTo>
                    <a:pt x="4618922" y="95221"/>
                  </a:lnTo>
                  <a:lnTo>
                    <a:pt x="4619624" y="102345"/>
                  </a:lnTo>
                  <a:lnTo>
                    <a:pt x="4619624" y="109537"/>
                  </a:lnTo>
                  <a:lnTo>
                    <a:pt x="4619624" y="2471737"/>
                  </a:lnTo>
                  <a:lnTo>
                    <a:pt x="4619624" y="2478929"/>
                  </a:lnTo>
                  <a:lnTo>
                    <a:pt x="4618922" y="2486052"/>
                  </a:lnTo>
                  <a:lnTo>
                    <a:pt x="4617519" y="2493106"/>
                  </a:lnTo>
                  <a:lnTo>
                    <a:pt x="4616116" y="2500160"/>
                  </a:lnTo>
                  <a:lnTo>
                    <a:pt x="4597167" y="2538572"/>
                  </a:lnTo>
                  <a:lnTo>
                    <a:pt x="4564961" y="2566809"/>
                  </a:lnTo>
                  <a:lnTo>
                    <a:pt x="4552004" y="2572936"/>
                  </a:lnTo>
                  <a:lnTo>
                    <a:pt x="4545360" y="2575688"/>
                  </a:lnTo>
                  <a:lnTo>
                    <a:pt x="4538510" y="2577766"/>
                  </a:lnTo>
                  <a:lnTo>
                    <a:pt x="4531456" y="2579169"/>
                  </a:lnTo>
                  <a:lnTo>
                    <a:pt x="4524402" y="2580573"/>
                  </a:lnTo>
                  <a:lnTo>
                    <a:pt x="4517279" y="2581274"/>
                  </a:lnTo>
                  <a:lnTo>
                    <a:pt x="4510087" y="2581274"/>
                  </a:lnTo>
                  <a:lnTo>
                    <a:pt x="109537" y="2581274"/>
                  </a:lnTo>
                  <a:lnTo>
                    <a:pt x="102345" y="2581274"/>
                  </a:lnTo>
                  <a:lnTo>
                    <a:pt x="95221" y="2580573"/>
                  </a:lnTo>
                  <a:lnTo>
                    <a:pt x="88167" y="2579169"/>
                  </a:lnTo>
                  <a:lnTo>
                    <a:pt x="81113" y="2577766"/>
                  </a:lnTo>
                  <a:lnTo>
                    <a:pt x="74264" y="2575688"/>
                  </a:lnTo>
                  <a:lnTo>
                    <a:pt x="67619" y="2572936"/>
                  </a:lnTo>
                  <a:lnTo>
                    <a:pt x="60974" y="2570183"/>
                  </a:lnTo>
                  <a:lnTo>
                    <a:pt x="26997" y="2544105"/>
                  </a:lnTo>
                  <a:lnTo>
                    <a:pt x="18460" y="2532592"/>
                  </a:lnTo>
                  <a:lnTo>
                    <a:pt x="14464" y="2526612"/>
                  </a:lnTo>
                  <a:lnTo>
                    <a:pt x="701" y="2486052"/>
                  </a:lnTo>
                  <a:lnTo>
                    <a:pt x="0" y="2478929"/>
                  </a:lnTo>
                  <a:lnTo>
                    <a:pt x="0" y="2471737"/>
                  </a:lnTo>
                  <a:close/>
                </a:path>
              </a:pathLst>
            </a:custGeom>
            <a:ln w="9524">
              <a:solidFill>
                <a:srgbClr val="F2F4F5"/>
              </a:solidFill>
            </a:ln>
          </p:spPr>
          <p:txBody>
            <a:bodyPr wrap="square" lIns="0" tIns="0" rIns="0" bIns="0" rtlCol="0"/>
            <a:lstStyle/>
            <a:p>
              <a:endParaRPr/>
            </a:p>
          </p:txBody>
        </p:sp>
        <p:pic>
          <p:nvPicPr>
            <p:cNvPr id="7" name="object 7"/>
            <p:cNvPicPr/>
            <p:nvPr/>
          </p:nvPicPr>
          <p:blipFill>
            <a:blip r:embed="rId4" cstate="print"/>
            <a:stretch>
              <a:fillRect/>
            </a:stretch>
          </p:blipFill>
          <p:spPr>
            <a:xfrm>
              <a:off x="581024" y="1428749"/>
              <a:ext cx="76200" cy="76199"/>
            </a:xfrm>
            <a:prstGeom prst="rect">
              <a:avLst/>
            </a:prstGeom>
          </p:spPr>
        </p:pic>
        <p:sp>
          <p:nvSpPr>
            <p:cNvPr id="8" name="object 8"/>
            <p:cNvSpPr/>
            <p:nvPr/>
          </p:nvSpPr>
          <p:spPr>
            <a:xfrm>
              <a:off x="585787" y="2786062"/>
              <a:ext cx="4219575" cy="790575"/>
            </a:xfrm>
            <a:custGeom>
              <a:avLst/>
              <a:gdLst/>
              <a:ahLst/>
              <a:cxnLst/>
              <a:rect l="l" t="t" r="r" b="b"/>
              <a:pathLst>
                <a:path w="4219575" h="790575">
                  <a:moveTo>
                    <a:pt x="4152827" y="790574"/>
                  </a:moveTo>
                  <a:lnTo>
                    <a:pt x="66746" y="790574"/>
                  </a:lnTo>
                  <a:lnTo>
                    <a:pt x="62101" y="790117"/>
                  </a:lnTo>
                  <a:lnTo>
                    <a:pt x="24240" y="772967"/>
                  </a:lnTo>
                  <a:lnTo>
                    <a:pt x="2287" y="737674"/>
                  </a:lnTo>
                  <a:lnTo>
                    <a:pt x="0" y="723828"/>
                  </a:lnTo>
                  <a:lnTo>
                    <a:pt x="0" y="719137"/>
                  </a:lnTo>
                  <a:lnTo>
                    <a:pt x="0" y="66746"/>
                  </a:lnTo>
                  <a:lnTo>
                    <a:pt x="14645" y="27848"/>
                  </a:lnTo>
                  <a:lnTo>
                    <a:pt x="48433" y="3642"/>
                  </a:lnTo>
                  <a:lnTo>
                    <a:pt x="66746" y="0"/>
                  </a:lnTo>
                  <a:lnTo>
                    <a:pt x="4152827" y="0"/>
                  </a:lnTo>
                  <a:lnTo>
                    <a:pt x="4191725" y="14645"/>
                  </a:lnTo>
                  <a:lnTo>
                    <a:pt x="4215930" y="48432"/>
                  </a:lnTo>
                  <a:lnTo>
                    <a:pt x="4219574" y="66746"/>
                  </a:lnTo>
                  <a:lnTo>
                    <a:pt x="4219574" y="723828"/>
                  </a:lnTo>
                  <a:lnTo>
                    <a:pt x="4204928" y="762725"/>
                  </a:lnTo>
                  <a:lnTo>
                    <a:pt x="4171140" y="786932"/>
                  </a:lnTo>
                  <a:lnTo>
                    <a:pt x="4157472" y="790117"/>
                  </a:lnTo>
                  <a:lnTo>
                    <a:pt x="4152827" y="790574"/>
                  </a:lnTo>
                  <a:close/>
                </a:path>
              </a:pathLst>
            </a:custGeom>
            <a:solidFill>
              <a:srgbClr val="FFFFFF"/>
            </a:solidFill>
          </p:spPr>
          <p:txBody>
            <a:bodyPr wrap="square" lIns="0" tIns="0" rIns="0" bIns="0" rtlCol="0"/>
            <a:lstStyle/>
            <a:p>
              <a:endParaRPr/>
            </a:p>
          </p:txBody>
        </p:sp>
        <p:sp>
          <p:nvSpPr>
            <p:cNvPr id="9" name="object 9"/>
            <p:cNvSpPr/>
            <p:nvPr/>
          </p:nvSpPr>
          <p:spPr>
            <a:xfrm>
              <a:off x="585787" y="2786062"/>
              <a:ext cx="4219575" cy="790575"/>
            </a:xfrm>
            <a:custGeom>
              <a:avLst/>
              <a:gdLst/>
              <a:ahLst/>
              <a:cxnLst/>
              <a:rect l="l" t="t" r="r" b="b"/>
              <a:pathLst>
                <a:path w="4219575" h="790575">
                  <a:moveTo>
                    <a:pt x="0" y="719137"/>
                  </a:moveTo>
                  <a:lnTo>
                    <a:pt x="0" y="71437"/>
                  </a:lnTo>
                  <a:lnTo>
                    <a:pt x="0" y="66746"/>
                  </a:lnTo>
                  <a:lnTo>
                    <a:pt x="457" y="62101"/>
                  </a:lnTo>
                  <a:lnTo>
                    <a:pt x="1372" y="57500"/>
                  </a:lnTo>
                  <a:lnTo>
                    <a:pt x="2287" y="52899"/>
                  </a:lnTo>
                  <a:lnTo>
                    <a:pt x="3642" y="48432"/>
                  </a:lnTo>
                  <a:lnTo>
                    <a:pt x="5437" y="44099"/>
                  </a:lnTo>
                  <a:lnTo>
                    <a:pt x="7232" y="39765"/>
                  </a:lnTo>
                  <a:lnTo>
                    <a:pt x="20923" y="20923"/>
                  </a:lnTo>
                  <a:lnTo>
                    <a:pt x="24240" y="17606"/>
                  </a:lnTo>
                  <a:lnTo>
                    <a:pt x="44099" y="5437"/>
                  </a:lnTo>
                  <a:lnTo>
                    <a:pt x="48433" y="3642"/>
                  </a:lnTo>
                  <a:lnTo>
                    <a:pt x="52900" y="2287"/>
                  </a:lnTo>
                  <a:lnTo>
                    <a:pt x="57500" y="1372"/>
                  </a:lnTo>
                  <a:lnTo>
                    <a:pt x="62101" y="457"/>
                  </a:lnTo>
                  <a:lnTo>
                    <a:pt x="66746" y="0"/>
                  </a:lnTo>
                  <a:lnTo>
                    <a:pt x="71437" y="0"/>
                  </a:lnTo>
                  <a:lnTo>
                    <a:pt x="4148137" y="0"/>
                  </a:lnTo>
                  <a:lnTo>
                    <a:pt x="4152827" y="0"/>
                  </a:lnTo>
                  <a:lnTo>
                    <a:pt x="4157472" y="457"/>
                  </a:lnTo>
                  <a:lnTo>
                    <a:pt x="4162073" y="1372"/>
                  </a:lnTo>
                  <a:lnTo>
                    <a:pt x="4166673" y="2287"/>
                  </a:lnTo>
                  <a:lnTo>
                    <a:pt x="4198650" y="20923"/>
                  </a:lnTo>
                  <a:lnTo>
                    <a:pt x="4201967" y="24240"/>
                  </a:lnTo>
                  <a:lnTo>
                    <a:pt x="4219116" y="62101"/>
                  </a:lnTo>
                  <a:lnTo>
                    <a:pt x="4219574" y="71437"/>
                  </a:lnTo>
                  <a:lnTo>
                    <a:pt x="4219574" y="719137"/>
                  </a:lnTo>
                  <a:lnTo>
                    <a:pt x="4207534" y="758825"/>
                  </a:lnTo>
                  <a:lnTo>
                    <a:pt x="4175474" y="785136"/>
                  </a:lnTo>
                  <a:lnTo>
                    <a:pt x="4148137" y="790574"/>
                  </a:lnTo>
                  <a:lnTo>
                    <a:pt x="71437" y="790574"/>
                  </a:lnTo>
                  <a:lnTo>
                    <a:pt x="44099" y="785136"/>
                  </a:lnTo>
                  <a:lnTo>
                    <a:pt x="39765" y="783341"/>
                  </a:lnTo>
                  <a:lnTo>
                    <a:pt x="20923" y="769651"/>
                  </a:lnTo>
                  <a:lnTo>
                    <a:pt x="17606" y="766334"/>
                  </a:lnTo>
                  <a:lnTo>
                    <a:pt x="5437" y="746475"/>
                  </a:lnTo>
                  <a:lnTo>
                    <a:pt x="3642" y="742141"/>
                  </a:lnTo>
                  <a:lnTo>
                    <a:pt x="2287" y="737674"/>
                  </a:lnTo>
                  <a:lnTo>
                    <a:pt x="1372" y="733074"/>
                  </a:lnTo>
                  <a:lnTo>
                    <a:pt x="457" y="728473"/>
                  </a:lnTo>
                  <a:lnTo>
                    <a:pt x="0" y="723828"/>
                  </a:lnTo>
                  <a:lnTo>
                    <a:pt x="0" y="719137"/>
                  </a:lnTo>
                  <a:close/>
                </a:path>
              </a:pathLst>
            </a:custGeom>
            <a:ln w="9524">
              <a:solidFill>
                <a:srgbClr val="F2F4F5"/>
              </a:solidFill>
            </a:ln>
          </p:spPr>
          <p:txBody>
            <a:bodyPr wrap="square" lIns="0" tIns="0" rIns="0" bIns="0" rtlCol="0"/>
            <a:lstStyle/>
            <a:p>
              <a:endParaRPr/>
            </a:p>
          </p:txBody>
        </p:sp>
      </p:grpSp>
      <p:sp>
        <p:nvSpPr>
          <p:cNvPr id="10" name="object 10"/>
          <p:cNvSpPr txBox="1"/>
          <p:nvPr/>
        </p:nvSpPr>
        <p:spPr>
          <a:xfrm>
            <a:off x="774699" y="1402589"/>
            <a:ext cx="4194175" cy="666208"/>
          </a:xfrm>
          <a:prstGeom prst="rect">
            <a:avLst/>
          </a:prstGeom>
        </p:spPr>
        <p:txBody>
          <a:bodyPr vert="horz" wrap="square" lIns="0" tIns="92710" rIns="0" bIns="0" rtlCol="0">
            <a:spAutoFit/>
          </a:bodyPr>
          <a:lstStyle/>
          <a:p>
            <a:pPr marL="164465">
              <a:lnSpc>
                <a:spcPct val="100000"/>
              </a:lnSpc>
              <a:spcBef>
                <a:spcPts val="730"/>
              </a:spcBef>
            </a:pPr>
            <a:r>
              <a:rPr sz="900">
                <a:solidFill>
                  <a:srgbClr val="111726"/>
                </a:solidFill>
                <a:latin typeface="宋体"/>
                <a:cs typeface="宋体"/>
              </a:rPr>
              <a:t>模型训练优化目标公式化 ( CPI)</a:t>
            </a:r>
            <a:endParaRPr sz="900">
              <a:latin typeface="宋体"/>
              <a:cs typeface="宋体"/>
            </a:endParaRPr>
          </a:p>
          <a:p>
            <a:pPr marL="12700" marR="5080">
              <a:lnSpc>
                <a:spcPct val="129000"/>
              </a:lnSpc>
              <a:spcBef>
                <a:spcPts val="355"/>
              </a:spcBef>
            </a:pPr>
            <a:r>
              <a:rPr sz="1000">
                <a:latin typeface="宋体"/>
                <a:cs typeface="宋体"/>
              </a:rPr>
              <a:t>为赋予模型通道排列不变性 </a:t>
            </a:r>
            <a:r>
              <a:rPr sz="1050">
                <a:latin typeface="Trebuchet MS"/>
                <a:cs typeface="Trebuchet MS"/>
              </a:rPr>
              <a:t>(</a:t>
            </a:r>
            <a:r>
              <a:rPr sz="950">
                <a:latin typeface="Dotum"/>
                <a:cs typeface="Dotum"/>
              </a:rPr>
              <a:t>CPI</a:t>
            </a:r>
            <a:r>
              <a:rPr sz="1050">
                <a:latin typeface="Trebuchet MS"/>
                <a:cs typeface="Trebuchet MS"/>
              </a:rPr>
              <a:t>)</a:t>
            </a:r>
            <a:r>
              <a:rPr sz="1000">
                <a:latin typeface="宋体"/>
                <a:cs typeface="宋体"/>
              </a:rPr>
              <a:t>，对具有参数 </a:t>
            </a:r>
            <a:r>
              <a:rPr sz="900" i="1">
                <a:latin typeface="Cambria"/>
                <a:cs typeface="Cambria"/>
              </a:rPr>
              <a:t>θ </a:t>
            </a:r>
            <a:r>
              <a:rPr sz="1000">
                <a:latin typeface="宋体"/>
                <a:cs typeface="宋体"/>
              </a:rPr>
              <a:t>的空间模块 </a:t>
            </a:r>
            <a:r>
              <a:rPr sz="900" i="1">
                <a:latin typeface="Cambria"/>
                <a:cs typeface="Cambria"/>
              </a:rPr>
              <a:t>f </a:t>
            </a:r>
            <a:r>
              <a:rPr sz="1000">
                <a:latin typeface="宋体"/>
                <a:cs typeface="宋体"/>
              </a:rPr>
              <a:t>，我们在通道全排列</a:t>
            </a:r>
            <a:r>
              <a:rPr sz="1500" baseline="2777">
                <a:latin typeface="宋体"/>
                <a:cs typeface="宋体"/>
              </a:rPr>
              <a:t>分布 </a:t>
            </a:r>
            <a:r>
              <a:rPr sz="1350" baseline="3086">
                <a:latin typeface="Cambria"/>
                <a:cs typeface="Cambria"/>
              </a:rPr>
              <a:t>Π</a:t>
            </a:r>
            <a:r>
              <a:rPr sz="600">
                <a:latin typeface="Verdana"/>
                <a:cs typeface="Verdana"/>
              </a:rPr>
              <a:t>C </a:t>
            </a:r>
            <a:r>
              <a:rPr sz="1500" baseline="2777">
                <a:latin typeface="宋体"/>
                <a:cs typeface="宋体"/>
              </a:rPr>
              <a:t>上最小化期望损失：</a:t>
            </a:r>
          </a:p>
        </p:txBody>
      </p:sp>
      <p:grpSp>
        <p:nvGrpSpPr>
          <p:cNvPr id="11" name="object 11"/>
          <p:cNvGrpSpPr/>
          <p:nvPr/>
        </p:nvGrpSpPr>
        <p:grpSpPr>
          <a:xfrm>
            <a:off x="321370" y="3897122"/>
            <a:ext cx="4629150" cy="2543175"/>
            <a:chOff x="380999" y="3933824"/>
            <a:chExt cx="4629150" cy="2543175"/>
          </a:xfrm>
        </p:grpSpPr>
        <p:sp>
          <p:nvSpPr>
            <p:cNvPr id="12" name="object 12"/>
            <p:cNvSpPr/>
            <p:nvPr/>
          </p:nvSpPr>
          <p:spPr>
            <a:xfrm>
              <a:off x="385762" y="3938587"/>
              <a:ext cx="4619625" cy="2533650"/>
            </a:xfrm>
            <a:custGeom>
              <a:avLst/>
              <a:gdLst/>
              <a:ahLst/>
              <a:cxnLst/>
              <a:rect l="l" t="t" r="r" b="b"/>
              <a:pathLst>
                <a:path w="4619625" h="2533650">
                  <a:moveTo>
                    <a:pt x="4517279" y="2533649"/>
                  </a:moveTo>
                  <a:lnTo>
                    <a:pt x="102345" y="2533649"/>
                  </a:lnTo>
                  <a:lnTo>
                    <a:pt x="95221" y="2532948"/>
                  </a:lnTo>
                  <a:lnTo>
                    <a:pt x="54661" y="2519184"/>
                  </a:lnTo>
                  <a:lnTo>
                    <a:pt x="22456" y="2490948"/>
                  </a:lnTo>
                  <a:lnTo>
                    <a:pt x="3507" y="2452535"/>
                  </a:lnTo>
                  <a:lnTo>
                    <a:pt x="0" y="2431304"/>
                  </a:lnTo>
                  <a:lnTo>
                    <a:pt x="0" y="2424112"/>
                  </a:lnTo>
                  <a:lnTo>
                    <a:pt x="0" y="102344"/>
                  </a:lnTo>
                  <a:lnTo>
                    <a:pt x="11090" y="60973"/>
                  </a:lnTo>
                  <a:lnTo>
                    <a:pt x="37168" y="26996"/>
                  </a:lnTo>
                  <a:lnTo>
                    <a:pt x="74264" y="5585"/>
                  </a:lnTo>
                  <a:lnTo>
                    <a:pt x="102345" y="0"/>
                  </a:lnTo>
                  <a:lnTo>
                    <a:pt x="4517279" y="0"/>
                  </a:lnTo>
                  <a:lnTo>
                    <a:pt x="4558649" y="11090"/>
                  </a:lnTo>
                  <a:lnTo>
                    <a:pt x="4592626" y="37168"/>
                  </a:lnTo>
                  <a:lnTo>
                    <a:pt x="4614038" y="74263"/>
                  </a:lnTo>
                  <a:lnTo>
                    <a:pt x="4619624" y="102344"/>
                  </a:lnTo>
                  <a:lnTo>
                    <a:pt x="4619624" y="2431304"/>
                  </a:lnTo>
                  <a:lnTo>
                    <a:pt x="4608533" y="2472675"/>
                  </a:lnTo>
                  <a:lnTo>
                    <a:pt x="4582455" y="2506652"/>
                  </a:lnTo>
                  <a:lnTo>
                    <a:pt x="4545360" y="2528063"/>
                  </a:lnTo>
                  <a:lnTo>
                    <a:pt x="4524402" y="2532948"/>
                  </a:lnTo>
                  <a:lnTo>
                    <a:pt x="4517279" y="2533649"/>
                  </a:lnTo>
                  <a:close/>
                </a:path>
              </a:pathLst>
            </a:custGeom>
            <a:solidFill>
              <a:srgbClr val="F9FAFA">
                <a:alpha val="79998"/>
              </a:srgbClr>
            </a:solidFill>
          </p:spPr>
          <p:txBody>
            <a:bodyPr wrap="square" lIns="0" tIns="0" rIns="0" bIns="0" rtlCol="0"/>
            <a:lstStyle/>
            <a:p>
              <a:endParaRPr/>
            </a:p>
          </p:txBody>
        </p:sp>
        <p:sp>
          <p:nvSpPr>
            <p:cNvPr id="13" name="object 13"/>
            <p:cNvSpPr/>
            <p:nvPr/>
          </p:nvSpPr>
          <p:spPr>
            <a:xfrm>
              <a:off x="385762" y="3938587"/>
              <a:ext cx="4619625" cy="2533650"/>
            </a:xfrm>
            <a:custGeom>
              <a:avLst/>
              <a:gdLst/>
              <a:ahLst/>
              <a:cxnLst/>
              <a:rect l="l" t="t" r="r" b="b"/>
              <a:pathLst>
                <a:path w="4619625" h="2533650">
                  <a:moveTo>
                    <a:pt x="0" y="2424112"/>
                  </a:moveTo>
                  <a:lnTo>
                    <a:pt x="0" y="109537"/>
                  </a:lnTo>
                  <a:lnTo>
                    <a:pt x="0" y="102344"/>
                  </a:lnTo>
                  <a:lnTo>
                    <a:pt x="701" y="95221"/>
                  </a:lnTo>
                  <a:lnTo>
                    <a:pt x="2104" y="88167"/>
                  </a:lnTo>
                  <a:lnTo>
                    <a:pt x="3507" y="81113"/>
                  </a:lnTo>
                  <a:lnTo>
                    <a:pt x="5585" y="74263"/>
                  </a:lnTo>
                  <a:lnTo>
                    <a:pt x="8338" y="67618"/>
                  </a:lnTo>
                  <a:lnTo>
                    <a:pt x="11090" y="60973"/>
                  </a:lnTo>
                  <a:lnTo>
                    <a:pt x="14464" y="54661"/>
                  </a:lnTo>
                  <a:lnTo>
                    <a:pt x="18460" y="48681"/>
                  </a:lnTo>
                  <a:lnTo>
                    <a:pt x="22456" y="42701"/>
                  </a:lnTo>
                  <a:lnTo>
                    <a:pt x="26997" y="37168"/>
                  </a:lnTo>
                  <a:lnTo>
                    <a:pt x="32082" y="32082"/>
                  </a:lnTo>
                  <a:lnTo>
                    <a:pt x="37168" y="26996"/>
                  </a:lnTo>
                  <a:lnTo>
                    <a:pt x="42701" y="22455"/>
                  </a:lnTo>
                  <a:lnTo>
                    <a:pt x="48681" y="18460"/>
                  </a:lnTo>
                  <a:lnTo>
                    <a:pt x="54661" y="14464"/>
                  </a:lnTo>
                  <a:lnTo>
                    <a:pt x="60974" y="11090"/>
                  </a:lnTo>
                  <a:lnTo>
                    <a:pt x="102345" y="0"/>
                  </a:lnTo>
                  <a:lnTo>
                    <a:pt x="109537" y="0"/>
                  </a:lnTo>
                  <a:lnTo>
                    <a:pt x="4510087" y="0"/>
                  </a:lnTo>
                  <a:lnTo>
                    <a:pt x="4517279" y="0"/>
                  </a:lnTo>
                  <a:lnTo>
                    <a:pt x="4524402" y="701"/>
                  </a:lnTo>
                  <a:lnTo>
                    <a:pt x="4531456" y="2104"/>
                  </a:lnTo>
                  <a:lnTo>
                    <a:pt x="4538510" y="3507"/>
                  </a:lnTo>
                  <a:lnTo>
                    <a:pt x="4570942" y="18460"/>
                  </a:lnTo>
                  <a:lnTo>
                    <a:pt x="4576922" y="22455"/>
                  </a:lnTo>
                  <a:lnTo>
                    <a:pt x="4582455" y="26996"/>
                  </a:lnTo>
                  <a:lnTo>
                    <a:pt x="4587541" y="32082"/>
                  </a:lnTo>
                  <a:lnTo>
                    <a:pt x="4592626" y="37168"/>
                  </a:lnTo>
                  <a:lnTo>
                    <a:pt x="4611285" y="67618"/>
                  </a:lnTo>
                  <a:lnTo>
                    <a:pt x="4614038" y="74263"/>
                  </a:lnTo>
                  <a:lnTo>
                    <a:pt x="4616116" y="81113"/>
                  </a:lnTo>
                  <a:lnTo>
                    <a:pt x="4617519" y="88167"/>
                  </a:lnTo>
                  <a:lnTo>
                    <a:pt x="4618922" y="95221"/>
                  </a:lnTo>
                  <a:lnTo>
                    <a:pt x="4619624" y="102344"/>
                  </a:lnTo>
                  <a:lnTo>
                    <a:pt x="4619624" y="109537"/>
                  </a:lnTo>
                  <a:lnTo>
                    <a:pt x="4619624" y="2424112"/>
                  </a:lnTo>
                  <a:lnTo>
                    <a:pt x="4619624" y="2431304"/>
                  </a:lnTo>
                  <a:lnTo>
                    <a:pt x="4618922" y="2438427"/>
                  </a:lnTo>
                  <a:lnTo>
                    <a:pt x="4617519" y="2445481"/>
                  </a:lnTo>
                  <a:lnTo>
                    <a:pt x="4616116" y="2452535"/>
                  </a:lnTo>
                  <a:lnTo>
                    <a:pt x="4614038" y="2459385"/>
                  </a:lnTo>
                  <a:lnTo>
                    <a:pt x="4611285" y="2466030"/>
                  </a:lnTo>
                  <a:lnTo>
                    <a:pt x="4608533" y="2472675"/>
                  </a:lnTo>
                  <a:lnTo>
                    <a:pt x="4605159" y="2478987"/>
                  </a:lnTo>
                  <a:lnTo>
                    <a:pt x="4601163" y="2484967"/>
                  </a:lnTo>
                  <a:lnTo>
                    <a:pt x="4597167" y="2490947"/>
                  </a:lnTo>
                  <a:lnTo>
                    <a:pt x="4564961" y="2519184"/>
                  </a:lnTo>
                  <a:lnTo>
                    <a:pt x="4552004" y="2525310"/>
                  </a:lnTo>
                  <a:lnTo>
                    <a:pt x="4545360" y="2528063"/>
                  </a:lnTo>
                  <a:lnTo>
                    <a:pt x="4538510" y="2530141"/>
                  </a:lnTo>
                  <a:lnTo>
                    <a:pt x="4531456" y="2531544"/>
                  </a:lnTo>
                  <a:lnTo>
                    <a:pt x="4524402" y="2532948"/>
                  </a:lnTo>
                  <a:lnTo>
                    <a:pt x="4517279" y="2533649"/>
                  </a:lnTo>
                  <a:lnTo>
                    <a:pt x="4510087" y="2533649"/>
                  </a:lnTo>
                  <a:lnTo>
                    <a:pt x="109537" y="2533649"/>
                  </a:lnTo>
                  <a:lnTo>
                    <a:pt x="102345" y="2533649"/>
                  </a:lnTo>
                  <a:lnTo>
                    <a:pt x="95221" y="2532948"/>
                  </a:lnTo>
                  <a:lnTo>
                    <a:pt x="88167" y="2531544"/>
                  </a:lnTo>
                  <a:lnTo>
                    <a:pt x="81113" y="2530141"/>
                  </a:lnTo>
                  <a:lnTo>
                    <a:pt x="74264" y="2528063"/>
                  </a:lnTo>
                  <a:lnTo>
                    <a:pt x="67619" y="2525310"/>
                  </a:lnTo>
                  <a:lnTo>
                    <a:pt x="60974" y="2522558"/>
                  </a:lnTo>
                  <a:lnTo>
                    <a:pt x="32082" y="2501566"/>
                  </a:lnTo>
                  <a:lnTo>
                    <a:pt x="26997" y="2496481"/>
                  </a:lnTo>
                  <a:lnTo>
                    <a:pt x="8338" y="2466030"/>
                  </a:lnTo>
                  <a:lnTo>
                    <a:pt x="5585" y="2459385"/>
                  </a:lnTo>
                  <a:lnTo>
                    <a:pt x="3507" y="2452535"/>
                  </a:lnTo>
                  <a:lnTo>
                    <a:pt x="2104" y="2445481"/>
                  </a:lnTo>
                  <a:lnTo>
                    <a:pt x="701" y="2438427"/>
                  </a:lnTo>
                  <a:lnTo>
                    <a:pt x="0" y="2431304"/>
                  </a:lnTo>
                  <a:lnTo>
                    <a:pt x="0" y="2424112"/>
                  </a:lnTo>
                  <a:close/>
                </a:path>
              </a:pathLst>
            </a:custGeom>
            <a:ln w="9524">
              <a:solidFill>
                <a:srgbClr val="F2F4F5"/>
              </a:solidFill>
            </a:ln>
          </p:spPr>
          <p:txBody>
            <a:bodyPr wrap="square" lIns="0" tIns="0" rIns="0" bIns="0" rtlCol="0"/>
            <a:lstStyle/>
            <a:p>
              <a:endParaRPr/>
            </a:p>
          </p:txBody>
        </p:sp>
        <p:pic>
          <p:nvPicPr>
            <p:cNvPr id="14" name="object 14"/>
            <p:cNvPicPr/>
            <p:nvPr/>
          </p:nvPicPr>
          <p:blipFill>
            <a:blip r:embed="rId4" cstate="print"/>
            <a:stretch>
              <a:fillRect/>
            </a:stretch>
          </p:blipFill>
          <p:spPr>
            <a:xfrm>
              <a:off x="581024" y="4171949"/>
              <a:ext cx="76200" cy="76199"/>
            </a:xfrm>
            <a:prstGeom prst="rect">
              <a:avLst/>
            </a:prstGeom>
          </p:spPr>
        </p:pic>
        <p:sp>
          <p:nvSpPr>
            <p:cNvPr id="15" name="object 15"/>
            <p:cNvSpPr/>
            <p:nvPr/>
          </p:nvSpPr>
          <p:spPr>
            <a:xfrm>
              <a:off x="585787" y="5529262"/>
              <a:ext cx="4219575" cy="742950"/>
            </a:xfrm>
            <a:custGeom>
              <a:avLst/>
              <a:gdLst/>
              <a:ahLst/>
              <a:cxnLst/>
              <a:rect l="l" t="t" r="r" b="b"/>
              <a:pathLst>
                <a:path w="4219575" h="742950">
                  <a:moveTo>
                    <a:pt x="4152827" y="742949"/>
                  </a:moveTo>
                  <a:lnTo>
                    <a:pt x="66746" y="742949"/>
                  </a:lnTo>
                  <a:lnTo>
                    <a:pt x="62101" y="742491"/>
                  </a:lnTo>
                  <a:lnTo>
                    <a:pt x="24240" y="725342"/>
                  </a:lnTo>
                  <a:lnTo>
                    <a:pt x="2287" y="690049"/>
                  </a:lnTo>
                  <a:lnTo>
                    <a:pt x="0" y="676202"/>
                  </a:lnTo>
                  <a:lnTo>
                    <a:pt x="0" y="671512"/>
                  </a:lnTo>
                  <a:lnTo>
                    <a:pt x="0" y="66746"/>
                  </a:lnTo>
                  <a:lnTo>
                    <a:pt x="14645" y="27848"/>
                  </a:lnTo>
                  <a:lnTo>
                    <a:pt x="48433" y="3642"/>
                  </a:lnTo>
                  <a:lnTo>
                    <a:pt x="66746" y="0"/>
                  </a:lnTo>
                  <a:lnTo>
                    <a:pt x="4152827" y="0"/>
                  </a:lnTo>
                  <a:lnTo>
                    <a:pt x="4191725" y="14645"/>
                  </a:lnTo>
                  <a:lnTo>
                    <a:pt x="4215930" y="48432"/>
                  </a:lnTo>
                  <a:lnTo>
                    <a:pt x="4219574" y="66746"/>
                  </a:lnTo>
                  <a:lnTo>
                    <a:pt x="4219574" y="676202"/>
                  </a:lnTo>
                  <a:lnTo>
                    <a:pt x="4204928" y="715100"/>
                  </a:lnTo>
                  <a:lnTo>
                    <a:pt x="4171140" y="739306"/>
                  </a:lnTo>
                  <a:lnTo>
                    <a:pt x="4157472" y="742491"/>
                  </a:lnTo>
                  <a:lnTo>
                    <a:pt x="4152827" y="742949"/>
                  </a:lnTo>
                  <a:close/>
                </a:path>
              </a:pathLst>
            </a:custGeom>
            <a:solidFill>
              <a:srgbClr val="FFFFFF"/>
            </a:solidFill>
          </p:spPr>
          <p:txBody>
            <a:bodyPr wrap="square" lIns="0" tIns="0" rIns="0" bIns="0" rtlCol="0"/>
            <a:lstStyle/>
            <a:p>
              <a:endParaRPr/>
            </a:p>
          </p:txBody>
        </p:sp>
        <p:sp>
          <p:nvSpPr>
            <p:cNvPr id="16" name="object 16"/>
            <p:cNvSpPr/>
            <p:nvPr/>
          </p:nvSpPr>
          <p:spPr>
            <a:xfrm>
              <a:off x="585787" y="5529262"/>
              <a:ext cx="4219575" cy="742950"/>
            </a:xfrm>
            <a:custGeom>
              <a:avLst/>
              <a:gdLst/>
              <a:ahLst/>
              <a:cxnLst/>
              <a:rect l="l" t="t" r="r" b="b"/>
              <a:pathLst>
                <a:path w="4219575" h="742950">
                  <a:moveTo>
                    <a:pt x="0" y="671512"/>
                  </a:moveTo>
                  <a:lnTo>
                    <a:pt x="0" y="71437"/>
                  </a:lnTo>
                  <a:lnTo>
                    <a:pt x="0" y="66746"/>
                  </a:lnTo>
                  <a:lnTo>
                    <a:pt x="457" y="62101"/>
                  </a:lnTo>
                  <a:lnTo>
                    <a:pt x="12039" y="31748"/>
                  </a:lnTo>
                  <a:lnTo>
                    <a:pt x="14645" y="27848"/>
                  </a:lnTo>
                  <a:lnTo>
                    <a:pt x="17606" y="24239"/>
                  </a:lnTo>
                  <a:lnTo>
                    <a:pt x="20923" y="20923"/>
                  </a:lnTo>
                  <a:lnTo>
                    <a:pt x="24240" y="17606"/>
                  </a:lnTo>
                  <a:lnTo>
                    <a:pt x="27848" y="14645"/>
                  </a:lnTo>
                  <a:lnTo>
                    <a:pt x="31748" y="12039"/>
                  </a:lnTo>
                  <a:lnTo>
                    <a:pt x="35649" y="9432"/>
                  </a:lnTo>
                  <a:lnTo>
                    <a:pt x="66746" y="0"/>
                  </a:lnTo>
                  <a:lnTo>
                    <a:pt x="71437" y="0"/>
                  </a:lnTo>
                  <a:lnTo>
                    <a:pt x="4148137" y="0"/>
                  </a:lnTo>
                  <a:lnTo>
                    <a:pt x="4152827" y="0"/>
                  </a:lnTo>
                  <a:lnTo>
                    <a:pt x="4157472" y="457"/>
                  </a:lnTo>
                  <a:lnTo>
                    <a:pt x="4195333" y="17606"/>
                  </a:lnTo>
                  <a:lnTo>
                    <a:pt x="4198650" y="20923"/>
                  </a:lnTo>
                  <a:lnTo>
                    <a:pt x="4201967" y="24239"/>
                  </a:lnTo>
                  <a:lnTo>
                    <a:pt x="4204928" y="27848"/>
                  </a:lnTo>
                  <a:lnTo>
                    <a:pt x="4207534" y="31748"/>
                  </a:lnTo>
                  <a:lnTo>
                    <a:pt x="4210140" y="35648"/>
                  </a:lnTo>
                  <a:lnTo>
                    <a:pt x="4219574" y="71437"/>
                  </a:lnTo>
                  <a:lnTo>
                    <a:pt x="4219574" y="671512"/>
                  </a:lnTo>
                  <a:lnTo>
                    <a:pt x="4219574" y="676202"/>
                  </a:lnTo>
                  <a:lnTo>
                    <a:pt x="4219116" y="680848"/>
                  </a:lnTo>
                  <a:lnTo>
                    <a:pt x="4218201" y="685448"/>
                  </a:lnTo>
                  <a:lnTo>
                    <a:pt x="4217285" y="690049"/>
                  </a:lnTo>
                  <a:lnTo>
                    <a:pt x="4215930" y="694516"/>
                  </a:lnTo>
                  <a:lnTo>
                    <a:pt x="4214135" y="698849"/>
                  </a:lnTo>
                  <a:lnTo>
                    <a:pt x="4212340" y="703183"/>
                  </a:lnTo>
                  <a:lnTo>
                    <a:pt x="4187825" y="730909"/>
                  </a:lnTo>
                  <a:lnTo>
                    <a:pt x="4183924" y="733515"/>
                  </a:lnTo>
                  <a:lnTo>
                    <a:pt x="4179807" y="735716"/>
                  </a:lnTo>
                  <a:lnTo>
                    <a:pt x="4175474" y="737511"/>
                  </a:lnTo>
                  <a:lnTo>
                    <a:pt x="4171140" y="739306"/>
                  </a:lnTo>
                  <a:lnTo>
                    <a:pt x="4166673" y="740661"/>
                  </a:lnTo>
                  <a:lnTo>
                    <a:pt x="4162073" y="741576"/>
                  </a:lnTo>
                  <a:lnTo>
                    <a:pt x="4157472" y="742491"/>
                  </a:lnTo>
                  <a:lnTo>
                    <a:pt x="4152827" y="742949"/>
                  </a:lnTo>
                  <a:lnTo>
                    <a:pt x="4148137" y="742949"/>
                  </a:lnTo>
                  <a:lnTo>
                    <a:pt x="71437" y="742949"/>
                  </a:lnTo>
                  <a:lnTo>
                    <a:pt x="66746" y="742949"/>
                  </a:lnTo>
                  <a:lnTo>
                    <a:pt x="62101" y="742491"/>
                  </a:lnTo>
                  <a:lnTo>
                    <a:pt x="57500" y="741576"/>
                  </a:lnTo>
                  <a:lnTo>
                    <a:pt x="52900" y="740661"/>
                  </a:lnTo>
                  <a:lnTo>
                    <a:pt x="48433" y="739306"/>
                  </a:lnTo>
                  <a:lnTo>
                    <a:pt x="44099" y="737511"/>
                  </a:lnTo>
                  <a:lnTo>
                    <a:pt x="39765" y="735716"/>
                  </a:lnTo>
                  <a:lnTo>
                    <a:pt x="35649" y="733515"/>
                  </a:lnTo>
                  <a:lnTo>
                    <a:pt x="31748" y="730909"/>
                  </a:lnTo>
                  <a:lnTo>
                    <a:pt x="27848" y="728304"/>
                  </a:lnTo>
                  <a:lnTo>
                    <a:pt x="5437" y="698849"/>
                  </a:lnTo>
                  <a:lnTo>
                    <a:pt x="3642" y="694516"/>
                  </a:lnTo>
                  <a:lnTo>
                    <a:pt x="2287" y="690049"/>
                  </a:lnTo>
                  <a:lnTo>
                    <a:pt x="1372" y="685448"/>
                  </a:lnTo>
                  <a:lnTo>
                    <a:pt x="457" y="680848"/>
                  </a:lnTo>
                  <a:lnTo>
                    <a:pt x="0" y="676202"/>
                  </a:lnTo>
                  <a:lnTo>
                    <a:pt x="0" y="671512"/>
                  </a:lnTo>
                  <a:close/>
                </a:path>
              </a:pathLst>
            </a:custGeom>
            <a:ln w="9524">
              <a:solidFill>
                <a:srgbClr val="F2F4F5"/>
              </a:solidFill>
            </a:ln>
          </p:spPr>
          <p:txBody>
            <a:bodyPr wrap="square" lIns="0" tIns="0" rIns="0" bIns="0" rtlCol="0"/>
            <a:lstStyle/>
            <a:p>
              <a:endParaRPr/>
            </a:p>
          </p:txBody>
        </p:sp>
      </p:grpSp>
      <p:sp>
        <p:nvSpPr>
          <p:cNvPr id="17" name="object 17"/>
          <p:cNvSpPr txBox="1"/>
          <p:nvPr/>
        </p:nvSpPr>
        <p:spPr>
          <a:xfrm>
            <a:off x="521395" y="4078146"/>
            <a:ext cx="4291965" cy="603885"/>
          </a:xfrm>
          <a:prstGeom prst="rect">
            <a:avLst/>
          </a:prstGeom>
        </p:spPr>
        <p:txBody>
          <a:bodyPr vert="horz" wrap="square" lIns="0" tIns="12700" rIns="0" bIns="0" rtlCol="0">
            <a:spAutoFit/>
          </a:bodyPr>
          <a:lstStyle/>
          <a:p>
            <a:pPr marL="189865">
              <a:lnSpc>
                <a:spcPct val="100000"/>
              </a:lnSpc>
              <a:spcBef>
                <a:spcPts val="100"/>
              </a:spcBef>
            </a:pPr>
            <a:r>
              <a:rPr sz="900" spc="-30">
                <a:solidFill>
                  <a:srgbClr val="111726"/>
                </a:solidFill>
                <a:latin typeface="宋体"/>
                <a:cs typeface="宋体"/>
              </a:rPr>
              <a:t>排列等变形 ( </a:t>
            </a:r>
            <a:r>
              <a:rPr sz="900" spc="145">
                <a:solidFill>
                  <a:srgbClr val="111726"/>
                </a:solidFill>
                <a:latin typeface="宋体"/>
                <a:cs typeface="宋体"/>
              </a:rPr>
              <a:t>PERMUTATION</a:t>
            </a:r>
            <a:r>
              <a:rPr sz="900" spc="10">
                <a:solidFill>
                  <a:srgbClr val="111726"/>
                </a:solidFill>
                <a:latin typeface="宋体"/>
                <a:cs typeface="宋体"/>
              </a:rPr>
              <a:t> </a:t>
            </a:r>
            <a:r>
              <a:rPr sz="900" spc="90">
                <a:solidFill>
                  <a:srgbClr val="111726"/>
                </a:solidFill>
                <a:latin typeface="宋体"/>
                <a:cs typeface="宋体"/>
              </a:rPr>
              <a:t>EQUIVARIANCE)</a:t>
            </a:r>
            <a:endParaRPr sz="900">
              <a:latin typeface="宋体"/>
              <a:cs typeface="宋体"/>
            </a:endParaRPr>
          </a:p>
          <a:p>
            <a:pPr marL="38100" marR="30480">
              <a:lnSpc>
                <a:spcPct val="125000"/>
              </a:lnSpc>
              <a:spcBef>
                <a:spcPts val="470"/>
              </a:spcBef>
            </a:pPr>
            <a:r>
              <a:rPr sz="1000" spc="-120">
                <a:latin typeface="宋体"/>
                <a:cs typeface="宋体"/>
              </a:rPr>
              <a:t>将空间模块定义为映射 </a:t>
            </a:r>
            <a:r>
              <a:rPr sz="900" i="1" spc="175">
                <a:latin typeface="Cambria"/>
                <a:cs typeface="Cambria"/>
              </a:rPr>
              <a:t>f</a:t>
            </a:r>
            <a:r>
              <a:rPr sz="900" i="1" spc="95">
                <a:latin typeface="Cambria"/>
                <a:cs typeface="Cambria"/>
              </a:rPr>
              <a:t> </a:t>
            </a:r>
            <a:r>
              <a:rPr sz="900" spc="20">
                <a:latin typeface="Cambria"/>
                <a:cs typeface="Cambria"/>
              </a:rPr>
              <a:t>: (</a:t>
            </a:r>
            <a:r>
              <a:rPr sz="900" spc="60">
                <a:latin typeface="Arial"/>
                <a:cs typeface="Arial"/>
              </a:rPr>
              <a:t>R</a:t>
            </a:r>
            <a:r>
              <a:rPr sz="900" i="1" spc="89" baseline="27777">
                <a:latin typeface="Cambria"/>
                <a:cs typeface="Cambria"/>
              </a:rPr>
              <a:t>D</a:t>
            </a:r>
            <a:r>
              <a:rPr sz="900" i="1" spc="-104" baseline="27777">
                <a:latin typeface="Cambria"/>
                <a:cs typeface="Cambria"/>
              </a:rPr>
              <a:t> </a:t>
            </a:r>
            <a:r>
              <a:rPr sz="900" spc="75">
                <a:latin typeface="Cambria"/>
                <a:cs typeface="Cambria"/>
              </a:rPr>
              <a:t>)</a:t>
            </a:r>
            <a:r>
              <a:rPr sz="900" i="1" spc="112" baseline="27777">
                <a:latin typeface="Cambria"/>
                <a:cs typeface="Cambria"/>
              </a:rPr>
              <a:t>C</a:t>
            </a:r>
            <a:r>
              <a:rPr sz="900" i="1" spc="225" baseline="27777">
                <a:latin typeface="Cambria"/>
                <a:cs typeface="Cambria"/>
              </a:rPr>
              <a:t> </a:t>
            </a:r>
            <a:r>
              <a:rPr sz="900" spc="80">
                <a:latin typeface="Cambria"/>
                <a:cs typeface="Cambria"/>
              </a:rPr>
              <a:t>→ (</a:t>
            </a:r>
            <a:r>
              <a:rPr sz="900" spc="60">
                <a:latin typeface="Arial"/>
                <a:cs typeface="Arial"/>
              </a:rPr>
              <a:t>R</a:t>
            </a:r>
            <a:r>
              <a:rPr sz="900" i="1" spc="89" baseline="27777">
                <a:latin typeface="Cambria"/>
                <a:cs typeface="Cambria"/>
              </a:rPr>
              <a:t>D</a:t>
            </a:r>
            <a:r>
              <a:rPr sz="900" i="1" spc="-104" baseline="27777">
                <a:latin typeface="Cambria"/>
                <a:cs typeface="Cambria"/>
              </a:rPr>
              <a:t> </a:t>
            </a:r>
            <a:r>
              <a:rPr sz="900" spc="75">
                <a:latin typeface="Cambria"/>
                <a:cs typeface="Cambria"/>
              </a:rPr>
              <a:t>)</a:t>
            </a:r>
            <a:r>
              <a:rPr sz="900" i="1" spc="112" baseline="27777">
                <a:latin typeface="Cambria"/>
                <a:cs typeface="Cambria"/>
              </a:rPr>
              <a:t>C</a:t>
            </a:r>
            <a:r>
              <a:rPr sz="900" i="1" spc="-67" baseline="27777">
                <a:latin typeface="Cambria"/>
                <a:cs typeface="Cambria"/>
              </a:rPr>
              <a:t> </a:t>
            </a:r>
            <a:r>
              <a:rPr sz="1000" spc="-105">
                <a:latin typeface="宋体"/>
                <a:cs typeface="宋体"/>
              </a:rPr>
              <a:t>。当且仅当满足下式时，该映射保证等变</a:t>
            </a:r>
            <a:r>
              <a:rPr sz="1000" spc="-75">
                <a:latin typeface="宋体"/>
                <a:cs typeface="宋体"/>
              </a:rPr>
              <a:t>性：</a:t>
            </a:r>
            <a:endParaRPr sz="1000">
              <a:latin typeface="宋体"/>
              <a:cs typeface="宋体"/>
            </a:endParaRPr>
          </a:p>
        </p:txBody>
      </p:sp>
      <p:sp>
        <p:nvSpPr>
          <p:cNvPr id="18" name="object 18"/>
          <p:cNvSpPr txBox="1"/>
          <p:nvPr/>
        </p:nvSpPr>
        <p:spPr>
          <a:xfrm>
            <a:off x="2790328" y="3048635"/>
            <a:ext cx="882650" cy="180975"/>
          </a:xfrm>
          <a:prstGeom prst="rect">
            <a:avLst/>
          </a:prstGeom>
        </p:spPr>
        <p:txBody>
          <a:bodyPr vert="horz" wrap="square" lIns="0" tIns="15240" rIns="0" bIns="0" rtlCol="0">
            <a:spAutoFit/>
          </a:bodyPr>
          <a:lstStyle/>
          <a:p>
            <a:pPr marL="12700">
              <a:lnSpc>
                <a:spcPct val="100000"/>
              </a:lnSpc>
              <a:spcBef>
                <a:spcPts val="120"/>
              </a:spcBef>
            </a:pPr>
            <a:r>
              <a:rPr sz="1000" spc="80">
                <a:solidFill>
                  <a:srgbClr val="1D40AF"/>
                </a:solidFill>
                <a:latin typeface="Cambria"/>
                <a:cs typeface="Cambria"/>
              </a:rPr>
              <a:t>[</a:t>
            </a:r>
            <a:r>
              <a:rPr sz="1000" spc="80">
                <a:solidFill>
                  <a:srgbClr val="1D40AF"/>
                </a:solidFill>
                <a:latin typeface="Verdana"/>
                <a:cs typeface="Verdana"/>
              </a:rPr>
              <a:t>L</a:t>
            </a:r>
            <a:r>
              <a:rPr sz="1000" spc="80">
                <a:solidFill>
                  <a:srgbClr val="1D40AF"/>
                </a:solidFill>
                <a:latin typeface="Cambria"/>
                <a:cs typeface="Cambria"/>
              </a:rPr>
              <a:t>(</a:t>
            </a:r>
            <a:r>
              <a:rPr sz="1000" i="1" spc="80">
                <a:solidFill>
                  <a:srgbClr val="1D40AF"/>
                </a:solidFill>
                <a:latin typeface="Cambria"/>
                <a:cs typeface="Cambria"/>
              </a:rPr>
              <a:t>f</a:t>
            </a:r>
            <a:r>
              <a:rPr sz="1000" i="1" spc="275">
                <a:solidFill>
                  <a:srgbClr val="1D40AF"/>
                </a:solidFill>
                <a:latin typeface="Cambria"/>
                <a:cs typeface="Cambria"/>
              </a:rPr>
              <a:t> </a:t>
            </a:r>
            <a:r>
              <a:rPr sz="1000">
                <a:solidFill>
                  <a:srgbClr val="1D40AF"/>
                </a:solidFill>
                <a:latin typeface="Cambria"/>
                <a:cs typeface="Cambria"/>
              </a:rPr>
              <a:t>(</a:t>
            </a:r>
            <a:r>
              <a:rPr sz="1000">
                <a:solidFill>
                  <a:srgbClr val="1D40AF"/>
                </a:solidFill>
                <a:latin typeface="Verdana"/>
                <a:cs typeface="Verdana"/>
              </a:rPr>
              <a:t>X</a:t>
            </a:r>
            <a:r>
              <a:rPr sz="1000" spc="215">
                <a:solidFill>
                  <a:srgbClr val="1D40AF"/>
                </a:solidFill>
                <a:latin typeface="Verdana"/>
                <a:cs typeface="Verdana"/>
              </a:rPr>
              <a:t> </a:t>
            </a:r>
            <a:r>
              <a:rPr sz="1000">
                <a:solidFill>
                  <a:srgbClr val="1D40AF"/>
                </a:solidFill>
                <a:latin typeface="Cambria"/>
                <a:cs typeface="Cambria"/>
              </a:rPr>
              <a:t>),</a:t>
            </a:r>
            <a:r>
              <a:rPr sz="1000" spc="-25">
                <a:solidFill>
                  <a:srgbClr val="1D40AF"/>
                </a:solidFill>
                <a:latin typeface="Cambria"/>
                <a:cs typeface="Cambria"/>
              </a:rPr>
              <a:t> </a:t>
            </a:r>
            <a:r>
              <a:rPr sz="1000" spc="65">
                <a:solidFill>
                  <a:srgbClr val="1D40AF"/>
                </a:solidFill>
                <a:latin typeface="Verdana"/>
                <a:cs typeface="Verdana"/>
              </a:rPr>
              <a:t>Y</a:t>
            </a:r>
            <a:r>
              <a:rPr sz="1000" spc="195">
                <a:solidFill>
                  <a:srgbClr val="1D40AF"/>
                </a:solidFill>
                <a:latin typeface="Verdana"/>
                <a:cs typeface="Verdana"/>
              </a:rPr>
              <a:t> </a:t>
            </a:r>
            <a:r>
              <a:rPr sz="1000" spc="-25">
                <a:solidFill>
                  <a:srgbClr val="1D40AF"/>
                </a:solidFill>
                <a:latin typeface="Cambria"/>
                <a:cs typeface="Cambria"/>
              </a:rPr>
              <a:t>)]</a:t>
            </a:r>
            <a:endParaRPr sz="1000">
              <a:latin typeface="Cambria"/>
              <a:cs typeface="Cambria"/>
            </a:endParaRPr>
          </a:p>
        </p:txBody>
      </p:sp>
      <p:sp>
        <p:nvSpPr>
          <p:cNvPr id="19" name="object 19"/>
          <p:cNvSpPr txBox="1"/>
          <p:nvPr/>
        </p:nvSpPr>
        <p:spPr>
          <a:xfrm>
            <a:off x="1805682" y="3173222"/>
            <a:ext cx="67945" cy="134620"/>
          </a:xfrm>
          <a:prstGeom prst="rect">
            <a:avLst/>
          </a:prstGeom>
        </p:spPr>
        <p:txBody>
          <a:bodyPr vert="horz" wrap="square" lIns="0" tIns="14605" rIns="0" bIns="0" rtlCol="0">
            <a:spAutoFit/>
          </a:bodyPr>
          <a:lstStyle/>
          <a:p>
            <a:pPr marL="12700">
              <a:lnSpc>
                <a:spcPct val="100000"/>
              </a:lnSpc>
              <a:spcBef>
                <a:spcPts val="115"/>
              </a:spcBef>
            </a:pPr>
            <a:r>
              <a:rPr sz="700" i="1" spc="-50">
                <a:solidFill>
                  <a:srgbClr val="1D40AF"/>
                </a:solidFill>
                <a:latin typeface="Cambria"/>
                <a:cs typeface="Cambria"/>
              </a:rPr>
              <a:t>θ</a:t>
            </a:r>
            <a:endParaRPr sz="700">
              <a:latin typeface="Cambria"/>
              <a:cs typeface="Cambria"/>
            </a:endParaRPr>
          </a:p>
        </p:txBody>
      </p:sp>
      <p:sp>
        <p:nvSpPr>
          <p:cNvPr id="20" name="object 20"/>
          <p:cNvSpPr txBox="1"/>
          <p:nvPr/>
        </p:nvSpPr>
        <p:spPr>
          <a:xfrm>
            <a:off x="1716385" y="3048635"/>
            <a:ext cx="362585" cy="180975"/>
          </a:xfrm>
          <a:prstGeom prst="rect">
            <a:avLst/>
          </a:prstGeom>
        </p:spPr>
        <p:txBody>
          <a:bodyPr vert="horz" wrap="square" lIns="0" tIns="15240" rIns="0" bIns="0" rtlCol="0">
            <a:spAutoFit/>
          </a:bodyPr>
          <a:lstStyle/>
          <a:p>
            <a:pPr marL="12700">
              <a:lnSpc>
                <a:spcPct val="100000"/>
              </a:lnSpc>
              <a:spcBef>
                <a:spcPts val="120"/>
              </a:spcBef>
            </a:pPr>
            <a:r>
              <a:rPr sz="1000">
                <a:solidFill>
                  <a:srgbClr val="1D40AF"/>
                </a:solidFill>
                <a:latin typeface="Cambria"/>
                <a:cs typeface="Cambria"/>
              </a:rPr>
              <a:t>min</a:t>
            </a:r>
            <a:r>
              <a:rPr sz="1000" spc="60">
                <a:solidFill>
                  <a:srgbClr val="1D40AF"/>
                </a:solidFill>
                <a:latin typeface="Cambria"/>
                <a:cs typeface="Cambria"/>
              </a:rPr>
              <a:t> </a:t>
            </a:r>
            <a:r>
              <a:rPr sz="1000" spc="-50">
                <a:solidFill>
                  <a:srgbClr val="1D40AF"/>
                </a:solidFill>
                <a:latin typeface="Arial"/>
                <a:cs typeface="Arial"/>
              </a:rPr>
              <a:t>E</a:t>
            </a:r>
            <a:endParaRPr sz="1000">
              <a:latin typeface="Arial"/>
              <a:cs typeface="Arial"/>
            </a:endParaRPr>
          </a:p>
        </p:txBody>
      </p:sp>
      <p:sp>
        <p:nvSpPr>
          <p:cNvPr id="21" name="object 21"/>
          <p:cNvSpPr txBox="1"/>
          <p:nvPr/>
        </p:nvSpPr>
        <p:spPr>
          <a:xfrm>
            <a:off x="2026890" y="3106547"/>
            <a:ext cx="1572895" cy="134620"/>
          </a:xfrm>
          <a:prstGeom prst="rect">
            <a:avLst/>
          </a:prstGeom>
        </p:spPr>
        <p:txBody>
          <a:bodyPr vert="horz" wrap="square" lIns="0" tIns="14605" rIns="0" bIns="0" rtlCol="0">
            <a:spAutoFit/>
          </a:bodyPr>
          <a:lstStyle/>
          <a:p>
            <a:pPr marL="38100">
              <a:lnSpc>
                <a:spcPct val="100000"/>
              </a:lnSpc>
              <a:spcBef>
                <a:spcPts val="115"/>
              </a:spcBef>
              <a:tabLst>
                <a:tab pos="1023619" algn="l"/>
                <a:tab pos="1223010" algn="l"/>
                <a:tab pos="1482090" algn="l"/>
              </a:tabLst>
            </a:pPr>
            <a:r>
              <a:rPr sz="700">
                <a:solidFill>
                  <a:srgbClr val="1D40AF"/>
                </a:solidFill>
                <a:latin typeface="Cambria"/>
                <a:cs typeface="Cambria"/>
              </a:rPr>
              <a:t>(</a:t>
            </a:r>
            <a:r>
              <a:rPr sz="700">
                <a:solidFill>
                  <a:srgbClr val="1D40AF"/>
                </a:solidFill>
                <a:latin typeface="Verdana"/>
                <a:cs typeface="Verdana"/>
              </a:rPr>
              <a:t>X</a:t>
            </a:r>
            <a:r>
              <a:rPr sz="700" spc="-114">
                <a:solidFill>
                  <a:srgbClr val="1D40AF"/>
                </a:solidFill>
                <a:latin typeface="Verdana"/>
                <a:cs typeface="Verdana"/>
              </a:rPr>
              <a:t> </a:t>
            </a:r>
            <a:r>
              <a:rPr sz="700" spc="65">
                <a:solidFill>
                  <a:srgbClr val="1D40AF"/>
                </a:solidFill>
                <a:latin typeface="Cambria"/>
                <a:cs typeface="Cambria"/>
              </a:rPr>
              <a:t>,</a:t>
            </a:r>
            <a:r>
              <a:rPr sz="700" spc="65">
                <a:solidFill>
                  <a:srgbClr val="1D40AF"/>
                </a:solidFill>
                <a:latin typeface="Verdana"/>
                <a:cs typeface="Verdana"/>
              </a:rPr>
              <a:t>Y</a:t>
            </a:r>
            <a:r>
              <a:rPr sz="700" spc="-125">
                <a:solidFill>
                  <a:srgbClr val="1D40AF"/>
                </a:solidFill>
                <a:latin typeface="Verdana"/>
                <a:cs typeface="Verdana"/>
              </a:rPr>
              <a:t> </a:t>
            </a:r>
            <a:r>
              <a:rPr sz="700" spc="65">
                <a:solidFill>
                  <a:srgbClr val="1D40AF"/>
                </a:solidFill>
                <a:latin typeface="Cambria"/>
                <a:cs typeface="Cambria"/>
              </a:rPr>
              <a:t>)∼</a:t>
            </a:r>
            <a:r>
              <a:rPr sz="700" spc="65">
                <a:solidFill>
                  <a:srgbClr val="1D40AF"/>
                </a:solidFill>
                <a:latin typeface="Verdana"/>
                <a:cs typeface="Verdana"/>
              </a:rPr>
              <a:t>D</a:t>
            </a:r>
            <a:r>
              <a:rPr sz="700" spc="65">
                <a:solidFill>
                  <a:srgbClr val="1D40AF"/>
                </a:solidFill>
                <a:latin typeface="Cambria"/>
                <a:cs typeface="Cambria"/>
              </a:rPr>
              <a:t>,</a:t>
            </a:r>
            <a:r>
              <a:rPr sz="700" spc="130">
                <a:solidFill>
                  <a:srgbClr val="1D40AF"/>
                </a:solidFill>
                <a:latin typeface="Cambria"/>
                <a:cs typeface="Cambria"/>
              </a:rPr>
              <a:t> </a:t>
            </a:r>
            <a:r>
              <a:rPr sz="700" i="1" spc="-10">
                <a:solidFill>
                  <a:srgbClr val="1D40AF"/>
                </a:solidFill>
                <a:latin typeface="Cambria"/>
                <a:cs typeface="Cambria"/>
              </a:rPr>
              <a:t>π</a:t>
            </a:r>
            <a:r>
              <a:rPr sz="700" i="1" spc="-85">
                <a:solidFill>
                  <a:srgbClr val="1D40AF"/>
                </a:solidFill>
                <a:latin typeface="Cambria"/>
                <a:cs typeface="Cambria"/>
              </a:rPr>
              <a:t> </a:t>
            </a:r>
            <a:r>
              <a:rPr sz="700" spc="-25">
                <a:solidFill>
                  <a:srgbClr val="1D40AF"/>
                </a:solidFill>
                <a:latin typeface="Cambria"/>
                <a:cs typeface="Cambria"/>
              </a:rPr>
              <a:t>∼Π</a:t>
            </a:r>
            <a:r>
              <a:rPr sz="750" spc="-37" baseline="-16666">
                <a:solidFill>
                  <a:srgbClr val="1D40AF"/>
                </a:solidFill>
                <a:latin typeface="Verdana"/>
                <a:cs typeface="Verdana"/>
              </a:rPr>
              <a:t>C</a:t>
            </a:r>
            <a:r>
              <a:rPr sz="750" baseline="-16666">
                <a:solidFill>
                  <a:srgbClr val="1D40AF"/>
                </a:solidFill>
                <a:latin typeface="Verdana"/>
                <a:cs typeface="Verdana"/>
              </a:rPr>
              <a:t>	</a:t>
            </a:r>
            <a:r>
              <a:rPr sz="700" i="1" spc="-50">
                <a:solidFill>
                  <a:srgbClr val="1D40AF"/>
                </a:solidFill>
                <a:latin typeface="Cambria"/>
                <a:cs typeface="Cambria"/>
              </a:rPr>
              <a:t>θ</a:t>
            </a:r>
            <a:r>
              <a:rPr sz="700" i="1">
                <a:solidFill>
                  <a:srgbClr val="1D40AF"/>
                </a:solidFill>
                <a:latin typeface="Cambria"/>
                <a:cs typeface="Cambria"/>
              </a:rPr>
              <a:t>	</a:t>
            </a:r>
            <a:r>
              <a:rPr sz="700" i="1" spc="-50">
                <a:solidFill>
                  <a:srgbClr val="1D40AF"/>
                </a:solidFill>
                <a:latin typeface="Cambria"/>
                <a:cs typeface="Cambria"/>
              </a:rPr>
              <a:t>π</a:t>
            </a:r>
            <a:r>
              <a:rPr sz="700" i="1">
                <a:solidFill>
                  <a:srgbClr val="1D40AF"/>
                </a:solidFill>
                <a:latin typeface="Cambria"/>
                <a:cs typeface="Cambria"/>
              </a:rPr>
              <a:t>	</a:t>
            </a:r>
            <a:r>
              <a:rPr sz="700" i="1" spc="-50">
                <a:solidFill>
                  <a:srgbClr val="1D40AF"/>
                </a:solidFill>
                <a:latin typeface="Cambria"/>
                <a:cs typeface="Cambria"/>
              </a:rPr>
              <a:t>π</a:t>
            </a:r>
            <a:endParaRPr sz="700">
              <a:latin typeface="Cambria"/>
              <a:cs typeface="Cambria"/>
            </a:endParaRPr>
          </a:p>
        </p:txBody>
      </p:sp>
      <p:sp>
        <p:nvSpPr>
          <p:cNvPr id="22" name="object 22"/>
          <p:cNvSpPr txBox="1"/>
          <p:nvPr/>
        </p:nvSpPr>
        <p:spPr>
          <a:xfrm>
            <a:off x="581024" y="5717200"/>
            <a:ext cx="4581526" cy="293670"/>
          </a:xfrm>
          <a:prstGeom prst="rect">
            <a:avLst/>
          </a:prstGeom>
        </p:spPr>
        <p:txBody>
          <a:bodyPr vert="horz" wrap="square" lIns="0" tIns="16510" rIns="0" bIns="0" rtlCol="0">
            <a:spAutoFit/>
          </a:bodyPr>
          <a:lstStyle/>
          <a:p>
            <a:pPr marL="38100">
              <a:lnSpc>
                <a:spcPct val="100000"/>
              </a:lnSpc>
              <a:spcBef>
                <a:spcPts val="130"/>
              </a:spcBef>
            </a:pPr>
            <a:r>
              <a:rPr i="1" spc="60">
                <a:solidFill>
                  <a:srgbClr val="1D40AF"/>
                </a:solidFill>
                <a:latin typeface="Cambria"/>
                <a:cs typeface="Cambria"/>
              </a:rPr>
              <a:t>f</a:t>
            </a:r>
            <a:r>
              <a:rPr spc="60">
                <a:solidFill>
                  <a:srgbClr val="1D40AF"/>
                </a:solidFill>
                <a:latin typeface="Cambria"/>
                <a:cs typeface="Cambria"/>
              </a:rPr>
              <a:t>(</a:t>
            </a:r>
            <a:r>
              <a:rPr b="1" spc="60">
                <a:solidFill>
                  <a:srgbClr val="1D40AF"/>
                </a:solidFill>
                <a:latin typeface="Tahoma"/>
                <a:cs typeface="Tahoma"/>
              </a:rPr>
              <a:t>h</a:t>
            </a:r>
            <a:r>
              <a:rPr i="1" spc="89" baseline="-21367">
                <a:solidFill>
                  <a:srgbClr val="1D40AF"/>
                </a:solidFill>
                <a:latin typeface="Cambria"/>
                <a:cs typeface="Cambria"/>
              </a:rPr>
              <a:t>π</a:t>
            </a:r>
            <a:r>
              <a:rPr spc="89" baseline="-21367">
                <a:solidFill>
                  <a:srgbClr val="1D40AF"/>
                </a:solidFill>
                <a:latin typeface="Cambria"/>
                <a:cs typeface="Cambria"/>
              </a:rPr>
              <a:t>(1)</a:t>
            </a:r>
            <a:r>
              <a:rPr spc="60">
                <a:solidFill>
                  <a:srgbClr val="1D40AF"/>
                </a:solidFill>
                <a:latin typeface="Cambria"/>
                <a:cs typeface="Cambria"/>
              </a:rPr>
              <a:t>,</a:t>
            </a:r>
            <a:r>
              <a:rPr spc="-15">
                <a:solidFill>
                  <a:srgbClr val="1D40AF"/>
                </a:solidFill>
                <a:latin typeface="Cambria"/>
                <a:cs typeface="Cambria"/>
              </a:rPr>
              <a:t> </a:t>
            </a:r>
            <a:r>
              <a:rPr spc="315">
                <a:solidFill>
                  <a:srgbClr val="1D40AF"/>
                </a:solidFill>
                <a:latin typeface="Cambria"/>
                <a:cs typeface="Cambria"/>
              </a:rPr>
              <a:t>…,</a:t>
            </a:r>
            <a:r>
              <a:rPr spc="-10">
                <a:solidFill>
                  <a:srgbClr val="1D40AF"/>
                </a:solidFill>
                <a:latin typeface="Cambria"/>
                <a:cs typeface="Cambria"/>
              </a:rPr>
              <a:t> </a:t>
            </a:r>
            <a:r>
              <a:rPr b="1" spc="50">
                <a:solidFill>
                  <a:srgbClr val="1D40AF"/>
                </a:solidFill>
                <a:latin typeface="Tahoma"/>
                <a:cs typeface="Tahoma"/>
              </a:rPr>
              <a:t>h</a:t>
            </a:r>
            <a:r>
              <a:rPr i="1" spc="75" baseline="-21367">
                <a:solidFill>
                  <a:srgbClr val="1D40AF"/>
                </a:solidFill>
                <a:latin typeface="Cambria"/>
                <a:cs typeface="Cambria"/>
              </a:rPr>
              <a:t>π</a:t>
            </a:r>
            <a:r>
              <a:rPr spc="75" baseline="-21367">
                <a:solidFill>
                  <a:srgbClr val="1D40AF"/>
                </a:solidFill>
                <a:latin typeface="Cambria"/>
                <a:cs typeface="Cambria"/>
              </a:rPr>
              <a:t>(</a:t>
            </a:r>
            <a:r>
              <a:rPr i="1" spc="75" baseline="-21367">
                <a:solidFill>
                  <a:srgbClr val="1D40AF"/>
                </a:solidFill>
                <a:latin typeface="Cambria"/>
                <a:cs typeface="Cambria"/>
              </a:rPr>
              <a:t>C</a:t>
            </a:r>
            <a:r>
              <a:rPr spc="75" baseline="-21367">
                <a:solidFill>
                  <a:srgbClr val="1D40AF"/>
                </a:solidFill>
                <a:latin typeface="Cambria"/>
                <a:cs typeface="Cambria"/>
              </a:rPr>
              <a:t>)</a:t>
            </a:r>
            <a:r>
              <a:rPr spc="50">
                <a:solidFill>
                  <a:srgbClr val="1D40AF"/>
                </a:solidFill>
                <a:latin typeface="Cambria"/>
                <a:cs typeface="Cambria"/>
              </a:rPr>
              <a:t>)</a:t>
            </a:r>
            <a:r>
              <a:rPr spc="70">
                <a:solidFill>
                  <a:srgbClr val="1D40AF"/>
                </a:solidFill>
                <a:latin typeface="Cambria"/>
                <a:cs typeface="Cambria"/>
              </a:rPr>
              <a:t> </a:t>
            </a:r>
            <a:r>
              <a:rPr spc="235">
                <a:solidFill>
                  <a:srgbClr val="1D40AF"/>
                </a:solidFill>
                <a:latin typeface="Cambria"/>
                <a:cs typeface="Cambria"/>
              </a:rPr>
              <a:t>=</a:t>
            </a:r>
            <a:r>
              <a:rPr spc="60">
                <a:solidFill>
                  <a:srgbClr val="1D40AF"/>
                </a:solidFill>
                <a:latin typeface="Cambria"/>
                <a:cs typeface="Cambria"/>
              </a:rPr>
              <a:t> </a:t>
            </a:r>
            <a:r>
              <a:rPr spc="65">
                <a:solidFill>
                  <a:srgbClr val="1D40AF"/>
                </a:solidFill>
                <a:latin typeface="Cambria"/>
                <a:cs typeface="Cambria"/>
              </a:rPr>
              <a:t>(</a:t>
            </a:r>
            <a:r>
              <a:rPr i="1" spc="65">
                <a:solidFill>
                  <a:srgbClr val="1D40AF"/>
                </a:solidFill>
                <a:latin typeface="Cambria"/>
                <a:cs typeface="Cambria"/>
              </a:rPr>
              <a:t>f</a:t>
            </a:r>
            <a:r>
              <a:rPr spc="65">
                <a:solidFill>
                  <a:srgbClr val="1D40AF"/>
                </a:solidFill>
                <a:latin typeface="Cambria"/>
                <a:cs typeface="Cambria"/>
              </a:rPr>
              <a:t>(</a:t>
            </a:r>
            <a:r>
              <a:rPr spc="65">
                <a:solidFill>
                  <a:srgbClr val="1D40AF"/>
                </a:solidFill>
                <a:latin typeface="Verdana"/>
                <a:cs typeface="Verdana"/>
              </a:rPr>
              <a:t>H</a:t>
            </a:r>
            <a:r>
              <a:rPr spc="65">
                <a:solidFill>
                  <a:srgbClr val="1D40AF"/>
                </a:solidFill>
                <a:latin typeface="Cambria"/>
                <a:cs typeface="Cambria"/>
              </a:rPr>
              <a:t>)</a:t>
            </a:r>
            <a:r>
              <a:rPr i="1" spc="97" baseline="-21367">
                <a:solidFill>
                  <a:srgbClr val="1D40AF"/>
                </a:solidFill>
                <a:latin typeface="Cambria"/>
                <a:cs typeface="Cambria"/>
              </a:rPr>
              <a:t>π</a:t>
            </a:r>
            <a:r>
              <a:rPr spc="97" baseline="-21367">
                <a:solidFill>
                  <a:srgbClr val="1D40AF"/>
                </a:solidFill>
                <a:latin typeface="Cambria"/>
                <a:cs typeface="Cambria"/>
              </a:rPr>
              <a:t>(1)</a:t>
            </a:r>
            <a:r>
              <a:rPr spc="65">
                <a:solidFill>
                  <a:srgbClr val="1D40AF"/>
                </a:solidFill>
                <a:latin typeface="Cambria"/>
                <a:cs typeface="Cambria"/>
              </a:rPr>
              <a:t>,</a:t>
            </a:r>
            <a:r>
              <a:rPr spc="-10">
                <a:solidFill>
                  <a:srgbClr val="1D40AF"/>
                </a:solidFill>
                <a:latin typeface="Cambria"/>
                <a:cs typeface="Cambria"/>
              </a:rPr>
              <a:t> </a:t>
            </a:r>
            <a:r>
              <a:rPr spc="315">
                <a:solidFill>
                  <a:srgbClr val="1D40AF"/>
                </a:solidFill>
                <a:latin typeface="Cambria"/>
                <a:cs typeface="Cambria"/>
              </a:rPr>
              <a:t>…,</a:t>
            </a:r>
            <a:r>
              <a:rPr spc="-10">
                <a:solidFill>
                  <a:srgbClr val="1D40AF"/>
                </a:solidFill>
                <a:latin typeface="Cambria"/>
                <a:cs typeface="Cambria"/>
              </a:rPr>
              <a:t> </a:t>
            </a:r>
            <a:r>
              <a:rPr i="1" spc="70">
                <a:solidFill>
                  <a:srgbClr val="1D40AF"/>
                </a:solidFill>
                <a:latin typeface="Cambria"/>
                <a:cs typeface="Cambria"/>
              </a:rPr>
              <a:t>f</a:t>
            </a:r>
            <a:r>
              <a:rPr spc="70">
                <a:solidFill>
                  <a:srgbClr val="1D40AF"/>
                </a:solidFill>
                <a:latin typeface="Cambria"/>
                <a:cs typeface="Cambria"/>
              </a:rPr>
              <a:t>(</a:t>
            </a:r>
            <a:r>
              <a:rPr spc="70">
                <a:solidFill>
                  <a:srgbClr val="1D40AF"/>
                </a:solidFill>
                <a:latin typeface="Verdana"/>
                <a:cs typeface="Verdana"/>
              </a:rPr>
              <a:t>H</a:t>
            </a:r>
            <a:r>
              <a:rPr spc="70">
                <a:solidFill>
                  <a:srgbClr val="1D40AF"/>
                </a:solidFill>
                <a:latin typeface="Cambria"/>
                <a:cs typeface="Cambria"/>
              </a:rPr>
              <a:t>)</a:t>
            </a:r>
            <a:r>
              <a:rPr i="1" spc="104" baseline="-21367">
                <a:solidFill>
                  <a:srgbClr val="1D40AF"/>
                </a:solidFill>
                <a:latin typeface="Cambria"/>
                <a:cs typeface="Cambria"/>
              </a:rPr>
              <a:t>π</a:t>
            </a:r>
            <a:r>
              <a:rPr spc="104" baseline="-21367">
                <a:solidFill>
                  <a:srgbClr val="1D40AF"/>
                </a:solidFill>
                <a:latin typeface="Cambria"/>
                <a:cs typeface="Cambria"/>
              </a:rPr>
              <a:t>(</a:t>
            </a:r>
            <a:r>
              <a:rPr i="1" spc="104" baseline="-21367">
                <a:solidFill>
                  <a:srgbClr val="1D40AF"/>
                </a:solidFill>
                <a:latin typeface="Cambria"/>
                <a:cs typeface="Cambria"/>
              </a:rPr>
              <a:t>C</a:t>
            </a:r>
            <a:r>
              <a:rPr spc="104" baseline="-21367">
                <a:solidFill>
                  <a:srgbClr val="1D40AF"/>
                </a:solidFill>
                <a:latin typeface="Cambria"/>
                <a:cs typeface="Cambria"/>
              </a:rPr>
              <a:t>)</a:t>
            </a:r>
            <a:r>
              <a:rPr spc="70">
                <a:solidFill>
                  <a:srgbClr val="1D40AF"/>
                </a:solidFill>
                <a:latin typeface="Cambria"/>
                <a:cs typeface="Cambria"/>
              </a:rPr>
              <a:t>)</a:t>
            </a:r>
            <a:endParaRPr>
              <a:latin typeface="Cambria"/>
              <a:cs typeface="Cambria"/>
            </a:endParaRPr>
          </a:p>
        </p:txBody>
      </p:sp>
      <p:grpSp>
        <p:nvGrpSpPr>
          <p:cNvPr id="23" name="object 23"/>
          <p:cNvGrpSpPr/>
          <p:nvPr/>
        </p:nvGrpSpPr>
        <p:grpSpPr>
          <a:xfrm>
            <a:off x="5238749" y="1190624"/>
            <a:ext cx="6572250" cy="5286375"/>
            <a:chOff x="5238749" y="1190624"/>
            <a:chExt cx="6572250" cy="5286375"/>
          </a:xfrm>
        </p:grpSpPr>
        <p:sp>
          <p:nvSpPr>
            <p:cNvPr id="24" name="object 24"/>
            <p:cNvSpPr/>
            <p:nvPr/>
          </p:nvSpPr>
          <p:spPr>
            <a:xfrm>
              <a:off x="5243512" y="1195387"/>
              <a:ext cx="6562725" cy="5276850"/>
            </a:xfrm>
            <a:custGeom>
              <a:avLst/>
              <a:gdLst/>
              <a:ahLst/>
              <a:cxnLst/>
              <a:rect l="l" t="t" r="r" b="b"/>
              <a:pathLst>
                <a:path w="6562725" h="5276850">
                  <a:moveTo>
                    <a:pt x="0" y="5167312"/>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6453186" y="0"/>
                  </a:lnTo>
                  <a:lnTo>
                    <a:pt x="6460379" y="0"/>
                  </a:lnTo>
                  <a:lnTo>
                    <a:pt x="6467501" y="701"/>
                  </a:lnTo>
                  <a:lnTo>
                    <a:pt x="6474556" y="2104"/>
                  </a:lnTo>
                  <a:lnTo>
                    <a:pt x="6481610" y="3507"/>
                  </a:lnTo>
                  <a:lnTo>
                    <a:pt x="6488459" y="5585"/>
                  </a:lnTo>
                  <a:lnTo>
                    <a:pt x="6495104" y="8338"/>
                  </a:lnTo>
                  <a:lnTo>
                    <a:pt x="6501749" y="11090"/>
                  </a:lnTo>
                  <a:lnTo>
                    <a:pt x="6508061" y="14464"/>
                  </a:lnTo>
                  <a:lnTo>
                    <a:pt x="6514042" y="18460"/>
                  </a:lnTo>
                  <a:lnTo>
                    <a:pt x="6520022" y="22456"/>
                  </a:lnTo>
                  <a:lnTo>
                    <a:pt x="6525555" y="26997"/>
                  </a:lnTo>
                  <a:lnTo>
                    <a:pt x="6530640" y="32082"/>
                  </a:lnTo>
                  <a:lnTo>
                    <a:pt x="6535726" y="37168"/>
                  </a:lnTo>
                  <a:lnTo>
                    <a:pt x="6554385" y="67619"/>
                  </a:lnTo>
                  <a:lnTo>
                    <a:pt x="6557138" y="74264"/>
                  </a:lnTo>
                  <a:lnTo>
                    <a:pt x="6559215" y="81113"/>
                  </a:lnTo>
                  <a:lnTo>
                    <a:pt x="6560619" y="88167"/>
                  </a:lnTo>
                  <a:lnTo>
                    <a:pt x="6562022" y="95221"/>
                  </a:lnTo>
                  <a:lnTo>
                    <a:pt x="6562724" y="102345"/>
                  </a:lnTo>
                  <a:lnTo>
                    <a:pt x="6562724" y="109537"/>
                  </a:lnTo>
                  <a:lnTo>
                    <a:pt x="6562724" y="5167312"/>
                  </a:lnTo>
                  <a:lnTo>
                    <a:pt x="6562724" y="5174504"/>
                  </a:lnTo>
                  <a:lnTo>
                    <a:pt x="6562022" y="5181626"/>
                  </a:lnTo>
                  <a:lnTo>
                    <a:pt x="6560619" y="5188681"/>
                  </a:lnTo>
                  <a:lnTo>
                    <a:pt x="6559215" y="5195735"/>
                  </a:lnTo>
                  <a:lnTo>
                    <a:pt x="6557138" y="5202584"/>
                  </a:lnTo>
                  <a:lnTo>
                    <a:pt x="6554385" y="5209229"/>
                  </a:lnTo>
                  <a:lnTo>
                    <a:pt x="6551632" y="5215874"/>
                  </a:lnTo>
                  <a:lnTo>
                    <a:pt x="6548258" y="5222187"/>
                  </a:lnTo>
                  <a:lnTo>
                    <a:pt x="6544262" y="5228167"/>
                  </a:lnTo>
                  <a:lnTo>
                    <a:pt x="6540267" y="5234147"/>
                  </a:lnTo>
                  <a:lnTo>
                    <a:pt x="6535726" y="5239680"/>
                  </a:lnTo>
                  <a:lnTo>
                    <a:pt x="6530640" y="5244766"/>
                  </a:lnTo>
                  <a:lnTo>
                    <a:pt x="6525555" y="5249852"/>
                  </a:lnTo>
                  <a:lnTo>
                    <a:pt x="6495104" y="5268510"/>
                  </a:lnTo>
                  <a:lnTo>
                    <a:pt x="6488459" y="5271263"/>
                  </a:lnTo>
                  <a:lnTo>
                    <a:pt x="6481610" y="5273341"/>
                  </a:lnTo>
                  <a:lnTo>
                    <a:pt x="6474556" y="5274744"/>
                  </a:lnTo>
                  <a:lnTo>
                    <a:pt x="6467501" y="5276147"/>
                  </a:lnTo>
                  <a:lnTo>
                    <a:pt x="6460379" y="5276849"/>
                  </a:lnTo>
                  <a:lnTo>
                    <a:pt x="6453186" y="5276849"/>
                  </a:lnTo>
                  <a:lnTo>
                    <a:pt x="109537" y="5276849"/>
                  </a:lnTo>
                  <a:lnTo>
                    <a:pt x="102345" y="5276849"/>
                  </a:lnTo>
                  <a:lnTo>
                    <a:pt x="95221" y="5276147"/>
                  </a:lnTo>
                  <a:lnTo>
                    <a:pt x="88167" y="5274744"/>
                  </a:lnTo>
                  <a:lnTo>
                    <a:pt x="81113" y="5273341"/>
                  </a:lnTo>
                  <a:lnTo>
                    <a:pt x="74264" y="5271263"/>
                  </a:lnTo>
                  <a:lnTo>
                    <a:pt x="67619" y="5268510"/>
                  </a:lnTo>
                  <a:lnTo>
                    <a:pt x="60974" y="5265757"/>
                  </a:lnTo>
                  <a:lnTo>
                    <a:pt x="32082" y="5244766"/>
                  </a:lnTo>
                  <a:lnTo>
                    <a:pt x="26997" y="5239680"/>
                  </a:lnTo>
                  <a:lnTo>
                    <a:pt x="8338" y="5209229"/>
                  </a:lnTo>
                  <a:lnTo>
                    <a:pt x="5585" y="5202584"/>
                  </a:lnTo>
                  <a:lnTo>
                    <a:pt x="3507" y="5195735"/>
                  </a:lnTo>
                  <a:lnTo>
                    <a:pt x="2104" y="5188681"/>
                  </a:lnTo>
                  <a:lnTo>
                    <a:pt x="701" y="5181626"/>
                  </a:lnTo>
                  <a:lnTo>
                    <a:pt x="0" y="5174504"/>
                  </a:lnTo>
                  <a:lnTo>
                    <a:pt x="0" y="5167312"/>
                  </a:lnTo>
                  <a:close/>
                </a:path>
              </a:pathLst>
            </a:custGeom>
            <a:ln w="9524">
              <a:solidFill>
                <a:srgbClr val="E4E7EB"/>
              </a:solidFill>
            </a:ln>
          </p:spPr>
          <p:txBody>
            <a:bodyPr wrap="square" lIns="0" tIns="0" rIns="0" bIns="0" rtlCol="0"/>
            <a:lstStyle/>
            <a:p>
              <a:endParaRPr/>
            </a:p>
          </p:txBody>
        </p:sp>
        <p:sp>
          <p:nvSpPr>
            <p:cNvPr id="25" name="object 25"/>
            <p:cNvSpPr/>
            <p:nvPr/>
          </p:nvSpPr>
          <p:spPr>
            <a:xfrm>
              <a:off x="5481637" y="1471612"/>
              <a:ext cx="1362075" cy="314325"/>
            </a:xfrm>
            <a:custGeom>
              <a:avLst/>
              <a:gdLst/>
              <a:ahLst/>
              <a:cxnLst/>
              <a:rect l="l" t="t" r="r" b="b"/>
              <a:pathLst>
                <a:path w="1362075" h="314325">
                  <a:moveTo>
                    <a:pt x="1313127" y="314324"/>
                  </a:moveTo>
                  <a:lnTo>
                    <a:pt x="48947" y="314324"/>
                  </a:lnTo>
                  <a:lnTo>
                    <a:pt x="45540" y="313989"/>
                  </a:lnTo>
                  <a:lnTo>
                    <a:pt x="10739" y="293902"/>
                  </a:lnTo>
                  <a:lnTo>
                    <a:pt x="0" y="265377"/>
                  </a:lnTo>
                  <a:lnTo>
                    <a:pt x="0" y="261937"/>
                  </a:lnTo>
                  <a:lnTo>
                    <a:pt x="0" y="48947"/>
                  </a:lnTo>
                  <a:lnTo>
                    <a:pt x="17776" y="12911"/>
                  </a:lnTo>
                  <a:lnTo>
                    <a:pt x="48947" y="0"/>
                  </a:lnTo>
                  <a:lnTo>
                    <a:pt x="1313127" y="0"/>
                  </a:lnTo>
                  <a:lnTo>
                    <a:pt x="1349163" y="17776"/>
                  </a:lnTo>
                  <a:lnTo>
                    <a:pt x="1362074" y="48947"/>
                  </a:lnTo>
                  <a:lnTo>
                    <a:pt x="1362074" y="265377"/>
                  </a:lnTo>
                  <a:lnTo>
                    <a:pt x="1344298" y="301413"/>
                  </a:lnTo>
                  <a:lnTo>
                    <a:pt x="1316533" y="313989"/>
                  </a:lnTo>
                  <a:lnTo>
                    <a:pt x="1313127" y="314324"/>
                  </a:lnTo>
                  <a:close/>
                </a:path>
              </a:pathLst>
            </a:custGeom>
            <a:solidFill>
              <a:srgbClr val="FFFAEB"/>
            </a:solidFill>
          </p:spPr>
          <p:txBody>
            <a:bodyPr wrap="square" lIns="0" tIns="0" rIns="0" bIns="0" rtlCol="0"/>
            <a:lstStyle/>
            <a:p>
              <a:endParaRPr/>
            </a:p>
          </p:txBody>
        </p:sp>
        <p:sp>
          <p:nvSpPr>
            <p:cNvPr id="26" name="object 26"/>
            <p:cNvSpPr/>
            <p:nvPr/>
          </p:nvSpPr>
          <p:spPr>
            <a:xfrm>
              <a:off x="5481637" y="1471612"/>
              <a:ext cx="1362075" cy="314325"/>
            </a:xfrm>
            <a:custGeom>
              <a:avLst/>
              <a:gdLst/>
              <a:ahLst/>
              <a:cxnLst/>
              <a:rect l="l" t="t" r="r" b="b"/>
              <a:pathLst>
                <a:path w="1362075" h="314325">
                  <a:moveTo>
                    <a:pt x="0" y="261937"/>
                  </a:moveTo>
                  <a:lnTo>
                    <a:pt x="0" y="52387"/>
                  </a:lnTo>
                  <a:lnTo>
                    <a:pt x="0" y="48947"/>
                  </a:lnTo>
                  <a:lnTo>
                    <a:pt x="335" y="45540"/>
                  </a:lnTo>
                  <a:lnTo>
                    <a:pt x="1006" y="42167"/>
                  </a:lnTo>
                  <a:lnTo>
                    <a:pt x="1677" y="38793"/>
                  </a:lnTo>
                  <a:lnTo>
                    <a:pt x="2671" y="35517"/>
                  </a:lnTo>
                  <a:lnTo>
                    <a:pt x="3987" y="32339"/>
                  </a:lnTo>
                  <a:lnTo>
                    <a:pt x="5304" y="29161"/>
                  </a:lnTo>
                  <a:lnTo>
                    <a:pt x="6917" y="26142"/>
                  </a:lnTo>
                  <a:lnTo>
                    <a:pt x="8828" y="23282"/>
                  </a:lnTo>
                  <a:lnTo>
                    <a:pt x="10739" y="20422"/>
                  </a:lnTo>
                  <a:lnTo>
                    <a:pt x="12911" y="17776"/>
                  </a:lnTo>
                  <a:lnTo>
                    <a:pt x="48947" y="0"/>
                  </a:lnTo>
                  <a:lnTo>
                    <a:pt x="52387" y="0"/>
                  </a:lnTo>
                  <a:lnTo>
                    <a:pt x="1309687" y="0"/>
                  </a:lnTo>
                  <a:lnTo>
                    <a:pt x="1313127" y="0"/>
                  </a:lnTo>
                  <a:lnTo>
                    <a:pt x="1316533" y="335"/>
                  </a:lnTo>
                  <a:lnTo>
                    <a:pt x="1338792" y="8828"/>
                  </a:lnTo>
                  <a:lnTo>
                    <a:pt x="1341652" y="10739"/>
                  </a:lnTo>
                  <a:lnTo>
                    <a:pt x="1353245" y="23282"/>
                  </a:lnTo>
                  <a:lnTo>
                    <a:pt x="1355156" y="26142"/>
                  </a:lnTo>
                  <a:lnTo>
                    <a:pt x="1356770" y="29161"/>
                  </a:lnTo>
                  <a:lnTo>
                    <a:pt x="1358086" y="32339"/>
                  </a:lnTo>
                  <a:lnTo>
                    <a:pt x="1359403" y="35517"/>
                  </a:lnTo>
                  <a:lnTo>
                    <a:pt x="1360396" y="38793"/>
                  </a:lnTo>
                  <a:lnTo>
                    <a:pt x="1361068" y="42167"/>
                  </a:lnTo>
                  <a:lnTo>
                    <a:pt x="1361739" y="45540"/>
                  </a:lnTo>
                  <a:lnTo>
                    <a:pt x="1362074" y="48947"/>
                  </a:lnTo>
                  <a:lnTo>
                    <a:pt x="1362074" y="52387"/>
                  </a:lnTo>
                  <a:lnTo>
                    <a:pt x="1362074" y="261937"/>
                  </a:lnTo>
                  <a:lnTo>
                    <a:pt x="1362074" y="265377"/>
                  </a:lnTo>
                  <a:lnTo>
                    <a:pt x="1361739" y="268783"/>
                  </a:lnTo>
                  <a:lnTo>
                    <a:pt x="1361068" y="272157"/>
                  </a:lnTo>
                  <a:lnTo>
                    <a:pt x="1360396" y="275531"/>
                  </a:lnTo>
                  <a:lnTo>
                    <a:pt x="1359403" y="278807"/>
                  </a:lnTo>
                  <a:lnTo>
                    <a:pt x="1358086" y="281985"/>
                  </a:lnTo>
                  <a:lnTo>
                    <a:pt x="1356770" y="285163"/>
                  </a:lnTo>
                  <a:lnTo>
                    <a:pt x="1355156" y="288182"/>
                  </a:lnTo>
                  <a:lnTo>
                    <a:pt x="1353245" y="291042"/>
                  </a:lnTo>
                  <a:lnTo>
                    <a:pt x="1351334" y="293902"/>
                  </a:lnTo>
                  <a:lnTo>
                    <a:pt x="1349163" y="296548"/>
                  </a:lnTo>
                  <a:lnTo>
                    <a:pt x="1346730" y="298980"/>
                  </a:lnTo>
                  <a:lnTo>
                    <a:pt x="1344298" y="301413"/>
                  </a:lnTo>
                  <a:lnTo>
                    <a:pt x="1341652" y="303584"/>
                  </a:lnTo>
                  <a:lnTo>
                    <a:pt x="1338792" y="305495"/>
                  </a:lnTo>
                  <a:lnTo>
                    <a:pt x="1335931" y="307407"/>
                  </a:lnTo>
                  <a:lnTo>
                    <a:pt x="1319907" y="313318"/>
                  </a:lnTo>
                  <a:lnTo>
                    <a:pt x="1316533" y="313989"/>
                  </a:lnTo>
                  <a:lnTo>
                    <a:pt x="1313127" y="314324"/>
                  </a:lnTo>
                  <a:lnTo>
                    <a:pt x="1309687" y="314324"/>
                  </a:lnTo>
                  <a:lnTo>
                    <a:pt x="52387" y="314324"/>
                  </a:lnTo>
                  <a:lnTo>
                    <a:pt x="48947" y="314324"/>
                  </a:lnTo>
                  <a:lnTo>
                    <a:pt x="45540" y="313989"/>
                  </a:lnTo>
                  <a:lnTo>
                    <a:pt x="42167" y="313318"/>
                  </a:lnTo>
                  <a:lnTo>
                    <a:pt x="38793" y="312647"/>
                  </a:lnTo>
                  <a:lnTo>
                    <a:pt x="23282" y="305495"/>
                  </a:lnTo>
                  <a:lnTo>
                    <a:pt x="20422" y="303584"/>
                  </a:lnTo>
                  <a:lnTo>
                    <a:pt x="8828" y="291042"/>
                  </a:lnTo>
                  <a:lnTo>
                    <a:pt x="6917" y="288182"/>
                  </a:lnTo>
                  <a:lnTo>
                    <a:pt x="5304" y="285163"/>
                  </a:lnTo>
                  <a:lnTo>
                    <a:pt x="3987" y="281985"/>
                  </a:lnTo>
                  <a:lnTo>
                    <a:pt x="2671" y="278807"/>
                  </a:lnTo>
                  <a:lnTo>
                    <a:pt x="1677" y="275531"/>
                  </a:lnTo>
                  <a:lnTo>
                    <a:pt x="1006" y="272157"/>
                  </a:lnTo>
                  <a:lnTo>
                    <a:pt x="335" y="268783"/>
                  </a:lnTo>
                  <a:lnTo>
                    <a:pt x="0" y="265377"/>
                  </a:lnTo>
                  <a:lnTo>
                    <a:pt x="0" y="261937"/>
                  </a:lnTo>
                </a:path>
              </a:pathLst>
            </a:custGeom>
            <a:ln w="9524">
              <a:solidFill>
                <a:srgbClr val="FDE68A"/>
              </a:solidFill>
            </a:ln>
          </p:spPr>
          <p:txBody>
            <a:bodyPr wrap="square" lIns="0" tIns="0" rIns="0" bIns="0" rtlCol="0"/>
            <a:lstStyle/>
            <a:p>
              <a:endParaRPr/>
            </a:p>
          </p:txBody>
        </p:sp>
      </p:grpSp>
      <p:sp>
        <p:nvSpPr>
          <p:cNvPr id="27" name="object 27"/>
          <p:cNvSpPr txBox="1"/>
          <p:nvPr/>
        </p:nvSpPr>
        <p:spPr>
          <a:xfrm>
            <a:off x="5568949" y="1511483"/>
            <a:ext cx="1185545" cy="208279"/>
          </a:xfrm>
          <a:prstGeom prst="rect">
            <a:avLst/>
          </a:prstGeom>
        </p:spPr>
        <p:txBody>
          <a:bodyPr vert="horz" wrap="square" lIns="0" tIns="12065" rIns="0" bIns="0" rtlCol="0">
            <a:spAutoFit/>
          </a:bodyPr>
          <a:lstStyle/>
          <a:p>
            <a:pPr marL="12700">
              <a:lnSpc>
                <a:spcPct val="100000"/>
              </a:lnSpc>
              <a:spcBef>
                <a:spcPts val="95"/>
              </a:spcBef>
            </a:pPr>
            <a:r>
              <a:rPr sz="1200" b="1" spc="-120">
                <a:solidFill>
                  <a:srgbClr val="B45309"/>
                </a:solidFill>
                <a:latin typeface="Arial"/>
                <a:cs typeface="Arial"/>
              </a:rPr>
              <a:t>Deep</a:t>
            </a:r>
            <a:r>
              <a:rPr sz="1200" b="1" spc="-114">
                <a:solidFill>
                  <a:srgbClr val="B45309"/>
                </a:solidFill>
                <a:latin typeface="Arial"/>
                <a:cs typeface="Arial"/>
              </a:rPr>
              <a:t> </a:t>
            </a:r>
            <a:r>
              <a:rPr sz="1200" b="1" spc="-150">
                <a:solidFill>
                  <a:srgbClr val="B45309"/>
                </a:solidFill>
                <a:latin typeface="Arial"/>
                <a:cs typeface="Arial"/>
              </a:rPr>
              <a:t>Sets</a:t>
            </a:r>
            <a:r>
              <a:rPr sz="1200" b="1" spc="-120">
                <a:solidFill>
                  <a:srgbClr val="B45309"/>
                </a:solidFill>
                <a:latin typeface="Arial"/>
                <a:cs typeface="Arial"/>
              </a:rPr>
              <a:t> </a:t>
            </a:r>
            <a:r>
              <a:rPr sz="1200" b="1" spc="-90">
                <a:solidFill>
                  <a:srgbClr val="B45309"/>
                </a:solidFill>
                <a:latin typeface="Arial"/>
                <a:cs typeface="Arial"/>
              </a:rPr>
              <a:t>Mapping</a:t>
            </a:r>
            <a:endParaRPr sz="1200">
              <a:latin typeface="Arial"/>
              <a:cs typeface="Arial"/>
            </a:endParaRPr>
          </a:p>
        </p:txBody>
      </p:sp>
      <p:sp>
        <p:nvSpPr>
          <p:cNvPr id="28" name="object 28"/>
          <p:cNvSpPr txBox="1"/>
          <p:nvPr/>
        </p:nvSpPr>
        <p:spPr>
          <a:xfrm>
            <a:off x="6931025" y="1511300"/>
            <a:ext cx="1432560" cy="185420"/>
          </a:xfrm>
          <a:prstGeom prst="rect">
            <a:avLst/>
          </a:prstGeom>
        </p:spPr>
        <p:txBody>
          <a:bodyPr vert="horz" wrap="square" lIns="0" tIns="12700" rIns="0" bIns="0" rtlCol="0">
            <a:spAutoFit/>
          </a:bodyPr>
          <a:lstStyle/>
          <a:p>
            <a:pPr marL="12700">
              <a:lnSpc>
                <a:spcPct val="100000"/>
              </a:lnSpc>
              <a:spcBef>
                <a:spcPts val="100"/>
              </a:spcBef>
            </a:pPr>
            <a:r>
              <a:rPr sz="1050" spc="-30">
                <a:solidFill>
                  <a:srgbClr val="111726"/>
                </a:solidFill>
                <a:latin typeface="宋体"/>
                <a:cs typeface="宋体"/>
              </a:rPr>
              <a:t>映射至 </a:t>
            </a:r>
            <a:r>
              <a:rPr sz="1050" spc="85">
                <a:solidFill>
                  <a:srgbClr val="111726"/>
                </a:solidFill>
                <a:latin typeface="宋体"/>
                <a:cs typeface="宋体"/>
              </a:rPr>
              <a:t>Deep</a:t>
            </a:r>
            <a:r>
              <a:rPr sz="1050" spc="-114">
                <a:solidFill>
                  <a:srgbClr val="111726"/>
                </a:solidFill>
                <a:latin typeface="宋体"/>
                <a:cs typeface="宋体"/>
              </a:rPr>
              <a:t> </a:t>
            </a:r>
            <a:r>
              <a:rPr sz="1050">
                <a:solidFill>
                  <a:srgbClr val="111726"/>
                </a:solidFill>
                <a:latin typeface="宋体"/>
                <a:cs typeface="宋体"/>
              </a:rPr>
              <a:t>Sets</a:t>
            </a:r>
            <a:r>
              <a:rPr sz="1050" spc="-60">
                <a:solidFill>
                  <a:srgbClr val="111726"/>
                </a:solidFill>
                <a:latin typeface="宋体"/>
                <a:cs typeface="宋体"/>
              </a:rPr>
              <a:t> 定理</a:t>
            </a:r>
            <a:endParaRPr sz="1050">
              <a:latin typeface="宋体"/>
              <a:cs typeface="宋体"/>
            </a:endParaRPr>
          </a:p>
        </p:txBody>
      </p:sp>
      <p:grpSp>
        <p:nvGrpSpPr>
          <p:cNvPr id="29" name="object 29"/>
          <p:cNvGrpSpPr/>
          <p:nvPr/>
        </p:nvGrpSpPr>
        <p:grpSpPr>
          <a:xfrm>
            <a:off x="10277474" y="1514474"/>
            <a:ext cx="1295400" cy="238125"/>
            <a:chOff x="10277474" y="1514474"/>
            <a:chExt cx="1295400" cy="238125"/>
          </a:xfrm>
        </p:grpSpPr>
        <p:sp>
          <p:nvSpPr>
            <p:cNvPr id="30" name="object 30"/>
            <p:cNvSpPr/>
            <p:nvPr/>
          </p:nvSpPr>
          <p:spPr>
            <a:xfrm>
              <a:off x="10282236" y="1519237"/>
              <a:ext cx="1285875" cy="228600"/>
            </a:xfrm>
            <a:custGeom>
              <a:avLst/>
              <a:gdLst/>
              <a:ahLst/>
              <a:cxnLst/>
              <a:rect l="l" t="t" r="r" b="b"/>
              <a:pathLst>
                <a:path w="1285875" h="228600">
                  <a:moveTo>
                    <a:pt x="1179080" y="228599"/>
                  </a:moveTo>
                  <a:lnTo>
                    <a:pt x="106795" y="228599"/>
                  </a:lnTo>
                  <a:lnTo>
                    <a:pt x="99362" y="227867"/>
                  </a:lnTo>
                  <a:lnTo>
                    <a:pt x="57038" y="213506"/>
                  </a:lnTo>
                  <a:lnTo>
                    <a:pt x="23431" y="184041"/>
                  </a:lnTo>
                  <a:lnTo>
                    <a:pt x="3660" y="143959"/>
                  </a:lnTo>
                  <a:lnTo>
                    <a:pt x="0" y="121805"/>
                  </a:lnTo>
                  <a:lnTo>
                    <a:pt x="0" y="114299"/>
                  </a:lnTo>
                  <a:lnTo>
                    <a:pt x="0" y="106794"/>
                  </a:lnTo>
                  <a:lnTo>
                    <a:pt x="11572" y="63625"/>
                  </a:lnTo>
                  <a:lnTo>
                    <a:pt x="38784" y="28170"/>
                  </a:lnTo>
                  <a:lnTo>
                    <a:pt x="77493" y="5828"/>
                  </a:lnTo>
                  <a:lnTo>
                    <a:pt x="106795" y="0"/>
                  </a:lnTo>
                  <a:lnTo>
                    <a:pt x="1179080" y="0"/>
                  </a:lnTo>
                  <a:lnTo>
                    <a:pt x="1222249" y="11572"/>
                  </a:lnTo>
                  <a:lnTo>
                    <a:pt x="1257703" y="38784"/>
                  </a:lnTo>
                  <a:lnTo>
                    <a:pt x="1280046" y="77492"/>
                  </a:lnTo>
                  <a:lnTo>
                    <a:pt x="1285874" y="106794"/>
                  </a:lnTo>
                  <a:lnTo>
                    <a:pt x="1285874" y="121805"/>
                  </a:lnTo>
                  <a:lnTo>
                    <a:pt x="1274301" y="164974"/>
                  </a:lnTo>
                  <a:lnTo>
                    <a:pt x="1247089" y="200429"/>
                  </a:lnTo>
                  <a:lnTo>
                    <a:pt x="1208381" y="222771"/>
                  </a:lnTo>
                  <a:lnTo>
                    <a:pt x="1186513" y="227867"/>
                  </a:lnTo>
                  <a:lnTo>
                    <a:pt x="1179080" y="228599"/>
                  </a:lnTo>
                  <a:close/>
                </a:path>
              </a:pathLst>
            </a:custGeom>
            <a:solidFill>
              <a:srgbClr val="F9FAFA"/>
            </a:solidFill>
          </p:spPr>
          <p:txBody>
            <a:bodyPr wrap="square" lIns="0" tIns="0" rIns="0" bIns="0" rtlCol="0"/>
            <a:lstStyle/>
            <a:p>
              <a:endParaRPr/>
            </a:p>
          </p:txBody>
        </p:sp>
        <p:sp>
          <p:nvSpPr>
            <p:cNvPr id="31" name="object 31"/>
            <p:cNvSpPr/>
            <p:nvPr/>
          </p:nvSpPr>
          <p:spPr>
            <a:xfrm>
              <a:off x="10282236" y="1519237"/>
              <a:ext cx="1285875" cy="228600"/>
            </a:xfrm>
            <a:custGeom>
              <a:avLst/>
              <a:gdLst/>
              <a:ahLst/>
              <a:cxnLst/>
              <a:rect l="l" t="t" r="r" b="b"/>
              <a:pathLst>
                <a:path w="1285875" h="228600">
                  <a:moveTo>
                    <a:pt x="0" y="114299"/>
                  </a:moveTo>
                  <a:lnTo>
                    <a:pt x="0" y="106794"/>
                  </a:lnTo>
                  <a:lnTo>
                    <a:pt x="731" y="99361"/>
                  </a:lnTo>
                  <a:lnTo>
                    <a:pt x="2196" y="92001"/>
                  </a:lnTo>
                  <a:lnTo>
                    <a:pt x="3660" y="84640"/>
                  </a:lnTo>
                  <a:lnTo>
                    <a:pt x="5828" y="77492"/>
                  </a:lnTo>
                  <a:lnTo>
                    <a:pt x="8700" y="70559"/>
                  </a:lnTo>
                  <a:lnTo>
                    <a:pt x="11572" y="63625"/>
                  </a:lnTo>
                  <a:lnTo>
                    <a:pt x="15093" y="57038"/>
                  </a:lnTo>
                  <a:lnTo>
                    <a:pt x="19262" y="50798"/>
                  </a:lnTo>
                  <a:lnTo>
                    <a:pt x="23431" y="44558"/>
                  </a:lnTo>
                  <a:lnTo>
                    <a:pt x="28170" y="38784"/>
                  </a:lnTo>
                  <a:lnTo>
                    <a:pt x="33477" y="33477"/>
                  </a:lnTo>
                  <a:lnTo>
                    <a:pt x="38784" y="28170"/>
                  </a:lnTo>
                  <a:lnTo>
                    <a:pt x="70559" y="8700"/>
                  </a:lnTo>
                  <a:lnTo>
                    <a:pt x="77493" y="5828"/>
                  </a:lnTo>
                  <a:lnTo>
                    <a:pt x="84640" y="3660"/>
                  </a:lnTo>
                  <a:lnTo>
                    <a:pt x="92001" y="2196"/>
                  </a:lnTo>
                  <a:lnTo>
                    <a:pt x="99362" y="732"/>
                  </a:lnTo>
                  <a:lnTo>
                    <a:pt x="106795" y="0"/>
                  </a:lnTo>
                  <a:lnTo>
                    <a:pt x="114300" y="0"/>
                  </a:lnTo>
                  <a:lnTo>
                    <a:pt x="1171575" y="0"/>
                  </a:lnTo>
                  <a:lnTo>
                    <a:pt x="1179080" y="0"/>
                  </a:lnTo>
                  <a:lnTo>
                    <a:pt x="1186513" y="732"/>
                  </a:lnTo>
                  <a:lnTo>
                    <a:pt x="1193874" y="2196"/>
                  </a:lnTo>
                  <a:lnTo>
                    <a:pt x="1201234" y="3660"/>
                  </a:lnTo>
                  <a:lnTo>
                    <a:pt x="1208381" y="5828"/>
                  </a:lnTo>
                  <a:lnTo>
                    <a:pt x="1215315" y="8700"/>
                  </a:lnTo>
                  <a:lnTo>
                    <a:pt x="1222249" y="11572"/>
                  </a:lnTo>
                  <a:lnTo>
                    <a:pt x="1228836" y="15093"/>
                  </a:lnTo>
                  <a:lnTo>
                    <a:pt x="1235076" y="19262"/>
                  </a:lnTo>
                  <a:lnTo>
                    <a:pt x="1241316" y="23432"/>
                  </a:lnTo>
                  <a:lnTo>
                    <a:pt x="1270780" y="57038"/>
                  </a:lnTo>
                  <a:lnTo>
                    <a:pt x="1283678" y="92001"/>
                  </a:lnTo>
                  <a:lnTo>
                    <a:pt x="1285142" y="99361"/>
                  </a:lnTo>
                  <a:lnTo>
                    <a:pt x="1285874" y="106794"/>
                  </a:lnTo>
                  <a:lnTo>
                    <a:pt x="1285875" y="114299"/>
                  </a:lnTo>
                  <a:lnTo>
                    <a:pt x="1285874" y="121805"/>
                  </a:lnTo>
                  <a:lnTo>
                    <a:pt x="1274301" y="164974"/>
                  </a:lnTo>
                  <a:lnTo>
                    <a:pt x="1247089" y="200429"/>
                  </a:lnTo>
                  <a:lnTo>
                    <a:pt x="1235076" y="209336"/>
                  </a:lnTo>
                  <a:lnTo>
                    <a:pt x="1228836" y="213506"/>
                  </a:lnTo>
                  <a:lnTo>
                    <a:pt x="1222249" y="217027"/>
                  </a:lnTo>
                  <a:lnTo>
                    <a:pt x="1215315" y="219899"/>
                  </a:lnTo>
                  <a:lnTo>
                    <a:pt x="1208381" y="222771"/>
                  </a:lnTo>
                  <a:lnTo>
                    <a:pt x="1201234" y="224939"/>
                  </a:lnTo>
                  <a:lnTo>
                    <a:pt x="1193874" y="226403"/>
                  </a:lnTo>
                  <a:lnTo>
                    <a:pt x="1186513" y="227867"/>
                  </a:lnTo>
                  <a:lnTo>
                    <a:pt x="1179080" y="228599"/>
                  </a:lnTo>
                  <a:lnTo>
                    <a:pt x="1171575" y="228599"/>
                  </a:lnTo>
                  <a:lnTo>
                    <a:pt x="114300" y="228599"/>
                  </a:lnTo>
                  <a:lnTo>
                    <a:pt x="70559" y="219899"/>
                  </a:lnTo>
                  <a:lnTo>
                    <a:pt x="63625" y="217027"/>
                  </a:lnTo>
                  <a:lnTo>
                    <a:pt x="57038" y="213506"/>
                  </a:lnTo>
                  <a:lnTo>
                    <a:pt x="50798" y="209336"/>
                  </a:lnTo>
                  <a:lnTo>
                    <a:pt x="44557" y="205167"/>
                  </a:lnTo>
                  <a:lnTo>
                    <a:pt x="38784" y="200429"/>
                  </a:lnTo>
                  <a:lnTo>
                    <a:pt x="33477" y="195122"/>
                  </a:lnTo>
                  <a:lnTo>
                    <a:pt x="28170" y="189815"/>
                  </a:lnTo>
                  <a:lnTo>
                    <a:pt x="23431" y="184041"/>
                  </a:lnTo>
                  <a:lnTo>
                    <a:pt x="19262" y="177801"/>
                  </a:lnTo>
                  <a:lnTo>
                    <a:pt x="15093" y="171561"/>
                  </a:lnTo>
                  <a:lnTo>
                    <a:pt x="11572" y="164974"/>
                  </a:lnTo>
                  <a:lnTo>
                    <a:pt x="8700" y="158040"/>
                  </a:lnTo>
                  <a:lnTo>
                    <a:pt x="5828" y="151106"/>
                  </a:lnTo>
                  <a:lnTo>
                    <a:pt x="3660" y="143959"/>
                  </a:lnTo>
                  <a:lnTo>
                    <a:pt x="2196" y="136598"/>
                  </a:lnTo>
                  <a:lnTo>
                    <a:pt x="731" y="129237"/>
                  </a:lnTo>
                  <a:lnTo>
                    <a:pt x="0" y="121805"/>
                  </a:lnTo>
                  <a:lnTo>
                    <a:pt x="0" y="114299"/>
                  </a:lnTo>
                </a:path>
              </a:pathLst>
            </a:custGeom>
            <a:ln w="9524">
              <a:solidFill>
                <a:srgbClr val="F2F4F5"/>
              </a:solidFill>
            </a:ln>
          </p:spPr>
          <p:txBody>
            <a:bodyPr wrap="square" lIns="0" tIns="0" rIns="0" bIns="0" rtlCol="0"/>
            <a:lstStyle/>
            <a:p>
              <a:endParaRPr/>
            </a:p>
          </p:txBody>
        </p:sp>
      </p:grpSp>
      <p:sp>
        <p:nvSpPr>
          <p:cNvPr id="32" name="object 32"/>
          <p:cNvSpPr txBox="1"/>
          <p:nvPr/>
        </p:nvSpPr>
        <p:spPr>
          <a:xfrm>
            <a:off x="10369251" y="1539875"/>
            <a:ext cx="1111885" cy="139700"/>
          </a:xfrm>
          <a:prstGeom prst="rect">
            <a:avLst/>
          </a:prstGeom>
        </p:spPr>
        <p:txBody>
          <a:bodyPr vert="horz" wrap="square" lIns="0" tIns="12700" rIns="0" bIns="0" rtlCol="0">
            <a:spAutoFit/>
          </a:bodyPr>
          <a:lstStyle/>
          <a:p>
            <a:pPr marL="12700">
              <a:lnSpc>
                <a:spcPct val="100000"/>
              </a:lnSpc>
              <a:spcBef>
                <a:spcPts val="100"/>
              </a:spcBef>
            </a:pPr>
            <a:r>
              <a:rPr sz="750">
                <a:solidFill>
                  <a:srgbClr val="9CA2AF"/>
                </a:solidFill>
                <a:latin typeface="Courier New"/>
                <a:cs typeface="Courier New"/>
              </a:rPr>
              <a:t>Theorem </a:t>
            </a:r>
            <a:r>
              <a:rPr sz="750" spc="-10">
                <a:solidFill>
                  <a:srgbClr val="9CA2AF"/>
                </a:solidFill>
                <a:latin typeface="Courier New"/>
                <a:cs typeface="Courier New"/>
              </a:rPr>
              <a:t>Equivalence</a:t>
            </a:r>
            <a:endParaRPr sz="750">
              <a:latin typeface="Courier New"/>
              <a:cs typeface="Courier New"/>
            </a:endParaRPr>
          </a:p>
        </p:txBody>
      </p:sp>
      <p:sp>
        <p:nvSpPr>
          <p:cNvPr id="33" name="object 33"/>
          <p:cNvSpPr txBox="1"/>
          <p:nvPr/>
        </p:nvSpPr>
        <p:spPr>
          <a:xfrm>
            <a:off x="5464174" y="1860981"/>
            <a:ext cx="6083300" cy="370422"/>
          </a:xfrm>
          <a:prstGeom prst="rect">
            <a:avLst/>
          </a:prstGeom>
        </p:spPr>
        <p:txBody>
          <a:bodyPr vert="horz" wrap="square" lIns="0" tIns="12065" rIns="0" bIns="0" rtlCol="0">
            <a:spAutoFit/>
          </a:bodyPr>
          <a:lstStyle/>
          <a:p>
            <a:pPr marL="12700" marR="5080">
              <a:lnSpc>
                <a:spcPct val="125000"/>
              </a:lnSpc>
              <a:spcBef>
                <a:spcPts val="95"/>
              </a:spcBef>
            </a:pPr>
            <a:r>
              <a:rPr sz="1000">
                <a:solidFill>
                  <a:srgbClr val="4A5462"/>
                </a:solidFill>
                <a:latin typeface="宋体"/>
                <a:cs typeface="宋体"/>
              </a:rPr>
              <a:t>根据定理体系，集合上的等变映射函数必可解耦为对称聚合特征复合。论文中提出的</a:t>
            </a:r>
            <a:r>
              <a:rPr sz="1000" b="1">
                <a:solidFill>
                  <a:srgbClr val="1D40AF"/>
                </a:solidFill>
                <a:latin typeface="微软雅黑"/>
                <a:cs typeface="微软雅黑"/>
              </a:rPr>
              <a:t>自注意力机制</a:t>
            </a:r>
            <a:r>
              <a:rPr sz="1000">
                <a:solidFill>
                  <a:srgbClr val="4A5462"/>
                </a:solidFill>
                <a:latin typeface="宋体"/>
                <a:cs typeface="宋体"/>
              </a:rPr>
              <a:t>恰好完美等价于此理论模型：</a:t>
            </a:r>
            <a:endParaRPr sz="1000">
              <a:latin typeface="宋体"/>
              <a:cs typeface="宋体"/>
            </a:endParaRPr>
          </a:p>
        </p:txBody>
      </p:sp>
      <p:grpSp>
        <p:nvGrpSpPr>
          <p:cNvPr id="34" name="object 34"/>
          <p:cNvGrpSpPr/>
          <p:nvPr/>
        </p:nvGrpSpPr>
        <p:grpSpPr>
          <a:xfrm>
            <a:off x="5476875" y="2428874"/>
            <a:ext cx="6096000" cy="3810000"/>
            <a:chOff x="5476875" y="2428874"/>
            <a:chExt cx="6096000" cy="3810000"/>
          </a:xfrm>
        </p:grpSpPr>
        <p:pic>
          <p:nvPicPr>
            <p:cNvPr id="35" name="object 35"/>
            <p:cNvPicPr/>
            <p:nvPr/>
          </p:nvPicPr>
          <p:blipFill>
            <a:blip r:embed="rId5" cstate="print"/>
            <a:stretch>
              <a:fillRect/>
            </a:stretch>
          </p:blipFill>
          <p:spPr>
            <a:xfrm>
              <a:off x="5486400" y="2438399"/>
              <a:ext cx="6076949" cy="1181099"/>
            </a:xfrm>
            <a:prstGeom prst="rect">
              <a:avLst/>
            </a:prstGeom>
          </p:spPr>
        </p:pic>
        <p:sp>
          <p:nvSpPr>
            <p:cNvPr id="36" name="object 36"/>
            <p:cNvSpPr/>
            <p:nvPr/>
          </p:nvSpPr>
          <p:spPr>
            <a:xfrm>
              <a:off x="5481637" y="2433637"/>
              <a:ext cx="6086475" cy="1190625"/>
            </a:xfrm>
            <a:custGeom>
              <a:avLst/>
              <a:gdLst/>
              <a:ahLst/>
              <a:cxnLst/>
              <a:rect l="l" t="t" r="r" b="b"/>
              <a:pathLst>
                <a:path w="6086475" h="1190625">
                  <a:moveTo>
                    <a:pt x="0" y="1119187"/>
                  </a:moveTo>
                  <a:lnTo>
                    <a:pt x="0" y="71437"/>
                  </a:lnTo>
                  <a:lnTo>
                    <a:pt x="0" y="66746"/>
                  </a:lnTo>
                  <a:lnTo>
                    <a:pt x="457" y="62101"/>
                  </a:lnTo>
                  <a:lnTo>
                    <a:pt x="1372" y="57500"/>
                  </a:lnTo>
                  <a:lnTo>
                    <a:pt x="2287" y="52900"/>
                  </a:lnTo>
                  <a:lnTo>
                    <a:pt x="3642" y="48432"/>
                  </a:lnTo>
                  <a:lnTo>
                    <a:pt x="5437" y="44099"/>
                  </a:lnTo>
                  <a:lnTo>
                    <a:pt x="7232" y="39765"/>
                  </a:lnTo>
                  <a:lnTo>
                    <a:pt x="9433" y="35648"/>
                  </a:lnTo>
                  <a:lnTo>
                    <a:pt x="12039" y="31748"/>
                  </a:lnTo>
                  <a:lnTo>
                    <a:pt x="14645" y="27848"/>
                  </a:lnTo>
                  <a:lnTo>
                    <a:pt x="17606" y="24240"/>
                  </a:lnTo>
                  <a:lnTo>
                    <a:pt x="20923" y="20923"/>
                  </a:lnTo>
                  <a:lnTo>
                    <a:pt x="24240" y="17606"/>
                  </a:lnTo>
                  <a:lnTo>
                    <a:pt x="62101" y="457"/>
                  </a:lnTo>
                  <a:lnTo>
                    <a:pt x="66746" y="0"/>
                  </a:lnTo>
                  <a:lnTo>
                    <a:pt x="71437" y="0"/>
                  </a:lnTo>
                  <a:lnTo>
                    <a:pt x="6015036" y="0"/>
                  </a:lnTo>
                  <a:lnTo>
                    <a:pt x="6019727" y="0"/>
                  </a:lnTo>
                  <a:lnTo>
                    <a:pt x="6024372" y="457"/>
                  </a:lnTo>
                  <a:lnTo>
                    <a:pt x="6028972" y="1372"/>
                  </a:lnTo>
                  <a:lnTo>
                    <a:pt x="6033572" y="2287"/>
                  </a:lnTo>
                  <a:lnTo>
                    <a:pt x="6065549" y="20923"/>
                  </a:lnTo>
                  <a:lnTo>
                    <a:pt x="6068866" y="24240"/>
                  </a:lnTo>
                  <a:lnTo>
                    <a:pt x="6086016" y="62101"/>
                  </a:lnTo>
                  <a:lnTo>
                    <a:pt x="6086474" y="71437"/>
                  </a:lnTo>
                  <a:lnTo>
                    <a:pt x="6086474" y="1119187"/>
                  </a:lnTo>
                  <a:lnTo>
                    <a:pt x="6074434" y="1158875"/>
                  </a:lnTo>
                  <a:lnTo>
                    <a:pt x="6065549" y="1169701"/>
                  </a:lnTo>
                  <a:lnTo>
                    <a:pt x="6062233" y="1173017"/>
                  </a:lnTo>
                  <a:lnTo>
                    <a:pt x="6024372" y="1190167"/>
                  </a:lnTo>
                  <a:lnTo>
                    <a:pt x="6019727" y="1190624"/>
                  </a:lnTo>
                  <a:lnTo>
                    <a:pt x="6015036" y="1190624"/>
                  </a:lnTo>
                  <a:lnTo>
                    <a:pt x="71437" y="1190624"/>
                  </a:lnTo>
                  <a:lnTo>
                    <a:pt x="66746" y="1190624"/>
                  </a:lnTo>
                  <a:lnTo>
                    <a:pt x="62101" y="1190167"/>
                  </a:lnTo>
                  <a:lnTo>
                    <a:pt x="57500" y="1189252"/>
                  </a:lnTo>
                  <a:lnTo>
                    <a:pt x="52900" y="1188336"/>
                  </a:lnTo>
                  <a:lnTo>
                    <a:pt x="17606" y="1166384"/>
                  </a:lnTo>
                  <a:lnTo>
                    <a:pt x="457" y="1128523"/>
                  </a:lnTo>
                  <a:lnTo>
                    <a:pt x="0" y="1123877"/>
                  </a:lnTo>
                  <a:lnTo>
                    <a:pt x="0" y="1119187"/>
                  </a:lnTo>
                </a:path>
              </a:pathLst>
            </a:custGeom>
            <a:ln w="9524">
              <a:solidFill>
                <a:srgbClr val="DAE9FE"/>
              </a:solidFill>
            </a:ln>
          </p:spPr>
          <p:txBody>
            <a:bodyPr wrap="square" lIns="0" tIns="0" rIns="0" bIns="0" rtlCol="0"/>
            <a:lstStyle/>
            <a:p>
              <a:endParaRPr/>
            </a:p>
          </p:txBody>
        </p:sp>
        <p:sp>
          <p:nvSpPr>
            <p:cNvPr id="37" name="object 37"/>
            <p:cNvSpPr/>
            <p:nvPr/>
          </p:nvSpPr>
          <p:spPr>
            <a:xfrm>
              <a:off x="5476875" y="4400549"/>
              <a:ext cx="6096000" cy="9525"/>
            </a:xfrm>
            <a:custGeom>
              <a:avLst/>
              <a:gdLst/>
              <a:ahLst/>
              <a:cxnLst/>
              <a:rect l="l" t="t" r="r" b="b"/>
              <a:pathLst>
                <a:path w="6095999" h="9525">
                  <a:moveTo>
                    <a:pt x="6095999" y="9524"/>
                  </a:moveTo>
                  <a:lnTo>
                    <a:pt x="0" y="9524"/>
                  </a:lnTo>
                  <a:lnTo>
                    <a:pt x="0" y="0"/>
                  </a:lnTo>
                  <a:lnTo>
                    <a:pt x="6095999" y="0"/>
                  </a:lnTo>
                  <a:lnTo>
                    <a:pt x="6095999" y="9524"/>
                  </a:lnTo>
                  <a:close/>
                </a:path>
              </a:pathLst>
            </a:custGeom>
            <a:solidFill>
              <a:srgbClr val="F2F4F5"/>
            </a:solidFill>
          </p:spPr>
          <p:txBody>
            <a:bodyPr wrap="square" lIns="0" tIns="0" rIns="0" bIns="0" rtlCol="0"/>
            <a:lstStyle/>
            <a:p>
              <a:endParaRPr/>
            </a:p>
          </p:txBody>
        </p:sp>
        <p:sp>
          <p:nvSpPr>
            <p:cNvPr id="38" name="object 38"/>
            <p:cNvSpPr/>
            <p:nvPr/>
          </p:nvSpPr>
          <p:spPr>
            <a:xfrm>
              <a:off x="5481637" y="4767261"/>
              <a:ext cx="1943100" cy="990600"/>
            </a:xfrm>
            <a:custGeom>
              <a:avLst/>
              <a:gdLst/>
              <a:ahLst/>
              <a:cxnLst/>
              <a:rect l="l" t="t" r="r" b="b"/>
              <a:pathLst>
                <a:path w="1943100" h="990600">
                  <a:moveTo>
                    <a:pt x="1876352" y="990599"/>
                  </a:moveTo>
                  <a:lnTo>
                    <a:pt x="66746" y="990599"/>
                  </a:lnTo>
                  <a:lnTo>
                    <a:pt x="62101" y="990142"/>
                  </a:lnTo>
                  <a:lnTo>
                    <a:pt x="24240" y="972993"/>
                  </a:lnTo>
                  <a:lnTo>
                    <a:pt x="2287" y="937699"/>
                  </a:lnTo>
                  <a:lnTo>
                    <a:pt x="0" y="923852"/>
                  </a:lnTo>
                  <a:lnTo>
                    <a:pt x="0" y="919162"/>
                  </a:lnTo>
                  <a:lnTo>
                    <a:pt x="0" y="66746"/>
                  </a:lnTo>
                  <a:lnTo>
                    <a:pt x="14645" y="27848"/>
                  </a:lnTo>
                  <a:lnTo>
                    <a:pt x="48433" y="3642"/>
                  </a:lnTo>
                  <a:lnTo>
                    <a:pt x="66746" y="0"/>
                  </a:lnTo>
                  <a:lnTo>
                    <a:pt x="1876352" y="0"/>
                  </a:lnTo>
                  <a:lnTo>
                    <a:pt x="1915250" y="14644"/>
                  </a:lnTo>
                  <a:lnTo>
                    <a:pt x="1939456" y="48432"/>
                  </a:lnTo>
                  <a:lnTo>
                    <a:pt x="1943099" y="66746"/>
                  </a:lnTo>
                  <a:lnTo>
                    <a:pt x="1943099" y="923852"/>
                  </a:lnTo>
                  <a:lnTo>
                    <a:pt x="1928454" y="962750"/>
                  </a:lnTo>
                  <a:lnTo>
                    <a:pt x="1894666" y="986956"/>
                  </a:lnTo>
                  <a:lnTo>
                    <a:pt x="1880998" y="990142"/>
                  </a:lnTo>
                  <a:lnTo>
                    <a:pt x="1876352" y="990599"/>
                  </a:lnTo>
                  <a:close/>
                </a:path>
              </a:pathLst>
            </a:custGeom>
            <a:solidFill>
              <a:srgbClr val="F9FAFA"/>
            </a:solidFill>
          </p:spPr>
          <p:txBody>
            <a:bodyPr wrap="square" lIns="0" tIns="0" rIns="0" bIns="0" rtlCol="0"/>
            <a:lstStyle/>
            <a:p>
              <a:endParaRPr/>
            </a:p>
          </p:txBody>
        </p:sp>
        <p:sp>
          <p:nvSpPr>
            <p:cNvPr id="39" name="object 39"/>
            <p:cNvSpPr/>
            <p:nvPr/>
          </p:nvSpPr>
          <p:spPr>
            <a:xfrm>
              <a:off x="5481637" y="4767261"/>
              <a:ext cx="1943100" cy="990600"/>
            </a:xfrm>
            <a:custGeom>
              <a:avLst/>
              <a:gdLst/>
              <a:ahLst/>
              <a:cxnLst/>
              <a:rect l="l" t="t" r="r" b="b"/>
              <a:pathLst>
                <a:path w="1943100" h="990600">
                  <a:moveTo>
                    <a:pt x="0" y="919162"/>
                  </a:moveTo>
                  <a:lnTo>
                    <a:pt x="0" y="71437"/>
                  </a:lnTo>
                  <a:lnTo>
                    <a:pt x="0" y="66746"/>
                  </a:lnTo>
                  <a:lnTo>
                    <a:pt x="457" y="62100"/>
                  </a:lnTo>
                  <a:lnTo>
                    <a:pt x="17606" y="24239"/>
                  </a:lnTo>
                  <a:lnTo>
                    <a:pt x="20923" y="20923"/>
                  </a:lnTo>
                  <a:lnTo>
                    <a:pt x="24240" y="17606"/>
                  </a:lnTo>
                  <a:lnTo>
                    <a:pt x="27848" y="14644"/>
                  </a:lnTo>
                  <a:lnTo>
                    <a:pt x="31748" y="12039"/>
                  </a:lnTo>
                  <a:lnTo>
                    <a:pt x="35649" y="9433"/>
                  </a:lnTo>
                  <a:lnTo>
                    <a:pt x="66746" y="0"/>
                  </a:lnTo>
                  <a:lnTo>
                    <a:pt x="71437" y="0"/>
                  </a:lnTo>
                  <a:lnTo>
                    <a:pt x="1871662" y="0"/>
                  </a:lnTo>
                  <a:lnTo>
                    <a:pt x="1876352" y="0"/>
                  </a:lnTo>
                  <a:lnTo>
                    <a:pt x="1880998" y="457"/>
                  </a:lnTo>
                  <a:lnTo>
                    <a:pt x="1885598" y="1372"/>
                  </a:lnTo>
                  <a:lnTo>
                    <a:pt x="1890199" y="2287"/>
                  </a:lnTo>
                  <a:lnTo>
                    <a:pt x="1922175" y="20923"/>
                  </a:lnTo>
                  <a:lnTo>
                    <a:pt x="1925492" y="24239"/>
                  </a:lnTo>
                  <a:lnTo>
                    <a:pt x="1928454" y="27848"/>
                  </a:lnTo>
                  <a:lnTo>
                    <a:pt x="1931059" y="31748"/>
                  </a:lnTo>
                  <a:lnTo>
                    <a:pt x="1933665" y="35648"/>
                  </a:lnTo>
                  <a:lnTo>
                    <a:pt x="1943099" y="71437"/>
                  </a:lnTo>
                  <a:lnTo>
                    <a:pt x="1943099" y="919162"/>
                  </a:lnTo>
                  <a:lnTo>
                    <a:pt x="1937661" y="946499"/>
                  </a:lnTo>
                  <a:lnTo>
                    <a:pt x="1935866" y="950833"/>
                  </a:lnTo>
                  <a:lnTo>
                    <a:pt x="1933665" y="954950"/>
                  </a:lnTo>
                  <a:lnTo>
                    <a:pt x="1931059" y="958850"/>
                  </a:lnTo>
                  <a:lnTo>
                    <a:pt x="1928454" y="962750"/>
                  </a:lnTo>
                  <a:lnTo>
                    <a:pt x="1925492" y="966359"/>
                  </a:lnTo>
                  <a:lnTo>
                    <a:pt x="1922175" y="969676"/>
                  </a:lnTo>
                  <a:lnTo>
                    <a:pt x="1918859" y="972993"/>
                  </a:lnTo>
                  <a:lnTo>
                    <a:pt x="1880998" y="990142"/>
                  </a:lnTo>
                  <a:lnTo>
                    <a:pt x="1871662" y="990599"/>
                  </a:lnTo>
                  <a:lnTo>
                    <a:pt x="71437" y="990599"/>
                  </a:lnTo>
                  <a:lnTo>
                    <a:pt x="31748" y="978560"/>
                  </a:lnTo>
                  <a:lnTo>
                    <a:pt x="20923" y="969676"/>
                  </a:lnTo>
                  <a:lnTo>
                    <a:pt x="17606" y="966359"/>
                  </a:lnTo>
                  <a:lnTo>
                    <a:pt x="5437" y="946499"/>
                  </a:lnTo>
                  <a:lnTo>
                    <a:pt x="3642" y="942166"/>
                  </a:lnTo>
                  <a:lnTo>
                    <a:pt x="2287" y="937699"/>
                  </a:lnTo>
                  <a:lnTo>
                    <a:pt x="1372" y="933099"/>
                  </a:lnTo>
                  <a:lnTo>
                    <a:pt x="457" y="928498"/>
                  </a:lnTo>
                  <a:lnTo>
                    <a:pt x="0" y="923852"/>
                  </a:lnTo>
                  <a:lnTo>
                    <a:pt x="0" y="919162"/>
                  </a:lnTo>
                </a:path>
              </a:pathLst>
            </a:custGeom>
            <a:ln w="9524">
              <a:solidFill>
                <a:srgbClr val="F2F4F5"/>
              </a:solidFill>
            </a:ln>
          </p:spPr>
          <p:txBody>
            <a:bodyPr wrap="square" lIns="0" tIns="0" rIns="0" bIns="0" rtlCol="0"/>
            <a:lstStyle/>
            <a:p>
              <a:endParaRPr/>
            </a:p>
          </p:txBody>
        </p:sp>
        <p:sp>
          <p:nvSpPr>
            <p:cNvPr id="40" name="object 40"/>
            <p:cNvSpPr/>
            <p:nvPr/>
          </p:nvSpPr>
          <p:spPr>
            <a:xfrm>
              <a:off x="7548562" y="4772024"/>
              <a:ext cx="1952625" cy="986155"/>
            </a:xfrm>
            <a:custGeom>
              <a:avLst/>
              <a:gdLst/>
              <a:ahLst/>
              <a:cxnLst/>
              <a:rect l="l" t="t" r="r" b="b"/>
              <a:pathLst>
                <a:path w="1952625" h="986154">
                  <a:moveTo>
                    <a:pt x="1885877" y="985837"/>
                  </a:moveTo>
                  <a:lnTo>
                    <a:pt x="66747" y="985837"/>
                  </a:lnTo>
                  <a:lnTo>
                    <a:pt x="62101" y="985379"/>
                  </a:lnTo>
                  <a:lnTo>
                    <a:pt x="24240" y="968230"/>
                  </a:lnTo>
                  <a:lnTo>
                    <a:pt x="2287" y="932937"/>
                  </a:lnTo>
                  <a:lnTo>
                    <a:pt x="0" y="919090"/>
                  </a:lnTo>
                  <a:lnTo>
                    <a:pt x="0" y="914399"/>
                  </a:lnTo>
                  <a:lnTo>
                    <a:pt x="0" y="62297"/>
                  </a:lnTo>
                  <a:lnTo>
                    <a:pt x="14645" y="25991"/>
                  </a:lnTo>
                  <a:lnTo>
                    <a:pt x="48433" y="3399"/>
                  </a:lnTo>
                  <a:lnTo>
                    <a:pt x="66747" y="0"/>
                  </a:lnTo>
                  <a:lnTo>
                    <a:pt x="1885877" y="0"/>
                  </a:lnTo>
                  <a:lnTo>
                    <a:pt x="1924775" y="13668"/>
                  </a:lnTo>
                  <a:lnTo>
                    <a:pt x="1948981" y="45203"/>
                  </a:lnTo>
                  <a:lnTo>
                    <a:pt x="1952624" y="62297"/>
                  </a:lnTo>
                  <a:lnTo>
                    <a:pt x="1952624" y="919090"/>
                  </a:lnTo>
                  <a:lnTo>
                    <a:pt x="1937979" y="957988"/>
                  </a:lnTo>
                  <a:lnTo>
                    <a:pt x="1904191" y="982193"/>
                  </a:lnTo>
                  <a:lnTo>
                    <a:pt x="1890523" y="985379"/>
                  </a:lnTo>
                  <a:lnTo>
                    <a:pt x="1885877" y="985837"/>
                  </a:lnTo>
                  <a:close/>
                </a:path>
              </a:pathLst>
            </a:custGeom>
            <a:solidFill>
              <a:srgbClr val="FFFAEB">
                <a:alpha val="39999"/>
              </a:srgbClr>
            </a:solidFill>
          </p:spPr>
          <p:txBody>
            <a:bodyPr wrap="square" lIns="0" tIns="0" rIns="0" bIns="0" rtlCol="0"/>
            <a:lstStyle/>
            <a:p>
              <a:endParaRPr/>
            </a:p>
          </p:txBody>
        </p:sp>
        <p:sp>
          <p:nvSpPr>
            <p:cNvPr id="41" name="object 41"/>
            <p:cNvSpPr/>
            <p:nvPr/>
          </p:nvSpPr>
          <p:spPr>
            <a:xfrm>
              <a:off x="7559079" y="4762499"/>
              <a:ext cx="1931670" cy="43180"/>
            </a:xfrm>
            <a:custGeom>
              <a:avLst/>
              <a:gdLst/>
              <a:ahLst/>
              <a:cxnLst/>
              <a:rect l="l" t="t" r="r" b="b"/>
              <a:pathLst>
                <a:path w="1931670" h="43179">
                  <a:moveTo>
                    <a:pt x="6164" y="42887"/>
                  </a:moveTo>
                  <a:lnTo>
                    <a:pt x="0" y="30558"/>
                  </a:lnTo>
                  <a:lnTo>
                    <a:pt x="1987" y="27882"/>
                  </a:lnTo>
                  <a:lnTo>
                    <a:pt x="7039" y="22318"/>
                  </a:lnTo>
                  <a:lnTo>
                    <a:pt x="46051" y="1449"/>
                  </a:lnTo>
                  <a:lnTo>
                    <a:pt x="60920" y="0"/>
                  </a:lnTo>
                  <a:lnTo>
                    <a:pt x="1870670" y="0"/>
                  </a:lnTo>
                  <a:lnTo>
                    <a:pt x="1913011" y="12829"/>
                  </a:lnTo>
                  <a:lnTo>
                    <a:pt x="1920950" y="19049"/>
                  </a:lnTo>
                  <a:lnTo>
                    <a:pt x="60920" y="19049"/>
                  </a:lnTo>
                  <a:lnTo>
                    <a:pt x="54352" y="19321"/>
                  </a:lnTo>
                  <a:lnTo>
                    <a:pt x="7521" y="41147"/>
                  </a:lnTo>
                  <a:lnTo>
                    <a:pt x="6164" y="42887"/>
                  </a:lnTo>
                  <a:close/>
                </a:path>
                <a:path w="1931670" h="43179">
                  <a:moveTo>
                    <a:pt x="1925426" y="42887"/>
                  </a:moveTo>
                  <a:lnTo>
                    <a:pt x="1889995" y="21496"/>
                  </a:lnTo>
                  <a:lnTo>
                    <a:pt x="1870670" y="19049"/>
                  </a:lnTo>
                  <a:lnTo>
                    <a:pt x="1920950" y="19049"/>
                  </a:lnTo>
                  <a:lnTo>
                    <a:pt x="1924550" y="22318"/>
                  </a:lnTo>
                  <a:lnTo>
                    <a:pt x="1929602" y="27882"/>
                  </a:lnTo>
                  <a:lnTo>
                    <a:pt x="1931493" y="30429"/>
                  </a:lnTo>
                  <a:lnTo>
                    <a:pt x="1931589" y="30558"/>
                  </a:lnTo>
                  <a:lnTo>
                    <a:pt x="1925426" y="42887"/>
                  </a:lnTo>
                  <a:close/>
                </a:path>
              </a:pathLst>
            </a:custGeom>
            <a:solidFill>
              <a:srgbClr val="F59D0A"/>
            </a:solidFill>
          </p:spPr>
          <p:txBody>
            <a:bodyPr wrap="square" lIns="0" tIns="0" rIns="0" bIns="0" rtlCol="0"/>
            <a:lstStyle/>
            <a:p>
              <a:endParaRPr/>
            </a:p>
          </p:txBody>
        </p:sp>
        <p:sp>
          <p:nvSpPr>
            <p:cNvPr id="42" name="object 42"/>
            <p:cNvSpPr/>
            <p:nvPr/>
          </p:nvSpPr>
          <p:spPr>
            <a:xfrm>
              <a:off x="7543787" y="4792675"/>
              <a:ext cx="1962150" cy="970280"/>
            </a:xfrm>
            <a:custGeom>
              <a:avLst/>
              <a:gdLst/>
              <a:ahLst/>
              <a:cxnLst/>
              <a:rect l="l" t="t" r="r" b="b"/>
              <a:pathLst>
                <a:path w="1962150" h="970279">
                  <a:moveTo>
                    <a:pt x="1962150" y="46024"/>
                  </a:moveTo>
                  <a:lnTo>
                    <a:pt x="1949323" y="3683"/>
                  </a:lnTo>
                  <a:lnTo>
                    <a:pt x="1946592" y="12"/>
                  </a:lnTo>
                  <a:lnTo>
                    <a:pt x="1940420" y="12344"/>
                  </a:lnTo>
                  <a:lnTo>
                    <a:pt x="1944166" y="17157"/>
                  </a:lnTo>
                  <a:lnTo>
                    <a:pt x="1950935" y="31165"/>
                  </a:lnTo>
                  <a:lnTo>
                    <a:pt x="1952625" y="38455"/>
                  </a:lnTo>
                  <a:lnTo>
                    <a:pt x="1952625" y="893749"/>
                  </a:lnTo>
                  <a:lnTo>
                    <a:pt x="1941398" y="930808"/>
                  </a:lnTo>
                  <a:lnTo>
                    <a:pt x="1932597" y="941349"/>
                  </a:lnTo>
                  <a:lnTo>
                    <a:pt x="1892528" y="960107"/>
                  </a:lnTo>
                  <a:lnTo>
                    <a:pt x="1885962" y="960424"/>
                  </a:lnTo>
                  <a:lnTo>
                    <a:pt x="76212" y="960424"/>
                  </a:lnTo>
                  <a:lnTo>
                    <a:pt x="39154" y="949198"/>
                  </a:lnTo>
                  <a:lnTo>
                    <a:pt x="29540" y="941362"/>
                  </a:lnTo>
                  <a:lnTo>
                    <a:pt x="24638" y="936028"/>
                  </a:lnTo>
                  <a:lnTo>
                    <a:pt x="9842" y="900328"/>
                  </a:lnTo>
                  <a:lnTo>
                    <a:pt x="9525" y="38455"/>
                  </a:lnTo>
                  <a:lnTo>
                    <a:pt x="11226" y="31165"/>
                  </a:lnTo>
                  <a:lnTo>
                    <a:pt x="17983" y="17157"/>
                  </a:lnTo>
                  <a:lnTo>
                    <a:pt x="21742" y="12344"/>
                  </a:lnTo>
                  <a:lnTo>
                    <a:pt x="15570" y="0"/>
                  </a:lnTo>
                  <a:lnTo>
                    <a:pt x="368" y="38519"/>
                  </a:lnTo>
                  <a:lnTo>
                    <a:pt x="0" y="46024"/>
                  </a:lnTo>
                  <a:lnTo>
                    <a:pt x="0" y="893749"/>
                  </a:lnTo>
                  <a:lnTo>
                    <a:pt x="12839" y="936091"/>
                  </a:lnTo>
                  <a:lnTo>
                    <a:pt x="22364" y="947597"/>
                  </a:lnTo>
                  <a:lnTo>
                    <a:pt x="22771" y="948055"/>
                  </a:lnTo>
                  <a:lnTo>
                    <a:pt x="27889" y="952690"/>
                  </a:lnTo>
                  <a:lnTo>
                    <a:pt x="68694" y="969594"/>
                  </a:lnTo>
                  <a:lnTo>
                    <a:pt x="76212" y="969949"/>
                  </a:lnTo>
                  <a:lnTo>
                    <a:pt x="1885962" y="969949"/>
                  </a:lnTo>
                  <a:lnTo>
                    <a:pt x="1922780" y="960424"/>
                  </a:lnTo>
                  <a:lnTo>
                    <a:pt x="1928291" y="957122"/>
                  </a:lnTo>
                  <a:lnTo>
                    <a:pt x="1934273" y="952690"/>
                  </a:lnTo>
                  <a:lnTo>
                    <a:pt x="1939328" y="948093"/>
                  </a:lnTo>
                  <a:lnTo>
                    <a:pt x="1939836" y="947635"/>
                  </a:lnTo>
                  <a:lnTo>
                    <a:pt x="1960702" y="908621"/>
                  </a:lnTo>
                  <a:lnTo>
                    <a:pt x="1962150" y="893749"/>
                  </a:lnTo>
                  <a:lnTo>
                    <a:pt x="1962150" y="46024"/>
                  </a:lnTo>
                  <a:close/>
                </a:path>
              </a:pathLst>
            </a:custGeom>
            <a:solidFill>
              <a:srgbClr val="FEF2C7"/>
            </a:solidFill>
          </p:spPr>
          <p:txBody>
            <a:bodyPr wrap="square" lIns="0" tIns="0" rIns="0" bIns="0" rtlCol="0"/>
            <a:lstStyle/>
            <a:p>
              <a:endParaRPr/>
            </a:p>
          </p:txBody>
        </p:sp>
        <p:sp>
          <p:nvSpPr>
            <p:cNvPr id="43" name="object 43"/>
            <p:cNvSpPr/>
            <p:nvPr/>
          </p:nvSpPr>
          <p:spPr>
            <a:xfrm>
              <a:off x="9625012" y="4767261"/>
              <a:ext cx="1943100" cy="990600"/>
            </a:xfrm>
            <a:custGeom>
              <a:avLst/>
              <a:gdLst/>
              <a:ahLst/>
              <a:cxnLst/>
              <a:rect l="l" t="t" r="r" b="b"/>
              <a:pathLst>
                <a:path w="1943100" h="990600">
                  <a:moveTo>
                    <a:pt x="1876352" y="990599"/>
                  </a:moveTo>
                  <a:lnTo>
                    <a:pt x="66746" y="990599"/>
                  </a:lnTo>
                  <a:lnTo>
                    <a:pt x="62101" y="990142"/>
                  </a:lnTo>
                  <a:lnTo>
                    <a:pt x="24240" y="972993"/>
                  </a:lnTo>
                  <a:lnTo>
                    <a:pt x="2287" y="937699"/>
                  </a:lnTo>
                  <a:lnTo>
                    <a:pt x="0" y="923852"/>
                  </a:lnTo>
                  <a:lnTo>
                    <a:pt x="0" y="919162"/>
                  </a:lnTo>
                  <a:lnTo>
                    <a:pt x="0" y="66746"/>
                  </a:lnTo>
                  <a:lnTo>
                    <a:pt x="14645" y="27848"/>
                  </a:lnTo>
                  <a:lnTo>
                    <a:pt x="48432" y="3642"/>
                  </a:lnTo>
                  <a:lnTo>
                    <a:pt x="66746" y="0"/>
                  </a:lnTo>
                  <a:lnTo>
                    <a:pt x="1876352" y="0"/>
                  </a:lnTo>
                  <a:lnTo>
                    <a:pt x="1915249" y="14644"/>
                  </a:lnTo>
                  <a:lnTo>
                    <a:pt x="1939455" y="48432"/>
                  </a:lnTo>
                  <a:lnTo>
                    <a:pt x="1943099" y="66746"/>
                  </a:lnTo>
                  <a:lnTo>
                    <a:pt x="1943099" y="923852"/>
                  </a:lnTo>
                  <a:lnTo>
                    <a:pt x="1928453" y="962750"/>
                  </a:lnTo>
                  <a:lnTo>
                    <a:pt x="1894665" y="986956"/>
                  </a:lnTo>
                  <a:lnTo>
                    <a:pt x="1880997" y="990142"/>
                  </a:lnTo>
                  <a:lnTo>
                    <a:pt x="1876352" y="990599"/>
                  </a:lnTo>
                  <a:close/>
                </a:path>
              </a:pathLst>
            </a:custGeom>
            <a:solidFill>
              <a:srgbClr val="F9FAFA"/>
            </a:solidFill>
          </p:spPr>
          <p:txBody>
            <a:bodyPr wrap="square" lIns="0" tIns="0" rIns="0" bIns="0" rtlCol="0"/>
            <a:lstStyle/>
            <a:p>
              <a:endParaRPr/>
            </a:p>
          </p:txBody>
        </p:sp>
        <p:sp>
          <p:nvSpPr>
            <p:cNvPr id="44" name="object 44"/>
            <p:cNvSpPr/>
            <p:nvPr/>
          </p:nvSpPr>
          <p:spPr>
            <a:xfrm>
              <a:off x="9625012" y="4767261"/>
              <a:ext cx="1943100" cy="990600"/>
            </a:xfrm>
            <a:custGeom>
              <a:avLst/>
              <a:gdLst/>
              <a:ahLst/>
              <a:cxnLst/>
              <a:rect l="l" t="t" r="r" b="b"/>
              <a:pathLst>
                <a:path w="1943100" h="990600">
                  <a:moveTo>
                    <a:pt x="0" y="919162"/>
                  </a:moveTo>
                  <a:lnTo>
                    <a:pt x="0" y="71437"/>
                  </a:lnTo>
                  <a:lnTo>
                    <a:pt x="0" y="66746"/>
                  </a:lnTo>
                  <a:lnTo>
                    <a:pt x="457" y="62100"/>
                  </a:lnTo>
                  <a:lnTo>
                    <a:pt x="17606" y="24239"/>
                  </a:lnTo>
                  <a:lnTo>
                    <a:pt x="20923" y="20923"/>
                  </a:lnTo>
                  <a:lnTo>
                    <a:pt x="24240" y="17606"/>
                  </a:lnTo>
                  <a:lnTo>
                    <a:pt x="27848" y="14644"/>
                  </a:lnTo>
                  <a:lnTo>
                    <a:pt x="31748" y="12039"/>
                  </a:lnTo>
                  <a:lnTo>
                    <a:pt x="35648" y="9433"/>
                  </a:lnTo>
                  <a:lnTo>
                    <a:pt x="66746" y="0"/>
                  </a:lnTo>
                  <a:lnTo>
                    <a:pt x="71437" y="0"/>
                  </a:lnTo>
                  <a:lnTo>
                    <a:pt x="1871662" y="0"/>
                  </a:lnTo>
                  <a:lnTo>
                    <a:pt x="1876352" y="0"/>
                  </a:lnTo>
                  <a:lnTo>
                    <a:pt x="1880997" y="457"/>
                  </a:lnTo>
                  <a:lnTo>
                    <a:pt x="1885597" y="1372"/>
                  </a:lnTo>
                  <a:lnTo>
                    <a:pt x="1890198" y="2287"/>
                  </a:lnTo>
                  <a:lnTo>
                    <a:pt x="1922175" y="20923"/>
                  </a:lnTo>
                  <a:lnTo>
                    <a:pt x="1925492" y="24239"/>
                  </a:lnTo>
                  <a:lnTo>
                    <a:pt x="1942641" y="62100"/>
                  </a:lnTo>
                  <a:lnTo>
                    <a:pt x="1943099" y="71437"/>
                  </a:lnTo>
                  <a:lnTo>
                    <a:pt x="1943099" y="919162"/>
                  </a:lnTo>
                  <a:lnTo>
                    <a:pt x="1931059" y="958850"/>
                  </a:lnTo>
                  <a:lnTo>
                    <a:pt x="1922175" y="969676"/>
                  </a:lnTo>
                  <a:lnTo>
                    <a:pt x="1918858" y="972993"/>
                  </a:lnTo>
                  <a:lnTo>
                    <a:pt x="1880997" y="990142"/>
                  </a:lnTo>
                  <a:lnTo>
                    <a:pt x="1871662" y="990599"/>
                  </a:lnTo>
                  <a:lnTo>
                    <a:pt x="71437" y="990599"/>
                  </a:lnTo>
                  <a:lnTo>
                    <a:pt x="31748" y="978560"/>
                  </a:lnTo>
                  <a:lnTo>
                    <a:pt x="20923" y="969676"/>
                  </a:lnTo>
                  <a:lnTo>
                    <a:pt x="17606" y="966359"/>
                  </a:lnTo>
                  <a:lnTo>
                    <a:pt x="14645" y="962750"/>
                  </a:lnTo>
                  <a:lnTo>
                    <a:pt x="12039" y="958850"/>
                  </a:lnTo>
                  <a:lnTo>
                    <a:pt x="9432" y="954950"/>
                  </a:lnTo>
                  <a:lnTo>
                    <a:pt x="0" y="923852"/>
                  </a:lnTo>
                  <a:lnTo>
                    <a:pt x="0" y="919162"/>
                  </a:lnTo>
                </a:path>
              </a:pathLst>
            </a:custGeom>
            <a:ln w="9524">
              <a:solidFill>
                <a:srgbClr val="F2F4F5"/>
              </a:solidFill>
            </a:ln>
          </p:spPr>
          <p:txBody>
            <a:bodyPr wrap="square" lIns="0" tIns="0" rIns="0" bIns="0" rtlCol="0"/>
            <a:lstStyle/>
            <a:p>
              <a:endParaRPr/>
            </a:p>
          </p:txBody>
        </p:sp>
        <p:sp>
          <p:nvSpPr>
            <p:cNvPr id="45" name="object 45"/>
            <p:cNvSpPr/>
            <p:nvPr/>
          </p:nvSpPr>
          <p:spPr>
            <a:xfrm>
              <a:off x="5486399" y="5895974"/>
              <a:ext cx="6086475" cy="342900"/>
            </a:xfrm>
            <a:custGeom>
              <a:avLst/>
              <a:gdLst/>
              <a:ahLst/>
              <a:cxnLst/>
              <a:rect l="l" t="t" r="r" b="b"/>
              <a:pathLst>
                <a:path w="6086475" h="342900">
                  <a:moveTo>
                    <a:pt x="6015277" y="342899"/>
                  </a:moveTo>
                  <a:lnTo>
                    <a:pt x="62297" y="342899"/>
                  </a:lnTo>
                  <a:lnTo>
                    <a:pt x="57961" y="342411"/>
                  </a:lnTo>
                  <a:lnTo>
                    <a:pt x="22624" y="324118"/>
                  </a:lnTo>
                  <a:lnTo>
                    <a:pt x="2135" y="286472"/>
                  </a:lnTo>
                  <a:lnTo>
                    <a:pt x="0" y="271702"/>
                  </a:lnTo>
                  <a:lnTo>
                    <a:pt x="0" y="266699"/>
                  </a:lnTo>
                  <a:lnTo>
                    <a:pt x="0" y="71196"/>
                  </a:lnTo>
                  <a:lnTo>
                    <a:pt x="13668" y="29704"/>
                  </a:lnTo>
                  <a:lnTo>
                    <a:pt x="45204" y="3885"/>
                  </a:lnTo>
                  <a:lnTo>
                    <a:pt x="62297" y="0"/>
                  </a:lnTo>
                  <a:lnTo>
                    <a:pt x="6015277" y="0"/>
                  </a:lnTo>
                  <a:lnTo>
                    <a:pt x="6056768" y="15621"/>
                  </a:lnTo>
                  <a:lnTo>
                    <a:pt x="6082587" y="51661"/>
                  </a:lnTo>
                  <a:lnTo>
                    <a:pt x="6086473" y="71196"/>
                  </a:lnTo>
                  <a:lnTo>
                    <a:pt x="6086473" y="271702"/>
                  </a:lnTo>
                  <a:lnTo>
                    <a:pt x="6070851" y="313194"/>
                  </a:lnTo>
                  <a:lnTo>
                    <a:pt x="6034811" y="339013"/>
                  </a:lnTo>
                  <a:lnTo>
                    <a:pt x="6020232" y="342411"/>
                  </a:lnTo>
                  <a:lnTo>
                    <a:pt x="6015277" y="342899"/>
                  </a:lnTo>
                  <a:close/>
                </a:path>
              </a:pathLst>
            </a:custGeom>
            <a:solidFill>
              <a:srgbClr val="F9FAFA"/>
            </a:solidFill>
          </p:spPr>
          <p:txBody>
            <a:bodyPr wrap="square" lIns="0" tIns="0" rIns="0" bIns="0" rtlCol="0"/>
            <a:lstStyle/>
            <a:p>
              <a:endParaRPr/>
            </a:p>
          </p:txBody>
        </p:sp>
        <p:sp>
          <p:nvSpPr>
            <p:cNvPr id="46" name="object 46"/>
            <p:cNvSpPr/>
            <p:nvPr/>
          </p:nvSpPr>
          <p:spPr>
            <a:xfrm>
              <a:off x="5476875" y="5896816"/>
              <a:ext cx="66040" cy="341630"/>
            </a:xfrm>
            <a:custGeom>
              <a:avLst/>
              <a:gdLst/>
              <a:ahLst/>
              <a:cxnLst/>
              <a:rect l="l" t="t" r="r" b="b"/>
              <a:pathLst>
                <a:path w="66039" h="341629">
                  <a:moveTo>
                    <a:pt x="65445" y="341214"/>
                  </a:moveTo>
                  <a:lnTo>
                    <a:pt x="27882" y="324789"/>
                  </a:lnTo>
                  <a:lnTo>
                    <a:pt x="3262" y="287944"/>
                  </a:lnTo>
                  <a:lnTo>
                    <a:pt x="0" y="265857"/>
                  </a:lnTo>
                  <a:lnTo>
                    <a:pt x="0" y="75357"/>
                  </a:lnTo>
                  <a:lnTo>
                    <a:pt x="12829" y="33014"/>
                  </a:lnTo>
                  <a:lnTo>
                    <a:pt x="47038" y="4957"/>
                  </a:lnTo>
                  <a:lnTo>
                    <a:pt x="65444" y="0"/>
                  </a:lnTo>
                  <a:lnTo>
                    <a:pt x="61330" y="1090"/>
                  </a:lnTo>
                  <a:lnTo>
                    <a:pt x="47327" y="8824"/>
                  </a:lnTo>
                  <a:lnTo>
                    <a:pt x="23399" y="46196"/>
                  </a:lnTo>
                  <a:lnTo>
                    <a:pt x="19050" y="75357"/>
                  </a:lnTo>
                  <a:lnTo>
                    <a:pt x="19050" y="265857"/>
                  </a:lnTo>
                  <a:lnTo>
                    <a:pt x="28672" y="308199"/>
                  </a:lnTo>
                  <a:lnTo>
                    <a:pt x="61330" y="340123"/>
                  </a:lnTo>
                  <a:lnTo>
                    <a:pt x="65445" y="341214"/>
                  </a:lnTo>
                  <a:close/>
                </a:path>
              </a:pathLst>
            </a:custGeom>
            <a:solidFill>
              <a:srgbClr val="1D40AF"/>
            </a:solidFill>
          </p:spPr>
          <p:txBody>
            <a:bodyPr wrap="square" lIns="0" tIns="0" rIns="0" bIns="0" rtlCol="0"/>
            <a:lstStyle/>
            <a:p>
              <a:endParaRPr/>
            </a:p>
          </p:txBody>
        </p:sp>
      </p:grpSp>
      <p:sp>
        <p:nvSpPr>
          <p:cNvPr id="47" name="object 47"/>
          <p:cNvSpPr txBox="1"/>
          <p:nvPr/>
        </p:nvSpPr>
        <p:spPr>
          <a:xfrm>
            <a:off x="5464174" y="4540250"/>
            <a:ext cx="2444115" cy="139700"/>
          </a:xfrm>
          <a:prstGeom prst="rect">
            <a:avLst/>
          </a:prstGeom>
        </p:spPr>
        <p:txBody>
          <a:bodyPr vert="horz" wrap="square" lIns="0" tIns="12700" rIns="0" bIns="0" rtlCol="0">
            <a:spAutoFit/>
          </a:bodyPr>
          <a:lstStyle/>
          <a:p>
            <a:pPr marL="12700">
              <a:lnSpc>
                <a:spcPct val="100000"/>
              </a:lnSpc>
              <a:spcBef>
                <a:spcPts val="100"/>
              </a:spcBef>
            </a:pPr>
            <a:r>
              <a:rPr sz="750" spc="5">
                <a:solidFill>
                  <a:srgbClr val="6A7280"/>
                </a:solidFill>
                <a:latin typeface="宋体"/>
                <a:cs typeface="宋体"/>
              </a:rPr>
              <a:t>网络对应关系映射剖析 ( </a:t>
            </a:r>
            <a:r>
              <a:rPr sz="750" spc="125">
                <a:solidFill>
                  <a:srgbClr val="6A7280"/>
                </a:solidFill>
                <a:latin typeface="宋体"/>
                <a:cs typeface="宋体"/>
              </a:rPr>
              <a:t>STRUCTURAL</a:t>
            </a:r>
            <a:r>
              <a:rPr sz="750" spc="5">
                <a:solidFill>
                  <a:srgbClr val="6A7280"/>
                </a:solidFill>
                <a:latin typeface="宋体"/>
                <a:cs typeface="宋体"/>
              </a:rPr>
              <a:t> </a:t>
            </a:r>
            <a:r>
              <a:rPr sz="750" spc="90">
                <a:solidFill>
                  <a:srgbClr val="6A7280"/>
                </a:solidFill>
                <a:latin typeface="宋体"/>
                <a:cs typeface="宋体"/>
              </a:rPr>
              <a:t>ALIGNMENT)</a:t>
            </a:r>
            <a:endParaRPr sz="750">
              <a:latin typeface="宋体"/>
              <a:cs typeface="宋体"/>
            </a:endParaRPr>
          </a:p>
        </p:txBody>
      </p:sp>
      <p:sp>
        <p:nvSpPr>
          <p:cNvPr id="48" name="object 48"/>
          <p:cNvSpPr txBox="1"/>
          <p:nvPr/>
        </p:nvSpPr>
        <p:spPr>
          <a:xfrm>
            <a:off x="5578474" y="5971678"/>
            <a:ext cx="506730" cy="170815"/>
          </a:xfrm>
          <a:prstGeom prst="rect">
            <a:avLst/>
          </a:prstGeom>
        </p:spPr>
        <p:txBody>
          <a:bodyPr vert="horz" wrap="square" lIns="0" tIns="12700" rIns="0" bIns="0" rtlCol="0">
            <a:spAutoFit/>
          </a:bodyPr>
          <a:lstStyle/>
          <a:p>
            <a:pPr marL="12700">
              <a:lnSpc>
                <a:spcPct val="100000"/>
              </a:lnSpc>
              <a:spcBef>
                <a:spcPts val="100"/>
              </a:spcBef>
            </a:pPr>
            <a:r>
              <a:rPr sz="900" b="1" spc="-75">
                <a:solidFill>
                  <a:srgbClr val="1D3A8A"/>
                </a:solidFill>
                <a:latin typeface="微软雅黑"/>
                <a:cs typeface="微软雅黑"/>
              </a:rPr>
              <a:t>理论启示 </a:t>
            </a:r>
            <a:r>
              <a:rPr sz="950">
                <a:solidFill>
                  <a:srgbClr val="1D3A8A"/>
                </a:solidFill>
                <a:latin typeface="Segoe UI Symbol"/>
                <a:cs typeface="Segoe UI Symbol"/>
              </a:rPr>
              <a:t>:</a:t>
            </a:r>
            <a:endParaRPr sz="950">
              <a:latin typeface="Segoe UI Symbol"/>
              <a:cs typeface="Segoe UI Symbol"/>
            </a:endParaRPr>
          </a:p>
        </p:txBody>
      </p:sp>
      <p:sp>
        <p:nvSpPr>
          <p:cNvPr id="49" name="object 49"/>
          <p:cNvSpPr txBox="1"/>
          <p:nvPr/>
        </p:nvSpPr>
        <p:spPr>
          <a:xfrm>
            <a:off x="6203514" y="5983604"/>
            <a:ext cx="5277622" cy="155171"/>
          </a:xfrm>
          <a:prstGeom prst="rect">
            <a:avLst/>
          </a:prstGeom>
        </p:spPr>
        <p:txBody>
          <a:bodyPr vert="horz" wrap="square" lIns="0" tIns="16510" rIns="0" bIns="0" rtlCol="0">
            <a:spAutoFit/>
          </a:bodyPr>
          <a:lstStyle/>
          <a:p>
            <a:pPr marL="12700">
              <a:lnSpc>
                <a:spcPct val="100000"/>
              </a:lnSpc>
              <a:spcBef>
                <a:spcPts val="130"/>
              </a:spcBef>
            </a:pPr>
            <a:r>
              <a:rPr sz="900">
                <a:solidFill>
                  <a:srgbClr val="374050"/>
                </a:solidFill>
                <a:latin typeface="宋体"/>
                <a:cs typeface="宋体"/>
              </a:rPr>
              <a:t>此架构设计直接从底层数学逻辑上，</a:t>
            </a:r>
            <a:r>
              <a:rPr sz="900" b="1">
                <a:solidFill>
                  <a:srgbClr val="D97705"/>
                </a:solidFill>
                <a:latin typeface="微软雅黑"/>
                <a:cs typeface="微软雅黑"/>
              </a:rPr>
              <a:t>彻底</a:t>
            </a:r>
            <a:r>
              <a:rPr sz="900" b="1">
                <a:solidFill>
                  <a:srgbClr val="D97705"/>
                </a:solidFill>
                <a:latin typeface="Yu Gothic UI Semibold"/>
                <a:cs typeface="Yu Gothic UI Semibold"/>
              </a:rPr>
              <a:t>消</a:t>
            </a:r>
            <a:r>
              <a:rPr sz="900" b="1">
                <a:solidFill>
                  <a:srgbClr val="D97705"/>
                </a:solidFill>
                <a:latin typeface="微软雅黑"/>
                <a:cs typeface="微软雅黑"/>
              </a:rPr>
              <a:t>除了</a:t>
            </a:r>
            <a:r>
              <a:rPr sz="900" b="1">
                <a:solidFill>
                  <a:srgbClr val="D97705"/>
                </a:solidFill>
                <a:latin typeface="Yu Gothic UI Semibold"/>
                <a:cs typeface="Yu Gothic UI Semibold"/>
              </a:rPr>
              <a:t>网</a:t>
            </a:r>
            <a:r>
              <a:rPr sz="900" b="1">
                <a:solidFill>
                  <a:srgbClr val="D97705"/>
                </a:solidFill>
                <a:latin typeface="微软雅黑"/>
                <a:cs typeface="微软雅黑"/>
              </a:rPr>
              <a:t>络表</a:t>
            </a:r>
            <a:r>
              <a:rPr sz="900" b="1">
                <a:solidFill>
                  <a:srgbClr val="D97705"/>
                </a:solidFill>
                <a:latin typeface="Yu Gothic UI Semibold"/>
                <a:cs typeface="Yu Gothic UI Semibold"/>
              </a:rPr>
              <a:t>示</a:t>
            </a:r>
            <a:r>
              <a:rPr sz="900" b="1">
                <a:solidFill>
                  <a:srgbClr val="D97705"/>
                </a:solidFill>
                <a:latin typeface="微软雅黑"/>
                <a:cs typeface="微软雅黑"/>
              </a:rPr>
              <a:t>对</a:t>
            </a:r>
            <a:r>
              <a:rPr sz="900" b="1">
                <a:solidFill>
                  <a:srgbClr val="D97705"/>
                </a:solidFill>
                <a:latin typeface="Yu Gothic UI Semibold"/>
                <a:cs typeface="Yu Gothic UI Semibold"/>
              </a:rPr>
              <a:t>任何</a:t>
            </a:r>
            <a:r>
              <a:rPr sz="900" b="1">
                <a:solidFill>
                  <a:srgbClr val="D97705"/>
                </a:solidFill>
                <a:latin typeface="微软雅黑"/>
                <a:cs typeface="微软雅黑"/>
              </a:rPr>
              <a:t>绝对</a:t>
            </a:r>
            <a:r>
              <a:rPr sz="900" b="1">
                <a:solidFill>
                  <a:srgbClr val="D97705"/>
                </a:solidFill>
                <a:latin typeface="Yu Gothic UI Semibold"/>
                <a:cs typeface="Yu Gothic UI Semibold"/>
              </a:rPr>
              <a:t>索</a:t>
            </a:r>
            <a:r>
              <a:rPr sz="900" b="1">
                <a:solidFill>
                  <a:srgbClr val="D97705"/>
                </a:solidFill>
                <a:latin typeface="微软雅黑"/>
                <a:cs typeface="微软雅黑"/>
              </a:rPr>
              <a:t>引定位</a:t>
            </a:r>
            <a:r>
              <a:rPr sz="900" b="1">
                <a:solidFill>
                  <a:srgbClr val="D97705"/>
                </a:solidFill>
                <a:latin typeface="Yu Gothic UI Semibold"/>
                <a:cs typeface="Yu Gothic UI Semibold"/>
              </a:rPr>
              <a:t>的</a:t>
            </a:r>
            <a:r>
              <a:rPr sz="900" b="1">
                <a:solidFill>
                  <a:srgbClr val="D97705"/>
                </a:solidFill>
                <a:latin typeface="微软雅黑"/>
                <a:cs typeface="微软雅黑"/>
              </a:rPr>
              <a:t>强制性关联</a:t>
            </a:r>
            <a:r>
              <a:rPr sz="900" b="1">
                <a:solidFill>
                  <a:srgbClr val="D97705"/>
                </a:solidFill>
                <a:latin typeface="Yu Gothic UI Semibold"/>
                <a:cs typeface="Yu Gothic UI Semibold"/>
              </a:rPr>
              <a:t>依</a:t>
            </a:r>
            <a:r>
              <a:rPr sz="900" b="1">
                <a:solidFill>
                  <a:srgbClr val="D97705"/>
                </a:solidFill>
                <a:latin typeface="微软雅黑"/>
                <a:cs typeface="微软雅黑"/>
              </a:rPr>
              <a:t>赖</a:t>
            </a:r>
            <a:r>
              <a:rPr sz="900">
                <a:solidFill>
                  <a:srgbClr val="374050"/>
                </a:solidFill>
                <a:latin typeface="宋体"/>
                <a:cs typeface="宋体"/>
              </a:rPr>
              <a:t>。</a:t>
            </a:r>
            <a:endParaRPr sz="900">
              <a:latin typeface="宋体"/>
              <a:cs typeface="宋体"/>
            </a:endParaRPr>
          </a:p>
        </p:txBody>
      </p:sp>
      <p:pic>
        <p:nvPicPr>
          <p:cNvPr id="51" name="object 51"/>
          <p:cNvPicPr/>
          <p:nvPr/>
        </p:nvPicPr>
        <p:blipFill>
          <a:blip r:embed="rId6" cstate="print"/>
          <a:stretch>
            <a:fillRect/>
          </a:stretch>
        </p:blipFill>
        <p:spPr>
          <a:xfrm>
            <a:off x="5259803" y="1200149"/>
            <a:ext cx="6530142" cy="57149"/>
          </a:xfrm>
          <a:prstGeom prst="rect">
            <a:avLst/>
          </a:prstGeom>
        </p:spPr>
      </p:pic>
      <p:sp>
        <p:nvSpPr>
          <p:cNvPr id="53" name="object 53"/>
          <p:cNvSpPr txBox="1"/>
          <p:nvPr/>
        </p:nvSpPr>
        <p:spPr>
          <a:xfrm>
            <a:off x="7822058" y="2950717"/>
            <a:ext cx="67945" cy="172720"/>
          </a:xfrm>
          <a:prstGeom prst="rect">
            <a:avLst/>
          </a:prstGeom>
        </p:spPr>
        <p:txBody>
          <a:bodyPr vert="horz" wrap="square" lIns="0" tIns="14604" rIns="0" bIns="0" rtlCol="0">
            <a:spAutoFit/>
          </a:bodyPr>
          <a:lstStyle/>
          <a:p>
            <a:pPr marL="12700">
              <a:lnSpc>
                <a:spcPct val="100000"/>
              </a:lnSpc>
              <a:spcBef>
                <a:spcPts val="114"/>
              </a:spcBef>
            </a:pPr>
            <a:r>
              <a:rPr sz="950" i="1" spc="15">
                <a:solidFill>
                  <a:srgbClr val="1D3A8A"/>
                </a:solidFill>
                <a:latin typeface="Cambria"/>
                <a:cs typeface="Cambria"/>
              </a:rPr>
              <a:t>i</a:t>
            </a:r>
            <a:endParaRPr sz="950">
              <a:latin typeface="Cambria"/>
              <a:cs typeface="Cambria"/>
            </a:endParaRPr>
          </a:p>
        </p:txBody>
      </p:sp>
      <p:sp>
        <p:nvSpPr>
          <p:cNvPr id="54" name="object 54"/>
          <p:cNvSpPr txBox="1"/>
          <p:nvPr/>
        </p:nvSpPr>
        <p:spPr>
          <a:xfrm>
            <a:off x="7536606" y="2879089"/>
            <a:ext cx="908685" cy="236220"/>
          </a:xfrm>
          <a:prstGeom prst="rect">
            <a:avLst/>
          </a:prstGeom>
        </p:spPr>
        <p:txBody>
          <a:bodyPr vert="horz" wrap="square" lIns="0" tIns="16510" rIns="0" bIns="0" rtlCol="0">
            <a:spAutoFit/>
          </a:bodyPr>
          <a:lstStyle/>
          <a:p>
            <a:pPr marL="12700">
              <a:lnSpc>
                <a:spcPct val="100000"/>
              </a:lnSpc>
              <a:spcBef>
                <a:spcPts val="130"/>
              </a:spcBef>
            </a:pPr>
            <a:r>
              <a:rPr sz="1350" i="1" spc="275">
                <a:solidFill>
                  <a:srgbClr val="1D3A8A"/>
                </a:solidFill>
                <a:latin typeface="Cambria"/>
                <a:cs typeface="Cambria"/>
              </a:rPr>
              <a:t>f</a:t>
            </a:r>
            <a:r>
              <a:rPr sz="1350" i="1" spc="-155">
                <a:solidFill>
                  <a:srgbClr val="1D3A8A"/>
                </a:solidFill>
                <a:latin typeface="Cambria"/>
                <a:cs typeface="Cambria"/>
              </a:rPr>
              <a:t> </a:t>
            </a:r>
            <a:r>
              <a:rPr sz="1350">
                <a:solidFill>
                  <a:srgbClr val="1D3A8A"/>
                </a:solidFill>
                <a:latin typeface="Cambria"/>
                <a:cs typeface="Cambria"/>
              </a:rPr>
              <a:t>(</a:t>
            </a:r>
            <a:r>
              <a:rPr sz="1350" b="1">
                <a:solidFill>
                  <a:srgbClr val="1D3A8A"/>
                </a:solidFill>
                <a:latin typeface="Tahoma"/>
                <a:cs typeface="Tahoma"/>
              </a:rPr>
              <a:t>h</a:t>
            </a:r>
            <a:r>
              <a:rPr sz="1350" b="1" spc="5">
                <a:solidFill>
                  <a:srgbClr val="1D3A8A"/>
                </a:solidFill>
                <a:latin typeface="Tahoma"/>
                <a:cs typeface="Tahoma"/>
              </a:rPr>
              <a:t> </a:t>
            </a:r>
            <a:r>
              <a:rPr sz="1350">
                <a:solidFill>
                  <a:srgbClr val="1D3A8A"/>
                </a:solidFill>
                <a:latin typeface="Cambria"/>
                <a:cs typeface="Cambria"/>
              </a:rPr>
              <a:t>)</a:t>
            </a:r>
            <a:r>
              <a:rPr sz="1350" spc="80">
                <a:solidFill>
                  <a:srgbClr val="1D3A8A"/>
                </a:solidFill>
                <a:latin typeface="Cambria"/>
                <a:cs typeface="Cambria"/>
              </a:rPr>
              <a:t> </a:t>
            </a:r>
            <a:r>
              <a:rPr sz="1350" spc="320">
                <a:solidFill>
                  <a:srgbClr val="1D3A8A"/>
                </a:solidFill>
                <a:latin typeface="Cambria"/>
                <a:cs typeface="Cambria"/>
              </a:rPr>
              <a:t>=</a:t>
            </a:r>
            <a:r>
              <a:rPr sz="1350" spc="75">
                <a:solidFill>
                  <a:srgbClr val="1D3A8A"/>
                </a:solidFill>
                <a:latin typeface="Cambria"/>
                <a:cs typeface="Cambria"/>
              </a:rPr>
              <a:t> </a:t>
            </a:r>
            <a:r>
              <a:rPr sz="2025" i="1" baseline="2057">
                <a:solidFill>
                  <a:srgbClr val="1D3A8A"/>
                </a:solidFill>
                <a:latin typeface="Cambria"/>
                <a:cs typeface="Cambria"/>
              </a:rPr>
              <a:t>ρ</a:t>
            </a:r>
            <a:r>
              <a:rPr sz="2025" i="1" spc="-157" baseline="2057">
                <a:solidFill>
                  <a:srgbClr val="1D3A8A"/>
                </a:solidFill>
                <a:latin typeface="Cambria"/>
                <a:cs typeface="Cambria"/>
              </a:rPr>
              <a:t> </a:t>
            </a:r>
            <a:r>
              <a:rPr sz="1350" spc="585">
                <a:solidFill>
                  <a:srgbClr val="1D3A8A"/>
                </a:solidFill>
                <a:latin typeface="Arial"/>
                <a:cs typeface="Arial"/>
              </a:rPr>
              <a:t>(</a:t>
            </a:r>
            <a:endParaRPr sz="1350">
              <a:latin typeface="Arial"/>
              <a:cs typeface="Arial"/>
            </a:endParaRPr>
          </a:p>
        </p:txBody>
      </p:sp>
      <p:sp>
        <p:nvSpPr>
          <p:cNvPr id="55" name="object 55"/>
          <p:cNvSpPr txBox="1"/>
          <p:nvPr/>
        </p:nvSpPr>
        <p:spPr>
          <a:xfrm>
            <a:off x="8672462" y="3131692"/>
            <a:ext cx="236854" cy="172720"/>
          </a:xfrm>
          <a:prstGeom prst="rect">
            <a:avLst/>
          </a:prstGeom>
        </p:spPr>
        <p:txBody>
          <a:bodyPr vert="horz" wrap="square" lIns="0" tIns="14604" rIns="0" bIns="0" rtlCol="0">
            <a:spAutoFit/>
          </a:bodyPr>
          <a:lstStyle/>
          <a:p>
            <a:pPr marL="12700">
              <a:lnSpc>
                <a:spcPct val="100000"/>
              </a:lnSpc>
              <a:spcBef>
                <a:spcPts val="114"/>
              </a:spcBef>
            </a:pPr>
            <a:r>
              <a:rPr sz="950" i="1" spc="90">
                <a:solidFill>
                  <a:srgbClr val="1D3A8A"/>
                </a:solidFill>
                <a:latin typeface="Cambria"/>
                <a:cs typeface="Cambria"/>
              </a:rPr>
              <a:t>j</a:t>
            </a:r>
            <a:r>
              <a:rPr sz="950" spc="90">
                <a:solidFill>
                  <a:srgbClr val="1D3A8A"/>
                </a:solidFill>
                <a:latin typeface="Cambria"/>
                <a:cs typeface="Cambria"/>
              </a:rPr>
              <a:t>=1</a:t>
            </a:r>
            <a:endParaRPr sz="950">
              <a:latin typeface="Cambria"/>
              <a:cs typeface="Cambria"/>
            </a:endParaRPr>
          </a:p>
        </p:txBody>
      </p:sp>
      <p:sp>
        <p:nvSpPr>
          <p:cNvPr id="56" name="object 56"/>
          <p:cNvSpPr txBox="1"/>
          <p:nvPr/>
        </p:nvSpPr>
        <p:spPr>
          <a:xfrm>
            <a:off x="8733631" y="2712592"/>
            <a:ext cx="113664" cy="172720"/>
          </a:xfrm>
          <a:prstGeom prst="rect">
            <a:avLst/>
          </a:prstGeom>
        </p:spPr>
        <p:txBody>
          <a:bodyPr vert="horz" wrap="square" lIns="0" tIns="14604" rIns="0" bIns="0" rtlCol="0">
            <a:spAutoFit/>
          </a:bodyPr>
          <a:lstStyle/>
          <a:p>
            <a:pPr marL="12700">
              <a:lnSpc>
                <a:spcPct val="100000"/>
              </a:lnSpc>
              <a:spcBef>
                <a:spcPts val="114"/>
              </a:spcBef>
            </a:pPr>
            <a:r>
              <a:rPr sz="950" i="1" spc="120">
                <a:solidFill>
                  <a:srgbClr val="1D3A8A"/>
                </a:solidFill>
                <a:latin typeface="Cambria"/>
                <a:cs typeface="Cambria"/>
              </a:rPr>
              <a:t>C</a:t>
            </a:r>
            <a:endParaRPr sz="950">
              <a:latin typeface="Cambria"/>
              <a:cs typeface="Cambria"/>
            </a:endParaRPr>
          </a:p>
        </p:txBody>
      </p:sp>
      <p:sp>
        <p:nvSpPr>
          <p:cNvPr id="57" name="object 57"/>
          <p:cNvSpPr txBox="1"/>
          <p:nvPr/>
        </p:nvSpPr>
        <p:spPr>
          <a:xfrm>
            <a:off x="8528694" y="2950717"/>
            <a:ext cx="772160" cy="172720"/>
          </a:xfrm>
          <a:prstGeom prst="rect">
            <a:avLst/>
          </a:prstGeom>
        </p:spPr>
        <p:txBody>
          <a:bodyPr vert="horz" wrap="square" lIns="0" tIns="14604" rIns="0" bIns="0" rtlCol="0">
            <a:spAutoFit/>
          </a:bodyPr>
          <a:lstStyle/>
          <a:p>
            <a:pPr marL="12700">
              <a:lnSpc>
                <a:spcPct val="100000"/>
              </a:lnSpc>
              <a:spcBef>
                <a:spcPts val="114"/>
              </a:spcBef>
              <a:tabLst>
                <a:tab pos="708025" algn="l"/>
              </a:tabLst>
            </a:pPr>
            <a:r>
              <a:rPr sz="950" i="1" spc="15">
                <a:solidFill>
                  <a:srgbClr val="1D3A8A"/>
                </a:solidFill>
                <a:latin typeface="Cambria"/>
                <a:cs typeface="Cambria"/>
              </a:rPr>
              <a:t>i</a:t>
            </a:r>
            <a:r>
              <a:rPr sz="950" i="1">
                <a:solidFill>
                  <a:srgbClr val="1D3A8A"/>
                </a:solidFill>
                <a:latin typeface="Cambria"/>
                <a:cs typeface="Cambria"/>
              </a:rPr>
              <a:t>	</a:t>
            </a:r>
            <a:r>
              <a:rPr sz="950" i="1" spc="95">
                <a:solidFill>
                  <a:srgbClr val="1D3A8A"/>
                </a:solidFill>
                <a:latin typeface="Cambria"/>
                <a:cs typeface="Cambria"/>
              </a:rPr>
              <a:t>j</a:t>
            </a:r>
            <a:endParaRPr sz="950">
              <a:latin typeface="Cambria"/>
              <a:cs typeface="Cambria"/>
            </a:endParaRPr>
          </a:p>
        </p:txBody>
      </p:sp>
      <p:sp>
        <p:nvSpPr>
          <p:cNvPr id="58" name="object 58"/>
          <p:cNvSpPr txBox="1"/>
          <p:nvPr/>
        </p:nvSpPr>
        <p:spPr>
          <a:xfrm>
            <a:off x="8414394" y="2879089"/>
            <a:ext cx="1104265" cy="236220"/>
          </a:xfrm>
          <a:prstGeom prst="rect">
            <a:avLst/>
          </a:prstGeom>
        </p:spPr>
        <p:txBody>
          <a:bodyPr vert="horz" wrap="square" lIns="0" tIns="16510" rIns="0" bIns="0" rtlCol="0">
            <a:spAutoFit/>
          </a:bodyPr>
          <a:lstStyle/>
          <a:p>
            <a:pPr marL="12700">
              <a:lnSpc>
                <a:spcPct val="100000"/>
              </a:lnSpc>
              <a:spcBef>
                <a:spcPts val="130"/>
              </a:spcBef>
            </a:pPr>
            <a:r>
              <a:rPr sz="1350" b="1">
                <a:solidFill>
                  <a:srgbClr val="1D3A8A"/>
                </a:solidFill>
                <a:latin typeface="Tahoma"/>
                <a:cs typeface="Tahoma"/>
              </a:rPr>
              <a:t>h</a:t>
            </a:r>
            <a:r>
              <a:rPr sz="1350" b="1" spc="-35">
                <a:solidFill>
                  <a:srgbClr val="1D3A8A"/>
                </a:solidFill>
                <a:latin typeface="Tahoma"/>
                <a:cs typeface="Tahoma"/>
              </a:rPr>
              <a:t> </a:t>
            </a:r>
            <a:r>
              <a:rPr sz="1350" spc="105">
                <a:solidFill>
                  <a:srgbClr val="1D3A8A"/>
                </a:solidFill>
                <a:latin typeface="Cambria"/>
                <a:cs typeface="Cambria"/>
              </a:rPr>
              <a:t>,</a:t>
            </a:r>
            <a:r>
              <a:rPr sz="1350" spc="-80">
                <a:solidFill>
                  <a:srgbClr val="1D3A8A"/>
                </a:solidFill>
                <a:latin typeface="Cambria"/>
                <a:cs typeface="Cambria"/>
              </a:rPr>
              <a:t> </a:t>
            </a:r>
            <a:r>
              <a:rPr sz="1350" spc="900">
                <a:solidFill>
                  <a:srgbClr val="1D3A8A"/>
                </a:solidFill>
                <a:latin typeface="Cambria"/>
                <a:cs typeface="Cambria"/>
              </a:rPr>
              <a:t>⨁</a:t>
            </a:r>
            <a:r>
              <a:rPr sz="1350" spc="-130">
                <a:solidFill>
                  <a:srgbClr val="1D3A8A"/>
                </a:solidFill>
                <a:latin typeface="Cambria"/>
                <a:cs typeface="Cambria"/>
              </a:rPr>
              <a:t> </a:t>
            </a:r>
            <a:r>
              <a:rPr sz="1350" i="1">
                <a:solidFill>
                  <a:srgbClr val="1D3A8A"/>
                </a:solidFill>
                <a:latin typeface="Cambria"/>
                <a:cs typeface="Cambria"/>
              </a:rPr>
              <a:t>ϕ</a:t>
            </a:r>
            <a:r>
              <a:rPr sz="1350">
                <a:solidFill>
                  <a:srgbClr val="1D3A8A"/>
                </a:solidFill>
                <a:latin typeface="Cambria"/>
                <a:cs typeface="Cambria"/>
              </a:rPr>
              <a:t>(</a:t>
            </a:r>
            <a:r>
              <a:rPr sz="1350" b="1">
                <a:solidFill>
                  <a:srgbClr val="1D3A8A"/>
                </a:solidFill>
                <a:latin typeface="Tahoma"/>
                <a:cs typeface="Tahoma"/>
              </a:rPr>
              <a:t>h</a:t>
            </a:r>
            <a:r>
              <a:rPr sz="1350" b="1" spc="110">
                <a:solidFill>
                  <a:srgbClr val="1D3A8A"/>
                </a:solidFill>
                <a:latin typeface="Tahoma"/>
                <a:cs typeface="Tahoma"/>
              </a:rPr>
              <a:t> </a:t>
            </a:r>
            <a:r>
              <a:rPr sz="1350" spc="295">
                <a:solidFill>
                  <a:srgbClr val="1D3A8A"/>
                </a:solidFill>
                <a:latin typeface="Cambria"/>
                <a:cs typeface="Cambria"/>
              </a:rPr>
              <a:t>)</a:t>
            </a:r>
            <a:r>
              <a:rPr sz="1350" spc="295">
                <a:solidFill>
                  <a:srgbClr val="1D3A8A"/>
                </a:solidFill>
                <a:latin typeface="Arial"/>
                <a:cs typeface="Arial"/>
              </a:rPr>
              <a:t>)</a:t>
            </a:r>
            <a:endParaRPr sz="1350">
              <a:latin typeface="Arial"/>
              <a:cs typeface="Arial"/>
            </a:endParaRPr>
          </a:p>
        </p:txBody>
      </p:sp>
      <p:sp>
        <p:nvSpPr>
          <p:cNvPr id="59" name="object 59"/>
          <p:cNvSpPr txBox="1"/>
          <p:nvPr/>
        </p:nvSpPr>
        <p:spPr>
          <a:xfrm>
            <a:off x="5587999" y="4883150"/>
            <a:ext cx="1644650" cy="749300"/>
          </a:xfrm>
          <a:prstGeom prst="rect">
            <a:avLst/>
          </a:prstGeom>
        </p:spPr>
        <p:txBody>
          <a:bodyPr vert="horz" wrap="square" lIns="0" tIns="12700" rIns="0" bIns="0" rtlCol="0">
            <a:spAutoFit/>
          </a:bodyPr>
          <a:lstStyle/>
          <a:p>
            <a:pPr marL="12700">
              <a:lnSpc>
                <a:spcPct val="100000"/>
              </a:lnSpc>
              <a:spcBef>
                <a:spcPts val="100"/>
              </a:spcBef>
            </a:pPr>
            <a:r>
              <a:rPr sz="1200" i="1" spc="-50">
                <a:solidFill>
                  <a:srgbClr val="1D40AF"/>
                </a:solidFill>
                <a:latin typeface="Cambria"/>
                <a:cs typeface="Cambria"/>
              </a:rPr>
              <a:t>ϕ</a:t>
            </a:r>
            <a:endParaRPr sz="1200">
              <a:latin typeface="Cambria"/>
              <a:cs typeface="Cambria"/>
            </a:endParaRPr>
          </a:p>
          <a:p>
            <a:pPr marL="12700">
              <a:lnSpc>
                <a:spcPct val="100000"/>
              </a:lnSpc>
              <a:spcBef>
                <a:spcPts val="660"/>
              </a:spcBef>
            </a:pPr>
            <a:r>
              <a:rPr sz="900" spc="-25">
                <a:solidFill>
                  <a:srgbClr val="1F2937"/>
                </a:solidFill>
                <a:latin typeface="宋体"/>
                <a:cs typeface="宋体"/>
              </a:rPr>
              <a:t>Value</a:t>
            </a:r>
            <a:r>
              <a:rPr sz="900" spc="-70">
                <a:solidFill>
                  <a:srgbClr val="1F2937"/>
                </a:solidFill>
                <a:latin typeface="宋体"/>
                <a:cs typeface="宋体"/>
              </a:rPr>
              <a:t> 映射</a:t>
            </a:r>
            <a:endParaRPr sz="900">
              <a:latin typeface="宋体"/>
              <a:cs typeface="宋体"/>
            </a:endParaRPr>
          </a:p>
          <a:p>
            <a:pPr marL="12700" marR="5080">
              <a:lnSpc>
                <a:spcPct val="100000"/>
              </a:lnSpc>
              <a:spcBef>
                <a:spcPts val="720"/>
              </a:spcBef>
            </a:pPr>
            <a:r>
              <a:rPr sz="750" spc="-5">
                <a:solidFill>
                  <a:srgbClr val="6A7280"/>
                </a:solidFill>
                <a:latin typeface="宋体"/>
                <a:cs typeface="宋体"/>
              </a:rPr>
              <a:t>通过参数矩阵将原始特征向潜在值空间</a:t>
            </a:r>
            <a:r>
              <a:rPr sz="750" spc="-25">
                <a:solidFill>
                  <a:srgbClr val="6A7280"/>
                </a:solidFill>
                <a:latin typeface="宋体"/>
                <a:cs typeface="宋体"/>
              </a:rPr>
              <a:t>映射</a:t>
            </a:r>
            <a:endParaRPr sz="750">
              <a:latin typeface="宋体"/>
              <a:cs typeface="宋体"/>
            </a:endParaRPr>
          </a:p>
        </p:txBody>
      </p:sp>
      <p:sp>
        <p:nvSpPr>
          <p:cNvPr id="60" name="object 60"/>
          <p:cNvSpPr txBox="1"/>
          <p:nvPr/>
        </p:nvSpPr>
        <p:spPr>
          <a:xfrm>
            <a:off x="7658050" y="4892675"/>
            <a:ext cx="1644650" cy="739775"/>
          </a:xfrm>
          <a:prstGeom prst="rect">
            <a:avLst/>
          </a:prstGeom>
        </p:spPr>
        <p:txBody>
          <a:bodyPr vert="horz" wrap="square" lIns="0" tIns="12700" rIns="0" bIns="0" rtlCol="0">
            <a:spAutoFit/>
          </a:bodyPr>
          <a:lstStyle/>
          <a:p>
            <a:pPr marL="12700">
              <a:lnSpc>
                <a:spcPct val="100000"/>
              </a:lnSpc>
              <a:spcBef>
                <a:spcPts val="100"/>
              </a:spcBef>
            </a:pPr>
            <a:r>
              <a:rPr sz="1200" spc="220">
                <a:solidFill>
                  <a:srgbClr val="D97705"/>
                </a:solidFill>
                <a:latin typeface="Cambria"/>
                <a:cs typeface="Cambria"/>
              </a:rPr>
              <a:t>⨁</a:t>
            </a:r>
            <a:endParaRPr sz="1200">
              <a:latin typeface="Cambria"/>
              <a:cs typeface="Cambria"/>
            </a:endParaRPr>
          </a:p>
          <a:p>
            <a:pPr marL="12700">
              <a:lnSpc>
                <a:spcPct val="100000"/>
              </a:lnSpc>
              <a:spcBef>
                <a:spcPts val="660"/>
              </a:spcBef>
            </a:pPr>
            <a:r>
              <a:rPr sz="900" spc="-10">
                <a:solidFill>
                  <a:srgbClr val="1F2937"/>
                </a:solidFill>
                <a:latin typeface="宋体"/>
                <a:cs typeface="宋体"/>
              </a:rPr>
              <a:t>对称聚合操作</a:t>
            </a:r>
            <a:endParaRPr sz="900">
              <a:latin typeface="宋体"/>
              <a:cs typeface="宋体"/>
            </a:endParaRPr>
          </a:p>
          <a:p>
            <a:pPr marL="12700" marR="5080">
              <a:lnSpc>
                <a:spcPct val="100000"/>
              </a:lnSpc>
              <a:spcBef>
                <a:spcPts val="645"/>
              </a:spcBef>
            </a:pPr>
            <a:r>
              <a:rPr sz="750" spc="-5">
                <a:solidFill>
                  <a:srgbClr val="6A7280"/>
                </a:solidFill>
                <a:latin typeface="宋体"/>
                <a:cs typeface="宋体"/>
              </a:rPr>
              <a:t>相似度权重关联，不依赖固定序列的自</a:t>
            </a:r>
            <a:r>
              <a:rPr sz="750" spc="-15">
                <a:solidFill>
                  <a:srgbClr val="6A7280"/>
                </a:solidFill>
                <a:latin typeface="宋体"/>
                <a:cs typeface="宋体"/>
              </a:rPr>
              <a:t>适应聚合</a:t>
            </a:r>
            <a:endParaRPr sz="750">
              <a:latin typeface="宋体"/>
              <a:cs typeface="宋体"/>
            </a:endParaRPr>
          </a:p>
        </p:txBody>
      </p:sp>
      <p:sp>
        <p:nvSpPr>
          <p:cNvPr id="61" name="object 61"/>
          <p:cNvSpPr txBox="1"/>
          <p:nvPr/>
        </p:nvSpPr>
        <p:spPr>
          <a:xfrm>
            <a:off x="9728100" y="4883150"/>
            <a:ext cx="1644650" cy="749300"/>
          </a:xfrm>
          <a:prstGeom prst="rect">
            <a:avLst/>
          </a:prstGeom>
        </p:spPr>
        <p:txBody>
          <a:bodyPr vert="horz" wrap="square" lIns="0" tIns="12700" rIns="0" bIns="0" rtlCol="0">
            <a:spAutoFit/>
          </a:bodyPr>
          <a:lstStyle/>
          <a:p>
            <a:pPr marL="12700">
              <a:lnSpc>
                <a:spcPct val="100000"/>
              </a:lnSpc>
              <a:spcBef>
                <a:spcPts val="100"/>
              </a:spcBef>
            </a:pPr>
            <a:r>
              <a:rPr sz="1200" i="1" spc="-50">
                <a:solidFill>
                  <a:srgbClr val="1D40AF"/>
                </a:solidFill>
                <a:latin typeface="Cambria"/>
                <a:cs typeface="Cambria"/>
              </a:rPr>
              <a:t>ρ</a:t>
            </a:r>
            <a:endParaRPr sz="1200">
              <a:latin typeface="Cambria"/>
              <a:cs typeface="Cambria"/>
            </a:endParaRPr>
          </a:p>
          <a:p>
            <a:pPr marL="12700">
              <a:lnSpc>
                <a:spcPct val="100000"/>
              </a:lnSpc>
              <a:spcBef>
                <a:spcPts val="660"/>
              </a:spcBef>
            </a:pPr>
            <a:r>
              <a:rPr sz="900" spc="-10">
                <a:solidFill>
                  <a:srgbClr val="1F2937"/>
                </a:solidFill>
                <a:latin typeface="宋体"/>
                <a:cs typeface="宋体"/>
              </a:rPr>
              <a:t>残差与前馈融合</a:t>
            </a:r>
            <a:endParaRPr sz="900">
              <a:latin typeface="宋体"/>
              <a:cs typeface="宋体"/>
            </a:endParaRPr>
          </a:p>
          <a:p>
            <a:pPr marL="12700" marR="5080">
              <a:lnSpc>
                <a:spcPct val="100000"/>
              </a:lnSpc>
              <a:spcBef>
                <a:spcPts val="720"/>
              </a:spcBef>
            </a:pPr>
            <a:r>
              <a:rPr sz="750" spc="-5">
                <a:solidFill>
                  <a:srgbClr val="6A7280"/>
                </a:solidFill>
                <a:latin typeface="宋体"/>
                <a:cs typeface="宋体"/>
              </a:rPr>
              <a:t>残差跳跃链接与全连接层混合提取深度</a:t>
            </a:r>
            <a:r>
              <a:rPr sz="750" spc="-25">
                <a:solidFill>
                  <a:srgbClr val="6A7280"/>
                </a:solidFill>
                <a:latin typeface="宋体"/>
                <a:cs typeface="宋体"/>
              </a:rPr>
              <a:t>表征</a:t>
            </a:r>
            <a:endParaRPr sz="750">
              <a:latin typeface="宋体"/>
              <a:cs typeface="宋体"/>
            </a:endParaRPr>
          </a:p>
        </p:txBody>
      </p:sp>
      <p:pic>
        <p:nvPicPr>
          <p:cNvPr id="62" name="object 62"/>
          <p:cNvPicPr/>
          <p:nvPr/>
        </p:nvPicPr>
        <p:blipFill>
          <a:blip r:embed="rId7" cstate="print"/>
          <a:stretch>
            <a:fillRect/>
          </a:stretch>
        </p:blipFill>
        <p:spPr>
          <a:xfrm>
            <a:off x="0" y="0"/>
            <a:ext cx="12191999" cy="57149"/>
          </a:xfrm>
          <a:prstGeom prst="rect">
            <a:avLst/>
          </a:prstGeom>
        </p:spPr>
      </p:pic>
      <p:pic>
        <p:nvPicPr>
          <p:cNvPr id="63" name="object 63"/>
          <p:cNvPicPr/>
          <p:nvPr/>
        </p:nvPicPr>
        <p:blipFill>
          <a:blip r:embed="rId8" cstate="print"/>
          <a:stretch>
            <a:fillRect/>
          </a:stretch>
        </p:blipFill>
        <p:spPr>
          <a:xfrm>
            <a:off x="0" y="6800849"/>
            <a:ext cx="12191999" cy="57149"/>
          </a:xfrm>
          <a:prstGeom prst="rect">
            <a:avLst/>
          </a:prstGeom>
        </p:spPr>
      </p:pic>
      <p:pic>
        <p:nvPicPr>
          <p:cNvPr id="52" name="图片 51">
            <a:extLst>
              <a:ext uri="{FF2B5EF4-FFF2-40B4-BE49-F238E27FC236}">
                <a16:creationId xmlns:a16="http://schemas.microsoft.com/office/drawing/2014/main" id="{3B67C8D3-83E2-C9B4-8FFB-A8D9C85FF020}"/>
              </a:ext>
            </a:extLst>
          </p:cNvPr>
          <p:cNvPicPr>
            <a:picLocks noChangeAspect="1"/>
          </p:cNvPicPr>
          <p:nvPr/>
        </p:nvPicPr>
        <p:blipFill>
          <a:blip r:embed="rId9"/>
          <a:stretch>
            <a:fillRect/>
          </a:stretch>
        </p:blipFill>
        <p:spPr>
          <a:xfrm>
            <a:off x="1088301" y="2968746"/>
            <a:ext cx="3368233" cy="583826"/>
          </a:xfrm>
          <a:prstGeom prst="rect">
            <a:avLst/>
          </a:prstGeom>
        </p:spPr>
      </p:pic>
      <p:pic>
        <p:nvPicPr>
          <p:cNvPr id="69" name="图片 68">
            <a:extLst>
              <a:ext uri="{FF2B5EF4-FFF2-40B4-BE49-F238E27FC236}">
                <a16:creationId xmlns:a16="http://schemas.microsoft.com/office/drawing/2014/main" id="{199C7FA9-3644-A985-1FFB-D816CFE94713}"/>
              </a:ext>
            </a:extLst>
          </p:cNvPr>
          <p:cNvPicPr>
            <a:picLocks noChangeAspect="1"/>
          </p:cNvPicPr>
          <p:nvPr/>
        </p:nvPicPr>
        <p:blipFill>
          <a:blip r:embed="rId10"/>
          <a:stretch>
            <a:fillRect/>
          </a:stretch>
        </p:blipFill>
        <p:spPr>
          <a:xfrm>
            <a:off x="380999" y="5601997"/>
            <a:ext cx="4551091" cy="491581"/>
          </a:xfrm>
          <a:prstGeom prst="rect">
            <a:avLst/>
          </a:prstGeom>
        </p:spPr>
      </p:pic>
      <p:pic>
        <p:nvPicPr>
          <p:cNvPr id="71" name="图片 70">
            <a:extLst>
              <a:ext uri="{FF2B5EF4-FFF2-40B4-BE49-F238E27FC236}">
                <a16:creationId xmlns:a16="http://schemas.microsoft.com/office/drawing/2014/main" id="{F8CC41C3-7FC2-5969-F0E7-626D98FF7741}"/>
              </a:ext>
            </a:extLst>
          </p:cNvPr>
          <p:cNvPicPr>
            <a:picLocks noChangeAspect="1"/>
          </p:cNvPicPr>
          <p:nvPr/>
        </p:nvPicPr>
        <p:blipFill>
          <a:blip r:embed="rId11"/>
          <a:stretch>
            <a:fillRect/>
          </a:stretch>
        </p:blipFill>
        <p:spPr>
          <a:xfrm>
            <a:off x="7268160" y="2617472"/>
            <a:ext cx="2292468" cy="86999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8299" y="326315"/>
            <a:ext cx="9080501" cy="490519"/>
          </a:xfrm>
          <a:prstGeom prst="rect">
            <a:avLst/>
          </a:prstGeom>
        </p:spPr>
        <p:txBody>
          <a:bodyPr vert="horz" wrap="square" lIns="0" tIns="13335" rIns="0" bIns="0" rtlCol="0">
            <a:spAutoFit/>
          </a:bodyPr>
          <a:lstStyle/>
          <a:p>
            <a:pPr marL="12700">
              <a:lnSpc>
                <a:spcPct val="100000"/>
              </a:lnSpc>
              <a:spcBef>
                <a:spcPts val="105"/>
              </a:spcBef>
            </a:pPr>
            <a:r>
              <a:rPr sz="3050">
                <a:latin typeface="微软雅黑"/>
                <a:cs typeface="微软雅黑"/>
              </a:rPr>
              <a:t>动态通道混洗</a:t>
            </a:r>
            <a:r>
              <a:t>(Channel Shuffling)</a:t>
            </a:r>
            <a:r>
              <a:rPr sz="3050">
                <a:latin typeface="微软雅黑"/>
                <a:cs typeface="微软雅黑"/>
              </a:rPr>
              <a:t>正则化训练算法</a:t>
            </a:r>
          </a:p>
        </p:txBody>
      </p:sp>
      <p:grpSp>
        <p:nvGrpSpPr>
          <p:cNvPr id="3" name="object 3"/>
          <p:cNvGrpSpPr/>
          <p:nvPr/>
        </p:nvGrpSpPr>
        <p:grpSpPr>
          <a:xfrm>
            <a:off x="380999" y="1304924"/>
            <a:ext cx="6543675" cy="981075"/>
            <a:chOff x="380999" y="1304924"/>
            <a:chExt cx="6543675" cy="981075"/>
          </a:xfrm>
        </p:grpSpPr>
        <p:sp>
          <p:nvSpPr>
            <p:cNvPr id="4" name="object 4"/>
            <p:cNvSpPr/>
            <p:nvPr/>
          </p:nvSpPr>
          <p:spPr>
            <a:xfrm>
              <a:off x="400049" y="1304924"/>
              <a:ext cx="6524625" cy="981075"/>
            </a:xfrm>
            <a:custGeom>
              <a:avLst/>
              <a:gdLst/>
              <a:ahLst/>
              <a:cxnLst/>
              <a:rect l="l" t="t" r="r" b="b"/>
              <a:pathLst>
                <a:path w="6524625" h="981075">
                  <a:moveTo>
                    <a:pt x="6417829" y="981074"/>
                  </a:moveTo>
                  <a:lnTo>
                    <a:pt x="0" y="981074"/>
                  </a:lnTo>
                  <a:lnTo>
                    <a:pt x="0" y="0"/>
                  </a:lnTo>
                  <a:lnTo>
                    <a:pt x="6417829" y="0"/>
                  </a:lnTo>
                  <a:lnTo>
                    <a:pt x="6425261" y="732"/>
                  </a:lnTo>
                  <a:lnTo>
                    <a:pt x="6467584" y="15093"/>
                  </a:lnTo>
                  <a:lnTo>
                    <a:pt x="6501190" y="44558"/>
                  </a:lnTo>
                  <a:lnTo>
                    <a:pt x="6520963" y="84640"/>
                  </a:lnTo>
                  <a:lnTo>
                    <a:pt x="6524623" y="106794"/>
                  </a:lnTo>
                  <a:lnTo>
                    <a:pt x="6524623" y="874279"/>
                  </a:lnTo>
                  <a:lnTo>
                    <a:pt x="6513050" y="917449"/>
                  </a:lnTo>
                  <a:lnTo>
                    <a:pt x="6485839" y="952904"/>
                  </a:lnTo>
                  <a:lnTo>
                    <a:pt x="6447130" y="975246"/>
                  </a:lnTo>
                  <a:lnTo>
                    <a:pt x="6417829" y="981074"/>
                  </a:lnTo>
                  <a:close/>
                </a:path>
              </a:pathLst>
            </a:custGeom>
            <a:solidFill>
              <a:srgbClr val="F9FAFA"/>
            </a:solidFill>
          </p:spPr>
          <p:txBody>
            <a:bodyPr wrap="square" lIns="0" tIns="0" rIns="0" bIns="0" rtlCol="0"/>
            <a:lstStyle/>
            <a:p>
              <a:endParaRPr/>
            </a:p>
          </p:txBody>
        </p:sp>
        <p:sp>
          <p:nvSpPr>
            <p:cNvPr id="5" name="object 5"/>
            <p:cNvSpPr/>
            <p:nvPr/>
          </p:nvSpPr>
          <p:spPr>
            <a:xfrm>
              <a:off x="380987" y="1304924"/>
              <a:ext cx="1362075" cy="981075"/>
            </a:xfrm>
            <a:custGeom>
              <a:avLst/>
              <a:gdLst/>
              <a:ahLst/>
              <a:cxnLst/>
              <a:rect l="l" t="t" r="r" b="b"/>
              <a:pathLst>
                <a:path w="1362075" h="981075">
                  <a:moveTo>
                    <a:pt x="38100" y="0"/>
                  </a:moveTo>
                  <a:lnTo>
                    <a:pt x="0" y="0"/>
                  </a:lnTo>
                  <a:lnTo>
                    <a:pt x="0" y="981075"/>
                  </a:lnTo>
                  <a:lnTo>
                    <a:pt x="38100" y="981075"/>
                  </a:lnTo>
                  <a:lnTo>
                    <a:pt x="38100" y="0"/>
                  </a:lnTo>
                  <a:close/>
                </a:path>
                <a:path w="1362075" h="981075">
                  <a:moveTo>
                    <a:pt x="1362075" y="236956"/>
                  </a:moveTo>
                  <a:lnTo>
                    <a:pt x="1350137" y="197561"/>
                  </a:lnTo>
                  <a:lnTo>
                    <a:pt x="1316926" y="164350"/>
                  </a:lnTo>
                  <a:lnTo>
                    <a:pt x="1277531" y="152400"/>
                  </a:lnTo>
                  <a:lnTo>
                    <a:pt x="275056" y="152400"/>
                  </a:lnTo>
                  <a:lnTo>
                    <a:pt x="235661" y="164350"/>
                  </a:lnTo>
                  <a:lnTo>
                    <a:pt x="202450" y="197561"/>
                  </a:lnTo>
                  <a:lnTo>
                    <a:pt x="190500" y="236956"/>
                  </a:lnTo>
                  <a:lnTo>
                    <a:pt x="190500" y="242887"/>
                  </a:lnTo>
                  <a:lnTo>
                    <a:pt x="190500" y="248831"/>
                  </a:lnTo>
                  <a:lnTo>
                    <a:pt x="202450" y="288226"/>
                  </a:lnTo>
                  <a:lnTo>
                    <a:pt x="235661" y="321437"/>
                  </a:lnTo>
                  <a:lnTo>
                    <a:pt x="275056" y="333375"/>
                  </a:lnTo>
                  <a:lnTo>
                    <a:pt x="1277531" y="333375"/>
                  </a:lnTo>
                  <a:lnTo>
                    <a:pt x="1316926" y="321437"/>
                  </a:lnTo>
                  <a:lnTo>
                    <a:pt x="1350137" y="288226"/>
                  </a:lnTo>
                  <a:lnTo>
                    <a:pt x="1362075" y="248831"/>
                  </a:lnTo>
                  <a:lnTo>
                    <a:pt x="1362075" y="236956"/>
                  </a:lnTo>
                  <a:close/>
                </a:path>
              </a:pathLst>
            </a:custGeom>
            <a:solidFill>
              <a:srgbClr val="1D40AF"/>
            </a:solidFill>
          </p:spPr>
          <p:txBody>
            <a:bodyPr wrap="square" lIns="0" tIns="0" rIns="0" bIns="0" rtlCol="0"/>
            <a:lstStyle/>
            <a:p>
              <a:endParaRPr/>
            </a:p>
          </p:txBody>
        </p:sp>
      </p:grpSp>
      <p:sp>
        <p:nvSpPr>
          <p:cNvPr id="6" name="object 6"/>
          <p:cNvSpPr txBox="1"/>
          <p:nvPr/>
        </p:nvSpPr>
        <p:spPr>
          <a:xfrm>
            <a:off x="634999" y="1473200"/>
            <a:ext cx="1035685" cy="139700"/>
          </a:xfrm>
          <a:prstGeom prst="rect">
            <a:avLst/>
          </a:prstGeom>
        </p:spPr>
        <p:txBody>
          <a:bodyPr vert="horz" wrap="square" lIns="0" tIns="12700" rIns="0" bIns="0" rtlCol="0">
            <a:spAutoFit/>
          </a:bodyPr>
          <a:lstStyle/>
          <a:p>
            <a:pPr marL="12700">
              <a:lnSpc>
                <a:spcPct val="100000"/>
              </a:lnSpc>
              <a:spcBef>
                <a:spcPts val="100"/>
              </a:spcBef>
            </a:pPr>
            <a:r>
              <a:rPr sz="750" spc="-10">
                <a:solidFill>
                  <a:srgbClr val="FFFFFF"/>
                </a:solidFill>
                <a:latin typeface="宋体"/>
                <a:cs typeface="宋体"/>
              </a:rPr>
              <a:t>机制目的 / </a:t>
            </a:r>
            <a:r>
              <a:rPr sz="750" spc="35">
                <a:solidFill>
                  <a:srgbClr val="FFFFFF"/>
                </a:solidFill>
                <a:latin typeface="宋体"/>
                <a:cs typeface="宋体"/>
              </a:rPr>
              <a:t>OBJECTIVE</a:t>
            </a:r>
            <a:endParaRPr sz="750">
              <a:latin typeface="宋体"/>
              <a:cs typeface="宋体"/>
            </a:endParaRPr>
          </a:p>
        </p:txBody>
      </p:sp>
      <p:sp>
        <p:nvSpPr>
          <p:cNvPr id="7" name="object 7"/>
          <p:cNvSpPr txBox="1"/>
          <p:nvPr/>
        </p:nvSpPr>
        <p:spPr>
          <a:xfrm>
            <a:off x="558800" y="1642539"/>
            <a:ext cx="6207125" cy="467359"/>
          </a:xfrm>
          <a:prstGeom prst="rect">
            <a:avLst/>
          </a:prstGeom>
        </p:spPr>
        <p:txBody>
          <a:bodyPr vert="horz" wrap="square" lIns="0" tIns="10160" rIns="0" bIns="0" rtlCol="0">
            <a:spAutoFit/>
          </a:bodyPr>
          <a:lstStyle/>
          <a:p>
            <a:pPr marL="12700" marR="5080">
              <a:lnSpc>
                <a:spcPct val="123300"/>
              </a:lnSpc>
              <a:spcBef>
                <a:spcPts val="80"/>
              </a:spcBef>
            </a:pPr>
            <a:r>
              <a:rPr sz="1150" spc="-110">
                <a:solidFill>
                  <a:srgbClr val="1F2937"/>
                </a:solidFill>
                <a:latin typeface="宋体"/>
                <a:cs typeface="宋体"/>
              </a:rPr>
              <a:t>光有结构上的等变性不够，通过</a:t>
            </a:r>
            <a:r>
              <a:rPr sz="1150" spc="-25">
                <a:solidFill>
                  <a:srgbClr val="1F2937"/>
                </a:solidFill>
                <a:latin typeface="Microsoft Sans Serif"/>
                <a:cs typeface="Microsoft Sans Serif"/>
              </a:rPr>
              <a:t>Data </a:t>
            </a:r>
            <a:r>
              <a:rPr sz="1150" spc="-30">
                <a:solidFill>
                  <a:srgbClr val="1F2937"/>
                </a:solidFill>
                <a:latin typeface="Microsoft Sans Serif"/>
                <a:cs typeface="Microsoft Sans Serif"/>
              </a:rPr>
              <a:t>Augmentation</a:t>
            </a:r>
            <a:r>
              <a:rPr sz="1150" spc="-110">
                <a:solidFill>
                  <a:srgbClr val="1F2937"/>
                </a:solidFill>
                <a:latin typeface="宋体"/>
                <a:cs typeface="宋体"/>
              </a:rPr>
              <a:t>层面强制空间模块进行元学习</a:t>
            </a:r>
            <a:r>
              <a:rPr sz="1200" spc="-10">
                <a:solidFill>
                  <a:srgbClr val="1F2937"/>
                </a:solidFill>
                <a:latin typeface="Microsoft Sans Serif"/>
                <a:cs typeface="Microsoft Sans Serif"/>
              </a:rPr>
              <a:t>(</a:t>
            </a:r>
            <a:r>
              <a:rPr sz="1150" spc="-10">
                <a:solidFill>
                  <a:srgbClr val="1F2937"/>
                </a:solidFill>
                <a:latin typeface="Microsoft Sans Serif"/>
                <a:cs typeface="Microsoft Sans Serif"/>
              </a:rPr>
              <a:t>Meta</a:t>
            </a:r>
            <a:r>
              <a:rPr sz="1200" spc="-10">
                <a:solidFill>
                  <a:srgbClr val="1F2937"/>
                </a:solidFill>
                <a:latin typeface="Microsoft Sans Serif"/>
                <a:cs typeface="Microsoft Sans Serif"/>
              </a:rPr>
              <a:t>-</a:t>
            </a:r>
            <a:r>
              <a:rPr sz="1150" spc="-45">
                <a:solidFill>
                  <a:srgbClr val="1F2937"/>
                </a:solidFill>
                <a:latin typeface="Microsoft Sans Serif"/>
                <a:cs typeface="Microsoft Sans Serif"/>
              </a:rPr>
              <a:t>learning</a:t>
            </a:r>
            <a:r>
              <a:rPr sz="1200" spc="-45">
                <a:solidFill>
                  <a:srgbClr val="1F2937"/>
                </a:solidFill>
                <a:latin typeface="Microsoft Sans Serif"/>
                <a:cs typeface="Microsoft Sans Serif"/>
              </a:rPr>
              <a:t>)</a:t>
            </a:r>
            <a:r>
              <a:rPr sz="1150" spc="-70">
                <a:solidFill>
                  <a:srgbClr val="1F2937"/>
                </a:solidFill>
                <a:latin typeface="宋体"/>
                <a:cs typeface="宋体"/>
              </a:rPr>
              <a:t>，剥夺</a:t>
            </a:r>
            <a:r>
              <a:rPr sz="1150" spc="-110">
                <a:solidFill>
                  <a:srgbClr val="1F2937"/>
                </a:solidFill>
                <a:latin typeface="宋体"/>
                <a:cs typeface="宋体"/>
              </a:rPr>
              <a:t>其拟合静态相关性的局部极小值空间。</a:t>
            </a:r>
            <a:endParaRPr sz="1150">
              <a:latin typeface="宋体"/>
              <a:cs typeface="宋体"/>
            </a:endParaRPr>
          </a:p>
        </p:txBody>
      </p:sp>
      <p:sp>
        <p:nvSpPr>
          <p:cNvPr id="8" name="object 8"/>
          <p:cNvSpPr txBox="1"/>
          <p:nvPr/>
        </p:nvSpPr>
        <p:spPr>
          <a:xfrm>
            <a:off x="368299" y="3206750"/>
            <a:ext cx="1261745" cy="151130"/>
          </a:xfrm>
          <a:prstGeom prst="rect">
            <a:avLst/>
          </a:prstGeom>
        </p:spPr>
        <p:txBody>
          <a:bodyPr vert="horz" wrap="square" lIns="0" tIns="15875" rIns="0" bIns="0" rtlCol="0">
            <a:spAutoFit/>
          </a:bodyPr>
          <a:lstStyle/>
          <a:p>
            <a:pPr marL="12700">
              <a:lnSpc>
                <a:spcPct val="100000"/>
              </a:lnSpc>
              <a:spcBef>
                <a:spcPts val="125"/>
              </a:spcBef>
            </a:pPr>
            <a:r>
              <a:rPr sz="800">
                <a:solidFill>
                  <a:srgbClr val="9CA2AF"/>
                </a:solidFill>
                <a:latin typeface="宋体"/>
                <a:cs typeface="宋体"/>
              </a:rPr>
              <a:t>算法 </a:t>
            </a:r>
            <a:r>
              <a:rPr sz="800" spc="90">
                <a:solidFill>
                  <a:srgbClr val="9CA2AF"/>
                </a:solidFill>
                <a:latin typeface="宋体"/>
                <a:cs typeface="宋体"/>
              </a:rPr>
              <a:t>2</a:t>
            </a:r>
            <a:r>
              <a:rPr sz="800" spc="25">
                <a:solidFill>
                  <a:srgbClr val="9CA2AF"/>
                </a:solidFill>
                <a:latin typeface="宋体"/>
                <a:cs typeface="宋体"/>
              </a:rPr>
              <a:t> 核心步骤深度解析</a:t>
            </a:r>
            <a:endParaRPr sz="800">
              <a:latin typeface="宋体"/>
              <a:cs typeface="宋体"/>
            </a:endParaRPr>
          </a:p>
        </p:txBody>
      </p:sp>
      <p:sp>
        <p:nvSpPr>
          <p:cNvPr id="9" name="object 9"/>
          <p:cNvSpPr/>
          <p:nvPr/>
        </p:nvSpPr>
        <p:spPr>
          <a:xfrm>
            <a:off x="385762" y="3490912"/>
            <a:ext cx="2095500" cy="1162050"/>
          </a:xfrm>
          <a:custGeom>
            <a:avLst/>
            <a:gdLst/>
            <a:ahLst/>
            <a:cxnLst/>
            <a:rect l="l" t="t" r="r" b="b"/>
            <a:pathLst>
              <a:path w="2095500" h="1162050">
                <a:moveTo>
                  <a:pt x="0" y="1052512"/>
                </a:moveTo>
                <a:lnTo>
                  <a:pt x="0" y="109537"/>
                </a:lnTo>
                <a:lnTo>
                  <a:pt x="0" y="102345"/>
                </a:lnTo>
                <a:lnTo>
                  <a:pt x="701" y="95221"/>
                </a:lnTo>
                <a:lnTo>
                  <a:pt x="2104" y="88167"/>
                </a:lnTo>
                <a:lnTo>
                  <a:pt x="3507" y="81113"/>
                </a:lnTo>
                <a:lnTo>
                  <a:pt x="5585" y="74263"/>
                </a:lnTo>
                <a:lnTo>
                  <a:pt x="8338" y="67619"/>
                </a:lnTo>
                <a:lnTo>
                  <a:pt x="11090" y="60974"/>
                </a:lnTo>
                <a:lnTo>
                  <a:pt x="14464" y="54661"/>
                </a:lnTo>
                <a:lnTo>
                  <a:pt x="18460" y="48681"/>
                </a:lnTo>
                <a:lnTo>
                  <a:pt x="22456" y="42701"/>
                </a:lnTo>
                <a:lnTo>
                  <a:pt x="26997" y="37168"/>
                </a:lnTo>
                <a:lnTo>
                  <a:pt x="32082" y="32082"/>
                </a:lnTo>
                <a:lnTo>
                  <a:pt x="37168" y="26996"/>
                </a:lnTo>
                <a:lnTo>
                  <a:pt x="42701" y="22456"/>
                </a:lnTo>
                <a:lnTo>
                  <a:pt x="48681" y="18460"/>
                </a:lnTo>
                <a:lnTo>
                  <a:pt x="54661" y="14464"/>
                </a:lnTo>
                <a:lnTo>
                  <a:pt x="60974" y="11090"/>
                </a:lnTo>
                <a:lnTo>
                  <a:pt x="67619" y="8337"/>
                </a:lnTo>
                <a:lnTo>
                  <a:pt x="74264" y="5585"/>
                </a:lnTo>
                <a:lnTo>
                  <a:pt x="81113" y="3507"/>
                </a:lnTo>
                <a:lnTo>
                  <a:pt x="88167" y="2104"/>
                </a:lnTo>
                <a:lnTo>
                  <a:pt x="95221" y="701"/>
                </a:lnTo>
                <a:lnTo>
                  <a:pt x="102345" y="0"/>
                </a:lnTo>
                <a:lnTo>
                  <a:pt x="109537" y="0"/>
                </a:lnTo>
                <a:lnTo>
                  <a:pt x="1985962" y="0"/>
                </a:lnTo>
                <a:lnTo>
                  <a:pt x="1993154" y="0"/>
                </a:lnTo>
                <a:lnTo>
                  <a:pt x="2000277" y="701"/>
                </a:lnTo>
                <a:lnTo>
                  <a:pt x="2007332" y="2104"/>
                </a:lnTo>
                <a:lnTo>
                  <a:pt x="2014386" y="3507"/>
                </a:lnTo>
                <a:lnTo>
                  <a:pt x="2021235" y="5585"/>
                </a:lnTo>
                <a:lnTo>
                  <a:pt x="2027880" y="8337"/>
                </a:lnTo>
                <a:lnTo>
                  <a:pt x="2034525" y="11090"/>
                </a:lnTo>
                <a:lnTo>
                  <a:pt x="2068502" y="37168"/>
                </a:lnTo>
                <a:lnTo>
                  <a:pt x="2077039" y="48681"/>
                </a:lnTo>
                <a:lnTo>
                  <a:pt x="2081034" y="54661"/>
                </a:lnTo>
                <a:lnTo>
                  <a:pt x="2094798" y="95221"/>
                </a:lnTo>
                <a:lnTo>
                  <a:pt x="2095499" y="109537"/>
                </a:lnTo>
                <a:lnTo>
                  <a:pt x="2095499" y="1052512"/>
                </a:lnTo>
                <a:lnTo>
                  <a:pt x="2087161" y="1094430"/>
                </a:lnTo>
                <a:lnTo>
                  <a:pt x="2077039" y="1113367"/>
                </a:lnTo>
                <a:lnTo>
                  <a:pt x="2073043" y="1119347"/>
                </a:lnTo>
                <a:lnTo>
                  <a:pt x="2040837" y="1147585"/>
                </a:lnTo>
                <a:lnTo>
                  <a:pt x="2000277" y="1161347"/>
                </a:lnTo>
                <a:lnTo>
                  <a:pt x="1985962" y="1162049"/>
                </a:lnTo>
                <a:lnTo>
                  <a:pt x="109537" y="1162049"/>
                </a:lnTo>
                <a:lnTo>
                  <a:pt x="102345" y="1162049"/>
                </a:lnTo>
                <a:lnTo>
                  <a:pt x="95221" y="1161347"/>
                </a:lnTo>
                <a:lnTo>
                  <a:pt x="88167" y="1159944"/>
                </a:lnTo>
                <a:lnTo>
                  <a:pt x="81113" y="1158541"/>
                </a:lnTo>
                <a:lnTo>
                  <a:pt x="42701" y="1139593"/>
                </a:lnTo>
                <a:lnTo>
                  <a:pt x="14464" y="1107387"/>
                </a:lnTo>
                <a:lnTo>
                  <a:pt x="701" y="1066828"/>
                </a:lnTo>
                <a:lnTo>
                  <a:pt x="0" y="1059704"/>
                </a:lnTo>
                <a:lnTo>
                  <a:pt x="0" y="1052512"/>
                </a:lnTo>
                <a:close/>
              </a:path>
            </a:pathLst>
          </a:custGeom>
          <a:ln w="9524">
            <a:solidFill>
              <a:srgbClr val="E4E7EB"/>
            </a:solidFill>
          </a:ln>
        </p:spPr>
        <p:txBody>
          <a:bodyPr wrap="square" lIns="0" tIns="0" rIns="0" bIns="0" rtlCol="0"/>
          <a:lstStyle/>
          <a:p>
            <a:endParaRPr/>
          </a:p>
        </p:txBody>
      </p:sp>
      <p:sp>
        <p:nvSpPr>
          <p:cNvPr id="10" name="object 10"/>
          <p:cNvSpPr txBox="1"/>
          <p:nvPr/>
        </p:nvSpPr>
        <p:spPr>
          <a:xfrm>
            <a:off x="485775" y="3543299"/>
            <a:ext cx="1832610" cy="961390"/>
          </a:xfrm>
          <a:prstGeom prst="rect">
            <a:avLst/>
          </a:prstGeom>
        </p:spPr>
        <p:txBody>
          <a:bodyPr vert="horz" wrap="square" lIns="0" tIns="76200" rIns="0" bIns="0" rtlCol="0">
            <a:spAutoFit/>
          </a:bodyPr>
          <a:lstStyle/>
          <a:p>
            <a:pPr marL="38100">
              <a:lnSpc>
                <a:spcPct val="100000"/>
              </a:lnSpc>
              <a:spcBef>
                <a:spcPts val="600"/>
              </a:spcBef>
            </a:pPr>
            <a:r>
              <a:rPr sz="750" b="1">
                <a:solidFill>
                  <a:srgbClr val="D97705"/>
                </a:solidFill>
                <a:latin typeface="Courier New"/>
                <a:cs typeface="Courier New"/>
              </a:rPr>
              <a:t>STEPS 04-</a:t>
            </a:r>
            <a:r>
              <a:rPr sz="750" b="1" spc="-25">
                <a:solidFill>
                  <a:srgbClr val="D97705"/>
                </a:solidFill>
                <a:latin typeface="Courier New"/>
                <a:cs typeface="Courier New"/>
              </a:rPr>
              <a:t>07</a:t>
            </a:r>
            <a:endParaRPr sz="750">
              <a:latin typeface="Courier New"/>
              <a:cs typeface="Courier New"/>
            </a:endParaRPr>
          </a:p>
          <a:p>
            <a:pPr marL="38100">
              <a:lnSpc>
                <a:spcPct val="100000"/>
              </a:lnSpc>
              <a:spcBef>
                <a:spcPts val="600"/>
              </a:spcBef>
            </a:pPr>
            <a:r>
              <a:rPr sz="900" spc="-40">
                <a:solidFill>
                  <a:srgbClr val="111726"/>
                </a:solidFill>
                <a:latin typeface="宋体"/>
                <a:cs typeface="宋体"/>
              </a:rPr>
              <a:t>空域排列 </a:t>
            </a:r>
            <a:r>
              <a:rPr sz="900" spc="-10">
                <a:solidFill>
                  <a:srgbClr val="111726"/>
                </a:solidFill>
                <a:latin typeface="宋体"/>
                <a:cs typeface="宋体"/>
              </a:rPr>
              <a:t>(Permutation)</a:t>
            </a:r>
            <a:endParaRPr sz="900">
              <a:latin typeface="宋体"/>
              <a:cs typeface="宋体"/>
            </a:endParaRPr>
          </a:p>
          <a:p>
            <a:pPr marL="38100" marR="30480">
              <a:lnSpc>
                <a:spcPct val="115100"/>
              </a:lnSpc>
              <a:spcBef>
                <a:spcPts val="345"/>
              </a:spcBef>
            </a:pPr>
            <a:r>
              <a:rPr sz="950" spc="-40">
                <a:solidFill>
                  <a:srgbClr val="4A5462"/>
                </a:solidFill>
                <a:latin typeface="宋体"/>
                <a:cs typeface="宋体"/>
              </a:rPr>
              <a:t>对输入 </a:t>
            </a:r>
            <a:r>
              <a:rPr sz="850">
                <a:solidFill>
                  <a:srgbClr val="4A5462"/>
                </a:solidFill>
                <a:latin typeface="Verdana"/>
                <a:cs typeface="Verdana"/>
              </a:rPr>
              <a:t>X</a:t>
            </a:r>
            <a:r>
              <a:rPr sz="850" spc="280">
                <a:solidFill>
                  <a:srgbClr val="4A5462"/>
                </a:solidFill>
                <a:latin typeface="Verdana"/>
                <a:cs typeface="Verdana"/>
              </a:rPr>
              <a:t> </a:t>
            </a:r>
            <a:r>
              <a:rPr sz="950" spc="-40">
                <a:solidFill>
                  <a:srgbClr val="4A5462"/>
                </a:solidFill>
                <a:latin typeface="宋体"/>
                <a:cs typeface="宋体"/>
              </a:rPr>
              <a:t>和标签 </a:t>
            </a:r>
            <a:r>
              <a:rPr sz="850">
                <a:solidFill>
                  <a:srgbClr val="4A5462"/>
                </a:solidFill>
                <a:latin typeface="Verdana"/>
                <a:cs typeface="Verdana"/>
              </a:rPr>
              <a:t>Y</a:t>
            </a:r>
            <a:r>
              <a:rPr sz="850" spc="200">
                <a:solidFill>
                  <a:srgbClr val="4A5462"/>
                </a:solidFill>
                <a:latin typeface="Verdana"/>
                <a:cs typeface="Verdana"/>
              </a:rPr>
              <a:t> </a:t>
            </a:r>
            <a:r>
              <a:rPr sz="950" spc="-45">
                <a:solidFill>
                  <a:srgbClr val="4A5462"/>
                </a:solidFill>
                <a:latin typeface="宋体"/>
                <a:cs typeface="宋体"/>
              </a:rPr>
              <a:t>从对称群 </a:t>
            </a:r>
            <a:r>
              <a:rPr sz="850" spc="-25">
                <a:solidFill>
                  <a:srgbClr val="4A5462"/>
                </a:solidFill>
                <a:latin typeface="Georgia"/>
                <a:cs typeface="Georgia"/>
              </a:rPr>
              <a:t>Π</a:t>
            </a:r>
            <a:r>
              <a:rPr sz="900" i="1" spc="-37" baseline="-13888">
                <a:solidFill>
                  <a:srgbClr val="4A5462"/>
                </a:solidFill>
                <a:latin typeface="Cambria"/>
                <a:cs typeface="Cambria"/>
              </a:rPr>
              <a:t>C</a:t>
            </a:r>
            <a:r>
              <a:rPr sz="950" spc="-55">
                <a:solidFill>
                  <a:srgbClr val="4A5462"/>
                </a:solidFill>
                <a:latin typeface="宋体"/>
                <a:cs typeface="宋体"/>
              </a:rPr>
              <a:t>中采样随即排列项 </a:t>
            </a:r>
            <a:r>
              <a:rPr sz="850" i="1">
                <a:solidFill>
                  <a:srgbClr val="4A5462"/>
                </a:solidFill>
                <a:latin typeface="Cambria"/>
                <a:cs typeface="Cambria"/>
              </a:rPr>
              <a:t>π</a:t>
            </a:r>
            <a:r>
              <a:rPr sz="850" i="1" spc="270">
                <a:solidFill>
                  <a:srgbClr val="4A5462"/>
                </a:solidFill>
                <a:latin typeface="Cambria"/>
                <a:cs typeface="Cambria"/>
              </a:rPr>
              <a:t> </a:t>
            </a:r>
            <a:r>
              <a:rPr sz="950" spc="-60">
                <a:solidFill>
                  <a:srgbClr val="4A5462"/>
                </a:solidFill>
                <a:latin typeface="宋体"/>
                <a:cs typeface="宋体"/>
              </a:rPr>
              <a:t>执行打乱操</a:t>
            </a:r>
            <a:r>
              <a:rPr sz="950" spc="-55">
                <a:solidFill>
                  <a:srgbClr val="4A5462"/>
                </a:solidFill>
                <a:latin typeface="宋体"/>
                <a:cs typeface="宋体"/>
              </a:rPr>
              <a:t>作。</a:t>
            </a:r>
            <a:endParaRPr sz="950">
              <a:latin typeface="宋体"/>
              <a:cs typeface="宋体"/>
            </a:endParaRPr>
          </a:p>
        </p:txBody>
      </p:sp>
      <p:sp>
        <p:nvSpPr>
          <p:cNvPr id="11" name="object 11"/>
          <p:cNvSpPr/>
          <p:nvPr/>
        </p:nvSpPr>
        <p:spPr>
          <a:xfrm>
            <a:off x="2605087" y="3490912"/>
            <a:ext cx="2095500" cy="1162050"/>
          </a:xfrm>
          <a:custGeom>
            <a:avLst/>
            <a:gdLst/>
            <a:ahLst/>
            <a:cxnLst/>
            <a:rect l="l" t="t" r="r" b="b"/>
            <a:pathLst>
              <a:path w="2095500" h="1162050">
                <a:moveTo>
                  <a:pt x="0" y="1052512"/>
                </a:moveTo>
                <a:lnTo>
                  <a:pt x="0" y="109537"/>
                </a:lnTo>
                <a:lnTo>
                  <a:pt x="0" y="102345"/>
                </a:lnTo>
                <a:lnTo>
                  <a:pt x="701" y="95221"/>
                </a:lnTo>
                <a:lnTo>
                  <a:pt x="2104" y="88167"/>
                </a:lnTo>
                <a:lnTo>
                  <a:pt x="3507" y="81113"/>
                </a:lnTo>
                <a:lnTo>
                  <a:pt x="5585" y="74263"/>
                </a:lnTo>
                <a:lnTo>
                  <a:pt x="8337" y="67619"/>
                </a:lnTo>
                <a:lnTo>
                  <a:pt x="11090" y="60974"/>
                </a:lnTo>
                <a:lnTo>
                  <a:pt x="14464" y="54661"/>
                </a:lnTo>
                <a:lnTo>
                  <a:pt x="18460" y="48681"/>
                </a:lnTo>
                <a:lnTo>
                  <a:pt x="22456" y="42701"/>
                </a:lnTo>
                <a:lnTo>
                  <a:pt x="26996" y="37168"/>
                </a:lnTo>
                <a:lnTo>
                  <a:pt x="32082" y="32082"/>
                </a:lnTo>
                <a:lnTo>
                  <a:pt x="37168" y="26996"/>
                </a:lnTo>
                <a:lnTo>
                  <a:pt x="42701" y="22456"/>
                </a:lnTo>
                <a:lnTo>
                  <a:pt x="48681" y="18460"/>
                </a:lnTo>
                <a:lnTo>
                  <a:pt x="54661" y="14464"/>
                </a:lnTo>
                <a:lnTo>
                  <a:pt x="60974" y="11090"/>
                </a:lnTo>
                <a:lnTo>
                  <a:pt x="67619" y="8337"/>
                </a:lnTo>
                <a:lnTo>
                  <a:pt x="74263" y="5585"/>
                </a:lnTo>
                <a:lnTo>
                  <a:pt x="81113" y="3507"/>
                </a:lnTo>
                <a:lnTo>
                  <a:pt x="88167" y="2104"/>
                </a:lnTo>
                <a:lnTo>
                  <a:pt x="95221" y="701"/>
                </a:lnTo>
                <a:lnTo>
                  <a:pt x="102345" y="0"/>
                </a:lnTo>
                <a:lnTo>
                  <a:pt x="109537" y="0"/>
                </a:lnTo>
                <a:lnTo>
                  <a:pt x="1985962" y="0"/>
                </a:lnTo>
                <a:lnTo>
                  <a:pt x="1993154" y="0"/>
                </a:lnTo>
                <a:lnTo>
                  <a:pt x="2000277" y="701"/>
                </a:lnTo>
                <a:lnTo>
                  <a:pt x="2040837" y="14464"/>
                </a:lnTo>
                <a:lnTo>
                  <a:pt x="2063416" y="32082"/>
                </a:lnTo>
                <a:lnTo>
                  <a:pt x="2068502" y="37168"/>
                </a:lnTo>
                <a:lnTo>
                  <a:pt x="2073043" y="42701"/>
                </a:lnTo>
                <a:lnTo>
                  <a:pt x="2077038" y="48681"/>
                </a:lnTo>
                <a:lnTo>
                  <a:pt x="2081034" y="54661"/>
                </a:lnTo>
                <a:lnTo>
                  <a:pt x="2084408" y="60974"/>
                </a:lnTo>
                <a:lnTo>
                  <a:pt x="2087161" y="67619"/>
                </a:lnTo>
                <a:lnTo>
                  <a:pt x="2089913" y="74263"/>
                </a:lnTo>
                <a:lnTo>
                  <a:pt x="2091991" y="81113"/>
                </a:lnTo>
                <a:lnTo>
                  <a:pt x="2093394" y="88167"/>
                </a:lnTo>
                <a:lnTo>
                  <a:pt x="2094798" y="95221"/>
                </a:lnTo>
                <a:lnTo>
                  <a:pt x="2095500" y="102345"/>
                </a:lnTo>
                <a:lnTo>
                  <a:pt x="2095500" y="109537"/>
                </a:lnTo>
                <a:lnTo>
                  <a:pt x="2095500" y="1052512"/>
                </a:lnTo>
                <a:lnTo>
                  <a:pt x="2095500" y="1059704"/>
                </a:lnTo>
                <a:lnTo>
                  <a:pt x="2094798" y="1066828"/>
                </a:lnTo>
                <a:lnTo>
                  <a:pt x="2093394" y="1073882"/>
                </a:lnTo>
                <a:lnTo>
                  <a:pt x="2091991" y="1080935"/>
                </a:lnTo>
                <a:lnTo>
                  <a:pt x="2073043" y="1119347"/>
                </a:lnTo>
                <a:lnTo>
                  <a:pt x="2040837" y="1147585"/>
                </a:lnTo>
                <a:lnTo>
                  <a:pt x="2000277" y="1161347"/>
                </a:lnTo>
                <a:lnTo>
                  <a:pt x="1985962" y="1162049"/>
                </a:lnTo>
                <a:lnTo>
                  <a:pt x="109537" y="1162049"/>
                </a:lnTo>
                <a:lnTo>
                  <a:pt x="102345" y="1162049"/>
                </a:lnTo>
                <a:lnTo>
                  <a:pt x="95221" y="1161347"/>
                </a:lnTo>
                <a:lnTo>
                  <a:pt x="88167" y="1159944"/>
                </a:lnTo>
                <a:lnTo>
                  <a:pt x="81113" y="1158541"/>
                </a:lnTo>
                <a:lnTo>
                  <a:pt x="74263" y="1156463"/>
                </a:lnTo>
                <a:lnTo>
                  <a:pt x="67619" y="1153711"/>
                </a:lnTo>
                <a:lnTo>
                  <a:pt x="60974" y="1150958"/>
                </a:lnTo>
                <a:lnTo>
                  <a:pt x="26996" y="1124880"/>
                </a:lnTo>
                <a:lnTo>
                  <a:pt x="5585" y="1087785"/>
                </a:lnTo>
                <a:lnTo>
                  <a:pt x="2104" y="1073882"/>
                </a:lnTo>
                <a:lnTo>
                  <a:pt x="701" y="1066828"/>
                </a:lnTo>
                <a:lnTo>
                  <a:pt x="0" y="1059704"/>
                </a:lnTo>
                <a:lnTo>
                  <a:pt x="0" y="1052512"/>
                </a:lnTo>
                <a:close/>
              </a:path>
            </a:pathLst>
          </a:custGeom>
          <a:ln w="9524">
            <a:solidFill>
              <a:srgbClr val="E4E7EB"/>
            </a:solidFill>
          </a:ln>
        </p:spPr>
        <p:txBody>
          <a:bodyPr wrap="square" lIns="0" tIns="0" rIns="0" bIns="0" rtlCol="0"/>
          <a:lstStyle/>
          <a:p>
            <a:endParaRPr/>
          </a:p>
        </p:txBody>
      </p:sp>
      <p:sp>
        <p:nvSpPr>
          <p:cNvPr id="12" name="object 12"/>
          <p:cNvSpPr txBox="1"/>
          <p:nvPr/>
        </p:nvSpPr>
        <p:spPr>
          <a:xfrm>
            <a:off x="2729309" y="3543299"/>
            <a:ext cx="1735455" cy="961390"/>
          </a:xfrm>
          <a:prstGeom prst="rect">
            <a:avLst/>
          </a:prstGeom>
        </p:spPr>
        <p:txBody>
          <a:bodyPr vert="horz" wrap="square" lIns="0" tIns="76200" rIns="0" bIns="0" rtlCol="0">
            <a:spAutoFit/>
          </a:bodyPr>
          <a:lstStyle/>
          <a:p>
            <a:pPr marL="12700">
              <a:lnSpc>
                <a:spcPct val="100000"/>
              </a:lnSpc>
              <a:spcBef>
                <a:spcPts val="600"/>
              </a:spcBef>
            </a:pPr>
            <a:r>
              <a:rPr sz="750" b="1">
                <a:solidFill>
                  <a:srgbClr val="D97705"/>
                </a:solidFill>
                <a:latin typeface="Courier New"/>
                <a:cs typeface="Courier New"/>
              </a:rPr>
              <a:t>STEPS 08-</a:t>
            </a:r>
            <a:r>
              <a:rPr sz="750" b="1" spc="-25">
                <a:solidFill>
                  <a:srgbClr val="D97705"/>
                </a:solidFill>
                <a:latin typeface="Courier New"/>
                <a:cs typeface="Courier New"/>
              </a:rPr>
              <a:t>10</a:t>
            </a:r>
            <a:endParaRPr sz="750">
              <a:latin typeface="Courier New"/>
              <a:cs typeface="Courier New"/>
            </a:endParaRPr>
          </a:p>
          <a:p>
            <a:pPr marL="12700">
              <a:lnSpc>
                <a:spcPct val="100000"/>
              </a:lnSpc>
              <a:spcBef>
                <a:spcPts val="600"/>
              </a:spcBef>
            </a:pPr>
            <a:r>
              <a:rPr sz="900" spc="-40">
                <a:solidFill>
                  <a:srgbClr val="111726"/>
                </a:solidFill>
                <a:latin typeface="宋体"/>
                <a:cs typeface="宋体"/>
              </a:rPr>
              <a:t>时域隔离 </a:t>
            </a:r>
            <a:r>
              <a:rPr sz="900" spc="-10">
                <a:solidFill>
                  <a:srgbClr val="111726"/>
                </a:solidFill>
                <a:latin typeface="宋体"/>
                <a:cs typeface="宋体"/>
              </a:rPr>
              <a:t>(Separation)</a:t>
            </a:r>
            <a:endParaRPr sz="900">
              <a:latin typeface="宋体"/>
              <a:cs typeface="宋体"/>
            </a:endParaRPr>
          </a:p>
          <a:p>
            <a:pPr marL="12700" marR="5080" algn="just">
              <a:lnSpc>
                <a:spcPct val="115100"/>
              </a:lnSpc>
              <a:spcBef>
                <a:spcPts val="345"/>
              </a:spcBef>
            </a:pPr>
            <a:r>
              <a:rPr sz="950" spc="-60">
                <a:solidFill>
                  <a:srgbClr val="4A5462"/>
                </a:solidFill>
                <a:latin typeface="宋体"/>
                <a:cs typeface="宋体"/>
              </a:rPr>
              <a:t>独立时序向量由于传入的是冻结网</a:t>
            </a:r>
            <a:r>
              <a:rPr sz="1425" spc="-30" baseline="2923">
                <a:solidFill>
                  <a:srgbClr val="4A5462"/>
                </a:solidFill>
                <a:latin typeface="宋体"/>
                <a:cs typeface="宋体"/>
              </a:rPr>
              <a:t>络 </a:t>
            </a:r>
            <a:r>
              <a:rPr sz="1275" i="1" spc="97" baseline="3267">
                <a:solidFill>
                  <a:srgbClr val="4A5462"/>
                </a:solidFill>
                <a:latin typeface="Cambria"/>
                <a:cs typeface="Cambria"/>
              </a:rPr>
              <a:t>E</a:t>
            </a:r>
            <a:r>
              <a:rPr sz="600" i="1" spc="65">
                <a:solidFill>
                  <a:srgbClr val="4A5462"/>
                </a:solidFill>
                <a:latin typeface="Cambria"/>
                <a:cs typeface="Cambria"/>
              </a:rPr>
              <a:t>frozen </a:t>
            </a:r>
            <a:r>
              <a:rPr sz="1425" spc="-89" baseline="2923">
                <a:solidFill>
                  <a:srgbClr val="4A5462"/>
                </a:solidFill>
                <a:latin typeface="宋体"/>
                <a:cs typeface="宋体"/>
              </a:rPr>
              <a:t>，相互间不存在梯度干</a:t>
            </a:r>
            <a:r>
              <a:rPr sz="950" spc="-55">
                <a:solidFill>
                  <a:srgbClr val="4A5462"/>
                </a:solidFill>
                <a:latin typeface="宋体"/>
                <a:cs typeface="宋体"/>
              </a:rPr>
              <a:t>涉。</a:t>
            </a:r>
            <a:endParaRPr sz="950">
              <a:latin typeface="宋体"/>
              <a:cs typeface="宋体"/>
            </a:endParaRPr>
          </a:p>
        </p:txBody>
      </p:sp>
      <p:sp>
        <p:nvSpPr>
          <p:cNvPr id="13" name="object 13"/>
          <p:cNvSpPr/>
          <p:nvPr/>
        </p:nvSpPr>
        <p:spPr>
          <a:xfrm>
            <a:off x="4824411" y="3490912"/>
            <a:ext cx="2095500" cy="1162050"/>
          </a:xfrm>
          <a:custGeom>
            <a:avLst/>
            <a:gdLst/>
            <a:ahLst/>
            <a:cxnLst/>
            <a:rect l="l" t="t" r="r" b="b"/>
            <a:pathLst>
              <a:path w="2095500" h="1162050">
                <a:moveTo>
                  <a:pt x="0" y="1052512"/>
                </a:moveTo>
                <a:lnTo>
                  <a:pt x="0" y="109537"/>
                </a:lnTo>
                <a:lnTo>
                  <a:pt x="0" y="102345"/>
                </a:lnTo>
                <a:lnTo>
                  <a:pt x="701" y="95221"/>
                </a:lnTo>
                <a:lnTo>
                  <a:pt x="2104" y="88167"/>
                </a:lnTo>
                <a:lnTo>
                  <a:pt x="3507" y="81113"/>
                </a:lnTo>
                <a:lnTo>
                  <a:pt x="5585" y="74263"/>
                </a:lnTo>
                <a:lnTo>
                  <a:pt x="8337" y="67619"/>
                </a:lnTo>
                <a:lnTo>
                  <a:pt x="11089" y="60974"/>
                </a:lnTo>
                <a:lnTo>
                  <a:pt x="14463" y="54661"/>
                </a:lnTo>
                <a:lnTo>
                  <a:pt x="18459" y="48681"/>
                </a:lnTo>
                <a:lnTo>
                  <a:pt x="22455" y="42701"/>
                </a:lnTo>
                <a:lnTo>
                  <a:pt x="26996" y="37168"/>
                </a:lnTo>
                <a:lnTo>
                  <a:pt x="32082" y="32082"/>
                </a:lnTo>
                <a:lnTo>
                  <a:pt x="37168" y="26996"/>
                </a:lnTo>
                <a:lnTo>
                  <a:pt x="74263" y="5585"/>
                </a:lnTo>
                <a:lnTo>
                  <a:pt x="102345" y="0"/>
                </a:lnTo>
                <a:lnTo>
                  <a:pt x="109537" y="0"/>
                </a:lnTo>
                <a:lnTo>
                  <a:pt x="1985962" y="0"/>
                </a:lnTo>
                <a:lnTo>
                  <a:pt x="1993154" y="0"/>
                </a:lnTo>
                <a:lnTo>
                  <a:pt x="2000278" y="701"/>
                </a:lnTo>
                <a:lnTo>
                  <a:pt x="2040837" y="14464"/>
                </a:lnTo>
                <a:lnTo>
                  <a:pt x="2046817" y="18460"/>
                </a:lnTo>
                <a:lnTo>
                  <a:pt x="2052798" y="22456"/>
                </a:lnTo>
                <a:lnTo>
                  <a:pt x="2077039" y="48681"/>
                </a:lnTo>
                <a:lnTo>
                  <a:pt x="2081035" y="54661"/>
                </a:lnTo>
                <a:lnTo>
                  <a:pt x="2084409" y="60974"/>
                </a:lnTo>
                <a:lnTo>
                  <a:pt x="2087161" y="67619"/>
                </a:lnTo>
                <a:lnTo>
                  <a:pt x="2089914" y="74263"/>
                </a:lnTo>
                <a:lnTo>
                  <a:pt x="2091992" y="81113"/>
                </a:lnTo>
                <a:lnTo>
                  <a:pt x="2093395" y="88167"/>
                </a:lnTo>
                <a:lnTo>
                  <a:pt x="2094798" y="95221"/>
                </a:lnTo>
                <a:lnTo>
                  <a:pt x="2095500" y="102345"/>
                </a:lnTo>
                <a:lnTo>
                  <a:pt x="2095500" y="109537"/>
                </a:lnTo>
                <a:lnTo>
                  <a:pt x="2095500" y="1052512"/>
                </a:lnTo>
                <a:lnTo>
                  <a:pt x="2095500" y="1059704"/>
                </a:lnTo>
                <a:lnTo>
                  <a:pt x="2094798" y="1066828"/>
                </a:lnTo>
                <a:lnTo>
                  <a:pt x="2093395" y="1073882"/>
                </a:lnTo>
                <a:lnTo>
                  <a:pt x="2091992" y="1080935"/>
                </a:lnTo>
                <a:lnTo>
                  <a:pt x="2089914" y="1087785"/>
                </a:lnTo>
                <a:lnTo>
                  <a:pt x="2087161" y="1094430"/>
                </a:lnTo>
                <a:lnTo>
                  <a:pt x="2084409" y="1101074"/>
                </a:lnTo>
                <a:lnTo>
                  <a:pt x="2081035" y="1107387"/>
                </a:lnTo>
                <a:lnTo>
                  <a:pt x="2077039" y="1113367"/>
                </a:lnTo>
                <a:lnTo>
                  <a:pt x="2073043" y="1119347"/>
                </a:lnTo>
                <a:lnTo>
                  <a:pt x="2040837" y="1147585"/>
                </a:lnTo>
                <a:lnTo>
                  <a:pt x="2000278" y="1161347"/>
                </a:lnTo>
                <a:lnTo>
                  <a:pt x="1985962" y="1162049"/>
                </a:lnTo>
                <a:lnTo>
                  <a:pt x="109537" y="1162049"/>
                </a:lnTo>
                <a:lnTo>
                  <a:pt x="102345" y="1162049"/>
                </a:lnTo>
                <a:lnTo>
                  <a:pt x="95221" y="1161347"/>
                </a:lnTo>
                <a:lnTo>
                  <a:pt x="88167" y="1159944"/>
                </a:lnTo>
                <a:lnTo>
                  <a:pt x="81113" y="1158541"/>
                </a:lnTo>
                <a:lnTo>
                  <a:pt x="42701" y="1139593"/>
                </a:lnTo>
                <a:lnTo>
                  <a:pt x="14463" y="1107387"/>
                </a:lnTo>
                <a:lnTo>
                  <a:pt x="2104" y="1073882"/>
                </a:lnTo>
                <a:lnTo>
                  <a:pt x="701" y="1066828"/>
                </a:lnTo>
                <a:lnTo>
                  <a:pt x="0" y="1059704"/>
                </a:lnTo>
                <a:lnTo>
                  <a:pt x="0" y="1052512"/>
                </a:lnTo>
                <a:close/>
              </a:path>
            </a:pathLst>
          </a:custGeom>
          <a:ln w="9524">
            <a:solidFill>
              <a:srgbClr val="E4E7EB"/>
            </a:solidFill>
          </a:ln>
        </p:spPr>
        <p:txBody>
          <a:bodyPr wrap="square" lIns="0" tIns="0" rIns="0" bIns="0" rtlCol="0"/>
          <a:lstStyle/>
          <a:p>
            <a:endParaRPr/>
          </a:p>
        </p:txBody>
      </p:sp>
      <p:sp>
        <p:nvSpPr>
          <p:cNvPr id="14" name="object 14"/>
          <p:cNvSpPr txBox="1"/>
          <p:nvPr/>
        </p:nvSpPr>
        <p:spPr>
          <a:xfrm>
            <a:off x="4947592" y="3543299"/>
            <a:ext cx="1831975" cy="961390"/>
          </a:xfrm>
          <a:prstGeom prst="rect">
            <a:avLst/>
          </a:prstGeom>
        </p:spPr>
        <p:txBody>
          <a:bodyPr vert="horz" wrap="square" lIns="0" tIns="76200" rIns="0" bIns="0" rtlCol="0">
            <a:spAutoFit/>
          </a:bodyPr>
          <a:lstStyle/>
          <a:p>
            <a:pPr marL="12700">
              <a:lnSpc>
                <a:spcPct val="100000"/>
              </a:lnSpc>
              <a:spcBef>
                <a:spcPts val="600"/>
              </a:spcBef>
            </a:pPr>
            <a:r>
              <a:rPr sz="750" b="1">
                <a:solidFill>
                  <a:srgbClr val="D97705"/>
                </a:solidFill>
                <a:latin typeface="Courier New"/>
                <a:cs typeface="Courier New"/>
              </a:rPr>
              <a:t>STEPS 13-</a:t>
            </a:r>
            <a:r>
              <a:rPr sz="750" b="1" spc="-25">
                <a:solidFill>
                  <a:srgbClr val="D97705"/>
                </a:solidFill>
                <a:latin typeface="Courier New"/>
                <a:cs typeface="Courier New"/>
              </a:rPr>
              <a:t>14</a:t>
            </a:r>
            <a:endParaRPr sz="750">
              <a:latin typeface="Courier New"/>
              <a:cs typeface="Courier New"/>
            </a:endParaRPr>
          </a:p>
          <a:p>
            <a:pPr marL="12700">
              <a:lnSpc>
                <a:spcPct val="100000"/>
              </a:lnSpc>
              <a:spcBef>
                <a:spcPts val="600"/>
              </a:spcBef>
            </a:pPr>
            <a:r>
              <a:rPr sz="900" spc="-40">
                <a:solidFill>
                  <a:srgbClr val="111726"/>
                </a:solidFill>
                <a:latin typeface="宋体"/>
                <a:cs typeface="宋体"/>
              </a:rPr>
              <a:t>空域对抗 </a:t>
            </a:r>
            <a:r>
              <a:rPr sz="900" spc="-10">
                <a:solidFill>
                  <a:srgbClr val="111726"/>
                </a:solidFill>
                <a:latin typeface="宋体"/>
                <a:cs typeface="宋体"/>
              </a:rPr>
              <a:t>(Adversarial)</a:t>
            </a:r>
            <a:endParaRPr sz="900">
              <a:latin typeface="宋体"/>
              <a:cs typeface="宋体"/>
            </a:endParaRPr>
          </a:p>
          <a:p>
            <a:pPr marL="12700" marR="5080" algn="just">
              <a:lnSpc>
                <a:spcPct val="115100"/>
              </a:lnSpc>
              <a:spcBef>
                <a:spcPts val="345"/>
              </a:spcBef>
            </a:pPr>
            <a:r>
              <a:rPr sz="950" spc="-60">
                <a:solidFill>
                  <a:srgbClr val="4A5462"/>
                </a:solidFill>
                <a:latin typeface="宋体"/>
                <a:cs typeface="宋体"/>
              </a:rPr>
              <a:t>将乱序特征矩阵 </a:t>
            </a:r>
            <a:r>
              <a:rPr sz="850" spc="85">
                <a:solidFill>
                  <a:srgbClr val="4A5462"/>
                </a:solidFill>
                <a:latin typeface="Verdana"/>
                <a:cs typeface="Verdana"/>
              </a:rPr>
              <a:t>H </a:t>
            </a:r>
            <a:r>
              <a:rPr sz="950" spc="-60">
                <a:solidFill>
                  <a:srgbClr val="4A5462"/>
                </a:solidFill>
                <a:latin typeface="宋体"/>
                <a:cs typeface="宋体"/>
              </a:rPr>
              <a:t>送入空间模块，</a:t>
            </a:r>
            <a:r>
              <a:rPr sz="950" spc="-50">
                <a:solidFill>
                  <a:srgbClr val="4A5462"/>
                </a:solidFill>
                <a:latin typeface="宋体"/>
                <a:cs typeface="宋体"/>
              </a:rPr>
              <a:t>迫使参数 </a:t>
            </a:r>
            <a:r>
              <a:rPr sz="850" i="1">
                <a:solidFill>
                  <a:srgbClr val="4A5462"/>
                </a:solidFill>
                <a:latin typeface="Cambria"/>
                <a:cs typeface="Cambria"/>
              </a:rPr>
              <a:t>θ</a:t>
            </a:r>
            <a:r>
              <a:rPr sz="850" i="1" spc="245">
                <a:solidFill>
                  <a:srgbClr val="4A5462"/>
                </a:solidFill>
                <a:latin typeface="Cambria"/>
                <a:cs typeface="Cambria"/>
              </a:rPr>
              <a:t> </a:t>
            </a:r>
            <a:r>
              <a:rPr sz="950" spc="-60">
                <a:solidFill>
                  <a:srgbClr val="4A5462"/>
                </a:solidFill>
                <a:latin typeface="宋体"/>
                <a:cs typeface="宋体"/>
              </a:rPr>
              <a:t>学习泛化的泛用对齐元技能。</a:t>
            </a:r>
            <a:endParaRPr sz="950">
              <a:latin typeface="宋体"/>
              <a:cs typeface="宋体"/>
            </a:endParaRPr>
          </a:p>
        </p:txBody>
      </p:sp>
      <p:grpSp>
        <p:nvGrpSpPr>
          <p:cNvPr id="15" name="object 15"/>
          <p:cNvGrpSpPr/>
          <p:nvPr/>
        </p:nvGrpSpPr>
        <p:grpSpPr>
          <a:xfrm>
            <a:off x="381000" y="5591174"/>
            <a:ext cx="6543675" cy="885825"/>
            <a:chOff x="381000" y="5591174"/>
            <a:chExt cx="6543675" cy="885825"/>
          </a:xfrm>
        </p:grpSpPr>
        <p:pic>
          <p:nvPicPr>
            <p:cNvPr id="16" name="object 16"/>
            <p:cNvPicPr/>
            <p:nvPr/>
          </p:nvPicPr>
          <p:blipFill>
            <a:blip r:embed="rId3" cstate="print"/>
            <a:stretch>
              <a:fillRect/>
            </a:stretch>
          </p:blipFill>
          <p:spPr>
            <a:xfrm>
              <a:off x="381000" y="5591174"/>
              <a:ext cx="6543674" cy="885824"/>
            </a:xfrm>
            <a:prstGeom prst="rect">
              <a:avLst/>
            </a:prstGeom>
          </p:spPr>
        </p:pic>
        <p:sp>
          <p:nvSpPr>
            <p:cNvPr id="17" name="object 17"/>
            <p:cNvSpPr/>
            <p:nvPr/>
          </p:nvSpPr>
          <p:spPr>
            <a:xfrm>
              <a:off x="381000" y="5591174"/>
              <a:ext cx="6543675" cy="885825"/>
            </a:xfrm>
            <a:custGeom>
              <a:avLst/>
              <a:gdLst/>
              <a:ahLst/>
              <a:cxnLst/>
              <a:rect l="l" t="t" r="r" b="b"/>
              <a:pathLst>
                <a:path w="6543675" h="885825">
                  <a:moveTo>
                    <a:pt x="6429374" y="885824"/>
                  </a:moveTo>
                  <a:lnTo>
                    <a:pt x="114299" y="885824"/>
                  </a:lnTo>
                  <a:lnTo>
                    <a:pt x="103040" y="885281"/>
                  </a:lnTo>
                  <a:lnTo>
                    <a:pt x="60364" y="872312"/>
                  </a:lnTo>
                  <a:lnTo>
                    <a:pt x="25900" y="844000"/>
                  </a:lnTo>
                  <a:lnTo>
                    <a:pt x="4894" y="804654"/>
                  </a:lnTo>
                  <a:lnTo>
                    <a:pt x="0" y="771524"/>
                  </a:lnTo>
                  <a:lnTo>
                    <a:pt x="0" y="114299"/>
                  </a:lnTo>
                  <a:lnTo>
                    <a:pt x="8700" y="70558"/>
                  </a:lnTo>
                  <a:lnTo>
                    <a:pt x="33477" y="33477"/>
                  </a:lnTo>
                  <a:lnTo>
                    <a:pt x="70559" y="8700"/>
                  </a:lnTo>
                  <a:lnTo>
                    <a:pt x="114299" y="0"/>
                  </a:lnTo>
                  <a:lnTo>
                    <a:pt x="6429374" y="0"/>
                  </a:lnTo>
                  <a:lnTo>
                    <a:pt x="6473115" y="8700"/>
                  </a:lnTo>
                  <a:lnTo>
                    <a:pt x="6474862" y="9524"/>
                  </a:lnTo>
                  <a:lnTo>
                    <a:pt x="107420" y="9524"/>
                  </a:lnTo>
                  <a:lnTo>
                    <a:pt x="100606" y="10195"/>
                  </a:lnTo>
                  <a:lnTo>
                    <a:pt x="61810" y="23360"/>
                  </a:lnTo>
                  <a:lnTo>
                    <a:pt x="31004" y="50369"/>
                  </a:lnTo>
                  <a:lnTo>
                    <a:pt x="12880" y="87111"/>
                  </a:lnTo>
                  <a:lnTo>
                    <a:pt x="9524" y="107420"/>
                  </a:lnTo>
                  <a:lnTo>
                    <a:pt x="9524" y="778404"/>
                  </a:lnTo>
                  <a:lnTo>
                    <a:pt x="20133" y="817976"/>
                  </a:lnTo>
                  <a:lnTo>
                    <a:pt x="45077" y="850476"/>
                  </a:lnTo>
                  <a:lnTo>
                    <a:pt x="80560" y="870956"/>
                  </a:lnTo>
                  <a:lnTo>
                    <a:pt x="107420" y="876299"/>
                  </a:lnTo>
                  <a:lnTo>
                    <a:pt x="6474861" y="876299"/>
                  </a:lnTo>
                  <a:lnTo>
                    <a:pt x="6473113" y="877124"/>
                  </a:lnTo>
                  <a:lnTo>
                    <a:pt x="6462501" y="880931"/>
                  </a:lnTo>
                  <a:lnTo>
                    <a:pt x="6451674" y="883649"/>
                  </a:lnTo>
                  <a:lnTo>
                    <a:pt x="6440631" y="885281"/>
                  </a:lnTo>
                  <a:lnTo>
                    <a:pt x="6429374" y="885824"/>
                  </a:lnTo>
                  <a:close/>
                </a:path>
                <a:path w="6543675" h="885825">
                  <a:moveTo>
                    <a:pt x="6474861" y="876299"/>
                  </a:moveTo>
                  <a:lnTo>
                    <a:pt x="6436254" y="876299"/>
                  </a:lnTo>
                  <a:lnTo>
                    <a:pt x="6443067" y="875628"/>
                  </a:lnTo>
                  <a:lnTo>
                    <a:pt x="6456562" y="872944"/>
                  </a:lnTo>
                  <a:lnTo>
                    <a:pt x="6493304" y="854819"/>
                  </a:lnTo>
                  <a:lnTo>
                    <a:pt x="6520313" y="824014"/>
                  </a:lnTo>
                  <a:lnTo>
                    <a:pt x="6533478" y="785217"/>
                  </a:lnTo>
                  <a:lnTo>
                    <a:pt x="6534149" y="778404"/>
                  </a:lnTo>
                  <a:lnTo>
                    <a:pt x="6534149" y="107420"/>
                  </a:lnTo>
                  <a:lnTo>
                    <a:pt x="6523540" y="67848"/>
                  </a:lnTo>
                  <a:lnTo>
                    <a:pt x="6498597" y="35348"/>
                  </a:lnTo>
                  <a:lnTo>
                    <a:pt x="6463114" y="14867"/>
                  </a:lnTo>
                  <a:lnTo>
                    <a:pt x="6436254" y="9524"/>
                  </a:lnTo>
                  <a:lnTo>
                    <a:pt x="6474862" y="9524"/>
                  </a:lnTo>
                  <a:lnTo>
                    <a:pt x="6510196" y="33477"/>
                  </a:lnTo>
                  <a:lnTo>
                    <a:pt x="6534974" y="70558"/>
                  </a:lnTo>
                  <a:lnTo>
                    <a:pt x="6543674" y="114299"/>
                  </a:lnTo>
                  <a:lnTo>
                    <a:pt x="6543674" y="771524"/>
                  </a:lnTo>
                  <a:lnTo>
                    <a:pt x="6543131" y="782784"/>
                  </a:lnTo>
                  <a:lnTo>
                    <a:pt x="6530162" y="825459"/>
                  </a:lnTo>
                  <a:lnTo>
                    <a:pt x="6501850" y="859923"/>
                  </a:lnTo>
                  <a:lnTo>
                    <a:pt x="6483308" y="872312"/>
                  </a:lnTo>
                  <a:lnTo>
                    <a:pt x="6474861" y="876299"/>
                  </a:lnTo>
                  <a:close/>
                </a:path>
              </a:pathLst>
            </a:custGeom>
            <a:solidFill>
              <a:srgbClr val="312E81">
                <a:alpha val="30198"/>
              </a:srgbClr>
            </a:solidFill>
          </p:spPr>
          <p:txBody>
            <a:bodyPr wrap="square" lIns="0" tIns="0" rIns="0" bIns="0" rtlCol="0"/>
            <a:lstStyle/>
            <a:p>
              <a:endParaRPr/>
            </a:p>
          </p:txBody>
        </p:sp>
        <p:sp>
          <p:nvSpPr>
            <p:cNvPr id="18" name="object 18"/>
            <p:cNvSpPr/>
            <p:nvPr/>
          </p:nvSpPr>
          <p:spPr>
            <a:xfrm>
              <a:off x="542924" y="5772149"/>
              <a:ext cx="381000" cy="381000"/>
            </a:xfrm>
            <a:custGeom>
              <a:avLst/>
              <a:gdLst/>
              <a:ahLst/>
              <a:cxnLst/>
              <a:rect l="l" t="t" r="r" b="b"/>
              <a:pathLst>
                <a:path w="381000" h="381000">
                  <a:moveTo>
                    <a:pt x="309803" y="380999"/>
                  </a:moveTo>
                  <a:lnTo>
                    <a:pt x="71196" y="380999"/>
                  </a:lnTo>
                  <a:lnTo>
                    <a:pt x="66241" y="380511"/>
                  </a:lnTo>
                  <a:lnTo>
                    <a:pt x="29705" y="365377"/>
                  </a:lnTo>
                  <a:lnTo>
                    <a:pt x="3885" y="329337"/>
                  </a:lnTo>
                  <a:lnTo>
                    <a:pt x="0" y="309803"/>
                  </a:lnTo>
                  <a:lnTo>
                    <a:pt x="0" y="304799"/>
                  </a:lnTo>
                  <a:lnTo>
                    <a:pt x="0" y="71196"/>
                  </a:lnTo>
                  <a:lnTo>
                    <a:pt x="15621" y="29704"/>
                  </a:lnTo>
                  <a:lnTo>
                    <a:pt x="51662" y="3885"/>
                  </a:lnTo>
                  <a:lnTo>
                    <a:pt x="71196" y="0"/>
                  </a:lnTo>
                  <a:lnTo>
                    <a:pt x="309803" y="0"/>
                  </a:lnTo>
                  <a:lnTo>
                    <a:pt x="351294" y="15621"/>
                  </a:lnTo>
                  <a:lnTo>
                    <a:pt x="377114" y="51661"/>
                  </a:lnTo>
                  <a:lnTo>
                    <a:pt x="380999" y="71196"/>
                  </a:lnTo>
                  <a:lnTo>
                    <a:pt x="380999" y="309803"/>
                  </a:lnTo>
                  <a:lnTo>
                    <a:pt x="365378" y="351293"/>
                  </a:lnTo>
                  <a:lnTo>
                    <a:pt x="329337" y="377113"/>
                  </a:lnTo>
                  <a:lnTo>
                    <a:pt x="314758" y="380511"/>
                  </a:lnTo>
                  <a:lnTo>
                    <a:pt x="309803" y="380999"/>
                  </a:lnTo>
                  <a:close/>
                </a:path>
              </a:pathLst>
            </a:custGeom>
            <a:solidFill>
              <a:srgbClr val="D97705">
                <a:alpha val="19999"/>
              </a:srgbClr>
            </a:solidFill>
          </p:spPr>
          <p:txBody>
            <a:bodyPr wrap="square" lIns="0" tIns="0" rIns="0" bIns="0" rtlCol="0"/>
            <a:lstStyle/>
            <a:p>
              <a:endParaRPr/>
            </a:p>
          </p:txBody>
        </p:sp>
        <p:pic>
          <p:nvPicPr>
            <p:cNvPr id="19" name="object 19"/>
            <p:cNvPicPr/>
            <p:nvPr/>
          </p:nvPicPr>
          <p:blipFill>
            <a:blip r:embed="rId4" cstate="print"/>
            <a:stretch>
              <a:fillRect/>
            </a:stretch>
          </p:blipFill>
          <p:spPr>
            <a:xfrm>
              <a:off x="654043" y="5882830"/>
              <a:ext cx="158756" cy="156194"/>
            </a:xfrm>
            <a:prstGeom prst="rect">
              <a:avLst/>
            </a:prstGeom>
          </p:spPr>
        </p:pic>
      </p:grpSp>
      <p:sp>
        <p:nvSpPr>
          <p:cNvPr id="20" name="object 20"/>
          <p:cNvSpPr txBox="1"/>
          <p:nvPr/>
        </p:nvSpPr>
        <p:spPr>
          <a:xfrm>
            <a:off x="1063625" y="5715513"/>
            <a:ext cx="5640705" cy="582295"/>
          </a:xfrm>
          <a:prstGeom prst="rect">
            <a:avLst/>
          </a:prstGeom>
        </p:spPr>
        <p:txBody>
          <a:bodyPr vert="horz" wrap="square" lIns="0" tIns="37465" rIns="0" bIns="0" rtlCol="0">
            <a:spAutoFit/>
          </a:bodyPr>
          <a:lstStyle/>
          <a:p>
            <a:pPr marL="12700">
              <a:lnSpc>
                <a:spcPct val="100000"/>
              </a:lnSpc>
              <a:spcBef>
                <a:spcPts val="295"/>
              </a:spcBef>
            </a:pPr>
            <a:r>
              <a:rPr sz="900" spc="40">
                <a:solidFill>
                  <a:srgbClr val="F59D0A"/>
                </a:solidFill>
                <a:latin typeface="宋体"/>
                <a:cs typeface="宋体"/>
              </a:rPr>
              <a:t>理论收益 / </a:t>
            </a:r>
            <a:r>
              <a:rPr sz="900" spc="114">
                <a:solidFill>
                  <a:srgbClr val="F59D0A"/>
                </a:solidFill>
                <a:latin typeface="宋体"/>
                <a:cs typeface="宋体"/>
              </a:rPr>
              <a:t>THEORETICAL</a:t>
            </a:r>
            <a:r>
              <a:rPr sz="900" spc="15">
                <a:solidFill>
                  <a:srgbClr val="F59D0A"/>
                </a:solidFill>
                <a:latin typeface="宋体"/>
                <a:cs typeface="宋体"/>
              </a:rPr>
              <a:t> </a:t>
            </a:r>
            <a:r>
              <a:rPr sz="900" spc="105">
                <a:solidFill>
                  <a:srgbClr val="F59D0A"/>
                </a:solidFill>
                <a:latin typeface="宋体"/>
                <a:cs typeface="宋体"/>
              </a:rPr>
              <a:t>REGULARIZATION</a:t>
            </a:r>
            <a:endParaRPr sz="900">
              <a:latin typeface="宋体"/>
              <a:cs typeface="宋体"/>
            </a:endParaRPr>
          </a:p>
          <a:p>
            <a:pPr marL="12700" marR="5080">
              <a:lnSpc>
                <a:spcPts val="1580"/>
              </a:lnSpc>
              <a:spcBef>
                <a:spcPts val="45"/>
              </a:spcBef>
            </a:pPr>
            <a:r>
              <a:rPr sz="1050" spc="-90">
                <a:solidFill>
                  <a:srgbClr val="DFE7FF"/>
                </a:solidFill>
                <a:latin typeface="宋体"/>
                <a:cs typeface="宋体"/>
              </a:rPr>
              <a:t>将通道混洗视为一种结构化噪声注入的不变性正则化</a:t>
            </a:r>
            <a:r>
              <a:rPr sz="1050" spc="-30">
                <a:solidFill>
                  <a:srgbClr val="DFE7FF"/>
                </a:solidFill>
                <a:latin typeface="Microsoft Sans Serif"/>
                <a:cs typeface="Microsoft Sans Serif"/>
              </a:rPr>
              <a:t>(Invariance-</a:t>
            </a:r>
            <a:r>
              <a:rPr sz="1050">
                <a:solidFill>
                  <a:srgbClr val="DFE7FF"/>
                </a:solidFill>
                <a:latin typeface="Microsoft Sans Serif"/>
                <a:cs typeface="Microsoft Sans Serif"/>
              </a:rPr>
              <a:t>focused </a:t>
            </a:r>
            <a:r>
              <a:rPr sz="1050" spc="-40">
                <a:solidFill>
                  <a:srgbClr val="DFE7FF"/>
                </a:solidFill>
                <a:latin typeface="Microsoft Sans Serif"/>
                <a:cs typeface="Microsoft Sans Serif"/>
              </a:rPr>
              <a:t>Regularization)</a:t>
            </a:r>
            <a:r>
              <a:rPr sz="1050" spc="-85">
                <a:solidFill>
                  <a:srgbClr val="DFE7FF"/>
                </a:solidFill>
                <a:latin typeface="宋体"/>
                <a:cs typeface="宋体"/>
              </a:rPr>
              <a:t>过程，提升模</a:t>
            </a:r>
            <a:r>
              <a:rPr sz="1050" spc="-90">
                <a:solidFill>
                  <a:srgbClr val="DFE7FF"/>
                </a:solidFill>
                <a:latin typeface="宋体"/>
                <a:cs typeface="宋体"/>
              </a:rPr>
              <a:t>型在小样本或低质量图谱下区分交叉模式的能力。</a:t>
            </a:r>
            <a:endParaRPr sz="1050">
              <a:latin typeface="宋体"/>
              <a:cs typeface="宋体"/>
            </a:endParaRPr>
          </a:p>
        </p:txBody>
      </p:sp>
      <p:grpSp>
        <p:nvGrpSpPr>
          <p:cNvPr id="21" name="object 21"/>
          <p:cNvGrpSpPr/>
          <p:nvPr/>
        </p:nvGrpSpPr>
        <p:grpSpPr>
          <a:xfrm>
            <a:off x="7229475" y="1304924"/>
            <a:ext cx="4581525" cy="5172075"/>
            <a:chOff x="7229475" y="1304924"/>
            <a:chExt cx="4581525" cy="5172075"/>
          </a:xfrm>
        </p:grpSpPr>
        <p:sp>
          <p:nvSpPr>
            <p:cNvPr id="22" name="object 22"/>
            <p:cNvSpPr/>
            <p:nvPr/>
          </p:nvSpPr>
          <p:spPr>
            <a:xfrm>
              <a:off x="7234237" y="1309687"/>
              <a:ext cx="4572000" cy="5162550"/>
            </a:xfrm>
            <a:custGeom>
              <a:avLst/>
              <a:gdLst/>
              <a:ahLst/>
              <a:cxnLst/>
              <a:rect l="l" t="t" r="r" b="b"/>
              <a:pathLst>
                <a:path w="4572000" h="5162550">
                  <a:moveTo>
                    <a:pt x="4469654" y="5162549"/>
                  </a:moveTo>
                  <a:lnTo>
                    <a:pt x="102345" y="5162549"/>
                  </a:lnTo>
                  <a:lnTo>
                    <a:pt x="95221" y="5161847"/>
                  </a:lnTo>
                  <a:lnTo>
                    <a:pt x="54661" y="5148084"/>
                  </a:lnTo>
                  <a:lnTo>
                    <a:pt x="22456" y="5119847"/>
                  </a:lnTo>
                  <a:lnTo>
                    <a:pt x="3507" y="5081435"/>
                  </a:lnTo>
                  <a:lnTo>
                    <a:pt x="0" y="5060204"/>
                  </a:lnTo>
                  <a:lnTo>
                    <a:pt x="0" y="5053012"/>
                  </a:lnTo>
                  <a:lnTo>
                    <a:pt x="0" y="102345"/>
                  </a:lnTo>
                  <a:lnTo>
                    <a:pt x="11090" y="60974"/>
                  </a:lnTo>
                  <a:lnTo>
                    <a:pt x="37168" y="26997"/>
                  </a:lnTo>
                  <a:lnTo>
                    <a:pt x="74264" y="5585"/>
                  </a:lnTo>
                  <a:lnTo>
                    <a:pt x="102345" y="0"/>
                  </a:lnTo>
                  <a:lnTo>
                    <a:pt x="4469654" y="0"/>
                  </a:lnTo>
                  <a:lnTo>
                    <a:pt x="4511024" y="11090"/>
                  </a:lnTo>
                  <a:lnTo>
                    <a:pt x="4545002" y="37168"/>
                  </a:lnTo>
                  <a:lnTo>
                    <a:pt x="4566413" y="74264"/>
                  </a:lnTo>
                  <a:lnTo>
                    <a:pt x="4571999" y="102345"/>
                  </a:lnTo>
                  <a:lnTo>
                    <a:pt x="4571999" y="5060204"/>
                  </a:lnTo>
                  <a:lnTo>
                    <a:pt x="4560908" y="5101574"/>
                  </a:lnTo>
                  <a:lnTo>
                    <a:pt x="4534830" y="5135551"/>
                  </a:lnTo>
                  <a:lnTo>
                    <a:pt x="4497734" y="5156963"/>
                  </a:lnTo>
                  <a:lnTo>
                    <a:pt x="4476777" y="5161847"/>
                  </a:lnTo>
                  <a:lnTo>
                    <a:pt x="4469654" y="5162549"/>
                  </a:lnTo>
                  <a:close/>
                </a:path>
              </a:pathLst>
            </a:custGeom>
            <a:solidFill>
              <a:srgbClr val="F2F4F5">
                <a:alpha val="70199"/>
              </a:srgbClr>
            </a:solidFill>
          </p:spPr>
          <p:txBody>
            <a:bodyPr wrap="square" lIns="0" tIns="0" rIns="0" bIns="0" rtlCol="0"/>
            <a:lstStyle/>
            <a:p>
              <a:endParaRPr/>
            </a:p>
          </p:txBody>
        </p:sp>
        <p:sp>
          <p:nvSpPr>
            <p:cNvPr id="23" name="object 23"/>
            <p:cNvSpPr/>
            <p:nvPr/>
          </p:nvSpPr>
          <p:spPr>
            <a:xfrm>
              <a:off x="7234237" y="1309687"/>
              <a:ext cx="4572000" cy="5162550"/>
            </a:xfrm>
            <a:custGeom>
              <a:avLst/>
              <a:gdLst/>
              <a:ahLst/>
              <a:cxnLst/>
              <a:rect l="l" t="t" r="r" b="b"/>
              <a:pathLst>
                <a:path w="4572000" h="5162550">
                  <a:moveTo>
                    <a:pt x="0" y="5053012"/>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4462462" y="0"/>
                  </a:lnTo>
                  <a:lnTo>
                    <a:pt x="4469654" y="0"/>
                  </a:lnTo>
                  <a:lnTo>
                    <a:pt x="4476777" y="701"/>
                  </a:lnTo>
                  <a:lnTo>
                    <a:pt x="4483831" y="2104"/>
                  </a:lnTo>
                  <a:lnTo>
                    <a:pt x="4490885" y="3507"/>
                  </a:lnTo>
                  <a:lnTo>
                    <a:pt x="4529297" y="22456"/>
                  </a:lnTo>
                  <a:lnTo>
                    <a:pt x="4553538" y="48681"/>
                  </a:lnTo>
                  <a:lnTo>
                    <a:pt x="4557534" y="54661"/>
                  </a:lnTo>
                  <a:lnTo>
                    <a:pt x="4560908" y="60974"/>
                  </a:lnTo>
                  <a:lnTo>
                    <a:pt x="4563660" y="67619"/>
                  </a:lnTo>
                  <a:lnTo>
                    <a:pt x="4566413" y="74264"/>
                  </a:lnTo>
                  <a:lnTo>
                    <a:pt x="4568491" y="81113"/>
                  </a:lnTo>
                  <a:lnTo>
                    <a:pt x="4569894" y="88167"/>
                  </a:lnTo>
                  <a:lnTo>
                    <a:pt x="4571297" y="95221"/>
                  </a:lnTo>
                  <a:lnTo>
                    <a:pt x="4571999" y="102345"/>
                  </a:lnTo>
                  <a:lnTo>
                    <a:pt x="4571999" y="109537"/>
                  </a:lnTo>
                  <a:lnTo>
                    <a:pt x="4571999" y="5053012"/>
                  </a:lnTo>
                  <a:lnTo>
                    <a:pt x="4571999" y="5060204"/>
                  </a:lnTo>
                  <a:lnTo>
                    <a:pt x="4571297" y="5067327"/>
                  </a:lnTo>
                  <a:lnTo>
                    <a:pt x="4569894" y="5074381"/>
                  </a:lnTo>
                  <a:lnTo>
                    <a:pt x="4568491" y="5081435"/>
                  </a:lnTo>
                  <a:lnTo>
                    <a:pt x="4566413" y="5088285"/>
                  </a:lnTo>
                  <a:lnTo>
                    <a:pt x="4563660" y="5094929"/>
                  </a:lnTo>
                  <a:lnTo>
                    <a:pt x="4560908" y="5101574"/>
                  </a:lnTo>
                  <a:lnTo>
                    <a:pt x="4534830" y="5135551"/>
                  </a:lnTo>
                  <a:lnTo>
                    <a:pt x="4497734" y="5156963"/>
                  </a:lnTo>
                  <a:lnTo>
                    <a:pt x="4483831" y="5160444"/>
                  </a:lnTo>
                  <a:lnTo>
                    <a:pt x="4476777" y="5161847"/>
                  </a:lnTo>
                  <a:lnTo>
                    <a:pt x="4469654" y="5162549"/>
                  </a:lnTo>
                  <a:lnTo>
                    <a:pt x="4462462" y="5162549"/>
                  </a:lnTo>
                  <a:lnTo>
                    <a:pt x="109537" y="5162549"/>
                  </a:lnTo>
                  <a:lnTo>
                    <a:pt x="102345" y="5162549"/>
                  </a:lnTo>
                  <a:lnTo>
                    <a:pt x="95221" y="5161847"/>
                  </a:lnTo>
                  <a:lnTo>
                    <a:pt x="88167" y="5160443"/>
                  </a:lnTo>
                  <a:lnTo>
                    <a:pt x="81113" y="5159041"/>
                  </a:lnTo>
                  <a:lnTo>
                    <a:pt x="74264" y="5156963"/>
                  </a:lnTo>
                  <a:lnTo>
                    <a:pt x="67619" y="5154210"/>
                  </a:lnTo>
                  <a:lnTo>
                    <a:pt x="60974" y="5151458"/>
                  </a:lnTo>
                  <a:lnTo>
                    <a:pt x="32082" y="5130466"/>
                  </a:lnTo>
                  <a:lnTo>
                    <a:pt x="26997" y="5125380"/>
                  </a:lnTo>
                  <a:lnTo>
                    <a:pt x="8338" y="5094929"/>
                  </a:lnTo>
                  <a:lnTo>
                    <a:pt x="5585" y="5088285"/>
                  </a:lnTo>
                  <a:lnTo>
                    <a:pt x="3507" y="5081435"/>
                  </a:lnTo>
                  <a:lnTo>
                    <a:pt x="2104" y="5074381"/>
                  </a:lnTo>
                  <a:lnTo>
                    <a:pt x="701" y="5067327"/>
                  </a:lnTo>
                  <a:lnTo>
                    <a:pt x="0" y="5060204"/>
                  </a:lnTo>
                  <a:lnTo>
                    <a:pt x="0" y="5053012"/>
                  </a:lnTo>
                  <a:close/>
                </a:path>
              </a:pathLst>
            </a:custGeom>
            <a:ln w="9524">
              <a:solidFill>
                <a:srgbClr val="E4E7EB"/>
              </a:solidFill>
            </a:ln>
          </p:spPr>
          <p:txBody>
            <a:bodyPr wrap="square" lIns="0" tIns="0" rIns="0" bIns="0" rtlCol="0"/>
            <a:lstStyle/>
            <a:p>
              <a:endParaRPr/>
            </a:p>
          </p:txBody>
        </p:sp>
      </p:grpSp>
      <p:sp>
        <p:nvSpPr>
          <p:cNvPr id="24" name="object 24"/>
          <p:cNvSpPr txBox="1"/>
          <p:nvPr/>
        </p:nvSpPr>
        <p:spPr>
          <a:xfrm>
            <a:off x="7375425" y="1463675"/>
            <a:ext cx="1099820" cy="162560"/>
          </a:xfrm>
          <a:prstGeom prst="rect">
            <a:avLst/>
          </a:prstGeom>
        </p:spPr>
        <p:txBody>
          <a:bodyPr vert="horz" wrap="square" lIns="0" tIns="12700" rIns="0" bIns="0" rtlCol="0">
            <a:spAutoFit/>
          </a:bodyPr>
          <a:lstStyle/>
          <a:p>
            <a:pPr marL="12700">
              <a:lnSpc>
                <a:spcPct val="100000"/>
              </a:lnSpc>
              <a:spcBef>
                <a:spcPts val="100"/>
              </a:spcBef>
            </a:pPr>
            <a:r>
              <a:rPr sz="900" spc="-10">
                <a:solidFill>
                  <a:srgbClr val="1D40AF"/>
                </a:solidFill>
                <a:latin typeface="宋体"/>
                <a:cs typeface="宋体"/>
              </a:rPr>
              <a:t>算法伪代码对照研究</a:t>
            </a:r>
            <a:endParaRPr sz="900">
              <a:latin typeface="宋体"/>
              <a:cs typeface="宋体"/>
            </a:endParaRPr>
          </a:p>
        </p:txBody>
      </p:sp>
      <p:sp>
        <p:nvSpPr>
          <p:cNvPr id="25" name="object 25"/>
          <p:cNvSpPr/>
          <p:nvPr/>
        </p:nvSpPr>
        <p:spPr>
          <a:xfrm>
            <a:off x="10877549" y="1466849"/>
            <a:ext cx="771525" cy="171450"/>
          </a:xfrm>
          <a:custGeom>
            <a:avLst/>
            <a:gdLst/>
            <a:ahLst/>
            <a:cxnLst/>
            <a:rect l="l" t="t" r="r" b="b"/>
            <a:pathLst>
              <a:path w="771525" h="171450">
                <a:moveTo>
                  <a:pt x="738477" y="171449"/>
                </a:moveTo>
                <a:lnTo>
                  <a:pt x="33047" y="171449"/>
                </a:lnTo>
                <a:lnTo>
                  <a:pt x="28187" y="170483"/>
                </a:lnTo>
                <a:lnTo>
                  <a:pt x="966" y="143262"/>
                </a:lnTo>
                <a:lnTo>
                  <a:pt x="0" y="138402"/>
                </a:lnTo>
                <a:lnTo>
                  <a:pt x="0" y="133349"/>
                </a:lnTo>
                <a:lnTo>
                  <a:pt x="0" y="33047"/>
                </a:lnTo>
                <a:lnTo>
                  <a:pt x="28187" y="966"/>
                </a:lnTo>
                <a:lnTo>
                  <a:pt x="33047" y="0"/>
                </a:lnTo>
                <a:lnTo>
                  <a:pt x="738477" y="0"/>
                </a:lnTo>
                <a:lnTo>
                  <a:pt x="770557" y="28187"/>
                </a:lnTo>
                <a:lnTo>
                  <a:pt x="771524" y="33047"/>
                </a:lnTo>
                <a:lnTo>
                  <a:pt x="771524" y="138402"/>
                </a:lnTo>
                <a:lnTo>
                  <a:pt x="743337" y="170483"/>
                </a:lnTo>
                <a:lnTo>
                  <a:pt x="738477" y="171449"/>
                </a:lnTo>
                <a:close/>
              </a:path>
            </a:pathLst>
          </a:custGeom>
          <a:solidFill>
            <a:srgbClr val="DAE9FE"/>
          </a:solidFill>
        </p:spPr>
        <p:txBody>
          <a:bodyPr wrap="square" lIns="0" tIns="0" rIns="0" bIns="0" rtlCol="0"/>
          <a:lstStyle/>
          <a:p>
            <a:endParaRPr/>
          </a:p>
        </p:txBody>
      </p:sp>
      <p:sp>
        <p:nvSpPr>
          <p:cNvPr id="26" name="object 26"/>
          <p:cNvSpPr txBox="1"/>
          <p:nvPr/>
        </p:nvSpPr>
        <p:spPr>
          <a:xfrm>
            <a:off x="10942686" y="1463675"/>
            <a:ext cx="643255" cy="128270"/>
          </a:xfrm>
          <a:prstGeom prst="rect">
            <a:avLst/>
          </a:prstGeom>
        </p:spPr>
        <p:txBody>
          <a:bodyPr vert="horz" wrap="square" lIns="0" tIns="15875" rIns="0" bIns="0" rtlCol="0">
            <a:spAutoFit/>
          </a:bodyPr>
          <a:lstStyle/>
          <a:p>
            <a:pPr marL="12700">
              <a:lnSpc>
                <a:spcPct val="100000"/>
              </a:lnSpc>
              <a:spcBef>
                <a:spcPts val="125"/>
              </a:spcBef>
            </a:pPr>
            <a:r>
              <a:rPr sz="650" b="1">
                <a:solidFill>
                  <a:srgbClr val="1D40AF"/>
                </a:solidFill>
                <a:latin typeface="Courier New"/>
                <a:cs typeface="Courier New"/>
              </a:rPr>
              <a:t>ALGORITHM</a:t>
            </a:r>
            <a:r>
              <a:rPr sz="650" b="1" spc="150">
                <a:solidFill>
                  <a:srgbClr val="1D40AF"/>
                </a:solidFill>
                <a:latin typeface="Courier New"/>
                <a:cs typeface="Courier New"/>
              </a:rPr>
              <a:t> </a:t>
            </a:r>
            <a:r>
              <a:rPr sz="650" b="1" spc="-25">
                <a:solidFill>
                  <a:srgbClr val="1D40AF"/>
                </a:solidFill>
                <a:latin typeface="Courier New"/>
                <a:cs typeface="Courier New"/>
              </a:rPr>
              <a:t>02</a:t>
            </a:r>
            <a:endParaRPr sz="650">
              <a:latin typeface="Courier New"/>
              <a:cs typeface="Courier New"/>
            </a:endParaRPr>
          </a:p>
        </p:txBody>
      </p:sp>
      <p:grpSp>
        <p:nvGrpSpPr>
          <p:cNvPr id="27" name="object 27"/>
          <p:cNvGrpSpPr/>
          <p:nvPr/>
        </p:nvGrpSpPr>
        <p:grpSpPr>
          <a:xfrm>
            <a:off x="7391400" y="1714500"/>
            <a:ext cx="4257675" cy="4352925"/>
            <a:chOff x="7391400" y="1714500"/>
            <a:chExt cx="4257675" cy="4352925"/>
          </a:xfrm>
        </p:grpSpPr>
        <p:sp>
          <p:nvSpPr>
            <p:cNvPr id="28" name="object 28"/>
            <p:cNvSpPr/>
            <p:nvPr/>
          </p:nvSpPr>
          <p:spPr>
            <a:xfrm>
              <a:off x="7396162" y="1719262"/>
              <a:ext cx="4248150" cy="4343400"/>
            </a:xfrm>
            <a:custGeom>
              <a:avLst/>
              <a:gdLst/>
              <a:ahLst/>
              <a:cxnLst/>
              <a:rect l="l" t="t" r="r" b="b"/>
              <a:pathLst>
                <a:path w="4248150" h="4343400">
                  <a:moveTo>
                    <a:pt x="4181402" y="4343399"/>
                  </a:moveTo>
                  <a:lnTo>
                    <a:pt x="66746" y="4343399"/>
                  </a:lnTo>
                  <a:lnTo>
                    <a:pt x="62101" y="4342941"/>
                  </a:lnTo>
                  <a:lnTo>
                    <a:pt x="24240" y="4325792"/>
                  </a:lnTo>
                  <a:lnTo>
                    <a:pt x="2287" y="4290499"/>
                  </a:lnTo>
                  <a:lnTo>
                    <a:pt x="0" y="4276652"/>
                  </a:lnTo>
                  <a:lnTo>
                    <a:pt x="0" y="4271962"/>
                  </a:lnTo>
                  <a:lnTo>
                    <a:pt x="0" y="66746"/>
                  </a:lnTo>
                  <a:lnTo>
                    <a:pt x="14645" y="27848"/>
                  </a:lnTo>
                  <a:lnTo>
                    <a:pt x="48433" y="3642"/>
                  </a:lnTo>
                  <a:lnTo>
                    <a:pt x="66746" y="0"/>
                  </a:lnTo>
                  <a:lnTo>
                    <a:pt x="4181402" y="0"/>
                  </a:lnTo>
                  <a:lnTo>
                    <a:pt x="4220300" y="14645"/>
                  </a:lnTo>
                  <a:lnTo>
                    <a:pt x="4244506" y="48433"/>
                  </a:lnTo>
                  <a:lnTo>
                    <a:pt x="4248149" y="66746"/>
                  </a:lnTo>
                  <a:lnTo>
                    <a:pt x="4248149" y="4276652"/>
                  </a:lnTo>
                  <a:lnTo>
                    <a:pt x="4233503" y="4315550"/>
                  </a:lnTo>
                  <a:lnTo>
                    <a:pt x="4199715" y="4339756"/>
                  </a:lnTo>
                  <a:lnTo>
                    <a:pt x="4186047" y="4342941"/>
                  </a:lnTo>
                  <a:lnTo>
                    <a:pt x="4181402" y="4343399"/>
                  </a:lnTo>
                  <a:close/>
                </a:path>
              </a:pathLst>
            </a:custGeom>
            <a:solidFill>
              <a:srgbClr val="FFFFFF"/>
            </a:solidFill>
          </p:spPr>
          <p:txBody>
            <a:bodyPr wrap="square" lIns="0" tIns="0" rIns="0" bIns="0" rtlCol="0"/>
            <a:lstStyle/>
            <a:p>
              <a:endParaRPr/>
            </a:p>
          </p:txBody>
        </p:sp>
        <p:sp>
          <p:nvSpPr>
            <p:cNvPr id="29" name="object 29"/>
            <p:cNvSpPr/>
            <p:nvPr/>
          </p:nvSpPr>
          <p:spPr>
            <a:xfrm>
              <a:off x="7396162" y="1719262"/>
              <a:ext cx="4248150" cy="4343400"/>
            </a:xfrm>
            <a:custGeom>
              <a:avLst/>
              <a:gdLst/>
              <a:ahLst/>
              <a:cxnLst/>
              <a:rect l="l" t="t" r="r" b="b"/>
              <a:pathLst>
                <a:path w="4248150" h="4343400">
                  <a:moveTo>
                    <a:pt x="0" y="4271962"/>
                  </a:moveTo>
                  <a:lnTo>
                    <a:pt x="0" y="71437"/>
                  </a:lnTo>
                  <a:lnTo>
                    <a:pt x="0" y="66746"/>
                  </a:lnTo>
                  <a:lnTo>
                    <a:pt x="457" y="62101"/>
                  </a:lnTo>
                  <a:lnTo>
                    <a:pt x="17606" y="24240"/>
                  </a:lnTo>
                  <a:lnTo>
                    <a:pt x="20923" y="20923"/>
                  </a:lnTo>
                  <a:lnTo>
                    <a:pt x="24240" y="17606"/>
                  </a:lnTo>
                  <a:lnTo>
                    <a:pt x="57500" y="1372"/>
                  </a:lnTo>
                  <a:lnTo>
                    <a:pt x="62101" y="457"/>
                  </a:lnTo>
                  <a:lnTo>
                    <a:pt x="66746" y="0"/>
                  </a:lnTo>
                  <a:lnTo>
                    <a:pt x="71437" y="0"/>
                  </a:lnTo>
                  <a:lnTo>
                    <a:pt x="4176712" y="0"/>
                  </a:lnTo>
                  <a:lnTo>
                    <a:pt x="4181402" y="0"/>
                  </a:lnTo>
                  <a:lnTo>
                    <a:pt x="4186047" y="457"/>
                  </a:lnTo>
                  <a:lnTo>
                    <a:pt x="4190648" y="1372"/>
                  </a:lnTo>
                  <a:lnTo>
                    <a:pt x="4195248" y="2287"/>
                  </a:lnTo>
                  <a:lnTo>
                    <a:pt x="4199715" y="3642"/>
                  </a:lnTo>
                  <a:lnTo>
                    <a:pt x="4204049" y="5437"/>
                  </a:lnTo>
                  <a:lnTo>
                    <a:pt x="4208383" y="7232"/>
                  </a:lnTo>
                  <a:lnTo>
                    <a:pt x="4212500" y="9433"/>
                  </a:lnTo>
                  <a:lnTo>
                    <a:pt x="4216400" y="12039"/>
                  </a:lnTo>
                  <a:lnTo>
                    <a:pt x="4220300" y="14645"/>
                  </a:lnTo>
                  <a:lnTo>
                    <a:pt x="4236109" y="31748"/>
                  </a:lnTo>
                  <a:lnTo>
                    <a:pt x="4238715" y="35649"/>
                  </a:lnTo>
                  <a:lnTo>
                    <a:pt x="4248149" y="71437"/>
                  </a:lnTo>
                  <a:lnTo>
                    <a:pt x="4248149" y="4271962"/>
                  </a:lnTo>
                  <a:lnTo>
                    <a:pt x="4236109" y="4311650"/>
                  </a:lnTo>
                  <a:lnTo>
                    <a:pt x="4204049" y="4337961"/>
                  </a:lnTo>
                  <a:lnTo>
                    <a:pt x="4190648" y="4342026"/>
                  </a:lnTo>
                  <a:lnTo>
                    <a:pt x="4186047" y="4342941"/>
                  </a:lnTo>
                  <a:lnTo>
                    <a:pt x="4181402" y="4343399"/>
                  </a:lnTo>
                  <a:lnTo>
                    <a:pt x="4176712" y="4343399"/>
                  </a:lnTo>
                  <a:lnTo>
                    <a:pt x="71437" y="4343399"/>
                  </a:lnTo>
                  <a:lnTo>
                    <a:pt x="66746" y="4343399"/>
                  </a:lnTo>
                  <a:lnTo>
                    <a:pt x="62101" y="4342941"/>
                  </a:lnTo>
                  <a:lnTo>
                    <a:pt x="57500" y="4342026"/>
                  </a:lnTo>
                  <a:lnTo>
                    <a:pt x="52900" y="4341111"/>
                  </a:lnTo>
                  <a:lnTo>
                    <a:pt x="17606" y="4319158"/>
                  </a:lnTo>
                  <a:lnTo>
                    <a:pt x="1372" y="4285898"/>
                  </a:lnTo>
                  <a:lnTo>
                    <a:pt x="457" y="4281298"/>
                  </a:lnTo>
                  <a:lnTo>
                    <a:pt x="0" y="4276652"/>
                  </a:lnTo>
                  <a:lnTo>
                    <a:pt x="0" y="4271962"/>
                  </a:lnTo>
                  <a:close/>
                </a:path>
              </a:pathLst>
            </a:custGeom>
            <a:ln w="9524">
              <a:solidFill>
                <a:srgbClr val="E4E7EB"/>
              </a:solidFill>
            </a:ln>
          </p:spPr>
          <p:txBody>
            <a:bodyPr wrap="square" lIns="0" tIns="0" rIns="0" bIns="0" rtlCol="0"/>
            <a:lstStyle/>
            <a:p>
              <a:endParaRPr/>
            </a:p>
          </p:txBody>
        </p:sp>
        <p:pic>
          <p:nvPicPr>
            <p:cNvPr id="30" name="object 30"/>
            <p:cNvPicPr/>
            <p:nvPr/>
          </p:nvPicPr>
          <p:blipFill>
            <a:blip r:embed="rId5" cstate="print"/>
            <a:stretch>
              <a:fillRect/>
            </a:stretch>
          </p:blipFill>
          <p:spPr>
            <a:xfrm>
              <a:off x="7553325" y="2057400"/>
              <a:ext cx="3933824" cy="3657599"/>
            </a:xfrm>
            <a:prstGeom prst="rect">
              <a:avLst/>
            </a:prstGeom>
          </p:spPr>
        </p:pic>
      </p:grpSp>
      <p:sp>
        <p:nvSpPr>
          <p:cNvPr id="31" name="object 31"/>
          <p:cNvSpPr txBox="1"/>
          <p:nvPr/>
        </p:nvSpPr>
        <p:spPr>
          <a:xfrm>
            <a:off x="7444928" y="6159499"/>
            <a:ext cx="4147820" cy="162560"/>
          </a:xfrm>
          <a:prstGeom prst="rect">
            <a:avLst/>
          </a:prstGeom>
        </p:spPr>
        <p:txBody>
          <a:bodyPr vert="horz" wrap="square" lIns="0" tIns="12700" rIns="0" bIns="0" rtlCol="0">
            <a:spAutoFit/>
          </a:bodyPr>
          <a:lstStyle/>
          <a:p>
            <a:pPr marL="12700">
              <a:lnSpc>
                <a:spcPct val="100000"/>
              </a:lnSpc>
              <a:spcBef>
                <a:spcPts val="100"/>
              </a:spcBef>
            </a:pPr>
            <a:r>
              <a:rPr sz="1350" spc="-67" baseline="3086">
                <a:solidFill>
                  <a:srgbClr val="6A7280"/>
                </a:solidFill>
                <a:latin typeface="宋体"/>
                <a:cs typeface="宋体"/>
              </a:rPr>
              <a:t>Algorithm</a:t>
            </a:r>
            <a:r>
              <a:rPr sz="1350" spc="-104" baseline="3086">
                <a:solidFill>
                  <a:srgbClr val="6A7280"/>
                </a:solidFill>
                <a:latin typeface="宋体"/>
                <a:cs typeface="宋体"/>
              </a:rPr>
              <a:t> </a:t>
            </a:r>
            <a:r>
              <a:rPr sz="1350" spc="-82" baseline="3086">
                <a:solidFill>
                  <a:srgbClr val="6A7280"/>
                </a:solidFill>
                <a:latin typeface="宋体"/>
                <a:cs typeface="宋体"/>
              </a:rPr>
              <a:t>2:</a:t>
            </a:r>
            <a:r>
              <a:rPr sz="1350" spc="-60" baseline="3086">
                <a:solidFill>
                  <a:srgbClr val="6A7280"/>
                </a:solidFill>
                <a:latin typeface="宋体"/>
                <a:cs typeface="宋体"/>
              </a:rPr>
              <a:t> 结合</a:t>
            </a:r>
            <a:r>
              <a:rPr sz="1350" baseline="3086">
                <a:solidFill>
                  <a:srgbClr val="6A7280"/>
                </a:solidFill>
                <a:latin typeface="宋体"/>
                <a:cs typeface="宋体"/>
              </a:rPr>
              <a:t>CPI</a:t>
            </a:r>
            <a:r>
              <a:rPr sz="1350" i="1" baseline="3086">
                <a:solidFill>
                  <a:srgbClr val="6A7280"/>
                </a:solidFill>
                <a:latin typeface="Cambria"/>
                <a:cs typeface="Cambria"/>
              </a:rPr>
              <a:t>R</a:t>
            </a:r>
            <a:r>
              <a:rPr sz="600" i="1">
                <a:solidFill>
                  <a:srgbClr val="6A7280"/>
                </a:solidFill>
                <a:latin typeface="Cambria"/>
                <a:cs typeface="Cambria"/>
              </a:rPr>
              <a:t>i</a:t>
            </a:r>
            <a:r>
              <a:rPr sz="1350" spc="-7" baseline="3086">
                <a:solidFill>
                  <a:srgbClr val="6A7280"/>
                </a:solidFill>
                <a:latin typeface="宋体"/>
                <a:cs typeface="宋体"/>
              </a:rPr>
              <a:t>架构与排列不变性正则化策略的具体前向传导实施伪代码。</a:t>
            </a:r>
            <a:endParaRPr sz="1350" baseline="3086">
              <a:latin typeface="宋体"/>
              <a:cs typeface="宋体"/>
            </a:endParaRPr>
          </a:p>
        </p:txBody>
      </p:sp>
      <p:pic>
        <p:nvPicPr>
          <p:cNvPr id="32" name="object 32"/>
          <p:cNvPicPr/>
          <p:nvPr/>
        </p:nvPicPr>
        <p:blipFill>
          <a:blip r:embed="rId6" cstate="print"/>
          <a:stretch>
            <a:fillRect/>
          </a:stretch>
        </p:blipFill>
        <p:spPr>
          <a:xfrm>
            <a:off x="0" y="0"/>
            <a:ext cx="12191999" cy="57149"/>
          </a:xfrm>
          <a:prstGeom prst="rect">
            <a:avLst/>
          </a:prstGeom>
        </p:spPr>
      </p:pic>
      <p:pic>
        <p:nvPicPr>
          <p:cNvPr id="33" name="object 33"/>
          <p:cNvPicPr/>
          <p:nvPr/>
        </p:nvPicPr>
        <p:blipFill>
          <a:blip r:embed="rId7" cstate="print"/>
          <a:stretch>
            <a:fillRect/>
          </a:stretch>
        </p:blipFill>
        <p:spPr>
          <a:xfrm>
            <a:off x="0" y="6800849"/>
            <a:ext cx="12191999" cy="57149"/>
          </a:xfrm>
          <a:prstGeom prst="rect">
            <a:avLst/>
          </a:prstGeom>
        </p:spPr>
      </p:pic>
      <p:pic>
        <p:nvPicPr>
          <p:cNvPr id="35" name="图片 34">
            <a:extLst>
              <a:ext uri="{FF2B5EF4-FFF2-40B4-BE49-F238E27FC236}">
                <a16:creationId xmlns:a16="http://schemas.microsoft.com/office/drawing/2014/main" id="{6258C6CA-633E-A22A-0AD9-657010D9E950}"/>
              </a:ext>
            </a:extLst>
          </p:cNvPr>
          <p:cNvPicPr>
            <a:picLocks noChangeAspect="1"/>
          </p:cNvPicPr>
          <p:nvPr/>
        </p:nvPicPr>
        <p:blipFill>
          <a:blip r:embed="rId8"/>
          <a:stretch>
            <a:fillRect/>
          </a:stretch>
        </p:blipFill>
        <p:spPr>
          <a:xfrm>
            <a:off x="9906000" y="3543299"/>
            <a:ext cx="1235825" cy="315925"/>
          </a:xfrm>
          <a:prstGeom prst="rect">
            <a:avLst/>
          </a:prstGeom>
        </p:spPr>
      </p:pic>
      <p:pic>
        <p:nvPicPr>
          <p:cNvPr id="37" name="图片 36">
            <a:extLst>
              <a:ext uri="{FF2B5EF4-FFF2-40B4-BE49-F238E27FC236}">
                <a16:creationId xmlns:a16="http://schemas.microsoft.com/office/drawing/2014/main" id="{563328D9-1920-02C5-6A4D-D61F4DD6B1C5}"/>
              </a:ext>
            </a:extLst>
          </p:cNvPr>
          <p:cNvPicPr>
            <a:picLocks noChangeAspect="1"/>
          </p:cNvPicPr>
          <p:nvPr/>
        </p:nvPicPr>
        <p:blipFill>
          <a:blip r:embed="rId9"/>
          <a:stretch>
            <a:fillRect/>
          </a:stretch>
        </p:blipFill>
        <p:spPr>
          <a:xfrm>
            <a:off x="9955940" y="4155365"/>
            <a:ext cx="921610" cy="280871"/>
          </a:xfrm>
          <a:prstGeom prst="rect">
            <a:avLst/>
          </a:prstGeom>
        </p:spPr>
      </p:pic>
      <p:pic>
        <p:nvPicPr>
          <p:cNvPr id="39" name="图片 38">
            <a:extLst>
              <a:ext uri="{FF2B5EF4-FFF2-40B4-BE49-F238E27FC236}">
                <a16:creationId xmlns:a16="http://schemas.microsoft.com/office/drawing/2014/main" id="{086A20A7-9B27-D7DF-7CEF-583B00123669}"/>
              </a:ext>
            </a:extLst>
          </p:cNvPr>
          <p:cNvPicPr>
            <a:picLocks noChangeAspect="1"/>
          </p:cNvPicPr>
          <p:nvPr/>
        </p:nvPicPr>
        <p:blipFill>
          <a:blip r:embed="rId10"/>
          <a:stretch>
            <a:fillRect/>
          </a:stretch>
        </p:blipFill>
        <p:spPr>
          <a:xfrm>
            <a:off x="9921445" y="4473769"/>
            <a:ext cx="990600" cy="252746"/>
          </a:xfrm>
          <a:prstGeom prst="rect">
            <a:avLst/>
          </a:prstGeom>
        </p:spPr>
      </p:pic>
    </p:spTree>
    <p:extLst>
      <p:ext uri="{BB962C8B-B14F-4D97-AF65-F5344CB8AC3E}">
        <p14:creationId xmlns:p14="http://schemas.microsoft.com/office/powerpoint/2010/main" val="205839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8298" y="333247"/>
            <a:ext cx="8089901" cy="482183"/>
          </a:xfrm>
          <a:prstGeom prst="rect">
            <a:avLst/>
          </a:prstGeom>
        </p:spPr>
        <p:txBody>
          <a:bodyPr vert="horz" wrap="square" lIns="0" tIns="12700" rIns="0" bIns="0" rtlCol="0">
            <a:spAutoFit/>
          </a:bodyPr>
          <a:lstStyle/>
          <a:p>
            <a:pPr marL="12700">
              <a:lnSpc>
                <a:spcPct val="100000"/>
              </a:lnSpc>
              <a:spcBef>
                <a:spcPts val="100"/>
              </a:spcBef>
            </a:pPr>
            <a:r>
              <a:rPr sz="3050">
                <a:latin typeface="微软雅黑"/>
                <a:cs typeface="微软雅黑"/>
              </a:rPr>
              <a:t>实验结果：在基准数据集上的量化预测性能</a:t>
            </a:r>
          </a:p>
        </p:txBody>
      </p:sp>
      <p:grpSp>
        <p:nvGrpSpPr>
          <p:cNvPr id="3" name="object 3"/>
          <p:cNvGrpSpPr/>
          <p:nvPr/>
        </p:nvGrpSpPr>
        <p:grpSpPr>
          <a:xfrm>
            <a:off x="380999" y="1228724"/>
            <a:ext cx="4438650" cy="942975"/>
            <a:chOff x="380999" y="1228724"/>
            <a:chExt cx="4438650" cy="942975"/>
          </a:xfrm>
        </p:grpSpPr>
        <p:sp>
          <p:nvSpPr>
            <p:cNvPr id="4" name="object 4"/>
            <p:cNvSpPr/>
            <p:nvPr/>
          </p:nvSpPr>
          <p:spPr>
            <a:xfrm>
              <a:off x="400049" y="1228724"/>
              <a:ext cx="4419600" cy="942975"/>
            </a:xfrm>
            <a:custGeom>
              <a:avLst/>
              <a:gdLst/>
              <a:ahLst/>
              <a:cxnLst/>
              <a:rect l="l" t="t" r="r" b="b"/>
              <a:pathLst>
                <a:path w="4419600" h="942975">
                  <a:moveTo>
                    <a:pt x="4348403" y="942974"/>
                  </a:moveTo>
                  <a:lnTo>
                    <a:pt x="0" y="942974"/>
                  </a:lnTo>
                  <a:lnTo>
                    <a:pt x="0" y="0"/>
                  </a:lnTo>
                  <a:lnTo>
                    <a:pt x="4348403" y="0"/>
                  </a:lnTo>
                  <a:lnTo>
                    <a:pt x="4353358" y="488"/>
                  </a:lnTo>
                  <a:lnTo>
                    <a:pt x="4389893" y="15621"/>
                  </a:lnTo>
                  <a:lnTo>
                    <a:pt x="4415713" y="51662"/>
                  </a:lnTo>
                  <a:lnTo>
                    <a:pt x="4419599" y="71196"/>
                  </a:lnTo>
                  <a:lnTo>
                    <a:pt x="4419599" y="871778"/>
                  </a:lnTo>
                  <a:lnTo>
                    <a:pt x="4403977" y="913269"/>
                  </a:lnTo>
                  <a:lnTo>
                    <a:pt x="4367937" y="939089"/>
                  </a:lnTo>
                  <a:lnTo>
                    <a:pt x="4348403" y="942974"/>
                  </a:lnTo>
                  <a:close/>
                </a:path>
              </a:pathLst>
            </a:custGeom>
            <a:solidFill>
              <a:srgbClr val="F9FAFA"/>
            </a:solidFill>
          </p:spPr>
          <p:txBody>
            <a:bodyPr wrap="square" lIns="0" tIns="0" rIns="0" bIns="0" rtlCol="0"/>
            <a:lstStyle/>
            <a:p>
              <a:endParaRPr/>
            </a:p>
          </p:txBody>
        </p:sp>
        <p:sp>
          <p:nvSpPr>
            <p:cNvPr id="5" name="object 5"/>
            <p:cNvSpPr/>
            <p:nvPr/>
          </p:nvSpPr>
          <p:spPr>
            <a:xfrm>
              <a:off x="380999" y="1228724"/>
              <a:ext cx="38100" cy="942975"/>
            </a:xfrm>
            <a:custGeom>
              <a:avLst/>
              <a:gdLst/>
              <a:ahLst/>
              <a:cxnLst/>
              <a:rect l="l" t="t" r="r" b="b"/>
              <a:pathLst>
                <a:path w="38100" h="942975">
                  <a:moveTo>
                    <a:pt x="38099" y="942974"/>
                  </a:moveTo>
                  <a:lnTo>
                    <a:pt x="0" y="942974"/>
                  </a:lnTo>
                  <a:lnTo>
                    <a:pt x="0" y="0"/>
                  </a:lnTo>
                  <a:lnTo>
                    <a:pt x="38099" y="0"/>
                  </a:lnTo>
                  <a:lnTo>
                    <a:pt x="38099" y="942974"/>
                  </a:lnTo>
                  <a:close/>
                </a:path>
              </a:pathLst>
            </a:custGeom>
            <a:solidFill>
              <a:srgbClr val="1D40AF"/>
            </a:solidFill>
          </p:spPr>
          <p:txBody>
            <a:bodyPr wrap="square" lIns="0" tIns="0" rIns="0" bIns="0" rtlCol="0"/>
            <a:lstStyle/>
            <a:p>
              <a:endParaRPr/>
            </a:p>
          </p:txBody>
        </p:sp>
        <p:pic>
          <p:nvPicPr>
            <p:cNvPr id="6" name="object 6"/>
            <p:cNvPicPr/>
            <p:nvPr/>
          </p:nvPicPr>
          <p:blipFill>
            <a:blip r:embed="rId3" cstate="print"/>
            <a:stretch>
              <a:fillRect/>
            </a:stretch>
          </p:blipFill>
          <p:spPr>
            <a:xfrm>
              <a:off x="571499" y="1381124"/>
              <a:ext cx="190500" cy="190499"/>
            </a:xfrm>
            <a:prstGeom prst="rect">
              <a:avLst/>
            </a:prstGeom>
          </p:spPr>
        </p:pic>
      </p:grpSp>
      <p:sp>
        <p:nvSpPr>
          <p:cNvPr id="7" name="object 7"/>
          <p:cNvSpPr txBox="1"/>
          <p:nvPr/>
        </p:nvSpPr>
        <p:spPr>
          <a:xfrm>
            <a:off x="558800" y="1358900"/>
            <a:ext cx="3938904" cy="651510"/>
          </a:xfrm>
          <a:prstGeom prst="rect">
            <a:avLst/>
          </a:prstGeom>
        </p:spPr>
        <p:txBody>
          <a:bodyPr vert="horz" wrap="square" lIns="0" tIns="12700" rIns="0" bIns="0" rtlCol="0">
            <a:spAutoFit/>
          </a:bodyPr>
          <a:lstStyle/>
          <a:p>
            <a:pPr marL="278765">
              <a:lnSpc>
                <a:spcPct val="100000"/>
              </a:lnSpc>
              <a:spcBef>
                <a:spcPts val="100"/>
              </a:spcBef>
            </a:pPr>
            <a:r>
              <a:rPr sz="1050" spc="-10">
                <a:solidFill>
                  <a:srgbClr val="111726"/>
                </a:solidFill>
                <a:latin typeface="宋体"/>
                <a:cs typeface="宋体"/>
              </a:rPr>
              <a:t>基准实验设定</a:t>
            </a:r>
            <a:endParaRPr sz="1050">
              <a:latin typeface="宋体"/>
              <a:cs typeface="宋体"/>
            </a:endParaRPr>
          </a:p>
          <a:p>
            <a:pPr marL="12700" marR="5080">
              <a:lnSpc>
                <a:spcPct val="123000"/>
              </a:lnSpc>
              <a:spcBef>
                <a:spcPts val="625"/>
              </a:spcBef>
            </a:pPr>
            <a:r>
              <a:rPr sz="1000" spc="-100">
                <a:solidFill>
                  <a:srgbClr val="4A5462"/>
                </a:solidFill>
                <a:latin typeface="宋体"/>
                <a:cs typeface="宋体"/>
              </a:rPr>
              <a:t>选择具有强多变量依赖和强异质性的交通网、电网公开数据集（</a:t>
            </a:r>
            <a:r>
              <a:rPr sz="1000" spc="-175">
                <a:solidFill>
                  <a:srgbClr val="4A5462"/>
                </a:solidFill>
                <a:latin typeface="宋体"/>
                <a:cs typeface="宋体"/>
              </a:rPr>
              <a:t>如 </a:t>
            </a:r>
            <a:r>
              <a:rPr sz="950" b="1" spc="-20">
                <a:solidFill>
                  <a:srgbClr val="4A5462"/>
                </a:solidFill>
                <a:latin typeface="Arial"/>
                <a:cs typeface="Arial"/>
              </a:rPr>
              <a:t>METR</a:t>
            </a:r>
            <a:r>
              <a:rPr sz="1050" b="1" spc="-20">
                <a:solidFill>
                  <a:srgbClr val="4A5462"/>
                </a:solidFill>
                <a:latin typeface="Arial"/>
                <a:cs typeface="Arial"/>
              </a:rPr>
              <a:t>-</a:t>
            </a:r>
            <a:r>
              <a:rPr sz="950" b="1" spc="-30">
                <a:solidFill>
                  <a:srgbClr val="4A5462"/>
                </a:solidFill>
                <a:latin typeface="Arial"/>
                <a:cs typeface="Arial"/>
              </a:rPr>
              <a:t>LA</a:t>
            </a:r>
            <a:r>
              <a:rPr sz="1050" b="1" spc="-30">
                <a:solidFill>
                  <a:srgbClr val="4A5462"/>
                </a:solidFill>
                <a:latin typeface="Arial"/>
                <a:cs typeface="Arial"/>
              </a:rPr>
              <a:t>, </a:t>
            </a:r>
            <a:r>
              <a:rPr sz="950" b="1" spc="-50">
                <a:solidFill>
                  <a:srgbClr val="4A5462"/>
                </a:solidFill>
                <a:latin typeface="Arial"/>
                <a:cs typeface="Arial"/>
              </a:rPr>
              <a:t>PEMS</a:t>
            </a:r>
            <a:r>
              <a:rPr sz="1000" b="1" spc="-100">
                <a:solidFill>
                  <a:srgbClr val="4A5462"/>
                </a:solidFill>
                <a:latin typeface="微软雅黑"/>
                <a:cs typeface="微软雅黑"/>
              </a:rPr>
              <a:t>系列</a:t>
            </a:r>
            <a:r>
              <a:rPr sz="1000" spc="-100">
                <a:solidFill>
                  <a:srgbClr val="4A5462"/>
                </a:solidFill>
                <a:latin typeface="宋体"/>
                <a:cs typeface="宋体"/>
              </a:rPr>
              <a:t>）作为量化压力评测指标。</a:t>
            </a:r>
            <a:endParaRPr sz="1000">
              <a:latin typeface="宋体"/>
              <a:cs typeface="宋体"/>
            </a:endParaRPr>
          </a:p>
        </p:txBody>
      </p:sp>
      <p:grpSp>
        <p:nvGrpSpPr>
          <p:cNvPr id="8" name="object 8"/>
          <p:cNvGrpSpPr/>
          <p:nvPr/>
        </p:nvGrpSpPr>
        <p:grpSpPr>
          <a:xfrm>
            <a:off x="380999" y="3162299"/>
            <a:ext cx="4438650" cy="1381125"/>
            <a:chOff x="380999" y="3162299"/>
            <a:chExt cx="4438650" cy="1381125"/>
          </a:xfrm>
        </p:grpSpPr>
        <p:sp>
          <p:nvSpPr>
            <p:cNvPr id="9" name="object 9"/>
            <p:cNvSpPr/>
            <p:nvPr/>
          </p:nvSpPr>
          <p:spPr>
            <a:xfrm>
              <a:off x="400049" y="3162299"/>
              <a:ext cx="4419600" cy="1381125"/>
            </a:xfrm>
            <a:custGeom>
              <a:avLst/>
              <a:gdLst/>
              <a:ahLst/>
              <a:cxnLst/>
              <a:rect l="l" t="t" r="r" b="b"/>
              <a:pathLst>
                <a:path w="4419600" h="1381125">
                  <a:moveTo>
                    <a:pt x="4348403" y="1381124"/>
                  </a:moveTo>
                  <a:lnTo>
                    <a:pt x="0" y="1381124"/>
                  </a:lnTo>
                  <a:lnTo>
                    <a:pt x="0" y="0"/>
                  </a:lnTo>
                  <a:lnTo>
                    <a:pt x="4348403" y="0"/>
                  </a:lnTo>
                  <a:lnTo>
                    <a:pt x="4353358" y="488"/>
                  </a:lnTo>
                  <a:lnTo>
                    <a:pt x="4389893" y="15621"/>
                  </a:lnTo>
                  <a:lnTo>
                    <a:pt x="4415713" y="51661"/>
                  </a:lnTo>
                  <a:lnTo>
                    <a:pt x="4419599" y="71196"/>
                  </a:lnTo>
                  <a:lnTo>
                    <a:pt x="4419599" y="1309928"/>
                  </a:lnTo>
                  <a:lnTo>
                    <a:pt x="4403977" y="1351418"/>
                  </a:lnTo>
                  <a:lnTo>
                    <a:pt x="4367937" y="1377238"/>
                  </a:lnTo>
                  <a:lnTo>
                    <a:pt x="4348403" y="1381124"/>
                  </a:lnTo>
                  <a:close/>
                </a:path>
              </a:pathLst>
            </a:custGeom>
            <a:solidFill>
              <a:srgbClr val="F9FAFA"/>
            </a:solidFill>
          </p:spPr>
          <p:txBody>
            <a:bodyPr wrap="square" lIns="0" tIns="0" rIns="0" bIns="0" rtlCol="0"/>
            <a:lstStyle/>
            <a:p>
              <a:endParaRPr/>
            </a:p>
          </p:txBody>
        </p:sp>
        <p:sp>
          <p:nvSpPr>
            <p:cNvPr id="10" name="object 10"/>
            <p:cNvSpPr/>
            <p:nvPr/>
          </p:nvSpPr>
          <p:spPr>
            <a:xfrm>
              <a:off x="380999" y="3162299"/>
              <a:ext cx="38100" cy="1381125"/>
            </a:xfrm>
            <a:custGeom>
              <a:avLst/>
              <a:gdLst/>
              <a:ahLst/>
              <a:cxnLst/>
              <a:rect l="l" t="t" r="r" b="b"/>
              <a:pathLst>
                <a:path w="38100" h="1381125">
                  <a:moveTo>
                    <a:pt x="38099" y="1381124"/>
                  </a:moveTo>
                  <a:lnTo>
                    <a:pt x="0" y="1381124"/>
                  </a:lnTo>
                  <a:lnTo>
                    <a:pt x="0" y="0"/>
                  </a:lnTo>
                  <a:lnTo>
                    <a:pt x="38099" y="0"/>
                  </a:lnTo>
                  <a:lnTo>
                    <a:pt x="38099" y="1381124"/>
                  </a:lnTo>
                  <a:close/>
                </a:path>
              </a:pathLst>
            </a:custGeom>
            <a:solidFill>
              <a:srgbClr val="D97705"/>
            </a:solidFill>
          </p:spPr>
          <p:txBody>
            <a:bodyPr wrap="square" lIns="0" tIns="0" rIns="0" bIns="0" rtlCol="0"/>
            <a:lstStyle/>
            <a:p>
              <a:endParaRPr/>
            </a:p>
          </p:txBody>
        </p:sp>
        <p:pic>
          <p:nvPicPr>
            <p:cNvPr id="11" name="object 11"/>
            <p:cNvPicPr/>
            <p:nvPr/>
          </p:nvPicPr>
          <p:blipFill>
            <a:blip r:embed="rId4" cstate="print"/>
            <a:stretch>
              <a:fillRect/>
            </a:stretch>
          </p:blipFill>
          <p:spPr>
            <a:xfrm>
              <a:off x="571499" y="3314699"/>
              <a:ext cx="190500" cy="190499"/>
            </a:xfrm>
            <a:prstGeom prst="rect">
              <a:avLst/>
            </a:prstGeom>
          </p:spPr>
        </p:pic>
      </p:grpSp>
      <p:sp>
        <p:nvSpPr>
          <p:cNvPr id="12" name="object 12"/>
          <p:cNvSpPr txBox="1"/>
          <p:nvPr/>
        </p:nvSpPr>
        <p:spPr>
          <a:xfrm>
            <a:off x="558800" y="3292475"/>
            <a:ext cx="4039870" cy="641985"/>
          </a:xfrm>
          <a:prstGeom prst="rect">
            <a:avLst/>
          </a:prstGeom>
        </p:spPr>
        <p:txBody>
          <a:bodyPr vert="horz" wrap="square" lIns="0" tIns="12700" rIns="0" bIns="0" rtlCol="0">
            <a:spAutoFit/>
          </a:bodyPr>
          <a:lstStyle/>
          <a:p>
            <a:pPr marL="278765">
              <a:lnSpc>
                <a:spcPct val="100000"/>
              </a:lnSpc>
              <a:spcBef>
                <a:spcPts val="100"/>
              </a:spcBef>
            </a:pPr>
            <a:r>
              <a:rPr sz="1050" spc="-10">
                <a:solidFill>
                  <a:srgbClr val="111726"/>
                </a:solidFill>
                <a:latin typeface="宋体"/>
                <a:cs typeface="宋体"/>
              </a:rPr>
              <a:t>核心量化对比结论</a:t>
            </a:r>
            <a:endParaRPr sz="1050">
              <a:latin typeface="宋体"/>
              <a:cs typeface="宋体"/>
            </a:endParaRPr>
          </a:p>
          <a:p>
            <a:pPr marL="12700" marR="5080">
              <a:lnSpc>
                <a:spcPct val="117100"/>
              </a:lnSpc>
              <a:spcBef>
                <a:spcPts val="700"/>
              </a:spcBef>
            </a:pPr>
            <a:r>
              <a:rPr sz="1000" spc="-125">
                <a:solidFill>
                  <a:srgbClr val="4A5462"/>
                </a:solidFill>
                <a:latin typeface="宋体"/>
                <a:cs typeface="宋体"/>
              </a:rPr>
              <a:t>相比于传统 </a:t>
            </a:r>
            <a:r>
              <a:rPr sz="1000" spc="-50">
                <a:solidFill>
                  <a:srgbClr val="4A5462"/>
                </a:solidFill>
                <a:latin typeface="Microsoft Sans Serif"/>
                <a:cs typeface="Microsoft Sans Serif"/>
              </a:rPr>
              <a:t>CI</a:t>
            </a:r>
            <a:r>
              <a:rPr sz="1000" spc="-25">
                <a:solidFill>
                  <a:srgbClr val="4A5462"/>
                </a:solidFill>
                <a:latin typeface="Microsoft Sans Serif"/>
                <a:cs typeface="Microsoft Sans Serif"/>
              </a:rPr>
              <a:t> </a:t>
            </a:r>
            <a:r>
              <a:rPr sz="1000" spc="-170">
                <a:solidFill>
                  <a:srgbClr val="4A5462"/>
                </a:solidFill>
                <a:latin typeface="宋体"/>
                <a:cs typeface="宋体"/>
              </a:rPr>
              <a:t>与 </a:t>
            </a:r>
            <a:r>
              <a:rPr sz="1000" spc="-70">
                <a:solidFill>
                  <a:srgbClr val="4A5462"/>
                </a:solidFill>
                <a:latin typeface="Microsoft Sans Serif"/>
                <a:cs typeface="Microsoft Sans Serif"/>
              </a:rPr>
              <a:t>CD</a:t>
            </a:r>
            <a:r>
              <a:rPr sz="1000" spc="20">
                <a:solidFill>
                  <a:srgbClr val="4A5462"/>
                </a:solidFill>
                <a:latin typeface="Microsoft Sans Serif"/>
                <a:cs typeface="Microsoft Sans Serif"/>
              </a:rPr>
              <a:t> </a:t>
            </a:r>
            <a:r>
              <a:rPr sz="1000" spc="-85">
                <a:solidFill>
                  <a:srgbClr val="4A5462"/>
                </a:solidFill>
                <a:latin typeface="Microsoft Sans Serif"/>
                <a:cs typeface="Microsoft Sans Serif"/>
              </a:rPr>
              <a:t>SOTA</a:t>
            </a:r>
            <a:r>
              <a:rPr sz="1000" spc="-30">
                <a:solidFill>
                  <a:srgbClr val="4A5462"/>
                </a:solidFill>
                <a:latin typeface="Microsoft Sans Serif"/>
                <a:cs typeface="Microsoft Sans Serif"/>
              </a:rPr>
              <a:t> </a:t>
            </a:r>
            <a:r>
              <a:rPr sz="1000" spc="-100">
                <a:solidFill>
                  <a:srgbClr val="4A5462"/>
                </a:solidFill>
                <a:latin typeface="宋体"/>
                <a:cs typeface="宋体"/>
              </a:rPr>
              <a:t>基线</a:t>
            </a:r>
            <a:r>
              <a:rPr sz="1000" spc="-45">
                <a:solidFill>
                  <a:srgbClr val="4A5462"/>
                </a:solidFill>
                <a:latin typeface="宋体"/>
                <a:cs typeface="宋体"/>
              </a:rPr>
              <a:t>（</a:t>
            </a:r>
            <a:r>
              <a:rPr sz="1000" spc="-45">
                <a:solidFill>
                  <a:srgbClr val="4A5462"/>
                </a:solidFill>
                <a:latin typeface="Microsoft Sans Serif"/>
                <a:cs typeface="Microsoft Sans Serif"/>
              </a:rPr>
              <a:t>Dlinear</a:t>
            </a:r>
            <a:r>
              <a:rPr sz="1050" spc="-50">
                <a:solidFill>
                  <a:srgbClr val="4A5462"/>
                </a:solidFill>
                <a:latin typeface="Javanese Text"/>
                <a:cs typeface="Javanese Text"/>
              </a:rPr>
              <a:t>, </a:t>
            </a:r>
            <a:r>
              <a:rPr sz="1000" spc="-45">
                <a:solidFill>
                  <a:srgbClr val="4A5462"/>
                </a:solidFill>
                <a:latin typeface="Microsoft Sans Serif"/>
                <a:cs typeface="Microsoft Sans Serif"/>
              </a:rPr>
              <a:t>PatchTST</a:t>
            </a:r>
            <a:r>
              <a:rPr sz="1050" spc="-50">
                <a:solidFill>
                  <a:srgbClr val="4A5462"/>
                </a:solidFill>
                <a:latin typeface="Javanese Text"/>
                <a:cs typeface="Javanese Text"/>
              </a:rPr>
              <a:t>, </a:t>
            </a:r>
            <a:r>
              <a:rPr sz="1000" spc="-30">
                <a:solidFill>
                  <a:srgbClr val="4A5462"/>
                </a:solidFill>
                <a:latin typeface="Microsoft Sans Serif"/>
                <a:cs typeface="Microsoft Sans Serif"/>
              </a:rPr>
              <a:t>Informer</a:t>
            </a:r>
            <a:r>
              <a:rPr sz="1050" spc="-45">
                <a:solidFill>
                  <a:srgbClr val="4A5462"/>
                </a:solidFill>
                <a:latin typeface="Javanese Text"/>
                <a:cs typeface="Javanese Text"/>
              </a:rPr>
              <a:t>, </a:t>
            </a:r>
            <a:r>
              <a:rPr sz="1000" spc="-10">
                <a:solidFill>
                  <a:srgbClr val="4A5462"/>
                </a:solidFill>
                <a:latin typeface="Microsoft Sans Serif"/>
                <a:cs typeface="Microsoft Sans Serif"/>
              </a:rPr>
              <a:t>Crossformer</a:t>
            </a:r>
            <a:r>
              <a:rPr sz="1050" spc="-10">
                <a:solidFill>
                  <a:srgbClr val="4A5462"/>
                </a:solidFill>
                <a:latin typeface="Javanese Text"/>
                <a:cs typeface="Javanese Text"/>
              </a:rPr>
              <a:t>, </a:t>
            </a:r>
            <a:r>
              <a:rPr sz="1000" spc="-30">
                <a:solidFill>
                  <a:srgbClr val="4A5462"/>
                </a:solidFill>
                <a:latin typeface="Microsoft Sans Serif"/>
                <a:cs typeface="Microsoft Sans Serif"/>
              </a:rPr>
              <a:t>i</a:t>
            </a:r>
            <a:r>
              <a:rPr sz="1000" spc="-100">
                <a:solidFill>
                  <a:srgbClr val="4A5462"/>
                </a:solidFill>
                <a:latin typeface="Microsoft Sans Serif"/>
                <a:cs typeface="Microsoft Sans Serif"/>
              </a:rPr>
              <a:t>T</a:t>
            </a:r>
            <a:r>
              <a:rPr sz="1000">
                <a:solidFill>
                  <a:srgbClr val="4A5462"/>
                </a:solidFill>
                <a:latin typeface="Microsoft Sans Serif"/>
                <a:cs typeface="Microsoft Sans Serif"/>
              </a:rPr>
              <a:t>r</a:t>
            </a:r>
            <a:r>
              <a:rPr sz="1000" spc="-20">
                <a:solidFill>
                  <a:srgbClr val="4A5462"/>
                </a:solidFill>
                <a:latin typeface="Microsoft Sans Serif"/>
                <a:cs typeface="Microsoft Sans Serif"/>
              </a:rPr>
              <a:t>a</a:t>
            </a:r>
            <a:r>
              <a:rPr sz="1000" spc="-50">
                <a:solidFill>
                  <a:srgbClr val="4A5462"/>
                </a:solidFill>
                <a:latin typeface="Microsoft Sans Serif"/>
                <a:cs typeface="Microsoft Sans Serif"/>
              </a:rPr>
              <a:t>n</a:t>
            </a:r>
            <a:r>
              <a:rPr sz="1000" spc="-65">
                <a:solidFill>
                  <a:srgbClr val="4A5462"/>
                </a:solidFill>
                <a:latin typeface="Microsoft Sans Serif"/>
                <a:cs typeface="Microsoft Sans Serif"/>
              </a:rPr>
              <a:t>sf</a:t>
            </a:r>
            <a:r>
              <a:rPr sz="1000" spc="-55">
                <a:solidFill>
                  <a:srgbClr val="4A5462"/>
                </a:solidFill>
                <a:latin typeface="Microsoft Sans Serif"/>
                <a:cs typeface="Microsoft Sans Serif"/>
              </a:rPr>
              <a:t>o</a:t>
            </a:r>
            <a:r>
              <a:rPr sz="1000">
                <a:solidFill>
                  <a:srgbClr val="4A5462"/>
                </a:solidFill>
                <a:latin typeface="Microsoft Sans Serif"/>
                <a:cs typeface="Microsoft Sans Serif"/>
              </a:rPr>
              <a:t>rm</a:t>
            </a:r>
            <a:r>
              <a:rPr sz="1000" spc="-35">
                <a:solidFill>
                  <a:srgbClr val="4A5462"/>
                </a:solidFill>
                <a:latin typeface="Microsoft Sans Serif"/>
                <a:cs typeface="Microsoft Sans Serif"/>
              </a:rPr>
              <a:t>e</a:t>
            </a:r>
            <a:r>
              <a:rPr sz="1000">
                <a:solidFill>
                  <a:srgbClr val="4A5462"/>
                </a:solidFill>
                <a:latin typeface="Microsoft Sans Serif"/>
                <a:cs typeface="Microsoft Sans Serif"/>
              </a:rPr>
              <a:t>r</a:t>
            </a:r>
            <a:r>
              <a:rPr sz="1000" spc="-535">
                <a:solidFill>
                  <a:srgbClr val="4A5462"/>
                </a:solidFill>
                <a:latin typeface="宋体"/>
                <a:cs typeface="宋体"/>
              </a:rPr>
              <a:t>）</a:t>
            </a:r>
            <a:r>
              <a:rPr sz="1000" spc="-35">
                <a:solidFill>
                  <a:srgbClr val="4A5462"/>
                </a:solidFill>
                <a:latin typeface="宋体"/>
                <a:cs typeface="宋体"/>
              </a:rPr>
              <a:t>，</a:t>
            </a:r>
            <a:r>
              <a:rPr sz="950" b="1" spc="-25">
                <a:solidFill>
                  <a:srgbClr val="1D40AF"/>
                </a:solidFill>
                <a:latin typeface="Arial"/>
                <a:cs typeface="Arial"/>
              </a:rPr>
              <a:t>C</a:t>
            </a:r>
            <a:r>
              <a:rPr sz="950" b="1" spc="-20">
                <a:solidFill>
                  <a:srgbClr val="1D40AF"/>
                </a:solidFill>
                <a:latin typeface="Arial"/>
                <a:cs typeface="Arial"/>
              </a:rPr>
              <a:t>P</a:t>
            </a:r>
            <a:r>
              <a:rPr sz="950" b="1" spc="-65">
                <a:solidFill>
                  <a:srgbClr val="1D40AF"/>
                </a:solidFill>
                <a:latin typeface="Arial"/>
                <a:cs typeface="Arial"/>
              </a:rPr>
              <a:t>I</a:t>
            </a:r>
            <a:r>
              <a:rPr sz="950" b="1" spc="-25">
                <a:solidFill>
                  <a:srgbClr val="1D40AF"/>
                </a:solidFill>
                <a:latin typeface="Arial"/>
                <a:cs typeface="Arial"/>
              </a:rPr>
              <a:t>R</a:t>
            </a:r>
            <a:r>
              <a:rPr sz="950" b="1" spc="-35">
                <a:solidFill>
                  <a:srgbClr val="1D40AF"/>
                </a:solidFill>
                <a:latin typeface="Arial"/>
                <a:cs typeface="Arial"/>
              </a:rPr>
              <a:t>I</a:t>
            </a:r>
            <a:r>
              <a:rPr sz="950" b="1" spc="-25">
                <a:solidFill>
                  <a:srgbClr val="1D40AF"/>
                </a:solidFill>
                <a:latin typeface="Arial"/>
                <a:cs typeface="Arial"/>
              </a:rPr>
              <a:t> </a:t>
            </a:r>
            <a:r>
              <a:rPr sz="1000" spc="-114">
                <a:solidFill>
                  <a:srgbClr val="4A5462"/>
                </a:solidFill>
                <a:latin typeface="宋体"/>
                <a:cs typeface="宋体"/>
              </a:rPr>
              <a:t>在多数指标上取得 </a:t>
            </a:r>
            <a:r>
              <a:rPr sz="1000" b="1" spc="-95">
                <a:solidFill>
                  <a:srgbClr val="4A5462"/>
                </a:solidFill>
                <a:latin typeface="微软雅黑"/>
                <a:cs typeface="微软雅黑"/>
              </a:rPr>
              <a:t>第一或并列第一 </a:t>
            </a:r>
            <a:r>
              <a:rPr sz="1000" spc="-95">
                <a:solidFill>
                  <a:srgbClr val="4A5462"/>
                </a:solidFill>
                <a:latin typeface="宋体"/>
                <a:cs typeface="宋体"/>
              </a:rPr>
              <a:t>的优秀表现。</a:t>
            </a:r>
            <a:endParaRPr sz="1000">
              <a:latin typeface="宋体"/>
              <a:cs typeface="宋体"/>
            </a:endParaRPr>
          </a:p>
        </p:txBody>
      </p:sp>
      <p:grpSp>
        <p:nvGrpSpPr>
          <p:cNvPr id="13" name="object 13"/>
          <p:cNvGrpSpPr/>
          <p:nvPr/>
        </p:nvGrpSpPr>
        <p:grpSpPr>
          <a:xfrm>
            <a:off x="571499" y="4067174"/>
            <a:ext cx="4095750" cy="323850"/>
            <a:chOff x="571499" y="4067174"/>
            <a:chExt cx="4095750" cy="323850"/>
          </a:xfrm>
        </p:grpSpPr>
        <p:sp>
          <p:nvSpPr>
            <p:cNvPr id="14" name="object 14"/>
            <p:cNvSpPr/>
            <p:nvPr/>
          </p:nvSpPr>
          <p:spPr>
            <a:xfrm>
              <a:off x="576262" y="4071937"/>
              <a:ext cx="4086225" cy="314325"/>
            </a:xfrm>
            <a:custGeom>
              <a:avLst/>
              <a:gdLst/>
              <a:ahLst/>
              <a:cxnLst/>
              <a:rect l="l" t="t" r="r" b="b"/>
              <a:pathLst>
                <a:path w="4086225" h="314325">
                  <a:moveTo>
                    <a:pt x="4057307" y="314324"/>
                  </a:moveTo>
                  <a:lnTo>
                    <a:pt x="28916" y="314324"/>
                  </a:lnTo>
                  <a:lnTo>
                    <a:pt x="24664" y="313478"/>
                  </a:lnTo>
                  <a:lnTo>
                    <a:pt x="0" y="285407"/>
                  </a:lnTo>
                  <a:lnTo>
                    <a:pt x="0" y="280987"/>
                  </a:lnTo>
                  <a:lnTo>
                    <a:pt x="0" y="28916"/>
                  </a:lnTo>
                  <a:lnTo>
                    <a:pt x="28916" y="0"/>
                  </a:lnTo>
                  <a:lnTo>
                    <a:pt x="4057307" y="0"/>
                  </a:lnTo>
                  <a:lnTo>
                    <a:pt x="4086224" y="28916"/>
                  </a:lnTo>
                  <a:lnTo>
                    <a:pt x="4086224" y="285407"/>
                  </a:lnTo>
                  <a:lnTo>
                    <a:pt x="4061560" y="313478"/>
                  </a:lnTo>
                  <a:lnTo>
                    <a:pt x="4057307" y="314324"/>
                  </a:lnTo>
                  <a:close/>
                </a:path>
              </a:pathLst>
            </a:custGeom>
            <a:solidFill>
              <a:srgbClr val="FFFAEB"/>
            </a:solidFill>
          </p:spPr>
          <p:txBody>
            <a:bodyPr wrap="square" lIns="0" tIns="0" rIns="0" bIns="0" rtlCol="0"/>
            <a:lstStyle/>
            <a:p>
              <a:endParaRPr/>
            </a:p>
          </p:txBody>
        </p:sp>
        <p:sp>
          <p:nvSpPr>
            <p:cNvPr id="15" name="object 15"/>
            <p:cNvSpPr/>
            <p:nvPr/>
          </p:nvSpPr>
          <p:spPr>
            <a:xfrm>
              <a:off x="576262" y="4071937"/>
              <a:ext cx="4086225" cy="314325"/>
            </a:xfrm>
            <a:custGeom>
              <a:avLst/>
              <a:gdLst/>
              <a:ahLst/>
              <a:cxnLst/>
              <a:rect l="l" t="t" r="r" b="b"/>
              <a:pathLst>
                <a:path w="4086225" h="314325">
                  <a:moveTo>
                    <a:pt x="0" y="280987"/>
                  </a:moveTo>
                  <a:lnTo>
                    <a:pt x="0" y="33337"/>
                  </a:lnTo>
                  <a:lnTo>
                    <a:pt x="0" y="28916"/>
                  </a:lnTo>
                  <a:lnTo>
                    <a:pt x="845" y="24663"/>
                  </a:lnTo>
                  <a:lnTo>
                    <a:pt x="2537" y="20579"/>
                  </a:lnTo>
                  <a:lnTo>
                    <a:pt x="4229" y="16494"/>
                  </a:lnTo>
                  <a:lnTo>
                    <a:pt x="6638" y="12889"/>
                  </a:lnTo>
                  <a:lnTo>
                    <a:pt x="9764" y="9763"/>
                  </a:lnTo>
                  <a:lnTo>
                    <a:pt x="12890" y="6637"/>
                  </a:lnTo>
                  <a:lnTo>
                    <a:pt x="16495" y="4228"/>
                  </a:lnTo>
                  <a:lnTo>
                    <a:pt x="20579" y="2537"/>
                  </a:lnTo>
                  <a:lnTo>
                    <a:pt x="24664" y="845"/>
                  </a:lnTo>
                  <a:lnTo>
                    <a:pt x="28916" y="0"/>
                  </a:lnTo>
                  <a:lnTo>
                    <a:pt x="33337" y="0"/>
                  </a:lnTo>
                  <a:lnTo>
                    <a:pt x="4052887" y="0"/>
                  </a:lnTo>
                  <a:lnTo>
                    <a:pt x="4057307" y="0"/>
                  </a:lnTo>
                  <a:lnTo>
                    <a:pt x="4061560" y="845"/>
                  </a:lnTo>
                  <a:lnTo>
                    <a:pt x="4065644" y="2537"/>
                  </a:lnTo>
                  <a:lnTo>
                    <a:pt x="4069728" y="4228"/>
                  </a:lnTo>
                  <a:lnTo>
                    <a:pt x="4073333" y="6637"/>
                  </a:lnTo>
                  <a:lnTo>
                    <a:pt x="4076459" y="9763"/>
                  </a:lnTo>
                  <a:lnTo>
                    <a:pt x="4079585" y="12889"/>
                  </a:lnTo>
                  <a:lnTo>
                    <a:pt x="4086224" y="33337"/>
                  </a:lnTo>
                  <a:lnTo>
                    <a:pt x="4086224" y="280987"/>
                  </a:lnTo>
                  <a:lnTo>
                    <a:pt x="4086224" y="285407"/>
                  </a:lnTo>
                  <a:lnTo>
                    <a:pt x="4085378" y="289660"/>
                  </a:lnTo>
                  <a:lnTo>
                    <a:pt x="4083686" y="293744"/>
                  </a:lnTo>
                  <a:lnTo>
                    <a:pt x="4081994" y="297828"/>
                  </a:lnTo>
                  <a:lnTo>
                    <a:pt x="4052887" y="314324"/>
                  </a:lnTo>
                  <a:lnTo>
                    <a:pt x="33337" y="314324"/>
                  </a:lnTo>
                  <a:lnTo>
                    <a:pt x="2537" y="293744"/>
                  </a:lnTo>
                  <a:lnTo>
                    <a:pt x="845" y="289660"/>
                  </a:lnTo>
                  <a:lnTo>
                    <a:pt x="0" y="285407"/>
                  </a:lnTo>
                  <a:lnTo>
                    <a:pt x="0" y="280987"/>
                  </a:lnTo>
                  <a:close/>
                </a:path>
              </a:pathLst>
            </a:custGeom>
            <a:ln w="9524">
              <a:solidFill>
                <a:srgbClr val="FEF2C7"/>
              </a:solidFill>
            </a:ln>
          </p:spPr>
          <p:txBody>
            <a:bodyPr wrap="square" lIns="0" tIns="0" rIns="0" bIns="0" rtlCol="0"/>
            <a:lstStyle/>
            <a:p>
              <a:endParaRPr/>
            </a:p>
          </p:txBody>
        </p:sp>
      </p:grpSp>
      <p:sp>
        <p:nvSpPr>
          <p:cNvPr id="16" name="object 16"/>
          <p:cNvSpPr txBox="1"/>
          <p:nvPr/>
        </p:nvSpPr>
        <p:spPr>
          <a:xfrm>
            <a:off x="644524" y="4140200"/>
            <a:ext cx="1173480" cy="151130"/>
          </a:xfrm>
          <a:prstGeom prst="rect">
            <a:avLst/>
          </a:prstGeom>
        </p:spPr>
        <p:txBody>
          <a:bodyPr vert="horz" wrap="square" lIns="0" tIns="15875" rIns="0" bIns="0" rtlCol="0">
            <a:spAutoFit/>
          </a:bodyPr>
          <a:lstStyle/>
          <a:p>
            <a:pPr marL="12700">
              <a:lnSpc>
                <a:spcPct val="100000"/>
              </a:lnSpc>
              <a:spcBef>
                <a:spcPts val="125"/>
              </a:spcBef>
            </a:pPr>
            <a:r>
              <a:rPr sz="800" spc="5">
                <a:solidFill>
                  <a:srgbClr val="91400D"/>
                </a:solidFill>
                <a:latin typeface="宋体"/>
                <a:cs typeface="宋体"/>
              </a:rPr>
              <a:t>超越单一范式 </a:t>
            </a:r>
            <a:r>
              <a:rPr sz="800" spc="-60">
                <a:solidFill>
                  <a:srgbClr val="91400D"/>
                </a:solidFill>
                <a:latin typeface="宋体"/>
                <a:cs typeface="宋体"/>
              </a:rPr>
              <a:t>(Timer-</a:t>
            </a:r>
            <a:r>
              <a:rPr sz="800" spc="-40">
                <a:solidFill>
                  <a:srgbClr val="91400D"/>
                </a:solidFill>
                <a:latin typeface="宋体"/>
                <a:cs typeface="宋体"/>
              </a:rPr>
              <a:t>XL):</a:t>
            </a:r>
            <a:endParaRPr sz="800">
              <a:latin typeface="宋体"/>
              <a:cs typeface="宋体"/>
            </a:endParaRPr>
          </a:p>
        </p:txBody>
      </p:sp>
      <p:sp>
        <p:nvSpPr>
          <p:cNvPr id="17" name="object 17"/>
          <p:cNvSpPr txBox="1"/>
          <p:nvPr/>
        </p:nvSpPr>
        <p:spPr>
          <a:xfrm>
            <a:off x="3353196" y="4130675"/>
            <a:ext cx="1237615" cy="162560"/>
          </a:xfrm>
          <a:prstGeom prst="rect">
            <a:avLst/>
          </a:prstGeom>
        </p:spPr>
        <p:txBody>
          <a:bodyPr vert="horz" wrap="square" lIns="0" tIns="12700" rIns="0" bIns="0" rtlCol="0">
            <a:spAutoFit/>
          </a:bodyPr>
          <a:lstStyle/>
          <a:p>
            <a:pPr marL="12700">
              <a:lnSpc>
                <a:spcPct val="100000"/>
              </a:lnSpc>
              <a:spcBef>
                <a:spcPts val="100"/>
              </a:spcBef>
            </a:pPr>
            <a:r>
              <a:rPr sz="900" b="1">
                <a:solidFill>
                  <a:srgbClr val="D97705"/>
                </a:solidFill>
                <a:latin typeface="Courier New"/>
                <a:cs typeface="Courier New"/>
              </a:rPr>
              <a:t>WAPE </a:t>
            </a:r>
            <a:r>
              <a:rPr sz="900" spc="15">
                <a:solidFill>
                  <a:srgbClr val="D97705"/>
                </a:solidFill>
                <a:latin typeface="宋体"/>
                <a:cs typeface="宋体"/>
              </a:rPr>
              <a:t>改善显著 </a:t>
            </a:r>
            <a:r>
              <a:rPr sz="900" b="1">
                <a:solidFill>
                  <a:srgbClr val="D97705"/>
                </a:solidFill>
                <a:latin typeface="Courier New"/>
                <a:cs typeface="Courier New"/>
              </a:rPr>
              <a:t>&gt; </a:t>
            </a:r>
            <a:r>
              <a:rPr sz="900" b="1" spc="-25">
                <a:solidFill>
                  <a:srgbClr val="D97705"/>
                </a:solidFill>
                <a:latin typeface="Courier New"/>
                <a:cs typeface="Courier New"/>
              </a:rPr>
              <a:t>12%</a:t>
            </a:r>
            <a:endParaRPr sz="900">
              <a:latin typeface="Courier New"/>
              <a:cs typeface="Courier New"/>
            </a:endParaRPr>
          </a:p>
        </p:txBody>
      </p:sp>
      <p:grpSp>
        <p:nvGrpSpPr>
          <p:cNvPr id="18" name="object 18"/>
          <p:cNvGrpSpPr/>
          <p:nvPr/>
        </p:nvGrpSpPr>
        <p:grpSpPr>
          <a:xfrm>
            <a:off x="380999" y="5534024"/>
            <a:ext cx="4438650" cy="942975"/>
            <a:chOff x="380999" y="5534024"/>
            <a:chExt cx="4438650" cy="942975"/>
          </a:xfrm>
        </p:grpSpPr>
        <p:sp>
          <p:nvSpPr>
            <p:cNvPr id="19" name="object 19"/>
            <p:cNvSpPr/>
            <p:nvPr/>
          </p:nvSpPr>
          <p:spPr>
            <a:xfrm>
              <a:off x="400049" y="5534024"/>
              <a:ext cx="4419600" cy="942975"/>
            </a:xfrm>
            <a:custGeom>
              <a:avLst/>
              <a:gdLst/>
              <a:ahLst/>
              <a:cxnLst/>
              <a:rect l="l" t="t" r="r" b="b"/>
              <a:pathLst>
                <a:path w="4419600" h="942975">
                  <a:moveTo>
                    <a:pt x="4348403" y="942974"/>
                  </a:moveTo>
                  <a:lnTo>
                    <a:pt x="0" y="942974"/>
                  </a:lnTo>
                  <a:lnTo>
                    <a:pt x="0" y="0"/>
                  </a:lnTo>
                  <a:lnTo>
                    <a:pt x="4348403" y="0"/>
                  </a:lnTo>
                  <a:lnTo>
                    <a:pt x="4353358" y="488"/>
                  </a:lnTo>
                  <a:lnTo>
                    <a:pt x="4389893" y="15621"/>
                  </a:lnTo>
                  <a:lnTo>
                    <a:pt x="4415713" y="51661"/>
                  </a:lnTo>
                  <a:lnTo>
                    <a:pt x="4419599" y="71196"/>
                  </a:lnTo>
                  <a:lnTo>
                    <a:pt x="4419599" y="871778"/>
                  </a:lnTo>
                  <a:lnTo>
                    <a:pt x="4403977" y="913269"/>
                  </a:lnTo>
                  <a:lnTo>
                    <a:pt x="4367937" y="939088"/>
                  </a:lnTo>
                  <a:lnTo>
                    <a:pt x="4348403" y="942974"/>
                  </a:lnTo>
                  <a:close/>
                </a:path>
              </a:pathLst>
            </a:custGeom>
            <a:solidFill>
              <a:srgbClr val="F9FAFA"/>
            </a:solidFill>
          </p:spPr>
          <p:txBody>
            <a:bodyPr wrap="square" lIns="0" tIns="0" rIns="0" bIns="0" rtlCol="0"/>
            <a:lstStyle/>
            <a:p>
              <a:endParaRPr/>
            </a:p>
          </p:txBody>
        </p:sp>
        <p:sp>
          <p:nvSpPr>
            <p:cNvPr id="20" name="object 20"/>
            <p:cNvSpPr/>
            <p:nvPr/>
          </p:nvSpPr>
          <p:spPr>
            <a:xfrm>
              <a:off x="380999" y="5534024"/>
              <a:ext cx="38100" cy="942975"/>
            </a:xfrm>
            <a:custGeom>
              <a:avLst/>
              <a:gdLst/>
              <a:ahLst/>
              <a:cxnLst/>
              <a:rect l="l" t="t" r="r" b="b"/>
              <a:pathLst>
                <a:path w="38100" h="942975">
                  <a:moveTo>
                    <a:pt x="38099" y="942974"/>
                  </a:moveTo>
                  <a:lnTo>
                    <a:pt x="0" y="942974"/>
                  </a:lnTo>
                  <a:lnTo>
                    <a:pt x="0" y="0"/>
                  </a:lnTo>
                  <a:lnTo>
                    <a:pt x="38099" y="0"/>
                  </a:lnTo>
                  <a:lnTo>
                    <a:pt x="38099" y="942974"/>
                  </a:lnTo>
                  <a:close/>
                </a:path>
              </a:pathLst>
            </a:custGeom>
            <a:solidFill>
              <a:srgbClr val="1D40AF"/>
            </a:solidFill>
          </p:spPr>
          <p:txBody>
            <a:bodyPr wrap="square" lIns="0" tIns="0" rIns="0" bIns="0" rtlCol="0"/>
            <a:lstStyle/>
            <a:p>
              <a:endParaRPr/>
            </a:p>
          </p:txBody>
        </p:sp>
        <p:pic>
          <p:nvPicPr>
            <p:cNvPr id="21" name="object 21"/>
            <p:cNvPicPr/>
            <p:nvPr/>
          </p:nvPicPr>
          <p:blipFill>
            <a:blip r:embed="rId5" cstate="print"/>
            <a:stretch>
              <a:fillRect/>
            </a:stretch>
          </p:blipFill>
          <p:spPr>
            <a:xfrm>
              <a:off x="571499" y="5686424"/>
              <a:ext cx="190500" cy="190499"/>
            </a:xfrm>
            <a:prstGeom prst="rect">
              <a:avLst/>
            </a:prstGeom>
          </p:spPr>
        </p:pic>
      </p:grpSp>
      <p:sp>
        <p:nvSpPr>
          <p:cNvPr id="22" name="object 22"/>
          <p:cNvSpPr txBox="1"/>
          <p:nvPr/>
        </p:nvSpPr>
        <p:spPr>
          <a:xfrm>
            <a:off x="558800" y="5664200"/>
            <a:ext cx="4006850" cy="651510"/>
          </a:xfrm>
          <a:prstGeom prst="rect">
            <a:avLst/>
          </a:prstGeom>
        </p:spPr>
        <p:txBody>
          <a:bodyPr vert="horz" wrap="square" lIns="0" tIns="12700" rIns="0" bIns="0" rtlCol="0">
            <a:spAutoFit/>
          </a:bodyPr>
          <a:lstStyle/>
          <a:p>
            <a:pPr marL="278765">
              <a:lnSpc>
                <a:spcPct val="100000"/>
              </a:lnSpc>
              <a:spcBef>
                <a:spcPts val="100"/>
              </a:spcBef>
            </a:pPr>
            <a:r>
              <a:rPr sz="1050" spc="-10">
                <a:solidFill>
                  <a:srgbClr val="111726"/>
                </a:solidFill>
                <a:latin typeface="宋体"/>
                <a:cs typeface="宋体"/>
              </a:rPr>
              <a:t>机制优越性反馈</a:t>
            </a:r>
            <a:endParaRPr sz="1050">
              <a:latin typeface="宋体"/>
              <a:cs typeface="宋体"/>
            </a:endParaRPr>
          </a:p>
          <a:p>
            <a:pPr marL="12700" marR="5080">
              <a:lnSpc>
                <a:spcPct val="123000"/>
              </a:lnSpc>
              <a:spcBef>
                <a:spcPts val="625"/>
              </a:spcBef>
            </a:pPr>
            <a:r>
              <a:rPr sz="1000" spc="-100">
                <a:solidFill>
                  <a:srgbClr val="4A5462"/>
                </a:solidFill>
                <a:latin typeface="宋体"/>
                <a:cs typeface="宋体"/>
              </a:rPr>
              <a:t>解耦架构并未因为舍弃绝对位置关联而牺牲精度，反而在</a:t>
            </a:r>
            <a:r>
              <a:rPr sz="1050" spc="-165">
                <a:solidFill>
                  <a:srgbClr val="4A5462"/>
                </a:solidFill>
                <a:latin typeface="Javanese Text"/>
                <a:cs typeface="Javanese Text"/>
              </a:rPr>
              <a:t>“</a:t>
            </a:r>
            <a:r>
              <a:rPr sz="1000" spc="-100">
                <a:solidFill>
                  <a:srgbClr val="4A5462"/>
                </a:solidFill>
                <a:latin typeface="宋体"/>
                <a:cs typeface="宋体"/>
              </a:rPr>
              <a:t>剥离冗余噪音权重</a:t>
            </a:r>
            <a:r>
              <a:rPr sz="1050" spc="-165">
                <a:solidFill>
                  <a:srgbClr val="4A5462"/>
                </a:solidFill>
                <a:latin typeface="Javanese Text"/>
                <a:cs typeface="Javanese Text"/>
              </a:rPr>
              <a:t>”</a:t>
            </a:r>
            <a:r>
              <a:rPr sz="1000" spc="-135">
                <a:solidFill>
                  <a:srgbClr val="4A5462"/>
                </a:solidFill>
                <a:latin typeface="宋体"/>
                <a:cs typeface="宋体"/>
              </a:rPr>
              <a:t>后</a:t>
            </a:r>
            <a:r>
              <a:rPr sz="1000" spc="-100">
                <a:solidFill>
                  <a:srgbClr val="4A5462"/>
                </a:solidFill>
                <a:latin typeface="宋体"/>
                <a:cs typeface="宋体"/>
              </a:rPr>
              <a:t>获得了更佳且收敛性更好的表征质量。</a:t>
            </a:r>
            <a:endParaRPr sz="1000">
              <a:latin typeface="宋体"/>
              <a:cs typeface="宋体"/>
            </a:endParaRPr>
          </a:p>
        </p:txBody>
      </p:sp>
      <p:grpSp>
        <p:nvGrpSpPr>
          <p:cNvPr id="23" name="object 23"/>
          <p:cNvGrpSpPr/>
          <p:nvPr/>
        </p:nvGrpSpPr>
        <p:grpSpPr>
          <a:xfrm>
            <a:off x="5048249" y="1228724"/>
            <a:ext cx="6762750" cy="5248275"/>
            <a:chOff x="5048249" y="1228724"/>
            <a:chExt cx="6762750" cy="5248275"/>
          </a:xfrm>
        </p:grpSpPr>
        <p:sp>
          <p:nvSpPr>
            <p:cNvPr id="24" name="object 24"/>
            <p:cNvSpPr/>
            <p:nvPr/>
          </p:nvSpPr>
          <p:spPr>
            <a:xfrm>
              <a:off x="5053012" y="1233487"/>
              <a:ext cx="6753225" cy="5238750"/>
            </a:xfrm>
            <a:custGeom>
              <a:avLst/>
              <a:gdLst/>
              <a:ahLst/>
              <a:cxnLst/>
              <a:rect l="l" t="t" r="r" b="b"/>
              <a:pathLst>
                <a:path w="6753225" h="5238750">
                  <a:moveTo>
                    <a:pt x="6650879" y="5238749"/>
                  </a:moveTo>
                  <a:lnTo>
                    <a:pt x="102345" y="5238749"/>
                  </a:lnTo>
                  <a:lnTo>
                    <a:pt x="95221" y="5238047"/>
                  </a:lnTo>
                  <a:lnTo>
                    <a:pt x="54661" y="5224284"/>
                  </a:lnTo>
                  <a:lnTo>
                    <a:pt x="22456" y="5196048"/>
                  </a:lnTo>
                  <a:lnTo>
                    <a:pt x="3507" y="5157635"/>
                  </a:lnTo>
                  <a:lnTo>
                    <a:pt x="0" y="5136404"/>
                  </a:lnTo>
                  <a:lnTo>
                    <a:pt x="0" y="5129212"/>
                  </a:lnTo>
                  <a:lnTo>
                    <a:pt x="0" y="102345"/>
                  </a:lnTo>
                  <a:lnTo>
                    <a:pt x="11090" y="60974"/>
                  </a:lnTo>
                  <a:lnTo>
                    <a:pt x="37168" y="26997"/>
                  </a:lnTo>
                  <a:lnTo>
                    <a:pt x="74264" y="5585"/>
                  </a:lnTo>
                  <a:lnTo>
                    <a:pt x="102345" y="0"/>
                  </a:lnTo>
                  <a:lnTo>
                    <a:pt x="6650879" y="0"/>
                  </a:lnTo>
                  <a:lnTo>
                    <a:pt x="6692249" y="11090"/>
                  </a:lnTo>
                  <a:lnTo>
                    <a:pt x="6726227" y="37168"/>
                  </a:lnTo>
                  <a:lnTo>
                    <a:pt x="6747637" y="74264"/>
                  </a:lnTo>
                  <a:lnTo>
                    <a:pt x="6753223" y="102345"/>
                  </a:lnTo>
                  <a:lnTo>
                    <a:pt x="6753223" y="5136404"/>
                  </a:lnTo>
                  <a:lnTo>
                    <a:pt x="6742132" y="5177774"/>
                  </a:lnTo>
                  <a:lnTo>
                    <a:pt x="6716055" y="5211751"/>
                  </a:lnTo>
                  <a:lnTo>
                    <a:pt x="6678959" y="5233163"/>
                  </a:lnTo>
                  <a:lnTo>
                    <a:pt x="6658001" y="5238047"/>
                  </a:lnTo>
                  <a:lnTo>
                    <a:pt x="6650879" y="5238749"/>
                  </a:lnTo>
                  <a:close/>
                </a:path>
              </a:pathLst>
            </a:custGeom>
            <a:solidFill>
              <a:srgbClr val="F9FAFA"/>
            </a:solidFill>
          </p:spPr>
          <p:txBody>
            <a:bodyPr wrap="square" lIns="0" tIns="0" rIns="0" bIns="0" rtlCol="0"/>
            <a:lstStyle/>
            <a:p>
              <a:endParaRPr/>
            </a:p>
          </p:txBody>
        </p:sp>
        <p:sp>
          <p:nvSpPr>
            <p:cNvPr id="25" name="object 25"/>
            <p:cNvSpPr/>
            <p:nvPr/>
          </p:nvSpPr>
          <p:spPr>
            <a:xfrm>
              <a:off x="5053012" y="1233487"/>
              <a:ext cx="6753225" cy="5238750"/>
            </a:xfrm>
            <a:custGeom>
              <a:avLst/>
              <a:gdLst/>
              <a:ahLst/>
              <a:cxnLst/>
              <a:rect l="l" t="t" r="r" b="b"/>
              <a:pathLst>
                <a:path w="6753225" h="5238750">
                  <a:moveTo>
                    <a:pt x="0" y="5129212"/>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6643686" y="0"/>
                  </a:lnTo>
                  <a:lnTo>
                    <a:pt x="6650879" y="0"/>
                  </a:lnTo>
                  <a:lnTo>
                    <a:pt x="6658001" y="701"/>
                  </a:lnTo>
                  <a:lnTo>
                    <a:pt x="6665056" y="2104"/>
                  </a:lnTo>
                  <a:lnTo>
                    <a:pt x="6672110" y="3507"/>
                  </a:lnTo>
                  <a:lnTo>
                    <a:pt x="6704542" y="18460"/>
                  </a:lnTo>
                  <a:lnTo>
                    <a:pt x="6710523" y="22456"/>
                  </a:lnTo>
                  <a:lnTo>
                    <a:pt x="6716055" y="26997"/>
                  </a:lnTo>
                  <a:lnTo>
                    <a:pt x="6721141" y="32082"/>
                  </a:lnTo>
                  <a:lnTo>
                    <a:pt x="6726227" y="37168"/>
                  </a:lnTo>
                  <a:lnTo>
                    <a:pt x="6747637" y="74264"/>
                  </a:lnTo>
                  <a:lnTo>
                    <a:pt x="6751118" y="88167"/>
                  </a:lnTo>
                  <a:lnTo>
                    <a:pt x="6752522" y="95221"/>
                  </a:lnTo>
                  <a:lnTo>
                    <a:pt x="6753223" y="102345"/>
                  </a:lnTo>
                  <a:lnTo>
                    <a:pt x="6753224" y="109537"/>
                  </a:lnTo>
                  <a:lnTo>
                    <a:pt x="6753224" y="5129212"/>
                  </a:lnTo>
                  <a:lnTo>
                    <a:pt x="6753223" y="5136404"/>
                  </a:lnTo>
                  <a:lnTo>
                    <a:pt x="6752522" y="5143526"/>
                  </a:lnTo>
                  <a:lnTo>
                    <a:pt x="6751118" y="5150581"/>
                  </a:lnTo>
                  <a:lnTo>
                    <a:pt x="6749715" y="5157635"/>
                  </a:lnTo>
                  <a:lnTo>
                    <a:pt x="6730767" y="5196048"/>
                  </a:lnTo>
                  <a:lnTo>
                    <a:pt x="6698562" y="5224284"/>
                  </a:lnTo>
                  <a:lnTo>
                    <a:pt x="6665056" y="5236644"/>
                  </a:lnTo>
                  <a:lnTo>
                    <a:pt x="6658001" y="5238047"/>
                  </a:lnTo>
                  <a:lnTo>
                    <a:pt x="6650879" y="5238749"/>
                  </a:lnTo>
                  <a:lnTo>
                    <a:pt x="6643686" y="5238749"/>
                  </a:lnTo>
                  <a:lnTo>
                    <a:pt x="109537" y="5238749"/>
                  </a:lnTo>
                  <a:lnTo>
                    <a:pt x="67619" y="5230411"/>
                  </a:lnTo>
                  <a:lnTo>
                    <a:pt x="60974" y="5227658"/>
                  </a:lnTo>
                  <a:lnTo>
                    <a:pt x="26997" y="5201580"/>
                  </a:lnTo>
                  <a:lnTo>
                    <a:pt x="18460" y="5190067"/>
                  </a:lnTo>
                  <a:lnTo>
                    <a:pt x="14464" y="5184087"/>
                  </a:lnTo>
                  <a:lnTo>
                    <a:pt x="11090" y="5177774"/>
                  </a:lnTo>
                  <a:lnTo>
                    <a:pt x="8338" y="5171129"/>
                  </a:lnTo>
                  <a:lnTo>
                    <a:pt x="5585" y="5164484"/>
                  </a:lnTo>
                  <a:lnTo>
                    <a:pt x="3507" y="5157635"/>
                  </a:lnTo>
                  <a:lnTo>
                    <a:pt x="2104" y="5150581"/>
                  </a:lnTo>
                  <a:lnTo>
                    <a:pt x="701" y="5143526"/>
                  </a:lnTo>
                  <a:lnTo>
                    <a:pt x="0" y="5136404"/>
                  </a:lnTo>
                  <a:lnTo>
                    <a:pt x="0" y="5129212"/>
                  </a:lnTo>
                  <a:close/>
                </a:path>
              </a:pathLst>
            </a:custGeom>
            <a:ln w="9524">
              <a:solidFill>
                <a:srgbClr val="E4E7EB"/>
              </a:solidFill>
            </a:ln>
          </p:spPr>
          <p:txBody>
            <a:bodyPr wrap="square" lIns="0" tIns="0" rIns="0" bIns="0" rtlCol="0"/>
            <a:lstStyle/>
            <a:p>
              <a:endParaRPr/>
            </a:p>
          </p:txBody>
        </p:sp>
        <p:sp>
          <p:nvSpPr>
            <p:cNvPr id="26" name="object 26"/>
            <p:cNvSpPr/>
            <p:nvPr/>
          </p:nvSpPr>
          <p:spPr>
            <a:xfrm>
              <a:off x="5210174" y="1438274"/>
              <a:ext cx="57150" cy="114300"/>
            </a:xfrm>
            <a:custGeom>
              <a:avLst/>
              <a:gdLst/>
              <a:ahLst/>
              <a:cxnLst/>
              <a:rect l="l" t="t" r="r" b="b"/>
              <a:pathLst>
                <a:path w="57150" h="114300">
                  <a:moveTo>
                    <a:pt x="40626" y="114299"/>
                  </a:moveTo>
                  <a:lnTo>
                    <a:pt x="16523" y="114299"/>
                  </a:lnTo>
                  <a:lnTo>
                    <a:pt x="14093" y="113816"/>
                  </a:lnTo>
                  <a:lnTo>
                    <a:pt x="0" y="97776"/>
                  </a:lnTo>
                  <a:lnTo>
                    <a:pt x="0" y="95249"/>
                  </a:lnTo>
                  <a:lnTo>
                    <a:pt x="0" y="16523"/>
                  </a:lnTo>
                  <a:lnTo>
                    <a:pt x="16523" y="0"/>
                  </a:lnTo>
                  <a:lnTo>
                    <a:pt x="40626" y="0"/>
                  </a:lnTo>
                  <a:lnTo>
                    <a:pt x="57149" y="16523"/>
                  </a:lnTo>
                  <a:lnTo>
                    <a:pt x="57149" y="97776"/>
                  </a:lnTo>
                  <a:lnTo>
                    <a:pt x="43056" y="113816"/>
                  </a:lnTo>
                  <a:lnTo>
                    <a:pt x="40626" y="114299"/>
                  </a:lnTo>
                  <a:close/>
                </a:path>
              </a:pathLst>
            </a:custGeom>
            <a:solidFill>
              <a:srgbClr val="1D40AF"/>
            </a:solidFill>
          </p:spPr>
          <p:txBody>
            <a:bodyPr wrap="square" lIns="0" tIns="0" rIns="0" bIns="0" rtlCol="0"/>
            <a:lstStyle/>
            <a:p>
              <a:endParaRPr/>
            </a:p>
          </p:txBody>
        </p:sp>
      </p:grpSp>
      <p:sp>
        <p:nvSpPr>
          <p:cNvPr id="27" name="object 27"/>
          <p:cNvSpPr txBox="1"/>
          <p:nvPr/>
        </p:nvSpPr>
        <p:spPr>
          <a:xfrm>
            <a:off x="5326955" y="1377950"/>
            <a:ext cx="1492250" cy="185420"/>
          </a:xfrm>
          <a:prstGeom prst="rect">
            <a:avLst/>
          </a:prstGeom>
        </p:spPr>
        <p:txBody>
          <a:bodyPr vert="horz" wrap="square" lIns="0" tIns="12700" rIns="0" bIns="0" rtlCol="0">
            <a:spAutoFit/>
          </a:bodyPr>
          <a:lstStyle/>
          <a:p>
            <a:pPr marL="12700">
              <a:lnSpc>
                <a:spcPct val="100000"/>
              </a:lnSpc>
              <a:spcBef>
                <a:spcPts val="100"/>
              </a:spcBef>
            </a:pPr>
            <a:r>
              <a:rPr sz="1050" spc="-5">
                <a:solidFill>
                  <a:srgbClr val="1D40AF"/>
                </a:solidFill>
                <a:latin typeface="宋体"/>
                <a:cs typeface="宋体"/>
              </a:rPr>
              <a:t>多模型基准指标量化测评</a:t>
            </a:r>
            <a:endParaRPr sz="1050">
              <a:latin typeface="宋体"/>
              <a:cs typeface="宋体"/>
            </a:endParaRPr>
          </a:p>
        </p:txBody>
      </p:sp>
      <p:grpSp>
        <p:nvGrpSpPr>
          <p:cNvPr id="28" name="object 28"/>
          <p:cNvGrpSpPr/>
          <p:nvPr/>
        </p:nvGrpSpPr>
        <p:grpSpPr>
          <a:xfrm>
            <a:off x="10334623" y="1390649"/>
            <a:ext cx="1314450" cy="200025"/>
            <a:chOff x="10334623" y="1390649"/>
            <a:chExt cx="1314450" cy="200025"/>
          </a:xfrm>
        </p:grpSpPr>
        <p:sp>
          <p:nvSpPr>
            <p:cNvPr id="29" name="object 29"/>
            <p:cNvSpPr/>
            <p:nvPr/>
          </p:nvSpPr>
          <p:spPr>
            <a:xfrm>
              <a:off x="10339385" y="1395412"/>
              <a:ext cx="1304925" cy="190500"/>
            </a:xfrm>
            <a:custGeom>
              <a:avLst/>
              <a:gdLst/>
              <a:ahLst/>
              <a:cxnLst/>
              <a:rect l="l" t="t" r="r" b="b"/>
              <a:pathLst>
                <a:path w="1304925" h="190500">
                  <a:moveTo>
                    <a:pt x="1276008" y="190499"/>
                  </a:moveTo>
                  <a:lnTo>
                    <a:pt x="28916" y="190499"/>
                  </a:lnTo>
                  <a:lnTo>
                    <a:pt x="24664" y="189654"/>
                  </a:lnTo>
                  <a:lnTo>
                    <a:pt x="0" y="161583"/>
                  </a:lnTo>
                  <a:lnTo>
                    <a:pt x="0" y="157162"/>
                  </a:lnTo>
                  <a:lnTo>
                    <a:pt x="0" y="28916"/>
                  </a:lnTo>
                  <a:lnTo>
                    <a:pt x="28916" y="0"/>
                  </a:lnTo>
                  <a:lnTo>
                    <a:pt x="1276008" y="0"/>
                  </a:lnTo>
                  <a:lnTo>
                    <a:pt x="1304924" y="28916"/>
                  </a:lnTo>
                  <a:lnTo>
                    <a:pt x="1304924" y="161583"/>
                  </a:lnTo>
                  <a:lnTo>
                    <a:pt x="1280260" y="189654"/>
                  </a:lnTo>
                  <a:lnTo>
                    <a:pt x="1276008" y="190499"/>
                  </a:lnTo>
                  <a:close/>
                </a:path>
              </a:pathLst>
            </a:custGeom>
            <a:solidFill>
              <a:srgbClr val="EFF5FF"/>
            </a:solidFill>
          </p:spPr>
          <p:txBody>
            <a:bodyPr wrap="square" lIns="0" tIns="0" rIns="0" bIns="0" rtlCol="0"/>
            <a:lstStyle/>
            <a:p>
              <a:endParaRPr/>
            </a:p>
          </p:txBody>
        </p:sp>
        <p:sp>
          <p:nvSpPr>
            <p:cNvPr id="30" name="object 30"/>
            <p:cNvSpPr/>
            <p:nvPr/>
          </p:nvSpPr>
          <p:spPr>
            <a:xfrm>
              <a:off x="10339385" y="1395412"/>
              <a:ext cx="1304925" cy="190500"/>
            </a:xfrm>
            <a:custGeom>
              <a:avLst/>
              <a:gdLst/>
              <a:ahLst/>
              <a:cxnLst/>
              <a:rect l="l" t="t" r="r" b="b"/>
              <a:pathLst>
                <a:path w="1304925" h="190500">
                  <a:moveTo>
                    <a:pt x="0" y="157162"/>
                  </a:moveTo>
                  <a:lnTo>
                    <a:pt x="0" y="33337"/>
                  </a:lnTo>
                  <a:lnTo>
                    <a:pt x="0" y="28916"/>
                  </a:lnTo>
                  <a:lnTo>
                    <a:pt x="845" y="24664"/>
                  </a:lnTo>
                  <a:lnTo>
                    <a:pt x="2537" y="20579"/>
                  </a:lnTo>
                  <a:lnTo>
                    <a:pt x="4229" y="16495"/>
                  </a:lnTo>
                  <a:lnTo>
                    <a:pt x="6638" y="12890"/>
                  </a:lnTo>
                  <a:lnTo>
                    <a:pt x="9764" y="9764"/>
                  </a:lnTo>
                  <a:lnTo>
                    <a:pt x="12889" y="6638"/>
                  </a:lnTo>
                  <a:lnTo>
                    <a:pt x="16494" y="4229"/>
                  </a:lnTo>
                  <a:lnTo>
                    <a:pt x="20580" y="2537"/>
                  </a:lnTo>
                  <a:lnTo>
                    <a:pt x="24664" y="845"/>
                  </a:lnTo>
                  <a:lnTo>
                    <a:pt x="28916" y="0"/>
                  </a:lnTo>
                  <a:lnTo>
                    <a:pt x="33338" y="0"/>
                  </a:lnTo>
                  <a:lnTo>
                    <a:pt x="1271587" y="0"/>
                  </a:lnTo>
                  <a:lnTo>
                    <a:pt x="1276008" y="0"/>
                  </a:lnTo>
                  <a:lnTo>
                    <a:pt x="1280260" y="845"/>
                  </a:lnTo>
                  <a:lnTo>
                    <a:pt x="1284344" y="2537"/>
                  </a:lnTo>
                  <a:lnTo>
                    <a:pt x="1288428" y="4229"/>
                  </a:lnTo>
                  <a:lnTo>
                    <a:pt x="1292034" y="6638"/>
                  </a:lnTo>
                  <a:lnTo>
                    <a:pt x="1295160" y="9764"/>
                  </a:lnTo>
                  <a:lnTo>
                    <a:pt x="1298286" y="12890"/>
                  </a:lnTo>
                  <a:lnTo>
                    <a:pt x="1300694" y="16495"/>
                  </a:lnTo>
                  <a:lnTo>
                    <a:pt x="1302386" y="20579"/>
                  </a:lnTo>
                  <a:lnTo>
                    <a:pt x="1304078" y="24664"/>
                  </a:lnTo>
                  <a:lnTo>
                    <a:pt x="1304924" y="28916"/>
                  </a:lnTo>
                  <a:lnTo>
                    <a:pt x="1304925" y="33337"/>
                  </a:lnTo>
                  <a:lnTo>
                    <a:pt x="1304925" y="157162"/>
                  </a:lnTo>
                  <a:lnTo>
                    <a:pt x="1304924" y="161583"/>
                  </a:lnTo>
                  <a:lnTo>
                    <a:pt x="1304078" y="165835"/>
                  </a:lnTo>
                  <a:lnTo>
                    <a:pt x="1302386" y="169920"/>
                  </a:lnTo>
                  <a:lnTo>
                    <a:pt x="1300694" y="174004"/>
                  </a:lnTo>
                  <a:lnTo>
                    <a:pt x="1298286" y="177609"/>
                  </a:lnTo>
                  <a:lnTo>
                    <a:pt x="1295160" y="180735"/>
                  </a:lnTo>
                  <a:lnTo>
                    <a:pt x="1292034" y="183861"/>
                  </a:lnTo>
                  <a:lnTo>
                    <a:pt x="1288428" y="186270"/>
                  </a:lnTo>
                  <a:lnTo>
                    <a:pt x="1284344" y="187962"/>
                  </a:lnTo>
                  <a:lnTo>
                    <a:pt x="1280260" y="189654"/>
                  </a:lnTo>
                  <a:lnTo>
                    <a:pt x="1276008" y="190499"/>
                  </a:lnTo>
                  <a:lnTo>
                    <a:pt x="1271587" y="190499"/>
                  </a:lnTo>
                  <a:lnTo>
                    <a:pt x="33338" y="190499"/>
                  </a:lnTo>
                  <a:lnTo>
                    <a:pt x="28916" y="190499"/>
                  </a:lnTo>
                  <a:lnTo>
                    <a:pt x="24664" y="189654"/>
                  </a:lnTo>
                  <a:lnTo>
                    <a:pt x="20580" y="187962"/>
                  </a:lnTo>
                  <a:lnTo>
                    <a:pt x="16494" y="186270"/>
                  </a:lnTo>
                  <a:lnTo>
                    <a:pt x="12889" y="183861"/>
                  </a:lnTo>
                  <a:lnTo>
                    <a:pt x="9764" y="180735"/>
                  </a:lnTo>
                  <a:lnTo>
                    <a:pt x="6638" y="177609"/>
                  </a:lnTo>
                  <a:lnTo>
                    <a:pt x="4229" y="174004"/>
                  </a:lnTo>
                  <a:lnTo>
                    <a:pt x="2537" y="169920"/>
                  </a:lnTo>
                  <a:lnTo>
                    <a:pt x="845" y="165835"/>
                  </a:lnTo>
                  <a:lnTo>
                    <a:pt x="0" y="161583"/>
                  </a:lnTo>
                  <a:lnTo>
                    <a:pt x="0" y="157162"/>
                  </a:lnTo>
                  <a:close/>
                </a:path>
              </a:pathLst>
            </a:custGeom>
            <a:ln w="9524">
              <a:solidFill>
                <a:srgbClr val="DAE9FE"/>
              </a:solidFill>
            </a:ln>
          </p:spPr>
          <p:txBody>
            <a:bodyPr wrap="square" lIns="0" tIns="0" rIns="0" bIns="0" rtlCol="0"/>
            <a:lstStyle/>
            <a:p>
              <a:endParaRPr/>
            </a:p>
          </p:txBody>
        </p:sp>
      </p:grpSp>
      <p:sp>
        <p:nvSpPr>
          <p:cNvPr id="31" name="object 31"/>
          <p:cNvSpPr txBox="1"/>
          <p:nvPr/>
        </p:nvSpPr>
        <p:spPr>
          <a:xfrm>
            <a:off x="10407351" y="1397000"/>
            <a:ext cx="1169035" cy="139700"/>
          </a:xfrm>
          <a:prstGeom prst="rect">
            <a:avLst/>
          </a:prstGeom>
        </p:spPr>
        <p:txBody>
          <a:bodyPr vert="horz" wrap="square" lIns="0" tIns="12700" rIns="0" bIns="0" rtlCol="0">
            <a:spAutoFit/>
          </a:bodyPr>
          <a:lstStyle/>
          <a:p>
            <a:pPr marL="12700">
              <a:lnSpc>
                <a:spcPct val="100000"/>
              </a:lnSpc>
              <a:spcBef>
                <a:spcPts val="100"/>
              </a:spcBef>
            </a:pPr>
            <a:r>
              <a:rPr sz="750" b="1">
                <a:solidFill>
                  <a:srgbClr val="1D40AF"/>
                </a:solidFill>
                <a:latin typeface="Courier New"/>
                <a:cs typeface="Courier New"/>
              </a:rPr>
              <a:t>BENCHMARKING </a:t>
            </a:r>
            <a:r>
              <a:rPr sz="750" b="1" spc="-10">
                <a:solidFill>
                  <a:srgbClr val="1D40AF"/>
                </a:solidFill>
                <a:latin typeface="Courier New"/>
                <a:cs typeface="Courier New"/>
              </a:rPr>
              <a:t>METRICS</a:t>
            </a:r>
            <a:endParaRPr sz="750">
              <a:latin typeface="Courier New"/>
              <a:cs typeface="Courier New"/>
            </a:endParaRPr>
          </a:p>
        </p:txBody>
      </p:sp>
      <p:grpSp>
        <p:nvGrpSpPr>
          <p:cNvPr id="32" name="object 32"/>
          <p:cNvGrpSpPr/>
          <p:nvPr/>
        </p:nvGrpSpPr>
        <p:grpSpPr>
          <a:xfrm>
            <a:off x="5210174" y="1704975"/>
            <a:ext cx="6438900" cy="4600575"/>
            <a:chOff x="5210174" y="1704975"/>
            <a:chExt cx="6438900" cy="4600575"/>
          </a:xfrm>
        </p:grpSpPr>
        <p:sp>
          <p:nvSpPr>
            <p:cNvPr id="33" name="object 33"/>
            <p:cNvSpPr/>
            <p:nvPr/>
          </p:nvSpPr>
          <p:spPr>
            <a:xfrm>
              <a:off x="9524998" y="6162674"/>
              <a:ext cx="342900" cy="142875"/>
            </a:xfrm>
            <a:custGeom>
              <a:avLst/>
              <a:gdLst/>
              <a:ahLst/>
              <a:cxnLst/>
              <a:rect l="l" t="t" r="r" b="b"/>
              <a:pathLst>
                <a:path w="342900" h="142875">
                  <a:moveTo>
                    <a:pt x="309852" y="142874"/>
                  </a:moveTo>
                  <a:lnTo>
                    <a:pt x="33047" y="142874"/>
                  </a:lnTo>
                  <a:lnTo>
                    <a:pt x="28187" y="141907"/>
                  </a:lnTo>
                  <a:lnTo>
                    <a:pt x="966" y="114687"/>
                  </a:lnTo>
                  <a:lnTo>
                    <a:pt x="0" y="109827"/>
                  </a:lnTo>
                  <a:lnTo>
                    <a:pt x="0" y="104774"/>
                  </a:lnTo>
                  <a:lnTo>
                    <a:pt x="0" y="33047"/>
                  </a:lnTo>
                  <a:lnTo>
                    <a:pt x="28187" y="966"/>
                  </a:lnTo>
                  <a:lnTo>
                    <a:pt x="33047" y="0"/>
                  </a:lnTo>
                  <a:lnTo>
                    <a:pt x="309852" y="0"/>
                  </a:lnTo>
                  <a:lnTo>
                    <a:pt x="341932" y="28187"/>
                  </a:lnTo>
                  <a:lnTo>
                    <a:pt x="342899" y="33047"/>
                  </a:lnTo>
                  <a:lnTo>
                    <a:pt x="342899" y="109827"/>
                  </a:lnTo>
                  <a:lnTo>
                    <a:pt x="314712" y="141907"/>
                  </a:lnTo>
                  <a:lnTo>
                    <a:pt x="309852" y="142874"/>
                  </a:lnTo>
                  <a:close/>
                </a:path>
              </a:pathLst>
            </a:custGeom>
            <a:solidFill>
              <a:srgbClr val="F2F4F5"/>
            </a:solidFill>
          </p:spPr>
          <p:txBody>
            <a:bodyPr wrap="square" lIns="0" tIns="0" rIns="0" bIns="0" rtlCol="0"/>
            <a:lstStyle/>
            <a:p>
              <a:endParaRPr/>
            </a:p>
          </p:txBody>
        </p:sp>
        <p:sp>
          <p:nvSpPr>
            <p:cNvPr id="34" name="object 34"/>
            <p:cNvSpPr/>
            <p:nvPr/>
          </p:nvSpPr>
          <p:spPr>
            <a:xfrm>
              <a:off x="5214937" y="1709737"/>
              <a:ext cx="6429375" cy="4314825"/>
            </a:xfrm>
            <a:custGeom>
              <a:avLst/>
              <a:gdLst/>
              <a:ahLst/>
              <a:cxnLst/>
              <a:rect l="l" t="t" r="r" b="b"/>
              <a:pathLst>
                <a:path w="6429375" h="4314825">
                  <a:moveTo>
                    <a:pt x="6362627" y="4314824"/>
                  </a:moveTo>
                  <a:lnTo>
                    <a:pt x="66746" y="4314824"/>
                  </a:lnTo>
                  <a:lnTo>
                    <a:pt x="62101" y="4314366"/>
                  </a:lnTo>
                  <a:lnTo>
                    <a:pt x="24240" y="4297216"/>
                  </a:lnTo>
                  <a:lnTo>
                    <a:pt x="2287" y="4261924"/>
                  </a:lnTo>
                  <a:lnTo>
                    <a:pt x="0" y="4248077"/>
                  </a:lnTo>
                  <a:lnTo>
                    <a:pt x="0" y="4243387"/>
                  </a:lnTo>
                  <a:lnTo>
                    <a:pt x="0" y="66746"/>
                  </a:lnTo>
                  <a:lnTo>
                    <a:pt x="14645" y="27848"/>
                  </a:lnTo>
                  <a:lnTo>
                    <a:pt x="48433" y="3642"/>
                  </a:lnTo>
                  <a:lnTo>
                    <a:pt x="66746" y="0"/>
                  </a:lnTo>
                  <a:lnTo>
                    <a:pt x="6362627" y="0"/>
                  </a:lnTo>
                  <a:lnTo>
                    <a:pt x="6401524" y="14645"/>
                  </a:lnTo>
                  <a:lnTo>
                    <a:pt x="6425731" y="48433"/>
                  </a:lnTo>
                  <a:lnTo>
                    <a:pt x="6429374" y="66746"/>
                  </a:lnTo>
                  <a:lnTo>
                    <a:pt x="6429374" y="4248077"/>
                  </a:lnTo>
                  <a:lnTo>
                    <a:pt x="6414728" y="4286975"/>
                  </a:lnTo>
                  <a:lnTo>
                    <a:pt x="6380940" y="4311181"/>
                  </a:lnTo>
                  <a:lnTo>
                    <a:pt x="6367273" y="4314366"/>
                  </a:lnTo>
                  <a:lnTo>
                    <a:pt x="6362627" y="4314824"/>
                  </a:lnTo>
                  <a:close/>
                </a:path>
              </a:pathLst>
            </a:custGeom>
            <a:solidFill>
              <a:srgbClr val="FFFFFF"/>
            </a:solidFill>
          </p:spPr>
          <p:txBody>
            <a:bodyPr wrap="square" lIns="0" tIns="0" rIns="0" bIns="0" rtlCol="0"/>
            <a:lstStyle/>
            <a:p>
              <a:endParaRPr/>
            </a:p>
          </p:txBody>
        </p:sp>
        <p:sp>
          <p:nvSpPr>
            <p:cNvPr id="35" name="object 35"/>
            <p:cNvSpPr/>
            <p:nvPr/>
          </p:nvSpPr>
          <p:spPr>
            <a:xfrm>
              <a:off x="5214937" y="1709737"/>
              <a:ext cx="6429375" cy="4314825"/>
            </a:xfrm>
            <a:custGeom>
              <a:avLst/>
              <a:gdLst/>
              <a:ahLst/>
              <a:cxnLst/>
              <a:rect l="l" t="t" r="r" b="b"/>
              <a:pathLst>
                <a:path w="6429375" h="4314825">
                  <a:moveTo>
                    <a:pt x="0" y="4243387"/>
                  </a:moveTo>
                  <a:lnTo>
                    <a:pt x="0" y="71437"/>
                  </a:lnTo>
                  <a:lnTo>
                    <a:pt x="0" y="66746"/>
                  </a:lnTo>
                  <a:lnTo>
                    <a:pt x="457" y="62101"/>
                  </a:lnTo>
                  <a:lnTo>
                    <a:pt x="1372" y="57500"/>
                  </a:lnTo>
                  <a:lnTo>
                    <a:pt x="2287" y="52900"/>
                  </a:lnTo>
                  <a:lnTo>
                    <a:pt x="3642" y="48433"/>
                  </a:lnTo>
                  <a:lnTo>
                    <a:pt x="5437" y="44099"/>
                  </a:lnTo>
                  <a:lnTo>
                    <a:pt x="7232" y="39765"/>
                  </a:lnTo>
                  <a:lnTo>
                    <a:pt x="9433" y="35649"/>
                  </a:lnTo>
                  <a:lnTo>
                    <a:pt x="12039" y="31748"/>
                  </a:lnTo>
                  <a:lnTo>
                    <a:pt x="14645" y="27848"/>
                  </a:lnTo>
                  <a:lnTo>
                    <a:pt x="17606" y="24240"/>
                  </a:lnTo>
                  <a:lnTo>
                    <a:pt x="20923" y="20923"/>
                  </a:lnTo>
                  <a:lnTo>
                    <a:pt x="24240" y="17606"/>
                  </a:lnTo>
                  <a:lnTo>
                    <a:pt x="27848" y="14645"/>
                  </a:lnTo>
                  <a:lnTo>
                    <a:pt x="31748" y="12039"/>
                  </a:lnTo>
                  <a:lnTo>
                    <a:pt x="35649" y="9433"/>
                  </a:lnTo>
                  <a:lnTo>
                    <a:pt x="39765" y="7232"/>
                  </a:lnTo>
                  <a:lnTo>
                    <a:pt x="44099" y="5437"/>
                  </a:lnTo>
                  <a:lnTo>
                    <a:pt x="48433" y="3642"/>
                  </a:lnTo>
                  <a:lnTo>
                    <a:pt x="52900" y="2287"/>
                  </a:lnTo>
                  <a:lnTo>
                    <a:pt x="57500" y="1372"/>
                  </a:lnTo>
                  <a:lnTo>
                    <a:pt x="62101" y="457"/>
                  </a:lnTo>
                  <a:lnTo>
                    <a:pt x="66746" y="0"/>
                  </a:lnTo>
                  <a:lnTo>
                    <a:pt x="71437" y="0"/>
                  </a:lnTo>
                  <a:lnTo>
                    <a:pt x="6357936" y="0"/>
                  </a:lnTo>
                  <a:lnTo>
                    <a:pt x="6362627" y="0"/>
                  </a:lnTo>
                  <a:lnTo>
                    <a:pt x="6367273" y="457"/>
                  </a:lnTo>
                  <a:lnTo>
                    <a:pt x="6371873" y="1372"/>
                  </a:lnTo>
                  <a:lnTo>
                    <a:pt x="6376473" y="2287"/>
                  </a:lnTo>
                  <a:lnTo>
                    <a:pt x="6408450" y="20923"/>
                  </a:lnTo>
                  <a:lnTo>
                    <a:pt x="6411766" y="24240"/>
                  </a:lnTo>
                  <a:lnTo>
                    <a:pt x="6414728" y="27848"/>
                  </a:lnTo>
                  <a:lnTo>
                    <a:pt x="6417333" y="31748"/>
                  </a:lnTo>
                  <a:lnTo>
                    <a:pt x="6419940" y="35649"/>
                  </a:lnTo>
                  <a:lnTo>
                    <a:pt x="6422141" y="39765"/>
                  </a:lnTo>
                  <a:lnTo>
                    <a:pt x="6423935" y="44099"/>
                  </a:lnTo>
                  <a:lnTo>
                    <a:pt x="6425731" y="48433"/>
                  </a:lnTo>
                  <a:lnTo>
                    <a:pt x="6427086" y="52900"/>
                  </a:lnTo>
                  <a:lnTo>
                    <a:pt x="6428001" y="57500"/>
                  </a:lnTo>
                  <a:lnTo>
                    <a:pt x="6428917" y="62101"/>
                  </a:lnTo>
                  <a:lnTo>
                    <a:pt x="6429374" y="66746"/>
                  </a:lnTo>
                  <a:lnTo>
                    <a:pt x="6429374" y="71437"/>
                  </a:lnTo>
                  <a:lnTo>
                    <a:pt x="6429374" y="4243387"/>
                  </a:lnTo>
                  <a:lnTo>
                    <a:pt x="6429374" y="4248077"/>
                  </a:lnTo>
                  <a:lnTo>
                    <a:pt x="6428917" y="4252722"/>
                  </a:lnTo>
                  <a:lnTo>
                    <a:pt x="6428001" y="4257323"/>
                  </a:lnTo>
                  <a:lnTo>
                    <a:pt x="6427086" y="4261924"/>
                  </a:lnTo>
                  <a:lnTo>
                    <a:pt x="6425731" y="4266390"/>
                  </a:lnTo>
                  <a:lnTo>
                    <a:pt x="6423935" y="4270724"/>
                  </a:lnTo>
                  <a:lnTo>
                    <a:pt x="6422141" y="4275057"/>
                  </a:lnTo>
                  <a:lnTo>
                    <a:pt x="6419940" y="4279174"/>
                  </a:lnTo>
                  <a:lnTo>
                    <a:pt x="6417333" y="4283074"/>
                  </a:lnTo>
                  <a:lnTo>
                    <a:pt x="6414728" y="4286975"/>
                  </a:lnTo>
                  <a:lnTo>
                    <a:pt x="6385273" y="4309386"/>
                  </a:lnTo>
                  <a:lnTo>
                    <a:pt x="6380940" y="4311181"/>
                  </a:lnTo>
                  <a:lnTo>
                    <a:pt x="6376473" y="4312536"/>
                  </a:lnTo>
                  <a:lnTo>
                    <a:pt x="6371873" y="4313451"/>
                  </a:lnTo>
                  <a:lnTo>
                    <a:pt x="6367273" y="4314366"/>
                  </a:lnTo>
                  <a:lnTo>
                    <a:pt x="6362627" y="4314824"/>
                  </a:lnTo>
                  <a:lnTo>
                    <a:pt x="6357936" y="4314824"/>
                  </a:lnTo>
                  <a:lnTo>
                    <a:pt x="71437" y="4314824"/>
                  </a:lnTo>
                  <a:lnTo>
                    <a:pt x="66746" y="4314824"/>
                  </a:lnTo>
                  <a:lnTo>
                    <a:pt x="62101" y="4314366"/>
                  </a:lnTo>
                  <a:lnTo>
                    <a:pt x="57500" y="4313451"/>
                  </a:lnTo>
                  <a:lnTo>
                    <a:pt x="52900" y="4312536"/>
                  </a:lnTo>
                  <a:lnTo>
                    <a:pt x="48433" y="4311181"/>
                  </a:lnTo>
                  <a:lnTo>
                    <a:pt x="44099" y="4309386"/>
                  </a:lnTo>
                  <a:lnTo>
                    <a:pt x="39765" y="4307591"/>
                  </a:lnTo>
                  <a:lnTo>
                    <a:pt x="9433" y="4279174"/>
                  </a:lnTo>
                  <a:lnTo>
                    <a:pt x="0" y="4248077"/>
                  </a:lnTo>
                  <a:lnTo>
                    <a:pt x="0" y="4243387"/>
                  </a:lnTo>
                  <a:close/>
                </a:path>
              </a:pathLst>
            </a:custGeom>
            <a:ln w="9524">
              <a:solidFill>
                <a:srgbClr val="F2F4F5"/>
              </a:solidFill>
            </a:ln>
          </p:spPr>
          <p:txBody>
            <a:bodyPr wrap="square" lIns="0" tIns="0" rIns="0" bIns="0" rtlCol="0"/>
            <a:lstStyle/>
            <a:p>
              <a:endParaRPr/>
            </a:p>
          </p:txBody>
        </p:sp>
        <p:pic>
          <p:nvPicPr>
            <p:cNvPr id="36" name="object 36"/>
            <p:cNvPicPr/>
            <p:nvPr/>
          </p:nvPicPr>
          <p:blipFill>
            <a:blip r:embed="rId6" cstate="print"/>
            <a:stretch>
              <a:fillRect/>
            </a:stretch>
          </p:blipFill>
          <p:spPr>
            <a:xfrm>
              <a:off x="5372099" y="2790825"/>
              <a:ext cx="6115049" cy="2152649"/>
            </a:xfrm>
            <a:prstGeom prst="rect">
              <a:avLst/>
            </a:prstGeom>
          </p:spPr>
        </p:pic>
      </p:grpSp>
      <p:sp>
        <p:nvSpPr>
          <p:cNvPr id="37" name="object 37"/>
          <p:cNvSpPr txBox="1"/>
          <p:nvPr/>
        </p:nvSpPr>
        <p:spPr>
          <a:xfrm>
            <a:off x="5869036" y="6137225"/>
            <a:ext cx="5117465" cy="155575"/>
          </a:xfrm>
          <a:prstGeom prst="rect">
            <a:avLst/>
          </a:prstGeom>
        </p:spPr>
        <p:txBody>
          <a:bodyPr vert="horz" wrap="square" lIns="0" tIns="12700" rIns="0" bIns="0" rtlCol="0">
            <a:spAutoFit/>
          </a:bodyPr>
          <a:lstStyle/>
          <a:p>
            <a:pPr marL="38100">
              <a:lnSpc>
                <a:spcPct val="100000"/>
              </a:lnSpc>
              <a:spcBef>
                <a:spcPts val="100"/>
              </a:spcBef>
            </a:pPr>
            <a:r>
              <a:rPr sz="1275" i="1" spc="-67" baseline="3267">
                <a:solidFill>
                  <a:srgbClr val="6A7280"/>
                </a:solidFill>
                <a:latin typeface="宋体"/>
                <a:cs typeface="宋体"/>
              </a:rPr>
              <a:t>Table</a:t>
            </a:r>
            <a:r>
              <a:rPr sz="1275" i="1" spc="-179" baseline="3267">
                <a:solidFill>
                  <a:srgbClr val="6A7280"/>
                </a:solidFill>
                <a:latin typeface="宋体"/>
                <a:cs typeface="宋体"/>
              </a:rPr>
              <a:t> </a:t>
            </a:r>
            <a:r>
              <a:rPr sz="1275" i="1" spc="-97" baseline="3267">
                <a:solidFill>
                  <a:srgbClr val="6A7280"/>
                </a:solidFill>
                <a:latin typeface="宋体"/>
                <a:cs typeface="宋体"/>
              </a:rPr>
              <a:t>1:</a:t>
            </a:r>
            <a:r>
              <a:rPr sz="1275" i="1" spc="-89" baseline="3267">
                <a:solidFill>
                  <a:srgbClr val="6A7280"/>
                </a:solidFill>
                <a:latin typeface="宋体"/>
                <a:cs typeface="宋体"/>
              </a:rPr>
              <a:t> 各类模型在标准固定配置下五次运行的 </a:t>
            </a:r>
            <a:r>
              <a:rPr sz="1275" i="1" spc="157" baseline="3267">
                <a:solidFill>
                  <a:srgbClr val="6A7280"/>
                </a:solidFill>
                <a:latin typeface="宋体"/>
                <a:cs typeface="宋体"/>
              </a:rPr>
              <a:t>MAE</a:t>
            </a:r>
            <a:r>
              <a:rPr sz="1275" i="1" spc="-135" baseline="3267">
                <a:solidFill>
                  <a:srgbClr val="6A7280"/>
                </a:solidFill>
                <a:latin typeface="宋体"/>
                <a:cs typeface="宋体"/>
              </a:rPr>
              <a:t> 与 </a:t>
            </a:r>
            <a:r>
              <a:rPr sz="1275" i="1" spc="127" baseline="3267">
                <a:solidFill>
                  <a:srgbClr val="6A7280"/>
                </a:solidFill>
                <a:latin typeface="宋体"/>
                <a:cs typeface="宋体"/>
              </a:rPr>
              <a:t>WAPE</a:t>
            </a:r>
            <a:r>
              <a:rPr sz="1275" i="1" spc="-82" baseline="3267">
                <a:solidFill>
                  <a:srgbClr val="6A7280"/>
                </a:solidFill>
                <a:latin typeface="宋体"/>
                <a:cs typeface="宋体"/>
              </a:rPr>
              <a:t> 统计情况展示， </a:t>
            </a:r>
            <a:r>
              <a:rPr sz="1125" i="1" baseline="3703">
                <a:solidFill>
                  <a:srgbClr val="1F2937"/>
                </a:solidFill>
                <a:latin typeface="Courier New"/>
                <a:cs typeface="Courier New"/>
              </a:rPr>
              <a:t>CPI</a:t>
            </a:r>
            <a:r>
              <a:rPr sz="1125" i="1" baseline="3703">
                <a:solidFill>
                  <a:srgbClr val="1F2937"/>
                </a:solidFill>
                <a:latin typeface="Cambria"/>
                <a:cs typeface="Cambria"/>
              </a:rPr>
              <a:t>R</a:t>
            </a:r>
            <a:r>
              <a:rPr sz="500" i="1">
                <a:solidFill>
                  <a:srgbClr val="1F2937"/>
                </a:solidFill>
                <a:latin typeface="Cambria"/>
                <a:cs typeface="Cambria"/>
              </a:rPr>
              <a:t>i</a:t>
            </a:r>
            <a:r>
              <a:rPr sz="500" i="1" spc="240">
                <a:solidFill>
                  <a:srgbClr val="1F2937"/>
                </a:solidFill>
                <a:latin typeface="Cambria"/>
                <a:cs typeface="Cambria"/>
              </a:rPr>
              <a:t>  </a:t>
            </a:r>
            <a:r>
              <a:rPr sz="1275" i="1" spc="-60" baseline="3267">
                <a:solidFill>
                  <a:srgbClr val="6A7280"/>
                </a:solidFill>
                <a:latin typeface="宋体"/>
                <a:cs typeface="宋体"/>
              </a:rPr>
              <a:t>实现了极高全局优势。</a:t>
            </a:r>
            <a:endParaRPr sz="1275" baseline="3267">
              <a:latin typeface="宋体"/>
              <a:cs typeface="宋体"/>
            </a:endParaRPr>
          </a:p>
        </p:txBody>
      </p:sp>
      <p:pic>
        <p:nvPicPr>
          <p:cNvPr id="38" name="object 38"/>
          <p:cNvPicPr/>
          <p:nvPr/>
        </p:nvPicPr>
        <p:blipFill>
          <a:blip r:embed="rId7" cstate="print"/>
          <a:stretch>
            <a:fillRect/>
          </a:stretch>
        </p:blipFill>
        <p:spPr>
          <a:xfrm>
            <a:off x="0" y="0"/>
            <a:ext cx="12191999" cy="57149"/>
          </a:xfrm>
          <a:prstGeom prst="rect">
            <a:avLst/>
          </a:prstGeom>
        </p:spPr>
      </p:pic>
      <p:pic>
        <p:nvPicPr>
          <p:cNvPr id="39" name="object 39"/>
          <p:cNvPicPr/>
          <p:nvPr/>
        </p:nvPicPr>
        <p:blipFill>
          <a:blip r:embed="rId8" cstate="print"/>
          <a:stretch>
            <a:fillRect/>
          </a:stretch>
        </p:blipFill>
        <p:spPr>
          <a:xfrm>
            <a:off x="0" y="6800849"/>
            <a:ext cx="12191999" cy="57149"/>
          </a:xfrm>
          <a:prstGeom prst="rect">
            <a:avLst/>
          </a:prstGeom>
        </p:spPr>
      </p:pic>
    </p:spTree>
    <p:extLst>
      <p:ext uri="{BB962C8B-B14F-4D97-AF65-F5344CB8AC3E}">
        <p14:creationId xmlns:p14="http://schemas.microsoft.com/office/powerpoint/2010/main" val="265128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380999" y="857249"/>
            <a:ext cx="761999" cy="38099"/>
          </a:xfrm>
          <a:prstGeom prst="rect">
            <a:avLst/>
          </a:prstGeom>
        </p:spPr>
      </p:pic>
      <p:sp>
        <p:nvSpPr>
          <p:cNvPr id="3" name="object 3"/>
          <p:cNvSpPr txBox="1">
            <a:spLocks noGrp="1"/>
          </p:cNvSpPr>
          <p:nvPr>
            <p:ph type="title"/>
          </p:nvPr>
        </p:nvSpPr>
        <p:spPr>
          <a:xfrm>
            <a:off x="368299" y="331152"/>
            <a:ext cx="4737101" cy="403957"/>
          </a:xfrm>
          <a:prstGeom prst="rect">
            <a:avLst/>
          </a:prstGeom>
        </p:spPr>
        <p:txBody>
          <a:bodyPr vert="horz" wrap="square" lIns="0" tIns="11430" rIns="0" bIns="0" rtlCol="0">
            <a:spAutoFit/>
          </a:bodyPr>
          <a:lstStyle/>
          <a:p>
            <a:pPr marL="12700">
              <a:lnSpc>
                <a:spcPct val="100000"/>
              </a:lnSpc>
              <a:spcBef>
                <a:spcPts val="90"/>
              </a:spcBef>
            </a:pPr>
            <a:r>
              <a:rPr sz="2550">
                <a:latin typeface="微软雅黑"/>
                <a:cs typeface="微软雅黑"/>
              </a:rPr>
              <a:t>渐进式混洗强度下的鲁棒性</a:t>
            </a:r>
          </a:p>
        </p:txBody>
      </p:sp>
      <p:grpSp>
        <p:nvGrpSpPr>
          <p:cNvPr id="4" name="object 4"/>
          <p:cNvGrpSpPr/>
          <p:nvPr/>
        </p:nvGrpSpPr>
        <p:grpSpPr>
          <a:xfrm>
            <a:off x="380999" y="1123950"/>
            <a:ext cx="4629150" cy="2371725"/>
            <a:chOff x="380999" y="1123950"/>
            <a:chExt cx="4629150" cy="2371725"/>
          </a:xfrm>
        </p:grpSpPr>
        <p:sp>
          <p:nvSpPr>
            <p:cNvPr id="5" name="object 5"/>
            <p:cNvSpPr/>
            <p:nvPr/>
          </p:nvSpPr>
          <p:spPr>
            <a:xfrm>
              <a:off x="400049" y="1123950"/>
              <a:ext cx="4610100" cy="2371725"/>
            </a:xfrm>
            <a:custGeom>
              <a:avLst/>
              <a:gdLst/>
              <a:ahLst/>
              <a:cxnLst/>
              <a:rect l="l" t="t" r="r" b="b"/>
              <a:pathLst>
                <a:path w="4610100" h="2371725">
                  <a:moveTo>
                    <a:pt x="4503304" y="2371724"/>
                  </a:moveTo>
                  <a:lnTo>
                    <a:pt x="0" y="2371724"/>
                  </a:lnTo>
                  <a:lnTo>
                    <a:pt x="0" y="0"/>
                  </a:lnTo>
                  <a:lnTo>
                    <a:pt x="4503304" y="0"/>
                  </a:lnTo>
                  <a:lnTo>
                    <a:pt x="4510737" y="732"/>
                  </a:lnTo>
                  <a:lnTo>
                    <a:pt x="4553060" y="15093"/>
                  </a:lnTo>
                  <a:lnTo>
                    <a:pt x="4586666" y="44558"/>
                  </a:lnTo>
                  <a:lnTo>
                    <a:pt x="4606439" y="84640"/>
                  </a:lnTo>
                  <a:lnTo>
                    <a:pt x="4610099" y="106794"/>
                  </a:lnTo>
                  <a:lnTo>
                    <a:pt x="4610099" y="2264929"/>
                  </a:lnTo>
                  <a:lnTo>
                    <a:pt x="4598526" y="2308098"/>
                  </a:lnTo>
                  <a:lnTo>
                    <a:pt x="4571314" y="2343553"/>
                  </a:lnTo>
                  <a:lnTo>
                    <a:pt x="4532606" y="2365896"/>
                  </a:lnTo>
                  <a:lnTo>
                    <a:pt x="4503304" y="2371724"/>
                  </a:lnTo>
                  <a:close/>
                </a:path>
              </a:pathLst>
            </a:custGeom>
            <a:solidFill>
              <a:srgbClr val="F9FAFA"/>
            </a:solidFill>
          </p:spPr>
          <p:txBody>
            <a:bodyPr wrap="square" lIns="0" tIns="0" rIns="0" bIns="0" rtlCol="0"/>
            <a:lstStyle/>
            <a:p>
              <a:endParaRPr/>
            </a:p>
          </p:txBody>
        </p:sp>
        <p:sp>
          <p:nvSpPr>
            <p:cNvPr id="6" name="object 6"/>
            <p:cNvSpPr/>
            <p:nvPr/>
          </p:nvSpPr>
          <p:spPr>
            <a:xfrm>
              <a:off x="380999" y="1123950"/>
              <a:ext cx="38100" cy="2371725"/>
            </a:xfrm>
            <a:custGeom>
              <a:avLst/>
              <a:gdLst/>
              <a:ahLst/>
              <a:cxnLst/>
              <a:rect l="l" t="t" r="r" b="b"/>
              <a:pathLst>
                <a:path w="38100" h="2371725">
                  <a:moveTo>
                    <a:pt x="38099" y="2371724"/>
                  </a:moveTo>
                  <a:lnTo>
                    <a:pt x="0" y="2371724"/>
                  </a:lnTo>
                  <a:lnTo>
                    <a:pt x="0" y="0"/>
                  </a:lnTo>
                  <a:lnTo>
                    <a:pt x="38099" y="0"/>
                  </a:lnTo>
                  <a:lnTo>
                    <a:pt x="38099" y="2371724"/>
                  </a:lnTo>
                  <a:close/>
                </a:path>
              </a:pathLst>
            </a:custGeom>
            <a:solidFill>
              <a:srgbClr val="F59D0A"/>
            </a:solidFill>
          </p:spPr>
          <p:txBody>
            <a:bodyPr wrap="square" lIns="0" tIns="0" rIns="0" bIns="0" rtlCol="0"/>
            <a:lstStyle/>
            <a:p>
              <a:endParaRPr/>
            </a:p>
          </p:txBody>
        </p:sp>
        <p:sp>
          <p:nvSpPr>
            <p:cNvPr id="7" name="object 7"/>
            <p:cNvSpPr/>
            <p:nvPr/>
          </p:nvSpPr>
          <p:spPr>
            <a:xfrm>
              <a:off x="576262" y="2033587"/>
              <a:ext cx="4276725" cy="581025"/>
            </a:xfrm>
            <a:custGeom>
              <a:avLst/>
              <a:gdLst/>
              <a:ahLst/>
              <a:cxnLst/>
              <a:rect l="l" t="t" r="r" b="b"/>
              <a:pathLst>
                <a:path w="4276725" h="581025">
                  <a:moveTo>
                    <a:pt x="4209977" y="581024"/>
                  </a:moveTo>
                  <a:lnTo>
                    <a:pt x="66746" y="581024"/>
                  </a:lnTo>
                  <a:lnTo>
                    <a:pt x="62101" y="580567"/>
                  </a:lnTo>
                  <a:lnTo>
                    <a:pt x="24240" y="563417"/>
                  </a:lnTo>
                  <a:lnTo>
                    <a:pt x="2287" y="528124"/>
                  </a:lnTo>
                  <a:lnTo>
                    <a:pt x="0" y="514277"/>
                  </a:lnTo>
                  <a:lnTo>
                    <a:pt x="0" y="509587"/>
                  </a:lnTo>
                  <a:lnTo>
                    <a:pt x="0" y="66746"/>
                  </a:lnTo>
                  <a:lnTo>
                    <a:pt x="14645" y="27848"/>
                  </a:lnTo>
                  <a:lnTo>
                    <a:pt x="48433" y="3642"/>
                  </a:lnTo>
                  <a:lnTo>
                    <a:pt x="66746" y="0"/>
                  </a:lnTo>
                  <a:lnTo>
                    <a:pt x="4209977" y="0"/>
                  </a:lnTo>
                  <a:lnTo>
                    <a:pt x="4248875" y="14645"/>
                  </a:lnTo>
                  <a:lnTo>
                    <a:pt x="4273081" y="48432"/>
                  </a:lnTo>
                  <a:lnTo>
                    <a:pt x="4276724" y="66746"/>
                  </a:lnTo>
                  <a:lnTo>
                    <a:pt x="4276724" y="514277"/>
                  </a:lnTo>
                  <a:lnTo>
                    <a:pt x="4262079" y="553175"/>
                  </a:lnTo>
                  <a:lnTo>
                    <a:pt x="4228291" y="577381"/>
                  </a:lnTo>
                  <a:lnTo>
                    <a:pt x="4214622" y="580567"/>
                  </a:lnTo>
                  <a:lnTo>
                    <a:pt x="4209977" y="581024"/>
                  </a:lnTo>
                  <a:close/>
                </a:path>
              </a:pathLst>
            </a:custGeom>
            <a:solidFill>
              <a:srgbClr val="FFFFFF"/>
            </a:solidFill>
          </p:spPr>
          <p:txBody>
            <a:bodyPr wrap="square" lIns="0" tIns="0" rIns="0" bIns="0" rtlCol="0"/>
            <a:lstStyle/>
            <a:p>
              <a:endParaRPr/>
            </a:p>
          </p:txBody>
        </p:sp>
        <p:sp>
          <p:nvSpPr>
            <p:cNvPr id="8" name="object 8"/>
            <p:cNvSpPr/>
            <p:nvPr/>
          </p:nvSpPr>
          <p:spPr>
            <a:xfrm>
              <a:off x="576262" y="2033587"/>
              <a:ext cx="4276725" cy="581025"/>
            </a:xfrm>
            <a:custGeom>
              <a:avLst/>
              <a:gdLst/>
              <a:ahLst/>
              <a:cxnLst/>
              <a:rect l="l" t="t" r="r" b="b"/>
              <a:pathLst>
                <a:path w="4276725" h="581025">
                  <a:moveTo>
                    <a:pt x="0" y="509587"/>
                  </a:moveTo>
                  <a:lnTo>
                    <a:pt x="0" y="71437"/>
                  </a:lnTo>
                  <a:lnTo>
                    <a:pt x="0" y="66746"/>
                  </a:lnTo>
                  <a:lnTo>
                    <a:pt x="457" y="62101"/>
                  </a:lnTo>
                  <a:lnTo>
                    <a:pt x="1372" y="57500"/>
                  </a:lnTo>
                  <a:lnTo>
                    <a:pt x="2287" y="52900"/>
                  </a:lnTo>
                  <a:lnTo>
                    <a:pt x="3642" y="48433"/>
                  </a:lnTo>
                  <a:lnTo>
                    <a:pt x="5437" y="44099"/>
                  </a:lnTo>
                  <a:lnTo>
                    <a:pt x="7232" y="39765"/>
                  </a:lnTo>
                  <a:lnTo>
                    <a:pt x="9433" y="35648"/>
                  </a:lnTo>
                  <a:lnTo>
                    <a:pt x="12039" y="31748"/>
                  </a:lnTo>
                  <a:lnTo>
                    <a:pt x="14645" y="27848"/>
                  </a:lnTo>
                  <a:lnTo>
                    <a:pt x="17606" y="24240"/>
                  </a:lnTo>
                  <a:lnTo>
                    <a:pt x="20923" y="20923"/>
                  </a:lnTo>
                  <a:lnTo>
                    <a:pt x="24240" y="17606"/>
                  </a:lnTo>
                  <a:lnTo>
                    <a:pt x="62101" y="457"/>
                  </a:lnTo>
                  <a:lnTo>
                    <a:pt x="71437" y="0"/>
                  </a:lnTo>
                  <a:lnTo>
                    <a:pt x="4205287" y="0"/>
                  </a:lnTo>
                  <a:lnTo>
                    <a:pt x="4244975" y="12039"/>
                  </a:lnTo>
                  <a:lnTo>
                    <a:pt x="4271286" y="44099"/>
                  </a:lnTo>
                  <a:lnTo>
                    <a:pt x="4275351" y="57500"/>
                  </a:lnTo>
                  <a:lnTo>
                    <a:pt x="4276266" y="62101"/>
                  </a:lnTo>
                  <a:lnTo>
                    <a:pt x="4276724" y="66746"/>
                  </a:lnTo>
                  <a:lnTo>
                    <a:pt x="4276724" y="71437"/>
                  </a:lnTo>
                  <a:lnTo>
                    <a:pt x="4276724" y="509587"/>
                  </a:lnTo>
                  <a:lnTo>
                    <a:pt x="4276724" y="514278"/>
                  </a:lnTo>
                  <a:lnTo>
                    <a:pt x="4276266" y="518923"/>
                  </a:lnTo>
                  <a:lnTo>
                    <a:pt x="4275351" y="523524"/>
                  </a:lnTo>
                  <a:lnTo>
                    <a:pt x="4274436" y="528124"/>
                  </a:lnTo>
                  <a:lnTo>
                    <a:pt x="4252484" y="563418"/>
                  </a:lnTo>
                  <a:lnTo>
                    <a:pt x="4219223" y="579652"/>
                  </a:lnTo>
                  <a:lnTo>
                    <a:pt x="4214622" y="580567"/>
                  </a:lnTo>
                  <a:lnTo>
                    <a:pt x="4209977" y="581024"/>
                  </a:lnTo>
                  <a:lnTo>
                    <a:pt x="4205287" y="581024"/>
                  </a:lnTo>
                  <a:lnTo>
                    <a:pt x="71437" y="581024"/>
                  </a:lnTo>
                  <a:lnTo>
                    <a:pt x="66746" y="581024"/>
                  </a:lnTo>
                  <a:lnTo>
                    <a:pt x="62101" y="580567"/>
                  </a:lnTo>
                  <a:lnTo>
                    <a:pt x="57500" y="579652"/>
                  </a:lnTo>
                  <a:lnTo>
                    <a:pt x="52900" y="578737"/>
                  </a:lnTo>
                  <a:lnTo>
                    <a:pt x="48433" y="577381"/>
                  </a:lnTo>
                  <a:lnTo>
                    <a:pt x="44099" y="575586"/>
                  </a:lnTo>
                  <a:lnTo>
                    <a:pt x="39765" y="573791"/>
                  </a:lnTo>
                  <a:lnTo>
                    <a:pt x="20923" y="560101"/>
                  </a:lnTo>
                  <a:lnTo>
                    <a:pt x="17606" y="556784"/>
                  </a:lnTo>
                  <a:lnTo>
                    <a:pt x="5437" y="536925"/>
                  </a:lnTo>
                  <a:lnTo>
                    <a:pt x="3642" y="532591"/>
                  </a:lnTo>
                  <a:lnTo>
                    <a:pt x="2287" y="528124"/>
                  </a:lnTo>
                  <a:lnTo>
                    <a:pt x="1372" y="523524"/>
                  </a:lnTo>
                  <a:lnTo>
                    <a:pt x="457" y="518923"/>
                  </a:lnTo>
                  <a:lnTo>
                    <a:pt x="0" y="514278"/>
                  </a:lnTo>
                  <a:lnTo>
                    <a:pt x="0" y="509587"/>
                  </a:lnTo>
                  <a:close/>
                </a:path>
              </a:pathLst>
            </a:custGeom>
            <a:ln w="9524">
              <a:solidFill>
                <a:srgbClr val="FEE2E2"/>
              </a:solidFill>
            </a:ln>
          </p:spPr>
          <p:txBody>
            <a:bodyPr wrap="square" lIns="0" tIns="0" rIns="0" bIns="0" rtlCol="0"/>
            <a:lstStyle/>
            <a:p>
              <a:endParaRPr/>
            </a:p>
          </p:txBody>
        </p:sp>
        <p:pic>
          <p:nvPicPr>
            <p:cNvPr id="9" name="object 9"/>
            <p:cNvPicPr/>
            <p:nvPr/>
          </p:nvPicPr>
          <p:blipFill>
            <a:blip r:embed="rId4" cstate="print"/>
            <a:stretch>
              <a:fillRect/>
            </a:stretch>
          </p:blipFill>
          <p:spPr>
            <a:xfrm>
              <a:off x="571499" y="1276349"/>
              <a:ext cx="190500" cy="190499"/>
            </a:xfrm>
            <a:prstGeom prst="rect">
              <a:avLst/>
            </a:prstGeom>
          </p:spPr>
        </p:pic>
      </p:grpSp>
      <p:sp>
        <p:nvSpPr>
          <p:cNvPr id="10" name="object 10"/>
          <p:cNvSpPr txBox="1"/>
          <p:nvPr/>
        </p:nvSpPr>
        <p:spPr>
          <a:xfrm>
            <a:off x="585440" y="1263650"/>
            <a:ext cx="1799589" cy="185420"/>
          </a:xfrm>
          <a:prstGeom prst="rect">
            <a:avLst/>
          </a:prstGeom>
        </p:spPr>
        <p:txBody>
          <a:bodyPr vert="horz" wrap="square" lIns="0" tIns="12700" rIns="0" bIns="0" rtlCol="0">
            <a:spAutoFit/>
          </a:bodyPr>
          <a:lstStyle/>
          <a:p>
            <a:pPr marL="12700">
              <a:lnSpc>
                <a:spcPct val="100000"/>
              </a:lnSpc>
              <a:spcBef>
                <a:spcPts val="100"/>
              </a:spcBef>
            </a:pPr>
            <a:r>
              <a:rPr sz="900" spc="85">
                <a:solidFill>
                  <a:srgbClr val="B45309"/>
                </a:solidFill>
                <a:latin typeface="宋体"/>
                <a:cs typeface="宋体"/>
              </a:rPr>
              <a:t>01</a:t>
            </a:r>
            <a:r>
              <a:rPr sz="900" spc="360">
                <a:solidFill>
                  <a:srgbClr val="B45309"/>
                </a:solidFill>
                <a:latin typeface="宋体"/>
                <a:cs typeface="宋体"/>
              </a:rPr>
              <a:t> </a:t>
            </a:r>
            <a:r>
              <a:rPr sz="1575" spc="60" baseline="2645">
                <a:solidFill>
                  <a:srgbClr val="B45309"/>
                </a:solidFill>
                <a:latin typeface="宋体"/>
                <a:cs typeface="宋体"/>
              </a:rPr>
              <a:t>混洗扰动测试与基线崩溃</a:t>
            </a:r>
            <a:endParaRPr sz="1575" baseline="2645">
              <a:latin typeface="宋体"/>
              <a:cs typeface="宋体"/>
            </a:endParaRPr>
          </a:p>
        </p:txBody>
      </p:sp>
      <p:sp>
        <p:nvSpPr>
          <p:cNvPr id="11" name="object 11"/>
          <p:cNvSpPr txBox="1"/>
          <p:nvPr/>
        </p:nvSpPr>
        <p:spPr>
          <a:xfrm>
            <a:off x="558800" y="1508556"/>
            <a:ext cx="3968750" cy="387350"/>
          </a:xfrm>
          <a:prstGeom prst="rect">
            <a:avLst/>
          </a:prstGeom>
        </p:spPr>
        <p:txBody>
          <a:bodyPr vert="horz" wrap="square" lIns="0" tIns="12065" rIns="0" bIns="0" rtlCol="0">
            <a:spAutoFit/>
          </a:bodyPr>
          <a:lstStyle/>
          <a:p>
            <a:pPr marL="12700" marR="5080">
              <a:lnSpc>
                <a:spcPct val="118800"/>
              </a:lnSpc>
              <a:spcBef>
                <a:spcPts val="95"/>
              </a:spcBef>
            </a:pPr>
            <a:r>
              <a:rPr sz="1000" spc="-180">
                <a:solidFill>
                  <a:srgbClr val="4A5462"/>
                </a:solidFill>
                <a:latin typeface="宋体"/>
                <a:cs typeface="宋体"/>
              </a:rPr>
              <a:t>在 </a:t>
            </a:r>
            <a:r>
              <a:rPr sz="1000" spc="-45">
                <a:solidFill>
                  <a:srgbClr val="4A5462"/>
                </a:solidFill>
                <a:latin typeface="Microsoft Sans Serif"/>
                <a:cs typeface="Microsoft Sans Serif"/>
              </a:rPr>
              <a:t>PEMS-</a:t>
            </a:r>
            <a:r>
              <a:rPr sz="1000">
                <a:solidFill>
                  <a:srgbClr val="4A5462"/>
                </a:solidFill>
                <a:latin typeface="Microsoft Sans Serif"/>
                <a:cs typeface="Microsoft Sans Serif"/>
              </a:rPr>
              <a:t>08</a:t>
            </a:r>
            <a:r>
              <a:rPr sz="1000" spc="-60">
                <a:solidFill>
                  <a:srgbClr val="4A5462"/>
                </a:solidFill>
                <a:latin typeface="Microsoft Sans Serif"/>
                <a:cs typeface="Microsoft Sans Serif"/>
              </a:rPr>
              <a:t> </a:t>
            </a:r>
            <a:r>
              <a:rPr sz="1000" spc="-125">
                <a:solidFill>
                  <a:srgbClr val="4A5462"/>
                </a:solidFill>
                <a:latin typeface="宋体"/>
                <a:cs typeface="宋体"/>
              </a:rPr>
              <a:t>数据集上执行 </a:t>
            </a:r>
            <a:r>
              <a:rPr sz="1000">
                <a:solidFill>
                  <a:srgbClr val="4A5462"/>
                </a:solidFill>
                <a:latin typeface="Microsoft Sans Serif"/>
                <a:cs typeface="Microsoft Sans Serif"/>
              </a:rPr>
              <a:t>0</a:t>
            </a:r>
            <a:r>
              <a:rPr sz="1000" spc="-5">
                <a:solidFill>
                  <a:srgbClr val="4A5462"/>
                </a:solidFill>
                <a:latin typeface="Microsoft Sans Serif"/>
                <a:cs typeface="Microsoft Sans Serif"/>
              </a:rPr>
              <a:t>% </a:t>
            </a:r>
            <a:r>
              <a:rPr sz="1000" spc="-180">
                <a:solidFill>
                  <a:srgbClr val="4A5462"/>
                </a:solidFill>
                <a:latin typeface="宋体"/>
                <a:cs typeface="宋体"/>
              </a:rPr>
              <a:t>至 </a:t>
            </a:r>
            <a:r>
              <a:rPr sz="1000" spc="-25">
                <a:solidFill>
                  <a:srgbClr val="4A5462"/>
                </a:solidFill>
                <a:latin typeface="Microsoft Sans Serif"/>
                <a:cs typeface="Microsoft Sans Serif"/>
              </a:rPr>
              <a:t>100</a:t>
            </a:r>
            <a:r>
              <a:rPr sz="1000" spc="-20">
                <a:solidFill>
                  <a:srgbClr val="4A5462"/>
                </a:solidFill>
                <a:latin typeface="Microsoft Sans Serif"/>
                <a:cs typeface="Microsoft Sans Serif"/>
              </a:rPr>
              <a:t>% </a:t>
            </a:r>
            <a:r>
              <a:rPr sz="1000" spc="-100">
                <a:solidFill>
                  <a:srgbClr val="4A5462"/>
                </a:solidFill>
                <a:latin typeface="宋体"/>
                <a:cs typeface="宋体"/>
              </a:rPr>
              <a:t>通道的</a:t>
            </a:r>
            <a:r>
              <a:rPr sz="1000" b="1" spc="-100">
                <a:solidFill>
                  <a:srgbClr val="4A5462"/>
                </a:solidFill>
                <a:latin typeface="微软雅黑"/>
                <a:cs typeface="微软雅黑"/>
              </a:rPr>
              <a:t>局部到全局通道排布污染测试</a:t>
            </a:r>
            <a:r>
              <a:rPr sz="1000" b="1" spc="-50">
                <a:solidFill>
                  <a:srgbClr val="4A5462"/>
                </a:solidFill>
                <a:latin typeface="微软雅黑"/>
                <a:cs typeface="微软雅黑"/>
              </a:rPr>
              <a:t> </a:t>
            </a:r>
            <a:r>
              <a:rPr sz="1000" spc="-20">
                <a:solidFill>
                  <a:srgbClr val="4A5462"/>
                </a:solidFill>
                <a:latin typeface="Microsoft Sans Serif"/>
                <a:cs typeface="Microsoft Sans Serif"/>
              </a:rPr>
              <a:t>(Partial</a:t>
            </a:r>
            <a:r>
              <a:rPr sz="1000" spc="20">
                <a:solidFill>
                  <a:srgbClr val="4A5462"/>
                </a:solidFill>
                <a:latin typeface="Microsoft Sans Serif"/>
                <a:cs typeface="Microsoft Sans Serif"/>
              </a:rPr>
              <a:t> </a:t>
            </a:r>
            <a:r>
              <a:rPr sz="1000" spc="-35">
                <a:solidFill>
                  <a:srgbClr val="4A5462"/>
                </a:solidFill>
                <a:latin typeface="Microsoft Sans Serif"/>
                <a:cs typeface="Microsoft Sans Serif"/>
              </a:rPr>
              <a:t>Channel</a:t>
            </a:r>
            <a:r>
              <a:rPr sz="1000" spc="20">
                <a:solidFill>
                  <a:srgbClr val="4A5462"/>
                </a:solidFill>
                <a:latin typeface="Microsoft Sans Serif"/>
                <a:cs typeface="Microsoft Sans Serif"/>
              </a:rPr>
              <a:t> </a:t>
            </a:r>
            <a:r>
              <a:rPr sz="1000" spc="-30">
                <a:solidFill>
                  <a:srgbClr val="4A5462"/>
                </a:solidFill>
                <a:latin typeface="Microsoft Sans Serif"/>
                <a:cs typeface="Microsoft Sans Serif"/>
              </a:rPr>
              <a:t>Shuffling)</a:t>
            </a:r>
            <a:r>
              <a:rPr sz="1000" spc="-50">
                <a:solidFill>
                  <a:srgbClr val="4A5462"/>
                </a:solidFill>
                <a:latin typeface="宋体"/>
                <a:cs typeface="宋体"/>
              </a:rPr>
              <a:t>。</a:t>
            </a:r>
            <a:endParaRPr sz="1000">
              <a:latin typeface="宋体"/>
              <a:cs typeface="宋体"/>
            </a:endParaRPr>
          </a:p>
        </p:txBody>
      </p:sp>
      <p:sp>
        <p:nvSpPr>
          <p:cNvPr id="12" name="object 12"/>
          <p:cNvSpPr txBox="1"/>
          <p:nvPr/>
        </p:nvSpPr>
        <p:spPr>
          <a:xfrm>
            <a:off x="682624" y="2093048"/>
            <a:ext cx="127635" cy="196215"/>
          </a:xfrm>
          <a:prstGeom prst="rect">
            <a:avLst/>
          </a:prstGeom>
        </p:spPr>
        <p:txBody>
          <a:bodyPr vert="horz" wrap="square" lIns="0" tIns="15240" rIns="0" bIns="0" rtlCol="0">
            <a:spAutoFit/>
          </a:bodyPr>
          <a:lstStyle/>
          <a:p>
            <a:pPr marL="12700">
              <a:lnSpc>
                <a:spcPct val="100000"/>
              </a:lnSpc>
              <a:spcBef>
                <a:spcPts val="120"/>
              </a:spcBef>
            </a:pPr>
            <a:r>
              <a:rPr sz="1100" spc="-360">
                <a:solidFill>
                  <a:srgbClr val="EF4444"/>
                </a:solidFill>
                <a:latin typeface="MS PGothic"/>
                <a:cs typeface="MS PGothic"/>
              </a:rPr>
              <a:t>✕</a:t>
            </a:r>
            <a:endParaRPr sz="1100">
              <a:latin typeface="MS PGothic"/>
              <a:cs typeface="MS PGothic"/>
            </a:endParaRPr>
          </a:p>
        </p:txBody>
      </p:sp>
      <p:sp>
        <p:nvSpPr>
          <p:cNvPr id="13" name="object 13"/>
          <p:cNvSpPr txBox="1"/>
          <p:nvPr/>
        </p:nvSpPr>
        <p:spPr>
          <a:xfrm>
            <a:off x="882650" y="2118156"/>
            <a:ext cx="3787775" cy="368300"/>
          </a:xfrm>
          <a:prstGeom prst="rect">
            <a:avLst/>
          </a:prstGeom>
        </p:spPr>
        <p:txBody>
          <a:bodyPr vert="horz" wrap="square" lIns="0" tIns="12065" rIns="0" bIns="0" rtlCol="0">
            <a:spAutoFit/>
          </a:bodyPr>
          <a:lstStyle/>
          <a:p>
            <a:pPr marL="12700" marR="5080">
              <a:lnSpc>
                <a:spcPct val="112500"/>
              </a:lnSpc>
              <a:spcBef>
                <a:spcPts val="95"/>
              </a:spcBef>
            </a:pPr>
            <a:r>
              <a:rPr sz="1000" b="1" spc="-100">
                <a:solidFill>
                  <a:srgbClr val="DB2525"/>
                </a:solidFill>
                <a:latin typeface="微软雅黑"/>
                <a:cs typeface="微软雅黑"/>
              </a:rPr>
              <a:t>基线隐性图依赖发散</a:t>
            </a:r>
            <a:r>
              <a:rPr sz="1000" b="1" spc="-80">
                <a:solidFill>
                  <a:srgbClr val="DB2525"/>
                </a:solidFill>
                <a:latin typeface="Microsoft New Tai Lue"/>
                <a:cs typeface="Microsoft New Tai Lue"/>
              </a:rPr>
              <a:t>： </a:t>
            </a:r>
            <a:r>
              <a:rPr sz="1000" spc="-10">
                <a:solidFill>
                  <a:srgbClr val="374050"/>
                </a:solidFill>
                <a:latin typeface="Microsoft Sans Serif"/>
                <a:cs typeface="Microsoft Sans Serif"/>
              </a:rPr>
              <a:t>Informer</a:t>
            </a:r>
            <a:r>
              <a:rPr sz="1000" spc="-60">
                <a:solidFill>
                  <a:srgbClr val="374050"/>
                </a:solidFill>
                <a:latin typeface="Microsoft Sans Serif"/>
                <a:cs typeface="Microsoft Sans Serif"/>
              </a:rPr>
              <a:t> </a:t>
            </a:r>
            <a:r>
              <a:rPr sz="1000" spc="-125">
                <a:solidFill>
                  <a:srgbClr val="374050"/>
                </a:solidFill>
                <a:latin typeface="宋体"/>
                <a:cs typeface="宋体"/>
              </a:rPr>
              <a:t>等传统模型的 </a:t>
            </a:r>
            <a:r>
              <a:rPr sz="1000" spc="-105">
                <a:solidFill>
                  <a:srgbClr val="374050"/>
                </a:solidFill>
                <a:latin typeface="Microsoft Sans Serif"/>
                <a:cs typeface="Microsoft Sans Serif"/>
              </a:rPr>
              <a:t>WAPE</a:t>
            </a:r>
            <a:r>
              <a:rPr sz="1000" spc="-60">
                <a:solidFill>
                  <a:srgbClr val="374050"/>
                </a:solidFill>
                <a:latin typeface="Microsoft Sans Serif"/>
                <a:cs typeface="Microsoft Sans Serif"/>
              </a:rPr>
              <a:t> </a:t>
            </a:r>
            <a:r>
              <a:rPr sz="1000" spc="-100">
                <a:solidFill>
                  <a:srgbClr val="374050"/>
                </a:solidFill>
                <a:latin typeface="宋体"/>
                <a:cs typeface="宋体"/>
              </a:rPr>
              <a:t>随混洗比例呈指数级崩溃，暴露出其对固定通道排布拓扑的严重过拟合。</a:t>
            </a:r>
            <a:endParaRPr sz="1000">
              <a:latin typeface="宋体"/>
              <a:cs typeface="宋体"/>
            </a:endParaRPr>
          </a:p>
        </p:txBody>
      </p:sp>
      <p:grpSp>
        <p:nvGrpSpPr>
          <p:cNvPr id="14" name="object 14"/>
          <p:cNvGrpSpPr/>
          <p:nvPr/>
        </p:nvGrpSpPr>
        <p:grpSpPr>
          <a:xfrm>
            <a:off x="380999" y="3648074"/>
            <a:ext cx="4629150" cy="2828925"/>
            <a:chOff x="380999" y="3648074"/>
            <a:chExt cx="4629150" cy="2828925"/>
          </a:xfrm>
        </p:grpSpPr>
        <p:sp>
          <p:nvSpPr>
            <p:cNvPr id="15" name="object 15"/>
            <p:cNvSpPr/>
            <p:nvPr/>
          </p:nvSpPr>
          <p:spPr>
            <a:xfrm>
              <a:off x="400049" y="3648074"/>
              <a:ext cx="4610100" cy="2828925"/>
            </a:xfrm>
            <a:custGeom>
              <a:avLst/>
              <a:gdLst/>
              <a:ahLst/>
              <a:cxnLst/>
              <a:rect l="l" t="t" r="r" b="b"/>
              <a:pathLst>
                <a:path w="4610100" h="2828925">
                  <a:moveTo>
                    <a:pt x="4503304" y="2828924"/>
                  </a:moveTo>
                  <a:lnTo>
                    <a:pt x="0" y="2828924"/>
                  </a:lnTo>
                  <a:lnTo>
                    <a:pt x="0" y="0"/>
                  </a:lnTo>
                  <a:lnTo>
                    <a:pt x="4503304" y="0"/>
                  </a:lnTo>
                  <a:lnTo>
                    <a:pt x="4510737" y="731"/>
                  </a:lnTo>
                  <a:lnTo>
                    <a:pt x="4553060" y="15092"/>
                  </a:lnTo>
                  <a:lnTo>
                    <a:pt x="4586666" y="44558"/>
                  </a:lnTo>
                  <a:lnTo>
                    <a:pt x="4606439" y="84639"/>
                  </a:lnTo>
                  <a:lnTo>
                    <a:pt x="4610099" y="106794"/>
                  </a:lnTo>
                  <a:lnTo>
                    <a:pt x="4610099" y="2722129"/>
                  </a:lnTo>
                  <a:lnTo>
                    <a:pt x="4598526" y="2765299"/>
                  </a:lnTo>
                  <a:lnTo>
                    <a:pt x="4571314" y="2800753"/>
                  </a:lnTo>
                  <a:lnTo>
                    <a:pt x="4532606" y="2823096"/>
                  </a:lnTo>
                  <a:lnTo>
                    <a:pt x="4503304" y="2828924"/>
                  </a:lnTo>
                  <a:close/>
                </a:path>
              </a:pathLst>
            </a:custGeom>
            <a:solidFill>
              <a:srgbClr val="EFF5FF">
                <a:alpha val="50199"/>
              </a:srgbClr>
            </a:solidFill>
          </p:spPr>
          <p:txBody>
            <a:bodyPr wrap="square" lIns="0" tIns="0" rIns="0" bIns="0" rtlCol="0"/>
            <a:lstStyle/>
            <a:p>
              <a:endParaRPr/>
            </a:p>
          </p:txBody>
        </p:sp>
        <p:sp>
          <p:nvSpPr>
            <p:cNvPr id="16" name="object 16"/>
            <p:cNvSpPr/>
            <p:nvPr/>
          </p:nvSpPr>
          <p:spPr>
            <a:xfrm>
              <a:off x="380999" y="3648074"/>
              <a:ext cx="38100" cy="2828925"/>
            </a:xfrm>
            <a:custGeom>
              <a:avLst/>
              <a:gdLst/>
              <a:ahLst/>
              <a:cxnLst/>
              <a:rect l="l" t="t" r="r" b="b"/>
              <a:pathLst>
                <a:path w="38100" h="2828925">
                  <a:moveTo>
                    <a:pt x="38099" y="2828924"/>
                  </a:moveTo>
                  <a:lnTo>
                    <a:pt x="0" y="2828924"/>
                  </a:lnTo>
                  <a:lnTo>
                    <a:pt x="0" y="0"/>
                  </a:lnTo>
                  <a:lnTo>
                    <a:pt x="38099" y="0"/>
                  </a:lnTo>
                  <a:lnTo>
                    <a:pt x="38099" y="2828924"/>
                  </a:lnTo>
                  <a:close/>
                </a:path>
              </a:pathLst>
            </a:custGeom>
            <a:solidFill>
              <a:srgbClr val="1D40AF"/>
            </a:solidFill>
          </p:spPr>
          <p:txBody>
            <a:bodyPr wrap="square" lIns="0" tIns="0" rIns="0" bIns="0" rtlCol="0"/>
            <a:lstStyle/>
            <a:p>
              <a:endParaRPr/>
            </a:p>
          </p:txBody>
        </p:sp>
        <p:sp>
          <p:nvSpPr>
            <p:cNvPr id="17" name="object 17"/>
            <p:cNvSpPr/>
            <p:nvPr/>
          </p:nvSpPr>
          <p:spPr>
            <a:xfrm>
              <a:off x="576262" y="4557712"/>
              <a:ext cx="4276725" cy="1038225"/>
            </a:xfrm>
            <a:custGeom>
              <a:avLst/>
              <a:gdLst/>
              <a:ahLst/>
              <a:cxnLst/>
              <a:rect l="l" t="t" r="r" b="b"/>
              <a:pathLst>
                <a:path w="4276725" h="1038225">
                  <a:moveTo>
                    <a:pt x="4209977" y="1038224"/>
                  </a:moveTo>
                  <a:lnTo>
                    <a:pt x="66746" y="1038224"/>
                  </a:lnTo>
                  <a:lnTo>
                    <a:pt x="62101" y="1037767"/>
                  </a:lnTo>
                  <a:lnTo>
                    <a:pt x="24240" y="1020617"/>
                  </a:lnTo>
                  <a:lnTo>
                    <a:pt x="2287" y="985324"/>
                  </a:lnTo>
                  <a:lnTo>
                    <a:pt x="0" y="971477"/>
                  </a:lnTo>
                  <a:lnTo>
                    <a:pt x="0" y="966787"/>
                  </a:lnTo>
                  <a:lnTo>
                    <a:pt x="0" y="66746"/>
                  </a:lnTo>
                  <a:lnTo>
                    <a:pt x="14645" y="27848"/>
                  </a:lnTo>
                  <a:lnTo>
                    <a:pt x="48433" y="3642"/>
                  </a:lnTo>
                  <a:lnTo>
                    <a:pt x="66746" y="0"/>
                  </a:lnTo>
                  <a:lnTo>
                    <a:pt x="4209977" y="0"/>
                  </a:lnTo>
                  <a:lnTo>
                    <a:pt x="4248875" y="14645"/>
                  </a:lnTo>
                  <a:lnTo>
                    <a:pt x="4273081" y="48433"/>
                  </a:lnTo>
                  <a:lnTo>
                    <a:pt x="4276724" y="66746"/>
                  </a:lnTo>
                  <a:lnTo>
                    <a:pt x="4276724" y="971477"/>
                  </a:lnTo>
                  <a:lnTo>
                    <a:pt x="4262079" y="1010375"/>
                  </a:lnTo>
                  <a:lnTo>
                    <a:pt x="4228291" y="1034581"/>
                  </a:lnTo>
                  <a:lnTo>
                    <a:pt x="4214622" y="1037767"/>
                  </a:lnTo>
                  <a:lnTo>
                    <a:pt x="4209977" y="1038224"/>
                  </a:lnTo>
                  <a:close/>
                </a:path>
              </a:pathLst>
            </a:custGeom>
            <a:solidFill>
              <a:srgbClr val="FFFFFF"/>
            </a:solidFill>
          </p:spPr>
          <p:txBody>
            <a:bodyPr wrap="square" lIns="0" tIns="0" rIns="0" bIns="0" rtlCol="0"/>
            <a:lstStyle/>
            <a:p>
              <a:endParaRPr/>
            </a:p>
          </p:txBody>
        </p:sp>
        <p:sp>
          <p:nvSpPr>
            <p:cNvPr id="18" name="object 18"/>
            <p:cNvSpPr/>
            <p:nvPr/>
          </p:nvSpPr>
          <p:spPr>
            <a:xfrm>
              <a:off x="576262" y="4557712"/>
              <a:ext cx="4276725" cy="1038225"/>
            </a:xfrm>
            <a:custGeom>
              <a:avLst/>
              <a:gdLst/>
              <a:ahLst/>
              <a:cxnLst/>
              <a:rect l="l" t="t" r="r" b="b"/>
              <a:pathLst>
                <a:path w="4276725" h="1038225">
                  <a:moveTo>
                    <a:pt x="0" y="966787"/>
                  </a:moveTo>
                  <a:lnTo>
                    <a:pt x="0" y="71437"/>
                  </a:lnTo>
                  <a:lnTo>
                    <a:pt x="0" y="66746"/>
                  </a:lnTo>
                  <a:lnTo>
                    <a:pt x="457" y="62101"/>
                  </a:lnTo>
                  <a:lnTo>
                    <a:pt x="1372" y="57500"/>
                  </a:lnTo>
                  <a:lnTo>
                    <a:pt x="2287" y="52900"/>
                  </a:lnTo>
                  <a:lnTo>
                    <a:pt x="3642" y="48433"/>
                  </a:lnTo>
                  <a:lnTo>
                    <a:pt x="20923" y="20923"/>
                  </a:lnTo>
                  <a:lnTo>
                    <a:pt x="24240" y="17606"/>
                  </a:lnTo>
                  <a:lnTo>
                    <a:pt x="57500" y="1372"/>
                  </a:lnTo>
                  <a:lnTo>
                    <a:pt x="62101" y="457"/>
                  </a:lnTo>
                  <a:lnTo>
                    <a:pt x="66746" y="0"/>
                  </a:lnTo>
                  <a:lnTo>
                    <a:pt x="71437" y="0"/>
                  </a:lnTo>
                  <a:lnTo>
                    <a:pt x="4205287" y="0"/>
                  </a:lnTo>
                  <a:lnTo>
                    <a:pt x="4209977" y="0"/>
                  </a:lnTo>
                  <a:lnTo>
                    <a:pt x="4214622" y="457"/>
                  </a:lnTo>
                  <a:lnTo>
                    <a:pt x="4219223" y="1372"/>
                  </a:lnTo>
                  <a:lnTo>
                    <a:pt x="4223824" y="2287"/>
                  </a:lnTo>
                  <a:lnTo>
                    <a:pt x="4255800" y="20923"/>
                  </a:lnTo>
                  <a:lnTo>
                    <a:pt x="4259117" y="24240"/>
                  </a:lnTo>
                  <a:lnTo>
                    <a:pt x="4262078" y="27848"/>
                  </a:lnTo>
                  <a:lnTo>
                    <a:pt x="4264684" y="31748"/>
                  </a:lnTo>
                  <a:lnTo>
                    <a:pt x="4267290" y="35649"/>
                  </a:lnTo>
                  <a:lnTo>
                    <a:pt x="4275351" y="57500"/>
                  </a:lnTo>
                  <a:lnTo>
                    <a:pt x="4276266" y="62101"/>
                  </a:lnTo>
                  <a:lnTo>
                    <a:pt x="4276724" y="66746"/>
                  </a:lnTo>
                  <a:lnTo>
                    <a:pt x="4276724" y="71437"/>
                  </a:lnTo>
                  <a:lnTo>
                    <a:pt x="4276724" y="966787"/>
                  </a:lnTo>
                  <a:lnTo>
                    <a:pt x="4276724" y="971477"/>
                  </a:lnTo>
                  <a:lnTo>
                    <a:pt x="4276266" y="976123"/>
                  </a:lnTo>
                  <a:lnTo>
                    <a:pt x="4275351" y="980723"/>
                  </a:lnTo>
                  <a:lnTo>
                    <a:pt x="4274436" y="985324"/>
                  </a:lnTo>
                  <a:lnTo>
                    <a:pt x="4252484" y="1020617"/>
                  </a:lnTo>
                  <a:lnTo>
                    <a:pt x="4219223" y="1036851"/>
                  </a:lnTo>
                  <a:lnTo>
                    <a:pt x="4214622" y="1037767"/>
                  </a:lnTo>
                  <a:lnTo>
                    <a:pt x="4209977" y="1038224"/>
                  </a:lnTo>
                  <a:lnTo>
                    <a:pt x="4205287" y="1038224"/>
                  </a:lnTo>
                  <a:lnTo>
                    <a:pt x="71437" y="1038224"/>
                  </a:lnTo>
                  <a:lnTo>
                    <a:pt x="66746" y="1038224"/>
                  </a:lnTo>
                  <a:lnTo>
                    <a:pt x="62101" y="1037767"/>
                  </a:lnTo>
                  <a:lnTo>
                    <a:pt x="57500" y="1036851"/>
                  </a:lnTo>
                  <a:lnTo>
                    <a:pt x="52900" y="1035936"/>
                  </a:lnTo>
                  <a:lnTo>
                    <a:pt x="31748" y="1026185"/>
                  </a:lnTo>
                  <a:lnTo>
                    <a:pt x="27848" y="1023579"/>
                  </a:lnTo>
                  <a:lnTo>
                    <a:pt x="3642" y="989791"/>
                  </a:lnTo>
                  <a:lnTo>
                    <a:pt x="1372" y="980723"/>
                  </a:lnTo>
                  <a:lnTo>
                    <a:pt x="457" y="976123"/>
                  </a:lnTo>
                  <a:lnTo>
                    <a:pt x="0" y="971477"/>
                  </a:lnTo>
                  <a:lnTo>
                    <a:pt x="0" y="966787"/>
                  </a:lnTo>
                  <a:close/>
                </a:path>
              </a:pathLst>
            </a:custGeom>
            <a:ln w="9524">
              <a:solidFill>
                <a:srgbClr val="DAE9FE"/>
              </a:solidFill>
            </a:ln>
          </p:spPr>
          <p:txBody>
            <a:bodyPr wrap="square" lIns="0" tIns="0" rIns="0" bIns="0" rtlCol="0"/>
            <a:lstStyle/>
            <a:p>
              <a:endParaRPr/>
            </a:p>
          </p:txBody>
        </p:sp>
        <p:pic>
          <p:nvPicPr>
            <p:cNvPr id="19" name="object 19"/>
            <p:cNvPicPr/>
            <p:nvPr/>
          </p:nvPicPr>
          <p:blipFill>
            <a:blip r:embed="rId5" cstate="print"/>
            <a:stretch>
              <a:fillRect/>
            </a:stretch>
          </p:blipFill>
          <p:spPr>
            <a:xfrm>
              <a:off x="571499" y="3800474"/>
              <a:ext cx="190500" cy="190499"/>
            </a:xfrm>
            <a:prstGeom prst="rect">
              <a:avLst/>
            </a:prstGeom>
          </p:spPr>
        </p:pic>
      </p:grpSp>
      <p:sp>
        <p:nvSpPr>
          <p:cNvPr id="20" name="object 20"/>
          <p:cNvSpPr txBox="1"/>
          <p:nvPr/>
        </p:nvSpPr>
        <p:spPr>
          <a:xfrm>
            <a:off x="585440" y="3806825"/>
            <a:ext cx="162560" cy="162560"/>
          </a:xfrm>
          <a:prstGeom prst="rect">
            <a:avLst/>
          </a:prstGeom>
        </p:spPr>
        <p:txBody>
          <a:bodyPr vert="horz" wrap="square" lIns="0" tIns="12700" rIns="0" bIns="0" rtlCol="0">
            <a:spAutoFit/>
          </a:bodyPr>
          <a:lstStyle/>
          <a:p>
            <a:pPr marL="12700">
              <a:lnSpc>
                <a:spcPct val="100000"/>
              </a:lnSpc>
              <a:spcBef>
                <a:spcPts val="100"/>
              </a:spcBef>
            </a:pPr>
            <a:r>
              <a:rPr sz="900" spc="60">
                <a:solidFill>
                  <a:srgbClr val="1D40AF"/>
                </a:solidFill>
                <a:latin typeface="宋体"/>
                <a:cs typeface="宋体"/>
              </a:rPr>
              <a:t>02</a:t>
            </a:r>
            <a:endParaRPr sz="900">
              <a:latin typeface="宋体"/>
              <a:cs typeface="宋体"/>
            </a:endParaRPr>
          </a:p>
        </p:txBody>
      </p:sp>
      <p:sp>
        <p:nvSpPr>
          <p:cNvPr id="21" name="object 21"/>
          <p:cNvSpPr txBox="1"/>
          <p:nvPr/>
        </p:nvSpPr>
        <p:spPr>
          <a:xfrm>
            <a:off x="825500" y="3778250"/>
            <a:ext cx="1558925" cy="185420"/>
          </a:xfrm>
          <a:prstGeom prst="rect">
            <a:avLst/>
          </a:prstGeom>
        </p:spPr>
        <p:txBody>
          <a:bodyPr vert="horz" wrap="square" lIns="0" tIns="12700" rIns="0" bIns="0" rtlCol="0">
            <a:spAutoFit/>
          </a:bodyPr>
          <a:lstStyle/>
          <a:p>
            <a:pPr marL="12700">
              <a:lnSpc>
                <a:spcPct val="100000"/>
              </a:lnSpc>
              <a:spcBef>
                <a:spcPts val="100"/>
              </a:spcBef>
            </a:pPr>
            <a:r>
              <a:rPr sz="1050" spc="40">
                <a:solidFill>
                  <a:srgbClr val="1D40AF"/>
                </a:solidFill>
                <a:latin typeface="宋体"/>
                <a:cs typeface="宋体"/>
              </a:rPr>
              <a:t>绝对鲁棒性与理论复杂度</a:t>
            </a:r>
            <a:endParaRPr sz="1050">
              <a:latin typeface="宋体"/>
              <a:cs typeface="宋体"/>
            </a:endParaRPr>
          </a:p>
        </p:txBody>
      </p:sp>
      <p:sp>
        <p:nvSpPr>
          <p:cNvPr id="22" name="object 22"/>
          <p:cNvSpPr/>
          <p:nvPr/>
        </p:nvSpPr>
        <p:spPr>
          <a:xfrm>
            <a:off x="695324" y="5095874"/>
            <a:ext cx="4038600" cy="9525"/>
          </a:xfrm>
          <a:custGeom>
            <a:avLst/>
            <a:gdLst/>
            <a:ahLst/>
            <a:cxnLst/>
            <a:rect l="l" t="t" r="r" b="b"/>
            <a:pathLst>
              <a:path w="4038600" h="9525">
                <a:moveTo>
                  <a:pt x="4038599" y="9524"/>
                </a:moveTo>
                <a:lnTo>
                  <a:pt x="0" y="9524"/>
                </a:lnTo>
                <a:lnTo>
                  <a:pt x="0" y="0"/>
                </a:lnTo>
                <a:lnTo>
                  <a:pt x="4038599" y="0"/>
                </a:lnTo>
                <a:lnTo>
                  <a:pt x="4038599" y="9524"/>
                </a:lnTo>
                <a:close/>
              </a:path>
            </a:pathLst>
          </a:custGeom>
          <a:solidFill>
            <a:srgbClr val="F2F4F5"/>
          </a:solidFill>
        </p:spPr>
        <p:txBody>
          <a:bodyPr wrap="square" lIns="0" tIns="0" rIns="0" bIns="0" rtlCol="0"/>
          <a:lstStyle/>
          <a:p>
            <a:endParaRPr/>
          </a:p>
        </p:txBody>
      </p:sp>
      <p:sp>
        <p:nvSpPr>
          <p:cNvPr id="23" name="object 23"/>
          <p:cNvSpPr txBox="1"/>
          <p:nvPr/>
        </p:nvSpPr>
        <p:spPr>
          <a:xfrm>
            <a:off x="508000" y="4032681"/>
            <a:ext cx="4333240" cy="1444625"/>
          </a:xfrm>
          <a:prstGeom prst="rect">
            <a:avLst/>
          </a:prstGeom>
        </p:spPr>
        <p:txBody>
          <a:bodyPr vert="horz" wrap="square" lIns="0" tIns="12065" rIns="0" bIns="0" rtlCol="0">
            <a:spAutoFit/>
          </a:bodyPr>
          <a:lstStyle/>
          <a:p>
            <a:pPr marL="63500" marR="55880">
              <a:lnSpc>
                <a:spcPct val="118800"/>
              </a:lnSpc>
              <a:spcBef>
                <a:spcPts val="95"/>
              </a:spcBef>
            </a:pPr>
            <a:r>
              <a:rPr sz="1000">
                <a:solidFill>
                  <a:srgbClr val="4A5462"/>
                </a:solidFill>
                <a:latin typeface="Microsoft Sans Serif"/>
                <a:cs typeface="Microsoft Sans Serif"/>
              </a:rPr>
              <a:t>CPI</a:t>
            </a:r>
            <a:r>
              <a:rPr sz="900" i="1">
                <a:solidFill>
                  <a:srgbClr val="4A5462"/>
                </a:solidFill>
                <a:latin typeface="Cambria"/>
                <a:cs typeface="Cambria"/>
              </a:rPr>
              <a:t>R</a:t>
            </a:r>
            <a:r>
              <a:rPr sz="900" i="1" baseline="-13888">
                <a:solidFill>
                  <a:srgbClr val="4A5462"/>
                </a:solidFill>
                <a:latin typeface="Cambria"/>
                <a:cs typeface="Cambria"/>
              </a:rPr>
              <a:t>i</a:t>
            </a:r>
            <a:r>
              <a:rPr sz="900" i="1" spc="157" baseline="-13888">
                <a:solidFill>
                  <a:srgbClr val="4A5462"/>
                </a:solidFill>
                <a:latin typeface="Cambria"/>
                <a:cs typeface="Cambria"/>
              </a:rPr>
              <a:t> </a:t>
            </a:r>
            <a:r>
              <a:rPr sz="1000" spc="-145">
                <a:solidFill>
                  <a:srgbClr val="4A5462"/>
                </a:solidFill>
                <a:latin typeface="宋体"/>
                <a:cs typeface="宋体"/>
              </a:rPr>
              <a:t>模型的 </a:t>
            </a:r>
            <a:r>
              <a:rPr sz="1000" spc="-105">
                <a:solidFill>
                  <a:srgbClr val="4A5462"/>
                </a:solidFill>
                <a:latin typeface="Microsoft Sans Serif"/>
                <a:cs typeface="Microsoft Sans Serif"/>
              </a:rPr>
              <a:t>WAPE</a:t>
            </a:r>
            <a:r>
              <a:rPr sz="1000" spc="-60">
                <a:solidFill>
                  <a:srgbClr val="4A5462"/>
                </a:solidFill>
                <a:latin typeface="Microsoft Sans Serif"/>
                <a:cs typeface="Microsoft Sans Serif"/>
              </a:rPr>
              <a:t> </a:t>
            </a:r>
            <a:r>
              <a:rPr sz="1000" spc="-100">
                <a:solidFill>
                  <a:srgbClr val="4A5462"/>
                </a:solidFill>
                <a:latin typeface="宋体"/>
                <a:cs typeface="宋体"/>
              </a:rPr>
              <a:t>误差曲线在所有混洗扰动下</a:t>
            </a:r>
            <a:r>
              <a:rPr sz="1000" b="1" spc="-100">
                <a:solidFill>
                  <a:srgbClr val="4A5462"/>
                </a:solidFill>
                <a:latin typeface="微软雅黑"/>
                <a:cs typeface="微软雅黑"/>
              </a:rPr>
              <a:t>完全保持水平 </a:t>
            </a:r>
            <a:r>
              <a:rPr sz="1000" b="1" spc="-40">
                <a:solidFill>
                  <a:srgbClr val="4A5462"/>
                </a:solidFill>
                <a:latin typeface="Arial"/>
                <a:cs typeface="Arial"/>
              </a:rPr>
              <a:t>(</a:t>
            </a:r>
            <a:r>
              <a:rPr sz="1000" b="1" spc="-95">
                <a:solidFill>
                  <a:srgbClr val="4A5462"/>
                </a:solidFill>
                <a:latin typeface="微软雅黑"/>
                <a:cs typeface="微软雅黑"/>
              </a:rPr>
              <a:t>恒定约 </a:t>
            </a:r>
            <a:r>
              <a:rPr sz="1000" b="1" spc="-10">
                <a:solidFill>
                  <a:srgbClr val="4A5462"/>
                </a:solidFill>
                <a:latin typeface="Arial"/>
                <a:cs typeface="Arial"/>
              </a:rPr>
              <a:t>9.43%)</a:t>
            </a:r>
            <a:r>
              <a:rPr sz="1000" spc="-30">
                <a:solidFill>
                  <a:srgbClr val="4A5462"/>
                </a:solidFill>
                <a:latin typeface="宋体"/>
                <a:cs typeface="宋体"/>
              </a:rPr>
              <a:t>，从</a:t>
            </a:r>
            <a:r>
              <a:rPr sz="1000" spc="-95">
                <a:solidFill>
                  <a:srgbClr val="4A5462"/>
                </a:solidFill>
                <a:latin typeface="宋体"/>
                <a:cs typeface="宋体"/>
              </a:rPr>
              <a:t>容免疫物理拓扑破坏。</a:t>
            </a:r>
            <a:endParaRPr sz="1000">
              <a:latin typeface="宋体"/>
              <a:cs typeface="宋体"/>
            </a:endParaRPr>
          </a:p>
          <a:p>
            <a:pPr>
              <a:lnSpc>
                <a:spcPct val="100000"/>
              </a:lnSpc>
              <a:spcBef>
                <a:spcPts val="780"/>
              </a:spcBef>
            </a:pPr>
            <a:endParaRPr sz="900">
              <a:latin typeface="宋体"/>
              <a:cs typeface="宋体"/>
            </a:endParaRPr>
          </a:p>
          <a:p>
            <a:pPr marL="375920" marR="99060" indent="-189230">
              <a:lnSpc>
                <a:spcPct val="112500"/>
              </a:lnSpc>
              <a:buClr>
                <a:srgbClr val="1D40AF"/>
              </a:buClr>
              <a:buSzPct val="115000"/>
              <a:buFont typeface="Yu Gothic"/>
              <a:buChar char="✓"/>
              <a:tabLst>
                <a:tab pos="377190" algn="l"/>
              </a:tabLst>
            </a:pPr>
            <a:r>
              <a:rPr sz="1000" b="1" spc="-100">
                <a:solidFill>
                  <a:srgbClr val="1D3A8A"/>
                </a:solidFill>
                <a:latin typeface="微软雅黑"/>
                <a:cs typeface="微软雅黑"/>
              </a:rPr>
              <a:t>架构精简</a:t>
            </a:r>
            <a:r>
              <a:rPr sz="1000" b="1" spc="-80">
                <a:solidFill>
                  <a:srgbClr val="1D3A8A"/>
                </a:solidFill>
                <a:latin typeface="Microsoft New Tai Lue"/>
                <a:cs typeface="Microsoft New Tai Lue"/>
              </a:rPr>
              <a:t>： </a:t>
            </a:r>
            <a:r>
              <a:rPr sz="1000" spc="-20">
                <a:solidFill>
                  <a:srgbClr val="374050"/>
                </a:solidFill>
                <a:latin typeface="Microsoft Sans Serif"/>
                <a:cs typeface="Microsoft Sans Serif"/>
              </a:rPr>
              <a:t>iTransformer</a:t>
            </a:r>
            <a:r>
              <a:rPr sz="1000" spc="-50">
                <a:solidFill>
                  <a:srgbClr val="374050"/>
                </a:solidFill>
                <a:latin typeface="Microsoft Sans Serif"/>
                <a:cs typeface="Microsoft Sans Serif"/>
              </a:rPr>
              <a:t> </a:t>
            </a:r>
            <a:r>
              <a:rPr sz="1000" spc="-100">
                <a:solidFill>
                  <a:srgbClr val="374050"/>
                </a:solidFill>
                <a:latin typeface="宋体"/>
                <a:cs typeface="宋体"/>
              </a:rPr>
              <a:t>虽亦具备水平不变性，但其依赖全序列复杂度高昂	</a:t>
            </a:r>
            <a:r>
              <a:rPr sz="1000" spc="-70">
                <a:solidFill>
                  <a:srgbClr val="374050"/>
                </a:solidFill>
                <a:latin typeface="宋体"/>
                <a:cs typeface="宋体"/>
              </a:rPr>
              <a:t>的 </a:t>
            </a:r>
            <a:r>
              <a:rPr sz="900" i="1" spc="50">
                <a:solidFill>
                  <a:srgbClr val="374050"/>
                </a:solidFill>
                <a:latin typeface="Cambria"/>
                <a:cs typeface="Cambria"/>
              </a:rPr>
              <a:t>O</a:t>
            </a:r>
            <a:r>
              <a:rPr sz="900" spc="50">
                <a:solidFill>
                  <a:srgbClr val="374050"/>
                </a:solidFill>
                <a:latin typeface="Georgia"/>
                <a:cs typeface="Georgia"/>
              </a:rPr>
              <a:t>((</a:t>
            </a:r>
            <a:r>
              <a:rPr sz="900" i="1" spc="50">
                <a:solidFill>
                  <a:srgbClr val="374050"/>
                </a:solidFill>
                <a:latin typeface="Cambria"/>
                <a:cs typeface="Cambria"/>
              </a:rPr>
              <a:t>T</a:t>
            </a:r>
            <a:r>
              <a:rPr sz="900" i="1" spc="135">
                <a:solidFill>
                  <a:srgbClr val="374050"/>
                </a:solidFill>
                <a:latin typeface="Cambria"/>
                <a:cs typeface="Cambria"/>
              </a:rPr>
              <a:t> </a:t>
            </a:r>
            <a:r>
              <a:rPr sz="900" spc="35">
                <a:solidFill>
                  <a:srgbClr val="374050"/>
                </a:solidFill>
                <a:latin typeface="Georgia"/>
                <a:cs typeface="Georgia"/>
              </a:rPr>
              <a:t>× </a:t>
            </a:r>
            <a:r>
              <a:rPr sz="900" i="1" spc="155">
                <a:solidFill>
                  <a:srgbClr val="374050"/>
                </a:solidFill>
                <a:latin typeface="Cambria"/>
                <a:cs typeface="Cambria"/>
              </a:rPr>
              <a:t>C</a:t>
            </a:r>
            <a:r>
              <a:rPr sz="900" i="1" spc="-100">
                <a:solidFill>
                  <a:srgbClr val="374050"/>
                </a:solidFill>
                <a:latin typeface="Cambria"/>
                <a:cs typeface="Cambria"/>
              </a:rPr>
              <a:t> </a:t>
            </a:r>
            <a:r>
              <a:rPr sz="900">
                <a:solidFill>
                  <a:srgbClr val="374050"/>
                </a:solidFill>
                <a:latin typeface="Georgia"/>
                <a:cs typeface="Georgia"/>
              </a:rPr>
              <a:t>)</a:t>
            </a:r>
            <a:r>
              <a:rPr sz="900" baseline="32407">
                <a:solidFill>
                  <a:srgbClr val="374050"/>
                </a:solidFill>
                <a:latin typeface="Georgia"/>
                <a:cs typeface="Georgia"/>
              </a:rPr>
              <a:t>2</a:t>
            </a:r>
            <a:r>
              <a:rPr sz="900" spc="130">
                <a:solidFill>
                  <a:srgbClr val="374050"/>
                </a:solidFill>
                <a:latin typeface="Georgia"/>
                <a:cs typeface="Georgia"/>
              </a:rPr>
              <a:t>) </a:t>
            </a:r>
            <a:r>
              <a:rPr sz="1000" spc="-95">
                <a:solidFill>
                  <a:srgbClr val="374050"/>
                </a:solidFill>
                <a:latin typeface="宋体"/>
                <a:cs typeface="宋体"/>
              </a:rPr>
              <a:t>多头层级映射。</a:t>
            </a:r>
            <a:endParaRPr sz="1000">
              <a:latin typeface="宋体"/>
              <a:cs typeface="宋体"/>
            </a:endParaRPr>
          </a:p>
          <a:p>
            <a:pPr marL="377190" marR="153035">
              <a:lnSpc>
                <a:spcPct val="106300"/>
              </a:lnSpc>
              <a:spcBef>
                <a:spcPts val="1125"/>
              </a:spcBef>
            </a:pPr>
            <a:r>
              <a:rPr sz="1000" spc="-190">
                <a:solidFill>
                  <a:srgbClr val="6A7280"/>
                </a:solidFill>
                <a:latin typeface="宋体"/>
                <a:cs typeface="宋体"/>
              </a:rPr>
              <a:t>而 </a:t>
            </a:r>
            <a:r>
              <a:rPr sz="1000">
                <a:solidFill>
                  <a:srgbClr val="6A7280"/>
                </a:solidFill>
                <a:latin typeface="Microsoft Sans Serif"/>
                <a:cs typeface="Microsoft Sans Serif"/>
              </a:rPr>
              <a:t>CPI</a:t>
            </a:r>
            <a:r>
              <a:rPr sz="900" i="1">
                <a:solidFill>
                  <a:srgbClr val="6A7280"/>
                </a:solidFill>
                <a:latin typeface="Cambria"/>
                <a:cs typeface="Cambria"/>
              </a:rPr>
              <a:t>R</a:t>
            </a:r>
            <a:r>
              <a:rPr sz="900" i="1" baseline="-13888">
                <a:solidFill>
                  <a:srgbClr val="6A7280"/>
                </a:solidFill>
                <a:latin typeface="Cambria"/>
                <a:cs typeface="Cambria"/>
              </a:rPr>
              <a:t>i</a:t>
            </a:r>
            <a:r>
              <a:rPr sz="900" i="1" spc="82" baseline="-13888">
                <a:solidFill>
                  <a:srgbClr val="6A7280"/>
                </a:solidFill>
                <a:latin typeface="Cambria"/>
                <a:cs typeface="Cambria"/>
              </a:rPr>
              <a:t> </a:t>
            </a:r>
            <a:r>
              <a:rPr sz="1000" spc="-130">
                <a:solidFill>
                  <a:srgbClr val="6A7280"/>
                </a:solidFill>
                <a:latin typeface="宋体"/>
                <a:cs typeface="宋体"/>
              </a:rPr>
              <a:t>基于提纯后 </a:t>
            </a:r>
            <a:r>
              <a:rPr sz="1000" spc="-35">
                <a:solidFill>
                  <a:srgbClr val="6A7280"/>
                </a:solidFill>
                <a:latin typeface="Microsoft Sans Serif"/>
                <a:cs typeface="Microsoft Sans Serif"/>
              </a:rPr>
              <a:t>Token</a:t>
            </a:r>
            <a:r>
              <a:rPr sz="1000" spc="-50">
                <a:solidFill>
                  <a:srgbClr val="6A7280"/>
                </a:solidFill>
                <a:latin typeface="Microsoft Sans Serif"/>
                <a:cs typeface="Microsoft Sans Serif"/>
              </a:rPr>
              <a:t> </a:t>
            </a:r>
            <a:r>
              <a:rPr sz="1000" spc="-100">
                <a:solidFill>
                  <a:srgbClr val="6A7280"/>
                </a:solidFill>
                <a:latin typeface="宋体"/>
                <a:cs typeface="宋体"/>
              </a:rPr>
              <a:t>计算，将空间复杂度一举压减至 </a:t>
            </a:r>
            <a:r>
              <a:rPr sz="900" i="1" spc="105">
                <a:solidFill>
                  <a:srgbClr val="1D40AF"/>
                </a:solidFill>
                <a:latin typeface="Cambria"/>
                <a:cs typeface="Cambria"/>
              </a:rPr>
              <a:t>O</a:t>
            </a:r>
            <a:r>
              <a:rPr sz="900" spc="105">
                <a:solidFill>
                  <a:srgbClr val="1D40AF"/>
                </a:solidFill>
                <a:latin typeface="Georgia"/>
                <a:cs typeface="Georgia"/>
              </a:rPr>
              <a:t>(</a:t>
            </a:r>
            <a:r>
              <a:rPr sz="900" i="1" spc="105">
                <a:solidFill>
                  <a:srgbClr val="1D40AF"/>
                </a:solidFill>
                <a:latin typeface="Cambria"/>
                <a:cs typeface="Cambria"/>
              </a:rPr>
              <a:t>C</a:t>
            </a:r>
            <a:r>
              <a:rPr sz="900" i="1" spc="-105">
                <a:solidFill>
                  <a:srgbClr val="1D40AF"/>
                </a:solidFill>
                <a:latin typeface="Cambria"/>
                <a:cs typeface="Cambria"/>
              </a:rPr>
              <a:t> </a:t>
            </a:r>
            <a:r>
              <a:rPr sz="900" baseline="32407">
                <a:solidFill>
                  <a:srgbClr val="1D40AF"/>
                </a:solidFill>
                <a:latin typeface="Georgia"/>
                <a:cs typeface="Georgia"/>
              </a:rPr>
              <a:t>2</a:t>
            </a:r>
            <a:r>
              <a:rPr sz="900" spc="5">
                <a:solidFill>
                  <a:srgbClr val="1D40AF"/>
                </a:solidFill>
                <a:latin typeface="Georgia"/>
                <a:cs typeface="Georgia"/>
              </a:rPr>
              <a:t>) </a:t>
            </a:r>
            <a:r>
              <a:rPr sz="1000" spc="-90">
                <a:solidFill>
                  <a:srgbClr val="6A7280"/>
                </a:solidFill>
                <a:latin typeface="宋体"/>
                <a:cs typeface="宋体"/>
              </a:rPr>
              <a:t>，更在</a:t>
            </a:r>
            <a:r>
              <a:rPr sz="1000" spc="-100">
                <a:solidFill>
                  <a:srgbClr val="6A7280"/>
                </a:solidFill>
                <a:latin typeface="宋体"/>
                <a:cs typeface="宋体"/>
              </a:rPr>
              <a:t>工业高噪实战中录得更高精度。</a:t>
            </a:r>
            <a:endParaRPr sz="1000">
              <a:latin typeface="宋体"/>
              <a:cs typeface="宋体"/>
            </a:endParaRPr>
          </a:p>
        </p:txBody>
      </p:sp>
      <p:grpSp>
        <p:nvGrpSpPr>
          <p:cNvPr id="24" name="object 24"/>
          <p:cNvGrpSpPr/>
          <p:nvPr/>
        </p:nvGrpSpPr>
        <p:grpSpPr>
          <a:xfrm>
            <a:off x="5238749" y="1123950"/>
            <a:ext cx="6572250" cy="5353050"/>
            <a:chOff x="5238749" y="1123950"/>
            <a:chExt cx="6572250" cy="5353050"/>
          </a:xfrm>
        </p:grpSpPr>
        <p:sp>
          <p:nvSpPr>
            <p:cNvPr id="25" name="object 25"/>
            <p:cNvSpPr/>
            <p:nvPr/>
          </p:nvSpPr>
          <p:spPr>
            <a:xfrm>
              <a:off x="5243512" y="1128712"/>
              <a:ext cx="6562725" cy="5343525"/>
            </a:xfrm>
            <a:custGeom>
              <a:avLst/>
              <a:gdLst/>
              <a:ahLst/>
              <a:cxnLst/>
              <a:rect l="l" t="t" r="r" b="b"/>
              <a:pathLst>
                <a:path w="6562725" h="5343525">
                  <a:moveTo>
                    <a:pt x="0" y="5233987"/>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6453186" y="0"/>
                  </a:lnTo>
                  <a:lnTo>
                    <a:pt x="6460379" y="0"/>
                  </a:lnTo>
                  <a:lnTo>
                    <a:pt x="6467501" y="701"/>
                  </a:lnTo>
                  <a:lnTo>
                    <a:pt x="6474556" y="2104"/>
                  </a:lnTo>
                  <a:lnTo>
                    <a:pt x="6481610" y="3507"/>
                  </a:lnTo>
                  <a:lnTo>
                    <a:pt x="6488459" y="5585"/>
                  </a:lnTo>
                  <a:lnTo>
                    <a:pt x="6495104" y="8338"/>
                  </a:lnTo>
                  <a:lnTo>
                    <a:pt x="6501749" y="11090"/>
                  </a:lnTo>
                  <a:lnTo>
                    <a:pt x="6508061" y="14464"/>
                  </a:lnTo>
                  <a:lnTo>
                    <a:pt x="6514042" y="18460"/>
                  </a:lnTo>
                  <a:lnTo>
                    <a:pt x="6520022" y="22456"/>
                  </a:lnTo>
                  <a:lnTo>
                    <a:pt x="6525555" y="26997"/>
                  </a:lnTo>
                  <a:lnTo>
                    <a:pt x="6530640" y="32082"/>
                  </a:lnTo>
                  <a:lnTo>
                    <a:pt x="6535726" y="37168"/>
                  </a:lnTo>
                  <a:lnTo>
                    <a:pt x="6554385" y="67619"/>
                  </a:lnTo>
                  <a:lnTo>
                    <a:pt x="6557138" y="74264"/>
                  </a:lnTo>
                  <a:lnTo>
                    <a:pt x="6559215" y="81113"/>
                  </a:lnTo>
                  <a:lnTo>
                    <a:pt x="6560619" y="88167"/>
                  </a:lnTo>
                  <a:lnTo>
                    <a:pt x="6562022" y="95221"/>
                  </a:lnTo>
                  <a:lnTo>
                    <a:pt x="6562724" y="102345"/>
                  </a:lnTo>
                  <a:lnTo>
                    <a:pt x="6562724" y="109537"/>
                  </a:lnTo>
                  <a:lnTo>
                    <a:pt x="6562724" y="5233987"/>
                  </a:lnTo>
                  <a:lnTo>
                    <a:pt x="6562724" y="5241179"/>
                  </a:lnTo>
                  <a:lnTo>
                    <a:pt x="6562022" y="5248301"/>
                  </a:lnTo>
                  <a:lnTo>
                    <a:pt x="6560619" y="5255356"/>
                  </a:lnTo>
                  <a:lnTo>
                    <a:pt x="6559215" y="5262410"/>
                  </a:lnTo>
                  <a:lnTo>
                    <a:pt x="6557138" y="5269259"/>
                  </a:lnTo>
                  <a:lnTo>
                    <a:pt x="6554385" y="5275904"/>
                  </a:lnTo>
                  <a:lnTo>
                    <a:pt x="6551632" y="5282549"/>
                  </a:lnTo>
                  <a:lnTo>
                    <a:pt x="6530640" y="5311441"/>
                  </a:lnTo>
                  <a:lnTo>
                    <a:pt x="6525555" y="5316526"/>
                  </a:lnTo>
                  <a:lnTo>
                    <a:pt x="6495104" y="5335185"/>
                  </a:lnTo>
                  <a:lnTo>
                    <a:pt x="6488459" y="5337938"/>
                  </a:lnTo>
                  <a:lnTo>
                    <a:pt x="6481610" y="5340016"/>
                  </a:lnTo>
                  <a:lnTo>
                    <a:pt x="6474556" y="5341419"/>
                  </a:lnTo>
                  <a:lnTo>
                    <a:pt x="6467501" y="5342822"/>
                  </a:lnTo>
                  <a:lnTo>
                    <a:pt x="6460379" y="5343524"/>
                  </a:lnTo>
                  <a:lnTo>
                    <a:pt x="6453186" y="5343524"/>
                  </a:lnTo>
                  <a:lnTo>
                    <a:pt x="109537" y="5343524"/>
                  </a:lnTo>
                  <a:lnTo>
                    <a:pt x="102345" y="5343524"/>
                  </a:lnTo>
                  <a:lnTo>
                    <a:pt x="95221" y="5342822"/>
                  </a:lnTo>
                  <a:lnTo>
                    <a:pt x="88167" y="5341419"/>
                  </a:lnTo>
                  <a:lnTo>
                    <a:pt x="81113" y="5340016"/>
                  </a:lnTo>
                  <a:lnTo>
                    <a:pt x="74264" y="5337938"/>
                  </a:lnTo>
                  <a:lnTo>
                    <a:pt x="67619" y="5335185"/>
                  </a:lnTo>
                  <a:lnTo>
                    <a:pt x="60974" y="5332432"/>
                  </a:lnTo>
                  <a:lnTo>
                    <a:pt x="32082" y="5311441"/>
                  </a:lnTo>
                  <a:lnTo>
                    <a:pt x="26997" y="5306355"/>
                  </a:lnTo>
                  <a:lnTo>
                    <a:pt x="22456" y="5300822"/>
                  </a:lnTo>
                  <a:lnTo>
                    <a:pt x="18460" y="5294842"/>
                  </a:lnTo>
                  <a:lnTo>
                    <a:pt x="14464" y="5288861"/>
                  </a:lnTo>
                  <a:lnTo>
                    <a:pt x="11090" y="5282549"/>
                  </a:lnTo>
                  <a:lnTo>
                    <a:pt x="8338" y="5275904"/>
                  </a:lnTo>
                  <a:lnTo>
                    <a:pt x="5585" y="5269259"/>
                  </a:lnTo>
                  <a:lnTo>
                    <a:pt x="3507" y="5262410"/>
                  </a:lnTo>
                  <a:lnTo>
                    <a:pt x="2104" y="5255356"/>
                  </a:lnTo>
                  <a:lnTo>
                    <a:pt x="701" y="5248301"/>
                  </a:lnTo>
                  <a:lnTo>
                    <a:pt x="0" y="5241179"/>
                  </a:lnTo>
                  <a:lnTo>
                    <a:pt x="0" y="5233987"/>
                  </a:lnTo>
                  <a:close/>
                </a:path>
              </a:pathLst>
            </a:custGeom>
            <a:ln w="9524">
              <a:solidFill>
                <a:srgbClr val="E4E7EB"/>
              </a:solidFill>
            </a:ln>
          </p:spPr>
          <p:txBody>
            <a:bodyPr wrap="square" lIns="0" tIns="0" rIns="0" bIns="0" rtlCol="0"/>
            <a:lstStyle/>
            <a:p>
              <a:endParaRPr/>
            </a:p>
          </p:txBody>
        </p:sp>
        <p:pic>
          <p:nvPicPr>
            <p:cNvPr id="26" name="object 26"/>
            <p:cNvPicPr/>
            <p:nvPr/>
          </p:nvPicPr>
          <p:blipFill>
            <a:blip r:embed="rId6" cstate="print"/>
            <a:stretch>
              <a:fillRect/>
            </a:stretch>
          </p:blipFill>
          <p:spPr>
            <a:xfrm>
              <a:off x="5400674" y="1333499"/>
              <a:ext cx="95250" cy="95249"/>
            </a:xfrm>
            <a:prstGeom prst="rect">
              <a:avLst/>
            </a:prstGeom>
          </p:spPr>
        </p:pic>
      </p:grpSp>
      <p:sp>
        <p:nvSpPr>
          <p:cNvPr id="27" name="object 27"/>
          <p:cNvSpPr txBox="1"/>
          <p:nvPr/>
        </p:nvSpPr>
        <p:spPr>
          <a:xfrm>
            <a:off x="5559424" y="1263650"/>
            <a:ext cx="2425700" cy="185420"/>
          </a:xfrm>
          <a:prstGeom prst="rect">
            <a:avLst/>
          </a:prstGeom>
        </p:spPr>
        <p:txBody>
          <a:bodyPr vert="horz" wrap="square" lIns="0" tIns="12700" rIns="0" bIns="0" rtlCol="0">
            <a:spAutoFit/>
          </a:bodyPr>
          <a:lstStyle/>
          <a:p>
            <a:pPr marL="12700">
              <a:lnSpc>
                <a:spcPct val="100000"/>
              </a:lnSpc>
              <a:spcBef>
                <a:spcPts val="100"/>
              </a:spcBef>
            </a:pPr>
            <a:r>
              <a:rPr sz="1050" spc="-5">
                <a:solidFill>
                  <a:srgbClr val="111726"/>
                </a:solidFill>
                <a:latin typeface="宋体"/>
                <a:cs typeface="宋体"/>
              </a:rPr>
              <a:t>多模型在通道混洗挑战下的劣化数据记录</a:t>
            </a:r>
            <a:endParaRPr sz="1050">
              <a:latin typeface="宋体"/>
              <a:cs typeface="宋体"/>
            </a:endParaRPr>
          </a:p>
        </p:txBody>
      </p:sp>
      <p:sp>
        <p:nvSpPr>
          <p:cNvPr id="28" name="object 28"/>
          <p:cNvSpPr/>
          <p:nvPr/>
        </p:nvSpPr>
        <p:spPr>
          <a:xfrm>
            <a:off x="9820274" y="1285874"/>
            <a:ext cx="1828800" cy="180975"/>
          </a:xfrm>
          <a:custGeom>
            <a:avLst/>
            <a:gdLst/>
            <a:ahLst/>
            <a:cxnLst/>
            <a:rect l="l" t="t" r="r" b="b"/>
            <a:pathLst>
              <a:path w="1828800" h="180975">
                <a:moveTo>
                  <a:pt x="1795752" y="180974"/>
                </a:moveTo>
                <a:lnTo>
                  <a:pt x="33047" y="180974"/>
                </a:lnTo>
                <a:lnTo>
                  <a:pt x="28187" y="180008"/>
                </a:lnTo>
                <a:lnTo>
                  <a:pt x="966" y="152787"/>
                </a:lnTo>
                <a:lnTo>
                  <a:pt x="0" y="147927"/>
                </a:lnTo>
                <a:lnTo>
                  <a:pt x="0" y="142874"/>
                </a:lnTo>
                <a:lnTo>
                  <a:pt x="0" y="33047"/>
                </a:lnTo>
                <a:lnTo>
                  <a:pt x="28187" y="966"/>
                </a:lnTo>
                <a:lnTo>
                  <a:pt x="33047" y="0"/>
                </a:lnTo>
                <a:lnTo>
                  <a:pt x="1795752" y="0"/>
                </a:lnTo>
                <a:lnTo>
                  <a:pt x="1827832" y="28187"/>
                </a:lnTo>
                <a:lnTo>
                  <a:pt x="1828799" y="33047"/>
                </a:lnTo>
                <a:lnTo>
                  <a:pt x="1828799" y="147927"/>
                </a:lnTo>
                <a:lnTo>
                  <a:pt x="1800611" y="180008"/>
                </a:lnTo>
                <a:lnTo>
                  <a:pt x="1795752" y="180974"/>
                </a:lnTo>
                <a:close/>
              </a:path>
            </a:pathLst>
          </a:custGeom>
          <a:solidFill>
            <a:srgbClr val="F2F4F5"/>
          </a:solidFill>
        </p:spPr>
        <p:txBody>
          <a:bodyPr wrap="square" lIns="0" tIns="0" rIns="0" bIns="0" rtlCol="0"/>
          <a:lstStyle/>
          <a:p>
            <a:endParaRPr/>
          </a:p>
        </p:txBody>
      </p:sp>
      <p:sp>
        <p:nvSpPr>
          <p:cNvPr id="29" name="object 29"/>
          <p:cNvSpPr txBox="1"/>
          <p:nvPr/>
        </p:nvSpPr>
        <p:spPr>
          <a:xfrm>
            <a:off x="9888239" y="1282700"/>
            <a:ext cx="1692910" cy="139700"/>
          </a:xfrm>
          <a:prstGeom prst="rect">
            <a:avLst/>
          </a:prstGeom>
        </p:spPr>
        <p:txBody>
          <a:bodyPr vert="horz" wrap="square" lIns="0" tIns="12700" rIns="0" bIns="0" rtlCol="0">
            <a:spAutoFit/>
          </a:bodyPr>
          <a:lstStyle/>
          <a:p>
            <a:pPr marL="12700">
              <a:lnSpc>
                <a:spcPct val="100000"/>
              </a:lnSpc>
              <a:spcBef>
                <a:spcPts val="100"/>
              </a:spcBef>
            </a:pPr>
            <a:r>
              <a:rPr sz="750">
                <a:solidFill>
                  <a:srgbClr val="6A7280"/>
                </a:solidFill>
                <a:latin typeface="Courier New"/>
                <a:cs typeface="Courier New"/>
              </a:rPr>
              <a:t>PEMS-08</a:t>
            </a:r>
            <a:r>
              <a:rPr sz="750" spc="300">
                <a:solidFill>
                  <a:srgbClr val="6A7280"/>
                </a:solidFill>
                <a:latin typeface="Courier New"/>
                <a:cs typeface="Courier New"/>
              </a:rPr>
              <a:t> </a:t>
            </a:r>
            <a:r>
              <a:rPr sz="750">
                <a:solidFill>
                  <a:srgbClr val="6A7280"/>
                </a:solidFill>
                <a:latin typeface="Courier New"/>
                <a:cs typeface="Courier New"/>
              </a:rPr>
              <a:t>BASELINE</a:t>
            </a:r>
            <a:r>
              <a:rPr sz="750" spc="305">
                <a:solidFill>
                  <a:srgbClr val="6A7280"/>
                </a:solidFill>
                <a:latin typeface="Courier New"/>
                <a:cs typeface="Courier New"/>
              </a:rPr>
              <a:t> </a:t>
            </a:r>
            <a:r>
              <a:rPr sz="750" spc="-10">
                <a:solidFill>
                  <a:srgbClr val="6A7280"/>
                </a:solidFill>
                <a:latin typeface="Courier New"/>
                <a:cs typeface="Courier New"/>
              </a:rPr>
              <a:t>COMPARISON</a:t>
            </a:r>
            <a:endParaRPr sz="750">
              <a:latin typeface="Courier New"/>
              <a:cs typeface="Courier New"/>
            </a:endParaRPr>
          </a:p>
        </p:txBody>
      </p:sp>
      <p:grpSp>
        <p:nvGrpSpPr>
          <p:cNvPr id="30" name="object 30"/>
          <p:cNvGrpSpPr/>
          <p:nvPr/>
        </p:nvGrpSpPr>
        <p:grpSpPr>
          <a:xfrm>
            <a:off x="5400674" y="1552574"/>
            <a:ext cx="6248400" cy="4295775"/>
            <a:chOff x="5400674" y="1552574"/>
            <a:chExt cx="6248400" cy="4295775"/>
          </a:xfrm>
        </p:grpSpPr>
        <p:sp>
          <p:nvSpPr>
            <p:cNvPr id="31" name="object 31"/>
            <p:cNvSpPr/>
            <p:nvPr/>
          </p:nvSpPr>
          <p:spPr>
            <a:xfrm>
              <a:off x="5400674" y="5838824"/>
              <a:ext cx="6248400" cy="9525"/>
            </a:xfrm>
            <a:custGeom>
              <a:avLst/>
              <a:gdLst/>
              <a:ahLst/>
              <a:cxnLst/>
              <a:rect l="l" t="t" r="r" b="b"/>
              <a:pathLst>
                <a:path w="6248400" h="9525">
                  <a:moveTo>
                    <a:pt x="6248399" y="9524"/>
                  </a:moveTo>
                  <a:lnTo>
                    <a:pt x="0" y="9524"/>
                  </a:lnTo>
                  <a:lnTo>
                    <a:pt x="0" y="0"/>
                  </a:lnTo>
                  <a:lnTo>
                    <a:pt x="6248399" y="0"/>
                  </a:lnTo>
                  <a:lnTo>
                    <a:pt x="6248399" y="9524"/>
                  </a:lnTo>
                  <a:close/>
                </a:path>
              </a:pathLst>
            </a:custGeom>
            <a:solidFill>
              <a:srgbClr val="F2F4F5"/>
            </a:solidFill>
          </p:spPr>
          <p:txBody>
            <a:bodyPr wrap="square" lIns="0" tIns="0" rIns="0" bIns="0" rtlCol="0"/>
            <a:lstStyle/>
            <a:p>
              <a:endParaRPr/>
            </a:p>
          </p:txBody>
        </p:sp>
        <p:sp>
          <p:nvSpPr>
            <p:cNvPr id="32" name="object 32"/>
            <p:cNvSpPr/>
            <p:nvPr/>
          </p:nvSpPr>
          <p:spPr>
            <a:xfrm>
              <a:off x="5400675" y="1552574"/>
              <a:ext cx="6248400" cy="4171950"/>
            </a:xfrm>
            <a:custGeom>
              <a:avLst/>
              <a:gdLst/>
              <a:ahLst/>
              <a:cxnLst/>
              <a:rect l="l" t="t" r="r" b="b"/>
              <a:pathLst>
                <a:path w="6248400" h="4171950">
                  <a:moveTo>
                    <a:pt x="6172199" y="4171949"/>
                  </a:moveTo>
                  <a:lnTo>
                    <a:pt x="76199" y="4171949"/>
                  </a:lnTo>
                  <a:lnTo>
                    <a:pt x="68693" y="4171586"/>
                  </a:lnTo>
                  <a:lnTo>
                    <a:pt x="27881" y="4154682"/>
                  </a:lnTo>
                  <a:lnTo>
                    <a:pt x="3262" y="4117835"/>
                  </a:lnTo>
                  <a:lnTo>
                    <a:pt x="0" y="4095749"/>
                  </a:lnTo>
                  <a:lnTo>
                    <a:pt x="0" y="76199"/>
                  </a:lnTo>
                  <a:lnTo>
                    <a:pt x="12829" y="33857"/>
                  </a:lnTo>
                  <a:lnTo>
                    <a:pt x="47038" y="5800"/>
                  </a:lnTo>
                  <a:lnTo>
                    <a:pt x="76199" y="0"/>
                  </a:lnTo>
                  <a:lnTo>
                    <a:pt x="6172199" y="0"/>
                  </a:lnTo>
                  <a:lnTo>
                    <a:pt x="6214540" y="12829"/>
                  </a:lnTo>
                  <a:lnTo>
                    <a:pt x="6242597" y="47039"/>
                  </a:lnTo>
                  <a:lnTo>
                    <a:pt x="6248399" y="76199"/>
                  </a:lnTo>
                  <a:lnTo>
                    <a:pt x="6248399" y="4095749"/>
                  </a:lnTo>
                  <a:lnTo>
                    <a:pt x="6235568" y="4138091"/>
                  </a:lnTo>
                  <a:lnTo>
                    <a:pt x="6201358" y="4166148"/>
                  </a:lnTo>
                  <a:lnTo>
                    <a:pt x="6172199" y="4171949"/>
                  </a:lnTo>
                  <a:close/>
                </a:path>
              </a:pathLst>
            </a:custGeom>
            <a:solidFill>
              <a:srgbClr val="F9FAFA"/>
            </a:solidFill>
          </p:spPr>
          <p:txBody>
            <a:bodyPr wrap="square" lIns="0" tIns="0" rIns="0" bIns="0" rtlCol="0"/>
            <a:lstStyle/>
            <a:p>
              <a:endParaRPr/>
            </a:p>
          </p:txBody>
        </p:sp>
        <p:sp>
          <p:nvSpPr>
            <p:cNvPr id="33" name="object 33"/>
            <p:cNvSpPr/>
            <p:nvPr/>
          </p:nvSpPr>
          <p:spPr>
            <a:xfrm>
              <a:off x="5400675" y="1552574"/>
              <a:ext cx="6248400" cy="4171950"/>
            </a:xfrm>
            <a:custGeom>
              <a:avLst/>
              <a:gdLst/>
              <a:ahLst/>
              <a:cxnLst/>
              <a:rect l="l" t="t" r="r" b="b"/>
              <a:pathLst>
                <a:path w="6248400" h="4171950">
                  <a:moveTo>
                    <a:pt x="9525" y="4029659"/>
                  </a:moveTo>
                  <a:lnTo>
                    <a:pt x="0" y="4029659"/>
                  </a:lnTo>
                  <a:lnTo>
                    <a:pt x="0" y="4058234"/>
                  </a:lnTo>
                  <a:lnTo>
                    <a:pt x="9525" y="4058234"/>
                  </a:lnTo>
                  <a:lnTo>
                    <a:pt x="9525" y="4029659"/>
                  </a:lnTo>
                  <a:close/>
                </a:path>
                <a:path w="6248400" h="4171950">
                  <a:moveTo>
                    <a:pt x="9525" y="3982072"/>
                  </a:moveTo>
                  <a:lnTo>
                    <a:pt x="0" y="3982072"/>
                  </a:lnTo>
                  <a:lnTo>
                    <a:pt x="0" y="4010647"/>
                  </a:lnTo>
                  <a:lnTo>
                    <a:pt x="9525" y="4010647"/>
                  </a:lnTo>
                  <a:lnTo>
                    <a:pt x="9525" y="3982072"/>
                  </a:lnTo>
                  <a:close/>
                </a:path>
                <a:path w="6248400" h="4171950">
                  <a:moveTo>
                    <a:pt x="9525" y="3934498"/>
                  </a:moveTo>
                  <a:lnTo>
                    <a:pt x="0" y="3934498"/>
                  </a:lnTo>
                  <a:lnTo>
                    <a:pt x="0" y="3963073"/>
                  </a:lnTo>
                  <a:lnTo>
                    <a:pt x="9525" y="3963073"/>
                  </a:lnTo>
                  <a:lnTo>
                    <a:pt x="9525" y="3934498"/>
                  </a:lnTo>
                  <a:close/>
                </a:path>
                <a:path w="6248400" h="4171950">
                  <a:moveTo>
                    <a:pt x="9525" y="3886911"/>
                  </a:moveTo>
                  <a:lnTo>
                    <a:pt x="0" y="3886911"/>
                  </a:lnTo>
                  <a:lnTo>
                    <a:pt x="0" y="3915486"/>
                  </a:lnTo>
                  <a:lnTo>
                    <a:pt x="9525" y="3915486"/>
                  </a:lnTo>
                  <a:lnTo>
                    <a:pt x="9525" y="3886911"/>
                  </a:lnTo>
                  <a:close/>
                </a:path>
                <a:path w="6248400" h="4171950">
                  <a:moveTo>
                    <a:pt x="9525" y="3839337"/>
                  </a:moveTo>
                  <a:lnTo>
                    <a:pt x="0" y="3839337"/>
                  </a:lnTo>
                  <a:lnTo>
                    <a:pt x="0" y="3867912"/>
                  </a:lnTo>
                  <a:lnTo>
                    <a:pt x="9525" y="3867912"/>
                  </a:lnTo>
                  <a:lnTo>
                    <a:pt x="9525" y="3839337"/>
                  </a:lnTo>
                  <a:close/>
                </a:path>
                <a:path w="6248400" h="4171950">
                  <a:moveTo>
                    <a:pt x="9525" y="3791750"/>
                  </a:moveTo>
                  <a:lnTo>
                    <a:pt x="0" y="3791750"/>
                  </a:lnTo>
                  <a:lnTo>
                    <a:pt x="0" y="3820325"/>
                  </a:lnTo>
                  <a:lnTo>
                    <a:pt x="9525" y="3820325"/>
                  </a:lnTo>
                  <a:lnTo>
                    <a:pt x="9525" y="3791750"/>
                  </a:lnTo>
                  <a:close/>
                </a:path>
                <a:path w="6248400" h="4171950">
                  <a:moveTo>
                    <a:pt x="9525" y="3744176"/>
                  </a:moveTo>
                  <a:lnTo>
                    <a:pt x="0" y="3744176"/>
                  </a:lnTo>
                  <a:lnTo>
                    <a:pt x="0" y="3772751"/>
                  </a:lnTo>
                  <a:lnTo>
                    <a:pt x="9525" y="3772751"/>
                  </a:lnTo>
                  <a:lnTo>
                    <a:pt x="9525" y="3744176"/>
                  </a:lnTo>
                  <a:close/>
                </a:path>
                <a:path w="6248400" h="4171950">
                  <a:moveTo>
                    <a:pt x="9525" y="3696589"/>
                  </a:moveTo>
                  <a:lnTo>
                    <a:pt x="0" y="3696589"/>
                  </a:lnTo>
                  <a:lnTo>
                    <a:pt x="0" y="3725164"/>
                  </a:lnTo>
                  <a:lnTo>
                    <a:pt x="9525" y="3725164"/>
                  </a:lnTo>
                  <a:lnTo>
                    <a:pt x="9525" y="3696589"/>
                  </a:lnTo>
                  <a:close/>
                </a:path>
                <a:path w="6248400" h="4171950">
                  <a:moveTo>
                    <a:pt x="9525" y="3649002"/>
                  </a:moveTo>
                  <a:lnTo>
                    <a:pt x="0" y="3649002"/>
                  </a:lnTo>
                  <a:lnTo>
                    <a:pt x="0" y="3677577"/>
                  </a:lnTo>
                  <a:lnTo>
                    <a:pt x="9525" y="3677577"/>
                  </a:lnTo>
                  <a:lnTo>
                    <a:pt x="9525" y="3649002"/>
                  </a:lnTo>
                  <a:close/>
                </a:path>
                <a:path w="6248400" h="4171950">
                  <a:moveTo>
                    <a:pt x="9525" y="3601428"/>
                  </a:moveTo>
                  <a:lnTo>
                    <a:pt x="0" y="3601428"/>
                  </a:lnTo>
                  <a:lnTo>
                    <a:pt x="0" y="3630003"/>
                  </a:lnTo>
                  <a:lnTo>
                    <a:pt x="9525" y="3630003"/>
                  </a:lnTo>
                  <a:lnTo>
                    <a:pt x="9525" y="3601428"/>
                  </a:lnTo>
                  <a:close/>
                </a:path>
                <a:path w="6248400" h="4171950">
                  <a:moveTo>
                    <a:pt x="9525" y="3553841"/>
                  </a:moveTo>
                  <a:lnTo>
                    <a:pt x="0" y="3553841"/>
                  </a:lnTo>
                  <a:lnTo>
                    <a:pt x="0" y="3582416"/>
                  </a:lnTo>
                  <a:lnTo>
                    <a:pt x="9525" y="3582416"/>
                  </a:lnTo>
                  <a:lnTo>
                    <a:pt x="9525" y="3553841"/>
                  </a:lnTo>
                  <a:close/>
                </a:path>
                <a:path w="6248400" h="4171950">
                  <a:moveTo>
                    <a:pt x="9525" y="3506266"/>
                  </a:moveTo>
                  <a:lnTo>
                    <a:pt x="0" y="3506266"/>
                  </a:lnTo>
                  <a:lnTo>
                    <a:pt x="0" y="3534841"/>
                  </a:lnTo>
                  <a:lnTo>
                    <a:pt x="9525" y="3534841"/>
                  </a:lnTo>
                  <a:lnTo>
                    <a:pt x="9525" y="3506266"/>
                  </a:lnTo>
                  <a:close/>
                </a:path>
                <a:path w="6248400" h="4171950">
                  <a:moveTo>
                    <a:pt x="9525" y="3458680"/>
                  </a:moveTo>
                  <a:lnTo>
                    <a:pt x="0" y="3458680"/>
                  </a:lnTo>
                  <a:lnTo>
                    <a:pt x="0" y="3487255"/>
                  </a:lnTo>
                  <a:lnTo>
                    <a:pt x="9525" y="3487255"/>
                  </a:lnTo>
                  <a:lnTo>
                    <a:pt x="9525" y="3458680"/>
                  </a:lnTo>
                  <a:close/>
                </a:path>
                <a:path w="6248400" h="4171950">
                  <a:moveTo>
                    <a:pt x="9525" y="3411105"/>
                  </a:moveTo>
                  <a:lnTo>
                    <a:pt x="0" y="3411105"/>
                  </a:lnTo>
                  <a:lnTo>
                    <a:pt x="0" y="3439680"/>
                  </a:lnTo>
                  <a:lnTo>
                    <a:pt x="9525" y="3439680"/>
                  </a:lnTo>
                  <a:lnTo>
                    <a:pt x="9525" y="3411105"/>
                  </a:lnTo>
                  <a:close/>
                </a:path>
                <a:path w="6248400" h="4171950">
                  <a:moveTo>
                    <a:pt x="9525" y="3363518"/>
                  </a:moveTo>
                  <a:lnTo>
                    <a:pt x="0" y="3363518"/>
                  </a:lnTo>
                  <a:lnTo>
                    <a:pt x="0" y="3392093"/>
                  </a:lnTo>
                  <a:lnTo>
                    <a:pt x="9525" y="3392093"/>
                  </a:lnTo>
                  <a:lnTo>
                    <a:pt x="9525" y="3363518"/>
                  </a:lnTo>
                  <a:close/>
                </a:path>
                <a:path w="6248400" h="4171950">
                  <a:moveTo>
                    <a:pt x="9525" y="3315944"/>
                  </a:moveTo>
                  <a:lnTo>
                    <a:pt x="0" y="3315944"/>
                  </a:lnTo>
                  <a:lnTo>
                    <a:pt x="0" y="3344519"/>
                  </a:lnTo>
                  <a:lnTo>
                    <a:pt x="9525" y="3344519"/>
                  </a:lnTo>
                  <a:lnTo>
                    <a:pt x="9525" y="3315944"/>
                  </a:lnTo>
                  <a:close/>
                </a:path>
                <a:path w="6248400" h="4171950">
                  <a:moveTo>
                    <a:pt x="9525" y="3268357"/>
                  </a:moveTo>
                  <a:lnTo>
                    <a:pt x="0" y="3268357"/>
                  </a:lnTo>
                  <a:lnTo>
                    <a:pt x="0" y="3296932"/>
                  </a:lnTo>
                  <a:lnTo>
                    <a:pt x="9525" y="3296932"/>
                  </a:lnTo>
                  <a:lnTo>
                    <a:pt x="9525" y="3268357"/>
                  </a:lnTo>
                  <a:close/>
                </a:path>
                <a:path w="6248400" h="4171950">
                  <a:moveTo>
                    <a:pt x="9525" y="3220770"/>
                  </a:moveTo>
                  <a:lnTo>
                    <a:pt x="0" y="3220770"/>
                  </a:lnTo>
                  <a:lnTo>
                    <a:pt x="0" y="3249345"/>
                  </a:lnTo>
                  <a:lnTo>
                    <a:pt x="9525" y="3249345"/>
                  </a:lnTo>
                  <a:lnTo>
                    <a:pt x="9525" y="3220770"/>
                  </a:lnTo>
                  <a:close/>
                </a:path>
                <a:path w="6248400" h="4171950">
                  <a:moveTo>
                    <a:pt x="9525" y="3173196"/>
                  </a:moveTo>
                  <a:lnTo>
                    <a:pt x="0" y="3173196"/>
                  </a:lnTo>
                  <a:lnTo>
                    <a:pt x="0" y="3201771"/>
                  </a:lnTo>
                  <a:lnTo>
                    <a:pt x="9525" y="3201771"/>
                  </a:lnTo>
                  <a:lnTo>
                    <a:pt x="9525" y="3173196"/>
                  </a:lnTo>
                  <a:close/>
                </a:path>
                <a:path w="6248400" h="4171950">
                  <a:moveTo>
                    <a:pt x="9525" y="3125609"/>
                  </a:moveTo>
                  <a:lnTo>
                    <a:pt x="0" y="3125609"/>
                  </a:lnTo>
                  <a:lnTo>
                    <a:pt x="0" y="3154184"/>
                  </a:lnTo>
                  <a:lnTo>
                    <a:pt x="9525" y="3154184"/>
                  </a:lnTo>
                  <a:lnTo>
                    <a:pt x="9525" y="3125609"/>
                  </a:lnTo>
                  <a:close/>
                </a:path>
                <a:path w="6248400" h="4171950">
                  <a:moveTo>
                    <a:pt x="9525" y="3078035"/>
                  </a:moveTo>
                  <a:lnTo>
                    <a:pt x="0" y="3078035"/>
                  </a:lnTo>
                  <a:lnTo>
                    <a:pt x="0" y="3106610"/>
                  </a:lnTo>
                  <a:lnTo>
                    <a:pt x="9525" y="3106610"/>
                  </a:lnTo>
                  <a:lnTo>
                    <a:pt x="9525" y="3078035"/>
                  </a:lnTo>
                  <a:close/>
                </a:path>
                <a:path w="6248400" h="4171950">
                  <a:moveTo>
                    <a:pt x="9525" y="3030448"/>
                  </a:moveTo>
                  <a:lnTo>
                    <a:pt x="0" y="3030448"/>
                  </a:lnTo>
                  <a:lnTo>
                    <a:pt x="0" y="3059023"/>
                  </a:lnTo>
                  <a:lnTo>
                    <a:pt x="9525" y="3059023"/>
                  </a:lnTo>
                  <a:lnTo>
                    <a:pt x="9525" y="3030448"/>
                  </a:lnTo>
                  <a:close/>
                </a:path>
                <a:path w="6248400" h="4171950">
                  <a:moveTo>
                    <a:pt x="9525" y="2982874"/>
                  </a:moveTo>
                  <a:lnTo>
                    <a:pt x="0" y="2982874"/>
                  </a:lnTo>
                  <a:lnTo>
                    <a:pt x="0" y="3011449"/>
                  </a:lnTo>
                  <a:lnTo>
                    <a:pt x="9525" y="3011449"/>
                  </a:lnTo>
                  <a:lnTo>
                    <a:pt x="9525" y="2982874"/>
                  </a:lnTo>
                  <a:close/>
                </a:path>
                <a:path w="6248400" h="4171950">
                  <a:moveTo>
                    <a:pt x="9525" y="2935287"/>
                  </a:moveTo>
                  <a:lnTo>
                    <a:pt x="0" y="2935287"/>
                  </a:lnTo>
                  <a:lnTo>
                    <a:pt x="0" y="2963862"/>
                  </a:lnTo>
                  <a:lnTo>
                    <a:pt x="9525" y="2963862"/>
                  </a:lnTo>
                  <a:lnTo>
                    <a:pt x="9525" y="2935287"/>
                  </a:lnTo>
                  <a:close/>
                </a:path>
                <a:path w="6248400" h="4171950">
                  <a:moveTo>
                    <a:pt x="9525" y="2887713"/>
                  </a:moveTo>
                  <a:lnTo>
                    <a:pt x="0" y="2887713"/>
                  </a:lnTo>
                  <a:lnTo>
                    <a:pt x="0" y="2916288"/>
                  </a:lnTo>
                  <a:lnTo>
                    <a:pt x="9525" y="2916288"/>
                  </a:lnTo>
                  <a:lnTo>
                    <a:pt x="9525" y="2887713"/>
                  </a:lnTo>
                  <a:close/>
                </a:path>
                <a:path w="6248400" h="4171950">
                  <a:moveTo>
                    <a:pt x="9525" y="2840126"/>
                  </a:moveTo>
                  <a:lnTo>
                    <a:pt x="0" y="2840126"/>
                  </a:lnTo>
                  <a:lnTo>
                    <a:pt x="0" y="2868701"/>
                  </a:lnTo>
                  <a:lnTo>
                    <a:pt x="9525" y="2868701"/>
                  </a:lnTo>
                  <a:lnTo>
                    <a:pt x="9525" y="2840126"/>
                  </a:lnTo>
                  <a:close/>
                </a:path>
                <a:path w="6248400" h="4171950">
                  <a:moveTo>
                    <a:pt x="9525" y="2792552"/>
                  </a:moveTo>
                  <a:lnTo>
                    <a:pt x="0" y="2792552"/>
                  </a:lnTo>
                  <a:lnTo>
                    <a:pt x="0" y="2821127"/>
                  </a:lnTo>
                  <a:lnTo>
                    <a:pt x="9525" y="2821127"/>
                  </a:lnTo>
                  <a:lnTo>
                    <a:pt x="9525" y="2792552"/>
                  </a:lnTo>
                  <a:close/>
                </a:path>
                <a:path w="6248400" h="4171950">
                  <a:moveTo>
                    <a:pt x="9525" y="2744965"/>
                  </a:moveTo>
                  <a:lnTo>
                    <a:pt x="0" y="2744965"/>
                  </a:lnTo>
                  <a:lnTo>
                    <a:pt x="0" y="2773540"/>
                  </a:lnTo>
                  <a:lnTo>
                    <a:pt x="9525" y="2773540"/>
                  </a:lnTo>
                  <a:lnTo>
                    <a:pt x="9525" y="2744965"/>
                  </a:lnTo>
                  <a:close/>
                </a:path>
                <a:path w="6248400" h="4171950">
                  <a:moveTo>
                    <a:pt x="9525" y="2697378"/>
                  </a:moveTo>
                  <a:lnTo>
                    <a:pt x="0" y="2697378"/>
                  </a:lnTo>
                  <a:lnTo>
                    <a:pt x="0" y="2725953"/>
                  </a:lnTo>
                  <a:lnTo>
                    <a:pt x="9525" y="2725953"/>
                  </a:lnTo>
                  <a:lnTo>
                    <a:pt x="9525" y="2697378"/>
                  </a:lnTo>
                  <a:close/>
                </a:path>
                <a:path w="6248400" h="4171950">
                  <a:moveTo>
                    <a:pt x="9525" y="2649804"/>
                  </a:moveTo>
                  <a:lnTo>
                    <a:pt x="0" y="2649804"/>
                  </a:lnTo>
                  <a:lnTo>
                    <a:pt x="0" y="2678379"/>
                  </a:lnTo>
                  <a:lnTo>
                    <a:pt x="9525" y="2678379"/>
                  </a:lnTo>
                  <a:lnTo>
                    <a:pt x="9525" y="2649804"/>
                  </a:lnTo>
                  <a:close/>
                </a:path>
                <a:path w="6248400" h="4171950">
                  <a:moveTo>
                    <a:pt x="9525" y="2602217"/>
                  </a:moveTo>
                  <a:lnTo>
                    <a:pt x="0" y="2602217"/>
                  </a:lnTo>
                  <a:lnTo>
                    <a:pt x="0" y="2630792"/>
                  </a:lnTo>
                  <a:lnTo>
                    <a:pt x="9525" y="2630792"/>
                  </a:lnTo>
                  <a:lnTo>
                    <a:pt x="9525" y="2602217"/>
                  </a:lnTo>
                  <a:close/>
                </a:path>
                <a:path w="6248400" h="4171950">
                  <a:moveTo>
                    <a:pt x="9525" y="2554643"/>
                  </a:moveTo>
                  <a:lnTo>
                    <a:pt x="0" y="2554643"/>
                  </a:lnTo>
                  <a:lnTo>
                    <a:pt x="0" y="2583218"/>
                  </a:lnTo>
                  <a:lnTo>
                    <a:pt x="9525" y="2583218"/>
                  </a:lnTo>
                  <a:lnTo>
                    <a:pt x="9525" y="2554643"/>
                  </a:lnTo>
                  <a:close/>
                </a:path>
                <a:path w="6248400" h="4171950">
                  <a:moveTo>
                    <a:pt x="9525" y="2507056"/>
                  </a:moveTo>
                  <a:lnTo>
                    <a:pt x="0" y="2507056"/>
                  </a:lnTo>
                  <a:lnTo>
                    <a:pt x="0" y="2535631"/>
                  </a:lnTo>
                  <a:lnTo>
                    <a:pt x="9525" y="2535631"/>
                  </a:lnTo>
                  <a:lnTo>
                    <a:pt x="9525" y="2507056"/>
                  </a:lnTo>
                  <a:close/>
                </a:path>
                <a:path w="6248400" h="4171950">
                  <a:moveTo>
                    <a:pt x="9525" y="2459482"/>
                  </a:moveTo>
                  <a:lnTo>
                    <a:pt x="0" y="2459482"/>
                  </a:lnTo>
                  <a:lnTo>
                    <a:pt x="0" y="2488057"/>
                  </a:lnTo>
                  <a:lnTo>
                    <a:pt x="9525" y="2488057"/>
                  </a:lnTo>
                  <a:lnTo>
                    <a:pt x="9525" y="2459482"/>
                  </a:lnTo>
                  <a:close/>
                </a:path>
                <a:path w="6248400" h="4171950">
                  <a:moveTo>
                    <a:pt x="9525" y="2411895"/>
                  </a:moveTo>
                  <a:lnTo>
                    <a:pt x="0" y="2411895"/>
                  </a:lnTo>
                  <a:lnTo>
                    <a:pt x="0" y="2440470"/>
                  </a:lnTo>
                  <a:lnTo>
                    <a:pt x="9525" y="2440470"/>
                  </a:lnTo>
                  <a:lnTo>
                    <a:pt x="9525" y="2411895"/>
                  </a:lnTo>
                  <a:close/>
                </a:path>
                <a:path w="6248400" h="4171950">
                  <a:moveTo>
                    <a:pt x="9525" y="2364321"/>
                  </a:moveTo>
                  <a:lnTo>
                    <a:pt x="0" y="2364321"/>
                  </a:lnTo>
                  <a:lnTo>
                    <a:pt x="0" y="2392896"/>
                  </a:lnTo>
                  <a:lnTo>
                    <a:pt x="9525" y="2392896"/>
                  </a:lnTo>
                  <a:lnTo>
                    <a:pt x="9525" y="2364321"/>
                  </a:lnTo>
                  <a:close/>
                </a:path>
                <a:path w="6248400" h="4171950">
                  <a:moveTo>
                    <a:pt x="9525" y="2316734"/>
                  </a:moveTo>
                  <a:lnTo>
                    <a:pt x="0" y="2316734"/>
                  </a:lnTo>
                  <a:lnTo>
                    <a:pt x="0" y="2345309"/>
                  </a:lnTo>
                  <a:lnTo>
                    <a:pt x="9525" y="2345309"/>
                  </a:lnTo>
                  <a:lnTo>
                    <a:pt x="9525" y="2316734"/>
                  </a:lnTo>
                  <a:close/>
                </a:path>
                <a:path w="6248400" h="4171950">
                  <a:moveTo>
                    <a:pt x="9525" y="2269147"/>
                  </a:moveTo>
                  <a:lnTo>
                    <a:pt x="0" y="2269147"/>
                  </a:lnTo>
                  <a:lnTo>
                    <a:pt x="0" y="2297722"/>
                  </a:lnTo>
                  <a:lnTo>
                    <a:pt x="9525" y="2297722"/>
                  </a:lnTo>
                  <a:lnTo>
                    <a:pt x="9525" y="2269147"/>
                  </a:lnTo>
                  <a:close/>
                </a:path>
                <a:path w="6248400" h="4171950">
                  <a:moveTo>
                    <a:pt x="9525" y="2221573"/>
                  </a:moveTo>
                  <a:lnTo>
                    <a:pt x="0" y="2221573"/>
                  </a:lnTo>
                  <a:lnTo>
                    <a:pt x="0" y="2250148"/>
                  </a:lnTo>
                  <a:lnTo>
                    <a:pt x="9525" y="2250148"/>
                  </a:lnTo>
                  <a:lnTo>
                    <a:pt x="9525" y="2221573"/>
                  </a:lnTo>
                  <a:close/>
                </a:path>
                <a:path w="6248400" h="4171950">
                  <a:moveTo>
                    <a:pt x="9525" y="2173986"/>
                  </a:moveTo>
                  <a:lnTo>
                    <a:pt x="0" y="2173986"/>
                  </a:lnTo>
                  <a:lnTo>
                    <a:pt x="0" y="2202561"/>
                  </a:lnTo>
                  <a:lnTo>
                    <a:pt x="9525" y="2202561"/>
                  </a:lnTo>
                  <a:lnTo>
                    <a:pt x="9525" y="2173986"/>
                  </a:lnTo>
                  <a:close/>
                </a:path>
                <a:path w="6248400" h="4171950">
                  <a:moveTo>
                    <a:pt x="9525" y="2126411"/>
                  </a:moveTo>
                  <a:lnTo>
                    <a:pt x="0" y="2126411"/>
                  </a:lnTo>
                  <a:lnTo>
                    <a:pt x="0" y="2154986"/>
                  </a:lnTo>
                  <a:lnTo>
                    <a:pt x="9525" y="2154986"/>
                  </a:lnTo>
                  <a:lnTo>
                    <a:pt x="9525" y="2126411"/>
                  </a:lnTo>
                  <a:close/>
                </a:path>
                <a:path w="6248400" h="4171950">
                  <a:moveTo>
                    <a:pt x="9525" y="2078824"/>
                  </a:moveTo>
                  <a:lnTo>
                    <a:pt x="0" y="2078824"/>
                  </a:lnTo>
                  <a:lnTo>
                    <a:pt x="0" y="2107400"/>
                  </a:lnTo>
                  <a:lnTo>
                    <a:pt x="9525" y="2107400"/>
                  </a:lnTo>
                  <a:lnTo>
                    <a:pt x="9525" y="2078824"/>
                  </a:lnTo>
                  <a:close/>
                </a:path>
                <a:path w="6248400" h="4171950">
                  <a:moveTo>
                    <a:pt x="9525" y="2031250"/>
                  </a:moveTo>
                  <a:lnTo>
                    <a:pt x="0" y="2031250"/>
                  </a:lnTo>
                  <a:lnTo>
                    <a:pt x="0" y="2059825"/>
                  </a:lnTo>
                  <a:lnTo>
                    <a:pt x="9525" y="2059825"/>
                  </a:lnTo>
                  <a:lnTo>
                    <a:pt x="9525" y="2031250"/>
                  </a:lnTo>
                  <a:close/>
                </a:path>
                <a:path w="6248400" h="4171950">
                  <a:moveTo>
                    <a:pt x="9525" y="1983663"/>
                  </a:moveTo>
                  <a:lnTo>
                    <a:pt x="0" y="1983663"/>
                  </a:lnTo>
                  <a:lnTo>
                    <a:pt x="0" y="2012238"/>
                  </a:lnTo>
                  <a:lnTo>
                    <a:pt x="9525" y="2012238"/>
                  </a:lnTo>
                  <a:lnTo>
                    <a:pt x="9525" y="1983663"/>
                  </a:lnTo>
                  <a:close/>
                </a:path>
                <a:path w="6248400" h="4171950">
                  <a:moveTo>
                    <a:pt x="9525" y="1936089"/>
                  </a:moveTo>
                  <a:lnTo>
                    <a:pt x="0" y="1936089"/>
                  </a:lnTo>
                  <a:lnTo>
                    <a:pt x="0" y="1964664"/>
                  </a:lnTo>
                  <a:lnTo>
                    <a:pt x="9525" y="1964664"/>
                  </a:lnTo>
                  <a:lnTo>
                    <a:pt x="9525" y="1936089"/>
                  </a:lnTo>
                  <a:close/>
                </a:path>
                <a:path w="6248400" h="4171950">
                  <a:moveTo>
                    <a:pt x="9525" y="1888502"/>
                  </a:moveTo>
                  <a:lnTo>
                    <a:pt x="0" y="1888502"/>
                  </a:lnTo>
                  <a:lnTo>
                    <a:pt x="0" y="1917077"/>
                  </a:lnTo>
                  <a:lnTo>
                    <a:pt x="9525" y="1917077"/>
                  </a:lnTo>
                  <a:lnTo>
                    <a:pt x="9525" y="1888502"/>
                  </a:lnTo>
                  <a:close/>
                </a:path>
                <a:path w="6248400" h="4171950">
                  <a:moveTo>
                    <a:pt x="9525" y="1840915"/>
                  </a:moveTo>
                  <a:lnTo>
                    <a:pt x="0" y="1840915"/>
                  </a:lnTo>
                  <a:lnTo>
                    <a:pt x="0" y="1869490"/>
                  </a:lnTo>
                  <a:lnTo>
                    <a:pt x="9525" y="1869490"/>
                  </a:lnTo>
                  <a:lnTo>
                    <a:pt x="9525" y="1840915"/>
                  </a:lnTo>
                  <a:close/>
                </a:path>
                <a:path w="6248400" h="4171950">
                  <a:moveTo>
                    <a:pt x="9525" y="1793341"/>
                  </a:moveTo>
                  <a:lnTo>
                    <a:pt x="0" y="1793341"/>
                  </a:lnTo>
                  <a:lnTo>
                    <a:pt x="0" y="1821916"/>
                  </a:lnTo>
                  <a:lnTo>
                    <a:pt x="9525" y="1821916"/>
                  </a:lnTo>
                  <a:lnTo>
                    <a:pt x="9525" y="1793341"/>
                  </a:lnTo>
                  <a:close/>
                </a:path>
                <a:path w="6248400" h="4171950">
                  <a:moveTo>
                    <a:pt x="9525" y="1745754"/>
                  </a:moveTo>
                  <a:lnTo>
                    <a:pt x="0" y="1745754"/>
                  </a:lnTo>
                  <a:lnTo>
                    <a:pt x="0" y="1774329"/>
                  </a:lnTo>
                  <a:lnTo>
                    <a:pt x="9525" y="1774329"/>
                  </a:lnTo>
                  <a:lnTo>
                    <a:pt x="9525" y="1745754"/>
                  </a:lnTo>
                  <a:close/>
                </a:path>
                <a:path w="6248400" h="4171950">
                  <a:moveTo>
                    <a:pt x="9525" y="1698180"/>
                  </a:moveTo>
                  <a:lnTo>
                    <a:pt x="0" y="1698180"/>
                  </a:lnTo>
                  <a:lnTo>
                    <a:pt x="0" y="1726755"/>
                  </a:lnTo>
                  <a:lnTo>
                    <a:pt x="9525" y="1726755"/>
                  </a:lnTo>
                  <a:lnTo>
                    <a:pt x="9525" y="1698180"/>
                  </a:lnTo>
                  <a:close/>
                </a:path>
                <a:path w="6248400" h="4171950">
                  <a:moveTo>
                    <a:pt x="9525" y="1650593"/>
                  </a:moveTo>
                  <a:lnTo>
                    <a:pt x="0" y="1650593"/>
                  </a:lnTo>
                  <a:lnTo>
                    <a:pt x="0" y="1679168"/>
                  </a:lnTo>
                  <a:lnTo>
                    <a:pt x="9525" y="1679168"/>
                  </a:lnTo>
                  <a:lnTo>
                    <a:pt x="9525" y="1650593"/>
                  </a:lnTo>
                  <a:close/>
                </a:path>
                <a:path w="6248400" h="4171950">
                  <a:moveTo>
                    <a:pt x="9525" y="1603019"/>
                  </a:moveTo>
                  <a:lnTo>
                    <a:pt x="0" y="1603019"/>
                  </a:lnTo>
                  <a:lnTo>
                    <a:pt x="0" y="1631594"/>
                  </a:lnTo>
                  <a:lnTo>
                    <a:pt x="9525" y="1631594"/>
                  </a:lnTo>
                  <a:lnTo>
                    <a:pt x="9525" y="1603019"/>
                  </a:lnTo>
                  <a:close/>
                </a:path>
                <a:path w="6248400" h="4171950">
                  <a:moveTo>
                    <a:pt x="9525" y="1555432"/>
                  </a:moveTo>
                  <a:lnTo>
                    <a:pt x="0" y="1555432"/>
                  </a:lnTo>
                  <a:lnTo>
                    <a:pt x="0" y="1584007"/>
                  </a:lnTo>
                  <a:lnTo>
                    <a:pt x="9525" y="1584007"/>
                  </a:lnTo>
                  <a:lnTo>
                    <a:pt x="9525" y="1555432"/>
                  </a:lnTo>
                  <a:close/>
                </a:path>
                <a:path w="6248400" h="4171950">
                  <a:moveTo>
                    <a:pt x="9525" y="1507858"/>
                  </a:moveTo>
                  <a:lnTo>
                    <a:pt x="0" y="1507858"/>
                  </a:lnTo>
                  <a:lnTo>
                    <a:pt x="0" y="1536433"/>
                  </a:lnTo>
                  <a:lnTo>
                    <a:pt x="9525" y="1536433"/>
                  </a:lnTo>
                  <a:lnTo>
                    <a:pt x="9525" y="1507858"/>
                  </a:lnTo>
                  <a:close/>
                </a:path>
                <a:path w="6248400" h="4171950">
                  <a:moveTo>
                    <a:pt x="9525" y="1460271"/>
                  </a:moveTo>
                  <a:lnTo>
                    <a:pt x="0" y="1460271"/>
                  </a:lnTo>
                  <a:lnTo>
                    <a:pt x="0" y="1488846"/>
                  </a:lnTo>
                  <a:lnTo>
                    <a:pt x="9525" y="1488846"/>
                  </a:lnTo>
                  <a:lnTo>
                    <a:pt x="9525" y="1460271"/>
                  </a:lnTo>
                  <a:close/>
                </a:path>
                <a:path w="6248400" h="4171950">
                  <a:moveTo>
                    <a:pt x="9525" y="1412697"/>
                  </a:moveTo>
                  <a:lnTo>
                    <a:pt x="0" y="1412697"/>
                  </a:lnTo>
                  <a:lnTo>
                    <a:pt x="0" y="1441272"/>
                  </a:lnTo>
                  <a:lnTo>
                    <a:pt x="9525" y="1441272"/>
                  </a:lnTo>
                  <a:lnTo>
                    <a:pt x="9525" y="1412697"/>
                  </a:lnTo>
                  <a:close/>
                </a:path>
                <a:path w="6248400" h="4171950">
                  <a:moveTo>
                    <a:pt x="9525" y="1365110"/>
                  </a:moveTo>
                  <a:lnTo>
                    <a:pt x="0" y="1365110"/>
                  </a:lnTo>
                  <a:lnTo>
                    <a:pt x="0" y="1393685"/>
                  </a:lnTo>
                  <a:lnTo>
                    <a:pt x="9525" y="1393685"/>
                  </a:lnTo>
                  <a:lnTo>
                    <a:pt x="9525" y="1365110"/>
                  </a:lnTo>
                  <a:close/>
                </a:path>
                <a:path w="6248400" h="4171950">
                  <a:moveTo>
                    <a:pt x="9525" y="1317536"/>
                  </a:moveTo>
                  <a:lnTo>
                    <a:pt x="0" y="1317536"/>
                  </a:lnTo>
                  <a:lnTo>
                    <a:pt x="0" y="1346111"/>
                  </a:lnTo>
                  <a:lnTo>
                    <a:pt x="9525" y="1346111"/>
                  </a:lnTo>
                  <a:lnTo>
                    <a:pt x="9525" y="1317536"/>
                  </a:lnTo>
                  <a:close/>
                </a:path>
                <a:path w="6248400" h="4171950">
                  <a:moveTo>
                    <a:pt x="9525" y="1269949"/>
                  </a:moveTo>
                  <a:lnTo>
                    <a:pt x="0" y="1269949"/>
                  </a:lnTo>
                  <a:lnTo>
                    <a:pt x="0" y="1298524"/>
                  </a:lnTo>
                  <a:lnTo>
                    <a:pt x="9525" y="1298524"/>
                  </a:lnTo>
                  <a:lnTo>
                    <a:pt x="9525" y="1269949"/>
                  </a:lnTo>
                  <a:close/>
                </a:path>
                <a:path w="6248400" h="4171950">
                  <a:moveTo>
                    <a:pt x="9525" y="1222362"/>
                  </a:moveTo>
                  <a:lnTo>
                    <a:pt x="0" y="1222362"/>
                  </a:lnTo>
                  <a:lnTo>
                    <a:pt x="0" y="1250937"/>
                  </a:lnTo>
                  <a:lnTo>
                    <a:pt x="9525" y="1250937"/>
                  </a:lnTo>
                  <a:lnTo>
                    <a:pt x="9525" y="1222362"/>
                  </a:lnTo>
                  <a:close/>
                </a:path>
                <a:path w="6248400" h="4171950">
                  <a:moveTo>
                    <a:pt x="9525" y="1174788"/>
                  </a:moveTo>
                  <a:lnTo>
                    <a:pt x="0" y="1174788"/>
                  </a:lnTo>
                  <a:lnTo>
                    <a:pt x="0" y="1203363"/>
                  </a:lnTo>
                  <a:lnTo>
                    <a:pt x="9525" y="1203363"/>
                  </a:lnTo>
                  <a:lnTo>
                    <a:pt x="9525" y="1174788"/>
                  </a:lnTo>
                  <a:close/>
                </a:path>
                <a:path w="6248400" h="4171950">
                  <a:moveTo>
                    <a:pt x="9525" y="1127201"/>
                  </a:moveTo>
                  <a:lnTo>
                    <a:pt x="0" y="1127201"/>
                  </a:lnTo>
                  <a:lnTo>
                    <a:pt x="0" y="1155776"/>
                  </a:lnTo>
                  <a:lnTo>
                    <a:pt x="9525" y="1155776"/>
                  </a:lnTo>
                  <a:lnTo>
                    <a:pt x="9525" y="1127201"/>
                  </a:lnTo>
                  <a:close/>
                </a:path>
                <a:path w="6248400" h="4171950">
                  <a:moveTo>
                    <a:pt x="9525" y="1079627"/>
                  </a:moveTo>
                  <a:lnTo>
                    <a:pt x="0" y="1079627"/>
                  </a:lnTo>
                  <a:lnTo>
                    <a:pt x="0" y="1108202"/>
                  </a:lnTo>
                  <a:lnTo>
                    <a:pt x="9525" y="1108202"/>
                  </a:lnTo>
                  <a:lnTo>
                    <a:pt x="9525" y="1079627"/>
                  </a:lnTo>
                  <a:close/>
                </a:path>
                <a:path w="6248400" h="4171950">
                  <a:moveTo>
                    <a:pt x="9525" y="1032040"/>
                  </a:moveTo>
                  <a:lnTo>
                    <a:pt x="0" y="1032040"/>
                  </a:lnTo>
                  <a:lnTo>
                    <a:pt x="0" y="1060615"/>
                  </a:lnTo>
                  <a:lnTo>
                    <a:pt x="9525" y="1060615"/>
                  </a:lnTo>
                  <a:lnTo>
                    <a:pt x="9525" y="1032040"/>
                  </a:lnTo>
                  <a:close/>
                </a:path>
                <a:path w="6248400" h="4171950">
                  <a:moveTo>
                    <a:pt x="9525" y="984465"/>
                  </a:moveTo>
                  <a:lnTo>
                    <a:pt x="0" y="984465"/>
                  </a:lnTo>
                  <a:lnTo>
                    <a:pt x="0" y="1013040"/>
                  </a:lnTo>
                  <a:lnTo>
                    <a:pt x="9525" y="1013040"/>
                  </a:lnTo>
                  <a:lnTo>
                    <a:pt x="9525" y="984465"/>
                  </a:lnTo>
                  <a:close/>
                </a:path>
                <a:path w="6248400" h="4171950">
                  <a:moveTo>
                    <a:pt x="9525" y="936879"/>
                  </a:moveTo>
                  <a:lnTo>
                    <a:pt x="0" y="936879"/>
                  </a:lnTo>
                  <a:lnTo>
                    <a:pt x="0" y="965454"/>
                  </a:lnTo>
                  <a:lnTo>
                    <a:pt x="9525" y="965454"/>
                  </a:lnTo>
                  <a:lnTo>
                    <a:pt x="9525" y="936879"/>
                  </a:lnTo>
                  <a:close/>
                </a:path>
                <a:path w="6248400" h="4171950">
                  <a:moveTo>
                    <a:pt x="9525" y="889292"/>
                  </a:moveTo>
                  <a:lnTo>
                    <a:pt x="0" y="889292"/>
                  </a:lnTo>
                  <a:lnTo>
                    <a:pt x="0" y="917867"/>
                  </a:lnTo>
                  <a:lnTo>
                    <a:pt x="9525" y="917867"/>
                  </a:lnTo>
                  <a:lnTo>
                    <a:pt x="9525" y="889292"/>
                  </a:lnTo>
                  <a:close/>
                </a:path>
                <a:path w="6248400" h="4171950">
                  <a:moveTo>
                    <a:pt x="9525" y="841717"/>
                  </a:moveTo>
                  <a:lnTo>
                    <a:pt x="0" y="841717"/>
                  </a:lnTo>
                  <a:lnTo>
                    <a:pt x="0" y="870292"/>
                  </a:lnTo>
                  <a:lnTo>
                    <a:pt x="9525" y="870292"/>
                  </a:lnTo>
                  <a:lnTo>
                    <a:pt x="9525" y="841717"/>
                  </a:lnTo>
                  <a:close/>
                </a:path>
                <a:path w="6248400" h="4171950">
                  <a:moveTo>
                    <a:pt x="9525" y="794131"/>
                  </a:moveTo>
                  <a:lnTo>
                    <a:pt x="0" y="794131"/>
                  </a:lnTo>
                  <a:lnTo>
                    <a:pt x="0" y="822706"/>
                  </a:lnTo>
                  <a:lnTo>
                    <a:pt x="9525" y="822706"/>
                  </a:lnTo>
                  <a:lnTo>
                    <a:pt x="9525" y="794131"/>
                  </a:lnTo>
                  <a:close/>
                </a:path>
                <a:path w="6248400" h="4171950">
                  <a:moveTo>
                    <a:pt x="9525" y="746556"/>
                  </a:moveTo>
                  <a:lnTo>
                    <a:pt x="0" y="746556"/>
                  </a:lnTo>
                  <a:lnTo>
                    <a:pt x="0" y="775131"/>
                  </a:lnTo>
                  <a:lnTo>
                    <a:pt x="9525" y="775131"/>
                  </a:lnTo>
                  <a:lnTo>
                    <a:pt x="9525" y="746556"/>
                  </a:lnTo>
                  <a:close/>
                </a:path>
                <a:path w="6248400" h="4171950">
                  <a:moveTo>
                    <a:pt x="9525" y="698969"/>
                  </a:moveTo>
                  <a:lnTo>
                    <a:pt x="0" y="698969"/>
                  </a:lnTo>
                  <a:lnTo>
                    <a:pt x="0" y="727544"/>
                  </a:lnTo>
                  <a:lnTo>
                    <a:pt x="9525" y="727544"/>
                  </a:lnTo>
                  <a:lnTo>
                    <a:pt x="9525" y="698969"/>
                  </a:lnTo>
                  <a:close/>
                </a:path>
                <a:path w="6248400" h="4171950">
                  <a:moveTo>
                    <a:pt x="9525" y="651395"/>
                  </a:moveTo>
                  <a:lnTo>
                    <a:pt x="0" y="651395"/>
                  </a:lnTo>
                  <a:lnTo>
                    <a:pt x="0" y="679970"/>
                  </a:lnTo>
                  <a:lnTo>
                    <a:pt x="9525" y="679970"/>
                  </a:lnTo>
                  <a:lnTo>
                    <a:pt x="9525" y="651395"/>
                  </a:lnTo>
                  <a:close/>
                </a:path>
                <a:path w="6248400" h="4171950">
                  <a:moveTo>
                    <a:pt x="9525" y="603808"/>
                  </a:moveTo>
                  <a:lnTo>
                    <a:pt x="0" y="603808"/>
                  </a:lnTo>
                  <a:lnTo>
                    <a:pt x="0" y="632383"/>
                  </a:lnTo>
                  <a:lnTo>
                    <a:pt x="9525" y="632383"/>
                  </a:lnTo>
                  <a:lnTo>
                    <a:pt x="9525" y="603808"/>
                  </a:lnTo>
                  <a:close/>
                </a:path>
                <a:path w="6248400" h="4171950">
                  <a:moveTo>
                    <a:pt x="9525" y="556234"/>
                  </a:moveTo>
                  <a:lnTo>
                    <a:pt x="0" y="556234"/>
                  </a:lnTo>
                  <a:lnTo>
                    <a:pt x="0" y="584809"/>
                  </a:lnTo>
                  <a:lnTo>
                    <a:pt x="9525" y="584809"/>
                  </a:lnTo>
                  <a:lnTo>
                    <a:pt x="9525" y="556234"/>
                  </a:lnTo>
                  <a:close/>
                </a:path>
                <a:path w="6248400" h="4171950">
                  <a:moveTo>
                    <a:pt x="9525" y="508647"/>
                  </a:moveTo>
                  <a:lnTo>
                    <a:pt x="0" y="508647"/>
                  </a:lnTo>
                  <a:lnTo>
                    <a:pt x="0" y="537222"/>
                  </a:lnTo>
                  <a:lnTo>
                    <a:pt x="9525" y="537222"/>
                  </a:lnTo>
                  <a:lnTo>
                    <a:pt x="9525" y="508647"/>
                  </a:lnTo>
                  <a:close/>
                </a:path>
                <a:path w="6248400" h="4171950">
                  <a:moveTo>
                    <a:pt x="9525" y="461073"/>
                  </a:moveTo>
                  <a:lnTo>
                    <a:pt x="0" y="461073"/>
                  </a:lnTo>
                  <a:lnTo>
                    <a:pt x="0" y="489648"/>
                  </a:lnTo>
                  <a:lnTo>
                    <a:pt x="9525" y="489648"/>
                  </a:lnTo>
                  <a:lnTo>
                    <a:pt x="9525" y="461073"/>
                  </a:lnTo>
                  <a:close/>
                </a:path>
                <a:path w="6248400" h="4171950">
                  <a:moveTo>
                    <a:pt x="9525" y="413486"/>
                  </a:moveTo>
                  <a:lnTo>
                    <a:pt x="0" y="413486"/>
                  </a:lnTo>
                  <a:lnTo>
                    <a:pt x="0" y="442061"/>
                  </a:lnTo>
                  <a:lnTo>
                    <a:pt x="9525" y="442061"/>
                  </a:lnTo>
                  <a:lnTo>
                    <a:pt x="9525" y="413486"/>
                  </a:lnTo>
                  <a:close/>
                </a:path>
                <a:path w="6248400" h="4171950">
                  <a:moveTo>
                    <a:pt x="9525" y="365899"/>
                  </a:moveTo>
                  <a:lnTo>
                    <a:pt x="0" y="365899"/>
                  </a:lnTo>
                  <a:lnTo>
                    <a:pt x="0" y="394474"/>
                  </a:lnTo>
                  <a:lnTo>
                    <a:pt x="9525" y="394474"/>
                  </a:lnTo>
                  <a:lnTo>
                    <a:pt x="9525" y="365899"/>
                  </a:lnTo>
                  <a:close/>
                </a:path>
                <a:path w="6248400" h="4171950">
                  <a:moveTo>
                    <a:pt x="9525" y="318325"/>
                  </a:moveTo>
                  <a:lnTo>
                    <a:pt x="0" y="318325"/>
                  </a:lnTo>
                  <a:lnTo>
                    <a:pt x="0" y="346900"/>
                  </a:lnTo>
                  <a:lnTo>
                    <a:pt x="9525" y="346900"/>
                  </a:lnTo>
                  <a:lnTo>
                    <a:pt x="9525" y="318325"/>
                  </a:lnTo>
                  <a:close/>
                </a:path>
                <a:path w="6248400" h="4171950">
                  <a:moveTo>
                    <a:pt x="9525" y="270738"/>
                  </a:moveTo>
                  <a:lnTo>
                    <a:pt x="0" y="270738"/>
                  </a:lnTo>
                  <a:lnTo>
                    <a:pt x="0" y="299313"/>
                  </a:lnTo>
                  <a:lnTo>
                    <a:pt x="9525" y="299313"/>
                  </a:lnTo>
                  <a:lnTo>
                    <a:pt x="9525" y="270738"/>
                  </a:lnTo>
                  <a:close/>
                </a:path>
                <a:path w="6248400" h="4171950">
                  <a:moveTo>
                    <a:pt x="9525" y="223164"/>
                  </a:moveTo>
                  <a:lnTo>
                    <a:pt x="0" y="223164"/>
                  </a:lnTo>
                  <a:lnTo>
                    <a:pt x="0" y="251739"/>
                  </a:lnTo>
                  <a:lnTo>
                    <a:pt x="9525" y="251739"/>
                  </a:lnTo>
                  <a:lnTo>
                    <a:pt x="9525" y="223164"/>
                  </a:lnTo>
                  <a:close/>
                </a:path>
                <a:path w="6248400" h="4171950">
                  <a:moveTo>
                    <a:pt x="9525" y="175577"/>
                  </a:moveTo>
                  <a:lnTo>
                    <a:pt x="0" y="175577"/>
                  </a:lnTo>
                  <a:lnTo>
                    <a:pt x="0" y="204152"/>
                  </a:lnTo>
                  <a:lnTo>
                    <a:pt x="9525" y="204152"/>
                  </a:lnTo>
                  <a:lnTo>
                    <a:pt x="9525" y="175577"/>
                  </a:lnTo>
                  <a:close/>
                </a:path>
                <a:path w="6248400" h="4171950">
                  <a:moveTo>
                    <a:pt x="9525" y="128003"/>
                  </a:moveTo>
                  <a:lnTo>
                    <a:pt x="0" y="128003"/>
                  </a:lnTo>
                  <a:lnTo>
                    <a:pt x="0" y="156578"/>
                  </a:lnTo>
                  <a:lnTo>
                    <a:pt x="9525" y="156578"/>
                  </a:lnTo>
                  <a:lnTo>
                    <a:pt x="9525" y="128003"/>
                  </a:lnTo>
                  <a:close/>
                </a:path>
                <a:path w="6248400" h="4171950">
                  <a:moveTo>
                    <a:pt x="9525" y="80416"/>
                  </a:moveTo>
                  <a:lnTo>
                    <a:pt x="0" y="80416"/>
                  </a:lnTo>
                  <a:lnTo>
                    <a:pt x="0" y="108991"/>
                  </a:lnTo>
                  <a:lnTo>
                    <a:pt x="9525" y="108991"/>
                  </a:lnTo>
                  <a:lnTo>
                    <a:pt x="9525" y="80416"/>
                  </a:lnTo>
                  <a:close/>
                </a:path>
                <a:path w="6248400" h="4171950">
                  <a:moveTo>
                    <a:pt x="10121" y="4104233"/>
                  </a:moveTo>
                  <a:lnTo>
                    <a:pt x="9829" y="4102328"/>
                  </a:lnTo>
                  <a:lnTo>
                    <a:pt x="9525" y="4095750"/>
                  </a:lnTo>
                  <a:lnTo>
                    <a:pt x="9525" y="4077233"/>
                  </a:lnTo>
                  <a:lnTo>
                    <a:pt x="0" y="4077233"/>
                  </a:lnTo>
                  <a:lnTo>
                    <a:pt x="0" y="4095750"/>
                  </a:lnTo>
                  <a:lnTo>
                    <a:pt x="355" y="4103268"/>
                  </a:lnTo>
                  <a:lnTo>
                    <a:pt x="673" y="4105452"/>
                  </a:lnTo>
                  <a:lnTo>
                    <a:pt x="10121" y="4104233"/>
                  </a:lnTo>
                  <a:close/>
                </a:path>
                <a:path w="6248400" h="4171950">
                  <a:moveTo>
                    <a:pt x="20116" y="40208"/>
                  </a:moveTo>
                  <a:lnTo>
                    <a:pt x="12103" y="35077"/>
                  </a:lnTo>
                  <a:lnTo>
                    <a:pt x="9017" y="40208"/>
                  </a:lnTo>
                  <a:lnTo>
                    <a:pt x="5791" y="47040"/>
                  </a:lnTo>
                  <a:lnTo>
                    <a:pt x="3251" y="54114"/>
                  </a:lnTo>
                  <a:lnTo>
                    <a:pt x="1447" y="61341"/>
                  </a:lnTo>
                  <a:lnTo>
                    <a:pt x="1371" y="61823"/>
                  </a:lnTo>
                  <a:lnTo>
                    <a:pt x="10718" y="63627"/>
                  </a:lnTo>
                  <a:lnTo>
                    <a:pt x="10782" y="63195"/>
                  </a:lnTo>
                  <a:lnTo>
                    <a:pt x="12369" y="56883"/>
                  </a:lnTo>
                  <a:lnTo>
                    <a:pt x="14592" y="50685"/>
                  </a:lnTo>
                  <a:lnTo>
                    <a:pt x="17399" y="44742"/>
                  </a:lnTo>
                  <a:lnTo>
                    <a:pt x="20116" y="40208"/>
                  </a:lnTo>
                  <a:close/>
                </a:path>
                <a:path w="6248400" h="4171950">
                  <a:moveTo>
                    <a:pt x="27952" y="4141698"/>
                  </a:moveTo>
                  <a:lnTo>
                    <a:pt x="14389" y="4120692"/>
                  </a:lnTo>
                  <a:lnTo>
                    <a:pt x="5562" y="4124261"/>
                  </a:lnTo>
                  <a:lnTo>
                    <a:pt x="21056" y="4148264"/>
                  </a:lnTo>
                  <a:lnTo>
                    <a:pt x="27952" y="4141698"/>
                  </a:lnTo>
                  <a:close/>
                </a:path>
                <a:path w="6248400" h="4171950">
                  <a:moveTo>
                    <a:pt x="52171" y="14071"/>
                  </a:moveTo>
                  <a:lnTo>
                    <a:pt x="48742" y="5194"/>
                  </a:lnTo>
                  <a:lnTo>
                    <a:pt x="47028" y="5803"/>
                  </a:lnTo>
                  <a:lnTo>
                    <a:pt x="40233" y="9017"/>
                  </a:lnTo>
                  <a:lnTo>
                    <a:pt x="33845" y="12839"/>
                  </a:lnTo>
                  <a:lnTo>
                    <a:pt x="27876" y="17272"/>
                  </a:lnTo>
                  <a:lnTo>
                    <a:pt x="24511" y="20320"/>
                  </a:lnTo>
                  <a:lnTo>
                    <a:pt x="30975" y="27305"/>
                  </a:lnTo>
                  <a:lnTo>
                    <a:pt x="33921" y="24638"/>
                  </a:lnTo>
                  <a:lnTo>
                    <a:pt x="39141" y="20751"/>
                  </a:lnTo>
                  <a:lnTo>
                    <a:pt x="44729" y="17411"/>
                  </a:lnTo>
                  <a:lnTo>
                    <a:pt x="50673" y="14605"/>
                  </a:lnTo>
                  <a:lnTo>
                    <a:pt x="52171" y="14071"/>
                  </a:lnTo>
                  <a:close/>
                </a:path>
                <a:path w="6248400" h="4171950">
                  <a:moveTo>
                    <a:pt x="64566" y="4161371"/>
                  </a:moveTo>
                  <a:lnTo>
                    <a:pt x="41033" y="4152328"/>
                  </a:lnTo>
                  <a:lnTo>
                    <a:pt x="36004" y="4160418"/>
                  </a:lnTo>
                  <a:lnTo>
                    <a:pt x="62903" y="4170743"/>
                  </a:lnTo>
                  <a:lnTo>
                    <a:pt x="62941" y="4170502"/>
                  </a:lnTo>
                  <a:lnTo>
                    <a:pt x="64566" y="4161371"/>
                  </a:lnTo>
                  <a:close/>
                </a:path>
                <a:path w="6248400" h="4171950">
                  <a:moveTo>
                    <a:pt x="104775" y="0"/>
                  </a:moveTo>
                  <a:lnTo>
                    <a:pt x="76200" y="0"/>
                  </a:lnTo>
                  <a:lnTo>
                    <a:pt x="68681" y="368"/>
                  </a:lnTo>
                  <a:lnTo>
                    <a:pt x="67564" y="533"/>
                  </a:lnTo>
                  <a:lnTo>
                    <a:pt x="68643" y="9994"/>
                  </a:lnTo>
                  <a:lnTo>
                    <a:pt x="69621" y="9842"/>
                  </a:lnTo>
                  <a:lnTo>
                    <a:pt x="76200" y="9525"/>
                  </a:lnTo>
                  <a:lnTo>
                    <a:pt x="104775" y="9525"/>
                  </a:lnTo>
                  <a:lnTo>
                    <a:pt x="104775" y="0"/>
                  </a:lnTo>
                  <a:close/>
                </a:path>
                <a:path w="6248400" h="4171950">
                  <a:moveTo>
                    <a:pt x="110070" y="4162425"/>
                  </a:moveTo>
                  <a:lnTo>
                    <a:pt x="81495" y="4162425"/>
                  </a:lnTo>
                  <a:lnTo>
                    <a:pt x="81495" y="4171950"/>
                  </a:lnTo>
                  <a:lnTo>
                    <a:pt x="110070" y="4171950"/>
                  </a:lnTo>
                  <a:lnTo>
                    <a:pt x="110070" y="4162425"/>
                  </a:lnTo>
                  <a:close/>
                </a:path>
                <a:path w="6248400" h="4171950">
                  <a:moveTo>
                    <a:pt x="152349" y="0"/>
                  </a:moveTo>
                  <a:lnTo>
                    <a:pt x="123774" y="0"/>
                  </a:lnTo>
                  <a:lnTo>
                    <a:pt x="123774" y="9525"/>
                  </a:lnTo>
                  <a:lnTo>
                    <a:pt x="152349" y="9525"/>
                  </a:lnTo>
                  <a:lnTo>
                    <a:pt x="152349" y="0"/>
                  </a:lnTo>
                  <a:close/>
                </a:path>
                <a:path w="6248400" h="4171950">
                  <a:moveTo>
                    <a:pt x="157657" y="4162425"/>
                  </a:moveTo>
                  <a:lnTo>
                    <a:pt x="129082" y="4162425"/>
                  </a:lnTo>
                  <a:lnTo>
                    <a:pt x="129082" y="4171950"/>
                  </a:lnTo>
                  <a:lnTo>
                    <a:pt x="157657" y="4171950"/>
                  </a:lnTo>
                  <a:lnTo>
                    <a:pt x="157657" y="4162425"/>
                  </a:lnTo>
                  <a:close/>
                </a:path>
                <a:path w="6248400" h="4171950">
                  <a:moveTo>
                    <a:pt x="199936" y="0"/>
                  </a:moveTo>
                  <a:lnTo>
                    <a:pt x="171361" y="0"/>
                  </a:lnTo>
                  <a:lnTo>
                    <a:pt x="171361" y="9525"/>
                  </a:lnTo>
                  <a:lnTo>
                    <a:pt x="199936" y="9525"/>
                  </a:lnTo>
                  <a:lnTo>
                    <a:pt x="199936" y="0"/>
                  </a:lnTo>
                  <a:close/>
                </a:path>
                <a:path w="6248400" h="4171950">
                  <a:moveTo>
                    <a:pt x="205232" y="4162425"/>
                  </a:moveTo>
                  <a:lnTo>
                    <a:pt x="176657" y="4162425"/>
                  </a:lnTo>
                  <a:lnTo>
                    <a:pt x="176657" y="4171950"/>
                  </a:lnTo>
                  <a:lnTo>
                    <a:pt x="205232" y="4171950"/>
                  </a:lnTo>
                  <a:lnTo>
                    <a:pt x="205232" y="4162425"/>
                  </a:lnTo>
                  <a:close/>
                </a:path>
                <a:path w="6248400" h="4171950">
                  <a:moveTo>
                    <a:pt x="247510" y="0"/>
                  </a:moveTo>
                  <a:lnTo>
                    <a:pt x="218935" y="0"/>
                  </a:lnTo>
                  <a:lnTo>
                    <a:pt x="218935" y="9525"/>
                  </a:lnTo>
                  <a:lnTo>
                    <a:pt x="247510" y="9525"/>
                  </a:lnTo>
                  <a:lnTo>
                    <a:pt x="247510" y="0"/>
                  </a:lnTo>
                  <a:close/>
                </a:path>
                <a:path w="6248400" h="4171950">
                  <a:moveTo>
                    <a:pt x="252818" y="4162425"/>
                  </a:moveTo>
                  <a:lnTo>
                    <a:pt x="224243" y="4162425"/>
                  </a:lnTo>
                  <a:lnTo>
                    <a:pt x="224243" y="4171950"/>
                  </a:lnTo>
                  <a:lnTo>
                    <a:pt x="252818" y="4171950"/>
                  </a:lnTo>
                  <a:lnTo>
                    <a:pt x="252818" y="4162425"/>
                  </a:lnTo>
                  <a:close/>
                </a:path>
                <a:path w="6248400" h="4171950">
                  <a:moveTo>
                    <a:pt x="295097" y="0"/>
                  </a:moveTo>
                  <a:lnTo>
                    <a:pt x="266522" y="0"/>
                  </a:lnTo>
                  <a:lnTo>
                    <a:pt x="266522" y="9525"/>
                  </a:lnTo>
                  <a:lnTo>
                    <a:pt x="295097" y="9525"/>
                  </a:lnTo>
                  <a:lnTo>
                    <a:pt x="295097" y="0"/>
                  </a:lnTo>
                  <a:close/>
                </a:path>
                <a:path w="6248400" h="4171950">
                  <a:moveTo>
                    <a:pt x="300393" y="4162425"/>
                  </a:moveTo>
                  <a:lnTo>
                    <a:pt x="271818" y="4162425"/>
                  </a:lnTo>
                  <a:lnTo>
                    <a:pt x="271818" y="4171950"/>
                  </a:lnTo>
                  <a:lnTo>
                    <a:pt x="300393" y="4171950"/>
                  </a:lnTo>
                  <a:lnTo>
                    <a:pt x="300393" y="4162425"/>
                  </a:lnTo>
                  <a:close/>
                </a:path>
                <a:path w="6248400" h="4171950">
                  <a:moveTo>
                    <a:pt x="342671" y="0"/>
                  </a:moveTo>
                  <a:lnTo>
                    <a:pt x="314096" y="0"/>
                  </a:lnTo>
                  <a:lnTo>
                    <a:pt x="314096" y="9525"/>
                  </a:lnTo>
                  <a:lnTo>
                    <a:pt x="342671" y="9525"/>
                  </a:lnTo>
                  <a:lnTo>
                    <a:pt x="342671" y="0"/>
                  </a:lnTo>
                  <a:close/>
                </a:path>
                <a:path w="6248400" h="4171950">
                  <a:moveTo>
                    <a:pt x="347980" y="4162425"/>
                  </a:moveTo>
                  <a:lnTo>
                    <a:pt x="319405" y="4162425"/>
                  </a:lnTo>
                  <a:lnTo>
                    <a:pt x="319405" y="4171950"/>
                  </a:lnTo>
                  <a:lnTo>
                    <a:pt x="347980" y="4171950"/>
                  </a:lnTo>
                  <a:lnTo>
                    <a:pt x="347980" y="4162425"/>
                  </a:lnTo>
                  <a:close/>
                </a:path>
                <a:path w="6248400" h="4171950">
                  <a:moveTo>
                    <a:pt x="390258" y="0"/>
                  </a:moveTo>
                  <a:lnTo>
                    <a:pt x="361683" y="0"/>
                  </a:lnTo>
                  <a:lnTo>
                    <a:pt x="361683" y="9525"/>
                  </a:lnTo>
                  <a:lnTo>
                    <a:pt x="390258" y="9525"/>
                  </a:lnTo>
                  <a:lnTo>
                    <a:pt x="390258" y="0"/>
                  </a:lnTo>
                  <a:close/>
                </a:path>
                <a:path w="6248400" h="4171950">
                  <a:moveTo>
                    <a:pt x="395554" y="4162425"/>
                  </a:moveTo>
                  <a:lnTo>
                    <a:pt x="366979" y="4162425"/>
                  </a:lnTo>
                  <a:lnTo>
                    <a:pt x="366979" y="4171950"/>
                  </a:lnTo>
                  <a:lnTo>
                    <a:pt x="395554" y="4171950"/>
                  </a:lnTo>
                  <a:lnTo>
                    <a:pt x="395554" y="4162425"/>
                  </a:lnTo>
                  <a:close/>
                </a:path>
                <a:path w="6248400" h="4171950">
                  <a:moveTo>
                    <a:pt x="437832" y="0"/>
                  </a:moveTo>
                  <a:lnTo>
                    <a:pt x="409257" y="0"/>
                  </a:lnTo>
                  <a:lnTo>
                    <a:pt x="409257" y="9525"/>
                  </a:lnTo>
                  <a:lnTo>
                    <a:pt x="437832" y="9525"/>
                  </a:lnTo>
                  <a:lnTo>
                    <a:pt x="437832" y="0"/>
                  </a:lnTo>
                  <a:close/>
                </a:path>
                <a:path w="6248400" h="4171950">
                  <a:moveTo>
                    <a:pt x="443141" y="4162425"/>
                  </a:moveTo>
                  <a:lnTo>
                    <a:pt x="414566" y="4162425"/>
                  </a:lnTo>
                  <a:lnTo>
                    <a:pt x="414566" y="4171950"/>
                  </a:lnTo>
                  <a:lnTo>
                    <a:pt x="443141" y="4171950"/>
                  </a:lnTo>
                  <a:lnTo>
                    <a:pt x="443141" y="4162425"/>
                  </a:lnTo>
                  <a:close/>
                </a:path>
                <a:path w="6248400" h="4171950">
                  <a:moveTo>
                    <a:pt x="485419" y="0"/>
                  </a:moveTo>
                  <a:lnTo>
                    <a:pt x="456844" y="0"/>
                  </a:lnTo>
                  <a:lnTo>
                    <a:pt x="456844" y="9525"/>
                  </a:lnTo>
                  <a:lnTo>
                    <a:pt x="485419" y="9525"/>
                  </a:lnTo>
                  <a:lnTo>
                    <a:pt x="485419" y="0"/>
                  </a:lnTo>
                  <a:close/>
                </a:path>
                <a:path w="6248400" h="4171950">
                  <a:moveTo>
                    <a:pt x="490728" y="4162425"/>
                  </a:moveTo>
                  <a:lnTo>
                    <a:pt x="462153" y="4162425"/>
                  </a:lnTo>
                  <a:lnTo>
                    <a:pt x="462153" y="4171950"/>
                  </a:lnTo>
                  <a:lnTo>
                    <a:pt x="490728" y="4171950"/>
                  </a:lnTo>
                  <a:lnTo>
                    <a:pt x="490728" y="4162425"/>
                  </a:lnTo>
                  <a:close/>
                </a:path>
                <a:path w="6248400" h="4171950">
                  <a:moveTo>
                    <a:pt x="532993" y="0"/>
                  </a:moveTo>
                  <a:lnTo>
                    <a:pt x="504418" y="0"/>
                  </a:lnTo>
                  <a:lnTo>
                    <a:pt x="504418" y="9525"/>
                  </a:lnTo>
                  <a:lnTo>
                    <a:pt x="532993" y="9525"/>
                  </a:lnTo>
                  <a:lnTo>
                    <a:pt x="532993" y="0"/>
                  </a:lnTo>
                  <a:close/>
                </a:path>
                <a:path w="6248400" h="4171950">
                  <a:moveTo>
                    <a:pt x="538302" y="4162425"/>
                  </a:moveTo>
                  <a:lnTo>
                    <a:pt x="509727" y="4162425"/>
                  </a:lnTo>
                  <a:lnTo>
                    <a:pt x="509727" y="4171950"/>
                  </a:lnTo>
                  <a:lnTo>
                    <a:pt x="538302" y="4171950"/>
                  </a:lnTo>
                  <a:lnTo>
                    <a:pt x="538302" y="4162425"/>
                  </a:lnTo>
                  <a:close/>
                </a:path>
                <a:path w="6248400" h="4171950">
                  <a:moveTo>
                    <a:pt x="580580" y="0"/>
                  </a:moveTo>
                  <a:lnTo>
                    <a:pt x="552005" y="0"/>
                  </a:lnTo>
                  <a:lnTo>
                    <a:pt x="552005" y="9525"/>
                  </a:lnTo>
                  <a:lnTo>
                    <a:pt x="580580" y="9525"/>
                  </a:lnTo>
                  <a:lnTo>
                    <a:pt x="580580" y="0"/>
                  </a:lnTo>
                  <a:close/>
                </a:path>
                <a:path w="6248400" h="4171950">
                  <a:moveTo>
                    <a:pt x="585889" y="4162425"/>
                  </a:moveTo>
                  <a:lnTo>
                    <a:pt x="557314" y="4162425"/>
                  </a:lnTo>
                  <a:lnTo>
                    <a:pt x="557314" y="4171950"/>
                  </a:lnTo>
                  <a:lnTo>
                    <a:pt x="585889" y="4171950"/>
                  </a:lnTo>
                  <a:lnTo>
                    <a:pt x="585889" y="4162425"/>
                  </a:lnTo>
                  <a:close/>
                </a:path>
                <a:path w="6248400" h="4171950">
                  <a:moveTo>
                    <a:pt x="628167" y="0"/>
                  </a:moveTo>
                  <a:lnTo>
                    <a:pt x="599592" y="0"/>
                  </a:lnTo>
                  <a:lnTo>
                    <a:pt x="599592" y="9525"/>
                  </a:lnTo>
                  <a:lnTo>
                    <a:pt x="628167" y="9525"/>
                  </a:lnTo>
                  <a:lnTo>
                    <a:pt x="628167" y="0"/>
                  </a:lnTo>
                  <a:close/>
                </a:path>
                <a:path w="6248400" h="4171950">
                  <a:moveTo>
                    <a:pt x="633463" y="4162425"/>
                  </a:moveTo>
                  <a:lnTo>
                    <a:pt x="604888" y="4162425"/>
                  </a:lnTo>
                  <a:lnTo>
                    <a:pt x="604888" y="4171950"/>
                  </a:lnTo>
                  <a:lnTo>
                    <a:pt x="633463" y="4171950"/>
                  </a:lnTo>
                  <a:lnTo>
                    <a:pt x="633463" y="4162425"/>
                  </a:lnTo>
                  <a:close/>
                </a:path>
                <a:path w="6248400" h="4171950">
                  <a:moveTo>
                    <a:pt x="675741" y="0"/>
                  </a:moveTo>
                  <a:lnTo>
                    <a:pt x="647166" y="0"/>
                  </a:lnTo>
                  <a:lnTo>
                    <a:pt x="647166" y="9525"/>
                  </a:lnTo>
                  <a:lnTo>
                    <a:pt x="675741" y="9525"/>
                  </a:lnTo>
                  <a:lnTo>
                    <a:pt x="675741" y="0"/>
                  </a:lnTo>
                  <a:close/>
                </a:path>
                <a:path w="6248400" h="4171950">
                  <a:moveTo>
                    <a:pt x="681050" y="4162425"/>
                  </a:moveTo>
                  <a:lnTo>
                    <a:pt x="652475" y="4162425"/>
                  </a:lnTo>
                  <a:lnTo>
                    <a:pt x="652475" y="4171950"/>
                  </a:lnTo>
                  <a:lnTo>
                    <a:pt x="681050" y="4171950"/>
                  </a:lnTo>
                  <a:lnTo>
                    <a:pt x="681050" y="4162425"/>
                  </a:lnTo>
                  <a:close/>
                </a:path>
                <a:path w="6248400" h="4171950">
                  <a:moveTo>
                    <a:pt x="723328" y="0"/>
                  </a:moveTo>
                  <a:lnTo>
                    <a:pt x="694753" y="0"/>
                  </a:lnTo>
                  <a:lnTo>
                    <a:pt x="694753" y="9525"/>
                  </a:lnTo>
                  <a:lnTo>
                    <a:pt x="723328" y="9525"/>
                  </a:lnTo>
                  <a:lnTo>
                    <a:pt x="723328" y="0"/>
                  </a:lnTo>
                  <a:close/>
                </a:path>
                <a:path w="6248400" h="4171950">
                  <a:moveTo>
                    <a:pt x="728624" y="4162425"/>
                  </a:moveTo>
                  <a:lnTo>
                    <a:pt x="700049" y="4162425"/>
                  </a:lnTo>
                  <a:lnTo>
                    <a:pt x="700049" y="4171950"/>
                  </a:lnTo>
                  <a:lnTo>
                    <a:pt x="728624" y="4171950"/>
                  </a:lnTo>
                  <a:lnTo>
                    <a:pt x="728624" y="4162425"/>
                  </a:lnTo>
                  <a:close/>
                </a:path>
                <a:path w="6248400" h="4171950">
                  <a:moveTo>
                    <a:pt x="770902" y="0"/>
                  </a:moveTo>
                  <a:lnTo>
                    <a:pt x="742327" y="0"/>
                  </a:lnTo>
                  <a:lnTo>
                    <a:pt x="742327" y="9525"/>
                  </a:lnTo>
                  <a:lnTo>
                    <a:pt x="770902" y="9525"/>
                  </a:lnTo>
                  <a:lnTo>
                    <a:pt x="770902" y="0"/>
                  </a:lnTo>
                  <a:close/>
                </a:path>
                <a:path w="6248400" h="4171950">
                  <a:moveTo>
                    <a:pt x="776211" y="4162425"/>
                  </a:moveTo>
                  <a:lnTo>
                    <a:pt x="747636" y="4162425"/>
                  </a:lnTo>
                  <a:lnTo>
                    <a:pt x="747636" y="4171950"/>
                  </a:lnTo>
                  <a:lnTo>
                    <a:pt x="776211" y="4171950"/>
                  </a:lnTo>
                  <a:lnTo>
                    <a:pt x="776211" y="4162425"/>
                  </a:lnTo>
                  <a:close/>
                </a:path>
                <a:path w="6248400" h="4171950">
                  <a:moveTo>
                    <a:pt x="818489" y="0"/>
                  </a:moveTo>
                  <a:lnTo>
                    <a:pt x="789914" y="0"/>
                  </a:lnTo>
                  <a:lnTo>
                    <a:pt x="789914" y="9525"/>
                  </a:lnTo>
                  <a:lnTo>
                    <a:pt x="818489" y="9525"/>
                  </a:lnTo>
                  <a:lnTo>
                    <a:pt x="818489" y="0"/>
                  </a:lnTo>
                  <a:close/>
                </a:path>
                <a:path w="6248400" h="4171950">
                  <a:moveTo>
                    <a:pt x="823785" y="4162425"/>
                  </a:moveTo>
                  <a:lnTo>
                    <a:pt x="795210" y="4162425"/>
                  </a:lnTo>
                  <a:lnTo>
                    <a:pt x="795210" y="4171950"/>
                  </a:lnTo>
                  <a:lnTo>
                    <a:pt x="823785" y="4171950"/>
                  </a:lnTo>
                  <a:lnTo>
                    <a:pt x="823785" y="4162425"/>
                  </a:lnTo>
                  <a:close/>
                </a:path>
                <a:path w="6248400" h="4171950">
                  <a:moveTo>
                    <a:pt x="866063" y="0"/>
                  </a:moveTo>
                  <a:lnTo>
                    <a:pt x="837488" y="0"/>
                  </a:lnTo>
                  <a:lnTo>
                    <a:pt x="837488" y="9525"/>
                  </a:lnTo>
                  <a:lnTo>
                    <a:pt x="866063" y="9525"/>
                  </a:lnTo>
                  <a:lnTo>
                    <a:pt x="866063" y="0"/>
                  </a:lnTo>
                  <a:close/>
                </a:path>
                <a:path w="6248400" h="4171950">
                  <a:moveTo>
                    <a:pt x="871372" y="4162425"/>
                  </a:moveTo>
                  <a:lnTo>
                    <a:pt x="842797" y="4162425"/>
                  </a:lnTo>
                  <a:lnTo>
                    <a:pt x="842797" y="4171950"/>
                  </a:lnTo>
                  <a:lnTo>
                    <a:pt x="871372" y="4171950"/>
                  </a:lnTo>
                  <a:lnTo>
                    <a:pt x="871372" y="4162425"/>
                  </a:lnTo>
                  <a:close/>
                </a:path>
                <a:path w="6248400" h="4171950">
                  <a:moveTo>
                    <a:pt x="913650" y="0"/>
                  </a:moveTo>
                  <a:lnTo>
                    <a:pt x="885075" y="0"/>
                  </a:lnTo>
                  <a:lnTo>
                    <a:pt x="885075" y="9525"/>
                  </a:lnTo>
                  <a:lnTo>
                    <a:pt x="913650" y="9525"/>
                  </a:lnTo>
                  <a:lnTo>
                    <a:pt x="913650" y="0"/>
                  </a:lnTo>
                  <a:close/>
                </a:path>
                <a:path w="6248400" h="4171950">
                  <a:moveTo>
                    <a:pt x="918946" y="4162425"/>
                  </a:moveTo>
                  <a:lnTo>
                    <a:pt x="890371" y="4162425"/>
                  </a:lnTo>
                  <a:lnTo>
                    <a:pt x="890371" y="4171950"/>
                  </a:lnTo>
                  <a:lnTo>
                    <a:pt x="918946" y="4171950"/>
                  </a:lnTo>
                  <a:lnTo>
                    <a:pt x="918946" y="4162425"/>
                  </a:lnTo>
                  <a:close/>
                </a:path>
                <a:path w="6248400" h="4171950">
                  <a:moveTo>
                    <a:pt x="961224" y="0"/>
                  </a:moveTo>
                  <a:lnTo>
                    <a:pt x="932649" y="0"/>
                  </a:lnTo>
                  <a:lnTo>
                    <a:pt x="932649" y="9525"/>
                  </a:lnTo>
                  <a:lnTo>
                    <a:pt x="961224" y="9525"/>
                  </a:lnTo>
                  <a:lnTo>
                    <a:pt x="961224" y="0"/>
                  </a:lnTo>
                  <a:close/>
                </a:path>
                <a:path w="6248400" h="4171950">
                  <a:moveTo>
                    <a:pt x="966533" y="4162425"/>
                  </a:moveTo>
                  <a:lnTo>
                    <a:pt x="937958" y="4162425"/>
                  </a:lnTo>
                  <a:lnTo>
                    <a:pt x="937958" y="4171950"/>
                  </a:lnTo>
                  <a:lnTo>
                    <a:pt x="966533" y="4171950"/>
                  </a:lnTo>
                  <a:lnTo>
                    <a:pt x="966533" y="4162425"/>
                  </a:lnTo>
                  <a:close/>
                </a:path>
                <a:path w="6248400" h="4171950">
                  <a:moveTo>
                    <a:pt x="1008811" y="0"/>
                  </a:moveTo>
                  <a:lnTo>
                    <a:pt x="980236" y="0"/>
                  </a:lnTo>
                  <a:lnTo>
                    <a:pt x="980236" y="9525"/>
                  </a:lnTo>
                  <a:lnTo>
                    <a:pt x="1008811" y="9525"/>
                  </a:lnTo>
                  <a:lnTo>
                    <a:pt x="1008811" y="0"/>
                  </a:lnTo>
                  <a:close/>
                </a:path>
                <a:path w="6248400" h="4171950">
                  <a:moveTo>
                    <a:pt x="1014120" y="4162425"/>
                  </a:moveTo>
                  <a:lnTo>
                    <a:pt x="985545" y="4162425"/>
                  </a:lnTo>
                  <a:lnTo>
                    <a:pt x="985545" y="4171950"/>
                  </a:lnTo>
                  <a:lnTo>
                    <a:pt x="1014120" y="4171950"/>
                  </a:lnTo>
                  <a:lnTo>
                    <a:pt x="1014120" y="4162425"/>
                  </a:lnTo>
                  <a:close/>
                </a:path>
                <a:path w="6248400" h="4171950">
                  <a:moveTo>
                    <a:pt x="1056398" y="0"/>
                  </a:moveTo>
                  <a:lnTo>
                    <a:pt x="1027823" y="0"/>
                  </a:lnTo>
                  <a:lnTo>
                    <a:pt x="1027823" y="9525"/>
                  </a:lnTo>
                  <a:lnTo>
                    <a:pt x="1056398" y="9525"/>
                  </a:lnTo>
                  <a:lnTo>
                    <a:pt x="1056398" y="0"/>
                  </a:lnTo>
                  <a:close/>
                </a:path>
                <a:path w="6248400" h="4171950">
                  <a:moveTo>
                    <a:pt x="1061694" y="4162425"/>
                  </a:moveTo>
                  <a:lnTo>
                    <a:pt x="1033119" y="4162425"/>
                  </a:lnTo>
                  <a:lnTo>
                    <a:pt x="1033119" y="4171950"/>
                  </a:lnTo>
                  <a:lnTo>
                    <a:pt x="1061694" y="4171950"/>
                  </a:lnTo>
                  <a:lnTo>
                    <a:pt x="1061694" y="4162425"/>
                  </a:lnTo>
                  <a:close/>
                </a:path>
                <a:path w="6248400" h="4171950">
                  <a:moveTo>
                    <a:pt x="1103972" y="0"/>
                  </a:moveTo>
                  <a:lnTo>
                    <a:pt x="1075397" y="0"/>
                  </a:lnTo>
                  <a:lnTo>
                    <a:pt x="1075397" y="9525"/>
                  </a:lnTo>
                  <a:lnTo>
                    <a:pt x="1103972" y="9525"/>
                  </a:lnTo>
                  <a:lnTo>
                    <a:pt x="1103972" y="0"/>
                  </a:lnTo>
                  <a:close/>
                </a:path>
                <a:path w="6248400" h="4171950">
                  <a:moveTo>
                    <a:pt x="1109281" y="4162425"/>
                  </a:moveTo>
                  <a:lnTo>
                    <a:pt x="1080706" y="4162425"/>
                  </a:lnTo>
                  <a:lnTo>
                    <a:pt x="1080706" y="4171950"/>
                  </a:lnTo>
                  <a:lnTo>
                    <a:pt x="1109281" y="4171950"/>
                  </a:lnTo>
                  <a:lnTo>
                    <a:pt x="1109281" y="4162425"/>
                  </a:lnTo>
                  <a:close/>
                </a:path>
                <a:path w="6248400" h="4171950">
                  <a:moveTo>
                    <a:pt x="1151559" y="0"/>
                  </a:moveTo>
                  <a:lnTo>
                    <a:pt x="1122984" y="0"/>
                  </a:lnTo>
                  <a:lnTo>
                    <a:pt x="1122984" y="9525"/>
                  </a:lnTo>
                  <a:lnTo>
                    <a:pt x="1151559" y="9525"/>
                  </a:lnTo>
                  <a:lnTo>
                    <a:pt x="1151559" y="0"/>
                  </a:lnTo>
                  <a:close/>
                </a:path>
                <a:path w="6248400" h="4171950">
                  <a:moveTo>
                    <a:pt x="1156855" y="4162425"/>
                  </a:moveTo>
                  <a:lnTo>
                    <a:pt x="1128280" y="4162425"/>
                  </a:lnTo>
                  <a:lnTo>
                    <a:pt x="1128280" y="4171950"/>
                  </a:lnTo>
                  <a:lnTo>
                    <a:pt x="1156855" y="4171950"/>
                  </a:lnTo>
                  <a:lnTo>
                    <a:pt x="1156855" y="4162425"/>
                  </a:lnTo>
                  <a:close/>
                </a:path>
                <a:path w="6248400" h="4171950">
                  <a:moveTo>
                    <a:pt x="1199134" y="0"/>
                  </a:moveTo>
                  <a:lnTo>
                    <a:pt x="1170559" y="0"/>
                  </a:lnTo>
                  <a:lnTo>
                    <a:pt x="1170559" y="9525"/>
                  </a:lnTo>
                  <a:lnTo>
                    <a:pt x="1199134" y="9525"/>
                  </a:lnTo>
                  <a:lnTo>
                    <a:pt x="1199134" y="0"/>
                  </a:lnTo>
                  <a:close/>
                </a:path>
                <a:path w="6248400" h="4171950">
                  <a:moveTo>
                    <a:pt x="1204442" y="4162425"/>
                  </a:moveTo>
                  <a:lnTo>
                    <a:pt x="1175867" y="4162425"/>
                  </a:lnTo>
                  <a:lnTo>
                    <a:pt x="1175867" y="4171950"/>
                  </a:lnTo>
                  <a:lnTo>
                    <a:pt x="1204442" y="4171950"/>
                  </a:lnTo>
                  <a:lnTo>
                    <a:pt x="1204442" y="4162425"/>
                  </a:lnTo>
                  <a:close/>
                </a:path>
                <a:path w="6248400" h="4171950">
                  <a:moveTo>
                    <a:pt x="1246720" y="0"/>
                  </a:moveTo>
                  <a:lnTo>
                    <a:pt x="1218145" y="0"/>
                  </a:lnTo>
                  <a:lnTo>
                    <a:pt x="1218145" y="9525"/>
                  </a:lnTo>
                  <a:lnTo>
                    <a:pt x="1246720" y="9525"/>
                  </a:lnTo>
                  <a:lnTo>
                    <a:pt x="1246720" y="0"/>
                  </a:lnTo>
                  <a:close/>
                </a:path>
                <a:path w="6248400" h="4171950">
                  <a:moveTo>
                    <a:pt x="1252016" y="4162425"/>
                  </a:moveTo>
                  <a:lnTo>
                    <a:pt x="1223441" y="4162425"/>
                  </a:lnTo>
                  <a:lnTo>
                    <a:pt x="1223441" y="4171950"/>
                  </a:lnTo>
                  <a:lnTo>
                    <a:pt x="1252016" y="4171950"/>
                  </a:lnTo>
                  <a:lnTo>
                    <a:pt x="1252016" y="4162425"/>
                  </a:lnTo>
                  <a:close/>
                </a:path>
                <a:path w="6248400" h="4171950">
                  <a:moveTo>
                    <a:pt x="1294295" y="0"/>
                  </a:moveTo>
                  <a:lnTo>
                    <a:pt x="1265720" y="0"/>
                  </a:lnTo>
                  <a:lnTo>
                    <a:pt x="1265720" y="9525"/>
                  </a:lnTo>
                  <a:lnTo>
                    <a:pt x="1294295" y="9525"/>
                  </a:lnTo>
                  <a:lnTo>
                    <a:pt x="1294295" y="0"/>
                  </a:lnTo>
                  <a:close/>
                </a:path>
                <a:path w="6248400" h="4171950">
                  <a:moveTo>
                    <a:pt x="1299603" y="4162425"/>
                  </a:moveTo>
                  <a:lnTo>
                    <a:pt x="1271028" y="4162425"/>
                  </a:lnTo>
                  <a:lnTo>
                    <a:pt x="1271028" y="4171950"/>
                  </a:lnTo>
                  <a:lnTo>
                    <a:pt x="1299603" y="4171950"/>
                  </a:lnTo>
                  <a:lnTo>
                    <a:pt x="1299603" y="4162425"/>
                  </a:lnTo>
                  <a:close/>
                </a:path>
                <a:path w="6248400" h="4171950">
                  <a:moveTo>
                    <a:pt x="1341882" y="0"/>
                  </a:moveTo>
                  <a:lnTo>
                    <a:pt x="1313307" y="0"/>
                  </a:lnTo>
                  <a:lnTo>
                    <a:pt x="1313307" y="9525"/>
                  </a:lnTo>
                  <a:lnTo>
                    <a:pt x="1341882" y="9525"/>
                  </a:lnTo>
                  <a:lnTo>
                    <a:pt x="1341882" y="0"/>
                  </a:lnTo>
                  <a:close/>
                </a:path>
                <a:path w="6248400" h="4171950">
                  <a:moveTo>
                    <a:pt x="1347177" y="4162425"/>
                  </a:moveTo>
                  <a:lnTo>
                    <a:pt x="1318602" y="4162425"/>
                  </a:lnTo>
                  <a:lnTo>
                    <a:pt x="1318602" y="4171950"/>
                  </a:lnTo>
                  <a:lnTo>
                    <a:pt x="1347177" y="4171950"/>
                  </a:lnTo>
                  <a:lnTo>
                    <a:pt x="1347177" y="4162425"/>
                  </a:lnTo>
                  <a:close/>
                </a:path>
                <a:path w="6248400" h="4171950">
                  <a:moveTo>
                    <a:pt x="1389456" y="0"/>
                  </a:moveTo>
                  <a:lnTo>
                    <a:pt x="1360881" y="0"/>
                  </a:lnTo>
                  <a:lnTo>
                    <a:pt x="1360881" y="9525"/>
                  </a:lnTo>
                  <a:lnTo>
                    <a:pt x="1389456" y="9525"/>
                  </a:lnTo>
                  <a:lnTo>
                    <a:pt x="1389456" y="0"/>
                  </a:lnTo>
                  <a:close/>
                </a:path>
                <a:path w="6248400" h="4171950">
                  <a:moveTo>
                    <a:pt x="1394764" y="4162425"/>
                  </a:moveTo>
                  <a:lnTo>
                    <a:pt x="1366189" y="4162425"/>
                  </a:lnTo>
                  <a:lnTo>
                    <a:pt x="1366189" y="4171950"/>
                  </a:lnTo>
                  <a:lnTo>
                    <a:pt x="1394764" y="4171950"/>
                  </a:lnTo>
                  <a:lnTo>
                    <a:pt x="1394764" y="4162425"/>
                  </a:lnTo>
                  <a:close/>
                </a:path>
                <a:path w="6248400" h="4171950">
                  <a:moveTo>
                    <a:pt x="1437043" y="0"/>
                  </a:moveTo>
                  <a:lnTo>
                    <a:pt x="1408468" y="0"/>
                  </a:lnTo>
                  <a:lnTo>
                    <a:pt x="1408468" y="9525"/>
                  </a:lnTo>
                  <a:lnTo>
                    <a:pt x="1437043" y="9525"/>
                  </a:lnTo>
                  <a:lnTo>
                    <a:pt x="1437043" y="0"/>
                  </a:lnTo>
                  <a:close/>
                </a:path>
                <a:path w="6248400" h="4171950">
                  <a:moveTo>
                    <a:pt x="1442351" y="4162425"/>
                  </a:moveTo>
                  <a:lnTo>
                    <a:pt x="1413776" y="4162425"/>
                  </a:lnTo>
                  <a:lnTo>
                    <a:pt x="1413776" y="4171950"/>
                  </a:lnTo>
                  <a:lnTo>
                    <a:pt x="1442351" y="4171950"/>
                  </a:lnTo>
                  <a:lnTo>
                    <a:pt x="1442351" y="4162425"/>
                  </a:lnTo>
                  <a:close/>
                </a:path>
                <a:path w="6248400" h="4171950">
                  <a:moveTo>
                    <a:pt x="1484630" y="0"/>
                  </a:moveTo>
                  <a:lnTo>
                    <a:pt x="1456055" y="0"/>
                  </a:lnTo>
                  <a:lnTo>
                    <a:pt x="1456055" y="9525"/>
                  </a:lnTo>
                  <a:lnTo>
                    <a:pt x="1484630" y="9525"/>
                  </a:lnTo>
                  <a:lnTo>
                    <a:pt x="1484630" y="0"/>
                  </a:lnTo>
                  <a:close/>
                </a:path>
                <a:path w="6248400" h="4171950">
                  <a:moveTo>
                    <a:pt x="1489925" y="4162425"/>
                  </a:moveTo>
                  <a:lnTo>
                    <a:pt x="1461350" y="4162425"/>
                  </a:lnTo>
                  <a:lnTo>
                    <a:pt x="1461350" y="4171950"/>
                  </a:lnTo>
                  <a:lnTo>
                    <a:pt x="1489925" y="4171950"/>
                  </a:lnTo>
                  <a:lnTo>
                    <a:pt x="1489925" y="4162425"/>
                  </a:lnTo>
                  <a:close/>
                </a:path>
                <a:path w="6248400" h="4171950">
                  <a:moveTo>
                    <a:pt x="1532204" y="0"/>
                  </a:moveTo>
                  <a:lnTo>
                    <a:pt x="1503629" y="0"/>
                  </a:lnTo>
                  <a:lnTo>
                    <a:pt x="1503629" y="9525"/>
                  </a:lnTo>
                  <a:lnTo>
                    <a:pt x="1532204" y="9525"/>
                  </a:lnTo>
                  <a:lnTo>
                    <a:pt x="1532204" y="0"/>
                  </a:lnTo>
                  <a:close/>
                </a:path>
                <a:path w="6248400" h="4171950">
                  <a:moveTo>
                    <a:pt x="1537512" y="4162425"/>
                  </a:moveTo>
                  <a:lnTo>
                    <a:pt x="1508937" y="4162425"/>
                  </a:lnTo>
                  <a:lnTo>
                    <a:pt x="1508937" y="4171950"/>
                  </a:lnTo>
                  <a:lnTo>
                    <a:pt x="1537512" y="4171950"/>
                  </a:lnTo>
                  <a:lnTo>
                    <a:pt x="1537512" y="4162425"/>
                  </a:lnTo>
                  <a:close/>
                </a:path>
                <a:path w="6248400" h="4171950">
                  <a:moveTo>
                    <a:pt x="1579791" y="0"/>
                  </a:moveTo>
                  <a:lnTo>
                    <a:pt x="1551216" y="0"/>
                  </a:lnTo>
                  <a:lnTo>
                    <a:pt x="1551216" y="9525"/>
                  </a:lnTo>
                  <a:lnTo>
                    <a:pt x="1579791" y="9525"/>
                  </a:lnTo>
                  <a:lnTo>
                    <a:pt x="1579791" y="0"/>
                  </a:lnTo>
                  <a:close/>
                </a:path>
                <a:path w="6248400" h="4171950">
                  <a:moveTo>
                    <a:pt x="1585087" y="4162425"/>
                  </a:moveTo>
                  <a:lnTo>
                    <a:pt x="1556512" y="4162425"/>
                  </a:lnTo>
                  <a:lnTo>
                    <a:pt x="1556512" y="4171950"/>
                  </a:lnTo>
                  <a:lnTo>
                    <a:pt x="1585087" y="4171950"/>
                  </a:lnTo>
                  <a:lnTo>
                    <a:pt x="1585087" y="4162425"/>
                  </a:lnTo>
                  <a:close/>
                </a:path>
                <a:path w="6248400" h="4171950">
                  <a:moveTo>
                    <a:pt x="1627365" y="0"/>
                  </a:moveTo>
                  <a:lnTo>
                    <a:pt x="1598790" y="0"/>
                  </a:lnTo>
                  <a:lnTo>
                    <a:pt x="1598790" y="9525"/>
                  </a:lnTo>
                  <a:lnTo>
                    <a:pt x="1627365" y="9525"/>
                  </a:lnTo>
                  <a:lnTo>
                    <a:pt x="1627365" y="0"/>
                  </a:lnTo>
                  <a:close/>
                </a:path>
                <a:path w="6248400" h="4171950">
                  <a:moveTo>
                    <a:pt x="1632673" y="4162425"/>
                  </a:moveTo>
                  <a:lnTo>
                    <a:pt x="1604098" y="4162425"/>
                  </a:lnTo>
                  <a:lnTo>
                    <a:pt x="1604098" y="4171950"/>
                  </a:lnTo>
                  <a:lnTo>
                    <a:pt x="1632673" y="4171950"/>
                  </a:lnTo>
                  <a:lnTo>
                    <a:pt x="1632673" y="4162425"/>
                  </a:lnTo>
                  <a:close/>
                </a:path>
                <a:path w="6248400" h="4171950">
                  <a:moveTo>
                    <a:pt x="1674952" y="0"/>
                  </a:moveTo>
                  <a:lnTo>
                    <a:pt x="1646377" y="0"/>
                  </a:lnTo>
                  <a:lnTo>
                    <a:pt x="1646377" y="9525"/>
                  </a:lnTo>
                  <a:lnTo>
                    <a:pt x="1674952" y="9525"/>
                  </a:lnTo>
                  <a:lnTo>
                    <a:pt x="1674952" y="0"/>
                  </a:lnTo>
                  <a:close/>
                </a:path>
                <a:path w="6248400" h="4171950">
                  <a:moveTo>
                    <a:pt x="1680248" y="4162425"/>
                  </a:moveTo>
                  <a:lnTo>
                    <a:pt x="1651673" y="4162425"/>
                  </a:lnTo>
                  <a:lnTo>
                    <a:pt x="1651673" y="4171950"/>
                  </a:lnTo>
                  <a:lnTo>
                    <a:pt x="1680248" y="4171950"/>
                  </a:lnTo>
                  <a:lnTo>
                    <a:pt x="1680248" y="4162425"/>
                  </a:lnTo>
                  <a:close/>
                </a:path>
                <a:path w="6248400" h="4171950">
                  <a:moveTo>
                    <a:pt x="1722526" y="0"/>
                  </a:moveTo>
                  <a:lnTo>
                    <a:pt x="1693951" y="0"/>
                  </a:lnTo>
                  <a:lnTo>
                    <a:pt x="1693951" y="9525"/>
                  </a:lnTo>
                  <a:lnTo>
                    <a:pt x="1722526" y="9525"/>
                  </a:lnTo>
                  <a:lnTo>
                    <a:pt x="1722526" y="0"/>
                  </a:lnTo>
                  <a:close/>
                </a:path>
                <a:path w="6248400" h="4171950">
                  <a:moveTo>
                    <a:pt x="1727835" y="4162425"/>
                  </a:moveTo>
                  <a:lnTo>
                    <a:pt x="1699260" y="4162425"/>
                  </a:lnTo>
                  <a:lnTo>
                    <a:pt x="1699260" y="4171950"/>
                  </a:lnTo>
                  <a:lnTo>
                    <a:pt x="1727835" y="4171950"/>
                  </a:lnTo>
                  <a:lnTo>
                    <a:pt x="1727835" y="4162425"/>
                  </a:lnTo>
                  <a:close/>
                </a:path>
                <a:path w="6248400" h="4171950">
                  <a:moveTo>
                    <a:pt x="1770113" y="0"/>
                  </a:moveTo>
                  <a:lnTo>
                    <a:pt x="1741538" y="0"/>
                  </a:lnTo>
                  <a:lnTo>
                    <a:pt x="1741538" y="9525"/>
                  </a:lnTo>
                  <a:lnTo>
                    <a:pt x="1770113" y="9525"/>
                  </a:lnTo>
                  <a:lnTo>
                    <a:pt x="1770113" y="0"/>
                  </a:lnTo>
                  <a:close/>
                </a:path>
                <a:path w="6248400" h="4171950">
                  <a:moveTo>
                    <a:pt x="1775409" y="4162425"/>
                  </a:moveTo>
                  <a:lnTo>
                    <a:pt x="1746834" y="4162425"/>
                  </a:lnTo>
                  <a:lnTo>
                    <a:pt x="1746834" y="4171950"/>
                  </a:lnTo>
                  <a:lnTo>
                    <a:pt x="1775409" y="4171950"/>
                  </a:lnTo>
                  <a:lnTo>
                    <a:pt x="1775409" y="4162425"/>
                  </a:lnTo>
                  <a:close/>
                </a:path>
                <a:path w="6248400" h="4171950">
                  <a:moveTo>
                    <a:pt x="1817687" y="0"/>
                  </a:moveTo>
                  <a:lnTo>
                    <a:pt x="1789112" y="0"/>
                  </a:lnTo>
                  <a:lnTo>
                    <a:pt x="1789112" y="9525"/>
                  </a:lnTo>
                  <a:lnTo>
                    <a:pt x="1817687" y="9525"/>
                  </a:lnTo>
                  <a:lnTo>
                    <a:pt x="1817687" y="0"/>
                  </a:lnTo>
                  <a:close/>
                </a:path>
                <a:path w="6248400" h="4171950">
                  <a:moveTo>
                    <a:pt x="1822996" y="4162425"/>
                  </a:moveTo>
                  <a:lnTo>
                    <a:pt x="1794421" y="4162425"/>
                  </a:lnTo>
                  <a:lnTo>
                    <a:pt x="1794421" y="4171950"/>
                  </a:lnTo>
                  <a:lnTo>
                    <a:pt x="1822996" y="4171950"/>
                  </a:lnTo>
                  <a:lnTo>
                    <a:pt x="1822996" y="4162425"/>
                  </a:lnTo>
                  <a:close/>
                </a:path>
                <a:path w="6248400" h="4171950">
                  <a:moveTo>
                    <a:pt x="1865274" y="0"/>
                  </a:moveTo>
                  <a:lnTo>
                    <a:pt x="1836699" y="0"/>
                  </a:lnTo>
                  <a:lnTo>
                    <a:pt x="1836699" y="9525"/>
                  </a:lnTo>
                  <a:lnTo>
                    <a:pt x="1865274" y="9525"/>
                  </a:lnTo>
                  <a:lnTo>
                    <a:pt x="1865274" y="0"/>
                  </a:lnTo>
                  <a:close/>
                </a:path>
                <a:path w="6248400" h="4171950">
                  <a:moveTo>
                    <a:pt x="1870583" y="4162425"/>
                  </a:moveTo>
                  <a:lnTo>
                    <a:pt x="1842008" y="4162425"/>
                  </a:lnTo>
                  <a:lnTo>
                    <a:pt x="1842008" y="4171950"/>
                  </a:lnTo>
                  <a:lnTo>
                    <a:pt x="1870583" y="4171950"/>
                  </a:lnTo>
                  <a:lnTo>
                    <a:pt x="1870583" y="4162425"/>
                  </a:lnTo>
                  <a:close/>
                </a:path>
                <a:path w="6248400" h="4171950">
                  <a:moveTo>
                    <a:pt x="1912848" y="0"/>
                  </a:moveTo>
                  <a:lnTo>
                    <a:pt x="1884273" y="0"/>
                  </a:lnTo>
                  <a:lnTo>
                    <a:pt x="1884273" y="9525"/>
                  </a:lnTo>
                  <a:lnTo>
                    <a:pt x="1912848" y="9525"/>
                  </a:lnTo>
                  <a:lnTo>
                    <a:pt x="1912848" y="0"/>
                  </a:lnTo>
                  <a:close/>
                </a:path>
                <a:path w="6248400" h="4171950">
                  <a:moveTo>
                    <a:pt x="1918157" y="4162425"/>
                  </a:moveTo>
                  <a:lnTo>
                    <a:pt x="1889582" y="4162425"/>
                  </a:lnTo>
                  <a:lnTo>
                    <a:pt x="1889582" y="4171950"/>
                  </a:lnTo>
                  <a:lnTo>
                    <a:pt x="1918157" y="4171950"/>
                  </a:lnTo>
                  <a:lnTo>
                    <a:pt x="1918157" y="4162425"/>
                  </a:lnTo>
                  <a:close/>
                </a:path>
                <a:path w="6248400" h="4171950">
                  <a:moveTo>
                    <a:pt x="1960435" y="0"/>
                  </a:moveTo>
                  <a:lnTo>
                    <a:pt x="1931860" y="0"/>
                  </a:lnTo>
                  <a:lnTo>
                    <a:pt x="1931860" y="9525"/>
                  </a:lnTo>
                  <a:lnTo>
                    <a:pt x="1960435" y="9525"/>
                  </a:lnTo>
                  <a:lnTo>
                    <a:pt x="1960435" y="0"/>
                  </a:lnTo>
                  <a:close/>
                </a:path>
                <a:path w="6248400" h="4171950">
                  <a:moveTo>
                    <a:pt x="1965744" y="4162425"/>
                  </a:moveTo>
                  <a:lnTo>
                    <a:pt x="1937169" y="4162425"/>
                  </a:lnTo>
                  <a:lnTo>
                    <a:pt x="1937169" y="4171950"/>
                  </a:lnTo>
                  <a:lnTo>
                    <a:pt x="1965744" y="4171950"/>
                  </a:lnTo>
                  <a:lnTo>
                    <a:pt x="1965744" y="4162425"/>
                  </a:lnTo>
                  <a:close/>
                </a:path>
                <a:path w="6248400" h="4171950">
                  <a:moveTo>
                    <a:pt x="2008022" y="0"/>
                  </a:moveTo>
                  <a:lnTo>
                    <a:pt x="1979447" y="0"/>
                  </a:lnTo>
                  <a:lnTo>
                    <a:pt x="1979447" y="9525"/>
                  </a:lnTo>
                  <a:lnTo>
                    <a:pt x="2008022" y="9525"/>
                  </a:lnTo>
                  <a:lnTo>
                    <a:pt x="2008022" y="0"/>
                  </a:lnTo>
                  <a:close/>
                </a:path>
                <a:path w="6248400" h="4171950">
                  <a:moveTo>
                    <a:pt x="2013318" y="4162425"/>
                  </a:moveTo>
                  <a:lnTo>
                    <a:pt x="1984743" y="4162425"/>
                  </a:lnTo>
                  <a:lnTo>
                    <a:pt x="1984743" y="4171950"/>
                  </a:lnTo>
                  <a:lnTo>
                    <a:pt x="2013318" y="4171950"/>
                  </a:lnTo>
                  <a:lnTo>
                    <a:pt x="2013318" y="4162425"/>
                  </a:lnTo>
                  <a:close/>
                </a:path>
                <a:path w="6248400" h="4171950">
                  <a:moveTo>
                    <a:pt x="2055596" y="0"/>
                  </a:moveTo>
                  <a:lnTo>
                    <a:pt x="2027021" y="0"/>
                  </a:lnTo>
                  <a:lnTo>
                    <a:pt x="2027021" y="9525"/>
                  </a:lnTo>
                  <a:lnTo>
                    <a:pt x="2055596" y="9525"/>
                  </a:lnTo>
                  <a:lnTo>
                    <a:pt x="2055596" y="0"/>
                  </a:lnTo>
                  <a:close/>
                </a:path>
                <a:path w="6248400" h="4171950">
                  <a:moveTo>
                    <a:pt x="2060905" y="4162425"/>
                  </a:moveTo>
                  <a:lnTo>
                    <a:pt x="2032330" y="4162425"/>
                  </a:lnTo>
                  <a:lnTo>
                    <a:pt x="2032330" y="4171950"/>
                  </a:lnTo>
                  <a:lnTo>
                    <a:pt x="2060905" y="4171950"/>
                  </a:lnTo>
                  <a:lnTo>
                    <a:pt x="2060905" y="4162425"/>
                  </a:lnTo>
                  <a:close/>
                </a:path>
                <a:path w="6248400" h="4171950">
                  <a:moveTo>
                    <a:pt x="2103183" y="0"/>
                  </a:moveTo>
                  <a:lnTo>
                    <a:pt x="2074608" y="0"/>
                  </a:lnTo>
                  <a:lnTo>
                    <a:pt x="2074608" y="9525"/>
                  </a:lnTo>
                  <a:lnTo>
                    <a:pt x="2103183" y="9525"/>
                  </a:lnTo>
                  <a:lnTo>
                    <a:pt x="2103183" y="0"/>
                  </a:lnTo>
                  <a:close/>
                </a:path>
                <a:path w="6248400" h="4171950">
                  <a:moveTo>
                    <a:pt x="2108479" y="4162425"/>
                  </a:moveTo>
                  <a:lnTo>
                    <a:pt x="2079904" y="4162425"/>
                  </a:lnTo>
                  <a:lnTo>
                    <a:pt x="2079904" y="4171950"/>
                  </a:lnTo>
                  <a:lnTo>
                    <a:pt x="2108479" y="4171950"/>
                  </a:lnTo>
                  <a:lnTo>
                    <a:pt x="2108479" y="4162425"/>
                  </a:lnTo>
                  <a:close/>
                </a:path>
                <a:path w="6248400" h="4171950">
                  <a:moveTo>
                    <a:pt x="2150757" y="0"/>
                  </a:moveTo>
                  <a:lnTo>
                    <a:pt x="2122182" y="0"/>
                  </a:lnTo>
                  <a:lnTo>
                    <a:pt x="2122182" y="9525"/>
                  </a:lnTo>
                  <a:lnTo>
                    <a:pt x="2150757" y="9525"/>
                  </a:lnTo>
                  <a:lnTo>
                    <a:pt x="2150757" y="0"/>
                  </a:lnTo>
                  <a:close/>
                </a:path>
                <a:path w="6248400" h="4171950">
                  <a:moveTo>
                    <a:pt x="2156066" y="4162425"/>
                  </a:moveTo>
                  <a:lnTo>
                    <a:pt x="2127491" y="4162425"/>
                  </a:lnTo>
                  <a:lnTo>
                    <a:pt x="2127491" y="4171950"/>
                  </a:lnTo>
                  <a:lnTo>
                    <a:pt x="2156066" y="4171950"/>
                  </a:lnTo>
                  <a:lnTo>
                    <a:pt x="2156066" y="4162425"/>
                  </a:lnTo>
                  <a:close/>
                </a:path>
                <a:path w="6248400" h="4171950">
                  <a:moveTo>
                    <a:pt x="2198344" y="0"/>
                  </a:moveTo>
                  <a:lnTo>
                    <a:pt x="2169769" y="0"/>
                  </a:lnTo>
                  <a:lnTo>
                    <a:pt x="2169769" y="9525"/>
                  </a:lnTo>
                  <a:lnTo>
                    <a:pt x="2198344" y="9525"/>
                  </a:lnTo>
                  <a:lnTo>
                    <a:pt x="2198344" y="0"/>
                  </a:lnTo>
                  <a:close/>
                </a:path>
                <a:path w="6248400" h="4171950">
                  <a:moveTo>
                    <a:pt x="2203640" y="4162425"/>
                  </a:moveTo>
                  <a:lnTo>
                    <a:pt x="2175065" y="4162425"/>
                  </a:lnTo>
                  <a:lnTo>
                    <a:pt x="2175065" y="4171950"/>
                  </a:lnTo>
                  <a:lnTo>
                    <a:pt x="2203640" y="4171950"/>
                  </a:lnTo>
                  <a:lnTo>
                    <a:pt x="2203640" y="4162425"/>
                  </a:lnTo>
                  <a:close/>
                </a:path>
                <a:path w="6248400" h="4171950">
                  <a:moveTo>
                    <a:pt x="2245918" y="0"/>
                  </a:moveTo>
                  <a:lnTo>
                    <a:pt x="2217343" y="0"/>
                  </a:lnTo>
                  <a:lnTo>
                    <a:pt x="2217343" y="9525"/>
                  </a:lnTo>
                  <a:lnTo>
                    <a:pt x="2245918" y="9525"/>
                  </a:lnTo>
                  <a:lnTo>
                    <a:pt x="2245918" y="0"/>
                  </a:lnTo>
                  <a:close/>
                </a:path>
                <a:path w="6248400" h="4171950">
                  <a:moveTo>
                    <a:pt x="2251227" y="4162425"/>
                  </a:moveTo>
                  <a:lnTo>
                    <a:pt x="2222652" y="4162425"/>
                  </a:lnTo>
                  <a:lnTo>
                    <a:pt x="2222652" y="4171950"/>
                  </a:lnTo>
                  <a:lnTo>
                    <a:pt x="2251227" y="4171950"/>
                  </a:lnTo>
                  <a:lnTo>
                    <a:pt x="2251227" y="4162425"/>
                  </a:lnTo>
                  <a:close/>
                </a:path>
                <a:path w="6248400" h="4171950">
                  <a:moveTo>
                    <a:pt x="2293505" y="0"/>
                  </a:moveTo>
                  <a:lnTo>
                    <a:pt x="2264930" y="0"/>
                  </a:lnTo>
                  <a:lnTo>
                    <a:pt x="2264930" y="9525"/>
                  </a:lnTo>
                  <a:lnTo>
                    <a:pt x="2293505" y="9525"/>
                  </a:lnTo>
                  <a:lnTo>
                    <a:pt x="2293505" y="0"/>
                  </a:lnTo>
                  <a:close/>
                </a:path>
                <a:path w="6248400" h="4171950">
                  <a:moveTo>
                    <a:pt x="2298814" y="4162425"/>
                  </a:moveTo>
                  <a:lnTo>
                    <a:pt x="2270239" y="4162425"/>
                  </a:lnTo>
                  <a:lnTo>
                    <a:pt x="2270239" y="4171950"/>
                  </a:lnTo>
                  <a:lnTo>
                    <a:pt x="2298814" y="4171950"/>
                  </a:lnTo>
                  <a:lnTo>
                    <a:pt x="2298814" y="4162425"/>
                  </a:lnTo>
                  <a:close/>
                </a:path>
                <a:path w="6248400" h="4171950">
                  <a:moveTo>
                    <a:pt x="2341080" y="0"/>
                  </a:moveTo>
                  <a:lnTo>
                    <a:pt x="2312505" y="0"/>
                  </a:lnTo>
                  <a:lnTo>
                    <a:pt x="2312505" y="9525"/>
                  </a:lnTo>
                  <a:lnTo>
                    <a:pt x="2341080" y="9525"/>
                  </a:lnTo>
                  <a:lnTo>
                    <a:pt x="2341080" y="0"/>
                  </a:lnTo>
                  <a:close/>
                </a:path>
                <a:path w="6248400" h="4171950">
                  <a:moveTo>
                    <a:pt x="2346388" y="4162425"/>
                  </a:moveTo>
                  <a:lnTo>
                    <a:pt x="2317813" y="4162425"/>
                  </a:lnTo>
                  <a:lnTo>
                    <a:pt x="2317813" y="4171950"/>
                  </a:lnTo>
                  <a:lnTo>
                    <a:pt x="2346388" y="4171950"/>
                  </a:lnTo>
                  <a:lnTo>
                    <a:pt x="2346388" y="4162425"/>
                  </a:lnTo>
                  <a:close/>
                </a:path>
                <a:path w="6248400" h="4171950">
                  <a:moveTo>
                    <a:pt x="2388666" y="0"/>
                  </a:moveTo>
                  <a:lnTo>
                    <a:pt x="2360091" y="0"/>
                  </a:lnTo>
                  <a:lnTo>
                    <a:pt x="2360091" y="9525"/>
                  </a:lnTo>
                  <a:lnTo>
                    <a:pt x="2388666" y="9525"/>
                  </a:lnTo>
                  <a:lnTo>
                    <a:pt x="2388666" y="0"/>
                  </a:lnTo>
                  <a:close/>
                </a:path>
                <a:path w="6248400" h="4171950">
                  <a:moveTo>
                    <a:pt x="2393975" y="4162425"/>
                  </a:moveTo>
                  <a:lnTo>
                    <a:pt x="2365400" y="4162425"/>
                  </a:lnTo>
                  <a:lnTo>
                    <a:pt x="2365400" y="4171950"/>
                  </a:lnTo>
                  <a:lnTo>
                    <a:pt x="2393975" y="4171950"/>
                  </a:lnTo>
                  <a:lnTo>
                    <a:pt x="2393975" y="4162425"/>
                  </a:lnTo>
                  <a:close/>
                </a:path>
                <a:path w="6248400" h="4171950">
                  <a:moveTo>
                    <a:pt x="2436253" y="0"/>
                  </a:moveTo>
                  <a:lnTo>
                    <a:pt x="2407678" y="0"/>
                  </a:lnTo>
                  <a:lnTo>
                    <a:pt x="2407678" y="9525"/>
                  </a:lnTo>
                  <a:lnTo>
                    <a:pt x="2436253" y="9525"/>
                  </a:lnTo>
                  <a:lnTo>
                    <a:pt x="2436253" y="0"/>
                  </a:lnTo>
                  <a:close/>
                </a:path>
                <a:path w="6248400" h="4171950">
                  <a:moveTo>
                    <a:pt x="2441549" y="4162425"/>
                  </a:moveTo>
                  <a:lnTo>
                    <a:pt x="2412974" y="4162425"/>
                  </a:lnTo>
                  <a:lnTo>
                    <a:pt x="2412974" y="4171950"/>
                  </a:lnTo>
                  <a:lnTo>
                    <a:pt x="2441549" y="4171950"/>
                  </a:lnTo>
                  <a:lnTo>
                    <a:pt x="2441549" y="4162425"/>
                  </a:lnTo>
                  <a:close/>
                </a:path>
                <a:path w="6248400" h="4171950">
                  <a:moveTo>
                    <a:pt x="2483828" y="0"/>
                  </a:moveTo>
                  <a:lnTo>
                    <a:pt x="2455253" y="0"/>
                  </a:lnTo>
                  <a:lnTo>
                    <a:pt x="2455253" y="9525"/>
                  </a:lnTo>
                  <a:lnTo>
                    <a:pt x="2483828" y="9525"/>
                  </a:lnTo>
                  <a:lnTo>
                    <a:pt x="2483828" y="0"/>
                  </a:lnTo>
                  <a:close/>
                </a:path>
                <a:path w="6248400" h="4171950">
                  <a:moveTo>
                    <a:pt x="2489136" y="4162425"/>
                  </a:moveTo>
                  <a:lnTo>
                    <a:pt x="2460561" y="4162425"/>
                  </a:lnTo>
                  <a:lnTo>
                    <a:pt x="2460561" y="4171950"/>
                  </a:lnTo>
                  <a:lnTo>
                    <a:pt x="2489136" y="4171950"/>
                  </a:lnTo>
                  <a:lnTo>
                    <a:pt x="2489136" y="4162425"/>
                  </a:lnTo>
                  <a:close/>
                </a:path>
                <a:path w="6248400" h="4171950">
                  <a:moveTo>
                    <a:pt x="2531414" y="0"/>
                  </a:moveTo>
                  <a:lnTo>
                    <a:pt x="2502839" y="0"/>
                  </a:lnTo>
                  <a:lnTo>
                    <a:pt x="2502839" y="9525"/>
                  </a:lnTo>
                  <a:lnTo>
                    <a:pt x="2531414" y="9525"/>
                  </a:lnTo>
                  <a:lnTo>
                    <a:pt x="2531414" y="0"/>
                  </a:lnTo>
                  <a:close/>
                </a:path>
                <a:path w="6248400" h="4171950">
                  <a:moveTo>
                    <a:pt x="2536710" y="4162425"/>
                  </a:moveTo>
                  <a:lnTo>
                    <a:pt x="2508135" y="4162425"/>
                  </a:lnTo>
                  <a:lnTo>
                    <a:pt x="2508135" y="4171950"/>
                  </a:lnTo>
                  <a:lnTo>
                    <a:pt x="2536710" y="4171950"/>
                  </a:lnTo>
                  <a:lnTo>
                    <a:pt x="2536710" y="4162425"/>
                  </a:lnTo>
                  <a:close/>
                </a:path>
                <a:path w="6248400" h="4171950">
                  <a:moveTo>
                    <a:pt x="2578989" y="0"/>
                  </a:moveTo>
                  <a:lnTo>
                    <a:pt x="2550414" y="0"/>
                  </a:lnTo>
                  <a:lnTo>
                    <a:pt x="2550414" y="9525"/>
                  </a:lnTo>
                  <a:lnTo>
                    <a:pt x="2578989" y="9525"/>
                  </a:lnTo>
                  <a:lnTo>
                    <a:pt x="2578989" y="0"/>
                  </a:lnTo>
                  <a:close/>
                </a:path>
                <a:path w="6248400" h="4171950">
                  <a:moveTo>
                    <a:pt x="2584297" y="4162425"/>
                  </a:moveTo>
                  <a:lnTo>
                    <a:pt x="2555722" y="4162425"/>
                  </a:lnTo>
                  <a:lnTo>
                    <a:pt x="2555722" y="4171950"/>
                  </a:lnTo>
                  <a:lnTo>
                    <a:pt x="2584297" y="4171950"/>
                  </a:lnTo>
                  <a:lnTo>
                    <a:pt x="2584297" y="4162425"/>
                  </a:lnTo>
                  <a:close/>
                </a:path>
                <a:path w="6248400" h="4171950">
                  <a:moveTo>
                    <a:pt x="2626576" y="0"/>
                  </a:moveTo>
                  <a:lnTo>
                    <a:pt x="2598001" y="0"/>
                  </a:lnTo>
                  <a:lnTo>
                    <a:pt x="2598001" y="9525"/>
                  </a:lnTo>
                  <a:lnTo>
                    <a:pt x="2626576" y="9525"/>
                  </a:lnTo>
                  <a:lnTo>
                    <a:pt x="2626576" y="0"/>
                  </a:lnTo>
                  <a:close/>
                </a:path>
                <a:path w="6248400" h="4171950">
                  <a:moveTo>
                    <a:pt x="2631871" y="4162425"/>
                  </a:moveTo>
                  <a:lnTo>
                    <a:pt x="2603296" y="4162425"/>
                  </a:lnTo>
                  <a:lnTo>
                    <a:pt x="2603296" y="4171950"/>
                  </a:lnTo>
                  <a:lnTo>
                    <a:pt x="2631871" y="4171950"/>
                  </a:lnTo>
                  <a:lnTo>
                    <a:pt x="2631871" y="4162425"/>
                  </a:lnTo>
                  <a:close/>
                </a:path>
                <a:path w="6248400" h="4171950">
                  <a:moveTo>
                    <a:pt x="2674150" y="0"/>
                  </a:moveTo>
                  <a:lnTo>
                    <a:pt x="2645575" y="0"/>
                  </a:lnTo>
                  <a:lnTo>
                    <a:pt x="2645575" y="9525"/>
                  </a:lnTo>
                  <a:lnTo>
                    <a:pt x="2674150" y="9525"/>
                  </a:lnTo>
                  <a:lnTo>
                    <a:pt x="2674150" y="0"/>
                  </a:lnTo>
                  <a:close/>
                </a:path>
                <a:path w="6248400" h="4171950">
                  <a:moveTo>
                    <a:pt x="2679458" y="4162425"/>
                  </a:moveTo>
                  <a:lnTo>
                    <a:pt x="2650883" y="4162425"/>
                  </a:lnTo>
                  <a:lnTo>
                    <a:pt x="2650883" y="4171950"/>
                  </a:lnTo>
                  <a:lnTo>
                    <a:pt x="2679458" y="4171950"/>
                  </a:lnTo>
                  <a:lnTo>
                    <a:pt x="2679458" y="4162425"/>
                  </a:lnTo>
                  <a:close/>
                </a:path>
                <a:path w="6248400" h="4171950">
                  <a:moveTo>
                    <a:pt x="2721737" y="0"/>
                  </a:moveTo>
                  <a:lnTo>
                    <a:pt x="2693162" y="0"/>
                  </a:lnTo>
                  <a:lnTo>
                    <a:pt x="2693162" y="9525"/>
                  </a:lnTo>
                  <a:lnTo>
                    <a:pt x="2721737" y="9525"/>
                  </a:lnTo>
                  <a:lnTo>
                    <a:pt x="2721737" y="0"/>
                  </a:lnTo>
                  <a:close/>
                </a:path>
                <a:path w="6248400" h="4171950">
                  <a:moveTo>
                    <a:pt x="2727033" y="4162425"/>
                  </a:moveTo>
                  <a:lnTo>
                    <a:pt x="2698458" y="4162425"/>
                  </a:lnTo>
                  <a:lnTo>
                    <a:pt x="2698458" y="4171950"/>
                  </a:lnTo>
                  <a:lnTo>
                    <a:pt x="2727033" y="4171950"/>
                  </a:lnTo>
                  <a:lnTo>
                    <a:pt x="2727033" y="4162425"/>
                  </a:lnTo>
                  <a:close/>
                </a:path>
                <a:path w="6248400" h="4171950">
                  <a:moveTo>
                    <a:pt x="2769311" y="0"/>
                  </a:moveTo>
                  <a:lnTo>
                    <a:pt x="2740736" y="0"/>
                  </a:lnTo>
                  <a:lnTo>
                    <a:pt x="2740736" y="9525"/>
                  </a:lnTo>
                  <a:lnTo>
                    <a:pt x="2769311" y="9525"/>
                  </a:lnTo>
                  <a:lnTo>
                    <a:pt x="2769311" y="0"/>
                  </a:lnTo>
                  <a:close/>
                </a:path>
                <a:path w="6248400" h="4171950">
                  <a:moveTo>
                    <a:pt x="2774619" y="4162425"/>
                  </a:moveTo>
                  <a:lnTo>
                    <a:pt x="2746044" y="4162425"/>
                  </a:lnTo>
                  <a:lnTo>
                    <a:pt x="2746044" y="4171950"/>
                  </a:lnTo>
                  <a:lnTo>
                    <a:pt x="2774619" y="4171950"/>
                  </a:lnTo>
                  <a:lnTo>
                    <a:pt x="2774619" y="4162425"/>
                  </a:lnTo>
                  <a:close/>
                </a:path>
                <a:path w="6248400" h="4171950">
                  <a:moveTo>
                    <a:pt x="2816898" y="0"/>
                  </a:moveTo>
                  <a:lnTo>
                    <a:pt x="2788323" y="0"/>
                  </a:lnTo>
                  <a:lnTo>
                    <a:pt x="2788323" y="9525"/>
                  </a:lnTo>
                  <a:lnTo>
                    <a:pt x="2816898" y="9525"/>
                  </a:lnTo>
                  <a:lnTo>
                    <a:pt x="2816898" y="0"/>
                  </a:lnTo>
                  <a:close/>
                </a:path>
                <a:path w="6248400" h="4171950">
                  <a:moveTo>
                    <a:pt x="2822206" y="4162425"/>
                  </a:moveTo>
                  <a:lnTo>
                    <a:pt x="2793631" y="4162425"/>
                  </a:lnTo>
                  <a:lnTo>
                    <a:pt x="2793631" y="4171950"/>
                  </a:lnTo>
                  <a:lnTo>
                    <a:pt x="2822206" y="4171950"/>
                  </a:lnTo>
                  <a:lnTo>
                    <a:pt x="2822206" y="4162425"/>
                  </a:lnTo>
                  <a:close/>
                </a:path>
                <a:path w="6248400" h="4171950">
                  <a:moveTo>
                    <a:pt x="2864472" y="0"/>
                  </a:moveTo>
                  <a:lnTo>
                    <a:pt x="2835897" y="0"/>
                  </a:lnTo>
                  <a:lnTo>
                    <a:pt x="2835897" y="9525"/>
                  </a:lnTo>
                  <a:lnTo>
                    <a:pt x="2864472" y="9525"/>
                  </a:lnTo>
                  <a:lnTo>
                    <a:pt x="2864472" y="0"/>
                  </a:lnTo>
                  <a:close/>
                </a:path>
                <a:path w="6248400" h="4171950">
                  <a:moveTo>
                    <a:pt x="2869781" y="4162425"/>
                  </a:moveTo>
                  <a:lnTo>
                    <a:pt x="2841206" y="4162425"/>
                  </a:lnTo>
                  <a:lnTo>
                    <a:pt x="2841206" y="4171950"/>
                  </a:lnTo>
                  <a:lnTo>
                    <a:pt x="2869781" y="4171950"/>
                  </a:lnTo>
                  <a:lnTo>
                    <a:pt x="2869781" y="4162425"/>
                  </a:lnTo>
                  <a:close/>
                </a:path>
                <a:path w="6248400" h="4171950">
                  <a:moveTo>
                    <a:pt x="2912059" y="0"/>
                  </a:moveTo>
                  <a:lnTo>
                    <a:pt x="2883484" y="0"/>
                  </a:lnTo>
                  <a:lnTo>
                    <a:pt x="2883484" y="9525"/>
                  </a:lnTo>
                  <a:lnTo>
                    <a:pt x="2912059" y="9525"/>
                  </a:lnTo>
                  <a:lnTo>
                    <a:pt x="2912059" y="0"/>
                  </a:lnTo>
                  <a:close/>
                </a:path>
                <a:path w="6248400" h="4171950">
                  <a:moveTo>
                    <a:pt x="2917367" y="4162425"/>
                  </a:moveTo>
                  <a:lnTo>
                    <a:pt x="2888792" y="4162425"/>
                  </a:lnTo>
                  <a:lnTo>
                    <a:pt x="2888792" y="4171950"/>
                  </a:lnTo>
                  <a:lnTo>
                    <a:pt x="2917367" y="4171950"/>
                  </a:lnTo>
                  <a:lnTo>
                    <a:pt x="2917367" y="4162425"/>
                  </a:lnTo>
                  <a:close/>
                </a:path>
                <a:path w="6248400" h="4171950">
                  <a:moveTo>
                    <a:pt x="2959646" y="0"/>
                  </a:moveTo>
                  <a:lnTo>
                    <a:pt x="2931071" y="0"/>
                  </a:lnTo>
                  <a:lnTo>
                    <a:pt x="2931071" y="9525"/>
                  </a:lnTo>
                  <a:lnTo>
                    <a:pt x="2959646" y="9525"/>
                  </a:lnTo>
                  <a:lnTo>
                    <a:pt x="2959646" y="0"/>
                  </a:lnTo>
                  <a:close/>
                </a:path>
                <a:path w="6248400" h="4171950">
                  <a:moveTo>
                    <a:pt x="2964942" y="4162425"/>
                  </a:moveTo>
                  <a:lnTo>
                    <a:pt x="2936367" y="4162425"/>
                  </a:lnTo>
                  <a:lnTo>
                    <a:pt x="2936367" y="4171950"/>
                  </a:lnTo>
                  <a:lnTo>
                    <a:pt x="2964942" y="4171950"/>
                  </a:lnTo>
                  <a:lnTo>
                    <a:pt x="2964942" y="4162425"/>
                  </a:lnTo>
                  <a:close/>
                </a:path>
                <a:path w="6248400" h="4171950">
                  <a:moveTo>
                    <a:pt x="3007220" y="0"/>
                  </a:moveTo>
                  <a:lnTo>
                    <a:pt x="2978645" y="0"/>
                  </a:lnTo>
                  <a:lnTo>
                    <a:pt x="2978645" y="9525"/>
                  </a:lnTo>
                  <a:lnTo>
                    <a:pt x="3007220" y="9525"/>
                  </a:lnTo>
                  <a:lnTo>
                    <a:pt x="3007220" y="0"/>
                  </a:lnTo>
                  <a:close/>
                </a:path>
                <a:path w="6248400" h="4171950">
                  <a:moveTo>
                    <a:pt x="3012529" y="4162425"/>
                  </a:moveTo>
                  <a:lnTo>
                    <a:pt x="2983954" y="4162425"/>
                  </a:lnTo>
                  <a:lnTo>
                    <a:pt x="2983954" y="4171950"/>
                  </a:lnTo>
                  <a:lnTo>
                    <a:pt x="3012529" y="4171950"/>
                  </a:lnTo>
                  <a:lnTo>
                    <a:pt x="3012529" y="4162425"/>
                  </a:lnTo>
                  <a:close/>
                </a:path>
                <a:path w="6248400" h="4171950">
                  <a:moveTo>
                    <a:pt x="3054807" y="0"/>
                  </a:moveTo>
                  <a:lnTo>
                    <a:pt x="3026232" y="0"/>
                  </a:lnTo>
                  <a:lnTo>
                    <a:pt x="3026232" y="9525"/>
                  </a:lnTo>
                  <a:lnTo>
                    <a:pt x="3054807" y="9525"/>
                  </a:lnTo>
                  <a:lnTo>
                    <a:pt x="3054807" y="0"/>
                  </a:lnTo>
                  <a:close/>
                </a:path>
                <a:path w="6248400" h="4171950">
                  <a:moveTo>
                    <a:pt x="3060103" y="4162425"/>
                  </a:moveTo>
                  <a:lnTo>
                    <a:pt x="3031528" y="4162425"/>
                  </a:lnTo>
                  <a:lnTo>
                    <a:pt x="3031528" y="4171950"/>
                  </a:lnTo>
                  <a:lnTo>
                    <a:pt x="3060103" y="4171950"/>
                  </a:lnTo>
                  <a:lnTo>
                    <a:pt x="3060103" y="4162425"/>
                  </a:lnTo>
                  <a:close/>
                </a:path>
                <a:path w="6248400" h="4171950">
                  <a:moveTo>
                    <a:pt x="3102381" y="0"/>
                  </a:moveTo>
                  <a:lnTo>
                    <a:pt x="3073806" y="0"/>
                  </a:lnTo>
                  <a:lnTo>
                    <a:pt x="3073806" y="9525"/>
                  </a:lnTo>
                  <a:lnTo>
                    <a:pt x="3102381" y="9525"/>
                  </a:lnTo>
                  <a:lnTo>
                    <a:pt x="3102381" y="0"/>
                  </a:lnTo>
                  <a:close/>
                </a:path>
                <a:path w="6248400" h="4171950">
                  <a:moveTo>
                    <a:pt x="3107690" y="4162425"/>
                  </a:moveTo>
                  <a:lnTo>
                    <a:pt x="3079115" y="4162425"/>
                  </a:lnTo>
                  <a:lnTo>
                    <a:pt x="3079115" y="4171950"/>
                  </a:lnTo>
                  <a:lnTo>
                    <a:pt x="3107690" y="4171950"/>
                  </a:lnTo>
                  <a:lnTo>
                    <a:pt x="3107690" y="4162425"/>
                  </a:lnTo>
                  <a:close/>
                </a:path>
                <a:path w="6248400" h="4171950">
                  <a:moveTo>
                    <a:pt x="3149968" y="0"/>
                  </a:moveTo>
                  <a:lnTo>
                    <a:pt x="3121393" y="0"/>
                  </a:lnTo>
                  <a:lnTo>
                    <a:pt x="3121393" y="9525"/>
                  </a:lnTo>
                  <a:lnTo>
                    <a:pt x="3149968" y="9525"/>
                  </a:lnTo>
                  <a:lnTo>
                    <a:pt x="3149968" y="0"/>
                  </a:lnTo>
                  <a:close/>
                </a:path>
                <a:path w="6248400" h="4171950">
                  <a:moveTo>
                    <a:pt x="3155264" y="4162425"/>
                  </a:moveTo>
                  <a:lnTo>
                    <a:pt x="3126689" y="4162425"/>
                  </a:lnTo>
                  <a:lnTo>
                    <a:pt x="3126689" y="4171950"/>
                  </a:lnTo>
                  <a:lnTo>
                    <a:pt x="3155264" y="4171950"/>
                  </a:lnTo>
                  <a:lnTo>
                    <a:pt x="3155264" y="4162425"/>
                  </a:lnTo>
                  <a:close/>
                </a:path>
                <a:path w="6248400" h="4171950">
                  <a:moveTo>
                    <a:pt x="3197542" y="0"/>
                  </a:moveTo>
                  <a:lnTo>
                    <a:pt x="3168967" y="0"/>
                  </a:lnTo>
                  <a:lnTo>
                    <a:pt x="3168967" y="9525"/>
                  </a:lnTo>
                  <a:lnTo>
                    <a:pt x="3197542" y="9525"/>
                  </a:lnTo>
                  <a:lnTo>
                    <a:pt x="3197542" y="0"/>
                  </a:lnTo>
                  <a:close/>
                </a:path>
                <a:path w="6248400" h="4171950">
                  <a:moveTo>
                    <a:pt x="3202851" y="4162425"/>
                  </a:moveTo>
                  <a:lnTo>
                    <a:pt x="3174276" y="4162425"/>
                  </a:lnTo>
                  <a:lnTo>
                    <a:pt x="3174276" y="4171950"/>
                  </a:lnTo>
                  <a:lnTo>
                    <a:pt x="3202851" y="4171950"/>
                  </a:lnTo>
                  <a:lnTo>
                    <a:pt x="3202851" y="4162425"/>
                  </a:lnTo>
                  <a:close/>
                </a:path>
                <a:path w="6248400" h="4171950">
                  <a:moveTo>
                    <a:pt x="3245129" y="0"/>
                  </a:moveTo>
                  <a:lnTo>
                    <a:pt x="3216554" y="0"/>
                  </a:lnTo>
                  <a:lnTo>
                    <a:pt x="3216554" y="9525"/>
                  </a:lnTo>
                  <a:lnTo>
                    <a:pt x="3245129" y="9525"/>
                  </a:lnTo>
                  <a:lnTo>
                    <a:pt x="3245129" y="0"/>
                  </a:lnTo>
                  <a:close/>
                </a:path>
                <a:path w="6248400" h="4171950">
                  <a:moveTo>
                    <a:pt x="3250425" y="4162425"/>
                  </a:moveTo>
                  <a:lnTo>
                    <a:pt x="3221850" y="4162425"/>
                  </a:lnTo>
                  <a:lnTo>
                    <a:pt x="3221850" y="4171950"/>
                  </a:lnTo>
                  <a:lnTo>
                    <a:pt x="3250425" y="4171950"/>
                  </a:lnTo>
                  <a:lnTo>
                    <a:pt x="3250425" y="4162425"/>
                  </a:lnTo>
                  <a:close/>
                </a:path>
                <a:path w="6248400" h="4171950">
                  <a:moveTo>
                    <a:pt x="3292703" y="0"/>
                  </a:moveTo>
                  <a:lnTo>
                    <a:pt x="3264128" y="0"/>
                  </a:lnTo>
                  <a:lnTo>
                    <a:pt x="3264128" y="9525"/>
                  </a:lnTo>
                  <a:lnTo>
                    <a:pt x="3292703" y="9525"/>
                  </a:lnTo>
                  <a:lnTo>
                    <a:pt x="3292703" y="0"/>
                  </a:lnTo>
                  <a:close/>
                </a:path>
                <a:path w="6248400" h="4171950">
                  <a:moveTo>
                    <a:pt x="3298012" y="4162425"/>
                  </a:moveTo>
                  <a:lnTo>
                    <a:pt x="3269437" y="4162425"/>
                  </a:lnTo>
                  <a:lnTo>
                    <a:pt x="3269437" y="4171950"/>
                  </a:lnTo>
                  <a:lnTo>
                    <a:pt x="3298012" y="4171950"/>
                  </a:lnTo>
                  <a:lnTo>
                    <a:pt x="3298012" y="4162425"/>
                  </a:lnTo>
                  <a:close/>
                </a:path>
                <a:path w="6248400" h="4171950">
                  <a:moveTo>
                    <a:pt x="3340290" y="0"/>
                  </a:moveTo>
                  <a:lnTo>
                    <a:pt x="3311715" y="0"/>
                  </a:lnTo>
                  <a:lnTo>
                    <a:pt x="3311715" y="9525"/>
                  </a:lnTo>
                  <a:lnTo>
                    <a:pt x="3340290" y="9525"/>
                  </a:lnTo>
                  <a:lnTo>
                    <a:pt x="3340290" y="0"/>
                  </a:lnTo>
                  <a:close/>
                </a:path>
                <a:path w="6248400" h="4171950">
                  <a:moveTo>
                    <a:pt x="3345599" y="4162425"/>
                  </a:moveTo>
                  <a:lnTo>
                    <a:pt x="3317024" y="4162425"/>
                  </a:lnTo>
                  <a:lnTo>
                    <a:pt x="3317024" y="4171950"/>
                  </a:lnTo>
                  <a:lnTo>
                    <a:pt x="3345599" y="4171950"/>
                  </a:lnTo>
                  <a:lnTo>
                    <a:pt x="3345599" y="4162425"/>
                  </a:lnTo>
                  <a:close/>
                </a:path>
                <a:path w="6248400" h="4171950">
                  <a:moveTo>
                    <a:pt x="3387877" y="0"/>
                  </a:moveTo>
                  <a:lnTo>
                    <a:pt x="3359302" y="0"/>
                  </a:lnTo>
                  <a:lnTo>
                    <a:pt x="3359302" y="9525"/>
                  </a:lnTo>
                  <a:lnTo>
                    <a:pt x="3387877" y="9525"/>
                  </a:lnTo>
                  <a:lnTo>
                    <a:pt x="3387877" y="0"/>
                  </a:lnTo>
                  <a:close/>
                </a:path>
                <a:path w="6248400" h="4171950">
                  <a:moveTo>
                    <a:pt x="3393173" y="4162425"/>
                  </a:moveTo>
                  <a:lnTo>
                    <a:pt x="3364598" y="4162425"/>
                  </a:lnTo>
                  <a:lnTo>
                    <a:pt x="3364598" y="4171950"/>
                  </a:lnTo>
                  <a:lnTo>
                    <a:pt x="3393173" y="4171950"/>
                  </a:lnTo>
                  <a:lnTo>
                    <a:pt x="3393173" y="4162425"/>
                  </a:lnTo>
                  <a:close/>
                </a:path>
                <a:path w="6248400" h="4171950">
                  <a:moveTo>
                    <a:pt x="3435451" y="0"/>
                  </a:moveTo>
                  <a:lnTo>
                    <a:pt x="3406876" y="0"/>
                  </a:lnTo>
                  <a:lnTo>
                    <a:pt x="3406876" y="9525"/>
                  </a:lnTo>
                  <a:lnTo>
                    <a:pt x="3435451" y="9525"/>
                  </a:lnTo>
                  <a:lnTo>
                    <a:pt x="3435451" y="0"/>
                  </a:lnTo>
                  <a:close/>
                </a:path>
                <a:path w="6248400" h="4171950">
                  <a:moveTo>
                    <a:pt x="3440760" y="4162425"/>
                  </a:moveTo>
                  <a:lnTo>
                    <a:pt x="3412185" y="4162425"/>
                  </a:lnTo>
                  <a:lnTo>
                    <a:pt x="3412185" y="4171950"/>
                  </a:lnTo>
                  <a:lnTo>
                    <a:pt x="3440760" y="4171950"/>
                  </a:lnTo>
                  <a:lnTo>
                    <a:pt x="3440760" y="4162425"/>
                  </a:lnTo>
                  <a:close/>
                </a:path>
                <a:path w="6248400" h="4171950">
                  <a:moveTo>
                    <a:pt x="3483038" y="0"/>
                  </a:moveTo>
                  <a:lnTo>
                    <a:pt x="3454463" y="0"/>
                  </a:lnTo>
                  <a:lnTo>
                    <a:pt x="3454463" y="9525"/>
                  </a:lnTo>
                  <a:lnTo>
                    <a:pt x="3483038" y="9525"/>
                  </a:lnTo>
                  <a:lnTo>
                    <a:pt x="3483038" y="0"/>
                  </a:lnTo>
                  <a:close/>
                </a:path>
                <a:path w="6248400" h="4171950">
                  <a:moveTo>
                    <a:pt x="3488334" y="4162425"/>
                  </a:moveTo>
                  <a:lnTo>
                    <a:pt x="3459759" y="4162425"/>
                  </a:lnTo>
                  <a:lnTo>
                    <a:pt x="3459759" y="4171950"/>
                  </a:lnTo>
                  <a:lnTo>
                    <a:pt x="3488334" y="4171950"/>
                  </a:lnTo>
                  <a:lnTo>
                    <a:pt x="3488334" y="4162425"/>
                  </a:lnTo>
                  <a:close/>
                </a:path>
                <a:path w="6248400" h="4171950">
                  <a:moveTo>
                    <a:pt x="3530612" y="0"/>
                  </a:moveTo>
                  <a:lnTo>
                    <a:pt x="3502037" y="0"/>
                  </a:lnTo>
                  <a:lnTo>
                    <a:pt x="3502037" y="9525"/>
                  </a:lnTo>
                  <a:lnTo>
                    <a:pt x="3530612" y="9525"/>
                  </a:lnTo>
                  <a:lnTo>
                    <a:pt x="3530612" y="0"/>
                  </a:lnTo>
                  <a:close/>
                </a:path>
                <a:path w="6248400" h="4171950">
                  <a:moveTo>
                    <a:pt x="3535921" y="4162425"/>
                  </a:moveTo>
                  <a:lnTo>
                    <a:pt x="3507346" y="4162425"/>
                  </a:lnTo>
                  <a:lnTo>
                    <a:pt x="3507346" y="4171950"/>
                  </a:lnTo>
                  <a:lnTo>
                    <a:pt x="3535921" y="4171950"/>
                  </a:lnTo>
                  <a:lnTo>
                    <a:pt x="3535921" y="4162425"/>
                  </a:lnTo>
                  <a:close/>
                </a:path>
                <a:path w="6248400" h="4171950">
                  <a:moveTo>
                    <a:pt x="3578199" y="0"/>
                  </a:moveTo>
                  <a:lnTo>
                    <a:pt x="3549624" y="0"/>
                  </a:lnTo>
                  <a:lnTo>
                    <a:pt x="3549624" y="9525"/>
                  </a:lnTo>
                  <a:lnTo>
                    <a:pt x="3578199" y="9525"/>
                  </a:lnTo>
                  <a:lnTo>
                    <a:pt x="3578199" y="0"/>
                  </a:lnTo>
                  <a:close/>
                </a:path>
                <a:path w="6248400" h="4171950">
                  <a:moveTo>
                    <a:pt x="3583495" y="4162425"/>
                  </a:moveTo>
                  <a:lnTo>
                    <a:pt x="3554920" y="4162425"/>
                  </a:lnTo>
                  <a:lnTo>
                    <a:pt x="3554920" y="4171950"/>
                  </a:lnTo>
                  <a:lnTo>
                    <a:pt x="3583495" y="4171950"/>
                  </a:lnTo>
                  <a:lnTo>
                    <a:pt x="3583495" y="4162425"/>
                  </a:lnTo>
                  <a:close/>
                </a:path>
                <a:path w="6248400" h="4171950">
                  <a:moveTo>
                    <a:pt x="3625773" y="0"/>
                  </a:moveTo>
                  <a:lnTo>
                    <a:pt x="3597198" y="0"/>
                  </a:lnTo>
                  <a:lnTo>
                    <a:pt x="3597198" y="9525"/>
                  </a:lnTo>
                  <a:lnTo>
                    <a:pt x="3625773" y="9525"/>
                  </a:lnTo>
                  <a:lnTo>
                    <a:pt x="3625773" y="0"/>
                  </a:lnTo>
                  <a:close/>
                </a:path>
                <a:path w="6248400" h="4171950">
                  <a:moveTo>
                    <a:pt x="3631082" y="4162425"/>
                  </a:moveTo>
                  <a:lnTo>
                    <a:pt x="3602507" y="4162425"/>
                  </a:lnTo>
                  <a:lnTo>
                    <a:pt x="3602507" y="4171950"/>
                  </a:lnTo>
                  <a:lnTo>
                    <a:pt x="3631082" y="4171950"/>
                  </a:lnTo>
                  <a:lnTo>
                    <a:pt x="3631082" y="4162425"/>
                  </a:lnTo>
                  <a:close/>
                </a:path>
                <a:path w="6248400" h="4171950">
                  <a:moveTo>
                    <a:pt x="3673360" y="0"/>
                  </a:moveTo>
                  <a:lnTo>
                    <a:pt x="3644785" y="0"/>
                  </a:lnTo>
                  <a:lnTo>
                    <a:pt x="3644785" y="9525"/>
                  </a:lnTo>
                  <a:lnTo>
                    <a:pt x="3673360" y="9525"/>
                  </a:lnTo>
                  <a:lnTo>
                    <a:pt x="3673360" y="0"/>
                  </a:lnTo>
                  <a:close/>
                </a:path>
                <a:path w="6248400" h="4171950">
                  <a:moveTo>
                    <a:pt x="3678656" y="4162425"/>
                  </a:moveTo>
                  <a:lnTo>
                    <a:pt x="3650081" y="4162425"/>
                  </a:lnTo>
                  <a:lnTo>
                    <a:pt x="3650081" y="4171950"/>
                  </a:lnTo>
                  <a:lnTo>
                    <a:pt x="3678656" y="4171950"/>
                  </a:lnTo>
                  <a:lnTo>
                    <a:pt x="3678656" y="4162425"/>
                  </a:lnTo>
                  <a:close/>
                </a:path>
                <a:path w="6248400" h="4171950">
                  <a:moveTo>
                    <a:pt x="3720935" y="0"/>
                  </a:moveTo>
                  <a:lnTo>
                    <a:pt x="3692360" y="0"/>
                  </a:lnTo>
                  <a:lnTo>
                    <a:pt x="3692360" y="9525"/>
                  </a:lnTo>
                  <a:lnTo>
                    <a:pt x="3720935" y="9525"/>
                  </a:lnTo>
                  <a:lnTo>
                    <a:pt x="3720935" y="0"/>
                  </a:lnTo>
                  <a:close/>
                </a:path>
                <a:path w="6248400" h="4171950">
                  <a:moveTo>
                    <a:pt x="3726243" y="4162425"/>
                  </a:moveTo>
                  <a:lnTo>
                    <a:pt x="3697668" y="4162425"/>
                  </a:lnTo>
                  <a:lnTo>
                    <a:pt x="3697668" y="4171950"/>
                  </a:lnTo>
                  <a:lnTo>
                    <a:pt x="3726243" y="4171950"/>
                  </a:lnTo>
                  <a:lnTo>
                    <a:pt x="3726243" y="4162425"/>
                  </a:lnTo>
                  <a:close/>
                </a:path>
                <a:path w="6248400" h="4171950">
                  <a:moveTo>
                    <a:pt x="3768521" y="0"/>
                  </a:moveTo>
                  <a:lnTo>
                    <a:pt x="3739946" y="0"/>
                  </a:lnTo>
                  <a:lnTo>
                    <a:pt x="3739946" y="9525"/>
                  </a:lnTo>
                  <a:lnTo>
                    <a:pt x="3768521" y="9525"/>
                  </a:lnTo>
                  <a:lnTo>
                    <a:pt x="3768521" y="0"/>
                  </a:lnTo>
                  <a:close/>
                </a:path>
                <a:path w="6248400" h="4171950">
                  <a:moveTo>
                    <a:pt x="3773830" y="4162425"/>
                  </a:moveTo>
                  <a:lnTo>
                    <a:pt x="3745255" y="4162425"/>
                  </a:lnTo>
                  <a:lnTo>
                    <a:pt x="3745255" y="4171950"/>
                  </a:lnTo>
                  <a:lnTo>
                    <a:pt x="3773830" y="4171950"/>
                  </a:lnTo>
                  <a:lnTo>
                    <a:pt x="3773830" y="4162425"/>
                  </a:lnTo>
                  <a:close/>
                </a:path>
                <a:path w="6248400" h="4171950">
                  <a:moveTo>
                    <a:pt x="3816108" y="0"/>
                  </a:moveTo>
                  <a:lnTo>
                    <a:pt x="3787533" y="0"/>
                  </a:lnTo>
                  <a:lnTo>
                    <a:pt x="3787533" y="9525"/>
                  </a:lnTo>
                  <a:lnTo>
                    <a:pt x="3816108" y="9525"/>
                  </a:lnTo>
                  <a:lnTo>
                    <a:pt x="3816108" y="0"/>
                  </a:lnTo>
                  <a:close/>
                </a:path>
                <a:path w="6248400" h="4171950">
                  <a:moveTo>
                    <a:pt x="3821404" y="4162425"/>
                  </a:moveTo>
                  <a:lnTo>
                    <a:pt x="3792829" y="4162425"/>
                  </a:lnTo>
                  <a:lnTo>
                    <a:pt x="3792829" y="4171950"/>
                  </a:lnTo>
                  <a:lnTo>
                    <a:pt x="3821404" y="4171950"/>
                  </a:lnTo>
                  <a:lnTo>
                    <a:pt x="3821404" y="4162425"/>
                  </a:lnTo>
                  <a:close/>
                </a:path>
                <a:path w="6248400" h="4171950">
                  <a:moveTo>
                    <a:pt x="3863683" y="0"/>
                  </a:moveTo>
                  <a:lnTo>
                    <a:pt x="3835108" y="0"/>
                  </a:lnTo>
                  <a:lnTo>
                    <a:pt x="3835108" y="9525"/>
                  </a:lnTo>
                  <a:lnTo>
                    <a:pt x="3863683" y="9525"/>
                  </a:lnTo>
                  <a:lnTo>
                    <a:pt x="3863683" y="0"/>
                  </a:lnTo>
                  <a:close/>
                </a:path>
                <a:path w="6248400" h="4171950">
                  <a:moveTo>
                    <a:pt x="3868991" y="4162425"/>
                  </a:moveTo>
                  <a:lnTo>
                    <a:pt x="3840416" y="4162425"/>
                  </a:lnTo>
                  <a:lnTo>
                    <a:pt x="3840416" y="4171950"/>
                  </a:lnTo>
                  <a:lnTo>
                    <a:pt x="3868991" y="4171950"/>
                  </a:lnTo>
                  <a:lnTo>
                    <a:pt x="3868991" y="4162425"/>
                  </a:lnTo>
                  <a:close/>
                </a:path>
                <a:path w="6248400" h="4171950">
                  <a:moveTo>
                    <a:pt x="3911269" y="0"/>
                  </a:moveTo>
                  <a:lnTo>
                    <a:pt x="3882694" y="0"/>
                  </a:lnTo>
                  <a:lnTo>
                    <a:pt x="3882694" y="9525"/>
                  </a:lnTo>
                  <a:lnTo>
                    <a:pt x="3911269" y="9525"/>
                  </a:lnTo>
                  <a:lnTo>
                    <a:pt x="3911269" y="0"/>
                  </a:lnTo>
                  <a:close/>
                </a:path>
                <a:path w="6248400" h="4171950">
                  <a:moveTo>
                    <a:pt x="3916565" y="4162425"/>
                  </a:moveTo>
                  <a:lnTo>
                    <a:pt x="3887990" y="4162425"/>
                  </a:lnTo>
                  <a:lnTo>
                    <a:pt x="3887990" y="4171950"/>
                  </a:lnTo>
                  <a:lnTo>
                    <a:pt x="3916565" y="4171950"/>
                  </a:lnTo>
                  <a:lnTo>
                    <a:pt x="3916565" y="4162425"/>
                  </a:lnTo>
                  <a:close/>
                </a:path>
                <a:path w="6248400" h="4171950">
                  <a:moveTo>
                    <a:pt x="3958844" y="0"/>
                  </a:moveTo>
                  <a:lnTo>
                    <a:pt x="3930269" y="0"/>
                  </a:lnTo>
                  <a:lnTo>
                    <a:pt x="3930269" y="9525"/>
                  </a:lnTo>
                  <a:lnTo>
                    <a:pt x="3958844" y="9525"/>
                  </a:lnTo>
                  <a:lnTo>
                    <a:pt x="3958844" y="0"/>
                  </a:lnTo>
                  <a:close/>
                </a:path>
                <a:path w="6248400" h="4171950">
                  <a:moveTo>
                    <a:pt x="3964152" y="4162425"/>
                  </a:moveTo>
                  <a:lnTo>
                    <a:pt x="3935577" y="4162425"/>
                  </a:lnTo>
                  <a:lnTo>
                    <a:pt x="3935577" y="4171950"/>
                  </a:lnTo>
                  <a:lnTo>
                    <a:pt x="3964152" y="4171950"/>
                  </a:lnTo>
                  <a:lnTo>
                    <a:pt x="3964152" y="4162425"/>
                  </a:lnTo>
                  <a:close/>
                </a:path>
                <a:path w="6248400" h="4171950">
                  <a:moveTo>
                    <a:pt x="4006431" y="0"/>
                  </a:moveTo>
                  <a:lnTo>
                    <a:pt x="3977856" y="0"/>
                  </a:lnTo>
                  <a:lnTo>
                    <a:pt x="3977856" y="9525"/>
                  </a:lnTo>
                  <a:lnTo>
                    <a:pt x="4006431" y="9525"/>
                  </a:lnTo>
                  <a:lnTo>
                    <a:pt x="4006431" y="0"/>
                  </a:lnTo>
                  <a:close/>
                </a:path>
                <a:path w="6248400" h="4171950">
                  <a:moveTo>
                    <a:pt x="4011726" y="4162425"/>
                  </a:moveTo>
                  <a:lnTo>
                    <a:pt x="3983151" y="4162425"/>
                  </a:lnTo>
                  <a:lnTo>
                    <a:pt x="3983151" y="4171950"/>
                  </a:lnTo>
                  <a:lnTo>
                    <a:pt x="4011726" y="4171950"/>
                  </a:lnTo>
                  <a:lnTo>
                    <a:pt x="4011726" y="4162425"/>
                  </a:lnTo>
                  <a:close/>
                </a:path>
                <a:path w="6248400" h="4171950">
                  <a:moveTo>
                    <a:pt x="4054005" y="0"/>
                  </a:moveTo>
                  <a:lnTo>
                    <a:pt x="4025430" y="0"/>
                  </a:lnTo>
                  <a:lnTo>
                    <a:pt x="4025430" y="9525"/>
                  </a:lnTo>
                  <a:lnTo>
                    <a:pt x="4054005" y="9525"/>
                  </a:lnTo>
                  <a:lnTo>
                    <a:pt x="4054005" y="0"/>
                  </a:lnTo>
                  <a:close/>
                </a:path>
                <a:path w="6248400" h="4171950">
                  <a:moveTo>
                    <a:pt x="4059313" y="4162425"/>
                  </a:moveTo>
                  <a:lnTo>
                    <a:pt x="4030738" y="4162425"/>
                  </a:lnTo>
                  <a:lnTo>
                    <a:pt x="4030738" y="4171950"/>
                  </a:lnTo>
                  <a:lnTo>
                    <a:pt x="4059313" y="4171950"/>
                  </a:lnTo>
                  <a:lnTo>
                    <a:pt x="4059313" y="4162425"/>
                  </a:lnTo>
                  <a:close/>
                </a:path>
                <a:path w="6248400" h="4171950">
                  <a:moveTo>
                    <a:pt x="4101592" y="0"/>
                  </a:moveTo>
                  <a:lnTo>
                    <a:pt x="4073017" y="0"/>
                  </a:lnTo>
                  <a:lnTo>
                    <a:pt x="4073017" y="9525"/>
                  </a:lnTo>
                  <a:lnTo>
                    <a:pt x="4101592" y="9525"/>
                  </a:lnTo>
                  <a:lnTo>
                    <a:pt x="4101592" y="0"/>
                  </a:lnTo>
                  <a:close/>
                </a:path>
                <a:path w="6248400" h="4171950">
                  <a:moveTo>
                    <a:pt x="4106888" y="4162425"/>
                  </a:moveTo>
                  <a:lnTo>
                    <a:pt x="4078313" y="4162425"/>
                  </a:lnTo>
                  <a:lnTo>
                    <a:pt x="4078313" y="4171950"/>
                  </a:lnTo>
                  <a:lnTo>
                    <a:pt x="4106888" y="4171950"/>
                  </a:lnTo>
                  <a:lnTo>
                    <a:pt x="4106888" y="4162425"/>
                  </a:lnTo>
                  <a:close/>
                </a:path>
                <a:path w="6248400" h="4171950">
                  <a:moveTo>
                    <a:pt x="4149166" y="0"/>
                  </a:moveTo>
                  <a:lnTo>
                    <a:pt x="4120591" y="0"/>
                  </a:lnTo>
                  <a:lnTo>
                    <a:pt x="4120591" y="9525"/>
                  </a:lnTo>
                  <a:lnTo>
                    <a:pt x="4149166" y="9525"/>
                  </a:lnTo>
                  <a:lnTo>
                    <a:pt x="4149166" y="0"/>
                  </a:lnTo>
                  <a:close/>
                </a:path>
                <a:path w="6248400" h="4171950">
                  <a:moveTo>
                    <a:pt x="4154474" y="4162425"/>
                  </a:moveTo>
                  <a:lnTo>
                    <a:pt x="4125899" y="4162425"/>
                  </a:lnTo>
                  <a:lnTo>
                    <a:pt x="4125899" y="4171950"/>
                  </a:lnTo>
                  <a:lnTo>
                    <a:pt x="4154474" y="4171950"/>
                  </a:lnTo>
                  <a:lnTo>
                    <a:pt x="4154474" y="4162425"/>
                  </a:lnTo>
                  <a:close/>
                </a:path>
                <a:path w="6248400" h="4171950">
                  <a:moveTo>
                    <a:pt x="4196753" y="0"/>
                  </a:moveTo>
                  <a:lnTo>
                    <a:pt x="4168178" y="0"/>
                  </a:lnTo>
                  <a:lnTo>
                    <a:pt x="4168178" y="9525"/>
                  </a:lnTo>
                  <a:lnTo>
                    <a:pt x="4196753" y="9525"/>
                  </a:lnTo>
                  <a:lnTo>
                    <a:pt x="4196753" y="0"/>
                  </a:lnTo>
                  <a:close/>
                </a:path>
                <a:path w="6248400" h="4171950">
                  <a:moveTo>
                    <a:pt x="4202061" y="4162425"/>
                  </a:moveTo>
                  <a:lnTo>
                    <a:pt x="4173486" y="4162425"/>
                  </a:lnTo>
                  <a:lnTo>
                    <a:pt x="4173486" y="4171950"/>
                  </a:lnTo>
                  <a:lnTo>
                    <a:pt x="4202061" y="4171950"/>
                  </a:lnTo>
                  <a:lnTo>
                    <a:pt x="4202061" y="4162425"/>
                  </a:lnTo>
                  <a:close/>
                </a:path>
                <a:path w="6248400" h="4171950">
                  <a:moveTo>
                    <a:pt x="4244340" y="0"/>
                  </a:moveTo>
                  <a:lnTo>
                    <a:pt x="4215752" y="0"/>
                  </a:lnTo>
                  <a:lnTo>
                    <a:pt x="4215752" y="9525"/>
                  </a:lnTo>
                  <a:lnTo>
                    <a:pt x="4244340" y="9525"/>
                  </a:lnTo>
                  <a:lnTo>
                    <a:pt x="4244340" y="0"/>
                  </a:lnTo>
                  <a:close/>
                </a:path>
                <a:path w="6248400" h="4171950">
                  <a:moveTo>
                    <a:pt x="4249636" y="4162425"/>
                  </a:moveTo>
                  <a:lnTo>
                    <a:pt x="4221061" y="4162425"/>
                  </a:lnTo>
                  <a:lnTo>
                    <a:pt x="4221061" y="4171950"/>
                  </a:lnTo>
                  <a:lnTo>
                    <a:pt x="4249636" y="4171950"/>
                  </a:lnTo>
                  <a:lnTo>
                    <a:pt x="4249636" y="4162425"/>
                  </a:lnTo>
                  <a:close/>
                </a:path>
                <a:path w="6248400" h="4171950">
                  <a:moveTo>
                    <a:pt x="4291914" y="0"/>
                  </a:moveTo>
                  <a:lnTo>
                    <a:pt x="4263339" y="0"/>
                  </a:lnTo>
                  <a:lnTo>
                    <a:pt x="4263339" y="9525"/>
                  </a:lnTo>
                  <a:lnTo>
                    <a:pt x="4291914" y="9525"/>
                  </a:lnTo>
                  <a:lnTo>
                    <a:pt x="4291914" y="0"/>
                  </a:lnTo>
                  <a:close/>
                </a:path>
                <a:path w="6248400" h="4171950">
                  <a:moveTo>
                    <a:pt x="4297223" y="4162425"/>
                  </a:moveTo>
                  <a:lnTo>
                    <a:pt x="4268648" y="4162425"/>
                  </a:lnTo>
                  <a:lnTo>
                    <a:pt x="4268648" y="4171950"/>
                  </a:lnTo>
                  <a:lnTo>
                    <a:pt x="4297223" y="4171950"/>
                  </a:lnTo>
                  <a:lnTo>
                    <a:pt x="4297223" y="4162425"/>
                  </a:lnTo>
                  <a:close/>
                </a:path>
                <a:path w="6248400" h="4171950">
                  <a:moveTo>
                    <a:pt x="4339501" y="0"/>
                  </a:moveTo>
                  <a:lnTo>
                    <a:pt x="4310926" y="0"/>
                  </a:lnTo>
                  <a:lnTo>
                    <a:pt x="4310926" y="9525"/>
                  </a:lnTo>
                  <a:lnTo>
                    <a:pt x="4339501" y="9525"/>
                  </a:lnTo>
                  <a:lnTo>
                    <a:pt x="4339501" y="0"/>
                  </a:lnTo>
                  <a:close/>
                </a:path>
                <a:path w="6248400" h="4171950">
                  <a:moveTo>
                    <a:pt x="4344797" y="4162425"/>
                  </a:moveTo>
                  <a:lnTo>
                    <a:pt x="4316222" y="4162425"/>
                  </a:lnTo>
                  <a:lnTo>
                    <a:pt x="4316222" y="4171950"/>
                  </a:lnTo>
                  <a:lnTo>
                    <a:pt x="4344797" y="4171950"/>
                  </a:lnTo>
                  <a:lnTo>
                    <a:pt x="4344797" y="4162425"/>
                  </a:lnTo>
                  <a:close/>
                </a:path>
                <a:path w="6248400" h="4171950">
                  <a:moveTo>
                    <a:pt x="4387075" y="0"/>
                  </a:moveTo>
                  <a:lnTo>
                    <a:pt x="4358500" y="0"/>
                  </a:lnTo>
                  <a:lnTo>
                    <a:pt x="4358500" y="9525"/>
                  </a:lnTo>
                  <a:lnTo>
                    <a:pt x="4387075" y="9525"/>
                  </a:lnTo>
                  <a:lnTo>
                    <a:pt x="4387075" y="0"/>
                  </a:lnTo>
                  <a:close/>
                </a:path>
                <a:path w="6248400" h="4171950">
                  <a:moveTo>
                    <a:pt x="4392384" y="4162425"/>
                  </a:moveTo>
                  <a:lnTo>
                    <a:pt x="4363809" y="4162425"/>
                  </a:lnTo>
                  <a:lnTo>
                    <a:pt x="4363809" y="4171950"/>
                  </a:lnTo>
                  <a:lnTo>
                    <a:pt x="4392384" y="4171950"/>
                  </a:lnTo>
                  <a:lnTo>
                    <a:pt x="4392384" y="4162425"/>
                  </a:lnTo>
                  <a:close/>
                </a:path>
                <a:path w="6248400" h="4171950">
                  <a:moveTo>
                    <a:pt x="4434662" y="0"/>
                  </a:moveTo>
                  <a:lnTo>
                    <a:pt x="4406087" y="0"/>
                  </a:lnTo>
                  <a:lnTo>
                    <a:pt x="4406087" y="9525"/>
                  </a:lnTo>
                  <a:lnTo>
                    <a:pt x="4434662" y="9525"/>
                  </a:lnTo>
                  <a:lnTo>
                    <a:pt x="4434662" y="0"/>
                  </a:lnTo>
                  <a:close/>
                </a:path>
                <a:path w="6248400" h="4171950">
                  <a:moveTo>
                    <a:pt x="4439958" y="4162425"/>
                  </a:moveTo>
                  <a:lnTo>
                    <a:pt x="4411383" y="4162425"/>
                  </a:lnTo>
                  <a:lnTo>
                    <a:pt x="4411383" y="4171950"/>
                  </a:lnTo>
                  <a:lnTo>
                    <a:pt x="4439958" y="4171950"/>
                  </a:lnTo>
                  <a:lnTo>
                    <a:pt x="4439958" y="4162425"/>
                  </a:lnTo>
                  <a:close/>
                </a:path>
                <a:path w="6248400" h="4171950">
                  <a:moveTo>
                    <a:pt x="4482236" y="0"/>
                  </a:moveTo>
                  <a:lnTo>
                    <a:pt x="4453661" y="0"/>
                  </a:lnTo>
                  <a:lnTo>
                    <a:pt x="4453661" y="9525"/>
                  </a:lnTo>
                  <a:lnTo>
                    <a:pt x="4482236" y="9525"/>
                  </a:lnTo>
                  <a:lnTo>
                    <a:pt x="4482236" y="0"/>
                  </a:lnTo>
                  <a:close/>
                </a:path>
                <a:path w="6248400" h="4171950">
                  <a:moveTo>
                    <a:pt x="4487545" y="4162425"/>
                  </a:moveTo>
                  <a:lnTo>
                    <a:pt x="4458970" y="4162425"/>
                  </a:lnTo>
                  <a:lnTo>
                    <a:pt x="4458970" y="4171950"/>
                  </a:lnTo>
                  <a:lnTo>
                    <a:pt x="4487545" y="4171950"/>
                  </a:lnTo>
                  <a:lnTo>
                    <a:pt x="4487545" y="4162425"/>
                  </a:lnTo>
                  <a:close/>
                </a:path>
                <a:path w="6248400" h="4171950">
                  <a:moveTo>
                    <a:pt x="4529823" y="0"/>
                  </a:moveTo>
                  <a:lnTo>
                    <a:pt x="4501248" y="0"/>
                  </a:lnTo>
                  <a:lnTo>
                    <a:pt x="4501248" y="9525"/>
                  </a:lnTo>
                  <a:lnTo>
                    <a:pt x="4529823" y="9525"/>
                  </a:lnTo>
                  <a:lnTo>
                    <a:pt x="4529823" y="0"/>
                  </a:lnTo>
                  <a:close/>
                </a:path>
                <a:path w="6248400" h="4171950">
                  <a:moveTo>
                    <a:pt x="4535119" y="4162425"/>
                  </a:moveTo>
                  <a:lnTo>
                    <a:pt x="4506544" y="4162425"/>
                  </a:lnTo>
                  <a:lnTo>
                    <a:pt x="4506544" y="4171950"/>
                  </a:lnTo>
                  <a:lnTo>
                    <a:pt x="4535119" y="4171950"/>
                  </a:lnTo>
                  <a:lnTo>
                    <a:pt x="4535119" y="4162425"/>
                  </a:lnTo>
                  <a:close/>
                </a:path>
                <a:path w="6248400" h="4171950">
                  <a:moveTo>
                    <a:pt x="4577397" y="0"/>
                  </a:moveTo>
                  <a:lnTo>
                    <a:pt x="4548822" y="0"/>
                  </a:lnTo>
                  <a:lnTo>
                    <a:pt x="4548822" y="9525"/>
                  </a:lnTo>
                  <a:lnTo>
                    <a:pt x="4577397" y="9525"/>
                  </a:lnTo>
                  <a:lnTo>
                    <a:pt x="4577397" y="0"/>
                  </a:lnTo>
                  <a:close/>
                </a:path>
                <a:path w="6248400" h="4171950">
                  <a:moveTo>
                    <a:pt x="4582706" y="4162425"/>
                  </a:moveTo>
                  <a:lnTo>
                    <a:pt x="4554131" y="4162425"/>
                  </a:lnTo>
                  <a:lnTo>
                    <a:pt x="4554131" y="4171950"/>
                  </a:lnTo>
                  <a:lnTo>
                    <a:pt x="4582706" y="4171950"/>
                  </a:lnTo>
                  <a:lnTo>
                    <a:pt x="4582706" y="4162425"/>
                  </a:lnTo>
                  <a:close/>
                </a:path>
                <a:path w="6248400" h="4171950">
                  <a:moveTo>
                    <a:pt x="4624984" y="0"/>
                  </a:moveTo>
                  <a:lnTo>
                    <a:pt x="4596409" y="0"/>
                  </a:lnTo>
                  <a:lnTo>
                    <a:pt x="4596409" y="9525"/>
                  </a:lnTo>
                  <a:lnTo>
                    <a:pt x="4624984" y="9525"/>
                  </a:lnTo>
                  <a:lnTo>
                    <a:pt x="4624984" y="0"/>
                  </a:lnTo>
                  <a:close/>
                </a:path>
                <a:path w="6248400" h="4171950">
                  <a:moveTo>
                    <a:pt x="4630280" y="4162425"/>
                  </a:moveTo>
                  <a:lnTo>
                    <a:pt x="4601705" y="4162425"/>
                  </a:lnTo>
                  <a:lnTo>
                    <a:pt x="4601705" y="4171950"/>
                  </a:lnTo>
                  <a:lnTo>
                    <a:pt x="4630280" y="4171950"/>
                  </a:lnTo>
                  <a:lnTo>
                    <a:pt x="4630280" y="4162425"/>
                  </a:lnTo>
                  <a:close/>
                </a:path>
                <a:path w="6248400" h="4171950">
                  <a:moveTo>
                    <a:pt x="4672558" y="0"/>
                  </a:moveTo>
                  <a:lnTo>
                    <a:pt x="4643983" y="0"/>
                  </a:lnTo>
                  <a:lnTo>
                    <a:pt x="4643983" y="9525"/>
                  </a:lnTo>
                  <a:lnTo>
                    <a:pt x="4672558" y="9525"/>
                  </a:lnTo>
                  <a:lnTo>
                    <a:pt x="4672558" y="0"/>
                  </a:lnTo>
                  <a:close/>
                </a:path>
                <a:path w="6248400" h="4171950">
                  <a:moveTo>
                    <a:pt x="4677867" y="4162425"/>
                  </a:moveTo>
                  <a:lnTo>
                    <a:pt x="4649292" y="4162425"/>
                  </a:lnTo>
                  <a:lnTo>
                    <a:pt x="4649292" y="4171950"/>
                  </a:lnTo>
                  <a:lnTo>
                    <a:pt x="4677867" y="4171950"/>
                  </a:lnTo>
                  <a:lnTo>
                    <a:pt x="4677867" y="4162425"/>
                  </a:lnTo>
                  <a:close/>
                </a:path>
                <a:path w="6248400" h="4171950">
                  <a:moveTo>
                    <a:pt x="4720145" y="0"/>
                  </a:moveTo>
                  <a:lnTo>
                    <a:pt x="4691570" y="0"/>
                  </a:lnTo>
                  <a:lnTo>
                    <a:pt x="4691570" y="9525"/>
                  </a:lnTo>
                  <a:lnTo>
                    <a:pt x="4720145" y="9525"/>
                  </a:lnTo>
                  <a:lnTo>
                    <a:pt x="4720145" y="0"/>
                  </a:lnTo>
                  <a:close/>
                </a:path>
                <a:path w="6248400" h="4171950">
                  <a:moveTo>
                    <a:pt x="4725454" y="4162425"/>
                  </a:moveTo>
                  <a:lnTo>
                    <a:pt x="4696879" y="4162425"/>
                  </a:lnTo>
                  <a:lnTo>
                    <a:pt x="4696879" y="4171950"/>
                  </a:lnTo>
                  <a:lnTo>
                    <a:pt x="4725454" y="4171950"/>
                  </a:lnTo>
                  <a:lnTo>
                    <a:pt x="4725454" y="4162425"/>
                  </a:lnTo>
                  <a:close/>
                </a:path>
                <a:path w="6248400" h="4171950">
                  <a:moveTo>
                    <a:pt x="4767732" y="0"/>
                  </a:moveTo>
                  <a:lnTo>
                    <a:pt x="4739157" y="0"/>
                  </a:lnTo>
                  <a:lnTo>
                    <a:pt x="4739157" y="9525"/>
                  </a:lnTo>
                  <a:lnTo>
                    <a:pt x="4767732" y="9525"/>
                  </a:lnTo>
                  <a:lnTo>
                    <a:pt x="4767732" y="0"/>
                  </a:lnTo>
                  <a:close/>
                </a:path>
                <a:path w="6248400" h="4171950">
                  <a:moveTo>
                    <a:pt x="4773028" y="4162425"/>
                  </a:moveTo>
                  <a:lnTo>
                    <a:pt x="4744453" y="4162425"/>
                  </a:lnTo>
                  <a:lnTo>
                    <a:pt x="4744453" y="4171950"/>
                  </a:lnTo>
                  <a:lnTo>
                    <a:pt x="4773028" y="4171950"/>
                  </a:lnTo>
                  <a:lnTo>
                    <a:pt x="4773028" y="4162425"/>
                  </a:lnTo>
                  <a:close/>
                </a:path>
                <a:path w="6248400" h="4171950">
                  <a:moveTo>
                    <a:pt x="4815306" y="0"/>
                  </a:moveTo>
                  <a:lnTo>
                    <a:pt x="4786731" y="0"/>
                  </a:lnTo>
                  <a:lnTo>
                    <a:pt x="4786731" y="9525"/>
                  </a:lnTo>
                  <a:lnTo>
                    <a:pt x="4815306" y="9525"/>
                  </a:lnTo>
                  <a:lnTo>
                    <a:pt x="4815306" y="0"/>
                  </a:lnTo>
                  <a:close/>
                </a:path>
                <a:path w="6248400" h="4171950">
                  <a:moveTo>
                    <a:pt x="4820615" y="4162425"/>
                  </a:moveTo>
                  <a:lnTo>
                    <a:pt x="4792040" y="4162425"/>
                  </a:lnTo>
                  <a:lnTo>
                    <a:pt x="4792040" y="4171950"/>
                  </a:lnTo>
                  <a:lnTo>
                    <a:pt x="4820615" y="4171950"/>
                  </a:lnTo>
                  <a:lnTo>
                    <a:pt x="4820615" y="4162425"/>
                  </a:lnTo>
                  <a:close/>
                </a:path>
                <a:path w="6248400" h="4171950">
                  <a:moveTo>
                    <a:pt x="4862893" y="0"/>
                  </a:moveTo>
                  <a:lnTo>
                    <a:pt x="4834318" y="0"/>
                  </a:lnTo>
                  <a:lnTo>
                    <a:pt x="4834318" y="9525"/>
                  </a:lnTo>
                  <a:lnTo>
                    <a:pt x="4862893" y="9525"/>
                  </a:lnTo>
                  <a:lnTo>
                    <a:pt x="4862893" y="0"/>
                  </a:lnTo>
                  <a:close/>
                </a:path>
                <a:path w="6248400" h="4171950">
                  <a:moveTo>
                    <a:pt x="4868189" y="4162425"/>
                  </a:moveTo>
                  <a:lnTo>
                    <a:pt x="4839614" y="4162425"/>
                  </a:lnTo>
                  <a:lnTo>
                    <a:pt x="4839614" y="4171950"/>
                  </a:lnTo>
                  <a:lnTo>
                    <a:pt x="4868189" y="4171950"/>
                  </a:lnTo>
                  <a:lnTo>
                    <a:pt x="4868189" y="4162425"/>
                  </a:lnTo>
                  <a:close/>
                </a:path>
                <a:path w="6248400" h="4171950">
                  <a:moveTo>
                    <a:pt x="4910467" y="0"/>
                  </a:moveTo>
                  <a:lnTo>
                    <a:pt x="4881892" y="0"/>
                  </a:lnTo>
                  <a:lnTo>
                    <a:pt x="4881892" y="9525"/>
                  </a:lnTo>
                  <a:lnTo>
                    <a:pt x="4910467" y="9525"/>
                  </a:lnTo>
                  <a:lnTo>
                    <a:pt x="4910467" y="0"/>
                  </a:lnTo>
                  <a:close/>
                </a:path>
                <a:path w="6248400" h="4171950">
                  <a:moveTo>
                    <a:pt x="4915776" y="4162425"/>
                  </a:moveTo>
                  <a:lnTo>
                    <a:pt x="4887201" y="4162425"/>
                  </a:lnTo>
                  <a:lnTo>
                    <a:pt x="4887201" y="4171950"/>
                  </a:lnTo>
                  <a:lnTo>
                    <a:pt x="4915776" y="4171950"/>
                  </a:lnTo>
                  <a:lnTo>
                    <a:pt x="4915776" y="4162425"/>
                  </a:lnTo>
                  <a:close/>
                </a:path>
                <a:path w="6248400" h="4171950">
                  <a:moveTo>
                    <a:pt x="4958054" y="0"/>
                  </a:moveTo>
                  <a:lnTo>
                    <a:pt x="4929479" y="0"/>
                  </a:lnTo>
                  <a:lnTo>
                    <a:pt x="4929479" y="9525"/>
                  </a:lnTo>
                  <a:lnTo>
                    <a:pt x="4958054" y="9525"/>
                  </a:lnTo>
                  <a:lnTo>
                    <a:pt x="4958054" y="0"/>
                  </a:lnTo>
                  <a:close/>
                </a:path>
                <a:path w="6248400" h="4171950">
                  <a:moveTo>
                    <a:pt x="4963350" y="4162425"/>
                  </a:moveTo>
                  <a:lnTo>
                    <a:pt x="4934775" y="4162425"/>
                  </a:lnTo>
                  <a:lnTo>
                    <a:pt x="4934775" y="4171950"/>
                  </a:lnTo>
                  <a:lnTo>
                    <a:pt x="4963350" y="4171950"/>
                  </a:lnTo>
                  <a:lnTo>
                    <a:pt x="4963350" y="4162425"/>
                  </a:lnTo>
                  <a:close/>
                </a:path>
                <a:path w="6248400" h="4171950">
                  <a:moveTo>
                    <a:pt x="5005629" y="0"/>
                  </a:moveTo>
                  <a:lnTo>
                    <a:pt x="4977054" y="0"/>
                  </a:lnTo>
                  <a:lnTo>
                    <a:pt x="4977054" y="9525"/>
                  </a:lnTo>
                  <a:lnTo>
                    <a:pt x="5005629" y="9525"/>
                  </a:lnTo>
                  <a:lnTo>
                    <a:pt x="5005629" y="0"/>
                  </a:lnTo>
                  <a:close/>
                </a:path>
                <a:path w="6248400" h="4171950">
                  <a:moveTo>
                    <a:pt x="5010937" y="4162425"/>
                  </a:moveTo>
                  <a:lnTo>
                    <a:pt x="4982362" y="4162425"/>
                  </a:lnTo>
                  <a:lnTo>
                    <a:pt x="4982362" y="4171950"/>
                  </a:lnTo>
                  <a:lnTo>
                    <a:pt x="5010937" y="4171950"/>
                  </a:lnTo>
                  <a:lnTo>
                    <a:pt x="5010937" y="4162425"/>
                  </a:lnTo>
                  <a:close/>
                </a:path>
                <a:path w="6248400" h="4171950">
                  <a:moveTo>
                    <a:pt x="5053215" y="0"/>
                  </a:moveTo>
                  <a:lnTo>
                    <a:pt x="5024640" y="0"/>
                  </a:lnTo>
                  <a:lnTo>
                    <a:pt x="5024640" y="9525"/>
                  </a:lnTo>
                  <a:lnTo>
                    <a:pt x="5053215" y="9525"/>
                  </a:lnTo>
                  <a:lnTo>
                    <a:pt x="5053215" y="0"/>
                  </a:lnTo>
                  <a:close/>
                </a:path>
                <a:path w="6248400" h="4171950">
                  <a:moveTo>
                    <a:pt x="5058511" y="4162425"/>
                  </a:moveTo>
                  <a:lnTo>
                    <a:pt x="5029936" y="4162425"/>
                  </a:lnTo>
                  <a:lnTo>
                    <a:pt x="5029936" y="4171950"/>
                  </a:lnTo>
                  <a:lnTo>
                    <a:pt x="5058511" y="4171950"/>
                  </a:lnTo>
                  <a:lnTo>
                    <a:pt x="5058511" y="4162425"/>
                  </a:lnTo>
                  <a:close/>
                </a:path>
                <a:path w="6248400" h="4171950">
                  <a:moveTo>
                    <a:pt x="5100790" y="0"/>
                  </a:moveTo>
                  <a:lnTo>
                    <a:pt x="5072215" y="0"/>
                  </a:lnTo>
                  <a:lnTo>
                    <a:pt x="5072215" y="9525"/>
                  </a:lnTo>
                  <a:lnTo>
                    <a:pt x="5100790" y="9525"/>
                  </a:lnTo>
                  <a:lnTo>
                    <a:pt x="5100790" y="0"/>
                  </a:lnTo>
                  <a:close/>
                </a:path>
                <a:path w="6248400" h="4171950">
                  <a:moveTo>
                    <a:pt x="5106098" y="4162425"/>
                  </a:moveTo>
                  <a:lnTo>
                    <a:pt x="5077523" y="4162425"/>
                  </a:lnTo>
                  <a:lnTo>
                    <a:pt x="5077523" y="4171950"/>
                  </a:lnTo>
                  <a:lnTo>
                    <a:pt x="5106098" y="4171950"/>
                  </a:lnTo>
                  <a:lnTo>
                    <a:pt x="5106098" y="4162425"/>
                  </a:lnTo>
                  <a:close/>
                </a:path>
                <a:path w="6248400" h="4171950">
                  <a:moveTo>
                    <a:pt x="5148377" y="0"/>
                  </a:moveTo>
                  <a:lnTo>
                    <a:pt x="5119802" y="0"/>
                  </a:lnTo>
                  <a:lnTo>
                    <a:pt x="5119802" y="9525"/>
                  </a:lnTo>
                  <a:lnTo>
                    <a:pt x="5148377" y="9525"/>
                  </a:lnTo>
                  <a:lnTo>
                    <a:pt x="5148377" y="0"/>
                  </a:lnTo>
                  <a:close/>
                </a:path>
                <a:path w="6248400" h="4171950">
                  <a:moveTo>
                    <a:pt x="5153685" y="4162425"/>
                  </a:moveTo>
                  <a:lnTo>
                    <a:pt x="5125110" y="4162425"/>
                  </a:lnTo>
                  <a:lnTo>
                    <a:pt x="5125110" y="4171950"/>
                  </a:lnTo>
                  <a:lnTo>
                    <a:pt x="5153685" y="4171950"/>
                  </a:lnTo>
                  <a:lnTo>
                    <a:pt x="5153685" y="4162425"/>
                  </a:lnTo>
                  <a:close/>
                </a:path>
                <a:path w="6248400" h="4171950">
                  <a:moveTo>
                    <a:pt x="5195963" y="0"/>
                  </a:moveTo>
                  <a:lnTo>
                    <a:pt x="5167388" y="0"/>
                  </a:lnTo>
                  <a:lnTo>
                    <a:pt x="5167388" y="9525"/>
                  </a:lnTo>
                  <a:lnTo>
                    <a:pt x="5195963" y="9525"/>
                  </a:lnTo>
                  <a:lnTo>
                    <a:pt x="5195963" y="0"/>
                  </a:lnTo>
                  <a:close/>
                </a:path>
                <a:path w="6248400" h="4171950">
                  <a:moveTo>
                    <a:pt x="5201259" y="4162425"/>
                  </a:moveTo>
                  <a:lnTo>
                    <a:pt x="5172684" y="4162425"/>
                  </a:lnTo>
                  <a:lnTo>
                    <a:pt x="5172684" y="4171950"/>
                  </a:lnTo>
                  <a:lnTo>
                    <a:pt x="5201259" y="4171950"/>
                  </a:lnTo>
                  <a:lnTo>
                    <a:pt x="5201259" y="4162425"/>
                  </a:lnTo>
                  <a:close/>
                </a:path>
                <a:path w="6248400" h="4171950">
                  <a:moveTo>
                    <a:pt x="5243538" y="0"/>
                  </a:moveTo>
                  <a:lnTo>
                    <a:pt x="5214963" y="0"/>
                  </a:lnTo>
                  <a:lnTo>
                    <a:pt x="5214963" y="9525"/>
                  </a:lnTo>
                  <a:lnTo>
                    <a:pt x="5243538" y="9525"/>
                  </a:lnTo>
                  <a:lnTo>
                    <a:pt x="5243538" y="0"/>
                  </a:lnTo>
                  <a:close/>
                </a:path>
                <a:path w="6248400" h="4171950">
                  <a:moveTo>
                    <a:pt x="5248846" y="4162425"/>
                  </a:moveTo>
                  <a:lnTo>
                    <a:pt x="5220271" y="4162425"/>
                  </a:lnTo>
                  <a:lnTo>
                    <a:pt x="5220271" y="4171950"/>
                  </a:lnTo>
                  <a:lnTo>
                    <a:pt x="5248846" y="4171950"/>
                  </a:lnTo>
                  <a:lnTo>
                    <a:pt x="5248846" y="4162425"/>
                  </a:lnTo>
                  <a:close/>
                </a:path>
                <a:path w="6248400" h="4171950">
                  <a:moveTo>
                    <a:pt x="5291125" y="0"/>
                  </a:moveTo>
                  <a:lnTo>
                    <a:pt x="5262550" y="0"/>
                  </a:lnTo>
                  <a:lnTo>
                    <a:pt x="5262550" y="9525"/>
                  </a:lnTo>
                  <a:lnTo>
                    <a:pt x="5291125" y="9525"/>
                  </a:lnTo>
                  <a:lnTo>
                    <a:pt x="5291125" y="0"/>
                  </a:lnTo>
                  <a:close/>
                </a:path>
                <a:path w="6248400" h="4171950">
                  <a:moveTo>
                    <a:pt x="5296420" y="4162425"/>
                  </a:moveTo>
                  <a:lnTo>
                    <a:pt x="5267845" y="4162425"/>
                  </a:lnTo>
                  <a:lnTo>
                    <a:pt x="5267845" y="4171950"/>
                  </a:lnTo>
                  <a:lnTo>
                    <a:pt x="5296420" y="4171950"/>
                  </a:lnTo>
                  <a:lnTo>
                    <a:pt x="5296420" y="4162425"/>
                  </a:lnTo>
                  <a:close/>
                </a:path>
                <a:path w="6248400" h="4171950">
                  <a:moveTo>
                    <a:pt x="5338699" y="0"/>
                  </a:moveTo>
                  <a:lnTo>
                    <a:pt x="5310124" y="0"/>
                  </a:lnTo>
                  <a:lnTo>
                    <a:pt x="5310124" y="9525"/>
                  </a:lnTo>
                  <a:lnTo>
                    <a:pt x="5338699" y="9525"/>
                  </a:lnTo>
                  <a:lnTo>
                    <a:pt x="5338699" y="0"/>
                  </a:lnTo>
                  <a:close/>
                </a:path>
                <a:path w="6248400" h="4171950">
                  <a:moveTo>
                    <a:pt x="5344007" y="4162425"/>
                  </a:moveTo>
                  <a:lnTo>
                    <a:pt x="5315432" y="4162425"/>
                  </a:lnTo>
                  <a:lnTo>
                    <a:pt x="5315432" y="4171950"/>
                  </a:lnTo>
                  <a:lnTo>
                    <a:pt x="5344007" y="4171950"/>
                  </a:lnTo>
                  <a:lnTo>
                    <a:pt x="5344007" y="4162425"/>
                  </a:lnTo>
                  <a:close/>
                </a:path>
                <a:path w="6248400" h="4171950">
                  <a:moveTo>
                    <a:pt x="5386286" y="0"/>
                  </a:moveTo>
                  <a:lnTo>
                    <a:pt x="5357711" y="0"/>
                  </a:lnTo>
                  <a:lnTo>
                    <a:pt x="5357711" y="9525"/>
                  </a:lnTo>
                  <a:lnTo>
                    <a:pt x="5386286" y="9525"/>
                  </a:lnTo>
                  <a:lnTo>
                    <a:pt x="5386286" y="0"/>
                  </a:lnTo>
                  <a:close/>
                </a:path>
                <a:path w="6248400" h="4171950">
                  <a:moveTo>
                    <a:pt x="5391582" y="4162425"/>
                  </a:moveTo>
                  <a:lnTo>
                    <a:pt x="5363007" y="4162425"/>
                  </a:lnTo>
                  <a:lnTo>
                    <a:pt x="5363007" y="4171950"/>
                  </a:lnTo>
                  <a:lnTo>
                    <a:pt x="5391582" y="4171950"/>
                  </a:lnTo>
                  <a:lnTo>
                    <a:pt x="5391582" y="4162425"/>
                  </a:lnTo>
                  <a:close/>
                </a:path>
                <a:path w="6248400" h="4171950">
                  <a:moveTo>
                    <a:pt x="5433860" y="0"/>
                  </a:moveTo>
                  <a:lnTo>
                    <a:pt x="5405285" y="0"/>
                  </a:lnTo>
                  <a:lnTo>
                    <a:pt x="5405285" y="9525"/>
                  </a:lnTo>
                  <a:lnTo>
                    <a:pt x="5433860" y="9525"/>
                  </a:lnTo>
                  <a:lnTo>
                    <a:pt x="5433860" y="0"/>
                  </a:lnTo>
                  <a:close/>
                </a:path>
                <a:path w="6248400" h="4171950">
                  <a:moveTo>
                    <a:pt x="5439168" y="4162425"/>
                  </a:moveTo>
                  <a:lnTo>
                    <a:pt x="5410593" y="4162425"/>
                  </a:lnTo>
                  <a:lnTo>
                    <a:pt x="5410593" y="4171950"/>
                  </a:lnTo>
                  <a:lnTo>
                    <a:pt x="5439168" y="4171950"/>
                  </a:lnTo>
                  <a:lnTo>
                    <a:pt x="5439168" y="4162425"/>
                  </a:lnTo>
                  <a:close/>
                </a:path>
                <a:path w="6248400" h="4171950">
                  <a:moveTo>
                    <a:pt x="5481447" y="0"/>
                  </a:moveTo>
                  <a:lnTo>
                    <a:pt x="5452872" y="0"/>
                  </a:lnTo>
                  <a:lnTo>
                    <a:pt x="5452872" y="9525"/>
                  </a:lnTo>
                  <a:lnTo>
                    <a:pt x="5481447" y="9525"/>
                  </a:lnTo>
                  <a:lnTo>
                    <a:pt x="5481447" y="0"/>
                  </a:lnTo>
                  <a:close/>
                </a:path>
                <a:path w="6248400" h="4171950">
                  <a:moveTo>
                    <a:pt x="5486743" y="4162425"/>
                  </a:moveTo>
                  <a:lnTo>
                    <a:pt x="5458168" y="4162425"/>
                  </a:lnTo>
                  <a:lnTo>
                    <a:pt x="5458168" y="4171950"/>
                  </a:lnTo>
                  <a:lnTo>
                    <a:pt x="5486743" y="4171950"/>
                  </a:lnTo>
                  <a:lnTo>
                    <a:pt x="5486743" y="4162425"/>
                  </a:lnTo>
                  <a:close/>
                </a:path>
                <a:path w="6248400" h="4171950">
                  <a:moveTo>
                    <a:pt x="5529021" y="0"/>
                  </a:moveTo>
                  <a:lnTo>
                    <a:pt x="5500446" y="0"/>
                  </a:lnTo>
                  <a:lnTo>
                    <a:pt x="5500446" y="9525"/>
                  </a:lnTo>
                  <a:lnTo>
                    <a:pt x="5529021" y="9525"/>
                  </a:lnTo>
                  <a:lnTo>
                    <a:pt x="5529021" y="0"/>
                  </a:lnTo>
                  <a:close/>
                </a:path>
                <a:path w="6248400" h="4171950">
                  <a:moveTo>
                    <a:pt x="5534330" y="4162425"/>
                  </a:moveTo>
                  <a:lnTo>
                    <a:pt x="5505755" y="4162425"/>
                  </a:lnTo>
                  <a:lnTo>
                    <a:pt x="5505755" y="4171950"/>
                  </a:lnTo>
                  <a:lnTo>
                    <a:pt x="5534330" y="4171950"/>
                  </a:lnTo>
                  <a:lnTo>
                    <a:pt x="5534330" y="4162425"/>
                  </a:lnTo>
                  <a:close/>
                </a:path>
                <a:path w="6248400" h="4171950">
                  <a:moveTo>
                    <a:pt x="5576608" y="0"/>
                  </a:moveTo>
                  <a:lnTo>
                    <a:pt x="5548033" y="0"/>
                  </a:lnTo>
                  <a:lnTo>
                    <a:pt x="5548033" y="9525"/>
                  </a:lnTo>
                  <a:lnTo>
                    <a:pt x="5576608" y="9525"/>
                  </a:lnTo>
                  <a:lnTo>
                    <a:pt x="5576608" y="0"/>
                  </a:lnTo>
                  <a:close/>
                </a:path>
                <a:path w="6248400" h="4171950">
                  <a:moveTo>
                    <a:pt x="5581916" y="4162425"/>
                  </a:moveTo>
                  <a:lnTo>
                    <a:pt x="5553341" y="4162425"/>
                  </a:lnTo>
                  <a:lnTo>
                    <a:pt x="5553341" y="4171950"/>
                  </a:lnTo>
                  <a:lnTo>
                    <a:pt x="5581916" y="4171950"/>
                  </a:lnTo>
                  <a:lnTo>
                    <a:pt x="5581916" y="4162425"/>
                  </a:lnTo>
                  <a:close/>
                </a:path>
                <a:path w="6248400" h="4171950">
                  <a:moveTo>
                    <a:pt x="5624182" y="0"/>
                  </a:moveTo>
                  <a:lnTo>
                    <a:pt x="5595607" y="0"/>
                  </a:lnTo>
                  <a:lnTo>
                    <a:pt x="5595607" y="9525"/>
                  </a:lnTo>
                  <a:lnTo>
                    <a:pt x="5624182" y="9525"/>
                  </a:lnTo>
                  <a:lnTo>
                    <a:pt x="5624182" y="0"/>
                  </a:lnTo>
                  <a:close/>
                </a:path>
                <a:path w="6248400" h="4171950">
                  <a:moveTo>
                    <a:pt x="5629491" y="4162425"/>
                  </a:moveTo>
                  <a:lnTo>
                    <a:pt x="5600916" y="4162425"/>
                  </a:lnTo>
                  <a:lnTo>
                    <a:pt x="5600916" y="4171950"/>
                  </a:lnTo>
                  <a:lnTo>
                    <a:pt x="5629491" y="4171950"/>
                  </a:lnTo>
                  <a:lnTo>
                    <a:pt x="5629491" y="4162425"/>
                  </a:lnTo>
                  <a:close/>
                </a:path>
                <a:path w="6248400" h="4171950">
                  <a:moveTo>
                    <a:pt x="5671769" y="0"/>
                  </a:moveTo>
                  <a:lnTo>
                    <a:pt x="5643194" y="0"/>
                  </a:lnTo>
                  <a:lnTo>
                    <a:pt x="5643194" y="9525"/>
                  </a:lnTo>
                  <a:lnTo>
                    <a:pt x="5671769" y="9525"/>
                  </a:lnTo>
                  <a:lnTo>
                    <a:pt x="5671769" y="0"/>
                  </a:lnTo>
                  <a:close/>
                </a:path>
                <a:path w="6248400" h="4171950">
                  <a:moveTo>
                    <a:pt x="5677078" y="4162425"/>
                  </a:moveTo>
                  <a:lnTo>
                    <a:pt x="5648503" y="4162425"/>
                  </a:lnTo>
                  <a:lnTo>
                    <a:pt x="5648503" y="4171950"/>
                  </a:lnTo>
                  <a:lnTo>
                    <a:pt x="5677078" y="4171950"/>
                  </a:lnTo>
                  <a:lnTo>
                    <a:pt x="5677078" y="4162425"/>
                  </a:lnTo>
                  <a:close/>
                </a:path>
                <a:path w="6248400" h="4171950">
                  <a:moveTo>
                    <a:pt x="5719356" y="0"/>
                  </a:moveTo>
                  <a:lnTo>
                    <a:pt x="5690781" y="0"/>
                  </a:lnTo>
                  <a:lnTo>
                    <a:pt x="5690781" y="9525"/>
                  </a:lnTo>
                  <a:lnTo>
                    <a:pt x="5719356" y="9525"/>
                  </a:lnTo>
                  <a:lnTo>
                    <a:pt x="5719356" y="0"/>
                  </a:lnTo>
                  <a:close/>
                </a:path>
                <a:path w="6248400" h="4171950">
                  <a:moveTo>
                    <a:pt x="5724652" y="4162425"/>
                  </a:moveTo>
                  <a:lnTo>
                    <a:pt x="5696077" y="4162425"/>
                  </a:lnTo>
                  <a:lnTo>
                    <a:pt x="5696077" y="4171950"/>
                  </a:lnTo>
                  <a:lnTo>
                    <a:pt x="5724652" y="4171950"/>
                  </a:lnTo>
                  <a:lnTo>
                    <a:pt x="5724652" y="4162425"/>
                  </a:lnTo>
                  <a:close/>
                </a:path>
                <a:path w="6248400" h="4171950">
                  <a:moveTo>
                    <a:pt x="5766930" y="0"/>
                  </a:moveTo>
                  <a:lnTo>
                    <a:pt x="5738355" y="0"/>
                  </a:lnTo>
                  <a:lnTo>
                    <a:pt x="5738355" y="9525"/>
                  </a:lnTo>
                  <a:lnTo>
                    <a:pt x="5766930" y="9525"/>
                  </a:lnTo>
                  <a:lnTo>
                    <a:pt x="5766930" y="0"/>
                  </a:lnTo>
                  <a:close/>
                </a:path>
                <a:path w="6248400" h="4171950">
                  <a:moveTo>
                    <a:pt x="5772239" y="4162425"/>
                  </a:moveTo>
                  <a:lnTo>
                    <a:pt x="5743664" y="4162425"/>
                  </a:lnTo>
                  <a:lnTo>
                    <a:pt x="5743664" y="4171950"/>
                  </a:lnTo>
                  <a:lnTo>
                    <a:pt x="5772239" y="4171950"/>
                  </a:lnTo>
                  <a:lnTo>
                    <a:pt x="5772239" y="4162425"/>
                  </a:lnTo>
                  <a:close/>
                </a:path>
                <a:path w="6248400" h="4171950">
                  <a:moveTo>
                    <a:pt x="5814517" y="0"/>
                  </a:moveTo>
                  <a:lnTo>
                    <a:pt x="5785942" y="0"/>
                  </a:lnTo>
                  <a:lnTo>
                    <a:pt x="5785942" y="9525"/>
                  </a:lnTo>
                  <a:lnTo>
                    <a:pt x="5814517" y="9525"/>
                  </a:lnTo>
                  <a:lnTo>
                    <a:pt x="5814517" y="0"/>
                  </a:lnTo>
                  <a:close/>
                </a:path>
                <a:path w="6248400" h="4171950">
                  <a:moveTo>
                    <a:pt x="5819813" y="4162425"/>
                  </a:moveTo>
                  <a:lnTo>
                    <a:pt x="5791238" y="4162425"/>
                  </a:lnTo>
                  <a:lnTo>
                    <a:pt x="5791238" y="4171950"/>
                  </a:lnTo>
                  <a:lnTo>
                    <a:pt x="5819813" y="4171950"/>
                  </a:lnTo>
                  <a:lnTo>
                    <a:pt x="5819813" y="4162425"/>
                  </a:lnTo>
                  <a:close/>
                </a:path>
                <a:path w="6248400" h="4171950">
                  <a:moveTo>
                    <a:pt x="5862091" y="0"/>
                  </a:moveTo>
                  <a:lnTo>
                    <a:pt x="5833516" y="0"/>
                  </a:lnTo>
                  <a:lnTo>
                    <a:pt x="5833516" y="9525"/>
                  </a:lnTo>
                  <a:lnTo>
                    <a:pt x="5862091" y="9525"/>
                  </a:lnTo>
                  <a:lnTo>
                    <a:pt x="5862091" y="0"/>
                  </a:lnTo>
                  <a:close/>
                </a:path>
                <a:path w="6248400" h="4171950">
                  <a:moveTo>
                    <a:pt x="5867400" y="4162425"/>
                  </a:moveTo>
                  <a:lnTo>
                    <a:pt x="5838825" y="4162425"/>
                  </a:lnTo>
                  <a:lnTo>
                    <a:pt x="5838825" y="4171950"/>
                  </a:lnTo>
                  <a:lnTo>
                    <a:pt x="5867400" y="4171950"/>
                  </a:lnTo>
                  <a:lnTo>
                    <a:pt x="5867400" y="4162425"/>
                  </a:lnTo>
                  <a:close/>
                </a:path>
                <a:path w="6248400" h="4171950">
                  <a:moveTo>
                    <a:pt x="5909678" y="0"/>
                  </a:moveTo>
                  <a:lnTo>
                    <a:pt x="5881103" y="0"/>
                  </a:lnTo>
                  <a:lnTo>
                    <a:pt x="5881103" y="9525"/>
                  </a:lnTo>
                  <a:lnTo>
                    <a:pt x="5909678" y="9525"/>
                  </a:lnTo>
                  <a:lnTo>
                    <a:pt x="5909678" y="0"/>
                  </a:lnTo>
                  <a:close/>
                </a:path>
                <a:path w="6248400" h="4171950">
                  <a:moveTo>
                    <a:pt x="5914974" y="4162425"/>
                  </a:moveTo>
                  <a:lnTo>
                    <a:pt x="5886399" y="4162425"/>
                  </a:lnTo>
                  <a:lnTo>
                    <a:pt x="5886399" y="4171950"/>
                  </a:lnTo>
                  <a:lnTo>
                    <a:pt x="5914974" y="4171950"/>
                  </a:lnTo>
                  <a:lnTo>
                    <a:pt x="5914974" y="4162425"/>
                  </a:lnTo>
                  <a:close/>
                </a:path>
                <a:path w="6248400" h="4171950">
                  <a:moveTo>
                    <a:pt x="5957252" y="0"/>
                  </a:moveTo>
                  <a:lnTo>
                    <a:pt x="5928677" y="0"/>
                  </a:lnTo>
                  <a:lnTo>
                    <a:pt x="5928677" y="9525"/>
                  </a:lnTo>
                  <a:lnTo>
                    <a:pt x="5957252" y="9525"/>
                  </a:lnTo>
                  <a:lnTo>
                    <a:pt x="5957252" y="0"/>
                  </a:lnTo>
                  <a:close/>
                </a:path>
                <a:path w="6248400" h="4171950">
                  <a:moveTo>
                    <a:pt x="5962561" y="4162425"/>
                  </a:moveTo>
                  <a:lnTo>
                    <a:pt x="5933986" y="4162425"/>
                  </a:lnTo>
                  <a:lnTo>
                    <a:pt x="5933986" y="4171950"/>
                  </a:lnTo>
                  <a:lnTo>
                    <a:pt x="5962561" y="4171950"/>
                  </a:lnTo>
                  <a:lnTo>
                    <a:pt x="5962561" y="4162425"/>
                  </a:lnTo>
                  <a:close/>
                </a:path>
                <a:path w="6248400" h="4171950">
                  <a:moveTo>
                    <a:pt x="6004839" y="0"/>
                  </a:moveTo>
                  <a:lnTo>
                    <a:pt x="5976264" y="0"/>
                  </a:lnTo>
                  <a:lnTo>
                    <a:pt x="5976264" y="9525"/>
                  </a:lnTo>
                  <a:lnTo>
                    <a:pt x="6004839" y="9525"/>
                  </a:lnTo>
                  <a:lnTo>
                    <a:pt x="6004839" y="0"/>
                  </a:lnTo>
                  <a:close/>
                </a:path>
                <a:path w="6248400" h="4171950">
                  <a:moveTo>
                    <a:pt x="6010135" y="4162425"/>
                  </a:moveTo>
                  <a:lnTo>
                    <a:pt x="5981560" y="4162425"/>
                  </a:lnTo>
                  <a:lnTo>
                    <a:pt x="5981560" y="4171950"/>
                  </a:lnTo>
                  <a:lnTo>
                    <a:pt x="6010135" y="4171950"/>
                  </a:lnTo>
                  <a:lnTo>
                    <a:pt x="6010135" y="4162425"/>
                  </a:lnTo>
                  <a:close/>
                </a:path>
                <a:path w="6248400" h="4171950">
                  <a:moveTo>
                    <a:pt x="6052413" y="0"/>
                  </a:moveTo>
                  <a:lnTo>
                    <a:pt x="6023838" y="0"/>
                  </a:lnTo>
                  <a:lnTo>
                    <a:pt x="6023838" y="9525"/>
                  </a:lnTo>
                  <a:lnTo>
                    <a:pt x="6052413" y="9525"/>
                  </a:lnTo>
                  <a:lnTo>
                    <a:pt x="6052413" y="0"/>
                  </a:lnTo>
                  <a:close/>
                </a:path>
                <a:path w="6248400" h="4171950">
                  <a:moveTo>
                    <a:pt x="6057722" y="4162425"/>
                  </a:moveTo>
                  <a:lnTo>
                    <a:pt x="6029147" y="4162425"/>
                  </a:lnTo>
                  <a:lnTo>
                    <a:pt x="6029147" y="4171950"/>
                  </a:lnTo>
                  <a:lnTo>
                    <a:pt x="6057722" y="4171950"/>
                  </a:lnTo>
                  <a:lnTo>
                    <a:pt x="6057722" y="4162425"/>
                  </a:lnTo>
                  <a:close/>
                </a:path>
                <a:path w="6248400" h="4171950">
                  <a:moveTo>
                    <a:pt x="6100000" y="0"/>
                  </a:moveTo>
                  <a:lnTo>
                    <a:pt x="6071425" y="0"/>
                  </a:lnTo>
                  <a:lnTo>
                    <a:pt x="6071425" y="9525"/>
                  </a:lnTo>
                  <a:lnTo>
                    <a:pt x="6100000" y="9525"/>
                  </a:lnTo>
                  <a:lnTo>
                    <a:pt x="6100000" y="0"/>
                  </a:lnTo>
                  <a:close/>
                </a:path>
                <a:path w="6248400" h="4171950">
                  <a:moveTo>
                    <a:pt x="6105309" y="4162425"/>
                  </a:moveTo>
                  <a:lnTo>
                    <a:pt x="6076734" y="4162425"/>
                  </a:lnTo>
                  <a:lnTo>
                    <a:pt x="6076734" y="4171950"/>
                  </a:lnTo>
                  <a:lnTo>
                    <a:pt x="6105309" y="4171950"/>
                  </a:lnTo>
                  <a:lnTo>
                    <a:pt x="6105309" y="4162425"/>
                  </a:lnTo>
                  <a:close/>
                </a:path>
                <a:path w="6248400" h="4171950">
                  <a:moveTo>
                    <a:pt x="6147587" y="0"/>
                  </a:moveTo>
                  <a:lnTo>
                    <a:pt x="6119012" y="0"/>
                  </a:lnTo>
                  <a:lnTo>
                    <a:pt x="6119012" y="9525"/>
                  </a:lnTo>
                  <a:lnTo>
                    <a:pt x="6147587" y="9525"/>
                  </a:lnTo>
                  <a:lnTo>
                    <a:pt x="6147587" y="0"/>
                  </a:lnTo>
                  <a:close/>
                </a:path>
                <a:path w="6248400" h="4171950">
                  <a:moveTo>
                    <a:pt x="6152883" y="4162425"/>
                  </a:moveTo>
                  <a:lnTo>
                    <a:pt x="6124308" y="4162425"/>
                  </a:lnTo>
                  <a:lnTo>
                    <a:pt x="6124308" y="4171950"/>
                  </a:lnTo>
                  <a:lnTo>
                    <a:pt x="6152883" y="4171950"/>
                  </a:lnTo>
                  <a:lnTo>
                    <a:pt x="6152883" y="4162425"/>
                  </a:lnTo>
                  <a:close/>
                </a:path>
                <a:path w="6248400" h="4171950">
                  <a:moveTo>
                    <a:pt x="6194704" y="3416"/>
                  </a:moveTo>
                  <a:lnTo>
                    <a:pt x="6194285" y="3263"/>
                  </a:lnTo>
                  <a:lnTo>
                    <a:pt x="6187059" y="1460"/>
                  </a:lnTo>
                  <a:lnTo>
                    <a:pt x="6179705" y="368"/>
                  </a:lnTo>
                  <a:lnTo>
                    <a:pt x="6172200" y="0"/>
                  </a:lnTo>
                  <a:lnTo>
                    <a:pt x="6166586" y="0"/>
                  </a:lnTo>
                  <a:lnTo>
                    <a:pt x="6166586" y="9525"/>
                  </a:lnTo>
                  <a:lnTo>
                    <a:pt x="6172187" y="9525"/>
                  </a:lnTo>
                  <a:lnTo>
                    <a:pt x="6178766" y="9842"/>
                  </a:lnTo>
                  <a:lnTo>
                    <a:pt x="6185205" y="10795"/>
                  </a:lnTo>
                  <a:lnTo>
                    <a:pt x="6191516" y="12382"/>
                  </a:lnTo>
                  <a:lnTo>
                    <a:pt x="6191885" y="12522"/>
                  </a:lnTo>
                  <a:lnTo>
                    <a:pt x="6191936" y="12382"/>
                  </a:lnTo>
                  <a:lnTo>
                    <a:pt x="6194704" y="3416"/>
                  </a:lnTo>
                  <a:close/>
                </a:path>
                <a:path w="6248400" h="4171950">
                  <a:moveTo>
                    <a:pt x="6199949" y="4166666"/>
                  </a:moveTo>
                  <a:lnTo>
                    <a:pt x="6196469" y="4157802"/>
                  </a:lnTo>
                  <a:lnTo>
                    <a:pt x="6191516" y="4159580"/>
                  </a:lnTo>
                  <a:lnTo>
                    <a:pt x="6185205" y="4161167"/>
                  </a:lnTo>
                  <a:lnTo>
                    <a:pt x="6178766" y="4162107"/>
                  </a:lnTo>
                  <a:lnTo>
                    <a:pt x="6172187" y="4162425"/>
                  </a:lnTo>
                  <a:lnTo>
                    <a:pt x="6171895" y="4162425"/>
                  </a:lnTo>
                  <a:lnTo>
                    <a:pt x="6171895" y="4171950"/>
                  </a:lnTo>
                  <a:lnTo>
                    <a:pt x="6172200" y="4171950"/>
                  </a:lnTo>
                  <a:lnTo>
                    <a:pt x="6179705" y="4171594"/>
                  </a:lnTo>
                  <a:lnTo>
                    <a:pt x="6187059" y="4170502"/>
                  </a:lnTo>
                  <a:lnTo>
                    <a:pt x="6194285" y="4168698"/>
                  </a:lnTo>
                  <a:lnTo>
                    <a:pt x="6199949" y="4166666"/>
                  </a:lnTo>
                  <a:close/>
                </a:path>
                <a:path w="6248400" h="4171950">
                  <a:moveTo>
                    <a:pt x="6233388" y="30924"/>
                  </a:moveTo>
                  <a:lnTo>
                    <a:pt x="6212116" y="11391"/>
                  </a:lnTo>
                  <a:lnTo>
                    <a:pt x="6207125" y="19494"/>
                  </a:lnTo>
                  <a:lnTo>
                    <a:pt x="6209246" y="20751"/>
                  </a:lnTo>
                  <a:lnTo>
                    <a:pt x="6214465" y="24638"/>
                  </a:lnTo>
                  <a:lnTo>
                    <a:pt x="6219342" y="29057"/>
                  </a:lnTo>
                  <a:lnTo>
                    <a:pt x="6223762" y="33934"/>
                  </a:lnTo>
                  <a:lnTo>
                    <a:pt x="6225730" y="36588"/>
                  </a:lnTo>
                  <a:lnTo>
                    <a:pt x="6233388" y="30924"/>
                  </a:lnTo>
                  <a:close/>
                </a:path>
                <a:path w="6248400" h="4171950">
                  <a:moveTo>
                    <a:pt x="6236436" y="4136631"/>
                  </a:moveTo>
                  <a:lnTo>
                    <a:pt x="6228410" y="4131513"/>
                  </a:lnTo>
                  <a:lnTo>
                    <a:pt x="6227648" y="4132808"/>
                  </a:lnTo>
                  <a:lnTo>
                    <a:pt x="6223762" y="4138028"/>
                  </a:lnTo>
                  <a:lnTo>
                    <a:pt x="6219342" y="4142905"/>
                  </a:lnTo>
                  <a:lnTo>
                    <a:pt x="6214465" y="4147324"/>
                  </a:lnTo>
                  <a:lnTo>
                    <a:pt x="6211036" y="4149877"/>
                  </a:lnTo>
                  <a:lnTo>
                    <a:pt x="6216586" y="4157599"/>
                  </a:lnTo>
                  <a:lnTo>
                    <a:pt x="6220511" y="4154690"/>
                  </a:lnTo>
                  <a:lnTo>
                    <a:pt x="6226073" y="4149636"/>
                  </a:lnTo>
                  <a:lnTo>
                    <a:pt x="6231128" y="4144073"/>
                  </a:lnTo>
                  <a:lnTo>
                    <a:pt x="6235598" y="4138028"/>
                  </a:lnTo>
                  <a:lnTo>
                    <a:pt x="6236436" y="4136631"/>
                  </a:lnTo>
                  <a:close/>
                </a:path>
                <a:path w="6248400" h="4171950">
                  <a:moveTo>
                    <a:pt x="6248362" y="75463"/>
                  </a:moveTo>
                  <a:lnTo>
                    <a:pt x="6248031" y="68694"/>
                  </a:lnTo>
                  <a:lnTo>
                    <a:pt x="6246939" y="61341"/>
                  </a:lnTo>
                  <a:lnTo>
                    <a:pt x="6245123" y="54114"/>
                  </a:lnTo>
                  <a:lnTo>
                    <a:pt x="6242723" y="47421"/>
                  </a:lnTo>
                  <a:lnTo>
                    <a:pt x="6233909" y="51028"/>
                  </a:lnTo>
                  <a:lnTo>
                    <a:pt x="6236017" y="56883"/>
                  </a:lnTo>
                  <a:lnTo>
                    <a:pt x="6237605" y="63195"/>
                  </a:lnTo>
                  <a:lnTo>
                    <a:pt x="6238557" y="69634"/>
                  </a:lnTo>
                  <a:lnTo>
                    <a:pt x="6238837" y="75463"/>
                  </a:lnTo>
                  <a:lnTo>
                    <a:pt x="6248362" y="75463"/>
                  </a:lnTo>
                  <a:close/>
                </a:path>
                <a:path w="6248400" h="4171950">
                  <a:moveTo>
                    <a:pt x="6248387" y="4091241"/>
                  </a:moveTo>
                  <a:lnTo>
                    <a:pt x="6238862" y="4091241"/>
                  </a:lnTo>
                  <a:lnTo>
                    <a:pt x="6238862" y="4095750"/>
                  </a:lnTo>
                  <a:lnTo>
                    <a:pt x="6238557" y="4102328"/>
                  </a:lnTo>
                  <a:lnTo>
                    <a:pt x="6237605" y="4108767"/>
                  </a:lnTo>
                  <a:lnTo>
                    <a:pt x="6236017" y="4115079"/>
                  </a:lnTo>
                  <a:lnTo>
                    <a:pt x="6235547" y="4116387"/>
                  </a:lnTo>
                  <a:lnTo>
                    <a:pt x="6244590" y="4119334"/>
                  </a:lnTo>
                  <a:lnTo>
                    <a:pt x="6248387" y="4095750"/>
                  </a:lnTo>
                  <a:lnTo>
                    <a:pt x="6248387" y="4091241"/>
                  </a:lnTo>
                  <a:close/>
                </a:path>
                <a:path w="6248400" h="4171950">
                  <a:moveTo>
                    <a:pt x="6248387" y="4043667"/>
                  </a:moveTo>
                  <a:lnTo>
                    <a:pt x="6238862" y="4043667"/>
                  </a:lnTo>
                  <a:lnTo>
                    <a:pt x="6238862" y="4072242"/>
                  </a:lnTo>
                  <a:lnTo>
                    <a:pt x="6248387" y="4072242"/>
                  </a:lnTo>
                  <a:lnTo>
                    <a:pt x="6248387" y="4043667"/>
                  </a:lnTo>
                  <a:close/>
                </a:path>
                <a:path w="6248400" h="4171950">
                  <a:moveTo>
                    <a:pt x="6248387" y="3996080"/>
                  </a:moveTo>
                  <a:lnTo>
                    <a:pt x="6238862" y="3996080"/>
                  </a:lnTo>
                  <a:lnTo>
                    <a:pt x="6238862" y="4024655"/>
                  </a:lnTo>
                  <a:lnTo>
                    <a:pt x="6248387" y="4024655"/>
                  </a:lnTo>
                  <a:lnTo>
                    <a:pt x="6248387" y="3996080"/>
                  </a:lnTo>
                  <a:close/>
                </a:path>
                <a:path w="6248400" h="4171950">
                  <a:moveTo>
                    <a:pt x="6248387" y="3948493"/>
                  </a:moveTo>
                  <a:lnTo>
                    <a:pt x="6238862" y="3948493"/>
                  </a:lnTo>
                  <a:lnTo>
                    <a:pt x="6238862" y="3977068"/>
                  </a:lnTo>
                  <a:lnTo>
                    <a:pt x="6248387" y="3977068"/>
                  </a:lnTo>
                  <a:lnTo>
                    <a:pt x="6248387" y="3948493"/>
                  </a:lnTo>
                  <a:close/>
                </a:path>
                <a:path w="6248400" h="4171950">
                  <a:moveTo>
                    <a:pt x="6248387" y="3900919"/>
                  </a:moveTo>
                  <a:lnTo>
                    <a:pt x="6238862" y="3900919"/>
                  </a:lnTo>
                  <a:lnTo>
                    <a:pt x="6238862" y="3929494"/>
                  </a:lnTo>
                  <a:lnTo>
                    <a:pt x="6248387" y="3929494"/>
                  </a:lnTo>
                  <a:lnTo>
                    <a:pt x="6248387" y="3900919"/>
                  </a:lnTo>
                  <a:close/>
                </a:path>
                <a:path w="6248400" h="4171950">
                  <a:moveTo>
                    <a:pt x="6248387" y="3853332"/>
                  </a:moveTo>
                  <a:lnTo>
                    <a:pt x="6238862" y="3853332"/>
                  </a:lnTo>
                  <a:lnTo>
                    <a:pt x="6238862" y="3881907"/>
                  </a:lnTo>
                  <a:lnTo>
                    <a:pt x="6248387" y="3881907"/>
                  </a:lnTo>
                  <a:lnTo>
                    <a:pt x="6248387" y="3853332"/>
                  </a:lnTo>
                  <a:close/>
                </a:path>
                <a:path w="6248400" h="4171950">
                  <a:moveTo>
                    <a:pt x="6248387" y="3805758"/>
                  </a:moveTo>
                  <a:lnTo>
                    <a:pt x="6238862" y="3805758"/>
                  </a:lnTo>
                  <a:lnTo>
                    <a:pt x="6238862" y="3834333"/>
                  </a:lnTo>
                  <a:lnTo>
                    <a:pt x="6248387" y="3834333"/>
                  </a:lnTo>
                  <a:lnTo>
                    <a:pt x="6248387" y="3805758"/>
                  </a:lnTo>
                  <a:close/>
                </a:path>
                <a:path w="6248400" h="4171950">
                  <a:moveTo>
                    <a:pt x="6248387" y="3758171"/>
                  </a:moveTo>
                  <a:lnTo>
                    <a:pt x="6238862" y="3758171"/>
                  </a:lnTo>
                  <a:lnTo>
                    <a:pt x="6238862" y="3786746"/>
                  </a:lnTo>
                  <a:lnTo>
                    <a:pt x="6248387" y="3786746"/>
                  </a:lnTo>
                  <a:lnTo>
                    <a:pt x="6248387" y="3758171"/>
                  </a:lnTo>
                  <a:close/>
                </a:path>
                <a:path w="6248400" h="4171950">
                  <a:moveTo>
                    <a:pt x="6248387" y="3710597"/>
                  </a:moveTo>
                  <a:lnTo>
                    <a:pt x="6238862" y="3710597"/>
                  </a:lnTo>
                  <a:lnTo>
                    <a:pt x="6238862" y="3739172"/>
                  </a:lnTo>
                  <a:lnTo>
                    <a:pt x="6248387" y="3739172"/>
                  </a:lnTo>
                  <a:lnTo>
                    <a:pt x="6248387" y="3710597"/>
                  </a:lnTo>
                  <a:close/>
                </a:path>
                <a:path w="6248400" h="4171950">
                  <a:moveTo>
                    <a:pt x="6248387" y="3663010"/>
                  </a:moveTo>
                  <a:lnTo>
                    <a:pt x="6238862" y="3663010"/>
                  </a:lnTo>
                  <a:lnTo>
                    <a:pt x="6238862" y="3691585"/>
                  </a:lnTo>
                  <a:lnTo>
                    <a:pt x="6248387" y="3691585"/>
                  </a:lnTo>
                  <a:lnTo>
                    <a:pt x="6248387" y="3663010"/>
                  </a:lnTo>
                  <a:close/>
                </a:path>
                <a:path w="6248400" h="4171950">
                  <a:moveTo>
                    <a:pt x="6248387" y="3615436"/>
                  </a:moveTo>
                  <a:lnTo>
                    <a:pt x="6238862" y="3615436"/>
                  </a:lnTo>
                  <a:lnTo>
                    <a:pt x="6238862" y="3644011"/>
                  </a:lnTo>
                  <a:lnTo>
                    <a:pt x="6248387" y="3644011"/>
                  </a:lnTo>
                  <a:lnTo>
                    <a:pt x="6248387" y="3615436"/>
                  </a:lnTo>
                  <a:close/>
                </a:path>
                <a:path w="6248400" h="4171950">
                  <a:moveTo>
                    <a:pt x="6248387" y="3567849"/>
                  </a:moveTo>
                  <a:lnTo>
                    <a:pt x="6238862" y="3567849"/>
                  </a:lnTo>
                  <a:lnTo>
                    <a:pt x="6238862" y="3596424"/>
                  </a:lnTo>
                  <a:lnTo>
                    <a:pt x="6248387" y="3596424"/>
                  </a:lnTo>
                  <a:lnTo>
                    <a:pt x="6248387" y="3567849"/>
                  </a:lnTo>
                  <a:close/>
                </a:path>
                <a:path w="6248400" h="4171950">
                  <a:moveTo>
                    <a:pt x="6248387" y="3520262"/>
                  </a:moveTo>
                  <a:lnTo>
                    <a:pt x="6238862" y="3520262"/>
                  </a:lnTo>
                  <a:lnTo>
                    <a:pt x="6238862" y="3548837"/>
                  </a:lnTo>
                  <a:lnTo>
                    <a:pt x="6248387" y="3548837"/>
                  </a:lnTo>
                  <a:lnTo>
                    <a:pt x="6248387" y="3520262"/>
                  </a:lnTo>
                  <a:close/>
                </a:path>
                <a:path w="6248400" h="4171950">
                  <a:moveTo>
                    <a:pt x="6248387" y="3472688"/>
                  </a:moveTo>
                  <a:lnTo>
                    <a:pt x="6238862" y="3472688"/>
                  </a:lnTo>
                  <a:lnTo>
                    <a:pt x="6238862" y="3501263"/>
                  </a:lnTo>
                  <a:lnTo>
                    <a:pt x="6248387" y="3501263"/>
                  </a:lnTo>
                  <a:lnTo>
                    <a:pt x="6248387" y="3472688"/>
                  </a:lnTo>
                  <a:close/>
                </a:path>
                <a:path w="6248400" h="4171950">
                  <a:moveTo>
                    <a:pt x="6248387" y="3425101"/>
                  </a:moveTo>
                  <a:lnTo>
                    <a:pt x="6238862" y="3425101"/>
                  </a:lnTo>
                  <a:lnTo>
                    <a:pt x="6238862" y="3453676"/>
                  </a:lnTo>
                  <a:lnTo>
                    <a:pt x="6248387" y="3453676"/>
                  </a:lnTo>
                  <a:lnTo>
                    <a:pt x="6248387" y="3425101"/>
                  </a:lnTo>
                  <a:close/>
                </a:path>
                <a:path w="6248400" h="4171950">
                  <a:moveTo>
                    <a:pt x="6248387" y="3377527"/>
                  </a:moveTo>
                  <a:lnTo>
                    <a:pt x="6238862" y="3377527"/>
                  </a:lnTo>
                  <a:lnTo>
                    <a:pt x="6238862" y="3406102"/>
                  </a:lnTo>
                  <a:lnTo>
                    <a:pt x="6248387" y="3406102"/>
                  </a:lnTo>
                  <a:lnTo>
                    <a:pt x="6248387" y="3377527"/>
                  </a:lnTo>
                  <a:close/>
                </a:path>
                <a:path w="6248400" h="4171950">
                  <a:moveTo>
                    <a:pt x="6248387" y="3329940"/>
                  </a:moveTo>
                  <a:lnTo>
                    <a:pt x="6238862" y="3329940"/>
                  </a:lnTo>
                  <a:lnTo>
                    <a:pt x="6238862" y="3358515"/>
                  </a:lnTo>
                  <a:lnTo>
                    <a:pt x="6248387" y="3358515"/>
                  </a:lnTo>
                  <a:lnTo>
                    <a:pt x="6248387" y="3329940"/>
                  </a:lnTo>
                  <a:close/>
                </a:path>
                <a:path w="6248400" h="4171950">
                  <a:moveTo>
                    <a:pt x="6248387" y="3282365"/>
                  </a:moveTo>
                  <a:lnTo>
                    <a:pt x="6238862" y="3282365"/>
                  </a:lnTo>
                  <a:lnTo>
                    <a:pt x="6238862" y="3310940"/>
                  </a:lnTo>
                  <a:lnTo>
                    <a:pt x="6248387" y="3310940"/>
                  </a:lnTo>
                  <a:lnTo>
                    <a:pt x="6248387" y="3282365"/>
                  </a:lnTo>
                  <a:close/>
                </a:path>
                <a:path w="6248400" h="4171950">
                  <a:moveTo>
                    <a:pt x="6248387" y="3234779"/>
                  </a:moveTo>
                  <a:lnTo>
                    <a:pt x="6238862" y="3234779"/>
                  </a:lnTo>
                  <a:lnTo>
                    <a:pt x="6238862" y="3263354"/>
                  </a:lnTo>
                  <a:lnTo>
                    <a:pt x="6248387" y="3263354"/>
                  </a:lnTo>
                  <a:lnTo>
                    <a:pt x="6248387" y="3234779"/>
                  </a:lnTo>
                  <a:close/>
                </a:path>
                <a:path w="6248400" h="4171950">
                  <a:moveTo>
                    <a:pt x="6248387" y="3187204"/>
                  </a:moveTo>
                  <a:lnTo>
                    <a:pt x="6238862" y="3187204"/>
                  </a:lnTo>
                  <a:lnTo>
                    <a:pt x="6238862" y="3215779"/>
                  </a:lnTo>
                  <a:lnTo>
                    <a:pt x="6248387" y="3215779"/>
                  </a:lnTo>
                  <a:lnTo>
                    <a:pt x="6248387" y="3187204"/>
                  </a:lnTo>
                  <a:close/>
                </a:path>
                <a:path w="6248400" h="4171950">
                  <a:moveTo>
                    <a:pt x="6248387" y="3139617"/>
                  </a:moveTo>
                  <a:lnTo>
                    <a:pt x="6238862" y="3139617"/>
                  </a:lnTo>
                  <a:lnTo>
                    <a:pt x="6238862" y="3168192"/>
                  </a:lnTo>
                  <a:lnTo>
                    <a:pt x="6248387" y="3168192"/>
                  </a:lnTo>
                  <a:lnTo>
                    <a:pt x="6248387" y="3139617"/>
                  </a:lnTo>
                  <a:close/>
                </a:path>
                <a:path w="6248400" h="4171950">
                  <a:moveTo>
                    <a:pt x="6248387" y="3092031"/>
                  </a:moveTo>
                  <a:lnTo>
                    <a:pt x="6238862" y="3092031"/>
                  </a:lnTo>
                  <a:lnTo>
                    <a:pt x="6238862" y="3120606"/>
                  </a:lnTo>
                  <a:lnTo>
                    <a:pt x="6248387" y="3120606"/>
                  </a:lnTo>
                  <a:lnTo>
                    <a:pt x="6248387" y="3092031"/>
                  </a:lnTo>
                  <a:close/>
                </a:path>
                <a:path w="6248400" h="4171950">
                  <a:moveTo>
                    <a:pt x="6248387" y="3044456"/>
                  </a:moveTo>
                  <a:lnTo>
                    <a:pt x="6238862" y="3044456"/>
                  </a:lnTo>
                  <a:lnTo>
                    <a:pt x="6238862" y="3073031"/>
                  </a:lnTo>
                  <a:lnTo>
                    <a:pt x="6248387" y="3073031"/>
                  </a:lnTo>
                  <a:lnTo>
                    <a:pt x="6248387" y="3044456"/>
                  </a:lnTo>
                  <a:close/>
                </a:path>
                <a:path w="6248400" h="4171950">
                  <a:moveTo>
                    <a:pt x="6248387" y="2996869"/>
                  </a:moveTo>
                  <a:lnTo>
                    <a:pt x="6238862" y="2996869"/>
                  </a:lnTo>
                  <a:lnTo>
                    <a:pt x="6238862" y="3025444"/>
                  </a:lnTo>
                  <a:lnTo>
                    <a:pt x="6248387" y="3025444"/>
                  </a:lnTo>
                  <a:lnTo>
                    <a:pt x="6248387" y="2996869"/>
                  </a:lnTo>
                  <a:close/>
                </a:path>
                <a:path w="6248400" h="4171950">
                  <a:moveTo>
                    <a:pt x="6248387" y="2949295"/>
                  </a:moveTo>
                  <a:lnTo>
                    <a:pt x="6238862" y="2949295"/>
                  </a:lnTo>
                  <a:lnTo>
                    <a:pt x="6238862" y="2977870"/>
                  </a:lnTo>
                  <a:lnTo>
                    <a:pt x="6248387" y="2977870"/>
                  </a:lnTo>
                  <a:lnTo>
                    <a:pt x="6248387" y="2949295"/>
                  </a:lnTo>
                  <a:close/>
                </a:path>
                <a:path w="6248400" h="4171950">
                  <a:moveTo>
                    <a:pt x="6248387" y="2901708"/>
                  </a:moveTo>
                  <a:lnTo>
                    <a:pt x="6238862" y="2901708"/>
                  </a:lnTo>
                  <a:lnTo>
                    <a:pt x="6238862" y="2930283"/>
                  </a:lnTo>
                  <a:lnTo>
                    <a:pt x="6248387" y="2930283"/>
                  </a:lnTo>
                  <a:lnTo>
                    <a:pt x="6248387" y="2901708"/>
                  </a:lnTo>
                  <a:close/>
                </a:path>
                <a:path w="6248400" h="4171950">
                  <a:moveTo>
                    <a:pt x="6248387" y="2854134"/>
                  </a:moveTo>
                  <a:lnTo>
                    <a:pt x="6238862" y="2854134"/>
                  </a:lnTo>
                  <a:lnTo>
                    <a:pt x="6238862" y="2882709"/>
                  </a:lnTo>
                  <a:lnTo>
                    <a:pt x="6248387" y="2882709"/>
                  </a:lnTo>
                  <a:lnTo>
                    <a:pt x="6248387" y="2854134"/>
                  </a:lnTo>
                  <a:close/>
                </a:path>
                <a:path w="6248400" h="4171950">
                  <a:moveTo>
                    <a:pt x="6248387" y="2806547"/>
                  </a:moveTo>
                  <a:lnTo>
                    <a:pt x="6238862" y="2806547"/>
                  </a:lnTo>
                  <a:lnTo>
                    <a:pt x="6238862" y="2835122"/>
                  </a:lnTo>
                  <a:lnTo>
                    <a:pt x="6248387" y="2835122"/>
                  </a:lnTo>
                  <a:lnTo>
                    <a:pt x="6248387" y="2806547"/>
                  </a:lnTo>
                  <a:close/>
                </a:path>
                <a:path w="6248400" h="4171950">
                  <a:moveTo>
                    <a:pt x="6248387" y="2758973"/>
                  </a:moveTo>
                  <a:lnTo>
                    <a:pt x="6238862" y="2758973"/>
                  </a:lnTo>
                  <a:lnTo>
                    <a:pt x="6238862" y="2787548"/>
                  </a:lnTo>
                  <a:lnTo>
                    <a:pt x="6248387" y="2787548"/>
                  </a:lnTo>
                  <a:lnTo>
                    <a:pt x="6248387" y="2758973"/>
                  </a:lnTo>
                  <a:close/>
                </a:path>
                <a:path w="6248400" h="4171950">
                  <a:moveTo>
                    <a:pt x="6248387" y="2711386"/>
                  </a:moveTo>
                  <a:lnTo>
                    <a:pt x="6238862" y="2711386"/>
                  </a:lnTo>
                  <a:lnTo>
                    <a:pt x="6238862" y="2739961"/>
                  </a:lnTo>
                  <a:lnTo>
                    <a:pt x="6248387" y="2739961"/>
                  </a:lnTo>
                  <a:lnTo>
                    <a:pt x="6248387" y="2711386"/>
                  </a:lnTo>
                  <a:close/>
                </a:path>
                <a:path w="6248400" h="4171950">
                  <a:moveTo>
                    <a:pt x="6248387" y="2663799"/>
                  </a:moveTo>
                  <a:lnTo>
                    <a:pt x="6238862" y="2663799"/>
                  </a:lnTo>
                  <a:lnTo>
                    <a:pt x="6238862" y="2692374"/>
                  </a:lnTo>
                  <a:lnTo>
                    <a:pt x="6248387" y="2692374"/>
                  </a:lnTo>
                  <a:lnTo>
                    <a:pt x="6248387" y="2663799"/>
                  </a:lnTo>
                  <a:close/>
                </a:path>
                <a:path w="6248400" h="4171950">
                  <a:moveTo>
                    <a:pt x="6248387" y="2616225"/>
                  </a:moveTo>
                  <a:lnTo>
                    <a:pt x="6238862" y="2616225"/>
                  </a:lnTo>
                  <a:lnTo>
                    <a:pt x="6238862" y="2644800"/>
                  </a:lnTo>
                  <a:lnTo>
                    <a:pt x="6248387" y="2644800"/>
                  </a:lnTo>
                  <a:lnTo>
                    <a:pt x="6248387" y="2616225"/>
                  </a:lnTo>
                  <a:close/>
                </a:path>
                <a:path w="6248400" h="4171950">
                  <a:moveTo>
                    <a:pt x="6248387" y="2568638"/>
                  </a:moveTo>
                  <a:lnTo>
                    <a:pt x="6238862" y="2568638"/>
                  </a:lnTo>
                  <a:lnTo>
                    <a:pt x="6238862" y="2597213"/>
                  </a:lnTo>
                  <a:lnTo>
                    <a:pt x="6248387" y="2597213"/>
                  </a:lnTo>
                  <a:lnTo>
                    <a:pt x="6248387" y="2568638"/>
                  </a:lnTo>
                  <a:close/>
                </a:path>
                <a:path w="6248400" h="4171950">
                  <a:moveTo>
                    <a:pt x="6248387" y="2521064"/>
                  </a:moveTo>
                  <a:lnTo>
                    <a:pt x="6238862" y="2521064"/>
                  </a:lnTo>
                  <a:lnTo>
                    <a:pt x="6238862" y="2549639"/>
                  </a:lnTo>
                  <a:lnTo>
                    <a:pt x="6248387" y="2549639"/>
                  </a:lnTo>
                  <a:lnTo>
                    <a:pt x="6248387" y="2521064"/>
                  </a:lnTo>
                  <a:close/>
                </a:path>
                <a:path w="6248400" h="4171950">
                  <a:moveTo>
                    <a:pt x="6248387" y="2473477"/>
                  </a:moveTo>
                  <a:lnTo>
                    <a:pt x="6238862" y="2473477"/>
                  </a:lnTo>
                  <a:lnTo>
                    <a:pt x="6238862" y="2502052"/>
                  </a:lnTo>
                  <a:lnTo>
                    <a:pt x="6248387" y="2502052"/>
                  </a:lnTo>
                  <a:lnTo>
                    <a:pt x="6248387" y="2473477"/>
                  </a:lnTo>
                  <a:close/>
                </a:path>
                <a:path w="6248400" h="4171950">
                  <a:moveTo>
                    <a:pt x="6248387" y="2425903"/>
                  </a:moveTo>
                  <a:lnTo>
                    <a:pt x="6238862" y="2425903"/>
                  </a:lnTo>
                  <a:lnTo>
                    <a:pt x="6238862" y="2454478"/>
                  </a:lnTo>
                  <a:lnTo>
                    <a:pt x="6248387" y="2454478"/>
                  </a:lnTo>
                  <a:lnTo>
                    <a:pt x="6248387" y="2425903"/>
                  </a:lnTo>
                  <a:close/>
                </a:path>
                <a:path w="6248400" h="4171950">
                  <a:moveTo>
                    <a:pt x="6248387" y="2378316"/>
                  </a:moveTo>
                  <a:lnTo>
                    <a:pt x="6238862" y="2378316"/>
                  </a:lnTo>
                  <a:lnTo>
                    <a:pt x="6238862" y="2406891"/>
                  </a:lnTo>
                  <a:lnTo>
                    <a:pt x="6248387" y="2406891"/>
                  </a:lnTo>
                  <a:lnTo>
                    <a:pt x="6248387" y="2378316"/>
                  </a:lnTo>
                  <a:close/>
                </a:path>
                <a:path w="6248400" h="4171950">
                  <a:moveTo>
                    <a:pt x="6248387" y="2330742"/>
                  </a:moveTo>
                  <a:lnTo>
                    <a:pt x="6238862" y="2330742"/>
                  </a:lnTo>
                  <a:lnTo>
                    <a:pt x="6238862" y="2359317"/>
                  </a:lnTo>
                  <a:lnTo>
                    <a:pt x="6248387" y="2359317"/>
                  </a:lnTo>
                  <a:lnTo>
                    <a:pt x="6248387" y="2330742"/>
                  </a:lnTo>
                  <a:close/>
                </a:path>
                <a:path w="6248400" h="4171950">
                  <a:moveTo>
                    <a:pt x="6248387" y="2283155"/>
                  </a:moveTo>
                  <a:lnTo>
                    <a:pt x="6238862" y="2283155"/>
                  </a:lnTo>
                  <a:lnTo>
                    <a:pt x="6238862" y="2311730"/>
                  </a:lnTo>
                  <a:lnTo>
                    <a:pt x="6248387" y="2311730"/>
                  </a:lnTo>
                  <a:lnTo>
                    <a:pt x="6248387" y="2283155"/>
                  </a:lnTo>
                  <a:close/>
                </a:path>
                <a:path w="6248400" h="4171950">
                  <a:moveTo>
                    <a:pt x="6248387" y="2235581"/>
                  </a:moveTo>
                  <a:lnTo>
                    <a:pt x="6238862" y="2235581"/>
                  </a:lnTo>
                  <a:lnTo>
                    <a:pt x="6238862" y="2264156"/>
                  </a:lnTo>
                  <a:lnTo>
                    <a:pt x="6248387" y="2264156"/>
                  </a:lnTo>
                  <a:lnTo>
                    <a:pt x="6248387" y="2235581"/>
                  </a:lnTo>
                  <a:close/>
                </a:path>
                <a:path w="6248400" h="4171950">
                  <a:moveTo>
                    <a:pt x="6248387" y="2187994"/>
                  </a:moveTo>
                  <a:lnTo>
                    <a:pt x="6238862" y="2187994"/>
                  </a:lnTo>
                  <a:lnTo>
                    <a:pt x="6238862" y="2216569"/>
                  </a:lnTo>
                  <a:lnTo>
                    <a:pt x="6248387" y="2216569"/>
                  </a:lnTo>
                  <a:lnTo>
                    <a:pt x="6248387" y="2187994"/>
                  </a:lnTo>
                  <a:close/>
                </a:path>
                <a:path w="6248400" h="4171950">
                  <a:moveTo>
                    <a:pt x="6248387" y="2140407"/>
                  </a:moveTo>
                  <a:lnTo>
                    <a:pt x="6238862" y="2140407"/>
                  </a:lnTo>
                  <a:lnTo>
                    <a:pt x="6238862" y="2168982"/>
                  </a:lnTo>
                  <a:lnTo>
                    <a:pt x="6248387" y="2168982"/>
                  </a:lnTo>
                  <a:lnTo>
                    <a:pt x="6248387" y="2140407"/>
                  </a:lnTo>
                  <a:close/>
                </a:path>
                <a:path w="6248400" h="4171950">
                  <a:moveTo>
                    <a:pt x="6248387" y="2092833"/>
                  </a:moveTo>
                  <a:lnTo>
                    <a:pt x="6238862" y="2092833"/>
                  </a:lnTo>
                  <a:lnTo>
                    <a:pt x="6238862" y="2121408"/>
                  </a:lnTo>
                  <a:lnTo>
                    <a:pt x="6248387" y="2121408"/>
                  </a:lnTo>
                  <a:lnTo>
                    <a:pt x="6248387" y="2092833"/>
                  </a:lnTo>
                  <a:close/>
                </a:path>
                <a:path w="6248400" h="4171950">
                  <a:moveTo>
                    <a:pt x="6248387" y="2045246"/>
                  </a:moveTo>
                  <a:lnTo>
                    <a:pt x="6238862" y="2045246"/>
                  </a:lnTo>
                  <a:lnTo>
                    <a:pt x="6238862" y="2073821"/>
                  </a:lnTo>
                  <a:lnTo>
                    <a:pt x="6248387" y="2073821"/>
                  </a:lnTo>
                  <a:lnTo>
                    <a:pt x="6248387" y="2045246"/>
                  </a:lnTo>
                  <a:close/>
                </a:path>
                <a:path w="6248400" h="4171950">
                  <a:moveTo>
                    <a:pt x="6248387" y="1997671"/>
                  </a:moveTo>
                  <a:lnTo>
                    <a:pt x="6238862" y="1997671"/>
                  </a:lnTo>
                  <a:lnTo>
                    <a:pt x="6238862" y="2026246"/>
                  </a:lnTo>
                  <a:lnTo>
                    <a:pt x="6248387" y="2026246"/>
                  </a:lnTo>
                  <a:lnTo>
                    <a:pt x="6248387" y="1997671"/>
                  </a:lnTo>
                  <a:close/>
                </a:path>
                <a:path w="6248400" h="4171950">
                  <a:moveTo>
                    <a:pt x="6248387" y="1950085"/>
                  </a:moveTo>
                  <a:lnTo>
                    <a:pt x="6238862" y="1950085"/>
                  </a:lnTo>
                  <a:lnTo>
                    <a:pt x="6238862" y="1978660"/>
                  </a:lnTo>
                  <a:lnTo>
                    <a:pt x="6248387" y="1978660"/>
                  </a:lnTo>
                  <a:lnTo>
                    <a:pt x="6248387" y="1950085"/>
                  </a:lnTo>
                  <a:close/>
                </a:path>
                <a:path w="6248400" h="4171950">
                  <a:moveTo>
                    <a:pt x="6248387" y="1902510"/>
                  </a:moveTo>
                  <a:lnTo>
                    <a:pt x="6238862" y="1902510"/>
                  </a:lnTo>
                  <a:lnTo>
                    <a:pt x="6238862" y="1931085"/>
                  </a:lnTo>
                  <a:lnTo>
                    <a:pt x="6248387" y="1931085"/>
                  </a:lnTo>
                  <a:lnTo>
                    <a:pt x="6248387" y="1902510"/>
                  </a:lnTo>
                  <a:close/>
                </a:path>
                <a:path w="6248400" h="4171950">
                  <a:moveTo>
                    <a:pt x="6248387" y="1854923"/>
                  </a:moveTo>
                  <a:lnTo>
                    <a:pt x="6238862" y="1854923"/>
                  </a:lnTo>
                  <a:lnTo>
                    <a:pt x="6238862" y="1883498"/>
                  </a:lnTo>
                  <a:lnTo>
                    <a:pt x="6248387" y="1883498"/>
                  </a:lnTo>
                  <a:lnTo>
                    <a:pt x="6248387" y="1854923"/>
                  </a:lnTo>
                  <a:close/>
                </a:path>
                <a:path w="6248400" h="4171950">
                  <a:moveTo>
                    <a:pt x="6248387" y="1807349"/>
                  </a:moveTo>
                  <a:lnTo>
                    <a:pt x="6238862" y="1807349"/>
                  </a:lnTo>
                  <a:lnTo>
                    <a:pt x="6238862" y="1835924"/>
                  </a:lnTo>
                  <a:lnTo>
                    <a:pt x="6248387" y="1835924"/>
                  </a:lnTo>
                  <a:lnTo>
                    <a:pt x="6248387" y="1807349"/>
                  </a:lnTo>
                  <a:close/>
                </a:path>
                <a:path w="6248400" h="4171950">
                  <a:moveTo>
                    <a:pt x="6248387" y="1759762"/>
                  </a:moveTo>
                  <a:lnTo>
                    <a:pt x="6238862" y="1759762"/>
                  </a:lnTo>
                  <a:lnTo>
                    <a:pt x="6238862" y="1788337"/>
                  </a:lnTo>
                  <a:lnTo>
                    <a:pt x="6248387" y="1788337"/>
                  </a:lnTo>
                  <a:lnTo>
                    <a:pt x="6248387" y="1759762"/>
                  </a:lnTo>
                  <a:close/>
                </a:path>
                <a:path w="6248400" h="4171950">
                  <a:moveTo>
                    <a:pt x="6248387" y="1712175"/>
                  </a:moveTo>
                  <a:lnTo>
                    <a:pt x="6238862" y="1712175"/>
                  </a:lnTo>
                  <a:lnTo>
                    <a:pt x="6238862" y="1740750"/>
                  </a:lnTo>
                  <a:lnTo>
                    <a:pt x="6248387" y="1740750"/>
                  </a:lnTo>
                  <a:lnTo>
                    <a:pt x="6248387" y="1712175"/>
                  </a:lnTo>
                  <a:close/>
                </a:path>
                <a:path w="6248400" h="4171950">
                  <a:moveTo>
                    <a:pt x="6248387" y="1664601"/>
                  </a:moveTo>
                  <a:lnTo>
                    <a:pt x="6238862" y="1664601"/>
                  </a:lnTo>
                  <a:lnTo>
                    <a:pt x="6238862" y="1693176"/>
                  </a:lnTo>
                  <a:lnTo>
                    <a:pt x="6248387" y="1693176"/>
                  </a:lnTo>
                  <a:lnTo>
                    <a:pt x="6248387" y="1664601"/>
                  </a:lnTo>
                  <a:close/>
                </a:path>
                <a:path w="6248400" h="4171950">
                  <a:moveTo>
                    <a:pt x="6248387" y="1617014"/>
                  </a:moveTo>
                  <a:lnTo>
                    <a:pt x="6238862" y="1617014"/>
                  </a:lnTo>
                  <a:lnTo>
                    <a:pt x="6238862" y="1645589"/>
                  </a:lnTo>
                  <a:lnTo>
                    <a:pt x="6248387" y="1645589"/>
                  </a:lnTo>
                  <a:lnTo>
                    <a:pt x="6248387" y="1617014"/>
                  </a:lnTo>
                  <a:close/>
                </a:path>
                <a:path w="6248400" h="4171950">
                  <a:moveTo>
                    <a:pt x="6248387" y="1569440"/>
                  </a:moveTo>
                  <a:lnTo>
                    <a:pt x="6238862" y="1569440"/>
                  </a:lnTo>
                  <a:lnTo>
                    <a:pt x="6238862" y="1598015"/>
                  </a:lnTo>
                  <a:lnTo>
                    <a:pt x="6248387" y="1598015"/>
                  </a:lnTo>
                  <a:lnTo>
                    <a:pt x="6248387" y="1569440"/>
                  </a:lnTo>
                  <a:close/>
                </a:path>
                <a:path w="6248400" h="4171950">
                  <a:moveTo>
                    <a:pt x="6248387" y="1521853"/>
                  </a:moveTo>
                  <a:lnTo>
                    <a:pt x="6238862" y="1521853"/>
                  </a:lnTo>
                  <a:lnTo>
                    <a:pt x="6238862" y="1550428"/>
                  </a:lnTo>
                  <a:lnTo>
                    <a:pt x="6248387" y="1550428"/>
                  </a:lnTo>
                  <a:lnTo>
                    <a:pt x="6248387" y="1521853"/>
                  </a:lnTo>
                  <a:close/>
                </a:path>
                <a:path w="6248400" h="4171950">
                  <a:moveTo>
                    <a:pt x="6248387" y="1474279"/>
                  </a:moveTo>
                  <a:lnTo>
                    <a:pt x="6238862" y="1474279"/>
                  </a:lnTo>
                  <a:lnTo>
                    <a:pt x="6238862" y="1502854"/>
                  </a:lnTo>
                  <a:lnTo>
                    <a:pt x="6248387" y="1502854"/>
                  </a:lnTo>
                  <a:lnTo>
                    <a:pt x="6248387" y="1474279"/>
                  </a:lnTo>
                  <a:close/>
                </a:path>
                <a:path w="6248400" h="4171950">
                  <a:moveTo>
                    <a:pt x="6248387" y="1426692"/>
                  </a:moveTo>
                  <a:lnTo>
                    <a:pt x="6238862" y="1426692"/>
                  </a:lnTo>
                  <a:lnTo>
                    <a:pt x="6238862" y="1455267"/>
                  </a:lnTo>
                  <a:lnTo>
                    <a:pt x="6248387" y="1455267"/>
                  </a:lnTo>
                  <a:lnTo>
                    <a:pt x="6248387" y="1426692"/>
                  </a:lnTo>
                  <a:close/>
                </a:path>
                <a:path w="6248400" h="4171950">
                  <a:moveTo>
                    <a:pt x="6248387" y="1379118"/>
                  </a:moveTo>
                  <a:lnTo>
                    <a:pt x="6238862" y="1379118"/>
                  </a:lnTo>
                  <a:lnTo>
                    <a:pt x="6238862" y="1407693"/>
                  </a:lnTo>
                  <a:lnTo>
                    <a:pt x="6248387" y="1407693"/>
                  </a:lnTo>
                  <a:lnTo>
                    <a:pt x="6248387" y="1379118"/>
                  </a:lnTo>
                  <a:close/>
                </a:path>
                <a:path w="6248400" h="4171950">
                  <a:moveTo>
                    <a:pt x="6248387" y="1331531"/>
                  </a:moveTo>
                  <a:lnTo>
                    <a:pt x="6238862" y="1331531"/>
                  </a:lnTo>
                  <a:lnTo>
                    <a:pt x="6238862" y="1360106"/>
                  </a:lnTo>
                  <a:lnTo>
                    <a:pt x="6248387" y="1360106"/>
                  </a:lnTo>
                  <a:lnTo>
                    <a:pt x="6248387" y="1331531"/>
                  </a:lnTo>
                  <a:close/>
                </a:path>
                <a:path w="6248400" h="4171950">
                  <a:moveTo>
                    <a:pt x="6248387" y="1283957"/>
                  </a:moveTo>
                  <a:lnTo>
                    <a:pt x="6238862" y="1283957"/>
                  </a:lnTo>
                  <a:lnTo>
                    <a:pt x="6238862" y="1312532"/>
                  </a:lnTo>
                  <a:lnTo>
                    <a:pt x="6248387" y="1312532"/>
                  </a:lnTo>
                  <a:lnTo>
                    <a:pt x="6248387" y="1283957"/>
                  </a:lnTo>
                  <a:close/>
                </a:path>
                <a:path w="6248400" h="4171950">
                  <a:moveTo>
                    <a:pt x="6248387" y="1236370"/>
                  </a:moveTo>
                  <a:lnTo>
                    <a:pt x="6238862" y="1236370"/>
                  </a:lnTo>
                  <a:lnTo>
                    <a:pt x="6238862" y="1264945"/>
                  </a:lnTo>
                  <a:lnTo>
                    <a:pt x="6248387" y="1264945"/>
                  </a:lnTo>
                  <a:lnTo>
                    <a:pt x="6248387" y="1236370"/>
                  </a:lnTo>
                  <a:close/>
                </a:path>
                <a:path w="6248400" h="4171950">
                  <a:moveTo>
                    <a:pt x="6248387" y="1188783"/>
                  </a:moveTo>
                  <a:lnTo>
                    <a:pt x="6238862" y="1188783"/>
                  </a:lnTo>
                  <a:lnTo>
                    <a:pt x="6238862" y="1217358"/>
                  </a:lnTo>
                  <a:lnTo>
                    <a:pt x="6248387" y="1217358"/>
                  </a:lnTo>
                  <a:lnTo>
                    <a:pt x="6248387" y="1188783"/>
                  </a:lnTo>
                  <a:close/>
                </a:path>
                <a:path w="6248400" h="4171950">
                  <a:moveTo>
                    <a:pt x="6248387" y="1141209"/>
                  </a:moveTo>
                  <a:lnTo>
                    <a:pt x="6238862" y="1141209"/>
                  </a:lnTo>
                  <a:lnTo>
                    <a:pt x="6238862" y="1169784"/>
                  </a:lnTo>
                  <a:lnTo>
                    <a:pt x="6248387" y="1169784"/>
                  </a:lnTo>
                  <a:lnTo>
                    <a:pt x="6248387" y="1141209"/>
                  </a:lnTo>
                  <a:close/>
                </a:path>
                <a:path w="6248400" h="4171950">
                  <a:moveTo>
                    <a:pt x="6248387" y="1093622"/>
                  </a:moveTo>
                  <a:lnTo>
                    <a:pt x="6238862" y="1093622"/>
                  </a:lnTo>
                  <a:lnTo>
                    <a:pt x="6238862" y="1122197"/>
                  </a:lnTo>
                  <a:lnTo>
                    <a:pt x="6248387" y="1122197"/>
                  </a:lnTo>
                  <a:lnTo>
                    <a:pt x="6248387" y="1093622"/>
                  </a:lnTo>
                  <a:close/>
                </a:path>
                <a:path w="6248400" h="4171950">
                  <a:moveTo>
                    <a:pt x="6248387" y="1046048"/>
                  </a:moveTo>
                  <a:lnTo>
                    <a:pt x="6238862" y="1046048"/>
                  </a:lnTo>
                  <a:lnTo>
                    <a:pt x="6238862" y="1074623"/>
                  </a:lnTo>
                  <a:lnTo>
                    <a:pt x="6248387" y="1074623"/>
                  </a:lnTo>
                  <a:lnTo>
                    <a:pt x="6248387" y="1046048"/>
                  </a:lnTo>
                  <a:close/>
                </a:path>
                <a:path w="6248400" h="4171950">
                  <a:moveTo>
                    <a:pt x="6248387" y="998461"/>
                  </a:moveTo>
                  <a:lnTo>
                    <a:pt x="6238862" y="998461"/>
                  </a:lnTo>
                  <a:lnTo>
                    <a:pt x="6238862" y="1027036"/>
                  </a:lnTo>
                  <a:lnTo>
                    <a:pt x="6248387" y="1027036"/>
                  </a:lnTo>
                  <a:lnTo>
                    <a:pt x="6248387" y="998461"/>
                  </a:lnTo>
                  <a:close/>
                </a:path>
                <a:path w="6248400" h="4171950">
                  <a:moveTo>
                    <a:pt x="6248387" y="950887"/>
                  </a:moveTo>
                  <a:lnTo>
                    <a:pt x="6238862" y="950887"/>
                  </a:lnTo>
                  <a:lnTo>
                    <a:pt x="6238862" y="979462"/>
                  </a:lnTo>
                  <a:lnTo>
                    <a:pt x="6248387" y="979462"/>
                  </a:lnTo>
                  <a:lnTo>
                    <a:pt x="6248387" y="950887"/>
                  </a:lnTo>
                  <a:close/>
                </a:path>
                <a:path w="6248400" h="4171950">
                  <a:moveTo>
                    <a:pt x="6248387" y="903300"/>
                  </a:moveTo>
                  <a:lnTo>
                    <a:pt x="6238862" y="903300"/>
                  </a:lnTo>
                  <a:lnTo>
                    <a:pt x="6238862" y="931875"/>
                  </a:lnTo>
                  <a:lnTo>
                    <a:pt x="6248387" y="931875"/>
                  </a:lnTo>
                  <a:lnTo>
                    <a:pt x="6248387" y="903300"/>
                  </a:lnTo>
                  <a:close/>
                </a:path>
                <a:path w="6248400" h="4171950">
                  <a:moveTo>
                    <a:pt x="6248387" y="855726"/>
                  </a:moveTo>
                  <a:lnTo>
                    <a:pt x="6238862" y="855726"/>
                  </a:lnTo>
                  <a:lnTo>
                    <a:pt x="6238862" y="884301"/>
                  </a:lnTo>
                  <a:lnTo>
                    <a:pt x="6248387" y="884301"/>
                  </a:lnTo>
                  <a:lnTo>
                    <a:pt x="6248387" y="855726"/>
                  </a:lnTo>
                  <a:close/>
                </a:path>
                <a:path w="6248400" h="4171950">
                  <a:moveTo>
                    <a:pt x="6248387" y="808139"/>
                  </a:moveTo>
                  <a:lnTo>
                    <a:pt x="6238862" y="808139"/>
                  </a:lnTo>
                  <a:lnTo>
                    <a:pt x="6238862" y="836714"/>
                  </a:lnTo>
                  <a:lnTo>
                    <a:pt x="6248387" y="836714"/>
                  </a:lnTo>
                  <a:lnTo>
                    <a:pt x="6248387" y="808139"/>
                  </a:lnTo>
                  <a:close/>
                </a:path>
                <a:path w="6248400" h="4171950">
                  <a:moveTo>
                    <a:pt x="6248387" y="760552"/>
                  </a:moveTo>
                  <a:lnTo>
                    <a:pt x="6238862" y="760552"/>
                  </a:lnTo>
                  <a:lnTo>
                    <a:pt x="6238862" y="789127"/>
                  </a:lnTo>
                  <a:lnTo>
                    <a:pt x="6248387" y="789127"/>
                  </a:lnTo>
                  <a:lnTo>
                    <a:pt x="6248387" y="760552"/>
                  </a:lnTo>
                  <a:close/>
                </a:path>
                <a:path w="6248400" h="4171950">
                  <a:moveTo>
                    <a:pt x="6248387" y="712978"/>
                  </a:moveTo>
                  <a:lnTo>
                    <a:pt x="6238862" y="712978"/>
                  </a:lnTo>
                  <a:lnTo>
                    <a:pt x="6238862" y="741553"/>
                  </a:lnTo>
                  <a:lnTo>
                    <a:pt x="6248387" y="741553"/>
                  </a:lnTo>
                  <a:lnTo>
                    <a:pt x="6248387" y="712978"/>
                  </a:lnTo>
                  <a:close/>
                </a:path>
                <a:path w="6248400" h="4171950">
                  <a:moveTo>
                    <a:pt x="6248387" y="665391"/>
                  </a:moveTo>
                  <a:lnTo>
                    <a:pt x="6238862" y="665391"/>
                  </a:lnTo>
                  <a:lnTo>
                    <a:pt x="6238862" y="693966"/>
                  </a:lnTo>
                  <a:lnTo>
                    <a:pt x="6248387" y="693966"/>
                  </a:lnTo>
                  <a:lnTo>
                    <a:pt x="6248387" y="665391"/>
                  </a:lnTo>
                  <a:close/>
                </a:path>
                <a:path w="6248400" h="4171950">
                  <a:moveTo>
                    <a:pt x="6248387" y="617816"/>
                  </a:moveTo>
                  <a:lnTo>
                    <a:pt x="6238862" y="617816"/>
                  </a:lnTo>
                  <a:lnTo>
                    <a:pt x="6238862" y="646391"/>
                  </a:lnTo>
                  <a:lnTo>
                    <a:pt x="6248387" y="646391"/>
                  </a:lnTo>
                  <a:lnTo>
                    <a:pt x="6248387" y="617816"/>
                  </a:lnTo>
                  <a:close/>
                </a:path>
                <a:path w="6248400" h="4171950">
                  <a:moveTo>
                    <a:pt x="6248387" y="570230"/>
                  </a:moveTo>
                  <a:lnTo>
                    <a:pt x="6238862" y="570230"/>
                  </a:lnTo>
                  <a:lnTo>
                    <a:pt x="6238862" y="598805"/>
                  </a:lnTo>
                  <a:lnTo>
                    <a:pt x="6248387" y="598805"/>
                  </a:lnTo>
                  <a:lnTo>
                    <a:pt x="6248387" y="570230"/>
                  </a:lnTo>
                  <a:close/>
                </a:path>
                <a:path w="6248400" h="4171950">
                  <a:moveTo>
                    <a:pt x="6248387" y="522655"/>
                  </a:moveTo>
                  <a:lnTo>
                    <a:pt x="6238862" y="522655"/>
                  </a:lnTo>
                  <a:lnTo>
                    <a:pt x="6238862" y="551230"/>
                  </a:lnTo>
                  <a:lnTo>
                    <a:pt x="6248387" y="551230"/>
                  </a:lnTo>
                  <a:lnTo>
                    <a:pt x="6248387" y="522655"/>
                  </a:lnTo>
                  <a:close/>
                </a:path>
                <a:path w="6248400" h="4171950">
                  <a:moveTo>
                    <a:pt x="6248387" y="475068"/>
                  </a:moveTo>
                  <a:lnTo>
                    <a:pt x="6238862" y="475068"/>
                  </a:lnTo>
                  <a:lnTo>
                    <a:pt x="6238862" y="503643"/>
                  </a:lnTo>
                  <a:lnTo>
                    <a:pt x="6248387" y="503643"/>
                  </a:lnTo>
                  <a:lnTo>
                    <a:pt x="6248387" y="475068"/>
                  </a:lnTo>
                  <a:close/>
                </a:path>
                <a:path w="6248400" h="4171950">
                  <a:moveTo>
                    <a:pt x="6248387" y="427494"/>
                  </a:moveTo>
                  <a:lnTo>
                    <a:pt x="6238862" y="427494"/>
                  </a:lnTo>
                  <a:lnTo>
                    <a:pt x="6238862" y="456069"/>
                  </a:lnTo>
                  <a:lnTo>
                    <a:pt x="6248387" y="456069"/>
                  </a:lnTo>
                  <a:lnTo>
                    <a:pt x="6248387" y="427494"/>
                  </a:lnTo>
                  <a:close/>
                </a:path>
                <a:path w="6248400" h="4171950">
                  <a:moveTo>
                    <a:pt x="6248387" y="379907"/>
                  </a:moveTo>
                  <a:lnTo>
                    <a:pt x="6238862" y="379907"/>
                  </a:lnTo>
                  <a:lnTo>
                    <a:pt x="6238862" y="408482"/>
                  </a:lnTo>
                  <a:lnTo>
                    <a:pt x="6248387" y="408482"/>
                  </a:lnTo>
                  <a:lnTo>
                    <a:pt x="6248387" y="379907"/>
                  </a:lnTo>
                  <a:close/>
                </a:path>
                <a:path w="6248400" h="4171950">
                  <a:moveTo>
                    <a:pt x="6248387" y="332320"/>
                  </a:moveTo>
                  <a:lnTo>
                    <a:pt x="6238862" y="332320"/>
                  </a:lnTo>
                  <a:lnTo>
                    <a:pt x="6238862" y="360895"/>
                  </a:lnTo>
                  <a:lnTo>
                    <a:pt x="6248387" y="360895"/>
                  </a:lnTo>
                  <a:lnTo>
                    <a:pt x="6248387" y="332320"/>
                  </a:lnTo>
                  <a:close/>
                </a:path>
                <a:path w="6248400" h="4171950">
                  <a:moveTo>
                    <a:pt x="6248387" y="284746"/>
                  </a:moveTo>
                  <a:lnTo>
                    <a:pt x="6238862" y="284746"/>
                  </a:lnTo>
                  <a:lnTo>
                    <a:pt x="6238862" y="313321"/>
                  </a:lnTo>
                  <a:lnTo>
                    <a:pt x="6248387" y="313321"/>
                  </a:lnTo>
                  <a:lnTo>
                    <a:pt x="6248387" y="284746"/>
                  </a:lnTo>
                  <a:close/>
                </a:path>
                <a:path w="6248400" h="4171950">
                  <a:moveTo>
                    <a:pt x="6248387" y="237159"/>
                  </a:moveTo>
                  <a:lnTo>
                    <a:pt x="6238862" y="237159"/>
                  </a:lnTo>
                  <a:lnTo>
                    <a:pt x="6238862" y="265734"/>
                  </a:lnTo>
                  <a:lnTo>
                    <a:pt x="6248387" y="265734"/>
                  </a:lnTo>
                  <a:lnTo>
                    <a:pt x="6248387" y="237159"/>
                  </a:lnTo>
                  <a:close/>
                </a:path>
                <a:path w="6248400" h="4171950">
                  <a:moveTo>
                    <a:pt x="6248387" y="189585"/>
                  </a:moveTo>
                  <a:lnTo>
                    <a:pt x="6238862" y="189585"/>
                  </a:lnTo>
                  <a:lnTo>
                    <a:pt x="6238862" y="218160"/>
                  </a:lnTo>
                  <a:lnTo>
                    <a:pt x="6248387" y="218160"/>
                  </a:lnTo>
                  <a:lnTo>
                    <a:pt x="6248387" y="189585"/>
                  </a:lnTo>
                  <a:close/>
                </a:path>
                <a:path w="6248400" h="4171950">
                  <a:moveTo>
                    <a:pt x="6248387" y="141998"/>
                  </a:moveTo>
                  <a:lnTo>
                    <a:pt x="6238862" y="141998"/>
                  </a:lnTo>
                  <a:lnTo>
                    <a:pt x="6238862" y="170573"/>
                  </a:lnTo>
                  <a:lnTo>
                    <a:pt x="6248387" y="170573"/>
                  </a:lnTo>
                  <a:lnTo>
                    <a:pt x="6248387" y="141998"/>
                  </a:lnTo>
                  <a:close/>
                </a:path>
                <a:path w="6248400" h="4171950">
                  <a:moveTo>
                    <a:pt x="6248387" y="94424"/>
                  </a:moveTo>
                  <a:lnTo>
                    <a:pt x="6238862" y="94424"/>
                  </a:lnTo>
                  <a:lnTo>
                    <a:pt x="6238862" y="122999"/>
                  </a:lnTo>
                  <a:lnTo>
                    <a:pt x="6248387" y="122999"/>
                  </a:lnTo>
                  <a:lnTo>
                    <a:pt x="6248387" y="94424"/>
                  </a:lnTo>
                  <a:close/>
                </a:path>
              </a:pathLst>
            </a:custGeom>
            <a:solidFill>
              <a:srgbClr val="E4E7EB"/>
            </a:solidFill>
          </p:spPr>
          <p:txBody>
            <a:bodyPr wrap="square" lIns="0" tIns="0" rIns="0" bIns="0" rtlCol="0"/>
            <a:lstStyle/>
            <a:p>
              <a:endParaRPr/>
            </a:p>
          </p:txBody>
        </p:sp>
        <p:pic>
          <p:nvPicPr>
            <p:cNvPr id="34" name="object 34"/>
            <p:cNvPicPr/>
            <p:nvPr/>
          </p:nvPicPr>
          <p:blipFill>
            <a:blip r:embed="rId7" cstate="print"/>
            <a:stretch>
              <a:fillRect/>
            </a:stretch>
          </p:blipFill>
          <p:spPr>
            <a:xfrm>
              <a:off x="5562599" y="2819399"/>
              <a:ext cx="5924549" cy="1638299"/>
            </a:xfrm>
            <a:prstGeom prst="rect">
              <a:avLst/>
            </a:prstGeom>
          </p:spPr>
        </p:pic>
      </p:grpSp>
      <p:sp>
        <p:nvSpPr>
          <p:cNvPr id="35" name="object 35"/>
          <p:cNvSpPr txBox="1"/>
          <p:nvPr/>
        </p:nvSpPr>
        <p:spPr>
          <a:xfrm>
            <a:off x="5393084" y="5900376"/>
            <a:ext cx="6263640" cy="406400"/>
          </a:xfrm>
          <a:prstGeom prst="rect">
            <a:avLst/>
          </a:prstGeom>
        </p:spPr>
        <p:txBody>
          <a:bodyPr vert="horz" wrap="square" lIns="0" tIns="12700" rIns="0" bIns="0" rtlCol="0">
            <a:spAutoFit/>
          </a:bodyPr>
          <a:lstStyle/>
          <a:p>
            <a:pPr marL="2845435" marR="30480" indent="-2807970">
              <a:lnSpc>
                <a:spcPct val="119000"/>
              </a:lnSpc>
              <a:spcBef>
                <a:spcPts val="100"/>
              </a:spcBef>
            </a:pPr>
            <a:r>
              <a:rPr sz="1000" b="1" i="1" spc="-65">
                <a:solidFill>
                  <a:srgbClr val="6A7280"/>
                </a:solidFill>
                <a:latin typeface="Arial"/>
                <a:cs typeface="Arial"/>
              </a:rPr>
              <a:t>Table</a:t>
            </a:r>
            <a:r>
              <a:rPr sz="1000" b="1" i="1">
                <a:solidFill>
                  <a:srgbClr val="6A7280"/>
                </a:solidFill>
                <a:latin typeface="Arial"/>
                <a:cs typeface="Arial"/>
              </a:rPr>
              <a:t> 3: </a:t>
            </a:r>
            <a:r>
              <a:rPr sz="1050" spc="-195">
                <a:solidFill>
                  <a:srgbClr val="6A7280"/>
                </a:solidFill>
                <a:latin typeface="宋体"/>
                <a:cs typeface="宋体"/>
              </a:rPr>
              <a:t>在 </a:t>
            </a:r>
            <a:r>
              <a:rPr sz="1000" i="1" spc="-45">
                <a:solidFill>
                  <a:srgbClr val="6A7280"/>
                </a:solidFill>
                <a:latin typeface="Arial"/>
                <a:cs typeface="Arial"/>
              </a:rPr>
              <a:t>PEMS-</a:t>
            </a:r>
            <a:r>
              <a:rPr sz="1000" i="1">
                <a:solidFill>
                  <a:srgbClr val="6A7280"/>
                </a:solidFill>
                <a:latin typeface="Arial"/>
                <a:cs typeface="Arial"/>
              </a:rPr>
              <a:t>08</a:t>
            </a:r>
            <a:r>
              <a:rPr sz="1000" i="1" spc="-20">
                <a:solidFill>
                  <a:srgbClr val="6A7280"/>
                </a:solidFill>
                <a:latin typeface="Arial"/>
                <a:cs typeface="Arial"/>
              </a:rPr>
              <a:t> </a:t>
            </a:r>
            <a:r>
              <a:rPr sz="1050" spc="-165">
                <a:solidFill>
                  <a:srgbClr val="6A7280"/>
                </a:solidFill>
                <a:latin typeface="宋体"/>
                <a:cs typeface="宋体"/>
              </a:rPr>
              <a:t>数据集上进行部分通道混洗时各模型性能劣化的渐进式过程记录。</a:t>
            </a:r>
            <a:r>
              <a:rPr sz="1000" i="1">
                <a:solidFill>
                  <a:srgbClr val="6A7280"/>
                </a:solidFill>
                <a:latin typeface="Arial"/>
                <a:cs typeface="Arial"/>
              </a:rPr>
              <a:t>CPI</a:t>
            </a:r>
            <a:r>
              <a:rPr sz="900" i="1">
                <a:solidFill>
                  <a:srgbClr val="6A7280"/>
                </a:solidFill>
                <a:latin typeface="Cambria"/>
                <a:cs typeface="Cambria"/>
              </a:rPr>
              <a:t>R</a:t>
            </a:r>
            <a:r>
              <a:rPr sz="900" i="1" baseline="-13888">
                <a:solidFill>
                  <a:srgbClr val="6A7280"/>
                </a:solidFill>
                <a:latin typeface="Cambria"/>
                <a:cs typeface="Cambria"/>
              </a:rPr>
              <a:t>i</a:t>
            </a:r>
            <a:r>
              <a:rPr sz="900" i="1" spc="367" baseline="-13888">
                <a:solidFill>
                  <a:srgbClr val="6A7280"/>
                </a:solidFill>
                <a:latin typeface="Cambria"/>
                <a:cs typeface="Cambria"/>
              </a:rPr>
              <a:t> </a:t>
            </a:r>
            <a:r>
              <a:rPr sz="1050" spc="-160">
                <a:solidFill>
                  <a:srgbClr val="6A7280"/>
                </a:solidFill>
                <a:latin typeface="宋体"/>
                <a:cs typeface="宋体"/>
              </a:rPr>
              <a:t>显现出不受扰动影响的稳定</a:t>
            </a:r>
            <a:r>
              <a:rPr sz="1050" spc="-145">
                <a:solidFill>
                  <a:srgbClr val="6A7280"/>
                </a:solidFill>
                <a:latin typeface="宋体"/>
                <a:cs typeface="宋体"/>
              </a:rPr>
              <a:t>水平特征。</a:t>
            </a:r>
            <a:endParaRPr sz="1050">
              <a:latin typeface="宋体"/>
              <a:cs typeface="宋体"/>
            </a:endParaRPr>
          </a:p>
        </p:txBody>
      </p:sp>
      <p:pic>
        <p:nvPicPr>
          <p:cNvPr id="36" name="object 36"/>
          <p:cNvPicPr/>
          <p:nvPr/>
        </p:nvPicPr>
        <p:blipFill>
          <a:blip r:embed="rId8" cstate="print"/>
          <a:stretch>
            <a:fillRect/>
          </a:stretch>
        </p:blipFill>
        <p:spPr>
          <a:xfrm>
            <a:off x="0" y="0"/>
            <a:ext cx="12191999" cy="57149"/>
          </a:xfrm>
          <a:prstGeom prst="rect">
            <a:avLst/>
          </a:prstGeom>
        </p:spPr>
      </p:pic>
      <p:pic>
        <p:nvPicPr>
          <p:cNvPr id="37" name="object 37"/>
          <p:cNvPicPr/>
          <p:nvPr/>
        </p:nvPicPr>
        <p:blipFill>
          <a:blip r:embed="rId9" cstate="print"/>
          <a:stretch>
            <a:fillRect/>
          </a:stretch>
        </p:blipFill>
        <p:spPr>
          <a:xfrm>
            <a:off x="0" y="6800849"/>
            <a:ext cx="12191999" cy="57149"/>
          </a:xfrm>
          <a:prstGeom prst="rect">
            <a:avLst/>
          </a:prstGeom>
        </p:spPr>
      </p:pic>
    </p:spTree>
    <p:extLst>
      <p:ext uri="{BB962C8B-B14F-4D97-AF65-F5344CB8AC3E}">
        <p14:creationId xmlns:p14="http://schemas.microsoft.com/office/powerpoint/2010/main" val="3937456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380999" y="923924"/>
            <a:ext cx="609599" cy="38099"/>
          </a:xfrm>
          <a:prstGeom prst="rect">
            <a:avLst/>
          </a:prstGeom>
        </p:spPr>
      </p:pic>
      <p:sp>
        <p:nvSpPr>
          <p:cNvPr id="3" name="object 3"/>
          <p:cNvSpPr txBox="1">
            <a:spLocks noGrp="1"/>
          </p:cNvSpPr>
          <p:nvPr>
            <p:ph type="title"/>
          </p:nvPr>
        </p:nvSpPr>
        <p:spPr>
          <a:xfrm>
            <a:off x="368298" y="333247"/>
            <a:ext cx="5165725" cy="482183"/>
          </a:xfrm>
          <a:prstGeom prst="rect">
            <a:avLst/>
          </a:prstGeom>
        </p:spPr>
        <p:txBody>
          <a:bodyPr vert="horz" wrap="square" lIns="0" tIns="12700" rIns="0" bIns="0" rtlCol="0">
            <a:spAutoFit/>
          </a:bodyPr>
          <a:lstStyle/>
          <a:p>
            <a:pPr marL="12700">
              <a:lnSpc>
                <a:spcPct val="100000"/>
              </a:lnSpc>
              <a:spcBef>
                <a:spcPts val="100"/>
              </a:spcBef>
            </a:pPr>
            <a:r>
              <a:rPr sz="3050">
                <a:latin typeface="微软雅黑"/>
                <a:cs typeface="微软雅黑"/>
              </a:rPr>
              <a:t>极端数据匮乏下的归纳泛化</a:t>
            </a:r>
          </a:p>
        </p:txBody>
      </p:sp>
      <p:grpSp>
        <p:nvGrpSpPr>
          <p:cNvPr id="4" name="object 4"/>
          <p:cNvGrpSpPr/>
          <p:nvPr/>
        </p:nvGrpSpPr>
        <p:grpSpPr>
          <a:xfrm>
            <a:off x="380999" y="1152525"/>
            <a:ext cx="4629150" cy="828675"/>
            <a:chOff x="380999" y="1152525"/>
            <a:chExt cx="4629150" cy="828675"/>
          </a:xfrm>
        </p:grpSpPr>
        <p:sp>
          <p:nvSpPr>
            <p:cNvPr id="5" name="object 5"/>
            <p:cNvSpPr/>
            <p:nvPr/>
          </p:nvSpPr>
          <p:spPr>
            <a:xfrm>
              <a:off x="400049" y="1152525"/>
              <a:ext cx="4610100" cy="828675"/>
            </a:xfrm>
            <a:custGeom>
              <a:avLst/>
              <a:gdLst/>
              <a:ahLst/>
              <a:cxnLst/>
              <a:rect l="l" t="t" r="r" b="b"/>
              <a:pathLst>
                <a:path w="4610100" h="828675">
                  <a:moveTo>
                    <a:pt x="4503304" y="828674"/>
                  </a:moveTo>
                  <a:lnTo>
                    <a:pt x="0" y="828674"/>
                  </a:lnTo>
                  <a:lnTo>
                    <a:pt x="0" y="0"/>
                  </a:lnTo>
                  <a:lnTo>
                    <a:pt x="4503304" y="0"/>
                  </a:lnTo>
                  <a:lnTo>
                    <a:pt x="4510737" y="732"/>
                  </a:lnTo>
                  <a:lnTo>
                    <a:pt x="4553060" y="15093"/>
                  </a:lnTo>
                  <a:lnTo>
                    <a:pt x="4586666" y="44558"/>
                  </a:lnTo>
                  <a:lnTo>
                    <a:pt x="4606439" y="84640"/>
                  </a:lnTo>
                  <a:lnTo>
                    <a:pt x="4610099" y="106794"/>
                  </a:lnTo>
                  <a:lnTo>
                    <a:pt x="4610099" y="721879"/>
                  </a:lnTo>
                  <a:lnTo>
                    <a:pt x="4598526" y="765049"/>
                  </a:lnTo>
                  <a:lnTo>
                    <a:pt x="4571314" y="800503"/>
                  </a:lnTo>
                  <a:lnTo>
                    <a:pt x="4532606" y="822846"/>
                  </a:lnTo>
                  <a:lnTo>
                    <a:pt x="4503304" y="828674"/>
                  </a:lnTo>
                  <a:close/>
                </a:path>
              </a:pathLst>
            </a:custGeom>
            <a:solidFill>
              <a:srgbClr val="F9FAFA"/>
            </a:solidFill>
          </p:spPr>
          <p:txBody>
            <a:bodyPr wrap="square" lIns="0" tIns="0" rIns="0" bIns="0" rtlCol="0"/>
            <a:lstStyle/>
            <a:p>
              <a:endParaRPr/>
            </a:p>
          </p:txBody>
        </p:sp>
        <p:sp>
          <p:nvSpPr>
            <p:cNvPr id="6" name="object 6"/>
            <p:cNvSpPr/>
            <p:nvPr/>
          </p:nvSpPr>
          <p:spPr>
            <a:xfrm>
              <a:off x="380999" y="1152525"/>
              <a:ext cx="38100" cy="828675"/>
            </a:xfrm>
            <a:custGeom>
              <a:avLst/>
              <a:gdLst/>
              <a:ahLst/>
              <a:cxnLst/>
              <a:rect l="l" t="t" r="r" b="b"/>
              <a:pathLst>
                <a:path w="38100" h="828675">
                  <a:moveTo>
                    <a:pt x="38099" y="828674"/>
                  </a:moveTo>
                  <a:lnTo>
                    <a:pt x="0" y="828674"/>
                  </a:lnTo>
                  <a:lnTo>
                    <a:pt x="0" y="0"/>
                  </a:lnTo>
                  <a:lnTo>
                    <a:pt x="38099" y="0"/>
                  </a:lnTo>
                  <a:lnTo>
                    <a:pt x="38099" y="828674"/>
                  </a:lnTo>
                  <a:close/>
                </a:path>
              </a:pathLst>
            </a:custGeom>
            <a:solidFill>
              <a:srgbClr val="1D40AF"/>
            </a:solidFill>
          </p:spPr>
          <p:txBody>
            <a:bodyPr wrap="square" lIns="0" tIns="0" rIns="0" bIns="0" rtlCol="0"/>
            <a:lstStyle/>
            <a:p>
              <a:endParaRPr/>
            </a:p>
          </p:txBody>
        </p:sp>
      </p:grpSp>
      <p:sp>
        <p:nvSpPr>
          <p:cNvPr id="7" name="object 7"/>
          <p:cNvSpPr txBox="1"/>
          <p:nvPr/>
        </p:nvSpPr>
        <p:spPr>
          <a:xfrm>
            <a:off x="539750" y="1222262"/>
            <a:ext cx="4254500" cy="616585"/>
          </a:xfrm>
          <a:prstGeom prst="rect">
            <a:avLst/>
          </a:prstGeom>
        </p:spPr>
        <p:txBody>
          <a:bodyPr vert="horz" wrap="square" lIns="0" tIns="63500" rIns="0" bIns="0" rtlCol="0">
            <a:spAutoFit/>
          </a:bodyPr>
          <a:lstStyle/>
          <a:p>
            <a:pPr marL="12700">
              <a:lnSpc>
                <a:spcPct val="100000"/>
              </a:lnSpc>
              <a:spcBef>
                <a:spcPts val="500"/>
              </a:spcBef>
            </a:pPr>
            <a:r>
              <a:rPr sz="900" spc="-10">
                <a:solidFill>
                  <a:srgbClr val="1D40AF"/>
                </a:solidFill>
                <a:latin typeface="宋体"/>
                <a:cs typeface="宋体"/>
              </a:rPr>
              <a:t>动机延伸与场景定义</a:t>
            </a:r>
            <a:endParaRPr sz="900">
              <a:latin typeface="宋体"/>
              <a:cs typeface="宋体"/>
            </a:endParaRPr>
          </a:p>
          <a:p>
            <a:pPr marL="12700" marR="5080">
              <a:lnSpc>
                <a:spcPct val="125000"/>
              </a:lnSpc>
              <a:spcBef>
                <a:spcPts val="170"/>
              </a:spcBef>
            </a:pPr>
            <a:r>
              <a:rPr sz="1000" spc="-100">
                <a:solidFill>
                  <a:srgbClr val="374050"/>
                </a:solidFill>
                <a:latin typeface="宋体"/>
                <a:cs typeface="宋体"/>
              </a:rPr>
              <a:t>真正具有良好特征提取与关系交互逻辑的模型，在训练变量数目极度受限的</a:t>
            </a:r>
            <a:r>
              <a:rPr sz="1000" b="1" spc="-110">
                <a:solidFill>
                  <a:srgbClr val="374050"/>
                </a:solidFill>
                <a:latin typeface="微软雅黑"/>
                <a:cs typeface="微软雅黑"/>
              </a:rPr>
              <a:t>冷启动状</a:t>
            </a:r>
            <a:r>
              <a:rPr sz="1000" b="1" spc="-100">
                <a:solidFill>
                  <a:srgbClr val="374050"/>
                </a:solidFill>
                <a:latin typeface="微软雅黑"/>
                <a:cs typeface="微软雅黑"/>
              </a:rPr>
              <a:t>态</a:t>
            </a:r>
            <a:r>
              <a:rPr sz="1000" spc="-100">
                <a:solidFill>
                  <a:srgbClr val="374050"/>
                </a:solidFill>
                <a:latin typeface="宋体"/>
                <a:cs typeface="宋体"/>
              </a:rPr>
              <a:t>下，应依然能够推理出正确的动态演化。</a:t>
            </a:r>
            <a:endParaRPr sz="1000">
              <a:latin typeface="宋体"/>
              <a:cs typeface="宋体"/>
            </a:endParaRPr>
          </a:p>
        </p:txBody>
      </p:sp>
      <p:pic>
        <p:nvPicPr>
          <p:cNvPr id="8" name="object 8"/>
          <p:cNvPicPr/>
          <p:nvPr/>
        </p:nvPicPr>
        <p:blipFill>
          <a:blip r:embed="rId4" cstate="print"/>
          <a:stretch>
            <a:fillRect/>
          </a:stretch>
        </p:blipFill>
        <p:spPr>
          <a:xfrm>
            <a:off x="380999" y="2133599"/>
            <a:ext cx="4629149" cy="3362324"/>
          </a:xfrm>
          <a:prstGeom prst="rect">
            <a:avLst/>
          </a:prstGeom>
        </p:spPr>
      </p:pic>
      <p:sp>
        <p:nvSpPr>
          <p:cNvPr id="9" name="object 9"/>
          <p:cNvSpPr txBox="1"/>
          <p:nvPr/>
        </p:nvSpPr>
        <p:spPr>
          <a:xfrm>
            <a:off x="530225" y="2301875"/>
            <a:ext cx="1054100" cy="162560"/>
          </a:xfrm>
          <a:prstGeom prst="rect">
            <a:avLst/>
          </a:prstGeom>
        </p:spPr>
        <p:txBody>
          <a:bodyPr vert="horz" wrap="square" lIns="0" tIns="12700" rIns="0" bIns="0" rtlCol="0">
            <a:spAutoFit/>
          </a:bodyPr>
          <a:lstStyle/>
          <a:p>
            <a:pPr marL="12700">
              <a:lnSpc>
                <a:spcPct val="100000"/>
              </a:lnSpc>
              <a:spcBef>
                <a:spcPts val="100"/>
              </a:spcBef>
            </a:pPr>
            <a:r>
              <a:rPr sz="900">
                <a:solidFill>
                  <a:srgbClr val="D97705"/>
                </a:solidFill>
                <a:latin typeface="宋体"/>
                <a:cs typeface="宋体"/>
              </a:rPr>
              <a:t>数据图表分析 (图</a:t>
            </a:r>
            <a:r>
              <a:rPr sz="900" spc="-25">
                <a:solidFill>
                  <a:srgbClr val="D97705"/>
                </a:solidFill>
                <a:latin typeface="宋体"/>
                <a:cs typeface="宋体"/>
              </a:rPr>
              <a:t>4)</a:t>
            </a:r>
            <a:endParaRPr sz="900">
              <a:latin typeface="宋体"/>
              <a:cs typeface="宋体"/>
            </a:endParaRPr>
          </a:p>
        </p:txBody>
      </p:sp>
      <p:sp>
        <p:nvSpPr>
          <p:cNvPr id="10" name="object 10"/>
          <p:cNvSpPr txBox="1"/>
          <p:nvPr/>
        </p:nvSpPr>
        <p:spPr>
          <a:xfrm>
            <a:off x="3940026" y="2292350"/>
            <a:ext cx="845185" cy="139700"/>
          </a:xfrm>
          <a:prstGeom prst="rect">
            <a:avLst/>
          </a:prstGeom>
        </p:spPr>
        <p:txBody>
          <a:bodyPr vert="horz" wrap="square" lIns="0" tIns="12700" rIns="0" bIns="0" rtlCol="0">
            <a:spAutoFit/>
          </a:bodyPr>
          <a:lstStyle/>
          <a:p>
            <a:pPr marL="12700">
              <a:lnSpc>
                <a:spcPct val="100000"/>
              </a:lnSpc>
              <a:spcBef>
                <a:spcPts val="100"/>
              </a:spcBef>
            </a:pPr>
            <a:r>
              <a:rPr sz="750" spc="10">
                <a:solidFill>
                  <a:srgbClr val="B45309"/>
                </a:solidFill>
                <a:latin typeface="宋体"/>
                <a:cs typeface="宋体"/>
              </a:rPr>
              <a:t>分布外测试 </a:t>
            </a:r>
            <a:r>
              <a:rPr sz="750" spc="-10">
                <a:solidFill>
                  <a:srgbClr val="B45309"/>
                </a:solidFill>
                <a:latin typeface="Courier New"/>
                <a:cs typeface="Courier New"/>
              </a:rPr>
              <a:t>(OOD)</a:t>
            </a:r>
            <a:endParaRPr sz="750">
              <a:latin typeface="Courier New"/>
              <a:cs typeface="Courier New"/>
            </a:endParaRPr>
          </a:p>
        </p:txBody>
      </p:sp>
      <p:sp>
        <p:nvSpPr>
          <p:cNvPr id="11" name="object 11"/>
          <p:cNvSpPr txBox="1"/>
          <p:nvPr/>
        </p:nvSpPr>
        <p:spPr>
          <a:xfrm>
            <a:off x="634999" y="2629535"/>
            <a:ext cx="4060825" cy="425450"/>
          </a:xfrm>
          <a:prstGeom prst="rect">
            <a:avLst/>
          </a:prstGeom>
        </p:spPr>
        <p:txBody>
          <a:bodyPr vert="horz" wrap="square" lIns="0" tIns="12700" rIns="0" bIns="0" rtlCol="0">
            <a:spAutoFit/>
          </a:bodyPr>
          <a:lstStyle/>
          <a:p>
            <a:pPr marL="12700" marR="5080">
              <a:lnSpc>
                <a:spcPct val="145800"/>
              </a:lnSpc>
              <a:spcBef>
                <a:spcPts val="100"/>
              </a:spcBef>
            </a:pPr>
            <a:r>
              <a:rPr sz="900">
                <a:solidFill>
                  <a:srgbClr val="374050"/>
                </a:solidFill>
                <a:latin typeface="宋体"/>
                <a:cs typeface="宋体"/>
              </a:rPr>
              <a:t>实验设置：</a:t>
            </a:r>
            <a:r>
              <a:rPr sz="900" spc="-45">
                <a:solidFill>
                  <a:srgbClr val="6A7280"/>
                </a:solidFill>
                <a:latin typeface="宋体"/>
                <a:cs typeface="宋体"/>
              </a:rPr>
              <a:t>仅利用 </a:t>
            </a:r>
            <a:r>
              <a:rPr sz="900" b="1">
                <a:solidFill>
                  <a:srgbClr val="1D40AF"/>
                </a:solidFill>
                <a:latin typeface="Courier New"/>
                <a:cs typeface="Courier New"/>
              </a:rPr>
              <a:t>25%</a:t>
            </a:r>
            <a:r>
              <a:rPr sz="900">
                <a:solidFill>
                  <a:srgbClr val="1D40AF"/>
                </a:solidFill>
                <a:latin typeface="宋体"/>
                <a:cs typeface="宋体"/>
              </a:rPr>
              <a:t>、</a:t>
            </a:r>
            <a:r>
              <a:rPr sz="900" b="1">
                <a:solidFill>
                  <a:srgbClr val="1D40AF"/>
                </a:solidFill>
                <a:latin typeface="Courier New"/>
                <a:cs typeface="Courier New"/>
              </a:rPr>
              <a:t>50%</a:t>
            </a:r>
            <a:r>
              <a:rPr sz="900">
                <a:solidFill>
                  <a:srgbClr val="1D40AF"/>
                </a:solidFill>
                <a:latin typeface="宋体"/>
                <a:cs typeface="宋体"/>
              </a:rPr>
              <a:t>、</a:t>
            </a:r>
            <a:r>
              <a:rPr sz="900" b="1">
                <a:solidFill>
                  <a:srgbClr val="1D40AF"/>
                </a:solidFill>
                <a:latin typeface="Courier New"/>
                <a:cs typeface="Courier New"/>
              </a:rPr>
              <a:t>75%</a:t>
            </a:r>
            <a:r>
              <a:rPr sz="900" b="1" spc="-275">
                <a:solidFill>
                  <a:srgbClr val="1D40AF"/>
                </a:solidFill>
                <a:latin typeface="Courier New"/>
                <a:cs typeface="Courier New"/>
              </a:rPr>
              <a:t> </a:t>
            </a:r>
            <a:r>
              <a:rPr sz="900" spc="-20">
                <a:solidFill>
                  <a:srgbClr val="6A7280"/>
                </a:solidFill>
                <a:latin typeface="宋体"/>
                <a:cs typeface="宋体"/>
              </a:rPr>
              <a:t>的输入通道节点进行训练，在全通道 (</a:t>
            </a:r>
            <a:r>
              <a:rPr sz="900" b="1" spc="-65">
                <a:solidFill>
                  <a:srgbClr val="1D40AF"/>
                </a:solidFill>
                <a:latin typeface="Courier New"/>
                <a:cs typeface="Courier New"/>
              </a:rPr>
              <a:t>100%</a:t>
            </a:r>
            <a:r>
              <a:rPr sz="900" spc="-65">
                <a:solidFill>
                  <a:srgbClr val="6A7280"/>
                </a:solidFill>
                <a:latin typeface="宋体"/>
                <a:cs typeface="宋体"/>
              </a:rPr>
              <a:t>)</a:t>
            </a:r>
            <a:r>
              <a:rPr sz="900" spc="-10">
                <a:solidFill>
                  <a:srgbClr val="6A7280"/>
                </a:solidFill>
                <a:latin typeface="宋体"/>
                <a:cs typeface="宋体"/>
              </a:rPr>
              <a:t>结构上进行测试。</a:t>
            </a:r>
            <a:endParaRPr sz="900">
              <a:latin typeface="宋体"/>
              <a:cs typeface="宋体"/>
            </a:endParaRPr>
          </a:p>
        </p:txBody>
      </p:sp>
      <p:sp>
        <p:nvSpPr>
          <p:cNvPr id="12" name="object 12"/>
          <p:cNvSpPr txBox="1"/>
          <p:nvPr/>
        </p:nvSpPr>
        <p:spPr>
          <a:xfrm>
            <a:off x="634999" y="3397250"/>
            <a:ext cx="882650" cy="547370"/>
          </a:xfrm>
          <a:prstGeom prst="rect">
            <a:avLst/>
          </a:prstGeom>
        </p:spPr>
        <p:txBody>
          <a:bodyPr vert="horz" wrap="square" lIns="0" tIns="12700" rIns="0" bIns="0" rtlCol="0">
            <a:spAutoFit/>
          </a:bodyPr>
          <a:lstStyle/>
          <a:p>
            <a:pPr marL="12700">
              <a:lnSpc>
                <a:spcPts val="800"/>
              </a:lnSpc>
              <a:spcBef>
                <a:spcPts val="100"/>
              </a:spcBef>
            </a:pPr>
            <a:r>
              <a:rPr sz="750" spc="-50">
                <a:solidFill>
                  <a:srgbClr val="1D40AF"/>
                </a:solidFill>
                <a:latin typeface="宋体"/>
                <a:cs typeface="宋体"/>
              </a:rPr>
              <a:t>现象 </a:t>
            </a:r>
            <a:r>
              <a:rPr sz="750" spc="70">
                <a:solidFill>
                  <a:srgbClr val="1D40AF"/>
                </a:solidFill>
                <a:latin typeface="宋体"/>
                <a:cs typeface="宋体"/>
              </a:rPr>
              <a:t>1</a:t>
            </a:r>
            <a:r>
              <a:rPr sz="750" spc="-140">
                <a:solidFill>
                  <a:srgbClr val="1D40AF"/>
                </a:solidFill>
                <a:latin typeface="宋体"/>
                <a:cs typeface="宋体"/>
              </a:rPr>
              <a:t> </a:t>
            </a:r>
            <a:r>
              <a:rPr sz="750" spc="-10">
                <a:solidFill>
                  <a:srgbClr val="1D40AF"/>
                </a:solidFill>
                <a:latin typeface="宋体"/>
                <a:cs typeface="宋体"/>
              </a:rPr>
              <a:t>(25%</a:t>
            </a:r>
            <a:r>
              <a:rPr sz="750" spc="-20">
                <a:solidFill>
                  <a:srgbClr val="1D40AF"/>
                </a:solidFill>
                <a:latin typeface="宋体"/>
                <a:cs typeface="宋体"/>
              </a:rPr>
              <a:t>变量集)</a:t>
            </a:r>
            <a:endParaRPr sz="750">
              <a:latin typeface="宋体"/>
              <a:cs typeface="宋体"/>
            </a:endParaRPr>
          </a:p>
          <a:p>
            <a:pPr marL="12700">
              <a:lnSpc>
                <a:spcPts val="2480"/>
              </a:lnSpc>
            </a:pPr>
            <a:r>
              <a:rPr sz="1550" b="1" spc="320">
                <a:solidFill>
                  <a:srgbClr val="1D40AF"/>
                </a:solidFill>
                <a:latin typeface="Trebuchet MS"/>
                <a:cs typeface="Trebuchet MS"/>
              </a:rPr>
              <a:t>-</a:t>
            </a:r>
            <a:r>
              <a:rPr sz="1550" b="1" spc="-25">
                <a:solidFill>
                  <a:srgbClr val="1D40AF"/>
                </a:solidFill>
                <a:latin typeface="Trebuchet MS"/>
                <a:cs typeface="Trebuchet MS"/>
              </a:rPr>
              <a:t>70</a:t>
            </a:r>
            <a:r>
              <a:rPr sz="2150" b="1" spc="-25">
                <a:solidFill>
                  <a:srgbClr val="1D40AF"/>
                </a:solidFill>
                <a:latin typeface="Calibri"/>
                <a:cs typeface="Calibri"/>
              </a:rPr>
              <a:t>%</a:t>
            </a:r>
            <a:endParaRPr sz="2150">
              <a:latin typeface="Calibri"/>
              <a:cs typeface="Calibri"/>
            </a:endParaRPr>
          </a:p>
          <a:p>
            <a:pPr marL="12700">
              <a:lnSpc>
                <a:spcPct val="100000"/>
              </a:lnSpc>
              <a:spcBef>
                <a:spcPts val="45"/>
              </a:spcBef>
            </a:pPr>
            <a:r>
              <a:rPr sz="650" spc="-5">
                <a:solidFill>
                  <a:srgbClr val="6A7280"/>
                </a:solidFill>
                <a:latin typeface="宋体"/>
                <a:cs typeface="宋体"/>
              </a:rPr>
              <a:t>训练计算时间大幅降低</a:t>
            </a:r>
            <a:endParaRPr sz="650">
              <a:latin typeface="宋体"/>
              <a:cs typeface="宋体"/>
            </a:endParaRPr>
          </a:p>
        </p:txBody>
      </p:sp>
      <p:sp>
        <p:nvSpPr>
          <p:cNvPr id="13" name="object 13"/>
          <p:cNvSpPr txBox="1"/>
          <p:nvPr/>
        </p:nvSpPr>
        <p:spPr>
          <a:xfrm>
            <a:off x="2844799" y="3397250"/>
            <a:ext cx="1148715" cy="509270"/>
          </a:xfrm>
          <a:prstGeom prst="rect">
            <a:avLst/>
          </a:prstGeom>
        </p:spPr>
        <p:txBody>
          <a:bodyPr vert="horz" wrap="square" lIns="0" tIns="12700" rIns="0" bIns="0" rtlCol="0">
            <a:spAutoFit/>
          </a:bodyPr>
          <a:lstStyle/>
          <a:p>
            <a:pPr marL="12700">
              <a:lnSpc>
                <a:spcPts val="850"/>
              </a:lnSpc>
              <a:spcBef>
                <a:spcPts val="100"/>
              </a:spcBef>
            </a:pPr>
            <a:r>
              <a:rPr sz="750">
                <a:solidFill>
                  <a:srgbClr val="B45309"/>
                </a:solidFill>
                <a:latin typeface="宋体"/>
                <a:cs typeface="宋体"/>
              </a:rPr>
              <a:t>METR-LA</a:t>
            </a:r>
            <a:r>
              <a:rPr sz="750" spc="5">
                <a:solidFill>
                  <a:srgbClr val="B45309"/>
                </a:solidFill>
                <a:latin typeface="宋体"/>
                <a:cs typeface="宋体"/>
              </a:rPr>
              <a:t> 误差幅度</a:t>
            </a:r>
            <a:endParaRPr sz="750">
              <a:latin typeface="宋体"/>
              <a:cs typeface="宋体"/>
            </a:endParaRPr>
          </a:p>
          <a:p>
            <a:pPr marL="12700">
              <a:lnSpc>
                <a:spcPts val="1870"/>
              </a:lnSpc>
            </a:pPr>
            <a:r>
              <a:rPr sz="1150" b="1" spc="-10">
                <a:solidFill>
                  <a:srgbClr val="B45309"/>
                </a:solidFill>
                <a:latin typeface="Arial"/>
                <a:cs typeface="Arial"/>
              </a:rPr>
              <a:t>9.14</a:t>
            </a:r>
            <a:r>
              <a:rPr sz="1600" b="1" spc="-10">
                <a:solidFill>
                  <a:srgbClr val="B45309"/>
                </a:solidFill>
                <a:latin typeface="Calibri"/>
                <a:cs typeface="Calibri"/>
              </a:rPr>
              <a:t>%</a:t>
            </a:r>
            <a:r>
              <a:rPr sz="1600" b="1" spc="-80">
                <a:solidFill>
                  <a:srgbClr val="B45309"/>
                </a:solidFill>
                <a:latin typeface="Calibri"/>
                <a:cs typeface="Calibri"/>
              </a:rPr>
              <a:t> </a:t>
            </a:r>
            <a:r>
              <a:rPr sz="900">
                <a:solidFill>
                  <a:srgbClr val="9CA2AF"/>
                </a:solidFill>
                <a:latin typeface="宋体"/>
                <a:cs typeface="宋体"/>
              </a:rPr>
              <a:t>→</a:t>
            </a:r>
            <a:r>
              <a:rPr sz="900" spc="-150">
                <a:solidFill>
                  <a:srgbClr val="9CA2AF"/>
                </a:solidFill>
                <a:latin typeface="宋体"/>
                <a:cs typeface="宋体"/>
              </a:rPr>
              <a:t> </a:t>
            </a:r>
            <a:r>
              <a:rPr sz="1150" b="1" spc="-20">
                <a:solidFill>
                  <a:srgbClr val="B45309"/>
                </a:solidFill>
                <a:latin typeface="Arial"/>
                <a:cs typeface="Arial"/>
              </a:rPr>
              <a:t>9.20</a:t>
            </a:r>
            <a:r>
              <a:rPr sz="1600" b="1" spc="-20">
                <a:solidFill>
                  <a:srgbClr val="B45309"/>
                </a:solidFill>
                <a:latin typeface="Calibri"/>
                <a:cs typeface="Calibri"/>
              </a:rPr>
              <a:t>%</a:t>
            </a:r>
            <a:endParaRPr sz="1600">
              <a:latin typeface="Calibri"/>
              <a:cs typeface="Calibri"/>
            </a:endParaRPr>
          </a:p>
          <a:p>
            <a:pPr marL="12700">
              <a:lnSpc>
                <a:spcPct val="100000"/>
              </a:lnSpc>
              <a:spcBef>
                <a:spcPts val="305"/>
              </a:spcBef>
            </a:pPr>
            <a:r>
              <a:rPr sz="650" spc="80">
                <a:solidFill>
                  <a:srgbClr val="6A7280"/>
                </a:solidFill>
                <a:latin typeface="宋体"/>
                <a:cs typeface="宋体"/>
              </a:rPr>
              <a:t>仅缓增 </a:t>
            </a:r>
            <a:r>
              <a:rPr sz="650">
                <a:solidFill>
                  <a:srgbClr val="6A7280"/>
                </a:solidFill>
                <a:latin typeface="宋体"/>
                <a:cs typeface="宋体"/>
              </a:rPr>
              <a:t>0.06%，</a:t>
            </a:r>
            <a:r>
              <a:rPr sz="650" spc="-10">
                <a:solidFill>
                  <a:srgbClr val="6A7280"/>
                </a:solidFill>
                <a:latin typeface="宋体"/>
                <a:cs typeface="宋体"/>
              </a:rPr>
              <a:t>退化微乎其微</a:t>
            </a:r>
            <a:endParaRPr sz="650">
              <a:latin typeface="宋体"/>
              <a:cs typeface="宋体"/>
            </a:endParaRPr>
          </a:p>
        </p:txBody>
      </p:sp>
      <p:sp>
        <p:nvSpPr>
          <p:cNvPr id="14" name="object 14"/>
          <p:cNvSpPr txBox="1"/>
          <p:nvPr/>
        </p:nvSpPr>
        <p:spPr>
          <a:xfrm>
            <a:off x="768349" y="4827904"/>
            <a:ext cx="3970020" cy="368300"/>
          </a:xfrm>
          <a:prstGeom prst="rect">
            <a:avLst/>
          </a:prstGeom>
        </p:spPr>
        <p:txBody>
          <a:bodyPr vert="horz" wrap="square" lIns="0" tIns="12065" rIns="0" bIns="0" rtlCol="0">
            <a:spAutoFit/>
          </a:bodyPr>
          <a:lstStyle/>
          <a:p>
            <a:pPr marL="12700" marR="5080">
              <a:lnSpc>
                <a:spcPct val="140600"/>
              </a:lnSpc>
              <a:spcBef>
                <a:spcPts val="95"/>
              </a:spcBef>
            </a:pPr>
            <a:r>
              <a:rPr sz="800" spc="-40">
                <a:solidFill>
                  <a:srgbClr val="111726"/>
                </a:solidFill>
                <a:latin typeface="宋体"/>
                <a:cs typeface="宋体"/>
              </a:rPr>
              <a:t>现象 </a:t>
            </a:r>
            <a:r>
              <a:rPr sz="800" spc="90">
                <a:solidFill>
                  <a:srgbClr val="111726"/>
                </a:solidFill>
                <a:latin typeface="宋体"/>
                <a:cs typeface="宋体"/>
              </a:rPr>
              <a:t>2</a:t>
            </a:r>
            <a:r>
              <a:rPr sz="800" spc="-60">
                <a:solidFill>
                  <a:srgbClr val="111726"/>
                </a:solidFill>
                <a:latin typeface="宋体"/>
                <a:cs typeface="宋体"/>
              </a:rPr>
              <a:t> (消融对比)： </a:t>
            </a:r>
            <a:r>
              <a:rPr sz="800" spc="-35">
                <a:solidFill>
                  <a:srgbClr val="4A5462"/>
                </a:solidFill>
                <a:latin typeface="宋体"/>
                <a:cs typeface="宋体"/>
              </a:rPr>
              <a:t>对比 </a:t>
            </a:r>
            <a:r>
              <a:rPr sz="800" spc="80">
                <a:solidFill>
                  <a:srgbClr val="4A5462"/>
                </a:solidFill>
                <a:latin typeface="宋体"/>
                <a:cs typeface="宋体"/>
              </a:rPr>
              <a:t>w/</a:t>
            </a:r>
            <a:r>
              <a:rPr sz="800" spc="-105">
                <a:solidFill>
                  <a:srgbClr val="4A5462"/>
                </a:solidFill>
                <a:latin typeface="宋体"/>
                <a:cs typeface="宋体"/>
              </a:rPr>
              <a:t> </a:t>
            </a:r>
            <a:r>
              <a:rPr sz="800" spc="-50">
                <a:solidFill>
                  <a:srgbClr val="4A5462"/>
                </a:solidFill>
                <a:latin typeface="宋体"/>
                <a:cs typeface="宋体"/>
              </a:rPr>
              <a:t>strategy</a:t>
            </a:r>
            <a:r>
              <a:rPr sz="800" spc="-70">
                <a:solidFill>
                  <a:srgbClr val="4A5462"/>
                </a:solidFill>
                <a:latin typeface="宋体"/>
                <a:cs typeface="宋体"/>
              </a:rPr>
              <a:t> (启用打乱) 与 </a:t>
            </a:r>
            <a:r>
              <a:rPr sz="800" spc="70">
                <a:solidFill>
                  <a:srgbClr val="4A5462"/>
                </a:solidFill>
                <a:latin typeface="宋体"/>
                <a:cs typeface="宋体"/>
              </a:rPr>
              <a:t>w/o</a:t>
            </a:r>
            <a:r>
              <a:rPr sz="800" spc="-105">
                <a:solidFill>
                  <a:srgbClr val="4A5462"/>
                </a:solidFill>
                <a:latin typeface="宋体"/>
                <a:cs typeface="宋体"/>
              </a:rPr>
              <a:t> </a:t>
            </a:r>
            <a:r>
              <a:rPr sz="800" spc="-50">
                <a:solidFill>
                  <a:srgbClr val="4A5462"/>
                </a:solidFill>
                <a:latin typeface="宋体"/>
                <a:cs typeface="宋体"/>
              </a:rPr>
              <a:t>strategy</a:t>
            </a:r>
            <a:r>
              <a:rPr sz="800" spc="-30">
                <a:solidFill>
                  <a:srgbClr val="4A5462"/>
                </a:solidFill>
                <a:latin typeface="宋体"/>
                <a:cs typeface="宋体"/>
              </a:rPr>
              <a:t> 发现，数据越是稀缺</a:t>
            </a:r>
            <a:r>
              <a:rPr sz="800">
                <a:solidFill>
                  <a:srgbClr val="4A5462"/>
                </a:solidFill>
                <a:latin typeface="宋体"/>
                <a:cs typeface="宋体"/>
              </a:rPr>
              <a:t>匮乏，正则化策略带来的性能保底效应(gap)</a:t>
            </a:r>
            <a:r>
              <a:rPr sz="800" spc="-10">
                <a:solidFill>
                  <a:srgbClr val="4A5462"/>
                </a:solidFill>
                <a:latin typeface="宋体"/>
                <a:cs typeface="宋体"/>
              </a:rPr>
              <a:t>拉得越大。</a:t>
            </a:r>
            <a:endParaRPr sz="800">
              <a:latin typeface="宋体"/>
              <a:cs typeface="宋体"/>
            </a:endParaRPr>
          </a:p>
        </p:txBody>
      </p:sp>
      <p:grpSp>
        <p:nvGrpSpPr>
          <p:cNvPr id="15" name="object 15"/>
          <p:cNvGrpSpPr/>
          <p:nvPr/>
        </p:nvGrpSpPr>
        <p:grpSpPr>
          <a:xfrm>
            <a:off x="380999" y="5648324"/>
            <a:ext cx="4629150" cy="828675"/>
            <a:chOff x="380999" y="5648324"/>
            <a:chExt cx="4629150" cy="828675"/>
          </a:xfrm>
        </p:grpSpPr>
        <p:sp>
          <p:nvSpPr>
            <p:cNvPr id="16" name="object 16"/>
            <p:cNvSpPr/>
            <p:nvPr/>
          </p:nvSpPr>
          <p:spPr>
            <a:xfrm>
              <a:off x="380999" y="5648324"/>
              <a:ext cx="4629150" cy="828675"/>
            </a:xfrm>
            <a:custGeom>
              <a:avLst/>
              <a:gdLst/>
              <a:ahLst/>
              <a:cxnLst/>
              <a:rect l="l" t="t" r="r" b="b"/>
              <a:pathLst>
                <a:path w="4629150" h="828675">
                  <a:moveTo>
                    <a:pt x="4522354" y="828674"/>
                  </a:moveTo>
                  <a:lnTo>
                    <a:pt x="106794" y="828674"/>
                  </a:lnTo>
                  <a:lnTo>
                    <a:pt x="99362" y="827943"/>
                  </a:lnTo>
                  <a:lnTo>
                    <a:pt x="57038" y="813580"/>
                  </a:lnTo>
                  <a:lnTo>
                    <a:pt x="23432" y="784116"/>
                  </a:lnTo>
                  <a:lnTo>
                    <a:pt x="3660" y="744034"/>
                  </a:lnTo>
                  <a:lnTo>
                    <a:pt x="0" y="721879"/>
                  </a:lnTo>
                  <a:lnTo>
                    <a:pt x="0" y="714374"/>
                  </a:lnTo>
                  <a:lnTo>
                    <a:pt x="0" y="106794"/>
                  </a:lnTo>
                  <a:lnTo>
                    <a:pt x="11572" y="63624"/>
                  </a:lnTo>
                  <a:lnTo>
                    <a:pt x="38784" y="28170"/>
                  </a:lnTo>
                  <a:lnTo>
                    <a:pt x="77493" y="5828"/>
                  </a:lnTo>
                  <a:lnTo>
                    <a:pt x="106794" y="0"/>
                  </a:lnTo>
                  <a:lnTo>
                    <a:pt x="4522354" y="0"/>
                  </a:lnTo>
                  <a:lnTo>
                    <a:pt x="4565523" y="11572"/>
                  </a:lnTo>
                  <a:lnTo>
                    <a:pt x="4600978" y="38783"/>
                  </a:lnTo>
                  <a:lnTo>
                    <a:pt x="4623320" y="77492"/>
                  </a:lnTo>
                  <a:lnTo>
                    <a:pt x="4629149" y="106794"/>
                  </a:lnTo>
                  <a:lnTo>
                    <a:pt x="4629149" y="721879"/>
                  </a:lnTo>
                  <a:lnTo>
                    <a:pt x="4617576" y="765048"/>
                  </a:lnTo>
                  <a:lnTo>
                    <a:pt x="4590364" y="800503"/>
                  </a:lnTo>
                  <a:lnTo>
                    <a:pt x="4551656" y="822846"/>
                  </a:lnTo>
                  <a:lnTo>
                    <a:pt x="4529787" y="827943"/>
                  </a:lnTo>
                  <a:lnTo>
                    <a:pt x="4522354" y="828674"/>
                  </a:lnTo>
                  <a:close/>
                </a:path>
              </a:pathLst>
            </a:custGeom>
            <a:solidFill>
              <a:srgbClr val="111726"/>
            </a:solidFill>
          </p:spPr>
          <p:txBody>
            <a:bodyPr wrap="square" lIns="0" tIns="0" rIns="0" bIns="0" rtlCol="0"/>
            <a:lstStyle/>
            <a:p>
              <a:endParaRPr/>
            </a:p>
          </p:txBody>
        </p:sp>
        <p:sp>
          <p:nvSpPr>
            <p:cNvPr id="17" name="object 17"/>
            <p:cNvSpPr/>
            <p:nvPr/>
          </p:nvSpPr>
          <p:spPr>
            <a:xfrm>
              <a:off x="514349" y="5781674"/>
              <a:ext cx="266700" cy="266700"/>
            </a:xfrm>
            <a:custGeom>
              <a:avLst/>
              <a:gdLst/>
              <a:ahLst/>
              <a:cxnLst/>
              <a:rect l="l" t="t" r="r" b="b"/>
              <a:pathLst>
                <a:path w="266700" h="266700">
                  <a:moveTo>
                    <a:pt x="195503" y="266699"/>
                  </a:moveTo>
                  <a:lnTo>
                    <a:pt x="71196" y="266699"/>
                  </a:lnTo>
                  <a:lnTo>
                    <a:pt x="66241" y="266211"/>
                  </a:lnTo>
                  <a:lnTo>
                    <a:pt x="29705" y="251077"/>
                  </a:lnTo>
                  <a:lnTo>
                    <a:pt x="3885" y="215037"/>
                  </a:lnTo>
                  <a:lnTo>
                    <a:pt x="0" y="195503"/>
                  </a:lnTo>
                  <a:lnTo>
                    <a:pt x="0" y="190499"/>
                  </a:lnTo>
                  <a:lnTo>
                    <a:pt x="0" y="71196"/>
                  </a:lnTo>
                  <a:lnTo>
                    <a:pt x="15621" y="29705"/>
                  </a:lnTo>
                  <a:lnTo>
                    <a:pt x="51662" y="3885"/>
                  </a:lnTo>
                  <a:lnTo>
                    <a:pt x="71196" y="0"/>
                  </a:lnTo>
                  <a:lnTo>
                    <a:pt x="195503" y="0"/>
                  </a:lnTo>
                  <a:lnTo>
                    <a:pt x="236994" y="15621"/>
                  </a:lnTo>
                  <a:lnTo>
                    <a:pt x="262814" y="51661"/>
                  </a:lnTo>
                  <a:lnTo>
                    <a:pt x="266699" y="71196"/>
                  </a:lnTo>
                  <a:lnTo>
                    <a:pt x="266699" y="195503"/>
                  </a:lnTo>
                  <a:lnTo>
                    <a:pt x="251078" y="236994"/>
                  </a:lnTo>
                  <a:lnTo>
                    <a:pt x="215037" y="262813"/>
                  </a:lnTo>
                  <a:lnTo>
                    <a:pt x="200458" y="266211"/>
                  </a:lnTo>
                  <a:lnTo>
                    <a:pt x="195503" y="266699"/>
                  </a:lnTo>
                  <a:close/>
                </a:path>
              </a:pathLst>
            </a:custGeom>
            <a:solidFill>
              <a:srgbClr val="D97705"/>
            </a:solidFill>
          </p:spPr>
          <p:txBody>
            <a:bodyPr wrap="square" lIns="0" tIns="0" rIns="0" bIns="0" rtlCol="0"/>
            <a:lstStyle/>
            <a:p>
              <a:endParaRPr/>
            </a:p>
          </p:txBody>
        </p:sp>
        <p:sp>
          <p:nvSpPr>
            <p:cNvPr id="18" name="object 18"/>
            <p:cNvSpPr/>
            <p:nvPr/>
          </p:nvSpPr>
          <p:spPr>
            <a:xfrm>
              <a:off x="628649" y="5902324"/>
              <a:ext cx="38100" cy="25400"/>
            </a:xfrm>
            <a:custGeom>
              <a:avLst/>
              <a:gdLst/>
              <a:ahLst/>
              <a:cxnLst/>
              <a:rect l="l" t="t" r="r" b="b"/>
              <a:pathLst>
                <a:path w="38100" h="25400">
                  <a:moveTo>
                    <a:pt x="0" y="12700"/>
                  </a:moveTo>
                  <a:lnTo>
                    <a:pt x="12700" y="25400"/>
                  </a:lnTo>
                  <a:lnTo>
                    <a:pt x="38100" y="0"/>
                  </a:lnTo>
                </a:path>
              </a:pathLst>
            </a:custGeom>
            <a:ln w="12700">
              <a:solidFill>
                <a:srgbClr val="FFFFFF"/>
              </a:solidFill>
            </a:ln>
          </p:spPr>
          <p:txBody>
            <a:bodyPr wrap="square" lIns="0" tIns="0" rIns="0" bIns="0" rtlCol="0"/>
            <a:lstStyle/>
            <a:p>
              <a:endParaRPr/>
            </a:p>
          </p:txBody>
        </p:sp>
      </p:grpSp>
      <p:sp>
        <p:nvSpPr>
          <p:cNvPr id="19" name="object 19"/>
          <p:cNvSpPr txBox="1"/>
          <p:nvPr/>
        </p:nvSpPr>
        <p:spPr>
          <a:xfrm>
            <a:off x="882650" y="5728486"/>
            <a:ext cx="3911600" cy="588010"/>
          </a:xfrm>
          <a:prstGeom prst="rect">
            <a:avLst/>
          </a:prstGeom>
        </p:spPr>
        <p:txBody>
          <a:bodyPr vert="horz" wrap="square" lIns="0" tIns="55880" rIns="0" bIns="0" rtlCol="0">
            <a:spAutoFit/>
          </a:bodyPr>
          <a:lstStyle/>
          <a:p>
            <a:pPr marL="12700">
              <a:lnSpc>
                <a:spcPct val="100000"/>
              </a:lnSpc>
              <a:spcBef>
                <a:spcPts val="440"/>
              </a:spcBef>
            </a:pPr>
            <a:r>
              <a:rPr sz="800" spc="60">
                <a:solidFill>
                  <a:srgbClr val="FABE24"/>
                </a:solidFill>
                <a:latin typeface="宋体"/>
                <a:cs typeface="宋体"/>
              </a:rPr>
              <a:t>结论归纳</a:t>
            </a:r>
            <a:endParaRPr sz="800">
              <a:latin typeface="宋体"/>
              <a:cs typeface="宋体"/>
            </a:endParaRPr>
          </a:p>
          <a:p>
            <a:pPr marL="12700" marR="5080">
              <a:lnSpc>
                <a:spcPct val="120800"/>
              </a:lnSpc>
              <a:spcBef>
                <a:spcPts val="170"/>
              </a:spcBef>
            </a:pPr>
            <a:r>
              <a:rPr sz="1000" spc="-105">
                <a:solidFill>
                  <a:srgbClr val="D0D5DA"/>
                </a:solidFill>
                <a:latin typeface="宋体"/>
                <a:cs typeface="宋体"/>
              </a:rPr>
              <a:t>混洗策略不仅仅防止了过拟合索引，本质上起到了强泛化约束的功能，大幅增</a:t>
            </a:r>
            <a:r>
              <a:rPr sz="1000" spc="-100">
                <a:solidFill>
                  <a:srgbClr val="D0D5DA"/>
                </a:solidFill>
                <a:latin typeface="宋体"/>
                <a:cs typeface="宋体"/>
              </a:rPr>
              <a:t>强了其处理</a:t>
            </a:r>
            <a:r>
              <a:rPr sz="1050" spc="-190">
                <a:solidFill>
                  <a:srgbClr val="D0D5DA"/>
                </a:solidFill>
                <a:latin typeface="Trebuchet MS"/>
                <a:cs typeface="Trebuchet MS"/>
              </a:rPr>
              <a:t>“</a:t>
            </a:r>
            <a:r>
              <a:rPr sz="1000" spc="-100">
                <a:solidFill>
                  <a:srgbClr val="D0D5DA"/>
                </a:solidFill>
                <a:latin typeface="宋体"/>
                <a:cs typeface="宋体"/>
              </a:rPr>
              <a:t>未见特征</a:t>
            </a:r>
            <a:r>
              <a:rPr sz="1050">
                <a:solidFill>
                  <a:srgbClr val="D0D5DA"/>
                </a:solidFill>
                <a:latin typeface="Trebuchet MS"/>
                <a:cs typeface="Trebuchet MS"/>
              </a:rPr>
              <a:t>(</a:t>
            </a:r>
            <a:r>
              <a:rPr sz="900">
                <a:solidFill>
                  <a:srgbClr val="FABE24"/>
                </a:solidFill>
                <a:latin typeface="Courier New"/>
                <a:cs typeface="Courier New"/>
              </a:rPr>
              <a:t>Unseen </a:t>
            </a:r>
            <a:r>
              <a:rPr sz="900" spc="-35">
                <a:solidFill>
                  <a:srgbClr val="FABE24"/>
                </a:solidFill>
                <a:latin typeface="Courier New"/>
                <a:cs typeface="Courier New"/>
              </a:rPr>
              <a:t>channels</a:t>
            </a:r>
            <a:r>
              <a:rPr sz="1050" spc="-35">
                <a:solidFill>
                  <a:srgbClr val="D0D5DA"/>
                </a:solidFill>
                <a:latin typeface="Trebuchet MS"/>
                <a:cs typeface="Trebuchet MS"/>
              </a:rPr>
              <a:t>)”</a:t>
            </a:r>
            <a:r>
              <a:rPr sz="1000" spc="-100">
                <a:solidFill>
                  <a:srgbClr val="D0D5DA"/>
                </a:solidFill>
                <a:latin typeface="宋体"/>
                <a:cs typeface="宋体"/>
              </a:rPr>
              <a:t>的零样本冷启动适应力。</a:t>
            </a:r>
            <a:endParaRPr sz="1000">
              <a:latin typeface="宋体"/>
              <a:cs typeface="宋体"/>
            </a:endParaRPr>
          </a:p>
        </p:txBody>
      </p:sp>
      <p:grpSp>
        <p:nvGrpSpPr>
          <p:cNvPr id="20" name="object 20"/>
          <p:cNvGrpSpPr/>
          <p:nvPr/>
        </p:nvGrpSpPr>
        <p:grpSpPr>
          <a:xfrm>
            <a:off x="5238749" y="1152525"/>
            <a:ext cx="6572250" cy="5324475"/>
            <a:chOff x="5238749" y="1152525"/>
            <a:chExt cx="6572250" cy="5324475"/>
          </a:xfrm>
        </p:grpSpPr>
        <p:sp>
          <p:nvSpPr>
            <p:cNvPr id="21" name="object 21"/>
            <p:cNvSpPr/>
            <p:nvPr/>
          </p:nvSpPr>
          <p:spPr>
            <a:xfrm>
              <a:off x="5243512" y="1157287"/>
              <a:ext cx="6562725" cy="5314950"/>
            </a:xfrm>
            <a:custGeom>
              <a:avLst/>
              <a:gdLst/>
              <a:ahLst/>
              <a:cxnLst/>
              <a:rect l="l" t="t" r="r" b="b"/>
              <a:pathLst>
                <a:path w="6562725" h="5314950">
                  <a:moveTo>
                    <a:pt x="6460379" y="5314949"/>
                  </a:moveTo>
                  <a:lnTo>
                    <a:pt x="102345" y="5314949"/>
                  </a:lnTo>
                  <a:lnTo>
                    <a:pt x="95221" y="5314247"/>
                  </a:lnTo>
                  <a:lnTo>
                    <a:pt x="54661" y="5300484"/>
                  </a:lnTo>
                  <a:lnTo>
                    <a:pt x="22456" y="5272247"/>
                  </a:lnTo>
                  <a:lnTo>
                    <a:pt x="3507" y="5233835"/>
                  </a:lnTo>
                  <a:lnTo>
                    <a:pt x="0" y="5212604"/>
                  </a:lnTo>
                  <a:lnTo>
                    <a:pt x="0" y="5205412"/>
                  </a:lnTo>
                  <a:lnTo>
                    <a:pt x="0" y="102345"/>
                  </a:lnTo>
                  <a:lnTo>
                    <a:pt x="11090" y="60974"/>
                  </a:lnTo>
                  <a:lnTo>
                    <a:pt x="37168" y="26997"/>
                  </a:lnTo>
                  <a:lnTo>
                    <a:pt x="74264" y="5585"/>
                  </a:lnTo>
                  <a:lnTo>
                    <a:pt x="102345" y="0"/>
                  </a:lnTo>
                  <a:lnTo>
                    <a:pt x="6460379" y="0"/>
                  </a:lnTo>
                  <a:lnTo>
                    <a:pt x="6501749" y="11090"/>
                  </a:lnTo>
                  <a:lnTo>
                    <a:pt x="6535726" y="37168"/>
                  </a:lnTo>
                  <a:lnTo>
                    <a:pt x="6557138" y="74264"/>
                  </a:lnTo>
                  <a:lnTo>
                    <a:pt x="6562724" y="102345"/>
                  </a:lnTo>
                  <a:lnTo>
                    <a:pt x="6562724" y="5212604"/>
                  </a:lnTo>
                  <a:lnTo>
                    <a:pt x="6551632" y="5253974"/>
                  </a:lnTo>
                  <a:lnTo>
                    <a:pt x="6525555" y="5287951"/>
                  </a:lnTo>
                  <a:lnTo>
                    <a:pt x="6488459" y="5309363"/>
                  </a:lnTo>
                  <a:lnTo>
                    <a:pt x="6467501" y="5314247"/>
                  </a:lnTo>
                  <a:lnTo>
                    <a:pt x="6460379" y="5314949"/>
                  </a:lnTo>
                  <a:close/>
                </a:path>
              </a:pathLst>
            </a:custGeom>
            <a:solidFill>
              <a:srgbClr val="F9FAFA"/>
            </a:solidFill>
          </p:spPr>
          <p:txBody>
            <a:bodyPr wrap="square" lIns="0" tIns="0" rIns="0" bIns="0" rtlCol="0"/>
            <a:lstStyle/>
            <a:p>
              <a:endParaRPr/>
            </a:p>
          </p:txBody>
        </p:sp>
        <p:sp>
          <p:nvSpPr>
            <p:cNvPr id="22" name="object 22"/>
            <p:cNvSpPr/>
            <p:nvPr/>
          </p:nvSpPr>
          <p:spPr>
            <a:xfrm>
              <a:off x="5243512" y="1157287"/>
              <a:ext cx="6562725" cy="5314950"/>
            </a:xfrm>
            <a:custGeom>
              <a:avLst/>
              <a:gdLst/>
              <a:ahLst/>
              <a:cxnLst/>
              <a:rect l="l" t="t" r="r" b="b"/>
              <a:pathLst>
                <a:path w="6562725" h="5314950">
                  <a:moveTo>
                    <a:pt x="0" y="5205412"/>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6453186" y="0"/>
                  </a:lnTo>
                  <a:lnTo>
                    <a:pt x="6460379" y="0"/>
                  </a:lnTo>
                  <a:lnTo>
                    <a:pt x="6467501" y="701"/>
                  </a:lnTo>
                  <a:lnTo>
                    <a:pt x="6474556" y="2104"/>
                  </a:lnTo>
                  <a:lnTo>
                    <a:pt x="6481610" y="3507"/>
                  </a:lnTo>
                  <a:lnTo>
                    <a:pt x="6488459" y="5585"/>
                  </a:lnTo>
                  <a:lnTo>
                    <a:pt x="6495104" y="8338"/>
                  </a:lnTo>
                  <a:lnTo>
                    <a:pt x="6501749" y="11090"/>
                  </a:lnTo>
                  <a:lnTo>
                    <a:pt x="6508061" y="14464"/>
                  </a:lnTo>
                  <a:lnTo>
                    <a:pt x="6514042" y="18460"/>
                  </a:lnTo>
                  <a:lnTo>
                    <a:pt x="6520022" y="22456"/>
                  </a:lnTo>
                  <a:lnTo>
                    <a:pt x="6525555" y="26997"/>
                  </a:lnTo>
                  <a:lnTo>
                    <a:pt x="6530640" y="32082"/>
                  </a:lnTo>
                  <a:lnTo>
                    <a:pt x="6535726" y="37168"/>
                  </a:lnTo>
                  <a:lnTo>
                    <a:pt x="6554385" y="67619"/>
                  </a:lnTo>
                  <a:lnTo>
                    <a:pt x="6557138" y="74264"/>
                  </a:lnTo>
                  <a:lnTo>
                    <a:pt x="6559215" y="81113"/>
                  </a:lnTo>
                  <a:lnTo>
                    <a:pt x="6560619" y="88167"/>
                  </a:lnTo>
                  <a:lnTo>
                    <a:pt x="6562022" y="95221"/>
                  </a:lnTo>
                  <a:lnTo>
                    <a:pt x="6562724" y="102345"/>
                  </a:lnTo>
                  <a:lnTo>
                    <a:pt x="6562724" y="109537"/>
                  </a:lnTo>
                  <a:lnTo>
                    <a:pt x="6562724" y="5205412"/>
                  </a:lnTo>
                  <a:lnTo>
                    <a:pt x="6562724" y="5212604"/>
                  </a:lnTo>
                  <a:lnTo>
                    <a:pt x="6562022" y="5219727"/>
                  </a:lnTo>
                  <a:lnTo>
                    <a:pt x="6548258" y="5260286"/>
                  </a:lnTo>
                  <a:lnTo>
                    <a:pt x="6520022" y="5292492"/>
                  </a:lnTo>
                  <a:lnTo>
                    <a:pt x="6495104" y="5306610"/>
                  </a:lnTo>
                  <a:lnTo>
                    <a:pt x="6488459" y="5309363"/>
                  </a:lnTo>
                  <a:lnTo>
                    <a:pt x="6481610" y="5311441"/>
                  </a:lnTo>
                  <a:lnTo>
                    <a:pt x="6474556" y="5312844"/>
                  </a:lnTo>
                  <a:lnTo>
                    <a:pt x="6467501" y="5314247"/>
                  </a:lnTo>
                  <a:lnTo>
                    <a:pt x="6460379" y="5314949"/>
                  </a:lnTo>
                  <a:lnTo>
                    <a:pt x="6453186" y="5314949"/>
                  </a:lnTo>
                  <a:lnTo>
                    <a:pt x="109537" y="5314949"/>
                  </a:lnTo>
                  <a:lnTo>
                    <a:pt x="102345" y="5314949"/>
                  </a:lnTo>
                  <a:lnTo>
                    <a:pt x="95221" y="5314247"/>
                  </a:lnTo>
                  <a:lnTo>
                    <a:pt x="88167" y="5312844"/>
                  </a:lnTo>
                  <a:lnTo>
                    <a:pt x="81113" y="5311441"/>
                  </a:lnTo>
                  <a:lnTo>
                    <a:pt x="74264" y="5309363"/>
                  </a:lnTo>
                  <a:lnTo>
                    <a:pt x="67619" y="5306610"/>
                  </a:lnTo>
                  <a:lnTo>
                    <a:pt x="60974" y="5303858"/>
                  </a:lnTo>
                  <a:lnTo>
                    <a:pt x="26997" y="5277780"/>
                  </a:lnTo>
                  <a:lnTo>
                    <a:pt x="18460" y="5266267"/>
                  </a:lnTo>
                  <a:lnTo>
                    <a:pt x="14464" y="5260286"/>
                  </a:lnTo>
                  <a:lnTo>
                    <a:pt x="701" y="5219727"/>
                  </a:lnTo>
                  <a:lnTo>
                    <a:pt x="0" y="5212604"/>
                  </a:lnTo>
                  <a:lnTo>
                    <a:pt x="0" y="5205412"/>
                  </a:lnTo>
                  <a:close/>
                </a:path>
              </a:pathLst>
            </a:custGeom>
            <a:ln w="9524">
              <a:solidFill>
                <a:srgbClr val="E4E7EB"/>
              </a:solidFill>
            </a:ln>
          </p:spPr>
          <p:txBody>
            <a:bodyPr wrap="square" lIns="0" tIns="0" rIns="0" bIns="0" rtlCol="0"/>
            <a:lstStyle/>
            <a:p>
              <a:endParaRPr/>
            </a:p>
          </p:txBody>
        </p:sp>
        <p:sp>
          <p:nvSpPr>
            <p:cNvPr id="23" name="object 23"/>
            <p:cNvSpPr/>
            <p:nvPr/>
          </p:nvSpPr>
          <p:spPr>
            <a:xfrm>
              <a:off x="5438774" y="1638299"/>
              <a:ext cx="6172200" cy="9525"/>
            </a:xfrm>
            <a:custGeom>
              <a:avLst/>
              <a:gdLst/>
              <a:ahLst/>
              <a:cxnLst/>
              <a:rect l="l" t="t" r="r" b="b"/>
              <a:pathLst>
                <a:path w="6172200" h="9525">
                  <a:moveTo>
                    <a:pt x="6172199" y="9524"/>
                  </a:moveTo>
                  <a:lnTo>
                    <a:pt x="0" y="9524"/>
                  </a:lnTo>
                  <a:lnTo>
                    <a:pt x="0" y="0"/>
                  </a:lnTo>
                  <a:lnTo>
                    <a:pt x="6172199" y="0"/>
                  </a:lnTo>
                  <a:lnTo>
                    <a:pt x="6172199" y="9524"/>
                  </a:lnTo>
                  <a:close/>
                </a:path>
              </a:pathLst>
            </a:custGeom>
            <a:solidFill>
              <a:srgbClr val="E4E7EB"/>
            </a:solidFill>
          </p:spPr>
          <p:txBody>
            <a:bodyPr wrap="square" lIns="0" tIns="0" rIns="0" bIns="0" rtlCol="0"/>
            <a:lstStyle/>
            <a:p>
              <a:endParaRPr/>
            </a:p>
          </p:txBody>
        </p:sp>
        <p:pic>
          <p:nvPicPr>
            <p:cNvPr id="24" name="object 24"/>
            <p:cNvPicPr/>
            <p:nvPr/>
          </p:nvPicPr>
          <p:blipFill>
            <a:blip r:embed="rId5" cstate="print"/>
            <a:stretch>
              <a:fillRect/>
            </a:stretch>
          </p:blipFill>
          <p:spPr>
            <a:xfrm>
              <a:off x="5438774" y="1400174"/>
              <a:ext cx="95250" cy="95249"/>
            </a:xfrm>
            <a:prstGeom prst="rect">
              <a:avLst/>
            </a:prstGeom>
          </p:spPr>
        </p:pic>
      </p:grpSp>
      <p:sp>
        <p:nvSpPr>
          <p:cNvPr id="25" name="object 25"/>
          <p:cNvSpPr txBox="1"/>
          <p:nvPr/>
        </p:nvSpPr>
        <p:spPr>
          <a:xfrm>
            <a:off x="5597524" y="1330325"/>
            <a:ext cx="1758950" cy="185420"/>
          </a:xfrm>
          <a:prstGeom prst="rect">
            <a:avLst/>
          </a:prstGeom>
        </p:spPr>
        <p:txBody>
          <a:bodyPr vert="horz" wrap="square" lIns="0" tIns="12700" rIns="0" bIns="0" rtlCol="0">
            <a:spAutoFit/>
          </a:bodyPr>
          <a:lstStyle/>
          <a:p>
            <a:pPr marL="12700">
              <a:lnSpc>
                <a:spcPct val="100000"/>
              </a:lnSpc>
              <a:spcBef>
                <a:spcPts val="100"/>
              </a:spcBef>
            </a:pPr>
            <a:r>
              <a:rPr sz="1050" spc="-5">
                <a:solidFill>
                  <a:srgbClr val="111726"/>
                </a:solidFill>
                <a:latin typeface="宋体"/>
                <a:cs typeface="宋体"/>
              </a:rPr>
              <a:t>引申规律与抗过拟合演进分析</a:t>
            </a:r>
            <a:endParaRPr sz="1050">
              <a:latin typeface="宋体"/>
              <a:cs typeface="宋体"/>
            </a:endParaRPr>
          </a:p>
        </p:txBody>
      </p:sp>
      <p:sp>
        <p:nvSpPr>
          <p:cNvPr id="26" name="object 26"/>
          <p:cNvSpPr/>
          <p:nvPr/>
        </p:nvSpPr>
        <p:spPr>
          <a:xfrm>
            <a:off x="10315573" y="1362074"/>
            <a:ext cx="1295400" cy="180975"/>
          </a:xfrm>
          <a:custGeom>
            <a:avLst/>
            <a:gdLst/>
            <a:ahLst/>
            <a:cxnLst/>
            <a:rect l="l" t="t" r="r" b="b"/>
            <a:pathLst>
              <a:path w="1295400" h="180975">
                <a:moveTo>
                  <a:pt x="1262352" y="180974"/>
                </a:moveTo>
                <a:lnTo>
                  <a:pt x="33047" y="180974"/>
                </a:lnTo>
                <a:lnTo>
                  <a:pt x="28187" y="180008"/>
                </a:lnTo>
                <a:lnTo>
                  <a:pt x="966" y="152787"/>
                </a:lnTo>
                <a:lnTo>
                  <a:pt x="0" y="147927"/>
                </a:lnTo>
                <a:lnTo>
                  <a:pt x="0" y="142874"/>
                </a:lnTo>
                <a:lnTo>
                  <a:pt x="0" y="33047"/>
                </a:lnTo>
                <a:lnTo>
                  <a:pt x="28187" y="966"/>
                </a:lnTo>
                <a:lnTo>
                  <a:pt x="33047" y="0"/>
                </a:lnTo>
                <a:lnTo>
                  <a:pt x="1262352" y="0"/>
                </a:lnTo>
                <a:lnTo>
                  <a:pt x="1294433" y="28187"/>
                </a:lnTo>
                <a:lnTo>
                  <a:pt x="1295399" y="33047"/>
                </a:lnTo>
                <a:lnTo>
                  <a:pt x="1295399" y="147927"/>
                </a:lnTo>
                <a:lnTo>
                  <a:pt x="1267212" y="180008"/>
                </a:lnTo>
                <a:lnTo>
                  <a:pt x="1262352" y="180974"/>
                </a:lnTo>
                <a:close/>
              </a:path>
            </a:pathLst>
          </a:custGeom>
          <a:solidFill>
            <a:srgbClr val="F2F4F5"/>
          </a:solidFill>
        </p:spPr>
        <p:txBody>
          <a:bodyPr wrap="square" lIns="0" tIns="0" rIns="0" bIns="0" rtlCol="0"/>
          <a:lstStyle/>
          <a:p>
            <a:endParaRPr/>
          </a:p>
        </p:txBody>
      </p:sp>
      <p:sp>
        <p:nvSpPr>
          <p:cNvPr id="27" name="object 27"/>
          <p:cNvSpPr txBox="1"/>
          <p:nvPr/>
        </p:nvSpPr>
        <p:spPr>
          <a:xfrm>
            <a:off x="10378776" y="1358900"/>
            <a:ext cx="1169035" cy="139700"/>
          </a:xfrm>
          <a:prstGeom prst="rect">
            <a:avLst/>
          </a:prstGeom>
        </p:spPr>
        <p:txBody>
          <a:bodyPr vert="horz" wrap="square" lIns="0" tIns="12700" rIns="0" bIns="0" rtlCol="0">
            <a:spAutoFit/>
          </a:bodyPr>
          <a:lstStyle/>
          <a:p>
            <a:pPr marL="12700">
              <a:lnSpc>
                <a:spcPct val="100000"/>
              </a:lnSpc>
              <a:spcBef>
                <a:spcPts val="100"/>
              </a:spcBef>
            </a:pPr>
            <a:r>
              <a:rPr sz="750" b="1">
                <a:solidFill>
                  <a:srgbClr val="9CA2AF"/>
                </a:solidFill>
                <a:latin typeface="Courier New"/>
                <a:cs typeface="Courier New"/>
              </a:rPr>
              <a:t>Fig. 4 </a:t>
            </a:r>
            <a:r>
              <a:rPr sz="750" b="1" spc="-10">
                <a:solidFill>
                  <a:srgbClr val="9CA2AF"/>
                </a:solidFill>
                <a:latin typeface="Courier New"/>
                <a:cs typeface="Courier New"/>
              </a:rPr>
              <a:t>Visualization</a:t>
            </a:r>
            <a:endParaRPr sz="750">
              <a:latin typeface="Courier New"/>
              <a:cs typeface="Courier New"/>
            </a:endParaRPr>
          </a:p>
        </p:txBody>
      </p:sp>
      <p:grpSp>
        <p:nvGrpSpPr>
          <p:cNvPr id="28" name="object 28"/>
          <p:cNvGrpSpPr/>
          <p:nvPr/>
        </p:nvGrpSpPr>
        <p:grpSpPr>
          <a:xfrm>
            <a:off x="5438774" y="6000749"/>
            <a:ext cx="6172200" cy="264160"/>
            <a:chOff x="5438774" y="6000749"/>
            <a:chExt cx="6172200" cy="264160"/>
          </a:xfrm>
        </p:grpSpPr>
        <p:sp>
          <p:nvSpPr>
            <p:cNvPr id="29" name="object 29"/>
            <p:cNvSpPr/>
            <p:nvPr/>
          </p:nvSpPr>
          <p:spPr>
            <a:xfrm>
              <a:off x="5438774" y="6000749"/>
              <a:ext cx="6172200" cy="9525"/>
            </a:xfrm>
            <a:custGeom>
              <a:avLst/>
              <a:gdLst/>
              <a:ahLst/>
              <a:cxnLst/>
              <a:rect l="l" t="t" r="r" b="b"/>
              <a:pathLst>
                <a:path w="6172200" h="9525">
                  <a:moveTo>
                    <a:pt x="6172199" y="9524"/>
                  </a:moveTo>
                  <a:lnTo>
                    <a:pt x="0" y="9524"/>
                  </a:lnTo>
                  <a:lnTo>
                    <a:pt x="0" y="0"/>
                  </a:lnTo>
                  <a:lnTo>
                    <a:pt x="6172199" y="0"/>
                  </a:lnTo>
                  <a:lnTo>
                    <a:pt x="6172199" y="9524"/>
                  </a:lnTo>
                  <a:close/>
                </a:path>
              </a:pathLst>
            </a:custGeom>
            <a:solidFill>
              <a:srgbClr val="E4E7EB"/>
            </a:solidFill>
          </p:spPr>
          <p:txBody>
            <a:bodyPr wrap="square" lIns="0" tIns="0" rIns="0" bIns="0" rtlCol="0"/>
            <a:lstStyle/>
            <a:p>
              <a:endParaRPr/>
            </a:p>
          </p:txBody>
        </p:sp>
        <p:pic>
          <p:nvPicPr>
            <p:cNvPr id="30" name="object 30"/>
            <p:cNvPicPr/>
            <p:nvPr/>
          </p:nvPicPr>
          <p:blipFill>
            <a:blip r:embed="rId6" cstate="print"/>
            <a:stretch>
              <a:fillRect/>
            </a:stretch>
          </p:blipFill>
          <p:spPr>
            <a:xfrm>
              <a:off x="5451473" y="6137294"/>
              <a:ext cx="127002" cy="127000"/>
            </a:xfrm>
            <a:prstGeom prst="rect">
              <a:avLst/>
            </a:prstGeom>
          </p:spPr>
        </p:pic>
      </p:grpSp>
      <p:sp>
        <p:nvSpPr>
          <p:cNvPr id="31" name="object 31"/>
          <p:cNvSpPr txBox="1"/>
          <p:nvPr/>
        </p:nvSpPr>
        <p:spPr>
          <a:xfrm>
            <a:off x="5673724" y="6092824"/>
            <a:ext cx="4742815" cy="151130"/>
          </a:xfrm>
          <a:prstGeom prst="rect">
            <a:avLst/>
          </a:prstGeom>
        </p:spPr>
        <p:txBody>
          <a:bodyPr vert="horz" wrap="square" lIns="0" tIns="15875" rIns="0" bIns="0" rtlCol="0">
            <a:spAutoFit/>
          </a:bodyPr>
          <a:lstStyle/>
          <a:p>
            <a:pPr marL="12700">
              <a:lnSpc>
                <a:spcPct val="100000"/>
              </a:lnSpc>
              <a:spcBef>
                <a:spcPts val="125"/>
              </a:spcBef>
            </a:pPr>
            <a:r>
              <a:rPr sz="800" spc="-95">
                <a:solidFill>
                  <a:srgbClr val="374050"/>
                </a:solidFill>
                <a:latin typeface="宋体"/>
                <a:cs typeface="宋体"/>
              </a:rPr>
              <a:t>Fig.</a:t>
            </a:r>
            <a:r>
              <a:rPr sz="800" spc="355">
                <a:solidFill>
                  <a:srgbClr val="374050"/>
                </a:solidFill>
                <a:latin typeface="宋体"/>
                <a:cs typeface="宋体"/>
              </a:rPr>
              <a:t> </a:t>
            </a:r>
            <a:r>
              <a:rPr sz="800" spc="-40">
                <a:solidFill>
                  <a:srgbClr val="374050"/>
                </a:solidFill>
                <a:latin typeface="宋体"/>
                <a:cs typeface="宋体"/>
              </a:rPr>
              <a:t>4:</a:t>
            </a:r>
            <a:r>
              <a:rPr sz="800" spc="360">
                <a:solidFill>
                  <a:srgbClr val="374050"/>
                </a:solidFill>
                <a:latin typeface="宋体"/>
                <a:cs typeface="宋体"/>
              </a:rPr>
              <a:t> </a:t>
            </a:r>
            <a:r>
              <a:rPr sz="800" spc="-5">
                <a:solidFill>
                  <a:srgbClr val="6A7280"/>
                </a:solidFill>
                <a:latin typeface="宋体"/>
                <a:cs typeface="宋体"/>
              </a:rPr>
              <a:t>在减少可用训练通道占比时，有无混洗正则化策略对归纳泛化和抗过拟合带来的增益分析对比。</a:t>
            </a:r>
            <a:endParaRPr sz="800">
              <a:latin typeface="宋体"/>
              <a:cs typeface="宋体"/>
            </a:endParaRPr>
          </a:p>
        </p:txBody>
      </p:sp>
      <p:grpSp>
        <p:nvGrpSpPr>
          <p:cNvPr id="32" name="object 32"/>
          <p:cNvGrpSpPr/>
          <p:nvPr/>
        </p:nvGrpSpPr>
        <p:grpSpPr>
          <a:xfrm>
            <a:off x="5397499" y="1717358"/>
            <a:ext cx="6208714" cy="4164329"/>
            <a:chOff x="5443537" y="1766887"/>
            <a:chExt cx="6162675" cy="4114800"/>
          </a:xfrm>
        </p:grpSpPr>
        <p:sp>
          <p:nvSpPr>
            <p:cNvPr id="33" name="object 33"/>
            <p:cNvSpPr/>
            <p:nvPr/>
          </p:nvSpPr>
          <p:spPr>
            <a:xfrm>
              <a:off x="5443537" y="1766887"/>
              <a:ext cx="6162675" cy="4114800"/>
            </a:xfrm>
            <a:custGeom>
              <a:avLst/>
              <a:gdLst/>
              <a:ahLst/>
              <a:cxnLst/>
              <a:rect l="l" t="t" r="r" b="b"/>
              <a:pathLst>
                <a:path w="6162675" h="4114800">
                  <a:moveTo>
                    <a:pt x="6095927" y="4114799"/>
                  </a:moveTo>
                  <a:lnTo>
                    <a:pt x="66746" y="4114799"/>
                  </a:lnTo>
                  <a:lnTo>
                    <a:pt x="62101" y="4114341"/>
                  </a:lnTo>
                  <a:lnTo>
                    <a:pt x="24240" y="4097192"/>
                  </a:lnTo>
                  <a:lnTo>
                    <a:pt x="2287" y="4061898"/>
                  </a:lnTo>
                  <a:lnTo>
                    <a:pt x="0" y="4048052"/>
                  </a:lnTo>
                  <a:lnTo>
                    <a:pt x="0" y="4043362"/>
                  </a:lnTo>
                  <a:lnTo>
                    <a:pt x="0" y="66746"/>
                  </a:lnTo>
                  <a:lnTo>
                    <a:pt x="14645" y="27848"/>
                  </a:lnTo>
                  <a:lnTo>
                    <a:pt x="48433" y="3642"/>
                  </a:lnTo>
                  <a:lnTo>
                    <a:pt x="66746" y="0"/>
                  </a:lnTo>
                  <a:lnTo>
                    <a:pt x="6095927" y="0"/>
                  </a:lnTo>
                  <a:lnTo>
                    <a:pt x="6134825" y="14645"/>
                  </a:lnTo>
                  <a:lnTo>
                    <a:pt x="6159031" y="48433"/>
                  </a:lnTo>
                  <a:lnTo>
                    <a:pt x="6162674" y="66746"/>
                  </a:lnTo>
                  <a:lnTo>
                    <a:pt x="6162674" y="4048052"/>
                  </a:lnTo>
                  <a:lnTo>
                    <a:pt x="6148028" y="4086950"/>
                  </a:lnTo>
                  <a:lnTo>
                    <a:pt x="6114240" y="4111155"/>
                  </a:lnTo>
                  <a:lnTo>
                    <a:pt x="6100573" y="4114341"/>
                  </a:lnTo>
                  <a:lnTo>
                    <a:pt x="6095927" y="4114799"/>
                  </a:lnTo>
                  <a:close/>
                </a:path>
              </a:pathLst>
            </a:custGeom>
            <a:solidFill>
              <a:srgbClr val="FFFFFF"/>
            </a:solidFill>
          </p:spPr>
          <p:txBody>
            <a:bodyPr wrap="square" lIns="0" tIns="0" rIns="0" bIns="0" rtlCol="0"/>
            <a:lstStyle/>
            <a:p>
              <a:endParaRPr/>
            </a:p>
          </p:txBody>
        </p:sp>
        <p:sp>
          <p:nvSpPr>
            <p:cNvPr id="34" name="object 34"/>
            <p:cNvSpPr/>
            <p:nvPr/>
          </p:nvSpPr>
          <p:spPr>
            <a:xfrm>
              <a:off x="5443537" y="1766887"/>
              <a:ext cx="6162675" cy="4114800"/>
            </a:xfrm>
            <a:custGeom>
              <a:avLst/>
              <a:gdLst/>
              <a:ahLst/>
              <a:cxnLst/>
              <a:rect l="l" t="t" r="r" b="b"/>
              <a:pathLst>
                <a:path w="6162675" h="4114800">
                  <a:moveTo>
                    <a:pt x="0" y="4043362"/>
                  </a:moveTo>
                  <a:lnTo>
                    <a:pt x="0" y="71437"/>
                  </a:lnTo>
                  <a:lnTo>
                    <a:pt x="0" y="66746"/>
                  </a:lnTo>
                  <a:lnTo>
                    <a:pt x="457" y="62101"/>
                  </a:lnTo>
                  <a:lnTo>
                    <a:pt x="1372" y="57500"/>
                  </a:lnTo>
                  <a:lnTo>
                    <a:pt x="2287" y="52900"/>
                  </a:lnTo>
                  <a:lnTo>
                    <a:pt x="3642" y="48433"/>
                  </a:lnTo>
                  <a:lnTo>
                    <a:pt x="5437" y="44099"/>
                  </a:lnTo>
                  <a:lnTo>
                    <a:pt x="7232" y="39765"/>
                  </a:lnTo>
                  <a:lnTo>
                    <a:pt x="9433" y="35648"/>
                  </a:lnTo>
                  <a:lnTo>
                    <a:pt x="12039" y="31748"/>
                  </a:lnTo>
                  <a:lnTo>
                    <a:pt x="14645" y="27848"/>
                  </a:lnTo>
                  <a:lnTo>
                    <a:pt x="31748" y="12039"/>
                  </a:lnTo>
                  <a:lnTo>
                    <a:pt x="35649" y="9433"/>
                  </a:lnTo>
                  <a:lnTo>
                    <a:pt x="39765" y="7232"/>
                  </a:lnTo>
                  <a:lnTo>
                    <a:pt x="44099" y="5437"/>
                  </a:lnTo>
                  <a:lnTo>
                    <a:pt x="48433" y="3642"/>
                  </a:lnTo>
                  <a:lnTo>
                    <a:pt x="52900" y="2287"/>
                  </a:lnTo>
                  <a:lnTo>
                    <a:pt x="57500" y="1372"/>
                  </a:lnTo>
                  <a:lnTo>
                    <a:pt x="62101" y="457"/>
                  </a:lnTo>
                  <a:lnTo>
                    <a:pt x="66746" y="0"/>
                  </a:lnTo>
                  <a:lnTo>
                    <a:pt x="71437" y="0"/>
                  </a:lnTo>
                  <a:lnTo>
                    <a:pt x="6091237" y="0"/>
                  </a:lnTo>
                  <a:lnTo>
                    <a:pt x="6095927" y="0"/>
                  </a:lnTo>
                  <a:lnTo>
                    <a:pt x="6100573" y="457"/>
                  </a:lnTo>
                  <a:lnTo>
                    <a:pt x="6105173" y="1372"/>
                  </a:lnTo>
                  <a:lnTo>
                    <a:pt x="6109773" y="2287"/>
                  </a:lnTo>
                  <a:lnTo>
                    <a:pt x="6114240" y="3642"/>
                  </a:lnTo>
                  <a:lnTo>
                    <a:pt x="6118574" y="5437"/>
                  </a:lnTo>
                  <a:lnTo>
                    <a:pt x="6122908" y="7232"/>
                  </a:lnTo>
                  <a:lnTo>
                    <a:pt x="6153240" y="35648"/>
                  </a:lnTo>
                  <a:lnTo>
                    <a:pt x="6162674" y="66746"/>
                  </a:lnTo>
                  <a:lnTo>
                    <a:pt x="6162674" y="71437"/>
                  </a:lnTo>
                  <a:lnTo>
                    <a:pt x="6162674" y="4043362"/>
                  </a:lnTo>
                  <a:lnTo>
                    <a:pt x="6162674" y="4048052"/>
                  </a:lnTo>
                  <a:lnTo>
                    <a:pt x="6162217" y="4052697"/>
                  </a:lnTo>
                  <a:lnTo>
                    <a:pt x="6150634" y="4083049"/>
                  </a:lnTo>
                  <a:lnTo>
                    <a:pt x="6148028" y="4086950"/>
                  </a:lnTo>
                  <a:lnTo>
                    <a:pt x="6114240" y="4111155"/>
                  </a:lnTo>
                  <a:lnTo>
                    <a:pt x="6105173" y="4113426"/>
                  </a:lnTo>
                  <a:lnTo>
                    <a:pt x="6100573" y="4114341"/>
                  </a:lnTo>
                  <a:lnTo>
                    <a:pt x="6095927" y="4114799"/>
                  </a:lnTo>
                  <a:lnTo>
                    <a:pt x="6091237" y="4114799"/>
                  </a:lnTo>
                  <a:lnTo>
                    <a:pt x="71437" y="4114799"/>
                  </a:lnTo>
                  <a:lnTo>
                    <a:pt x="66746" y="4114799"/>
                  </a:lnTo>
                  <a:lnTo>
                    <a:pt x="62101" y="4114341"/>
                  </a:lnTo>
                  <a:lnTo>
                    <a:pt x="57500" y="4113426"/>
                  </a:lnTo>
                  <a:lnTo>
                    <a:pt x="52900" y="4112511"/>
                  </a:lnTo>
                  <a:lnTo>
                    <a:pt x="17606" y="4090558"/>
                  </a:lnTo>
                  <a:lnTo>
                    <a:pt x="457" y="4052697"/>
                  </a:lnTo>
                  <a:lnTo>
                    <a:pt x="0" y="4048052"/>
                  </a:lnTo>
                  <a:lnTo>
                    <a:pt x="0" y="4043362"/>
                  </a:lnTo>
                  <a:close/>
                </a:path>
              </a:pathLst>
            </a:custGeom>
            <a:ln w="9524">
              <a:solidFill>
                <a:srgbClr val="F2F4F5"/>
              </a:solidFill>
            </a:ln>
          </p:spPr>
          <p:txBody>
            <a:bodyPr wrap="square" lIns="0" tIns="0" rIns="0" bIns="0" rtlCol="0"/>
            <a:lstStyle/>
            <a:p>
              <a:endParaRPr/>
            </a:p>
          </p:txBody>
        </p:sp>
        <p:pic>
          <p:nvPicPr>
            <p:cNvPr id="35" name="object 35"/>
            <p:cNvPicPr/>
            <p:nvPr/>
          </p:nvPicPr>
          <p:blipFill>
            <a:blip r:embed="rId7" cstate="print"/>
            <a:stretch>
              <a:fillRect/>
            </a:stretch>
          </p:blipFill>
          <p:spPr>
            <a:xfrm>
              <a:off x="5676899" y="3267075"/>
              <a:ext cx="5695950" cy="1114424"/>
            </a:xfrm>
            <a:prstGeom prst="rect">
              <a:avLst/>
            </a:prstGeom>
          </p:spPr>
        </p:pic>
      </p:grpSp>
      <p:pic>
        <p:nvPicPr>
          <p:cNvPr id="37" name="object 37"/>
          <p:cNvPicPr/>
          <p:nvPr/>
        </p:nvPicPr>
        <p:blipFill>
          <a:blip r:embed="rId8" cstate="print"/>
          <a:stretch>
            <a:fillRect/>
          </a:stretch>
        </p:blipFill>
        <p:spPr>
          <a:xfrm>
            <a:off x="0" y="0"/>
            <a:ext cx="12191999" cy="57149"/>
          </a:xfrm>
          <a:prstGeom prst="rect">
            <a:avLst/>
          </a:prstGeom>
        </p:spPr>
      </p:pic>
      <p:pic>
        <p:nvPicPr>
          <p:cNvPr id="38" name="object 38"/>
          <p:cNvPicPr/>
          <p:nvPr/>
        </p:nvPicPr>
        <p:blipFill>
          <a:blip r:embed="rId9" cstate="print"/>
          <a:stretch>
            <a:fillRect/>
          </a:stretch>
        </p:blipFill>
        <p:spPr>
          <a:xfrm>
            <a:off x="0" y="6800849"/>
            <a:ext cx="12191999" cy="57149"/>
          </a:xfrm>
          <a:prstGeom prst="rect">
            <a:avLst/>
          </a:prstGeom>
        </p:spPr>
      </p:pic>
    </p:spTree>
    <p:extLst>
      <p:ext uri="{BB962C8B-B14F-4D97-AF65-F5344CB8AC3E}">
        <p14:creationId xmlns:p14="http://schemas.microsoft.com/office/powerpoint/2010/main" val="42363115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130</TotalTime>
  <Words>1245</Words>
  <Application>Microsoft Office PowerPoint</Application>
  <PresentationFormat>宽屏</PresentationFormat>
  <Paragraphs>155</Paragraphs>
  <Slides>9</Slides>
  <Notes>9</Notes>
  <HiddenSlides>0</HiddenSlides>
  <MMClips>0</MMClips>
  <ScaleCrop>false</ScaleCrop>
  <HeadingPairs>
    <vt:vector size="6" baseType="variant">
      <vt:variant>
        <vt:lpstr>已用的字体</vt:lpstr>
      </vt:variant>
      <vt:variant>
        <vt:i4>19</vt:i4>
      </vt:variant>
      <vt:variant>
        <vt:lpstr>主题</vt:lpstr>
      </vt:variant>
      <vt:variant>
        <vt:i4>5</vt:i4>
      </vt:variant>
      <vt:variant>
        <vt:lpstr>幻灯片标题</vt:lpstr>
      </vt:variant>
      <vt:variant>
        <vt:i4>9</vt:i4>
      </vt:variant>
    </vt:vector>
  </HeadingPairs>
  <TitlesOfParts>
    <vt:vector size="33" baseType="lpstr">
      <vt:lpstr>Dotum</vt:lpstr>
      <vt:lpstr>MS PGothic</vt:lpstr>
      <vt:lpstr>Yu Gothic</vt:lpstr>
      <vt:lpstr>Yu Gothic UI Semibold</vt:lpstr>
      <vt:lpstr>宋体</vt:lpstr>
      <vt:lpstr>微软雅黑</vt:lpstr>
      <vt:lpstr>Arial</vt:lpstr>
      <vt:lpstr>Arial Black</vt:lpstr>
      <vt:lpstr>Calibri</vt:lpstr>
      <vt:lpstr>Cambria</vt:lpstr>
      <vt:lpstr>Courier New</vt:lpstr>
      <vt:lpstr>Georgia</vt:lpstr>
      <vt:lpstr>Javanese Text</vt:lpstr>
      <vt:lpstr>Microsoft New Tai Lue</vt:lpstr>
      <vt:lpstr>Microsoft Sans Serif</vt:lpstr>
      <vt:lpstr>Segoe UI Symbol</vt:lpstr>
      <vt:lpstr>Tahoma</vt:lpstr>
      <vt:lpstr>Trebuchet MS</vt:lpstr>
      <vt:lpstr>Verdana</vt:lpstr>
      <vt:lpstr>Office Theme</vt:lpstr>
      <vt:lpstr>1_Office Theme</vt:lpstr>
      <vt:lpstr>2_Office Theme</vt:lpstr>
      <vt:lpstr>3_Office Theme</vt:lpstr>
      <vt:lpstr>4_Office Theme</vt:lpstr>
      <vt:lpstr>CPiRi</vt:lpstr>
      <vt:lpstr>动机：多变量时间序列预测中的CI与CD无法兼顾</vt:lpstr>
      <vt:lpstr>通道排列不变性 (CPI) 诊断：对位置过拟合的实证验证</vt:lpstr>
      <vt:lpstr>模型设计：基于激进时空解耦的CPiRi架构</vt:lpstr>
      <vt:lpstr>排列等变性的数学推导与理论映射</vt:lpstr>
      <vt:lpstr>动态通道混洗(Channel Shuffling)正则化训练算法</vt:lpstr>
      <vt:lpstr>实验结果：在基准数据集上的量化预测性能</vt:lpstr>
      <vt:lpstr>渐进式混洗强度下的鲁棒性</vt:lpstr>
      <vt:lpstr>极端数据匮乏下的归纳泛化</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CPiRi</dc:title>
  <cp:lastModifiedBy>Ruilin Jiang</cp:lastModifiedBy>
  <cp:revision>5</cp:revision>
  <dcterms:created xsi:type="dcterms:W3CDTF">2026-05-20T14:23:17Z</dcterms:created>
  <dcterms:modified xsi:type="dcterms:W3CDTF">2026-05-20T17:11:51Z</dcterms:modified>
</cp:coreProperties>
</file>