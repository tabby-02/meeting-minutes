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0" r:id="rId4"/>
    <p:sldMasterId id="2147483666" r:id="rId5"/>
    <p:sldMasterId id="2147483672" r:id="rId6"/>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Lst>
  <p:sldSz cx="12192000" cy="7448550"/>
  <p:notesSz cx="12192000" cy="7448550"/>
  <p:defaultTextStyle>
    <a:defPPr>
      <a:defRPr kern="0"/>
    </a:defPPr>
  </p:defaultTextStyle>
  <p:extLst>
    <p:ext uri="{EFAFB233-063F-42B5-8137-9DF3F51BA10A}">
      <p15:sldGuideLst xmlns:p15="http://schemas.microsoft.com/office/powerpoint/2012/main">
        <p15:guide id="1" orient="horz" pos="288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6"/>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各位老师同学好，今天我向大家汇报的论文题目是《Routing CHANNEL-PATCH DEPENDENCIES IN TIME SERIES FORECASTING WITH GRAPH SPECTRAL DECOMPOSITION》。这篇论文由东京大学和微软亚洲研究院合作完成。针对目前多变量时间序列预测中通道策略的局限性，作者提出了一种名为 xCPD 的即插即用插件。该模块的核心贡献在于：它将依赖关系的建模单元从传统的整条通道细化到了“通道-补丁”级别，并利用图谱分解技术在频域内实现了对不同频率成分依赖关系的精准路由和建模。</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在这一页，我们重点探讨现有方法的痛点。目前的通道策略虽然在不断优化，但它们都以“整条通道”为基本单元。这带来了“粗粒度瓶颈”：即使是同一个变量，在不同时间段的特性也可能截然不同，比如平稳期和突变期的依赖逻辑就不应混为一谈。通道级模型强行分配平衡权重，会导致局部特征被掩盖。此外，由于建模发生在时域，低频趋势和高频噪声被搅在一起，模型容易受到虚假噪声的干扰而产生错误判断。因此，我们需要将建模单元细化到“通道-补丁”级别，并转入频域，利用频谱分解技术彻底解决这些问题。</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这是整个 xCPD 的架构流向图。作为即插即用的模块，它位于基干模型的输出端。数据流转是这样的：首先将 C 乘以 T' 的信号切片成补丁，再经过线性层，将维度展平为 n 个节点，这里 n 等于通道数乘以补丁数。随后进入右侧的三个核心模块。图 (A) 将时域转为频域嵌入；图 (B) 通过能量计算将节点聚类至不同的频段；最后图 (C) 利用混合专家机制决定如何对图进行滤波，并输出残差修正。接下来我们逐一深挖这三个模块。</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第一步是频谱嵌入。我们将 n 个补丁计算余弦相似度得到全连接图 A，进而得到拉普拉斯矩阵。这里作者提出了一个非常重要的改动：不按批次算特征分解，而是学习一个共享的图傅里叶基 U。就像定理4.1所证明的，这个 U 可以通过正交旋转去逼近各个时间步的真实基底，且误差受控。这样一来，所有批次的数据都能被投影到同一个一致的频域空间，公式表现就是 X 的频域嵌入等于 U 的转置乘以 X 时域嵌入。这为后续处理非平稳时间序列奠定了重大的理论基础。</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数据进入频域后，我们要给它们打上频率标签。传统的阈值硬切分很容易出错。作者在定理 4.2 中提出利用“频谱能量响应”来进行划分。公式 S_{i,j} 衡量了节点 i 在第 j 频段的响应强度。更精妙的是，U 的正交性保证了频域总能量严格等于时域嵌入的总能量，这是一个无损的信息分解过程。然后模型利用这些响应强度，加上可学习的边界参数，让每个节点自动归入低频、中频或高频集群，为下一步的滤波做好准备。</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第三步是 xCPD 的决策中枢。我们构建了三个频段的滤波器作为“专家”。不同的补丁图特征需要不同的邻居，我们的 DyMoE 路由通过累积概率阈值 tau 动态决定需要调用几个专家，自动剔除无用边。在得到图神经网络（GNN）的表征后，xCPD 采用了一个漂亮的双重残差门控设计产生最终预测。公式里的 sigma(g_GNN) 是可学习的门控参数，当该参数趋近于0时，即插即用的 xCPD 就无损退化成了原始模型，从而保证了其预测的下限。</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在常规的长短期基准测试中，我们观察到 xCPD 作为插件能全面提升当前四大主流架构的性能。针对 DLinear 这类 CI 模型，xCPD 能够找回原本被忽略的跨通道规律；对于 TSMixer 等 CD 模型，xCPD 又能通过图滤波剔除噪声通道。从这里展示的表格中可以看出，在维度极高、具有强烈多频段混合特性的交通和电力数据集上，xCPD 取得了非常显著的改进。这说明了细粒度通道-补丁建模在处理复杂系统时的优越性。</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相较于纯刷榜，这篇论文针对模型效率提出的理论和测试非常亮眼。其他类似的方法如 CCM，虽然性能也不错，但随着维度上升，聚类带来的二次方计算量会导致内存和时间的爆炸，图上的紫色和绿色气泡充分展现了这一点。而我们的 xCPD 通过数学上的优化即共享傅里叶基和稀疏 K-NN 架构，把复杂度死死锁在了线性级别 O(nkd)。如图所示，xCPD 气泡位于左下角的最优区域，耗时小于10毫秒且显存固定处于7GB左右，这才是工业界能够吃得下的算法级别。</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为了证明框架并非只是“黑盒调参”，作者设计了非常精彩的定性分析实验，试图打破可解释性的壁垒。如图 3 所示，红色框标出的补丁处于平滑周期内，由于模型没有任何人工阈值，纯依靠能谱特征，它自动且准确地被赋予了0.73的低频权重，并去连接趋势一致的邻居；相对应地，绿色框内的补丁正经历剧烈的下行突变，模型瞬间给出了0.67的高频判定，调用高频滤波器。这种解耦的可解释性，是只在时域上做 Attention 操作的模型永远无法实现的。</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57199" y="457199"/>
            <a:ext cx="11277599" cy="5924549"/>
          </a:xfrm>
          <a:prstGeom prst="rect">
            <a:avLst/>
          </a:prstGeom>
        </p:spPr>
      </p:pic>
      <p:sp>
        <p:nvSpPr>
          <p:cNvPr id="17" name="bg object 17"/>
          <p:cNvSpPr/>
          <p:nvPr/>
        </p:nvSpPr>
        <p:spPr>
          <a:xfrm>
            <a:off x="457199" y="457199"/>
            <a:ext cx="11277600" cy="76200"/>
          </a:xfrm>
          <a:custGeom>
            <a:avLst/>
            <a:gdLst/>
            <a:ahLst/>
            <a:cxnLst/>
            <a:rect l="l" t="t" r="r" b="b"/>
            <a:pathLst>
              <a:path w="11277600" h="76200">
                <a:moveTo>
                  <a:pt x="11277599" y="76199"/>
                </a:moveTo>
                <a:lnTo>
                  <a:pt x="0" y="76199"/>
                </a:lnTo>
                <a:lnTo>
                  <a:pt x="0" y="0"/>
                </a:lnTo>
                <a:lnTo>
                  <a:pt x="11277599" y="0"/>
                </a:lnTo>
                <a:lnTo>
                  <a:pt x="11277599" y="76199"/>
                </a:lnTo>
                <a:close/>
              </a:path>
            </a:pathLst>
          </a:custGeom>
          <a:solidFill>
            <a:srgbClr val="000000"/>
          </a:solidFill>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309050"/>
            <a:ext cx="10363200"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subTitle" idx="4"/>
          </p:nvPr>
        </p:nvSpPr>
        <p:spPr>
          <a:xfrm>
            <a:off x="1828800" y="4171188"/>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sz="half" idx="2"/>
          </p:nvPr>
        </p:nvSpPr>
        <p:spPr>
          <a:xfrm>
            <a:off x="609600" y="1713167"/>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713167"/>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309050"/>
            <a:ext cx="10363200"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subTitle" idx="4"/>
          </p:nvPr>
        </p:nvSpPr>
        <p:spPr>
          <a:xfrm>
            <a:off x="1828800" y="4171188"/>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sz="half" idx="2"/>
          </p:nvPr>
        </p:nvSpPr>
        <p:spPr>
          <a:xfrm>
            <a:off x="609600" y="1713167"/>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713167"/>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309050"/>
            <a:ext cx="10363200"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subTitle" idx="4"/>
          </p:nvPr>
        </p:nvSpPr>
        <p:spPr>
          <a:xfrm>
            <a:off x="1828800" y="4171188"/>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sz="half" idx="2"/>
          </p:nvPr>
        </p:nvSpPr>
        <p:spPr>
          <a:xfrm>
            <a:off x="609600" y="1713167"/>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713167"/>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309050"/>
            <a:ext cx="10363200"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subTitle" idx="4"/>
          </p:nvPr>
        </p:nvSpPr>
        <p:spPr>
          <a:xfrm>
            <a:off x="1828800" y="4171188"/>
            <a:ext cx="85344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sz="half" idx="2"/>
          </p:nvPr>
        </p:nvSpPr>
        <p:spPr>
          <a:xfrm>
            <a:off x="609600" y="1713167"/>
            <a:ext cx="5303520" cy="276999"/>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713167"/>
            <a:ext cx="5303520" cy="276999"/>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1" i="0">
                <a:solidFill>
                  <a:schemeClr val="tx1"/>
                </a:solidFill>
                <a:latin typeface="Arial" panose="020B0604020202020204"/>
                <a:cs typeface="Arial" panose="020B0604020202020204"/>
              </a:defRPr>
            </a:lvl1pPr>
          </a:lstStyle>
          <a:p>
            <a:endParaRPr lang="zh-CN" altLang="en-US"/>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1038224"/>
            <a:ext cx="609600" cy="9525"/>
          </a:xfrm>
          <a:custGeom>
            <a:avLst/>
            <a:gdLst/>
            <a:ahLst/>
            <a:cxnLst/>
            <a:rect l="l" t="t" r="r" b="b"/>
            <a:pathLst>
              <a:path w="609600" h="9525">
                <a:moveTo>
                  <a:pt x="609599" y="9524"/>
                </a:moveTo>
                <a:lnTo>
                  <a:pt x="0" y="9524"/>
                </a:lnTo>
                <a:lnTo>
                  <a:pt x="0" y="0"/>
                </a:lnTo>
                <a:lnTo>
                  <a:pt x="609599" y="0"/>
                </a:lnTo>
                <a:lnTo>
                  <a:pt x="609599" y="952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444500" y="390397"/>
            <a:ext cx="8098155" cy="490855"/>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1127627"/>
            <a:ext cx="609600" cy="10345"/>
          </a:xfrm>
          <a:custGeom>
            <a:avLst/>
            <a:gdLst/>
            <a:ahLst/>
            <a:cxnLst/>
            <a:rect l="l" t="t" r="r" b="b"/>
            <a:pathLst>
              <a:path w="609600" h="9525">
                <a:moveTo>
                  <a:pt x="609599" y="9524"/>
                </a:moveTo>
                <a:lnTo>
                  <a:pt x="0" y="9524"/>
                </a:lnTo>
                <a:lnTo>
                  <a:pt x="0" y="0"/>
                </a:lnTo>
                <a:lnTo>
                  <a:pt x="609599" y="0"/>
                </a:lnTo>
                <a:lnTo>
                  <a:pt x="609599" y="952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444500" y="424015"/>
            <a:ext cx="7376159"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a:xfrm>
            <a:off x="609600" y="1713167"/>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9934227" y="6874821"/>
            <a:ext cx="1984375" cy="230832"/>
          </a:xfrm>
          <a:prstGeom prst="rect">
            <a:avLst/>
          </a:prstGeom>
        </p:spPr>
        <p:txBody>
          <a:bodyPr wrap="square" lIns="0" tIns="0" rIns="0" bIns="0">
            <a:spAutoFit/>
          </a:bodyPr>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a:xfrm>
            <a:off x="609600" y="692715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a:xfrm>
            <a:off x="8778240" y="692715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1127627"/>
            <a:ext cx="609600" cy="10345"/>
          </a:xfrm>
          <a:custGeom>
            <a:avLst/>
            <a:gdLst/>
            <a:ahLst/>
            <a:cxnLst/>
            <a:rect l="l" t="t" r="r" b="b"/>
            <a:pathLst>
              <a:path w="609600" h="9525">
                <a:moveTo>
                  <a:pt x="609599" y="9524"/>
                </a:moveTo>
                <a:lnTo>
                  <a:pt x="0" y="9524"/>
                </a:lnTo>
                <a:lnTo>
                  <a:pt x="0" y="0"/>
                </a:lnTo>
                <a:lnTo>
                  <a:pt x="609599" y="0"/>
                </a:lnTo>
                <a:lnTo>
                  <a:pt x="609599" y="952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444500" y="424015"/>
            <a:ext cx="7376159"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a:xfrm>
            <a:off x="609600" y="1713167"/>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9934227" y="6874821"/>
            <a:ext cx="1984375" cy="230832"/>
          </a:xfrm>
          <a:prstGeom prst="rect">
            <a:avLst/>
          </a:prstGeom>
        </p:spPr>
        <p:txBody>
          <a:bodyPr wrap="square" lIns="0" tIns="0" rIns="0" bIns="0">
            <a:spAutoFit/>
          </a:bodyPr>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a:xfrm>
            <a:off x="609600" y="692715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a:xfrm>
            <a:off x="8778240" y="692715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1127627"/>
            <a:ext cx="609600" cy="10345"/>
          </a:xfrm>
          <a:custGeom>
            <a:avLst/>
            <a:gdLst/>
            <a:ahLst/>
            <a:cxnLst/>
            <a:rect l="l" t="t" r="r" b="b"/>
            <a:pathLst>
              <a:path w="609600" h="9525">
                <a:moveTo>
                  <a:pt x="609599" y="9524"/>
                </a:moveTo>
                <a:lnTo>
                  <a:pt x="0" y="9524"/>
                </a:lnTo>
                <a:lnTo>
                  <a:pt x="0" y="0"/>
                </a:lnTo>
                <a:lnTo>
                  <a:pt x="609599" y="0"/>
                </a:lnTo>
                <a:lnTo>
                  <a:pt x="609599" y="952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444500" y="424015"/>
            <a:ext cx="7376159"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a:xfrm>
            <a:off x="609600" y="1713167"/>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9934227" y="6874821"/>
            <a:ext cx="1984375" cy="230832"/>
          </a:xfrm>
          <a:prstGeom prst="rect">
            <a:avLst/>
          </a:prstGeom>
        </p:spPr>
        <p:txBody>
          <a:bodyPr wrap="square" lIns="0" tIns="0" rIns="0" bIns="0">
            <a:spAutoFit/>
          </a:bodyPr>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a:xfrm>
            <a:off x="609600" y="692715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a:xfrm>
            <a:off x="8778240" y="692715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57199" y="1127627"/>
            <a:ext cx="609600" cy="10345"/>
          </a:xfrm>
          <a:custGeom>
            <a:avLst/>
            <a:gdLst/>
            <a:ahLst/>
            <a:cxnLst/>
            <a:rect l="l" t="t" r="r" b="b"/>
            <a:pathLst>
              <a:path w="609600" h="9525">
                <a:moveTo>
                  <a:pt x="609599" y="9524"/>
                </a:moveTo>
                <a:lnTo>
                  <a:pt x="0" y="9524"/>
                </a:lnTo>
                <a:lnTo>
                  <a:pt x="0" y="0"/>
                </a:lnTo>
                <a:lnTo>
                  <a:pt x="609599" y="0"/>
                </a:lnTo>
                <a:lnTo>
                  <a:pt x="609599" y="9524"/>
                </a:lnTo>
                <a:close/>
              </a:path>
            </a:pathLst>
          </a:custGeom>
          <a:solidFill>
            <a:srgbClr val="000000"/>
          </a:solidFill>
        </p:spPr>
        <p:txBody>
          <a:bodyPr wrap="square" lIns="0" tIns="0" rIns="0" bIns="0" rtlCol="0"/>
          <a:lstStyle/>
          <a:p/>
        </p:txBody>
      </p:sp>
      <p:sp>
        <p:nvSpPr>
          <p:cNvPr id="2" name="Holder 2"/>
          <p:cNvSpPr>
            <a:spLocks noGrp="1"/>
          </p:cNvSpPr>
          <p:nvPr>
            <p:ph type="title"/>
          </p:nvPr>
        </p:nvSpPr>
        <p:spPr>
          <a:xfrm>
            <a:off x="444500" y="424015"/>
            <a:ext cx="7376159" cy="469359"/>
          </a:xfrm>
          <a:prstGeom prst="rect">
            <a:avLst/>
          </a:prstGeom>
        </p:spPr>
        <p:txBody>
          <a:bodyPr wrap="square" lIns="0" tIns="0" rIns="0" bIns="0">
            <a:spAutoFit/>
          </a:bodyPr>
          <a:lstStyle>
            <a:lvl1pPr>
              <a:defRPr sz="3050" b="1" i="0">
                <a:solidFill>
                  <a:schemeClr val="tx1"/>
                </a:solidFill>
                <a:latin typeface="Yu Gothic UI Semibold" panose="020B0700000000000000" charset="-128"/>
                <a:cs typeface="Yu Gothic UI Semibold" panose="020B0700000000000000" charset="-128"/>
              </a:defRPr>
            </a:lvl1pPr>
          </a:lstStyle>
          <a:p/>
        </p:txBody>
      </p:sp>
      <p:sp>
        <p:nvSpPr>
          <p:cNvPr id="3" name="Holder 3"/>
          <p:cNvSpPr>
            <a:spLocks noGrp="1"/>
          </p:cNvSpPr>
          <p:nvPr>
            <p:ph type="body" idx="1"/>
          </p:nvPr>
        </p:nvSpPr>
        <p:spPr>
          <a:xfrm>
            <a:off x="609600" y="1713167"/>
            <a:ext cx="10972800" cy="276999"/>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9934227" y="6874821"/>
            <a:ext cx="1984375" cy="230832"/>
          </a:xfrm>
          <a:prstGeom prst="rect">
            <a:avLst/>
          </a:prstGeom>
        </p:spPr>
        <p:txBody>
          <a:bodyPr wrap="square" lIns="0" tIns="0" rIns="0" bIns="0">
            <a:spAutoFit/>
          </a:bodyPr>
          <a:lstStyle>
            <a:lvl1pPr>
              <a:defRPr sz="1650" b="1" i="0">
                <a:solidFill>
                  <a:schemeClr val="tx1"/>
                </a:solidFill>
                <a:latin typeface="Arial" panose="020B0604020202020204"/>
                <a:cs typeface="Arial" panose="020B0604020202020204"/>
              </a:defRPr>
            </a:lvl1pPr>
          </a:lstStyle>
          <a:p>
            <a:endParaRPr lang="zh-CN" altLang="en-US"/>
          </a:p>
        </p:txBody>
      </p:sp>
      <p:sp>
        <p:nvSpPr>
          <p:cNvPr id="5" name="Holder 5"/>
          <p:cNvSpPr>
            <a:spLocks noGrp="1"/>
          </p:cNvSpPr>
          <p:nvPr>
            <p:ph type="dt" sz="half" idx="6"/>
          </p:nvPr>
        </p:nvSpPr>
        <p:spPr>
          <a:xfrm>
            <a:off x="609600" y="692715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smtClean="0"/>
            </a:fld>
            <a:endParaRPr lang="en-US"/>
          </a:p>
        </p:txBody>
      </p:sp>
      <p:sp>
        <p:nvSpPr>
          <p:cNvPr id="6" name="Holder 6"/>
          <p:cNvSpPr>
            <a:spLocks noGrp="1"/>
          </p:cNvSpPr>
          <p:nvPr>
            <p:ph type="sldNum" sz="quarter" idx="7"/>
          </p:nvPr>
        </p:nvSpPr>
        <p:spPr>
          <a:xfrm>
            <a:off x="8778240" y="6927151"/>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2" Type="http://schemas.openxmlformats.org/officeDocument/2006/relationships/notesSlide" Target="../notesSlides/notesSlide5.xml"/><Relationship Id="rId11" Type="http://schemas.openxmlformats.org/officeDocument/2006/relationships/slideLayout" Target="../slideLayouts/slideLayout2.xml"/><Relationship Id="rId10" Type="http://schemas.openxmlformats.org/officeDocument/2006/relationships/image" Target="../media/image21.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1" Type="http://schemas.openxmlformats.org/officeDocument/2006/relationships/notesSlide" Target="../notesSlides/notesSlide6.xml"/><Relationship Id="rId10"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31.jpeg"/><Relationship Id="rId1" Type="http://schemas.openxmlformats.org/officeDocument/2006/relationships/image" Target="../media/image30.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7.xml"/><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image" Target="../media/image32.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3.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9299" y="767533"/>
            <a:ext cx="1999614" cy="376555"/>
          </a:xfrm>
          <a:prstGeom prst="rect">
            <a:avLst/>
          </a:prstGeom>
        </p:spPr>
        <p:txBody>
          <a:bodyPr vert="horz" wrap="square" lIns="0" tIns="41910" rIns="0" bIns="0" rtlCol="0">
            <a:spAutoFit/>
          </a:bodyPr>
          <a:lstStyle/>
          <a:p>
            <a:pPr marL="12700">
              <a:lnSpc>
                <a:spcPct val="100000"/>
              </a:lnSpc>
              <a:spcBef>
                <a:spcPts val="330"/>
              </a:spcBef>
            </a:pPr>
            <a:r>
              <a:rPr sz="900" dirty="0">
                <a:solidFill>
                  <a:srgbClr val="6A7280"/>
                </a:solidFill>
                <a:latin typeface="Courier New" panose="02070309020205020404"/>
                <a:cs typeface="Courier New" panose="02070309020205020404"/>
              </a:rPr>
              <a:t>P</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E</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R</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S</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P</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E</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C</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T</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I</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V</a:t>
            </a:r>
            <a:r>
              <a:rPr sz="900" spc="-275" dirty="0">
                <a:solidFill>
                  <a:srgbClr val="6A7280"/>
                </a:solidFill>
                <a:latin typeface="Courier New" panose="02070309020205020404"/>
                <a:cs typeface="Courier New" panose="02070309020205020404"/>
              </a:rPr>
              <a:t> </a:t>
            </a:r>
            <a:r>
              <a:rPr sz="900" spc="-50" dirty="0">
                <a:solidFill>
                  <a:srgbClr val="6A7280"/>
                </a:solidFill>
                <a:latin typeface="Courier New" panose="02070309020205020404"/>
                <a:cs typeface="Courier New" panose="02070309020205020404"/>
              </a:rPr>
              <a:t>E</a:t>
            </a:r>
            <a:endParaRPr sz="900">
              <a:latin typeface="Courier New" panose="02070309020205020404"/>
              <a:cs typeface="Courier New" panose="02070309020205020404"/>
            </a:endParaRPr>
          </a:p>
          <a:p>
            <a:pPr marL="12700">
              <a:lnSpc>
                <a:spcPct val="100000"/>
              </a:lnSpc>
              <a:spcBef>
                <a:spcPts val="270"/>
              </a:spcBef>
            </a:pPr>
            <a:r>
              <a:rPr sz="1050" spc="-10" dirty="0">
                <a:latin typeface="宋体" panose="02010600030101010101" pitchFamily="2" charset="-122"/>
                <a:cs typeface="宋体" panose="02010600030101010101" pitchFamily="2" charset="-122"/>
              </a:rPr>
              <a:t>ICLR</a:t>
            </a:r>
            <a:r>
              <a:rPr sz="1050" spc="-185" dirty="0">
                <a:latin typeface="宋体" panose="02010600030101010101" pitchFamily="2" charset="-122"/>
                <a:cs typeface="宋体" panose="02010600030101010101" pitchFamily="2" charset="-122"/>
              </a:rPr>
              <a:t> </a:t>
            </a:r>
            <a:r>
              <a:rPr sz="1050" spc="95" dirty="0">
                <a:latin typeface="宋体" panose="02010600030101010101" pitchFamily="2" charset="-122"/>
                <a:cs typeface="宋体" panose="02010600030101010101" pitchFamily="2" charset="-122"/>
              </a:rPr>
              <a:t>202</a:t>
            </a:r>
            <a:r>
              <a:rPr lang="en-US" altLang="en-US" sz="1050" spc="95" dirty="0">
                <a:latin typeface="宋体" panose="02010600030101010101" pitchFamily="2" charset="-122"/>
                <a:cs typeface="宋体" panose="02010600030101010101" pitchFamily="2" charset="-122"/>
              </a:rPr>
              <a:t>6</a:t>
            </a:r>
            <a:r>
              <a:rPr sz="1050" spc="-185" dirty="0">
                <a:latin typeface="宋体" panose="02010600030101010101" pitchFamily="2" charset="-122"/>
                <a:cs typeface="宋体" panose="02010600030101010101" pitchFamily="2" charset="-122"/>
              </a:rPr>
              <a:t> </a:t>
            </a:r>
            <a:endParaRPr sz="1050">
              <a:latin typeface="宋体" panose="02010600030101010101" pitchFamily="2" charset="-122"/>
              <a:cs typeface="宋体" panose="02010600030101010101" pitchFamily="2" charset="-122"/>
            </a:endParaRPr>
          </a:p>
        </p:txBody>
      </p:sp>
      <p:sp>
        <p:nvSpPr>
          <p:cNvPr id="3" name="object 3"/>
          <p:cNvSpPr txBox="1"/>
          <p:nvPr/>
        </p:nvSpPr>
        <p:spPr>
          <a:xfrm>
            <a:off x="7772439" y="4090488"/>
            <a:ext cx="2950210" cy="386715"/>
          </a:xfrm>
          <a:prstGeom prst="rect">
            <a:avLst/>
          </a:prstGeom>
        </p:spPr>
        <p:txBody>
          <a:bodyPr vert="horz" wrap="square" lIns="0" tIns="41910" rIns="0" bIns="0" rtlCol="0">
            <a:spAutoFit/>
          </a:bodyPr>
          <a:lstStyle/>
          <a:p>
            <a:pPr marL="673735">
              <a:lnSpc>
                <a:spcPct val="100000"/>
              </a:lnSpc>
              <a:spcBef>
                <a:spcPts val="330"/>
              </a:spcBef>
              <a:tabLst>
                <a:tab pos="2113915" algn="l"/>
              </a:tabLst>
            </a:pPr>
            <a:r>
              <a:rPr sz="900" dirty="0">
                <a:solidFill>
                  <a:srgbClr val="6A7280"/>
                </a:solidFill>
                <a:latin typeface="Courier New" panose="02070309020205020404"/>
                <a:cs typeface="Courier New" panose="02070309020205020404"/>
              </a:rPr>
              <a:t>C</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O</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L</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L</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A</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B</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O</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R</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A</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T</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I</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V</a:t>
            </a:r>
            <a:r>
              <a:rPr sz="900" spc="-275" dirty="0">
                <a:solidFill>
                  <a:srgbClr val="6A7280"/>
                </a:solidFill>
                <a:latin typeface="Courier New" panose="02070309020205020404"/>
                <a:cs typeface="Courier New" panose="02070309020205020404"/>
              </a:rPr>
              <a:t> </a:t>
            </a:r>
            <a:r>
              <a:rPr sz="900" spc="-50" dirty="0">
                <a:solidFill>
                  <a:srgbClr val="6A7280"/>
                </a:solidFill>
                <a:latin typeface="Courier New" panose="02070309020205020404"/>
                <a:cs typeface="Courier New" panose="02070309020205020404"/>
              </a:rPr>
              <a:t>E</a:t>
            </a:r>
            <a:r>
              <a:rPr sz="900" dirty="0">
                <a:solidFill>
                  <a:srgbClr val="6A7280"/>
                </a:solidFill>
                <a:latin typeface="Courier New" panose="02070309020205020404"/>
                <a:cs typeface="Courier New" panose="02070309020205020404"/>
              </a:rPr>
              <a:t>	R</a:t>
            </a:r>
            <a:r>
              <a:rPr sz="900" spc="-28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E</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S</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E</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A</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R</a:t>
            </a:r>
            <a:r>
              <a:rPr sz="900" spc="-275" dirty="0">
                <a:solidFill>
                  <a:srgbClr val="6A7280"/>
                </a:solidFill>
                <a:latin typeface="Courier New" panose="02070309020205020404"/>
                <a:cs typeface="Courier New" panose="02070309020205020404"/>
              </a:rPr>
              <a:t> </a:t>
            </a:r>
            <a:r>
              <a:rPr sz="900" dirty="0">
                <a:solidFill>
                  <a:srgbClr val="6A7280"/>
                </a:solidFill>
                <a:latin typeface="Courier New" panose="02070309020205020404"/>
                <a:cs typeface="Courier New" panose="02070309020205020404"/>
              </a:rPr>
              <a:t>C</a:t>
            </a:r>
            <a:r>
              <a:rPr sz="900" spc="-275" dirty="0">
                <a:solidFill>
                  <a:srgbClr val="6A7280"/>
                </a:solidFill>
                <a:latin typeface="Courier New" panose="02070309020205020404"/>
                <a:cs typeface="Courier New" panose="02070309020205020404"/>
              </a:rPr>
              <a:t> </a:t>
            </a:r>
            <a:r>
              <a:rPr sz="900" spc="-50" dirty="0">
                <a:solidFill>
                  <a:srgbClr val="6A7280"/>
                </a:solidFill>
                <a:latin typeface="Courier New" panose="02070309020205020404"/>
                <a:cs typeface="Courier New" panose="02070309020205020404"/>
              </a:rPr>
              <a:t>H</a:t>
            </a:r>
            <a:endParaRPr sz="900">
              <a:latin typeface="Courier New" panose="02070309020205020404"/>
              <a:cs typeface="Courier New" panose="02070309020205020404"/>
            </a:endParaRPr>
          </a:p>
          <a:p>
            <a:pPr marL="12700">
              <a:lnSpc>
                <a:spcPct val="100000"/>
              </a:lnSpc>
              <a:spcBef>
                <a:spcPts val="270"/>
              </a:spcBef>
            </a:pPr>
            <a:r>
              <a:rPr sz="1050" dirty="0">
                <a:latin typeface="宋体" panose="02010600030101010101" pitchFamily="2" charset="-122"/>
                <a:cs typeface="宋体" panose="02010600030101010101" pitchFamily="2" charset="-122"/>
              </a:rPr>
              <a:t>The</a:t>
            </a:r>
            <a:r>
              <a:rPr sz="1050" spc="-170" dirty="0">
                <a:latin typeface="宋体" panose="02010600030101010101" pitchFamily="2" charset="-122"/>
                <a:cs typeface="宋体" panose="02010600030101010101" pitchFamily="2" charset="-122"/>
              </a:rPr>
              <a:t> </a:t>
            </a:r>
            <a:r>
              <a:rPr sz="1050" spc="-90" dirty="0">
                <a:latin typeface="宋体" panose="02010600030101010101" pitchFamily="2" charset="-122"/>
                <a:cs typeface="宋体" panose="02010600030101010101" pitchFamily="2" charset="-122"/>
              </a:rPr>
              <a:t>University</a:t>
            </a:r>
            <a:r>
              <a:rPr sz="1050" spc="-170" dirty="0">
                <a:latin typeface="宋体" panose="02010600030101010101" pitchFamily="2" charset="-122"/>
                <a:cs typeface="宋体" panose="02010600030101010101" pitchFamily="2" charset="-122"/>
              </a:rPr>
              <a:t> </a:t>
            </a:r>
            <a:r>
              <a:rPr sz="1050" spc="-95" dirty="0">
                <a:latin typeface="宋体" panose="02010600030101010101" pitchFamily="2" charset="-122"/>
                <a:cs typeface="宋体" panose="02010600030101010101" pitchFamily="2" charset="-122"/>
              </a:rPr>
              <a:t>of</a:t>
            </a:r>
            <a:r>
              <a:rPr sz="1050" spc="-165" dirty="0">
                <a:latin typeface="宋体" panose="02010600030101010101" pitchFamily="2" charset="-122"/>
                <a:cs typeface="宋体" panose="02010600030101010101" pitchFamily="2" charset="-122"/>
              </a:rPr>
              <a:t> </a:t>
            </a:r>
            <a:r>
              <a:rPr sz="1050" spc="-10" dirty="0">
                <a:latin typeface="宋体" panose="02010600030101010101" pitchFamily="2" charset="-122"/>
                <a:cs typeface="宋体" panose="02010600030101010101" pitchFamily="2" charset="-122"/>
              </a:rPr>
              <a:t>Tokyo</a:t>
            </a:r>
            <a:r>
              <a:rPr sz="1050" spc="-170" dirty="0">
                <a:latin typeface="宋体" panose="02010600030101010101" pitchFamily="2" charset="-122"/>
                <a:cs typeface="宋体" panose="02010600030101010101" pitchFamily="2" charset="-122"/>
              </a:rPr>
              <a:t> </a:t>
            </a:r>
            <a:r>
              <a:rPr sz="1050" spc="180" dirty="0">
                <a:latin typeface="宋体" panose="02010600030101010101" pitchFamily="2" charset="-122"/>
                <a:cs typeface="宋体" panose="02010600030101010101" pitchFamily="2" charset="-122"/>
              </a:rPr>
              <a:t>&amp;</a:t>
            </a:r>
            <a:r>
              <a:rPr sz="1050" spc="-165" dirty="0">
                <a:latin typeface="宋体" panose="02010600030101010101" pitchFamily="2" charset="-122"/>
                <a:cs typeface="宋体" panose="02010600030101010101" pitchFamily="2" charset="-122"/>
              </a:rPr>
              <a:t> </a:t>
            </a:r>
            <a:r>
              <a:rPr sz="1050" spc="-60" dirty="0">
                <a:latin typeface="宋体" panose="02010600030101010101" pitchFamily="2" charset="-122"/>
                <a:cs typeface="宋体" panose="02010600030101010101" pitchFamily="2" charset="-122"/>
              </a:rPr>
              <a:t>Microsoft</a:t>
            </a:r>
            <a:r>
              <a:rPr sz="1050" spc="-170" dirty="0">
                <a:latin typeface="宋体" panose="02010600030101010101" pitchFamily="2" charset="-122"/>
                <a:cs typeface="宋体" panose="02010600030101010101" pitchFamily="2" charset="-122"/>
              </a:rPr>
              <a:t> </a:t>
            </a:r>
            <a:r>
              <a:rPr sz="1050" dirty="0">
                <a:latin typeface="宋体" panose="02010600030101010101" pitchFamily="2" charset="-122"/>
                <a:cs typeface="宋体" panose="02010600030101010101" pitchFamily="2" charset="-122"/>
              </a:rPr>
              <a:t>Research</a:t>
            </a:r>
            <a:r>
              <a:rPr sz="1050" spc="-170" dirty="0">
                <a:latin typeface="宋体" panose="02010600030101010101" pitchFamily="2" charset="-122"/>
                <a:cs typeface="宋体" panose="02010600030101010101" pitchFamily="2" charset="-122"/>
              </a:rPr>
              <a:t> </a:t>
            </a:r>
            <a:r>
              <a:rPr sz="1050" spc="-20" dirty="0">
                <a:latin typeface="宋体" panose="02010600030101010101" pitchFamily="2" charset="-122"/>
                <a:cs typeface="宋体" panose="02010600030101010101" pitchFamily="2" charset="-122"/>
              </a:rPr>
              <a:t>Asia</a:t>
            </a:r>
            <a:endParaRPr sz="1050">
              <a:latin typeface="宋体" panose="02010600030101010101" pitchFamily="2" charset="-122"/>
              <a:cs typeface="宋体" panose="02010600030101010101" pitchFamily="2" charset="-122"/>
            </a:endParaRPr>
          </a:p>
        </p:txBody>
      </p:sp>
      <p:sp>
        <p:nvSpPr>
          <p:cNvPr id="4" name="object 4"/>
          <p:cNvSpPr/>
          <p:nvPr/>
        </p:nvSpPr>
        <p:spPr>
          <a:xfrm>
            <a:off x="914399" y="1638299"/>
            <a:ext cx="914400" cy="38100"/>
          </a:xfrm>
          <a:custGeom>
            <a:avLst/>
            <a:gdLst/>
            <a:ahLst/>
            <a:cxnLst/>
            <a:rect l="l" t="t" r="r" b="b"/>
            <a:pathLst>
              <a:path w="914400" h="38100">
                <a:moveTo>
                  <a:pt x="914399" y="38099"/>
                </a:moveTo>
                <a:lnTo>
                  <a:pt x="0" y="38099"/>
                </a:lnTo>
                <a:lnTo>
                  <a:pt x="0" y="0"/>
                </a:lnTo>
                <a:lnTo>
                  <a:pt x="914399" y="0"/>
                </a:lnTo>
                <a:lnTo>
                  <a:pt x="914399" y="38099"/>
                </a:lnTo>
                <a:close/>
              </a:path>
            </a:pathLst>
          </a:custGeom>
          <a:solidFill>
            <a:srgbClr val="000000"/>
          </a:solidFill>
        </p:spPr>
        <p:txBody>
          <a:bodyPr wrap="square" lIns="0" tIns="0" rIns="0" bIns="0" rtlCol="0"/>
          <a:lstStyle/>
          <a:p/>
        </p:txBody>
      </p:sp>
      <p:sp>
        <p:nvSpPr>
          <p:cNvPr id="5" name="object 5"/>
          <p:cNvSpPr txBox="1"/>
          <p:nvPr/>
        </p:nvSpPr>
        <p:spPr>
          <a:xfrm>
            <a:off x="901700" y="1784812"/>
            <a:ext cx="6067425" cy="2147570"/>
          </a:xfrm>
          <a:prstGeom prst="rect">
            <a:avLst/>
          </a:prstGeom>
        </p:spPr>
        <p:txBody>
          <a:bodyPr vert="horz" wrap="square" lIns="0" tIns="277495" rIns="0" bIns="0" rtlCol="0">
            <a:spAutoFit/>
          </a:bodyPr>
          <a:lstStyle/>
          <a:p>
            <a:pPr marL="12700" marR="5080">
              <a:lnSpc>
                <a:spcPct val="70000"/>
              </a:lnSpc>
              <a:spcBef>
                <a:spcPts val="2185"/>
              </a:spcBef>
            </a:pPr>
            <a:r>
              <a:rPr sz="5800" spc="-745" dirty="0">
                <a:latin typeface="Arial Black" panose="020B0A04020102020204"/>
                <a:cs typeface="Arial Black" panose="020B0A04020102020204"/>
              </a:rPr>
              <a:t>ROUTING </a:t>
            </a:r>
            <a:r>
              <a:rPr sz="5800" spc="-630" dirty="0">
                <a:solidFill>
                  <a:srgbClr val="9CA2AF"/>
                </a:solidFill>
                <a:latin typeface="Arial Black" panose="020B0A04020102020204"/>
                <a:cs typeface="Arial Black" panose="020B0A04020102020204"/>
              </a:rPr>
              <a:t>CHANNEL-</a:t>
            </a:r>
            <a:r>
              <a:rPr sz="5800" spc="-725" dirty="0">
                <a:solidFill>
                  <a:srgbClr val="9CA2AF"/>
                </a:solidFill>
                <a:latin typeface="Arial Black" panose="020B0A04020102020204"/>
                <a:cs typeface="Arial Black" panose="020B0A04020102020204"/>
              </a:rPr>
              <a:t>PATCH </a:t>
            </a:r>
            <a:r>
              <a:rPr sz="5800" spc="-685" dirty="0">
                <a:latin typeface="Arial Black" panose="020B0A04020102020204"/>
                <a:cs typeface="Arial Black" panose="020B0A04020102020204"/>
              </a:rPr>
              <a:t>DEPENDENCIES</a:t>
            </a:r>
            <a:endParaRPr sz="5800">
              <a:latin typeface="Arial Black" panose="020B0A04020102020204"/>
              <a:cs typeface="Arial Black" panose="020B0A04020102020204"/>
            </a:endParaRPr>
          </a:p>
        </p:txBody>
      </p:sp>
      <p:sp>
        <p:nvSpPr>
          <p:cNvPr id="6" name="object 6"/>
          <p:cNvSpPr txBox="1"/>
          <p:nvPr/>
        </p:nvSpPr>
        <p:spPr>
          <a:xfrm>
            <a:off x="914399" y="4267199"/>
            <a:ext cx="1104900" cy="266700"/>
          </a:xfrm>
          <a:prstGeom prst="rect">
            <a:avLst/>
          </a:prstGeom>
          <a:solidFill>
            <a:srgbClr val="000000"/>
          </a:solidFill>
        </p:spPr>
        <p:txBody>
          <a:bodyPr vert="horz" wrap="square" lIns="0" tIns="28575" rIns="0" bIns="0" rtlCol="0">
            <a:spAutoFit/>
          </a:bodyPr>
          <a:lstStyle/>
          <a:p>
            <a:pPr marL="114300">
              <a:lnSpc>
                <a:spcPct val="100000"/>
              </a:lnSpc>
              <a:spcBef>
                <a:spcPts val="225"/>
              </a:spcBef>
            </a:pPr>
            <a:r>
              <a:rPr sz="1050" b="1" dirty="0">
                <a:solidFill>
                  <a:srgbClr val="FFFFFF"/>
                </a:solidFill>
                <a:latin typeface="Courier New" panose="02070309020205020404"/>
                <a:cs typeface="Courier New" panose="02070309020205020404"/>
              </a:rPr>
              <a:t>CORE </a:t>
            </a:r>
            <a:r>
              <a:rPr sz="1050" b="1" spc="-10" dirty="0">
                <a:solidFill>
                  <a:srgbClr val="FFFFFF"/>
                </a:solidFill>
                <a:latin typeface="Courier New" panose="02070309020205020404"/>
                <a:cs typeface="Courier New" panose="02070309020205020404"/>
              </a:rPr>
              <a:t>METHOD</a:t>
            </a:r>
            <a:endParaRPr sz="1050">
              <a:latin typeface="Courier New" panose="02070309020205020404"/>
              <a:cs typeface="Courier New" panose="02070309020205020404"/>
            </a:endParaRPr>
          </a:p>
        </p:txBody>
      </p:sp>
      <p:sp>
        <p:nvSpPr>
          <p:cNvPr id="7" name="object 7"/>
          <p:cNvSpPr txBox="1"/>
          <p:nvPr/>
        </p:nvSpPr>
        <p:spPr>
          <a:xfrm>
            <a:off x="2162810" y="4187825"/>
            <a:ext cx="4919980" cy="289560"/>
          </a:xfrm>
          <a:prstGeom prst="rect">
            <a:avLst/>
          </a:prstGeom>
        </p:spPr>
        <p:txBody>
          <a:bodyPr vert="horz" wrap="square" lIns="0" tIns="12700" rIns="0" bIns="0" rtlCol="0">
            <a:spAutoFit/>
          </a:bodyPr>
          <a:lstStyle/>
          <a:p>
            <a:pPr marL="12700">
              <a:lnSpc>
                <a:spcPct val="100000"/>
              </a:lnSpc>
              <a:spcBef>
                <a:spcPts val="100"/>
              </a:spcBef>
            </a:pPr>
            <a:r>
              <a:rPr sz="1800" b="1" spc="-85" dirty="0">
                <a:solidFill>
                  <a:schemeClr val="tx1"/>
                </a:solidFill>
                <a:latin typeface="宋体" panose="02010600030101010101" pitchFamily="2" charset="-122"/>
                <a:cs typeface="宋体" panose="02010600030101010101" pitchFamily="2" charset="-122"/>
              </a:rPr>
              <a:t>With</a:t>
            </a:r>
            <a:r>
              <a:rPr sz="1800" b="1" spc="-430" dirty="0">
                <a:solidFill>
                  <a:schemeClr val="tx1"/>
                </a:solidFill>
                <a:latin typeface="宋体" panose="02010600030101010101" pitchFamily="2" charset="-122"/>
                <a:cs typeface="宋体" panose="02010600030101010101" pitchFamily="2" charset="-122"/>
              </a:rPr>
              <a:t> </a:t>
            </a:r>
            <a:r>
              <a:rPr sz="1800" b="1" spc="-10" dirty="0">
                <a:solidFill>
                  <a:schemeClr val="tx1"/>
                </a:solidFill>
                <a:latin typeface="宋体" panose="02010600030101010101" pitchFamily="2" charset="-122"/>
                <a:cs typeface="宋体" panose="02010600030101010101" pitchFamily="2" charset="-122"/>
              </a:rPr>
              <a:t>Graph</a:t>
            </a:r>
            <a:r>
              <a:rPr sz="1800" b="1" spc="-425" dirty="0">
                <a:solidFill>
                  <a:schemeClr val="tx1"/>
                </a:solidFill>
                <a:latin typeface="宋体" panose="02010600030101010101" pitchFamily="2" charset="-122"/>
                <a:cs typeface="宋体" panose="02010600030101010101" pitchFamily="2" charset="-122"/>
              </a:rPr>
              <a:t> </a:t>
            </a:r>
            <a:r>
              <a:rPr sz="1800" b="1" spc="-145" dirty="0">
                <a:solidFill>
                  <a:schemeClr val="tx1"/>
                </a:solidFill>
                <a:latin typeface="宋体" panose="02010600030101010101" pitchFamily="2" charset="-122"/>
                <a:cs typeface="宋体" panose="02010600030101010101" pitchFamily="2" charset="-122"/>
              </a:rPr>
              <a:t>Spectral</a:t>
            </a:r>
            <a:r>
              <a:rPr sz="1800" b="1" spc="-430" dirty="0">
                <a:solidFill>
                  <a:schemeClr val="tx1"/>
                </a:solidFill>
                <a:latin typeface="宋体" panose="02010600030101010101" pitchFamily="2" charset="-122"/>
                <a:cs typeface="宋体" panose="02010600030101010101" pitchFamily="2" charset="-122"/>
              </a:rPr>
              <a:t> </a:t>
            </a:r>
            <a:r>
              <a:rPr sz="1800" b="1" spc="-35" dirty="0">
                <a:solidFill>
                  <a:schemeClr val="tx1"/>
                </a:solidFill>
                <a:latin typeface="宋体" panose="02010600030101010101" pitchFamily="2" charset="-122"/>
                <a:cs typeface="宋体" panose="02010600030101010101" pitchFamily="2" charset="-122"/>
              </a:rPr>
              <a:t>Decomposition</a:t>
            </a:r>
            <a:endParaRPr sz="1800" b="1" spc="-35" dirty="0">
              <a:solidFill>
                <a:schemeClr val="tx1"/>
              </a:solidFill>
              <a:latin typeface="宋体" panose="02010600030101010101" pitchFamily="2" charset="-122"/>
              <a:cs typeface="宋体" panose="02010600030101010101" pitchFamily="2" charset="-122"/>
            </a:endParaRPr>
          </a:p>
        </p:txBody>
      </p:sp>
      <p:graphicFrame>
        <p:nvGraphicFramePr>
          <p:cNvPr id="8" name="object 8"/>
          <p:cNvGraphicFramePr>
            <a:graphicFrameLocks noGrp="1"/>
          </p:cNvGraphicFramePr>
          <p:nvPr/>
        </p:nvGraphicFramePr>
        <p:xfrm>
          <a:off x="457199" y="4519612"/>
          <a:ext cx="11353800" cy="1823085"/>
        </p:xfrm>
        <a:graphic>
          <a:graphicData uri="http://schemas.openxmlformats.org/drawingml/2006/table">
            <a:tbl>
              <a:tblPr firstRow="1" bandRow="1">
                <a:tableStyleId>{2D5ABB26-0587-4C30-8999-92F81FD0307C}</a:tableStyleId>
              </a:tblPr>
              <a:tblGrid>
                <a:gridCol w="3757295"/>
                <a:gridCol w="3752850"/>
                <a:gridCol w="3766820"/>
              </a:tblGrid>
              <a:tr h="608965">
                <a:tc>
                  <a:txBody>
                    <a:bodyPr/>
                    <a:lstStyle/>
                    <a:p>
                      <a:pPr>
                        <a:lnSpc>
                          <a:spcPct val="100000"/>
                        </a:lnSpc>
                        <a:spcBef>
                          <a:spcPts val="885"/>
                        </a:spcBef>
                      </a:pPr>
                      <a:endParaRPr sz="1350">
                        <a:latin typeface="Times New Roman" panose="02020603050405020304"/>
                        <a:cs typeface="Times New Roman" panose="02020603050405020304"/>
                      </a:endParaRPr>
                    </a:p>
                    <a:p>
                      <a:pPr marL="304800">
                        <a:lnSpc>
                          <a:spcPct val="100000"/>
                        </a:lnSpc>
                      </a:pPr>
                      <a:r>
                        <a:rPr sz="1350" b="1" u="sng" spc="-25" dirty="0">
                          <a:uFill>
                            <a:solidFill>
                              <a:srgbClr val="D0D5DA"/>
                            </a:solidFill>
                          </a:uFill>
                          <a:latin typeface="Courier New" panose="02070309020205020404"/>
                          <a:cs typeface="Courier New" panose="02070309020205020404"/>
                        </a:rPr>
                        <a:t>01.</a:t>
                      </a:r>
                      <a:endParaRPr sz="1350">
                        <a:latin typeface="Courier New" panose="02070309020205020404"/>
                        <a:cs typeface="Courier New" panose="02070309020205020404"/>
                      </a:endParaRPr>
                    </a:p>
                  </a:txBody>
                  <a:tcPr marL="0" marR="0" marT="112395" marB="0">
                    <a:lnR w="9525">
                      <a:solidFill>
                        <a:srgbClr val="E4E7EB"/>
                      </a:solidFill>
                      <a:prstDash val="solid"/>
                    </a:lnR>
                    <a:lnT w="9525">
                      <a:solidFill>
                        <a:srgbClr val="E4E7EB"/>
                      </a:solidFill>
                      <a:prstDash val="solid"/>
                    </a:lnT>
                  </a:tcPr>
                </a:tc>
                <a:tc>
                  <a:txBody>
                    <a:bodyPr/>
                    <a:lstStyle/>
                    <a:p>
                      <a:pPr>
                        <a:lnSpc>
                          <a:spcPct val="100000"/>
                        </a:lnSpc>
                        <a:spcBef>
                          <a:spcPts val="885"/>
                        </a:spcBef>
                      </a:pPr>
                      <a:endParaRPr sz="1350">
                        <a:latin typeface="Times New Roman" panose="02020603050405020304"/>
                        <a:cs typeface="Times New Roman" panose="02020603050405020304"/>
                      </a:endParaRPr>
                    </a:p>
                    <a:p>
                      <a:pPr marL="306070">
                        <a:lnSpc>
                          <a:spcPct val="100000"/>
                        </a:lnSpc>
                      </a:pPr>
                      <a:r>
                        <a:rPr sz="1350" b="1" u="sng" spc="-25" dirty="0">
                          <a:uFill>
                            <a:solidFill>
                              <a:srgbClr val="D0D5DA"/>
                            </a:solidFill>
                          </a:uFill>
                          <a:latin typeface="Courier New" panose="02070309020205020404"/>
                          <a:cs typeface="Courier New" panose="02070309020205020404"/>
                        </a:rPr>
                        <a:t>02.</a:t>
                      </a:r>
                      <a:endParaRPr sz="1350">
                        <a:latin typeface="Courier New" panose="02070309020205020404"/>
                        <a:cs typeface="Courier New" panose="02070309020205020404"/>
                      </a:endParaRPr>
                    </a:p>
                  </a:txBody>
                  <a:tcPr marL="0" marR="0" marT="112395" marB="0">
                    <a:lnL w="9525">
                      <a:solidFill>
                        <a:srgbClr val="E4E7EB"/>
                      </a:solidFill>
                      <a:prstDash val="solid"/>
                    </a:lnL>
                    <a:lnR w="9525">
                      <a:solidFill>
                        <a:srgbClr val="E4E7EB"/>
                      </a:solidFill>
                      <a:prstDash val="solid"/>
                    </a:lnR>
                    <a:lnT w="9525">
                      <a:solidFill>
                        <a:srgbClr val="E4E7EB"/>
                      </a:solidFill>
                      <a:prstDash val="solid"/>
                    </a:lnT>
                  </a:tcPr>
                </a:tc>
                <a:tc>
                  <a:txBody>
                    <a:bodyPr/>
                    <a:lstStyle/>
                    <a:p>
                      <a:pPr>
                        <a:lnSpc>
                          <a:spcPct val="100000"/>
                        </a:lnSpc>
                        <a:spcBef>
                          <a:spcPts val="885"/>
                        </a:spcBef>
                      </a:pPr>
                      <a:endParaRPr sz="1350">
                        <a:latin typeface="Times New Roman" panose="02020603050405020304"/>
                        <a:cs typeface="Times New Roman" panose="02020603050405020304"/>
                      </a:endParaRPr>
                    </a:p>
                    <a:p>
                      <a:pPr marL="312420">
                        <a:lnSpc>
                          <a:spcPct val="100000"/>
                        </a:lnSpc>
                      </a:pPr>
                      <a:r>
                        <a:rPr sz="1350" b="1" u="sng" spc="-25" dirty="0">
                          <a:uFill>
                            <a:solidFill>
                              <a:srgbClr val="D0D5DA"/>
                            </a:solidFill>
                          </a:uFill>
                          <a:latin typeface="Courier New" panose="02070309020205020404"/>
                          <a:cs typeface="Courier New" panose="02070309020205020404"/>
                        </a:rPr>
                        <a:t>03.</a:t>
                      </a:r>
                      <a:endParaRPr sz="1350">
                        <a:latin typeface="Courier New" panose="02070309020205020404"/>
                        <a:cs typeface="Courier New" panose="02070309020205020404"/>
                      </a:endParaRPr>
                    </a:p>
                  </a:txBody>
                  <a:tcPr marL="0" marR="0" marT="112395" marB="0">
                    <a:lnL w="9525">
                      <a:solidFill>
                        <a:srgbClr val="E4E7EB"/>
                      </a:solidFill>
                      <a:prstDash val="solid"/>
                    </a:lnL>
                    <a:lnT w="9525">
                      <a:solidFill>
                        <a:srgbClr val="E4E7EB"/>
                      </a:solidFill>
                      <a:prstDash val="solid"/>
                    </a:lnT>
                  </a:tcPr>
                </a:tc>
              </a:tr>
              <a:tr h="346710">
                <a:tc>
                  <a:txBody>
                    <a:bodyPr/>
                    <a:lstStyle/>
                    <a:p>
                      <a:pPr marL="304800">
                        <a:lnSpc>
                          <a:spcPct val="100000"/>
                        </a:lnSpc>
                        <a:spcBef>
                          <a:spcPts val="565"/>
                        </a:spcBef>
                      </a:pPr>
                      <a:r>
                        <a:rPr sz="1050" spc="130" dirty="0">
                          <a:solidFill>
                            <a:srgbClr val="6A7280"/>
                          </a:solidFill>
                          <a:latin typeface="宋体" panose="02010600030101010101" pitchFamily="2" charset="-122"/>
                          <a:cs typeface="宋体" panose="02010600030101010101" pitchFamily="2" charset="-122"/>
                        </a:rPr>
                        <a:t>PLUGIN</a:t>
                      </a:r>
                      <a:r>
                        <a:rPr sz="1050" spc="5" dirty="0">
                          <a:solidFill>
                            <a:srgbClr val="6A7280"/>
                          </a:solidFill>
                          <a:latin typeface="宋体" panose="02010600030101010101" pitchFamily="2" charset="-122"/>
                          <a:cs typeface="宋体" panose="02010600030101010101" pitchFamily="2" charset="-122"/>
                        </a:rPr>
                        <a:t> </a:t>
                      </a:r>
                      <a:r>
                        <a:rPr sz="1050" spc="140" dirty="0">
                          <a:solidFill>
                            <a:srgbClr val="6A7280"/>
                          </a:solidFill>
                          <a:latin typeface="宋体" panose="02010600030101010101" pitchFamily="2" charset="-122"/>
                          <a:cs typeface="宋体" panose="02010600030101010101" pitchFamily="2" charset="-122"/>
                        </a:rPr>
                        <a:t>ARCHITECTURE</a:t>
                      </a:r>
                      <a:endParaRPr sz="1050">
                        <a:latin typeface="宋体" panose="02010600030101010101" pitchFamily="2" charset="-122"/>
                        <a:cs typeface="宋体" panose="02010600030101010101" pitchFamily="2" charset="-122"/>
                      </a:endParaRPr>
                    </a:p>
                  </a:txBody>
                  <a:tcPr marL="0" marR="0" marT="71755" marB="0">
                    <a:lnR w="9525">
                      <a:solidFill>
                        <a:srgbClr val="E4E7EB"/>
                      </a:solidFill>
                      <a:prstDash val="solid"/>
                    </a:lnR>
                  </a:tcPr>
                </a:tc>
                <a:tc>
                  <a:txBody>
                    <a:bodyPr/>
                    <a:lstStyle/>
                    <a:p>
                      <a:pPr marL="306070">
                        <a:lnSpc>
                          <a:spcPct val="100000"/>
                        </a:lnSpc>
                        <a:spcBef>
                          <a:spcPts val="565"/>
                        </a:spcBef>
                      </a:pPr>
                      <a:r>
                        <a:rPr sz="1050" spc="10" dirty="0">
                          <a:solidFill>
                            <a:srgbClr val="6A7280"/>
                          </a:solidFill>
                          <a:latin typeface="宋体" panose="02010600030101010101" pitchFamily="2" charset="-122"/>
                          <a:cs typeface="宋体" panose="02010600030101010101" pitchFamily="2" charset="-122"/>
                        </a:rPr>
                        <a:t>FINE-</a:t>
                      </a:r>
                      <a:r>
                        <a:rPr sz="1050" spc="-405" dirty="0">
                          <a:solidFill>
                            <a:srgbClr val="6A7280"/>
                          </a:solidFill>
                          <a:latin typeface="宋体" panose="02010600030101010101" pitchFamily="2" charset="-122"/>
                          <a:cs typeface="宋体" panose="02010600030101010101" pitchFamily="2" charset="-122"/>
                        </a:rPr>
                        <a:t> </a:t>
                      </a:r>
                      <a:r>
                        <a:rPr sz="1050" spc="155" dirty="0">
                          <a:solidFill>
                            <a:srgbClr val="6A7280"/>
                          </a:solidFill>
                          <a:latin typeface="宋体" panose="02010600030101010101" pitchFamily="2" charset="-122"/>
                          <a:cs typeface="宋体" panose="02010600030101010101" pitchFamily="2" charset="-122"/>
                        </a:rPr>
                        <a:t>GRAINED</a:t>
                      </a:r>
                      <a:r>
                        <a:rPr sz="1050" spc="80" dirty="0">
                          <a:solidFill>
                            <a:srgbClr val="6A7280"/>
                          </a:solidFill>
                          <a:latin typeface="宋体" panose="02010600030101010101" pitchFamily="2" charset="-122"/>
                          <a:cs typeface="宋体" panose="02010600030101010101" pitchFamily="2" charset="-122"/>
                        </a:rPr>
                        <a:t> </a:t>
                      </a:r>
                      <a:r>
                        <a:rPr sz="1050" spc="175" dirty="0">
                          <a:solidFill>
                            <a:srgbClr val="6A7280"/>
                          </a:solidFill>
                          <a:latin typeface="宋体" panose="02010600030101010101" pitchFamily="2" charset="-122"/>
                          <a:cs typeface="宋体" panose="02010600030101010101" pitchFamily="2" charset="-122"/>
                        </a:rPr>
                        <a:t>MODELING</a:t>
                      </a:r>
                      <a:endParaRPr sz="1050">
                        <a:latin typeface="宋体" panose="02010600030101010101" pitchFamily="2" charset="-122"/>
                        <a:cs typeface="宋体" panose="02010600030101010101" pitchFamily="2" charset="-122"/>
                      </a:endParaRPr>
                    </a:p>
                  </a:txBody>
                  <a:tcPr marL="0" marR="0" marT="71755" marB="0">
                    <a:lnL w="9525">
                      <a:solidFill>
                        <a:srgbClr val="E4E7EB"/>
                      </a:solidFill>
                      <a:prstDash val="solid"/>
                    </a:lnL>
                    <a:lnR w="9525">
                      <a:solidFill>
                        <a:srgbClr val="E4E7EB"/>
                      </a:solidFill>
                      <a:prstDash val="solid"/>
                    </a:lnR>
                  </a:tcPr>
                </a:tc>
                <a:tc>
                  <a:txBody>
                    <a:bodyPr/>
                    <a:lstStyle/>
                    <a:p>
                      <a:pPr marL="312420">
                        <a:lnSpc>
                          <a:spcPct val="100000"/>
                        </a:lnSpc>
                        <a:spcBef>
                          <a:spcPts val="565"/>
                        </a:spcBef>
                      </a:pPr>
                      <a:r>
                        <a:rPr sz="1050" spc="155" dirty="0">
                          <a:solidFill>
                            <a:srgbClr val="6A7280"/>
                          </a:solidFill>
                          <a:latin typeface="宋体" panose="02010600030101010101" pitchFamily="2" charset="-122"/>
                          <a:cs typeface="宋体" panose="02010600030101010101" pitchFamily="2" charset="-122"/>
                        </a:rPr>
                        <a:t>SPECTRAL</a:t>
                      </a:r>
                      <a:r>
                        <a:rPr sz="1050" spc="25" dirty="0">
                          <a:solidFill>
                            <a:srgbClr val="6A7280"/>
                          </a:solidFill>
                          <a:latin typeface="宋体" panose="02010600030101010101" pitchFamily="2" charset="-122"/>
                          <a:cs typeface="宋体" panose="02010600030101010101" pitchFamily="2" charset="-122"/>
                        </a:rPr>
                        <a:t> </a:t>
                      </a:r>
                      <a:r>
                        <a:rPr sz="1050" spc="105" dirty="0">
                          <a:solidFill>
                            <a:srgbClr val="6A7280"/>
                          </a:solidFill>
                          <a:latin typeface="宋体" panose="02010600030101010101" pitchFamily="2" charset="-122"/>
                          <a:cs typeface="宋体" panose="02010600030101010101" pitchFamily="2" charset="-122"/>
                        </a:rPr>
                        <a:t>ADAPTIVE</a:t>
                      </a:r>
                      <a:endParaRPr sz="1050">
                        <a:latin typeface="宋体" panose="02010600030101010101" pitchFamily="2" charset="-122"/>
                        <a:cs typeface="宋体" panose="02010600030101010101" pitchFamily="2" charset="-122"/>
                      </a:endParaRPr>
                    </a:p>
                  </a:txBody>
                  <a:tcPr marL="0" marR="0" marT="71755" marB="0">
                    <a:lnL w="9525">
                      <a:solidFill>
                        <a:srgbClr val="E4E7EB"/>
                      </a:solidFill>
                      <a:prstDash val="solid"/>
                    </a:lnL>
                  </a:tcPr>
                </a:tc>
              </a:tr>
              <a:tr h="867410">
                <a:tc>
                  <a:txBody>
                    <a:bodyPr/>
                    <a:lstStyle/>
                    <a:p>
                      <a:pPr marL="304800" marR="308610">
                        <a:lnSpc>
                          <a:spcPct val="141000"/>
                        </a:lnSpc>
                        <a:spcBef>
                          <a:spcPts val="175"/>
                        </a:spcBef>
                      </a:pPr>
                      <a:r>
                        <a:rPr sz="1200" b="1" spc="-10" dirty="0">
                          <a:latin typeface="Courier New" panose="02070309020205020404"/>
                          <a:cs typeface="Courier New" panose="02070309020205020404"/>
                        </a:rPr>
                        <a:t>xCPD:</a:t>
                      </a:r>
                      <a:r>
                        <a:rPr sz="1200" b="1" spc="-325" dirty="0">
                          <a:latin typeface="Courier New" panose="02070309020205020404"/>
                          <a:cs typeface="Courier New" panose="02070309020205020404"/>
                        </a:rPr>
                        <a:t> </a:t>
                      </a:r>
                      <a:r>
                        <a:rPr sz="1200" spc="-20" dirty="0">
                          <a:solidFill>
                            <a:srgbClr val="1F2937"/>
                          </a:solidFill>
                          <a:latin typeface="宋体" panose="02010600030101010101" pitchFamily="2" charset="-122"/>
                          <a:cs typeface="宋体" panose="02010600030101010101" pitchFamily="2" charset="-122"/>
                        </a:rPr>
                        <a:t>通用即插即用模块，支持 </a:t>
                      </a:r>
                      <a:r>
                        <a:rPr sz="1200" dirty="0">
                          <a:solidFill>
                            <a:srgbClr val="1F2937"/>
                          </a:solidFill>
                          <a:latin typeface="宋体" panose="02010600030101010101" pitchFamily="2" charset="-122"/>
                          <a:cs typeface="宋体" panose="02010600030101010101" pitchFamily="2" charset="-122"/>
                        </a:rPr>
                        <a:t>CI/CD</a:t>
                      </a:r>
                      <a:r>
                        <a:rPr sz="1200" spc="-70" dirty="0">
                          <a:solidFill>
                            <a:srgbClr val="1F2937"/>
                          </a:solidFill>
                          <a:latin typeface="宋体" panose="02010600030101010101" pitchFamily="2" charset="-122"/>
                          <a:cs typeface="宋体" panose="02010600030101010101" pitchFamily="2" charset="-122"/>
                        </a:rPr>
                        <a:t> 预测模</a:t>
                      </a:r>
                      <a:r>
                        <a:rPr sz="1200" spc="-10" dirty="0">
                          <a:solidFill>
                            <a:srgbClr val="1F2937"/>
                          </a:solidFill>
                          <a:latin typeface="宋体" panose="02010600030101010101" pitchFamily="2" charset="-122"/>
                          <a:cs typeface="宋体" panose="02010600030101010101" pitchFamily="2" charset="-122"/>
                        </a:rPr>
                        <a:t>型的无缝模型。</a:t>
                      </a:r>
                      <a:endParaRPr sz="1200">
                        <a:latin typeface="宋体" panose="02010600030101010101" pitchFamily="2" charset="-122"/>
                        <a:cs typeface="宋体" panose="02010600030101010101" pitchFamily="2" charset="-122"/>
                      </a:endParaRPr>
                    </a:p>
                  </a:txBody>
                  <a:tcPr marL="0" marR="0" marT="22225" marB="0">
                    <a:lnR w="9525">
                      <a:solidFill>
                        <a:srgbClr val="E4E7EB"/>
                      </a:solidFill>
                      <a:prstDash val="solid"/>
                    </a:lnR>
                    <a:lnB w="38100">
                      <a:solidFill>
                        <a:srgbClr val="000000"/>
                      </a:solidFill>
                      <a:prstDash val="solid"/>
                    </a:lnB>
                  </a:tcPr>
                </a:tc>
                <a:tc>
                  <a:txBody>
                    <a:bodyPr/>
                    <a:lstStyle/>
                    <a:p>
                      <a:pPr marL="306070" marR="441960">
                        <a:lnSpc>
                          <a:spcPct val="135000"/>
                        </a:lnSpc>
                        <a:spcBef>
                          <a:spcPts val="250"/>
                        </a:spcBef>
                      </a:pPr>
                      <a:r>
                        <a:rPr sz="1200" spc="-90" dirty="0">
                          <a:solidFill>
                            <a:srgbClr val="1F2937"/>
                          </a:solidFill>
                          <a:latin typeface="宋体" panose="02010600030101010101" pitchFamily="2" charset="-122"/>
                          <a:cs typeface="宋体" panose="02010600030101010101" pitchFamily="2" charset="-122"/>
                        </a:rPr>
                        <a:t>将依赖关系建模从传统的“通道级”下放至更精</a:t>
                      </a:r>
                      <a:r>
                        <a:rPr sz="1200" spc="-75" dirty="0">
                          <a:solidFill>
                            <a:srgbClr val="1F2937"/>
                          </a:solidFill>
                          <a:latin typeface="宋体" panose="02010600030101010101" pitchFamily="2" charset="-122"/>
                          <a:cs typeface="宋体" panose="02010600030101010101" pitchFamily="2" charset="-122"/>
                        </a:rPr>
                        <a:t>细的 </a:t>
                      </a:r>
                      <a:r>
                        <a:rPr sz="1200" i="1" spc="-30" dirty="0">
                          <a:latin typeface="宋体" panose="02010600030101010101" pitchFamily="2" charset="-122"/>
                          <a:cs typeface="宋体" panose="02010600030101010101" pitchFamily="2" charset="-122"/>
                        </a:rPr>
                        <a:t>Channel-Patch</a:t>
                      </a:r>
                      <a:r>
                        <a:rPr sz="1200" i="1" spc="-204" dirty="0">
                          <a:latin typeface="宋体" panose="02010600030101010101" pitchFamily="2" charset="-122"/>
                          <a:cs typeface="宋体" panose="02010600030101010101" pitchFamily="2" charset="-122"/>
                        </a:rPr>
                        <a:t> </a:t>
                      </a:r>
                      <a:r>
                        <a:rPr sz="1200" spc="-20" dirty="0">
                          <a:solidFill>
                            <a:srgbClr val="1F2937"/>
                          </a:solidFill>
                          <a:latin typeface="宋体" panose="02010600030101010101" pitchFamily="2" charset="-122"/>
                          <a:cs typeface="宋体" panose="02010600030101010101" pitchFamily="2" charset="-122"/>
                        </a:rPr>
                        <a:t>量级。</a:t>
                      </a:r>
                      <a:endParaRPr sz="1200">
                        <a:latin typeface="宋体" panose="02010600030101010101" pitchFamily="2" charset="-122"/>
                        <a:cs typeface="宋体" panose="02010600030101010101" pitchFamily="2" charset="-122"/>
                      </a:endParaRPr>
                    </a:p>
                  </a:txBody>
                  <a:tcPr marL="0" marR="0" marT="31750" marB="0">
                    <a:lnL w="9525">
                      <a:solidFill>
                        <a:srgbClr val="E4E7EB"/>
                      </a:solidFill>
                      <a:prstDash val="solid"/>
                    </a:lnL>
                    <a:lnR w="9525">
                      <a:solidFill>
                        <a:srgbClr val="E4E7EB"/>
                      </a:solidFill>
                      <a:prstDash val="solid"/>
                    </a:lnR>
                    <a:lnB w="38100">
                      <a:solidFill>
                        <a:srgbClr val="000000"/>
                      </a:solidFill>
                      <a:prstDash val="solid"/>
                    </a:lnB>
                  </a:tcPr>
                </a:tc>
                <a:tc>
                  <a:txBody>
                    <a:bodyPr/>
                    <a:lstStyle/>
                    <a:p>
                      <a:pPr marL="312420" marR="398780">
                        <a:lnSpc>
                          <a:spcPct val="135000"/>
                        </a:lnSpc>
                        <a:spcBef>
                          <a:spcPts val="250"/>
                        </a:spcBef>
                      </a:pPr>
                      <a:r>
                        <a:rPr sz="1200" spc="-5" dirty="0">
                          <a:solidFill>
                            <a:srgbClr val="1F2937"/>
                          </a:solidFill>
                          <a:latin typeface="宋体" panose="02010600030101010101" pitchFamily="2" charset="-122"/>
                          <a:cs typeface="宋体" panose="02010600030101010101" pitchFamily="2" charset="-122"/>
                        </a:rPr>
                        <a:t>利用图谱分解在频域内实现低、中、高频依赖</a:t>
                      </a:r>
                      <a:r>
                        <a:rPr sz="1200" spc="-10" dirty="0">
                          <a:solidFill>
                            <a:srgbClr val="1F2937"/>
                          </a:solidFill>
                          <a:latin typeface="宋体" panose="02010600030101010101" pitchFamily="2" charset="-122"/>
                          <a:cs typeface="宋体" panose="02010600030101010101" pitchFamily="2" charset="-122"/>
                        </a:rPr>
                        <a:t>信号的自适应路由。</a:t>
                      </a:r>
                      <a:endParaRPr sz="1200">
                        <a:latin typeface="宋体" panose="02010600030101010101" pitchFamily="2" charset="-122"/>
                        <a:cs typeface="宋体" panose="02010600030101010101" pitchFamily="2" charset="-122"/>
                      </a:endParaRPr>
                    </a:p>
                  </a:txBody>
                  <a:tcPr marL="0" marR="0" marT="31750" marB="0">
                    <a:lnL w="9525">
                      <a:solidFill>
                        <a:srgbClr val="E4E7EB"/>
                      </a:solidFill>
                      <a:prstDash val="solid"/>
                    </a:lnL>
                    <a:lnB w="38100">
                      <a:solidFill>
                        <a:srgbClr val="000000"/>
                      </a:solidFill>
                      <a:prstDash val="solid"/>
                    </a:lnB>
                  </a:tcPr>
                </a:tc>
              </a:tr>
            </a:tbl>
          </a:graphicData>
        </a:graphic>
      </p:graphicFrame>
      <p:sp>
        <p:nvSpPr>
          <p:cNvPr id="9" name="object 9"/>
          <p:cNvSpPr/>
          <p:nvPr/>
        </p:nvSpPr>
        <p:spPr>
          <a:xfrm>
            <a:off x="0" y="0"/>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10" name="object 10"/>
          <p:cNvSpPr/>
          <p:nvPr/>
        </p:nvSpPr>
        <p:spPr>
          <a:xfrm>
            <a:off x="0" y="6819899"/>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90397"/>
            <a:ext cx="6694805" cy="490855"/>
          </a:xfrm>
          <a:prstGeom prst="rect">
            <a:avLst/>
          </a:prstGeom>
        </p:spPr>
        <p:txBody>
          <a:bodyPr vert="horz" wrap="square" lIns="0" tIns="12700" rIns="0" bIns="0" rtlCol="0">
            <a:spAutoFit/>
          </a:bodyPr>
          <a:lstStyle/>
          <a:p>
            <a:pPr marL="12700">
              <a:lnSpc>
                <a:spcPct val="100000"/>
              </a:lnSpc>
              <a:spcBef>
                <a:spcPts val="100"/>
              </a:spcBef>
            </a:pPr>
            <a:r>
              <a:rPr spc="-305" dirty="0"/>
              <a:t>引言：</a:t>
            </a:r>
            <a:r>
              <a:rPr b="1" spc="-305" dirty="0">
                <a:latin typeface="微软雅黑" panose="020B0503020204020204" charset="-122"/>
                <a:cs typeface="微软雅黑" panose="020B0503020204020204" charset="-122"/>
              </a:rPr>
              <a:t>现</a:t>
            </a:r>
            <a:r>
              <a:rPr spc="-305" dirty="0"/>
              <a:t>有</a:t>
            </a:r>
            <a:r>
              <a:rPr b="1" spc="-305" dirty="0">
                <a:latin typeface="微软雅黑" panose="020B0503020204020204" charset="-122"/>
                <a:cs typeface="微软雅黑" panose="020B0503020204020204" charset="-122"/>
              </a:rPr>
              <a:t>通道</a:t>
            </a:r>
            <a:r>
              <a:rPr spc="-305" dirty="0"/>
              <a:t>策略的粒</a:t>
            </a:r>
            <a:r>
              <a:rPr b="1" spc="-305" dirty="0">
                <a:latin typeface="微软雅黑" panose="020B0503020204020204" charset="-122"/>
                <a:cs typeface="微软雅黑" panose="020B0503020204020204" charset="-122"/>
              </a:rPr>
              <a:t>度</a:t>
            </a:r>
            <a:r>
              <a:rPr spc="-305" dirty="0"/>
              <a:t>瓶</a:t>
            </a:r>
            <a:r>
              <a:rPr b="1" spc="-305" dirty="0">
                <a:latin typeface="微软雅黑" panose="020B0503020204020204" charset="-122"/>
                <a:cs typeface="微软雅黑" panose="020B0503020204020204" charset="-122"/>
              </a:rPr>
              <a:t>颈与时</a:t>
            </a:r>
            <a:r>
              <a:rPr spc="-305" dirty="0"/>
              <a:t>域耦</a:t>
            </a:r>
            <a:r>
              <a:rPr b="1" spc="-420" dirty="0">
                <a:latin typeface="微软雅黑" panose="020B0503020204020204" charset="-122"/>
                <a:cs typeface="微软雅黑" panose="020B0503020204020204" charset="-122"/>
              </a:rPr>
              <a:t>合</a:t>
            </a:r>
            <a:endParaRPr b="1" spc="-420" dirty="0">
              <a:latin typeface="微软雅黑" panose="020B0503020204020204" charset="-122"/>
              <a:cs typeface="微软雅黑" panose="020B0503020204020204" charset="-122"/>
            </a:endParaRPr>
          </a:p>
        </p:txBody>
      </p:sp>
      <p:sp>
        <p:nvSpPr>
          <p:cNvPr id="3" name="object 3"/>
          <p:cNvSpPr/>
          <p:nvPr/>
        </p:nvSpPr>
        <p:spPr>
          <a:xfrm>
            <a:off x="457199" y="1371599"/>
            <a:ext cx="1666875" cy="228600"/>
          </a:xfrm>
          <a:custGeom>
            <a:avLst/>
            <a:gdLst/>
            <a:ahLst/>
            <a:cxnLst/>
            <a:rect l="l" t="t" r="r" b="b"/>
            <a:pathLst>
              <a:path w="1666875" h="228600">
                <a:moveTo>
                  <a:pt x="1560079" y="228599"/>
                </a:moveTo>
                <a:lnTo>
                  <a:pt x="106794" y="228599"/>
                </a:lnTo>
                <a:lnTo>
                  <a:pt x="99361" y="227867"/>
                </a:lnTo>
                <a:lnTo>
                  <a:pt x="57038" y="213506"/>
                </a:lnTo>
                <a:lnTo>
                  <a:pt x="23432" y="184041"/>
                </a:lnTo>
                <a:lnTo>
                  <a:pt x="3660" y="143959"/>
                </a:lnTo>
                <a:lnTo>
                  <a:pt x="0" y="121804"/>
                </a:lnTo>
                <a:lnTo>
                  <a:pt x="0" y="114299"/>
                </a:lnTo>
                <a:lnTo>
                  <a:pt x="0" y="106794"/>
                </a:lnTo>
                <a:lnTo>
                  <a:pt x="11572" y="63625"/>
                </a:lnTo>
                <a:lnTo>
                  <a:pt x="38784" y="28170"/>
                </a:lnTo>
                <a:lnTo>
                  <a:pt x="77493" y="5828"/>
                </a:lnTo>
                <a:lnTo>
                  <a:pt x="106794" y="0"/>
                </a:lnTo>
                <a:lnTo>
                  <a:pt x="1560079" y="0"/>
                </a:lnTo>
                <a:lnTo>
                  <a:pt x="1603249" y="11572"/>
                </a:lnTo>
                <a:lnTo>
                  <a:pt x="1638703" y="38784"/>
                </a:lnTo>
                <a:lnTo>
                  <a:pt x="1661046" y="77492"/>
                </a:lnTo>
                <a:lnTo>
                  <a:pt x="1666874" y="106794"/>
                </a:lnTo>
                <a:lnTo>
                  <a:pt x="1666874" y="121804"/>
                </a:lnTo>
                <a:lnTo>
                  <a:pt x="1655302" y="164974"/>
                </a:lnTo>
                <a:lnTo>
                  <a:pt x="1628090" y="200429"/>
                </a:lnTo>
                <a:lnTo>
                  <a:pt x="1589381" y="222771"/>
                </a:lnTo>
                <a:lnTo>
                  <a:pt x="1567512" y="227867"/>
                </a:lnTo>
                <a:lnTo>
                  <a:pt x="1560079" y="228599"/>
                </a:lnTo>
                <a:close/>
              </a:path>
            </a:pathLst>
          </a:custGeom>
          <a:solidFill>
            <a:srgbClr val="F2F4F5"/>
          </a:solidFill>
        </p:spPr>
        <p:txBody>
          <a:bodyPr wrap="square" lIns="0" tIns="0" rIns="0" bIns="0" rtlCol="0"/>
          <a:lstStyle/>
          <a:p/>
        </p:txBody>
      </p:sp>
      <p:sp>
        <p:nvSpPr>
          <p:cNvPr id="4" name="object 4"/>
          <p:cNvSpPr txBox="1"/>
          <p:nvPr/>
        </p:nvSpPr>
        <p:spPr>
          <a:xfrm>
            <a:off x="558800" y="1387475"/>
            <a:ext cx="1454785" cy="162560"/>
          </a:xfrm>
          <a:prstGeom prst="rect">
            <a:avLst/>
          </a:prstGeom>
        </p:spPr>
        <p:txBody>
          <a:bodyPr vert="horz" wrap="square" lIns="0" tIns="12700" rIns="0" bIns="0" rtlCol="0">
            <a:spAutoFit/>
          </a:bodyPr>
          <a:lstStyle/>
          <a:p>
            <a:pPr marL="12700">
              <a:lnSpc>
                <a:spcPct val="100000"/>
              </a:lnSpc>
              <a:spcBef>
                <a:spcPts val="100"/>
              </a:spcBef>
            </a:pPr>
            <a:r>
              <a:rPr sz="900" b="1" spc="75" dirty="0">
                <a:solidFill>
                  <a:srgbClr val="6A7280"/>
                </a:solidFill>
                <a:latin typeface="Courier New" panose="02070309020205020404"/>
                <a:cs typeface="Courier New" panose="02070309020205020404"/>
              </a:rPr>
              <a:t>GENERAL</a:t>
            </a:r>
            <a:r>
              <a:rPr sz="900" b="1" spc="185" dirty="0">
                <a:solidFill>
                  <a:srgbClr val="6A7280"/>
                </a:solidFill>
                <a:latin typeface="Courier New" panose="02070309020205020404"/>
                <a:cs typeface="Courier New" panose="02070309020205020404"/>
              </a:rPr>
              <a:t> </a:t>
            </a:r>
            <a:r>
              <a:rPr sz="900" b="1" spc="70" dirty="0">
                <a:solidFill>
                  <a:srgbClr val="6A7280"/>
                </a:solidFill>
                <a:latin typeface="Courier New" panose="02070309020205020404"/>
                <a:cs typeface="Courier New" panose="02070309020205020404"/>
              </a:rPr>
              <a:t>LIMITATION</a:t>
            </a:r>
            <a:endParaRPr sz="900">
              <a:latin typeface="Courier New" panose="02070309020205020404"/>
              <a:cs typeface="Courier New" panose="02070309020205020404"/>
            </a:endParaRPr>
          </a:p>
        </p:txBody>
      </p:sp>
      <p:sp>
        <p:nvSpPr>
          <p:cNvPr id="5" name="object 5"/>
          <p:cNvSpPr txBox="1"/>
          <p:nvPr/>
        </p:nvSpPr>
        <p:spPr>
          <a:xfrm>
            <a:off x="847724" y="1781174"/>
            <a:ext cx="1314450" cy="190500"/>
          </a:xfrm>
          <a:prstGeom prst="rect">
            <a:avLst/>
          </a:prstGeom>
          <a:solidFill>
            <a:srgbClr val="F2F4F5"/>
          </a:solidFill>
        </p:spPr>
        <p:txBody>
          <a:bodyPr vert="horz" wrap="square" lIns="0" tIns="0" rIns="0" bIns="0" rtlCol="0">
            <a:spAutoFit/>
          </a:bodyPr>
          <a:lstStyle/>
          <a:p>
            <a:pPr marL="38100">
              <a:lnSpc>
                <a:spcPts val="1320"/>
              </a:lnSpc>
            </a:pPr>
            <a:r>
              <a:rPr sz="1350" b="1" dirty="0">
                <a:latin typeface="Courier New" panose="02070309020205020404"/>
                <a:cs typeface="Courier New" panose="02070309020205020404"/>
              </a:rPr>
              <a:t>CI</a:t>
            </a:r>
            <a:r>
              <a:rPr sz="1350" b="1" spc="-15" dirty="0">
                <a:latin typeface="Courier New" panose="02070309020205020404"/>
                <a:cs typeface="Courier New" panose="02070309020205020404"/>
              </a:rPr>
              <a:t> </a:t>
            </a:r>
            <a:r>
              <a:rPr sz="1350" b="1" dirty="0">
                <a:latin typeface="Courier New" panose="02070309020205020404"/>
                <a:cs typeface="Courier New" panose="02070309020205020404"/>
              </a:rPr>
              <a:t>/</a:t>
            </a:r>
            <a:r>
              <a:rPr sz="1350" b="1" spc="-10" dirty="0">
                <a:latin typeface="Courier New" panose="02070309020205020404"/>
                <a:cs typeface="Courier New" panose="02070309020205020404"/>
              </a:rPr>
              <a:t> </a:t>
            </a:r>
            <a:r>
              <a:rPr sz="1350" b="1" dirty="0">
                <a:latin typeface="Courier New" panose="02070309020205020404"/>
                <a:cs typeface="Courier New" panose="02070309020205020404"/>
              </a:rPr>
              <a:t>CD</a:t>
            </a:r>
            <a:r>
              <a:rPr sz="1350" b="1" spc="-15" dirty="0">
                <a:latin typeface="Courier New" panose="02070309020205020404"/>
                <a:cs typeface="Courier New" panose="02070309020205020404"/>
              </a:rPr>
              <a:t> </a:t>
            </a:r>
            <a:r>
              <a:rPr sz="1350" b="1" dirty="0">
                <a:latin typeface="Courier New" panose="02070309020205020404"/>
                <a:cs typeface="Courier New" panose="02070309020205020404"/>
              </a:rPr>
              <a:t>/</a:t>
            </a:r>
            <a:r>
              <a:rPr sz="1350" b="1" spc="-10" dirty="0">
                <a:latin typeface="Courier New" panose="02070309020205020404"/>
                <a:cs typeface="Courier New" panose="02070309020205020404"/>
              </a:rPr>
              <a:t> </a:t>
            </a:r>
            <a:r>
              <a:rPr sz="1350" b="1" spc="-25" dirty="0">
                <a:latin typeface="Courier New" panose="02070309020205020404"/>
                <a:cs typeface="Courier New" panose="02070309020205020404"/>
              </a:rPr>
              <a:t>CP</a:t>
            </a:r>
            <a:endParaRPr sz="1350">
              <a:latin typeface="Courier New" panose="02070309020205020404"/>
              <a:cs typeface="Courier New" panose="02070309020205020404"/>
            </a:endParaRPr>
          </a:p>
        </p:txBody>
      </p:sp>
      <p:sp>
        <p:nvSpPr>
          <p:cNvPr id="6" name="object 6"/>
          <p:cNvSpPr txBox="1"/>
          <p:nvPr/>
        </p:nvSpPr>
        <p:spPr>
          <a:xfrm>
            <a:off x="444500" y="1708086"/>
            <a:ext cx="8118475" cy="258445"/>
          </a:xfrm>
          <a:prstGeom prst="rect">
            <a:avLst/>
          </a:prstGeom>
        </p:spPr>
        <p:txBody>
          <a:bodyPr vert="horz" wrap="square" lIns="0" tIns="15875" rIns="0" bIns="0" rtlCol="0">
            <a:spAutoFit/>
          </a:bodyPr>
          <a:lstStyle/>
          <a:p>
            <a:pPr marL="12700">
              <a:lnSpc>
                <a:spcPct val="100000"/>
              </a:lnSpc>
              <a:spcBef>
                <a:spcPts val="125"/>
              </a:spcBef>
              <a:tabLst>
                <a:tab pos="1760855" algn="l"/>
              </a:tabLst>
            </a:pPr>
            <a:r>
              <a:rPr sz="1500" spc="-150" dirty="0">
                <a:solidFill>
                  <a:srgbClr val="374050"/>
                </a:solidFill>
                <a:latin typeface="宋体" panose="02010600030101010101" pitchFamily="2" charset="-122"/>
                <a:cs typeface="宋体" panose="02010600030101010101" pitchFamily="2" charset="-122"/>
              </a:rPr>
              <a:t>现</a:t>
            </a:r>
            <a:r>
              <a:rPr sz="1500" spc="-50" dirty="0">
                <a:solidFill>
                  <a:srgbClr val="374050"/>
                </a:solidFill>
                <a:latin typeface="宋体" panose="02010600030101010101" pitchFamily="2" charset="-122"/>
                <a:cs typeface="宋体" panose="02010600030101010101" pitchFamily="2" charset="-122"/>
              </a:rPr>
              <a:t>有</a:t>
            </a:r>
            <a:r>
              <a:rPr sz="1500" dirty="0">
                <a:solidFill>
                  <a:srgbClr val="374050"/>
                </a:solidFill>
                <a:latin typeface="宋体" panose="02010600030101010101" pitchFamily="2" charset="-122"/>
                <a:cs typeface="宋体" panose="02010600030101010101" pitchFamily="2" charset="-122"/>
              </a:rPr>
              <a:t>	</a:t>
            </a:r>
            <a:r>
              <a:rPr sz="1500" spc="-150" dirty="0">
                <a:solidFill>
                  <a:srgbClr val="374050"/>
                </a:solidFill>
                <a:latin typeface="宋体" panose="02010600030101010101" pitchFamily="2" charset="-122"/>
                <a:cs typeface="宋体" panose="02010600030101010101" pitchFamily="2" charset="-122"/>
              </a:rPr>
              <a:t>策略体系的依赖关系建模停留在通道级别，忽略了局部时间段（补丁）的异构特性</a:t>
            </a:r>
            <a:r>
              <a:rPr sz="1500" spc="-95" dirty="0">
                <a:solidFill>
                  <a:srgbClr val="374050"/>
                </a:solidFill>
                <a:latin typeface="宋体" panose="02010600030101010101" pitchFamily="2" charset="-122"/>
                <a:cs typeface="宋体" panose="02010600030101010101" pitchFamily="2" charset="-122"/>
              </a:rPr>
              <a:t>。</a:t>
            </a:r>
            <a:endParaRPr sz="1500">
              <a:latin typeface="宋体" panose="02010600030101010101" pitchFamily="2" charset="-122"/>
              <a:cs typeface="宋体" panose="02010600030101010101" pitchFamily="2" charset="-122"/>
            </a:endParaRPr>
          </a:p>
        </p:txBody>
      </p:sp>
      <p:sp>
        <p:nvSpPr>
          <p:cNvPr id="7" name="object 7"/>
          <p:cNvSpPr/>
          <p:nvPr/>
        </p:nvSpPr>
        <p:spPr>
          <a:xfrm>
            <a:off x="457199" y="6353174"/>
            <a:ext cx="11277600" cy="9525"/>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2F4F5"/>
          </a:solidFill>
        </p:spPr>
        <p:txBody>
          <a:bodyPr wrap="square" lIns="0" tIns="0" rIns="0" bIns="0" rtlCol="0"/>
          <a:lstStyle/>
          <a:p/>
        </p:txBody>
      </p:sp>
      <p:sp>
        <p:nvSpPr>
          <p:cNvPr id="8" name="object 8"/>
          <p:cNvSpPr/>
          <p:nvPr/>
        </p:nvSpPr>
        <p:spPr>
          <a:xfrm>
            <a:off x="457199" y="6619874"/>
            <a:ext cx="304800" cy="38100"/>
          </a:xfrm>
          <a:custGeom>
            <a:avLst/>
            <a:gdLst/>
            <a:ahLst/>
            <a:cxnLst/>
            <a:rect l="l" t="t" r="r" b="b"/>
            <a:pathLst>
              <a:path w="304800" h="38100">
                <a:moveTo>
                  <a:pt x="304799" y="38099"/>
                </a:moveTo>
                <a:lnTo>
                  <a:pt x="0" y="38099"/>
                </a:lnTo>
                <a:lnTo>
                  <a:pt x="0" y="0"/>
                </a:lnTo>
                <a:lnTo>
                  <a:pt x="304799" y="0"/>
                </a:lnTo>
                <a:lnTo>
                  <a:pt x="304799" y="38099"/>
                </a:lnTo>
                <a:close/>
              </a:path>
            </a:pathLst>
          </a:custGeom>
          <a:solidFill>
            <a:srgbClr val="000000"/>
          </a:solidFill>
        </p:spPr>
        <p:txBody>
          <a:bodyPr wrap="square" lIns="0" tIns="0" rIns="0" bIns="0" rtlCol="0"/>
          <a:lstStyle/>
          <a:p/>
        </p:txBody>
      </p:sp>
      <p:sp>
        <p:nvSpPr>
          <p:cNvPr id="9" name="object 9"/>
          <p:cNvSpPr/>
          <p:nvPr/>
        </p:nvSpPr>
        <p:spPr>
          <a:xfrm>
            <a:off x="914399" y="6619874"/>
            <a:ext cx="152400" cy="38100"/>
          </a:xfrm>
          <a:custGeom>
            <a:avLst/>
            <a:gdLst/>
            <a:ahLst/>
            <a:cxnLst/>
            <a:rect l="l" t="t" r="r" b="b"/>
            <a:pathLst>
              <a:path w="152400" h="38100">
                <a:moveTo>
                  <a:pt x="152399" y="38099"/>
                </a:moveTo>
                <a:lnTo>
                  <a:pt x="0" y="38099"/>
                </a:lnTo>
                <a:lnTo>
                  <a:pt x="0" y="0"/>
                </a:lnTo>
                <a:lnTo>
                  <a:pt x="152399" y="0"/>
                </a:lnTo>
                <a:lnTo>
                  <a:pt x="152399" y="38099"/>
                </a:lnTo>
                <a:close/>
              </a:path>
            </a:pathLst>
          </a:custGeom>
          <a:solidFill>
            <a:srgbClr val="E4E7EB"/>
          </a:solidFill>
        </p:spPr>
        <p:txBody>
          <a:bodyPr wrap="square" lIns="0" tIns="0" rIns="0" bIns="0" rtlCol="0"/>
          <a:lstStyle/>
          <a:p/>
        </p:txBody>
      </p:sp>
      <p:sp>
        <p:nvSpPr>
          <p:cNvPr id="11" name="object 11"/>
          <p:cNvSpPr/>
          <p:nvPr/>
        </p:nvSpPr>
        <p:spPr>
          <a:xfrm>
            <a:off x="457200" y="2247899"/>
            <a:ext cx="19050" cy="2295525"/>
          </a:xfrm>
          <a:custGeom>
            <a:avLst/>
            <a:gdLst/>
            <a:ahLst/>
            <a:cxnLst/>
            <a:rect l="l" t="t" r="r" b="b"/>
            <a:pathLst>
              <a:path w="19050" h="2295525">
                <a:moveTo>
                  <a:pt x="19049" y="2295524"/>
                </a:moveTo>
                <a:lnTo>
                  <a:pt x="0" y="2295524"/>
                </a:lnTo>
                <a:lnTo>
                  <a:pt x="0" y="0"/>
                </a:lnTo>
                <a:lnTo>
                  <a:pt x="19049" y="0"/>
                </a:lnTo>
                <a:lnTo>
                  <a:pt x="19049" y="2295524"/>
                </a:lnTo>
                <a:close/>
              </a:path>
            </a:pathLst>
          </a:custGeom>
          <a:solidFill>
            <a:srgbClr val="000000"/>
          </a:solidFill>
        </p:spPr>
        <p:txBody>
          <a:bodyPr wrap="square" lIns="0" tIns="0" rIns="0" bIns="0" rtlCol="0"/>
          <a:lstStyle/>
          <a:p/>
        </p:txBody>
      </p:sp>
      <p:sp>
        <p:nvSpPr>
          <p:cNvPr id="12" name="object 12"/>
          <p:cNvSpPr/>
          <p:nvPr/>
        </p:nvSpPr>
        <p:spPr>
          <a:xfrm>
            <a:off x="704849" y="3295649"/>
            <a:ext cx="5238750" cy="9525"/>
          </a:xfrm>
          <a:custGeom>
            <a:avLst/>
            <a:gdLst/>
            <a:ahLst/>
            <a:cxnLst/>
            <a:rect l="l" t="t" r="r" b="b"/>
            <a:pathLst>
              <a:path w="5238750" h="9525">
                <a:moveTo>
                  <a:pt x="5238749" y="9524"/>
                </a:moveTo>
                <a:lnTo>
                  <a:pt x="0" y="9524"/>
                </a:lnTo>
                <a:lnTo>
                  <a:pt x="0" y="0"/>
                </a:lnTo>
                <a:lnTo>
                  <a:pt x="5238749" y="0"/>
                </a:lnTo>
                <a:lnTo>
                  <a:pt x="5238749" y="9524"/>
                </a:lnTo>
                <a:close/>
              </a:path>
            </a:pathLst>
          </a:custGeom>
          <a:solidFill>
            <a:srgbClr val="F2F4F5"/>
          </a:solidFill>
        </p:spPr>
        <p:txBody>
          <a:bodyPr wrap="square" lIns="0" tIns="0" rIns="0" bIns="0" rtlCol="0"/>
          <a:lstStyle/>
          <a:p/>
        </p:txBody>
      </p:sp>
      <p:sp>
        <p:nvSpPr>
          <p:cNvPr id="13" name="object 13"/>
          <p:cNvSpPr/>
          <p:nvPr/>
        </p:nvSpPr>
        <p:spPr>
          <a:xfrm>
            <a:off x="704849" y="3457574"/>
            <a:ext cx="5238750" cy="1009650"/>
          </a:xfrm>
          <a:custGeom>
            <a:avLst/>
            <a:gdLst/>
            <a:ahLst/>
            <a:cxnLst/>
            <a:rect l="l" t="t" r="r" b="b"/>
            <a:pathLst>
              <a:path w="5238750" h="1009650">
                <a:moveTo>
                  <a:pt x="5167552" y="1009649"/>
                </a:moveTo>
                <a:lnTo>
                  <a:pt x="71196" y="1009649"/>
                </a:lnTo>
                <a:lnTo>
                  <a:pt x="66241" y="1009161"/>
                </a:lnTo>
                <a:lnTo>
                  <a:pt x="29705" y="994027"/>
                </a:lnTo>
                <a:lnTo>
                  <a:pt x="3885" y="957987"/>
                </a:lnTo>
                <a:lnTo>
                  <a:pt x="0" y="938453"/>
                </a:lnTo>
                <a:lnTo>
                  <a:pt x="0" y="933449"/>
                </a:lnTo>
                <a:lnTo>
                  <a:pt x="0" y="71196"/>
                </a:lnTo>
                <a:lnTo>
                  <a:pt x="15621" y="29705"/>
                </a:lnTo>
                <a:lnTo>
                  <a:pt x="51661" y="3885"/>
                </a:lnTo>
                <a:lnTo>
                  <a:pt x="71196" y="0"/>
                </a:lnTo>
                <a:lnTo>
                  <a:pt x="5167552" y="0"/>
                </a:lnTo>
                <a:lnTo>
                  <a:pt x="5209043" y="15621"/>
                </a:lnTo>
                <a:lnTo>
                  <a:pt x="5234863" y="51661"/>
                </a:lnTo>
                <a:lnTo>
                  <a:pt x="5238749" y="71196"/>
                </a:lnTo>
                <a:lnTo>
                  <a:pt x="5238749" y="938453"/>
                </a:lnTo>
                <a:lnTo>
                  <a:pt x="5223127" y="979944"/>
                </a:lnTo>
                <a:lnTo>
                  <a:pt x="5187086" y="1005763"/>
                </a:lnTo>
                <a:lnTo>
                  <a:pt x="5172507" y="1009161"/>
                </a:lnTo>
                <a:lnTo>
                  <a:pt x="5167552" y="1009649"/>
                </a:lnTo>
                <a:close/>
              </a:path>
            </a:pathLst>
          </a:custGeom>
          <a:solidFill>
            <a:srgbClr val="F9FAFA"/>
          </a:solidFill>
        </p:spPr>
        <p:txBody>
          <a:bodyPr wrap="square" lIns="0" tIns="0" rIns="0" bIns="0" rtlCol="0"/>
          <a:lstStyle/>
          <a:p/>
        </p:txBody>
      </p:sp>
      <p:sp>
        <p:nvSpPr>
          <p:cNvPr id="14" name="object 14"/>
          <p:cNvSpPr txBox="1"/>
          <p:nvPr/>
        </p:nvSpPr>
        <p:spPr>
          <a:xfrm>
            <a:off x="692149" y="2706319"/>
            <a:ext cx="5118100" cy="463550"/>
          </a:xfrm>
          <a:prstGeom prst="rect">
            <a:avLst/>
          </a:prstGeom>
        </p:spPr>
        <p:txBody>
          <a:bodyPr vert="horz" wrap="square" lIns="0" tIns="12700" rIns="0" bIns="0" rtlCol="0">
            <a:spAutoFit/>
          </a:bodyPr>
          <a:lstStyle/>
          <a:p>
            <a:pPr marL="12700" marR="5080">
              <a:lnSpc>
                <a:spcPct val="111000"/>
              </a:lnSpc>
              <a:spcBef>
                <a:spcPts val="100"/>
              </a:spcBef>
            </a:pPr>
            <a:r>
              <a:rPr sz="1300" i="1" spc="-65" dirty="0">
                <a:solidFill>
                  <a:srgbClr val="4A5462"/>
                </a:solidFill>
                <a:latin typeface="宋体" panose="02010600030101010101" pitchFamily="2" charset="-122"/>
                <a:cs typeface="宋体" panose="02010600030101010101" pitchFamily="2" charset="-122"/>
              </a:rPr>
              <a:t>统一通道权重无法捕获同一通道内不同阶段（</a:t>
            </a:r>
            <a:r>
              <a:rPr sz="1300" i="1" spc="-90" dirty="0">
                <a:solidFill>
                  <a:srgbClr val="4A5462"/>
                </a:solidFill>
                <a:latin typeface="宋体" panose="02010600030101010101" pitchFamily="2" charset="-122"/>
                <a:cs typeface="宋体" panose="02010600030101010101" pitchFamily="2" charset="-122"/>
              </a:rPr>
              <a:t>平稳期 </a:t>
            </a:r>
            <a:r>
              <a:rPr sz="1300" i="1" spc="-135" dirty="0">
                <a:solidFill>
                  <a:srgbClr val="4A5462"/>
                </a:solidFill>
                <a:latin typeface="宋体" panose="02010600030101010101" pitchFamily="2" charset="-122"/>
                <a:cs typeface="宋体" panose="02010600030101010101" pitchFamily="2" charset="-122"/>
              </a:rPr>
              <a:t>vs</a:t>
            </a:r>
            <a:r>
              <a:rPr sz="1300" i="1" spc="-105" dirty="0">
                <a:solidFill>
                  <a:srgbClr val="4A5462"/>
                </a:solidFill>
                <a:latin typeface="宋体" panose="02010600030101010101" pitchFamily="2" charset="-122"/>
                <a:cs typeface="宋体" panose="02010600030101010101" pitchFamily="2" charset="-122"/>
              </a:rPr>
              <a:t>. 突变期</a:t>
            </a:r>
            <a:r>
              <a:rPr sz="1300" i="1" spc="-65" dirty="0">
                <a:solidFill>
                  <a:srgbClr val="4A5462"/>
                </a:solidFill>
                <a:latin typeface="宋体" panose="02010600030101010101" pitchFamily="2" charset="-122"/>
                <a:cs typeface="宋体" panose="02010600030101010101" pitchFamily="2" charset="-122"/>
              </a:rPr>
              <a:t>）</a:t>
            </a:r>
            <a:r>
              <a:rPr sz="1300" i="1" spc="-60" dirty="0">
                <a:solidFill>
                  <a:srgbClr val="4A5462"/>
                </a:solidFill>
                <a:latin typeface="宋体" panose="02010600030101010101" pitchFamily="2" charset="-122"/>
                <a:cs typeface="宋体" panose="02010600030101010101" pitchFamily="2" charset="-122"/>
              </a:rPr>
              <a:t>的异构</a:t>
            </a:r>
            <a:r>
              <a:rPr sz="1300" i="1" spc="-65" dirty="0">
                <a:solidFill>
                  <a:srgbClr val="4A5462"/>
                </a:solidFill>
                <a:latin typeface="宋体" panose="02010600030101010101" pitchFamily="2" charset="-122"/>
                <a:cs typeface="宋体" panose="02010600030101010101" pitchFamily="2" charset="-122"/>
              </a:rPr>
              <a:t>依赖。</a:t>
            </a:r>
            <a:endParaRPr sz="1300">
              <a:latin typeface="宋体" panose="02010600030101010101" pitchFamily="2" charset="-122"/>
              <a:cs typeface="宋体" panose="02010600030101010101" pitchFamily="2" charset="-122"/>
            </a:endParaRPr>
          </a:p>
        </p:txBody>
      </p:sp>
      <p:sp>
        <p:nvSpPr>
          <p:cNvPr id="15" name="object 15"/>
          <p:cNvSpPr txBox="1"/>
          <p:nvPr/>
        </p:nvSpPr>
        <p:spPr>
          <a:xfrm>
            <a:off x="844550" y="3587749"/>
            <a:ext cx="4826000" cy="680720"/>
          </a:xfrm>
          <a:prstGeom prst="rect">
            <a:avLst/>
          </a:prstGeom>
        </p:spPr>
        <p:txBody>
          <a:bodyPr vert="horz" wrap="square" lIns="0" tIns="12700" rIns="0" bIns="0" rtlCol="0">
            <a:spAutoFit/>
          </a:bodyPr>
          <a:lstStyle/>
          <a:p>
            <a:pPr marL="12700">
              <a:lnSpc>
                <a:spcPct val="100000"/>
              </a:lnSpc>
              <a:spcBef>
                <a:spcPts val="100"/>
              </a:spcBef>
            </a:pPr>
            <a:r>
              <a:rPr sz="1050" spc="15" dirty="0">
                <a:solidFill>
                  <a:srgbClr val="111726"/>
                </a:solidFill>
                <a:latin typeface="宋体" panose="02010600030101010101" pitchFamily="2" charset="-122"/>
                <a:cs typeface="宋体" panose="02010600030101010101" pitchFamily="2" charset="-122"/>
              </a:rPr>
              <a:t>核心矛盾 (</a:t>
            </a:r>
            <a:r>
              <a:rPr sz="1050" spc="85" dirty="0">
                <a:solidFill>
                  <a:srgbClr val="111726"/>
                </a:solidFill>
                <a:latin typeface="宋体" panose="02010600030101010101" pitchFamily="2" charset="-122"/>
                <a:cs typeface="宋体" panose="02010600030101010101" pitchFamily="2" charset="-122"/>
              </a:rPr>
              <a:t>CORE</a:t>
            </a:r>
            <a:r>
              <a:rPr sz="1050" spc="-100" dirty="0">
                <a:solidFill>
                  <a:srgbClr val="111726"/>
                </a:solidFill>
                <a:latin typeface="宋体" panose="02010600030101010101" pitchFamily="2" charset="-122"/>
                <a:cs typeface="宋体" panose="02010600030101010101" pitchFamily="2" charset="-122"/>
              </a:rPr>
              <a:t> </a:t>
            </a:r>
            <a:r>
              <a:rPr sz="1050" spc="-10" dirty="0">
                <a:solidFill>
                  <a:srgbClr val="111726"/>
                </a:solidFill>
                <a:latin typeface="宋体" panose="02010600030101010101" pitchFamily="2" charset="-122"/>
                <a:cs typeface="宋体" panose="02010600030101010101" pitchFamily="2" charset="-122"/>
              </a:rPr>
              <a:t>CONFLICT):</a:t>
            </a:r>
            <a:endParaRPr sz="1050">
              <a:latin typeface="宋体" panose="02010600030101010101" pitchFamily="2" charset="-122"/>
              <a:cs typeface="宋体" panose="02010600030101010101" pitchFamily="2" charset="-122"/>
            </a:endParaRPr>
          </a:p>
          <a:p>
            <a:pPr marL="12700" marR="5080">
              <a:lnSpc>
                <a:spcPct val="137000"/>
              </a:lnSpc>
              <a:spcBef>
                <a:spcPts val="450"/>
              </a:spcBef>
            </a:pPr>
            <a:r>
              <a:rPr sz="1050" spc="-5" dirty="0">
                <a:solidFill>
                  <a:srgbClr val="4A5462"/>
                </a:solidFill>
                <a:latin typeface="宋体" panose="02010600030101010101" pitchFamily="2" charset="-122"/>
                <a:cs typeface="宋体" panose="02010600030101010101" pitchFamily="2" charset="-122"/>
              </a:rPr>
              <a:t>变量在平稳趋势段与剧烈波动段应建立完全不同的跨通道交互；通道级模型强制的</a:t>
            </a:r>
            <a:r>
              <a:rPr sz="1050" spc="-50" dirty="0">
                <a:solidFill>
                  <a:srgbClr val="4A5462"/>
                </a:solidFill>
                <a:latin typeface="宋体" panose="02010600030101010101" pitchFamily="2" charset="-122"/>
                <a:cs typeface="宋体" panose="02010600030101010101" pitchFamily="2" charset="-122"/>
              </a:rPr>
              <a:t> </a:t>
            </a:r>
            <a:r>
              <a:rPr sz="1050" spc="-130" dirty="0">
                <a:solidFill>
                  <a:srgbClr val="4A5462"/>
                </a:solidFill>
                <a:latin typeface="宋体" panose="02010600030101010101" pitchFamily="2" charset="-122"/>
                <a:cs typeface="宋体" panose="02010600030101010101" pitchFamily="2" charset="-122"/>
              </a:rPr>
              <a:t>“平均化”导致建模失真。</a:t>
            </a:r>
            <a:endParaRPr sz="1050">
              <a:latin typeface="宋体" panose="02010600030101010101" pitchFamily="2" charset="-122"/>
              <a:cs typeface="宋体" panose="02010600030101010101" pitchFamily="2" charset="-122"/>
            </a:endParaRPr>
          </a:p>
        </p:txBody>
      </p:sp>
      <p:sp>
        <p:nvSpPr>
          <p:cNvPr id="16" name="object 16"/>
          <p:cNvSpPr/>
          <p:nvPr/>
        </p:nvSpPr>
        <p:spPr>
          <a:xfrm>
            <a:off x="6248399" y="2247899"/>
            <a:ext cx="19050" cy="2295525"/>
          </a:xfrm>
          <a:custGeom>
            <a:avLst/>
            <a:gdLst/>
            <a:ahLst/>
            <a:cxnLst/>
            <a:rect l="l" t="t" r="r" b="b"/>
            <a:pathLst>
              <a:path w="19050" h="2295525">
                <a:moveTo>
                  <a:pt x="19049" y="2295524"/>
                </a:moveTo>
                <a:lnTo>
                  <a:pt x="0" y="2295524"/>
                </a:lnTo>
                <a:lnTo>
                  <a:pt x="0" y="0"/>
                </a:lnTo>
                <a:lnTo>
                  <a:pt x="19049" y="0"/>
                </a:lnTo>
                <a:lnTo>
                  <a:pt x="19049" y="2295524"/>
                </a:lnTo>
                <a:close/>
              </a:path>
            </a:pathLst>
          </a:custGeom>
          <a:solidFill>
            <a:srgbClr val="000000"/>
          </a:solidFill>
        </p:spPr>
        <p:txBody>
          <a:bodyPr wrap="square" lIns="0" tIns="0" rIns="0" bIns="0" rtlCol="0"/>
          <a:lstStyle/>
          <a:p/>
        </p:txBody>
      </p:sp>
      <p:sp>
        <p:nvSpPr>
          <p:cNvPr id="17" name="object 17"/>
          <p:cNvSpPr txBox="1"/>
          <p:nvPr/>
        </p:nvSpPr>
        <p:spPr>
          <a:xfrm>
            <a:off x="654049" y="2258060"/>
            <a:ext cx="8277859" cy="283845"/>
          </a:xfrm>
          <a:prstGeom prst="rect">
            <a:avLst/>
          </a:prstGeom>
        </p:spPr>
        <p:txBody>
          <a:bodyPr vert="horz" wrap="square" lIns="0" tIns="12065" rIns="0" bIns="0" rtlCol="0">
            <a:spAutoFit/>
          </a:bodyPr>
          <a:lstStyle/>
          <a:p>
            <a:pPr marL="50800">
              <a:lnSpc>
                <a:spcPct val="100000"/>
              </a:lnSpc>
              <a:spcBef>
                <a:spcPts val="95"/>
              </a:spcBef>
              <a:tabLst>
                <a:tab pos="5841365" algn="l"/>
              </a:tabLst>
            </a:pPr>
            <a:r>
              <a:rPr sz="1050" b="1" dirty="0">
                <a:latin typeface="Courier New" panose="02070309020205020404"/>
                <a:cs typeface="Courier New" panose="02070309020205020404"/>
              </a:rPr>
              <a:t>01.</a:t>
            </a:r>
            <a:r>
              <a:rPr sz="1050" b="1" spc="195" dirty="0">
                <a:latin typeface="Courier New" panose="02070309020205020404"/>
                <a:cs typeface="Courier New" panose="02070309020205020404"/>
              </a:rPr>
              <a:t> </a:t>
            </a:r>
            <a:r>
              <a:rPr sz="2550" b="1" spc="-315" baseline="-10000" dirty="0">
                <a:latin typeface="微软雅黑" panose="020B0503020204020204" charset="-122"/>
                <a:cs typeface="微软雅黑" panose="020B0503020204020204" charset="-122"/>
              </a:rPr>
              <a:t>粗粒度瓶</a:t>
            </a:r>
            <a:r>
              <a:rPr sz="2550" b="1" baseline="-10000" dirty="0">
                <a:latin typeface="微软雅黑" panose="020B0503020204020204" charset="-122"/>
                <a:cs typeface="微软雅黑" panose="020B0503020204020204" charset="-122"/>
              </a:rPr>
              <a:t>颈</a:t>
            </a:r>
            <a:r>
              <a:rPr sz="2550" b="1" spc="67" baseline="-10000" dirty="0">
                <a:latin typeface="微软雅黑" panose="020B0503020204020204" charset="-122"/>
                <a:cs typeface="微软雅黑" panose="020B0503020204020204" charset="-122"/>
              </a:rPr>
              <a:t> </a:t>
            </a:r>
            <a:r>
              <a:rPr sz="1050" spc="-110" dirty="0">
                <a:solidFill>
                  <a:srgbClr val="9CA2AF"/>
                </a:solidFill>
                <a:latin typeface="宋体" panose="02010600030101010101" pitchFamily="2" charset="-122"/>
                <a:cs typeface="宋体" panose="02010600030101010101" pitchFamily="2" charset="-122"/>
              </a:rPr>
              <a:t>(Coarse-</a:t>
            </a:r>
            <a:r>
              <a:rPr sz="1050" spc="-10" dirty="0">
                <a:solidFill>
                  <a:srgbClr val="9CA2AF"/>
                </a:solidFill>
                <a:latin typeface="宋体" panose="02010600030101010101" pitchFamily="2" charset="-122"/>
                <a:cs typeface="宋体" panose="02010600030101010101" pitchFamily="2" charset="-122"/>
              </a:rPr>
              <a:t>granularity)</a:t>
            </a:r>
            <a:r>
              <a:rPr sz="1050" dirty="0">
                <a:solidFill>
                  <a:srgbClr val="9CA2AF"/>
                </a:solidFill>
                <a:latin typeface="宋体" panose="02010600030101010101" pitchFamily="2" charset="-122"/>
                <a:cs typeface="宋体" panose="02010600030101010101" pitchFamily="2" charset="-122"/>
              </a:rPr>
              <a:t>	</a:t>
            </a:r>
            <a:r>
              <a:rPr sz="1050" b="1" dirty="0">
                <a:latin typeface="Courier New" panose="02070309020205020404"/>
                <a:cs typeface="Courier New" panose="02070309020205020404"/>
              </a:rPr>
              <a:t>02.</a:t>
            </a:r>
            <a:r>
              <a:rPr sz="1050" b="1" spc="185" dirty="0">
                <a:latin typeface="Courier New" panose="02070309020205020404"/>
                <a:cs typeface="Courier New" panose="02070309020205020404"/>
              </a:rPr>
              <a:t> </a:t>
            </a:r>
            <a:r>
              <a:rPr sz="2550" b="1" spc="-315" baseline="-10000" dirty="0">
                <a:latin typeface="微软雅黑" panose="020B0503020204020204" charset="-122"/>
                <a:cs typeface="微软雅黑" panose="020B0503020204020204" charset="-122"/>
              </a:rPr>
              <a:t>时域频率耦</a:t>
            </a:r>
            <a:r>
              <a:rPr sz="2550" b="1" baseline="-10000" dirty="0">
                <a:latin typeface="微软雅黑" panose="020B0503020204020204" charset="-122"/>
                <a:cs typeface="微软雅黑" panose="020B0503020204020204" charset="-122"/>
              </a:rPr>
              <a:t>合</a:t>
            </a:r>
            <a:r>
              <a:rPr sz="2550" b="1" spc="67" baseline="-10000" dirty="0">
                <a:latin typeface="微软雅黑" panose="020B0503020204020204" charset="-122"/>
                <a:cs typeface="微软雅黑" panose="020B0503020204020204" charset="-122"/>
              </a:rPr>
              <a:t> </a:t>
            </a:r>
            <a:r>
              <a:rPr sz="1050" spc="-150" dirty="0">
                <a:solidFill>
                  <a:srgbClr val="9CA2AF"/>
                </a:solidFill>
                <a:latin typeface="宋体" panose="02010600030101010101" pitchFamily="2" charset="-122"/>
                <a:cs typeface="宋体" panose="02010600030101010101" pitchFamily="2" charset="-122"/>
              </a:rPr>
              <a:t>(Freq.</a:t>
            </a:r>
            <a:r>
              <a:rPr sz="1050" spc="-320" dirty="0">
                <a:solidFill>
                  <a:srgbClr val="9CA2AF"/>
                </a:solidFill>
                <a:latin typeface="宋体" panose="02010600030101010101" pitchFamily="2" charset="-122"/>
                <a:cs typeface="宋体" panose="02010600030101010101" pitchFamily="2" charset="-122"/>
              </a:rPr>
              <a:t> </a:t>
            </a:r>
            <a:r>
              <a:rPr sz="1050" spc="-55" dirty="0">
                <a:solidFill>
                  <a:srgbClr val="9CA2AF"/>
                </a:solidFill>
                <a:latin typeface="宋体" panose="02010600030101010101" pitchFamily="2" charset="-122"/>
                <a:cs typeface="宋体" panose="02010600030101010101" pitchFamily="2" charset="-122"/>
              </a:rPr>
              <a:t>Coupling)</a:t>
            </a:r>
            <a:endParaRPr sz="1050">
              <a:latin typeface="宋体" panose="02010600030101010101" pitchFamily="2" charset="-122"/>
              <a:cs typeface="宋体" panose="02010600030101010101" pitchFamily="2" charset="-122"/>
            </a:endParaRPr>
          </a:p>
        </p:txBody>
      </p:sp>
      <p:sp>
        <p:nvSpPr>
          <p:cNvPr id="18" name="object 18"/>
          <p:cNvSpPr/>
          <p:nvPr/>
        </p:nvSpPr>
        <p:spPr>
          <a:xfrm>
            <a:off x="6496049" y="2819399"/>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000000"/>
          </a:solidFill>
        </p:spPr>
        <p:txBody>
          <a:bodyPr wrap="square" lIns="0" tIns="0" rIns="0" bIns="0" rtlCol="0"/>
          <a:lstStyle/>
          <a:p/>
        </p:txBody>
      </p:sp>
      <p:sp>
        <p:nvSpPr>
          <p:cNvPr id="19" name="object 19"/>
          <p:cNvSpPr txBox="1"/>
          <p:nvPr/>
        </p:nvSpPr>
        <p:spPr>
          <a:xfrm>
            <a:off x="6654800" y="2738120"/>
            <a:ext cx="4076065" cy="866140"/>
          </a:xfrm>
          <a:prstGeom prst="rect">
            <a:avLst/>
          </a:prstGeom>
        </p:spPr>
        <p:txBody>
          <a:bodyPr vert="horz" wrap="square" lIns="0" tIns="17780" rIns="0" bIns="0" rtlCol="0">
            <a:spAutoFit/>
          </a:bodyPr>
          <a:lstStyle/>
          <a:p>
            <a:pPr marL="12700">
              <a:lnSpc>
                <a:spcPct val="100000"/>
              </a:lnSpc>
              <a:spcBef>
                <a:spcPts val="140"/>
              </a:spcBef>
            </a:pPr>
            <a:r>
              <a:rPr sz="1100" dirty="0">
                <a:solidFill>
                  <a:srgbClr val="374050"/>
                </a:solidFill>
                <a:latin typeface="宋体" panose="02010600030101010101" pitchFamily="2" charset="-122"/>
                <a:cs typeface="宋体" panose="02010600030101010101" pitchFamily="2" charset="-122"/>
              </a:rPr>
              <a:t>时域计算将</a:t>
            </a:r>
            <a:r>
              <a:rPr sz="1100" u="sng" dirty="0">
                <a:uFill>
                  <a:solidFill>
                    <a:srgbClr val="000000"/>
                  </a:solidFill>
                </a:uFill>
                <a:latin typeface="宋体" panose="02010600030101010101" pitchFamily="2" charset="-122"/>
                <a:cs typeface="宋体" panose="02010600030101010101" pitchFamily="2" charset="-122"/>
              </a:rPr>
              <a:t>低频趋势、中频波动与高频噪声</a:t>
            </a:r>
            <a:r>
              <a:rPr sz="1100" u="none" spc="-10" dirty="0">
                <a:solidFill>
                  <a:srgbClr val="374050"/>
                </a:solidFill>
                <a:latin typeface="宋体" panose="02010600030101010101" pitchFamily="2" charset="-122"/>
                <a:cs typeface="宋体" panose="02010600030101010101" pitchFamily="2" charset="-122"/>
              </a:rPr>
              <a:t>混合成单一表征。</a:t>
            </a:r>
            <a:endParaRPr sz="1100">
              <a:latin typeface="宋体" panose="02010600030101010101" pitchFamily="2" charset="-122"/>
              <a:cs typeface="宋体" panose="02010600030101010101" pitchFamily="2" charset="-122"/>
            </a:endParaRPr>
          </a:p>
          <a:p>
            <a:pPr marL="12700">
              <a:lnSpc>
                <a:spcPct val="100000"/>
              </a:lnSpc>
              <a:spcBef>
                <a:spcPts val="1255"/>
              </a:spcBef>
            </a:pPr>
            <a:r>
              <a:rPr sz="1100" dirty="0">
                <a:solidFill>
                  <a:srgbClr val="374050"/>
                </a:solidFill>
                <a:latin typeface="宋体" panose="02010600030101010101" pitchFamily="2" charset="-122"/>
                <a:cs typeface="宋体" panose="02010600030101010101" pitchFamily="2" charset="-122"/>
              </a:rPr>
              <a:t>产生由高频噪声引发的</a:t>
            </a:r>
            <a:r>
              <a:rPr sz="1150" i="1" spc="-30" dirty="0">
                <a:solidFill>
                  <a:srgbClr val="111726"/>
                </a:solidFill>
                <a:latin typeface="宋体" panose="02010600030101010101" pitchFamily="2" charset="-122"/>
                <a:cs typeface="宋体" panose="02010600030101010101" pitchFamily="2" charset="-122"/>
              </a:rPr>
              <a:t>虚假相关性 (</a:t>
            </a:r>
            <a:r>
              <a:rPr sz="1150" i="1" spc="-65" dirty="0">
                <a:solidFill>
                  <a:srgbClr val="111726"/>
                </a:solidFill>
                <a:latin typeface="宋体" panose="02010600030101010101" pitchFamily="2" charset="-122"/>
                <a:cs typeface="宋体" panose="02010600030101010101" pitchFamily="2" charset="-122"/>
              </a:rPr>
              <a:t>Spurious</a:t>
            </a:r>
            <a:r>
              <a:rPr sz="1150" i="1" spc="20" dirty="0">
                <a:solidFill>
                  <a:srgbClr val="111726"/>
                </a:solidFill>
                <a:latin typeface="宋体" panose="02010600030101010101" pitchFamily="2" charset="-122"/>
                <a:cs typeface="宋体" panose="02010600030101010101" pitchFamily="2" charset="-122"/>
              </a:rPr>
              <a:t> </a:t>
            </a:r>
            <a:r>
              <a:rPr sz="1150" i="1" spc="-114" dirty="0">
                <a:solidFill>
                  <a:srgbClr val="111726"/>
                </a:solidFill>
                <a:latin typeface="宋体" panose="02010600030101010101" pitchFamily="2" charset="-122"/>
                <a:cs typeface="宋体" panose="02010600030101010101" pitchFamily="2" charset="-122"/>
              </a:rPr>
              <a:t>correlations)</a:t>
            </a:r>
            <a:r>
              <a:rPr sz="1100" spc="-50" dirty="0">
                <a:solidFill>
                  <a:srgbClr val="374050"/>
                </a:solidFill>
                <a:latin typeface="宋体" panose="02010600030101010101" pitchFamily="2" charset="-122"/>
                <a:cs typeface="宋体" panose="02010600030101010101" pitchFamily="2" charset="-122"/>
              </a:rPr>
              <a:t>。</a:t>
            </a:r>
            <a:endParaRPr sz="1100">
              <a:latin typeface="宋体" panose="02010600030101010101" pitchFamily="2" charset="-122"/>
              <a:cs typeface="宋体" panose="02010600030101010101" pitchFamily="2" charset="-122"/>
            </a:endParaRPr>
          </a:p>
          <a:p>
            <a:pPr marL="12700">
              <a:lnSpc>
                <a:spcPct val="100000"/>
              </a:lnSpc>
              <a:spcBef>
                <a:spcPts val="1295"/>
              </a:spcBef>
            </a:pPr>
            <a:r>
              <a:rPr sz="1100" spc="-5" dirty="0">
                <a:solidFill>
                  <a:srgbClr val="374050"/>
                </a:solidFill>
                <a:latin typeface="宋体" panose="02010600030101010101" pitchFamily="2" charset="-122"/>
                <a:cs typeface="宋体" panose="02010600030101010101" pitchFamily="2" charset="-122"/>
              </a:rPr>
              <a:t>由于缺乏解耦，无法准确量化各频率成分对相关性分数的贡献。</a:t>
            </a:r>
            <a:endParaRPr sz="1100">
              <a:latin typeface="宋体" panose="02010600030101010101" pitchFamily="2" charset="-122"/>
              <a:cs typeface="宋体" panose="02010600030101010101" pitchFamily="2" charset="-122"/>
            </a:endParaRPr>
          </a:p>
        </p:txBody>
      </p:sp>
      <p:sp>
        <p:nvSpPr>
          <p:cNvPr id="20" name="object 20"/>
          <p:cNvSpPr/>
          <p:nvPr/>
        </p:nvSpPr>
        <p:spPr>
          <a:xfrm>
            <a:off x="6496049" y="3152774"/>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000000"/>
          </a:solidFill>
        </p:spPr>
        <p:txBody>
          <a:bodyPr wrap="square" lIns="0" tIns="0" rIns="0" bIns="0" rtlCol="0"/>
          <a:lstStyle/>
          <a:p/>
        </p:txBody>
      </p:sp>
      <p:sp>
        <p:nvSpPr>
          <p:cNvPr id="21" name="object 21"/>
          <p:cNvSpPr/>
          <p:nvPr/>
        </p:nvSpPr>
        <p:spPr>
          <a:xfrm>
            <a:off x="6496049" y="3486149"/>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000000"/>
          </a:solidFill>
        </p:spPr>
        <p:txBody>
          <a:bodyPr wrap="square" lIns="0" tIns="0" rIns="0" bIns="0" rtlCol="0"/>
          <a:lstStyle/>
          <a:p/>
        </p:txBody>
      </p:sp>
      <p:sp>
        <p:nvSpPr>
          <p:cNvPr id="22" name="object 22"/>
          <p:cNvSpPr/>
          <p:nvPr/>
        </p:nvSpPr>
        <p:spPr>
          <a:xfrm>
            <a:off x="457200" y="4848224"/>
            <a:ext cx="11277600" cy="1200150"/>
          </a:xfrm>
          <a:custGeom>
            <a:avLst/>
            <a:gdLst/>
            <a:ahLst/>
            <a:cxnLst/>
            <a:rect l="l" t="t" r="r" b="b"/>
            <a:pathLst>
              <a:path w="11277600" h="1200150">
                <a:moveTo>
                  <a:pt x="11261074" y="1200149"/>
                </a:moveTo>
                <a:lnTo>
                  <a:pt x="16523" y="1200149"/>
                </a:lnTo>
                <a:lnTo>
                  <a:pt x="14093" y="1199666"/>
                </a:lnTo>
                <a:lnTo>
                  <a:pt x="0" y="1183625"/>
                </a:lnTo>
                <a:lnTo>
                  <a:pt x="0" y="1181099"/>
                </a:lnTo>
                <a:lnTo>
                  <a:pt x="0" y="16523"/>
                </a:lnTo>
                <a:lnTo>
                  <a:pt x="16523" y="0"/>
                </a:lnTo>
                <a:lnTo>
                  <a:pt x="11261074" y="0"/>
                </a:lnTo>
                <a:lnTo>
                  <a:pt x="11277597" y="16523"/>
                </a:lnTo>
                <a:lnTo>
                  <a:pt x="11277597" y="1183625"/>
                </a:lnTo>
                <a:lnTo>
                  <a:pt x="11263504" y="1199666"/>
                </a:lnTo>
                <a:lnTo>
                  <a:pt x="11261074" y="1200149"/>
                </a:lnTo>
                <a:close/>
              </a:path>
            </a:pathLst>
          </a:custGeom>
          <a:solidFill>
            <a:srgbClr val="000000"/>
          </a:solidFill>
        </p:spPr>
        <p:txBody>
          <a:bodyPr wrap="square" lIns="0" tIns="0" rIns="0" bIns="0" rtlCol="0"/>
          <a:lstStyle/>
          <a:p/>
        </p:txBody>
      </p:sp>
      <p:sp>
        <p:nvSpPr>
          <p:cNvPr id="23" name="object 23"/>
          <p:cNvSpPr txBox="1"/>
          <p:nvPr/>
        </p:nvSpPr>
        <p:spPr>
          <a:xfrm>
            <a:off x="690562" y="5081587"/>
            <a:ext cx="1600200" cy="733425"/>
          </a:xfrm>
          <a:prstGeom prst="rect">
            <a:avLst/>
          </a:prstGeom>
          <a:ln w="9524">
            <a:solidFill>
              <a:srgbClr val="FFFFFF"/>
            </a:solidFill>
          </a:ln>
        </p:spPr>
        <p:txBody>
          <a:bodyPr vert="horz" wrap="square" lIns="0" tIns="109220" rIns="0" bIns="0" rtlCol="0">
            <a:spAutoFit/>
          </a:bodyPr>
          <a:lstStyle/>
          <a:p>
            <a:pPr marL="118745">
              <a:lnSpc>
                <a:spcPct val="100000"/>
              </a:lnSpc>
              <a:spcBef>
                <a:spcPts val="860"/>
              </a:spcBef>
            </a:pPr>
            <a:r>
              <a:rPr sz="900" b="1" spc="75" dirty="0">
                <a:solidFill>
                  <a:srgbClr val="FFFFFF"/>
                </a:solidFill>
                <a:latin typeface="Courier New" panose="02070309020205020404"/>
                <a:cs typeface="Courier New" panose="02070309020205020404"/>
              </a:rPr>
              <a:t>PROPOSED</a:t>
            </a:r>
            <a:r>
              <a:rPr sz="900" b="1" spc="210" dirty="0">
                <a:solidFill>
                  <a:srgbClr val="FFFFFF"/>
                </a:solidFill>
                <a:latin typeface="Courier New" panose="02070309020205020404"/>
                <a:cs typeface="Courier New" panose="02070309020205020404"/>
              </a:rPr>
              <a:t> </a:t>
            </a:r>
            <a:r>
              <a:rPr sz="900" b="1" spc="65" dirty="0">
                <a:solidFill>
                  <a:srgbClr val="FFFFFF"/>
                </a:solidFill>
                <a:latin typeface="Courier New" panose="02070309020205020404"/>
                <a:cs typeface="Courier New" panose="02070309020205020404"/>
              </a:rPr>
              <a:t>STRATEGY</a:t>
            </a:r>
            <a:endParaRPr sz="900">
              <a:latin typeface="Courier New" panose="02070309020205020404"/>
              <a:cs typeface="Courier New" panose="02070309020205020404"/>
            </a:endParaRPr>
          </a:p>
          <a:p>
            <a:pPr marL="118745">
              <a:lnSpc>
                <a:spcPct val="100000"/>
              </a:lnSpc>
              <a:spcBef>
                <a:spcPts val="295"/>
              </a:spcBef>
            </a:pPr>
            <a:r>
              <a:rPr sz="2000" b="1" spc="-165" dirty="0">
                <a:solidFill>
                  <a:srgbClr val="FFFFFF"/>
                </a:solidFill>
                <a:latin typeface="微软雅黑" panose="020B0503020204020204" charset="-122"/>
                <a:cs typeface="微软雅黑" panose="020B0503020204020204" charset="-122"/>
              </a:rPr>
              <a:t>核心思路</a:t>
            </a:r>
            <a:endParaRPr sz="2000">
              <a:latin typeface="微软雅黑" panose="020B0503020204020204" charset="-122"/>
              <a:cs typeface="微软雅黑" panose="020B0503020204020204" charset="-122"/>
            </a:endParaRPr>
          </a:p>
        </p:txBody>
      </p:sp>
      <p:grpSp>
        <p:nvGrpSpPr>
          <p:cNvPr id="24" name="object 24"/>
          <p:cNvGrpSpPr/>
          <p:nvPr/>
        </p:nvGrpSpPr>
        <p:grpSpPr>
          <a:xfrm>
            <a:off x="2524124" y="4848224"/>
            <a:ext cx="9210675" cy="1200150"/>
            <a:chOff x="2524124" y="4848224"/>
            <a:chExt cx="9210675" cy="1200150"/>
          </a:xfrm>
        </p:grpSpPr>
        <p:sp>
          <p:nvSpPr>
            <p:cNvPr id="25" name="object 25"/>
            <p:cNvSpPr/>
            <p:nvPr/>
          </p:nvSpPr>
          <p:spPr>
            <a:xfrm>
              <a:off x="2524124" y="5219699"/>
              <a:ext cx="9525" cy="457200"/>
            </a:xfrm>
            <a:custGeom>
              <a:avLst/>
              <a:gdLst/>
              <a:ahLst/>
              <a:cxnLst/>
              <a:rect l="l" t="t" r="r" b="b"/>
              <a:pathLst>
                <a:path w="9525" h="457200">
                  <a:moveTo>
                    <a:pt x="9524" y="457199"/>
                  </a:moveTo>
                  <a:lnTo>
                    <a:pt x="0" y="457199"/>
                  </a:lnTo>
                  <a:lnTo>
                    <a:pt x="0" y="0"/>
                  </a:lnTo>
                  <a:lnTo>
                    <a:pt x="9524" y="0"/>
                  </a:lnTo>
                  <a:lnTo>
                    <a:pt x="9524" y="457199"/>
                  </a:lnTo>
                  <a:close/>
                </a:path>
              </a:pathLst>
            </a:custGeom>
            <a:solidFill>
              <a:srgbClr val="FFFFFF">
                <a:alpha val="19999"/>
              </a:srgbClr>
            </a:solidFill>
          </p:spPr>
          <p:txBody>
            <a:bodyPr wrap="square" lIns="0" tIns="0" rIns="0" bIns="0" rtlCol="0"/>
            <a:lstStyle/>
            <a:p/>
          </p:txBody>
        </p:sp>
        <p:sp>
          <p:nvSpPr>
            <p:cNvPr id="26" name="object 26"/>
            <p:cNvSpPr/>
            <p:nvPr/>
          </p:nvSpPr>
          <p:spPr>
            <a:xfrm>
              <a:off x="10845248" y="4848224"/>
              <a:ext cx="889635" cy="1200150"/>
            </a:xfrm>
            <a:custGeom>
              <a:avLst/>
              <a:gdLst/>
              <a:ahLst/>
              <a:cxnLst/>
              <a:rect l="l" t="t" r="r" b="b"/>
              <a:pathLst>
                <a:path w="889634" h="1200150">
                  <a:moveTo>
                    <a:pt x="875760" y="1200149"/>
                  </a:moveTo>
                  <a:lnTo>
                    <a:pt x="255099" y="1200149"/>
                  </a:lnTo>
                  <a:lnTo>
                    <a:pt x="0" y="0"/>
                  </a:lnTo>
                  <a:lnTo>
                    <a:pt x="875760" y="0"/>
                  </a:lnTo>
                  <a:lnTo>
                    <a:pt x="880250" y="1859"/>
                  </a:lnTo>
                  <a:lnTo>
                    <a:pt x="887690" y="9298"/>
                  </a:lnTo>
                  <a:lnTo>
                    <a:pt x="889550" y="13789"/>
                  </a:lnTo>
                  <a:lnTo>
                    <a:pt x="889550" y="1186360"/>
                  </a:lnTo>
                  <a:lnTo>
                    <a:pt x="887690" y="1190850"/>
                  </a:lnTo>
                  <a:lnTo>
                    <a:pt x="880250" y="1198289"/>
                  </a:lnTo>
                  <a:lnTo>
                    <a:pt x="875760" y="1200149"/>
                  </a:lnTo>
                  <a:close/>
                </a:path>
              </a:pathLst>
            </a:custGeom>
            <a:solidFill>
              <a:srgbClr val="FFFFFF">
                <a:alpha val="4998"/>
              </a:srgbClr>
            </a:solidFill>
          </p:spPr>
          <p:txBody>
            <a:bodyPr wrap="square" lIns="0" tIns="0" rIns="0" bIns="0" rtlCol="0"/>
            <a:lstStyle/>
            <a:p/>
          </p:txBody>
        </p:sp>
      </p:grpSp>
      <p:sp>
        <p:nvSpPr>
          <p:cNvPr id="27" name="object 27"/>
          <p:cNvSpPr txBox="1"/>
          <p:nvPr/>
        </p:nvSpPr>
        <p:spPr>
          <a:xfrm>
            <a:off x="2747912" y="5286861"/>
            <a:ext cx="8007984" cy="261620"/>
          </a:xfrm>
          <a:prstGeom prst="rect">
            <a:avLst/>
          </a:prstGeom>
        </p:spPr>
        <p:txBody>
          <a:bodyPr vert="horz" wrap="square" lIns="0" tIns="12065" rIns="0" bIns="0" rtlCol="0">
            <a:spAutoFit/>
          </a:bodyPr>
          <a:lstStyle/>
          <a:p>
            <a:pPr marL="12700">
              <a:lnSpc>
                <a:spcPct val="100000"/>
              </a:lnSpc>
              <a:spcBef>
                <a:spcPts val="95"/>
              </a:spcBef>
            </a:pPr>
            <a:r>
              <a:rPr sz="1500" spc="-35" dirty="0">
                <a:solidFill>
                  <a:srgbClr val="FFFFFF"/>
                </a:solidFill>
                <a:latin typeface="宋体" panose="02010600030101010101" pitchFamily="2" charset="-122"/>
                <a:cs typeface="宋体" panose="02010600030101010101" pitchFamily="2" charset="-122"/>
              </a:rPr>
              <a:t>将建模单元细化为 </a:t>
            </a:r>
            <a:r>
              <a:rPr sz="1500" u="sng" spc="-365" dirty="0">
                <a:solidFill>
                  <a:srgbClr val="FFFFFF"/>
                </a:solidFill>
                <a:uFill>
                  <a:solidFill>
                    <a:srgbClr val="FFFFFF"/>
                  </a:solidFill>
                </a:uFill>
                <a:latin typeface="Times New Roman" panose="02020603050405020304"/>
                <a:cs typeface="Times New Roman" panose="02020603050405020304"/>
              </a:rPr>
              <a:t> </a:t>
            </a:r>
            <a:r>
              <a:rPr sz="1500" b="1" u="none" spc="-10" dirty="0">
                <a:solidFill>
                  <a:srgbClr val="FFFFFF"/>
                </a:solidFill>
                <a:latin typeface="Courier New" panose="02070309020205020404"/>
                <a:cs typeface="Courier New" panose="02070309020205020404"/>
              </a:rPr>
              <a:t>Channel-</a:t>
            </a:r>
            <a:r>
              <a:rPr sz="1500" b="1" u="none" dirty="0">
                <a:solidFill>
                  <a:srgbClr val="FFFFFF"/>
                </a:solidFill>
                <a:latin typeface="Courier New" panose="02070309020205020404"/>
                <a:cs typeface="Courier New" panose="02070309020205020404"/>
              </a:rPr>
              <a:t>Patch</a:t>
            </a:r>
            <a:r>
              <a:rPr sz="1500" u="none" spc="-150" dirty="0">
                <a:solidFill>
                  <a:srgbClr val="FFFFFF"/>
                </a:solidFill>
                <a:latin typeface="宋体" panose="02010600030101010101" pitchFamily="2" charset="-122"/>
                <a:cs typeface="宋体" panose="02010600030101010101" pitchFamily="2" charset="-122"/>
              </a:rPr>
              <a:t>， 在 </a:t>
            </a:r>
            <a:r>
              <a:rPr sz="1550" i="1" u="none" spc="-120" dirty="0">
                <a:solidFill>
                  <a:srgbClr val="FFFFFF"/>
                </a:solidFill>
                <a:latin typeface="宋体" panose="02010600030101010101" pitchFamily="2" charset="-122"/>
                <a:cs typeface="宋体" panose="02010600030101010101" pitchFamily="2" charset="-122"/>
              </a:rPr>
              <a:t>频谱空间 </a:t>
            </a:r>
            <a:r>
              <a:rPr sz="1500" u="none" spc="-75" dirty="0">
                <a:solidFill>
                  <a:srgbClr val="FFFFFF"/>
                </a:solidFill>
                <a:latin typeface="宋体" panose="02010600030101010101" pitchFamily="2" charset="-122"/>
                <a:cs typeface="宋体" panose="02010600030101010101" pitchFamily="2" charset="-122"/>
              </a:rPr>
              <a:t>实现频率成分的 主动解耦 与 自适应路由。</a:t>
            </a:r>
            <a:endParaRPr sz="1500">
              <a:latin typeface="宋体" panose="02010600030101010101" pitchFamily="2" charset="-122"/>
              <a:cs typeface="宋体" panose="02010600030101010101" pitchFamily="2" charset="-122"/>
            </a:endParaRPr>
          </a:p>
        </p:txBody>
      </p:sp>
      <p:sp>
        <p:nvSpPr>
          <p:cNvPr id="28" name="object 28"/>
          <p:cNvSpPr/>
          <p:nvPr/>
        </p:nvSpPr>
        <p:spPr>
          <a:xfrm>
            <a:off x="0" y="0"/>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29" name="object 29"/>
          <p:cNvSpPr/>
          <p:nvPr/>
        </p:nvSpPr>
        <p:spPr>
          <a:xfrm>
            <a:off x="0" y="70770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60" dirty="0"/>
              <a:t>方法：</a:t>
            </a:r>
            <a:r>
              <a:rPr sz="2850" b="1" spc="-160" dirty="0">
                <a:latin typeface="Verdana" panose="020B0604030504040204"/>
                <a:cs typeface="Verdana" panose="020B0604030504040204"/>
              </a:rPr>
              <a:t>XCPD</a:t>
            </a:r>
            <a:r>
              <a:rPr spc="-305" dirty="0"/>
              <a:t>整体</a:t>
            </a:r>
            <a:r>
              <a:rPr b="1" spc="-305" dirty="0">
                <a:latin typeface="微软雅黑" panose="020B0503020204020204" charset="-122"/>
                <a:cs typeface="微软雅黑" panose="020B0503020204020204" charset="-122"/>
              </a:rPr>
              <a:t>架</a:t>
            </a:r>
            <a:r>
              <a:rPr spc="-140" dirty="0"/>
              <a:t>构 </a:t>
            </a:r>
            <a:r>
              <a:rPr sz="2850" b="1" spc="-110" dirty="0">
                <a:latin typeface="Verdana" panose="020B0604030504040204"/>
                <a:cs typeface="Verdana" panose="020B0604030504040204"/>
              </a:rPr>
              <a:t>—— </a:t>
            </a:r>
            <a:r>
              <a:rPr b="1" spc="-305" dirty="0">
                <a:latin typeface="微软雅黑" panose="020B0503020204020204" charset="-122"/>
                <a:cs typeface="微软雅黑" panose="020B0503020204020204" charset="-122"/>
              </a:rPr>
              <a:t>频域</a:t>
            </a:r>
            <a:r>
              <a:rPr spc="-305" dirty="0"/>
              <a:t>通道</a:t>
            </a:r>
            <a:r>
              <a:rPr sz="2850" b="1" spc="-270" dirty="0">
                <a:latin typeface="Verdana" panose="020B0604030504040204"/>
                <a:cs typeface="Verdana" panose="020B0604030504040204"/>
              </a:rPr>
              <a:t>-</a:t>
            </a:r>
            <a:r>
              <a:rPr b="1" spc="-305" dirty="0">
                <a:latin typeface="微软雅黑" panose="020B0503020204020204" charset="-122"/>
                <a:cs typeface="微软雅黑" panose="020B0503020204020204" charset="-122"/>
              </a:rPr>
              <a:t>补</a:t>
            </a:r>
            <a:r>
              <a:rPr spc="-305" dirty="0"/>
              <a:t>丁</a:t>
            </a:r>
            <a:r>
              <a:rPr b="1" spc="-335" dirty="0">
                <a:latin typeface="微软雅黑" panose="020B0503020204020204" charset="-122"/>
                <a:cs typeface="微软雅黑" panose="020B0503020204020204" charset="-122"/>
              </a:rPr>
              <a:t>依赖路由</a:t>
            </a:r>
            <a:endParaRPr sz="2850">
              <a:latin typeface="微软雅黑" panose="020B0503020204020204" charset="-122"/>
              <a:cs typeface="微软雅黑" panose="020B0503020204020204" charset="-122"/>
            </a:endParaRPr>
          </a:p>
        </p:txBody>
      </p:sp>
      <p:sp>
        <p:nvSpPr>
          <p:cNvPr id="3" name="object 3"/>
          <p:cNvSpPr/>
          <p:nvPr/>
        </p:nvSpPr>
        <p:spPr>
          <a:xfrm>
            <a:off x="457200" y="1276349"/>
            <a:ext cx="19050" cy="828675"/>
          </a:xfrm>
          <a:custGeom>
            <a:avLst/>
            <a:gdLst/>
            <a:ahLst/>
            <a:cxnLst/>
            <a:rect l="l" t="t" r="r" b="b"/>
            <a:pathLst>
              <a:path w="19050" h="828675">
                <a:moveTo>
                  <a:pt x="19049" y="828674"/>
                </a:moveTo>
                <a:lnTo>
                  <a:pt x="0" y="828674"/>
                </a:lnTo>
                <a:lnTo>
                  <a:pt x="0" y="0"/>
                </a:lnTo>
                <a:lnTo>
                  <a:pt x="19049" y="0"/>
                </a:lnTo>
                <a:lnTo>
                  <a:pt x="19049" y="828674"/>
                </a:lnTo>
                <a:close/>
              </a:path>
            </a:pathLst>
          </a:custGeom>
          <a:solidFill>
            <a:srgbClr val="000000"/>
          </a:solidFill>
        </p:spPr>
        <p:txBody>
          <a:bodyPr wrap="square" lIns="0" tIns="0" rIns="0" bIns="0" rtlCol="0"/>
          <a:lstStyle/>
          <a:p/>
        </p:txBody>
      </p:sp>
      <p:sp>
        <p:nvSpPr>
          <p:cNvPr id="4" name="object 4"/>
          <p:cNvSpPr txBox="1"/>
          <p:nvPr/>
        </p:nvSpPr>
        <p:spPr>
          <a:xfrm>
            <a:off x="654049" y="1254125"/>
            <a:ext cx="1438275" cy="185420"/>
          </a:xfrm>
          <a:prstGeom prst="rect">
            <a:avLst/>
          </a:prstGeom>
        </p:spPr>
        <p:txBody>
          <a:bodyPr vert="horz" wrap="square" lIns="0" tIns="12700" rIns="0" bIns="0" rtlCol="0">
            <a:spAutoFit/>
          </a:bodyPr>
          <a:lstStyle/>
          <a:p>
            <a:pPr marL="12700">
              <a:lnSpc>
                <a:spcPct val="100000"/>
              </a:lnSpc>
              <a:spcBef>
                <a:spcPts val="100"/>
              </a:spcBef>
            </a:pPr>
            <a:r>
              <a:rPr sz="1050" spc="40" dirty="0">
                <a:solidFill>
                  <a:srgbClr val="6A7280"/>
                </a:solidFill>
                <a:latin typeface="宋体" panose="02010600030101010101" pitchFamily="2" charset="-122"/>
                <a:cs typeface="宋体" panose="02010600030101010101" pitchFamily="2" charset="-122"/>
              </a:rPr>
              <a:t>设计逻辑 / </a:t>
            </a:r>
            <a:r>
              <a:rPr sz="1050" spc="175" dirty="0">
                <a:solidFill>
                  <a:srgbClr val="6A7280"/>
                </a:solidFill>
                <a:latin typeface="宋体" panose="02010600030101010101" pitchFamily="2" charset="-122"/>
                <a:cs typeface="宋体" panose="02010600030101010101" pitchFamily="2" charset="-122"/>
              </a:rPr>
              <a:t>CONCEPT</a:t>
            </a:r>
            <a:endParaRPr sz="1050">
              <a:latin typeface="宋体" panose="02010600030101010101" pitchFamily="2" charset="-122"/>
              <a:cs typeface="宋体" panose="02010600030101010101" pitchFamily="2" charset="-122"/>
            </a:endParaRPr>
          </a:p>
        </p:txBody>
      </p:sp>
      <p:pic>
        <p:nvPicPr>
          <p:cNvPr id="5" name="object 5"/>
          <p:cNvPicPr/>
          <p:nvPr/>
        </p:nvPicPr>
        <p:blipFill>
          <a:blip r:embed="rId1" cstate="print"/>
          <a:stretch>
            <a:fillRect/>
          </a:stretch>
        </p:blipFill>
        <p:spPr>
          <a:xfrm>
            <a:off x="457200" y="5229224"/>
            <a:ext cx="76199" cy="76199"/>
          </a:xfrm>
          <a:prstGeom prst="rect">
            <a:avLst/>
          </a:prstGeom>
        </p:spPr>
      </p:pic>
      <p:pic>
        <p:nvPicPr>
          <p:cNvPr id="6" name="object 6"/>
          <p:cNvPicPr/>
          <p:nvPr/>
        </p:nvPicPr>
        <p:blipFill>
          <a:blip r:embed="rId1" cstate="print"/>
          <a:stretch>
            <a:fillRect/>
          </a:stretch>
        </p:blipFill>
        <p:spPr>
          <a:xfrm>
            <a:off x="457200" y="5724524"/>
            <a:ext cx="76199" cy="76199"/>
          </a:xfrm>
          <a:prstGeom prst="rect">
            <a:avLst/>
          </a:prstGeom>
        </p:spPr>
      </p:pic>
      <p:pic>
        <p:nvPicPr>
          <p:cNvPr id="7" name="object 7"/>
          <p:cNvPicPr/>
          <p:nvPr/>
        </p:nvPicPr>
        <p:blipFill>
          <a:blip r:embed="rId1" cstate="print"/>
          <a:stretch>
            <a:fillRect/>
          </a:stretch>
        </p:blipFill>
        <p:spPr>
          <a:xfrm>
            <a:off x="457200" y="6219824"/>
            <a:ext cx="76199" cy="76199"/>
          </a:xfrm>
          <a:prstGeom prst="rect">
            <a:avLst/>
          </a:prstGeom>
        </p:spPr>
      </p:pic>
      <p:sp>
        <p:nvSpPr>
          <p:cNvPr id="8" name="object 8"/>
          <p:cNvSpPr txBox="1"/>
          <p:nvPr/>
        </p:nvSpPr>
        <p:spPr>
          <a:xfrm>
            <a:off x="596899" y="6049327"/>
            <a:ext cx="2371090" cy="492125"/>
          </a:xfrm>
          <a:prstGeom prst="rect">
            <a:avLst/>
          </a:prstGeom>
        </p:spPr>
        <p:txBody>
          <a:bodyPr vert="horz" wrap="square" lIns="0" tIns="103505" rIns="0" bIns="0" rtlCol="0">
            <a:spAutoFit/>
          </a:bodyPr>
          <a:lstStyle/>
          <a:p>
            <a:pPr marL="12700">
              <a:lnSpc>
                <a:spcPct val="100000"/>
              </a:lnSpc>
              <a:spcBef>
                <a:spcPts val="815"/>
              </a:spcBef>
            </a:pPr>
            <a:r>
              <a:rPr sz="1050" spc="-105" dirty="0">
                <a:latin typeface="宋体" panose="02010600030101010101" pitchFamily="2" charset="-122"/>
                <a:cs typeface="宋体" panose="02010600030101010101" pitchFamily="2" charset="-122"/>
              </a:rPr>
              <a:t>(C)</a:t>
            </a:r>
            <a:r>
              <a:rPr sz="1050" spc="-60" dirty="0">
                <a:latin typeface="宋体" panose="02010600030101010101" pitchFamily="2" charset="-122"/>
                <a:cs typeface="宋体" panose="02010600030101010101" pitchFamily="2" charset="-122"/>
              </a:rPr>
              <a:t> 通道-补丁频率路由</a:t>
            </a:r>
            <a:endParaRPr sz="1050">
              <a:latin typeface="宋体" panose="02010600030101010101" pitchFamily="2" charset="-122"/>
              <a:cs typeface="宋体" panose="02010600030101010101" pitchFamily="2" charset="-122"/>
            </a:endParaRPr>
          </a:p>
          <a:p>
            <a:pPr marL="12700">
              <a:lnSpc>
                <a:spcPct val="100000"/>
              </a:lnSpc>
              <a:spcBef>
                <a:spcPts val="615"/>
              </a:spcBef>
            </a:pPr>
            <a:r>
              <a:rPr sz="900" spc="-40" dirty="0">
                <a:solidFill>
                  <a:srgbClr val="6A7280"/>
                </a:solidFill>
                <a:latin typeface="宋体" panose="02010600030101010101" pitchFamily="2" charset="-122"/>
                <a:cs typeface="宋体" panose="02010600030101010101" pitchFamily="2" charset="-122"/>
              </a:rPr>
              <a:t>使用动态 </a:t>
            </a:r>
            <a:r>
              <a:rPr sz="900" spc="120" dirty="0">
                <a:solidFill>
                  <a:srgbClr val="6A7280"/>
                </a:solidFill>
                <a:latin typeface="宋体" panose="02010600030101010101" pitchFamily="2" charset="-122"/>
                <a:cs typeface="宋体" panose="02010600030101010101" pitchFamily="2" charset="-122"/>
              </a:rPr>
              <a:t>MoE</a:t>
            </a:r>
            <a:r>
              <a:rPr sz="900" spc="-35" dirty="0">
                <a:solidFill>
                  <a:srgbClr val="6A7280"/>
                </a:solidFill>
                <a:latin typeface="宋体" panose="02010600030101010101" pitchFamily="2" charset="-122"/>
                <a:cs typeface="宋体" panose="02010600030101010101" pitchFamily="2" charset="-122"/>
              </a:rPr>
              <a:t> 为节点自适应分配频域滤波器。</a:t>
            </a:r>
            <a:endParaRPr sz="900">
              <a:latin typeface="宋体" panose="02010600030101010101" pitchFamily="2" charset="-122"/>
              <a:cs typeface="宋体" panose="02010600030101010101" pitchFamily="2" charset="-122"/>
            </a:endParaRPr>
          </a:p>
        </p:txBody>
      </p:sp>
      <p:sp>
        <p:nvSpPr>
          <p:cNvPr id="9" name="object 9"/>
          <p:cNvSpPr/>
          <p:nvPr/>
        </p:nvSpPr>
        <p:spPr>
          <a:xfrm>
            <a:off x="742949" y="1866900"/>
            <a:ext cx="123825" cy="27940"/>
          </a:xfrm>
          <a:custGeom>
            <a:avLst/>
            <a:gdLst/>
            <a:ahLst/>
            <a:cxnLst/>
            <a:rect l="l" t="t" r="r" b="b"/>
            <a:pathLst>
              <a:path w="123825" h="27939">
                <a:moveTo>
                  <a:pt x="122511" y="27327"/>
                </a:moveTo>
                <a:lnTo>
                  <a:pt x="121579" y="27327"/>
                </a:lnTo>
                <a:lnTo>
                  <a:pt x="61954" y="11515"/>
                </a:lnTo>
                <a:lnTo>
                  <a:pt x="2212" y="27327"/>
                </a:lnTo>
                <a:lnTo>
                  <a:pt x="1397" y="27327"/>
                </a:lnTo>
                <a:lnTo>
                  <a:pt x="931" y="26639"/>
                </a:lnTo>
                <a:lnTo>
                  <a:pt x="698" y="25780"/>
                </a:lnTo>
                <a:lnTo>
                  <a:pt x="116" y="21999"/>
                </a:lnTo>
                <a:lnTo>
                  <a:pt x="0" y="20967"/>
                </a:lnTo>
                <a:lnTo>
                  <a:pt x="349" y="19936"/>
                </a:lnTo>
                <a:lnTo>
                  <a:pt x="1048" y="19764"/>
                </a:lnTo>
                <a:lnTo>
                  <a:pt x="61605" y="0"/>
                </a:lnTo>
                <a:lnTo>
                  <a:pt x="62187" y="0"/>
                </a:lnTo>
                <a:lnTo>
                  <a:pt x="122628" y="19764"/>
                </a:lnTo>
                <a:lnTo>
                  <a:pt x="123210" y="19936"/>
                </a:lnTo>
                <a:lnTo>
                  <a:pt x="123676" y="20624"/>
                </a:lnTo>
                <a:lnTo>
                  <a:pt x="123676" y="21655"/>
                </a:lnTo>
                <a:lnTo>
                  <a:pt x="123559" y="21827"/>
                </a:lnTo>
                <a:lnTo>
                  <a:pt x="123559" y="21999"/>
                </a:lnTo>
                <a:lnTo>
                  <a:pt x="123093" y="25780"/>
                </a:lnTo>
                <a:lnTo>
                  <a:pt x="122977" y="26639"/>
                </a:lnTo>
                <a:lnTo>
                  <a:pt x="122511" y="27327"/>
                </a:lnTo>
                <a:close/>
              </a:path>
            </a:pathLst>
          </a:custGeom>
          <a:solidFill>
            <a:srgbClr val="000000"/>
          </a:solidFill>
        </p:spPr>
        <p:txBody>
          <a:bodyPr wrap="square" lIns="0" tIns="0" rIns="0" bIns="0" rtlCol="0"/>
          <a:lstStyle/>
          <a:p/>
        </p:txBody>
      </p:sp>
      <p:sp>
        <p:nvSpPr>
          <p:cNvPr id="10" name="object 10"/>
          <p:cNvSpPr txBox="1"/>
          <p:nvPr/>
        </p:nvSpPr>
        <p:spPr>
          <a:xfrm>
            <a:off x="628649" y="1488302"/>
            <a:ext cx="3562350" cy="582930"/>
          </a:xfrm>
          <a:prstGeom prst="rect">
            <a:avLst/>
          </a:prstGeom>
        </p:spPr>
        <p:txBody>
          <a:bodyPr vert="horz" wrap="square" lIns="0" tIns="57785" rIns="0" bIns="0" rtlCol="0">
            <a:spAutoFit/>
          </a:bodyPr>
          <a:lstStyle/>
          <a:p>
            <a:pPr marL="38100">
              <a:lnSpc>
                <a:spcPct val="100000"/>
              </a:lnSpc>
              <a:spcBef>
                <a:spcPts val="455"/>
              </a:spcBef>
            </a:pPr>
            <a:r>
              <a:rPr sz="1500" b="1" spc="-150" dirty="0">
                <a:latin typeface="微软雅黑" panose="020B0503020204020204" charset="-122"/>
                <a:cs typeface="微软雅黑" panose="020B0503020204020204" charset="-122"/>
              </a:rPr>
              <a:t>即插即用 </a:t>
            </a:r>
            <a:r>
              <a:rPr sz="1550" b="1" spc="-85" dirty="0">
                <a:latin typeface="Trebuchet MS" panose="020B0603020202020204"/>
                <a:cs typeface="Trebuchet MS" panose="020B0603020202020204"/>
              </a:rPr>
              <a:t>(</a:t>
            </a:r>
            <a:r>
              <a:rPr sz="1500" b="1" spc="-85" dirty="0">
                <a:latin typeface="Arial" panose="020B0604020202020204"/>
                <a:cs typeface="Arial" panose="020B0604020202020204"/>
              </a:rPr>
              <a:t>Plugin</a:t>
            </a:r>
            <a:r>
              <a:rPr sz="1550" b="1" spc="-85" dirty="0">
                <a:latin typeface="Trebuchet MS" panose="020B0603020202020204"/>
                <a:cs typeface="Trebuchet MS" panose="020B0603020202020204"/>
              </a:rPr>
              <a:t>)</a:t>
            </a:r>
            <a:r>
              <a:rPr sz="1500" b="1" spc="-60" dirty="0">
                <a:latin typeface="Microsoft New Tai Lue" panose="020B0502040204020203"/>
                <a:cs typeface="Microsoft New Tai Lue" panose="020B0502040204020203"/>
              </a:rPr>
              <a:t>： </a:t>
            </a:r>
            <a:r>
              <a:rPr sz="1500" spc="-145" dirty="0">
                <a:latin typeface="宋体" panose="02010600030101010101" pitchFamily="2" charset="-122"/>
                <a:cs typeface="宋体" panose="02010600030101010101" pitchFamily="2" charset="-122"/>
              </a:rPr>
              <a:t>接收基础模型的初步预测</a:t>
            </a:r>
            <a:endParaRPr sz="1500">
              <a:latin typeface="宋体" panose="02010600030101010101" pitchFamily="2" charset="-122"/>
              <a:cs typeface="宋体" panose="02010600030101010101" pitchFamily="2" charset="-122"/>
            </a:endParaRPr>
          </a:p>
          <a:p>
            <a:pPr marL="85090">
              <a:lnSpc>
                <a:spcPct val="100000"/>
              </a:lnSpc>
              <a:spcBef>
                <a:spcPts val="365"/>
              </a:spcBef>
            </a:pPr>
            <a:r>
              <a:rPr sz="1350" b="1" dirty="0">
                <a:latin typeface="Georgia" panose="02040502050405020303"/>
                <a:cs typeface="Georgia" panose="02040502050405020303"/>
              </a:rPr>
              <a:t>X</a:t>
            </a:r>
            <a:r>
              <a:rPr sz="1425" baseline="26000" dirty="0">
                <a:latin typeface="Cambria" panose="02040503050406030204"/>
                <a:cs typeface="Cambria" panose="02040503050406030204"/>
              </a:rPr>
              <a:t>model</a:t>
            </a:r>
            <a:r>
              <a:rPr sz="1425" spc="390" baseline="26000" dirty="0">
                <a:latin typeface="Cambria" panose="02040503050406030204"/>
                <a:cs typeface="Cambria" panose="02040503050406030204"/>
              </a:rPr>
              <a:t> </a:t>
            </a:r>
            <a:r>
              <a:rPr sz="1500" spc="-125" dirty="0">
                <a:latin typeface="宋体" panose="02010600030101010101" pitchFamily="2" charset="-122"/>
                <a:cs typeface="宋体" panose="02010600030101010101" pitchFamily="2" charset="-122"/>
              </a:rPr>
              <a:t>，输出修正后预测 </a:t>
            </a:r>
            <a:r>
              <a:rPr sz="1350" b="1" spc="75" dirty="0">
                <a:latin typeface="Georgia" panose="02040502050405020303"/>
                <a:cs typeface="Georgia" panose="02040502050405020303"/>
              </a:rPr>
              <a:t>X</a:t>
            </a:r>
            <a:r>
              <a:rPr sz="1350" b="1" spc="50" dirty="0">
                <a:latin typeface="Georgia" panose="02040502050405020303"/>
                <a:cs typeface="Georgia" panose="02040502050405020303"/>
              </a:rPr>
              <a:t> </a:t>
            </a:r>
            <a:r>
              <a:rPr sz="1500" spc="-50" dirty="0">
                <a:latin typeface="宋体" panose="02010600030101010101" pitchFamily="2" charset="-122"/>
                <a:cs typeface="宋体" panose="02010600030101010101" pitchFamily="2" charset="-122"/>
              </a:rPr>
              <a:t>。</a:t>
            </a:r>
            <a:endParaRPr sz="1500">
              <a:latin typeface="宋体" panose="02010600030101010101" pitchFamily="2" charset="-122"/>
              <a:cs typeface="宋体" panose="02010600030101010101" pitchFamily="2" charset="-122"/>
            </a:endParaRPr>
          </a:p>
        </p:txBody>
      </p:sp>
      <p:sp>
        <p:nvSpPr>
          <p:cNvPr id="11" name="object 11"/>
          <p:cNvSpPr/>
          <p:nvPr/>
        </p:nvSpPr>
        <p:spPr>
          <a:xfrm>
            <a:off x="2752724" y="1866900"/>
            <a:ext cx="123825" cy="27940"/>
          </a:xfrm>
          <a:custGeom>
            <a:avLst/>
            <a:gdLst/>
            <a:ahLst/>
            <a:cxnLst/>
            <a:rect l="l" t="t" r="r" b="b"/>
            <a:pathLst>
              <a:path w="123825" h="27939">
                <a:moveTo>
                  <a:pt x="122511" y="27327"/>
                </a:moveTo>
                <a:lnTo>
                  <a:pt x="121579" y="27327"/>
                </a:lnTo>
                <a:lnTo>
                  <a:pt x="61954" y="11515"/>
                </a:lnTo>
                <a:lnTo>
                  <a:pt x="2212" y="27327"/>
                </a:lnTo>
                <a:lnTo>
                  <a:pt x="1397" y="27327"/>
                </a:lnTo>
                <a:lnTo>
                  <a:pt x="931" y="26639"/>
                </a:lnTo>
                <a:lnTo>
                  <a:pt x="698" y="25780"/>
                </a:lnTo>
                <a:lnTo>
                  <a:pt x="116" y="21999"/>
                </a:lnTo>
                <a:lnTo>
                  <a:pt x="0" y="20967"/>
                </a:lnTo>
                <a:lnTo>
                  <a:pt x="349" y="19936"/>
                </a:lnTo>
                <a:lnTo>
                  <a:pt x="1048" y="19764"/>
                </a:lnTo>
                <a:lnTo>
                  <a:pt x="61605" y="0"/>
                </a:lnTo>
                <a:lnTo>
                  <a:pt x="62187" y="0"/>
                </a:lnTo>
                <a:lnTo>
                  <a:pt x="122628" y="19764"/>
                </a:lnTo>
                <a:lnTo>
                  <a:pt x="123210" y="19936"/>
                </a:lnTo>
                <a:lnTo>
                  <a:pt x="123676" y="20624"/>
                </a:lnTo>
                <a:lnTo>
                  <a:pt x="123676" y="21655"/>
                </a:lnTo>
                <a:lnTo>
                  <a:pt x="123559" y="21827"/>
                </a:lnTo>
                <a:lnTo>
                  <a:pt x="123559" y="21999"/>
                </a:lnTo>
                <a:lnTo>
                  <a:pt x="123093" y="25780"/>
                </a:lnTo>
                <a:lnTo>
                  <a:pt x="122977" y="26639"/>
                </a:lnTo>
                <a:lnTo>
                  <a:pt x="122511" y="27327"/>
                </a:lnTo>
                <a:close/>
              </a:path>
            </a:pathLst>
          </a:custGeom>
          <a:solidFill>
            <a:srgbClr val="000000"/>
          </a:solidFill>
        </p:spPr>
        <p:txBody>
          <a:bodyPr wrap="square" lIns="0" tIns="0" rIns="0" bIns="0" rtlCol="0"/>
          <a:lstStyle/>
          <a:p/>
        </p:txBody>
      </p:sp>
      <p:grpSp>
        <p:nvGrpSpPr>
          <p:cNvPr id="12" name="object 12"/>
          <p:cNvGrpSpPr/>
          <p:nvPr/>
        </p:nvGrpSpPr>
        <p:grpSpPr>
          <a:xfrm>
            <a:off x="457200" y="2333624"/>
            <a:ext cx="4324350" cy="2609850"/>
            <a:chOff x="457200" y="2333624"/>
            <a:chExt cx="4324350" cy="2609850"/>
          </a:xfrm>
        </p:grpSpPr>
        <p:sp>
          <p:nvSpPr>
            <p:cNvPr id="13" name="object 13"/>
            <p:cNvSpPr/>
            <p:nvPr/>
          </p:nvSpPr>
          <p:spPr>
            <a:xfrm>
              <a:off x="461962" y="2338387"/>
              <a:ext cx="4314825" cy="2600325"/>
            </a:xfrm>
            <a:custGeom>
              <a:avLst/>
              <a:gdLst/>
              <a:ahLst/>
              <a:cxnLst/>
              <a:rect l="l" t="t" r="r" b="b"/>
              <a:pathLst>
                <a:path w="4314825" h="2600325">
                  <a:moveTo>
                    <a:pt x="4248077" y="2600324"/>
                  </a:moveTo>
                  <a:lnTo>
                    <a:pt x="66746" y="2600324"/>
                  </a:lnTo>
                  <a:lnTo>
                    <a:pt x="62101" y="2599867"/>
                  </a:lnTo>
                  <a:lnTo>
                    <a:pt x="24240" y="2582717"/>
                  </a:lnTo>
                  <a:lnTo>
                    <a:pt x="2287" y="2547424"/>
                  </a:lnTo>
                  <a:lnTo>
                    <a:pt x="0" y="2533577"/>
                  </a:lnTo>
                  <a:lnTo>
                    <a:pt x="0" y="2528887"/>
                  </a:lnTo>
                  <a:lnTo>
                    <a:pt x="0" y="66746"/>
                  </a:lnTo>
                  <a:lnTo>
                    <a:pt x="14645" y="27848"/>
                  </a:lnTo>
                  <a:lnTo>
                    <a:pt x="48433" y="3642"/>
                  </a:lnTo>
                  <a:lnTo>
                    <a:pt x="66746" y="0"/>
                  </a:lnTo>
                  <a:lnTo>
                    <a:pt x="4248077" y="0"/>
                  </a:lnTo>
                  <a:lnTo>
                    <a:pt x="4286975" y="14645"/>
                  </a:lnTo>
                  <a:lnTo>
                    <a:pt x="4311181" y="48433"/>
                  </a:lnTo>
                  <a:lnTo>
                    <a:pt x="4314824" y="66746"/>
                  </a:lnTo>
                  <a:lnTo>
                    <a:pt x="4314824" y="2533577"/>
                  </a:lnTo>
                  <a:lnTo>
                    <a:pt x="4300178" y="2572475"/>
                  </a:lnTo>
                  <a:lnTo>
                    <a:pt x="4266390" y="2596681"/>
                  </a:lnTo>
                  <a:lnTo>
                    <a:pt x="4252723" y="2599866"/>
                  </a:lnTo>
                  <a:lnTo>
                    <a:pt x="4248077" y="2600324"/>
                  </a:lnTo>
                  <a:close/>
                </a:path>
              </a:pathLst>
            </a:custGeom>
            <a:solidFill>
              <a:srgbClr val="F9FAFA"/>
            </a:solidFill>
          </p:spPr>
          <p:txBody>
            <a:bodyPr wrap="square" lIns="0" tIns="0" rIns="0" bIns="0" rtlCol="0"/>
            <a:lstStyle/>
            <a:p/>
          </p:txBody>
        </p:sp>
        <p:sp>
          <p:nvSpPr>
            <p:cNvPr id="14" name="object 14"/>
            <p:cNvSpPr/>
            <p:nvPr/>
          </p:nvSpPr>
          <p:spPr>
            <a:xfrm>
              <a:off x="461962" y="2338387"/>
              <a:ext cx="4314825" cy="2600325"/>
            </a:xfrm>
            <a:custGeom>
              <a:avLst/>
              <a:gdLst/>
              <a:ahLst/>
              <a:cxnLst/>
              <a:rect l="l" t="t" r="r" b="b"/>
              <a:pathLst>
                <a:path w="4314825" h="2600325">
                  <a:moveTo>
                    <a:pt x="0" y="2528887"/>
                  </a:moveTo>
                  <a:lnTo>
                    <a:pt x="0" y="71437"/>
                  </a:lnTo>
                  <a:lnTo>
                    <a:pt x="0" y="66746"/>
                  </a:lnTo>
                  <a:lnTo>
                    <a:pt x="457" y="62101"/>
                  </a:lnTo>
                  <a:lnTo>
                    <a:pt x="17606" y="24240"/>
                  </a:lnTo>
                  <a:lnTo>
                    <a:pt x="20923" y="20923"/>
                  </a:lnTo>
                  <a:lnTo>
                    <a:pt x="24240" y="17606"/>
                  </a:lnTo>
                  <a:lnTo>
                    <a:pt x="62101" y="457"/>
                  </a:lnTo>
                  <a:lnTo>
                    <a:pt x="66746" y="0"/>
                  </a:lnTo>
                  <a:lnTo>
                    <a:pt x="71437" y="0"/>
                  </a:lnTo>
                  <a:lnTo>
                    <a:pt x="4243387" y="0"/>
                  </a:lnTo>
                  <a:lnTo>
                    <a:pt x="4248077" y="0"/>
                  </a:lnTo>
                  <a:lnTo>
                    <a:pt x="4252723" y="457"/>
                  </a:lnTo>
                  <a:lnTo>
                    <a:pt x="4283074" y="12039"/>
                  </a:lnTo>
                  <a:lnTo>
                    <a:pt x="4286975" y="14645"/>
                  </a:lnTo>
                  <a:lnTo>
                    <a:pt x="4290583" y="17606"/>
                  </a:lnTo>
                  <a:lnTo>
                    <a:pt x="4293900" y="20923"/>
                  </a:lnTo>
                  <a:lnTo>
                    <a:pt x="4297217" y="24240"/>
                  </a:lnTo>
                  <a:lnTo>
                    <a:pt x="4313451" y="57500"/>
                  </a:lnTo>
                  <a:lnTo>
                    <a:pt x="4314366" y="62101"/>
                  </a:lnTo>
                  <a:lnTo>
                    <a:pt x="4314824" y="66746"/>
                  </a:lnTo>
                  <a:lnTo>
                    <a:pt x="4314824" y="71437"/>
                  </a:lnTo>
                  <a:lnTo>
                    <a:pt x="4314824" y="2528887"/>
                  </a:lnTo>
                  <a:lnTo>
                    <a:pt x="4314824" y="2533577"/>
                  </a:lnTo>
                  <a:lnTo>
                    <a:pt x="4314367" y="2538223"/>
                  </a:lnTo>
                  <a:lnTo>
                    <a:pt x="4297217" y="2576084"/>
                  </a:lnTo>
                  <a:lnTo>
                    <a:pt x="4261924" y="2598036"/>
                  </a:lnTo>
                  <a:lnTo>
                    <a:pt x="4257323" y="2598951"/>
                  </a:lnTo>
                  <a:lnTo>
                    <a:pt x="4252723" y="2599866"/>
                  </a:lnTo>
                  <a:lnTo>
                    <a:pt x="4248077" y="2600324"/>
                  </a:lnTo>
                  <a:lnTo>
                    <a:pt x="4243387" y="2600324"/>
                  </a:lnTo>
                  <a:lnTo>
                    <a:pt x="71437" y="2600324"/>
                  </a:lnTo>
                  <a:lnTo>
                    <a:pt x="66746" y="2600324"/>
                  </a:lnTo>
                  <a:lnTo>
                    <a:pt x="62101" y="2599867"/>
                  </a:lnTo>
                  <a:lnTo>
                    <a:pt x="31748" y="2588284"/>
                  </a:lnTo>
                  <a:lnTo>
                    <a:pt x="27848" y="2585678"/>
                  </a:lnTo>
                  <a:lnTo>
                    <a:pt x="3642" y="2551891"/>
                  </a:lnTo>
                  <a:lnTo>
                    <a:pt x="1372" y="2542823"/>
                  </a:lnTo>
                  <a:lnTo>
                    <a:pt x="457" y="2538223"/>
                  </a:lnTo>
                  <a:lnTo>
                    <a:pt x="0" y="2533577"/>
                  </a:lnTo>
                  <a:lnTo>
                    <a:pt x="0" y="2528887"/>
                  </a:lnTo>
                  <a:close/>
                </a:path>
              </a:pathLst>
            </a:custGeom>
            <a:ln w="9524">
              <a:solidFill>
                <a:srgbClr val="F2F4F5"/>
              </a:solidFill>
            </a:ln>
          </p:spPr>
          <p:txBody>
            <a:bodyPr wrap="square" lIns="0" tIns="0" rIns="0" bIns="0" rtlCol="0"/>
            <a:lstStyle/>
            <a:p/>
          </p:txBody>
        </p:sp>
        <p:sp>
          <p:nvSpPr>
            <p:cNvPr id="15" name="object 15"/>
            <p:cNvSpPr/>
            <p:nvPr/>
          </p:nvSpPr>
          <p:spPr>
            <a:xfrm>
              <a:off x="771512" y="3371849"/>
              <a:ext cx="9525" cy="876300"/>
            </a:xfrm>
            <a:custGeom>
              <a:avLst/>
              <a:gdLst/>
              <a:ahLst/>
              <a:cxnLst/>
              <a:rect l="l" t="t" r="r" b="b"/>
              <a:pathLst>
                <a:path w="9525" h="876300">
                  <a:moveTo>
                    <a:pt x="9525" y="762000"/>
                  </a:moveTo>
                  <a:lnTo>
                    <a:pt x="0" y="762000"/>
                  </a:lnTo>
                  <a:lnTo>
                    <a:pt x="0" y="876300"/>
                  </a:lnTo>
                  <a:lnTo>
                    <a:pt x="9525" y="876300"/>
                  </a:lnTo>
                  <a:lnTo>
                    <a:pt x="9525" y="762000"/>
                  </a:lnTo>
                  <a:close/>
                </a:path>
                <a:path w="9525" h="876300">
                  <a:moveTo>
                    <a:pt x="9525" y="0"/>
                  </a:moveTo>
                  <a:lnTo>
                    <a:pt x="0" y="0"/>
                  </a:lnTo>
                  <a:lnTo>
                    <a:pt x="0" y="114300"/>
                  </a:lnTo>
                  <a:lnTo>
                    <a:pt x="9525" y="114300"/>
                  </a:lnTo>
                  <a:lnTo>
                    <a:pt x="9525" y="0"/>
                  </a:lnTo>
                  <a:close/>
                </a:path>
              </a:pathLst>
            </a:custGeom>
            <a:solidFill>
              <a:srgbClr val="D0D5DA"/>
            </a:solidFill>
          </p:spPr>
          <p:txBody>
            <a:bodyPr wrap="square" lIns="0" tIns="0" rIns="0" bIns="0" rtlCol="0"/>
            <a:lstStyle/>
            <a:p/>
          </p:txBody>
        </p:sp>
        <p:pic>
          <p:nvPicPr>
            <p:cNvPr id="16" name="object 16"/>
            <p:cNvPicPr/>
            <p:nvPr/>
          </p:nvPicPr>
          <p:blipFill>
            <a:blip r:embed="rId2" cstate="print"/>
            <a:stretch>
              <a:fillRect/>
            </a:stretch>
          </p:blipFill>
          <p:spPr>
            <a:xfrm>
              <a:off x="657224" y="2876549"/>
              <a:ext cx="247649" cy="190499"/>
            </a:xfrm>
            <a:prstGeom prst="rect">
              <a:avLst/>
            </a:prstGeom>
          </p:spPr>
        </p:pic>
      </p:grpSp>
      <p:sp>
        <p:nvSpPr>
          <p:cNvPr id="17" name="object 17"/>
          <p:cNvSpPr txBox="1"/>
          <p:nvPr/>
        </p:nvSpPr>
        <p:spPr>
          <a:xfrm>
            <a:off x="644524" y="2511425"/>
            <a:ext cx="2728595" cy="528320"/>
          </a:xfrm>
          <a:prstGeom prst="rect">
            <a:avLst/>
          </a:prstGeom>
        </p:spPr>
        <p:txBody>
          <a:bodyPr vert="horz" wrap="square" lIns="0" tIns="12700" rIns="0" bIns="0" rtlCol="0">
            <a:spAutoFit/>
          </a:bodyPr>
          <a:lstStyle/>
          <a:p>
            <a:pPr marL="12700">
              <a:lnSpc>
                <a:spcPct val="100000"/>
              </a:lnSpc>
              <a:spcBef>
                <a:spcPts val="100"/>
              </a:spcBef>
            </a:pPr>
            <a:r>
              <a:rPr sz="1050" spc="50" dirty="0">
                <a:solidFill>
                  <a:srgbClr val="6A7280"/>
                </a:solidFill>
                <a:latin typeface="宋体" panose="02010600030101010101" pitchFamily="2" charset="-122"/>
                <a:cs typeface="宋体" panose="02010600030101010101" pitchFamily="2" charset="-122"/>
              </a:rPr>
              <a:t>维度演变梳理 / </a:t>
            </a:r>
            <a:r>
              <a:rPr sz="1050" spc="165" dirty="0">
                <a:solidFill>
                  <a:srgbClr val="6A7280"/>
                </a:solidFill>
                <a:latin typeface="宋体" panose="02010600030101010101" pitchFamily="2" charset="-122"/>
                <a:cs typeface="宋体" panose="02010600030101010101" pitchFamily="2" charset="-122"/>
              </a:rPr>
              <a:t>DIMENSION</a:t>
            </a:r>
            <a:r>
              <a:rPr sz="1050" dirty="0">
                <a:solidFill>
                  <a:srgbClr val="6A7280"/>
                </a:solidFill>
                <a:latin typeface="宋体" panose="02010600030101010101" pitchFamily="2" charset="-122"/>
                <a:cs typeface="宋体" panose="02010600030101010101" pitchFamily="2" charset="-122"/>
              </a:rPr>
              <a:t> </a:t>
            </a:r>
            <a:r>
              <a:rPr sz="1050" spc="135" dirty="0">
                <a:solidFill>
                  <a:srgbClr val="6A7280"/>
                </a:solidFill>
                <a:latin typeface="宋体" panose="02010600030101010101" pitchFamily="2" charset="-122"/>
                <a:cs typeface="宋体" panose="02010600030101010101" pitchFamily="2" charset="-122"/>
              </a:rPr>
              <a:t>EVOLUTION</a:t>
            </a:r>
            <a:endParaRPr sz="1050">
              <a:latin typeface="宋体" panose="02010600030101010101" pitchFamily="2" charset="-122"/>
              <a:cs typeface="宋体" panose="02010600030101010101" pitchFamily="2" charset="-122"/>
            </a:endParaRPr>
          </a:p>
          <a:p>
            <a:pPr>
              <a:lnSpc>
                <a:spcPct val="100000"/>
              </a:lnSpc>
              <a:spcBef>
                <a:spcPts val="75"/>
              </a:spcBef>
            </a:pPr>
            <a:endParaRPr sz="1050">
              <a:latin typeface="宋体" panose="02010600030101010101" pitchFamily="2" charset="-122"/>
              <a:cs typeface="宋体" panose="02010600030101010101" pitchFamily="2" charset="-122"/>
            </a:endParaRPr>
          </a:p>
          <a:p>
            <a:pPr marL="69215">
              <a:lnSpc>
                <a:spcPct val="100000"/>
              </a:lnSpc>
              <a:tabLst>
                <a:tab pos="378460" algn="l"/>
              </a:tabLst>
            </a:pPr>
            <a:r>
              <a:rPr sz="900" spc="-25" dirty="0">
                <a:solidFill>
                  <a:srgbClr val="FFFFFF"/>
                </a:solidFill>
                <a:latin typeface="Courier New" panose="02070309020205020404"/>
                <a:cs typeface="Courier New" panose="02070309020205020404"/>
              </a:rPr>
              <a:t>01</a:t>
            </a:r>
            <a:r>
              <a:rPr sz="900" dirty="0">
                <a:solidFill>
                  <a:srgbClr val="FFFFFF"/>
                </a:solidFill>
                <a:latin typeface="Courier New" panose="02070309020205020404"/>
                <a:cs typeface="Courier New" panose="02070309020205020404"/>
              </a:rPr>
              <a:t>	</a:t>
            </a:r>
            <a:r>
              <a:rPr sz="1050" spc="-15" dirty="0">
                <a:latin typeface="宋体" panose="02010600030101010101" pitchFamily="2" charset="-122"/>
                <a:cs typeface="宋体" panose="02010600030101010101" pitchFamily="2" charset="-122"/>
              </a:rPr>
              <a:t>输入信号</a:t>
            </a:r>
            <a:endParaRPr sz="1050">
              <a:latin typeface="宋体" panose="02010600030101010101" pitchFamily="2" charset="-122"/>
              <a:cs typeface="宋体" panose="02010600030101010101" pitchFamily="2" charset="-122"/>
            </a:endParaRPr>
          </a:p>
        </p:txBody>
      </p:sp>
      <p:sp>
        <p:nvSpPr>
          <p:cNvPr id="18" name="object 18"/>
          <p:cNvSpPr txBox="1"/>
          <p:nvPr/>
        </p:nvSpPr>
        <p:spPr>
          <a:xfrm>
            <a:off x="1430765" y="3047652"/>
            <a:ext cx="1191895" cy="162560"/>
          </a:xfrm>
          <a:prstGeom prst="rect">
            <a:avLst/>
          </a:prstGeom>
        </p:spPr>
        <p:txBody>
          <a:bodyPr vert="horz" wrap="square" lIns="0" tIns="12700" rIns="0" bIns="0" rtlCol="0">
            <a:spAutoFit/>
          </a:bodyPr>
          <a:lstStyle/>
          <a:p>
            <a:pPr marL="12700">
              <a:lnSpc>
                <a:spcPct val="100000"/>
              </a:lnSpc>
              <a:spcBef>
                <a:spcPts val="100"/>
              </a:spcBef>
            </a:pPr>
            <a:r>
              <a:rPr sz="900" dirty="0">
                <a:solidFill>
                  <a:srgbClr val="6A7280"/>
                </a:solidFill>
                <a:latin typeface="Courier New" panose="02070309020205020404"/>
                <a:cs typeface="Courier New" panose="02070309020205020404"/>
              </a:rPr>
              <a:t>(C</a:t>
            </a:r>
            <a:r>
              <a:rPr sz="900" dirty="0">
                <a:solidFill>
                  <a:srgbClr val="6A7280"/>
                </a:solidFill>
                <a:latin typeface="宋体" panose="02010600030101010101" pitchFamily="2" charset="-122"/>
                <a:cs typeface="宋体" panose="02010600030101010101" pitchFamily="2" charset="-122"/>
              </a:rPr>
              <a:t>通道</a:t>
            </a:r>
            <a:r>
              <a:rPr sz="900" dirty="0">
                <a:solidFill>
                  <a:srgbClr val="6A7280"/>
                </a:solidFill>
                <a:latin typeface="Courier New" panose="02070309020205020404"/>
                <a:cs typeface="Courier New" panose="02070309020205020404"/>
              </a:rPr>
              <a:t>, T'</a:t>
            </a:r>
            <a:r>
              <a:rPr sz="900" dirty="0">
                <a:solidFill>
                  <a:srgbClr val="6A7280"/>
                </a:solidFill>
                <a:latin typeface="宋体" panose="02010600030101010101" pitchFamily="2" charset="-122"/>
                <a:cs typeface="宋体" panose="02010600030101010101" pitchFamily="2" charset="-122"/>
              </a:rPr>
              <a:t>预测长度</a:t>
            </a:r>
            <a:r>
              <a:rPr sz="900" spc="-50" dirty="0">
                <a:solidFill>
                  <a:srgbClr val="6A7280"/>
                </a:solidFill>
                <a:latin typeface="Courier New" panose="02070309020205020404"/>
                <a:cs typeface="Courier New" panose="02070309020205020404"/>
              </a:rPr>
              <a:t>)</a:t>
            </a:r>
            <a:endParaRPr sz="900">
              <a:latin typeface="Courier New" panose="02070309020205020404"/>
              <a:cs typeface="Courier New" panose="02070309020205020404"/>
            </a:endParaRPr>
          </a:p>
        </p:txBody>
      </p:sp>
      <p:pic>
        <p:nvPicPr>
          <p:cNvPr id="19" name="object 19"/>
          <p:cNvPicPr/>
          <p:nvPr/>
        </p:nvPicPr>
        <p:blipFill>
          <a:blip r:embed="rId2" cstate="print"/>
          <a:stretch>
            <a:fillRect/>
          </a:stretch>
        </p:blipFill>
        <p:spPr>
          <a:xfrm>
            <a:off x="657224" y="3638549"/>
            <a:ext cx="247649" cy="190499"/>
          </a:xfrm>
          <a:prstGeom prst="rect">
            <a:avLst/>
          </a:prstGeom>
        </p:spPr>
      </p:pic>
      <p:sp>
        <p:nvSpPr>
          <p:cNvPr id="20" name="object 20"/>
          <p:cNvSpPr txBox="1"/>
          <p:nvPr/>
        </p:nvSpPr>
        <p:spPr>
          <a:xfrm>
            <a:off x="701674" y="3616325"/>
            <a:ext cx="1350010" cy="185420"/>
          </a:xfrm>
          <a:prstGeom prst="rect">
            <a:avLst/>
          </a:prstGeom>
        </p:spPr>
        <p:txBody>
          <a:bodyPr vert="horz" wrap="square" lIns="0" tIns="12700" rIns="0" bIns="0" rtlCol="0">
            <a:spAutoFit/>
          </a:bodyPr>
          <a:lstStyle/>
          <a:p>
            <a:pPr marL="12700">
              <a:lnSpc>
                <a:spcPct val="100000"/>
              </a:lnSpc>
              <a:spcBef>
                <a:spcPts val="100"/>
              </a:spcBef>
              <a:tabLst>
                <a:tab pos="321310" algn="l"/>
              </a:tabLst>
            </a:pPr>
            <a:r>
              <a:rPr sz="900" spc="-25" dirty="0">
                <a:solidFill>
                  <a:srgbClr val="FFFFFF"/>
                </a:solidFill>
                <a:latin typeface="Courier New" panose="02070309020205020404"/>
                <a:cs typeface="Courier New" panose="02070309020205020404"/>
              </a:rPr>
              <a:t>02</a:t>
            </a:r>
            <a:r>
              <a:rPr sz="900" dirty="0">
                <a:solidFill>
                  <a:srgbClr val="FFFFFF"/>
                </a:solidFill>
                <a:latin typeface="Courier New" panose="02070309020205020404"/>
                <a:cs typeface="Courier New" panose="02070309020205020404"/>
              </a:rPr>
              <a:t>	</a:t>
            </a:r>
            <a:r>
              <a:rPr sz="1050" spc="-55" dirty="0">
                <a:latin typeface="宋体" panose="02010600030101010101" pitchFamily="2" charset="-122"/>
                <a:cs typeface="宋体" panose="02010600030101010101" pitchFamily="2" charset="-122"/>
              </a:rPr>
              <a:t>补丁化 </a:t>
            </a:r>
            <a:r>
              <a:rPr sz="1050" spc="-75" dirty="0">
                <a:latin typeface="宋体" panose="02010600030101010101" pitchFamily="2" charset="-122"/>
                <a:cs typeface="宋体" panose="02010600030101010101" pitchFamily="2" charset="-122"/>
              </a:rPr>
              <a:t>(Patching)</a:t>
            </a:r>
            <a:endParaRPr sz="1050">
              <a:latin typeface="宋体" panose="02010600030101010101" pitchFamily="2" charset="-122"/>
              <a:cs typeface="宋体" panose="02010600030101010101" pitchFamily="2" charset="-122"/>
            </a:endParaRPr>
          </a:p>
        </p:txBody>
      </p:sp>
      <p:sp>
        <p:nvSpPr>
          <p:cNvPr id="21" name="object 21"/>
          <p:cNvSpPr txBox="1"/>
          <p:nvPr/>
        </p:nvSpPr>
        <p:spPr>
          <a:xfrm>
            <a:off x="1010344" y="3806825"/>
            <a:ext cx="368300" cy="162560"/>
          </a:xfrm>
          <a:prstGeom prst="rect">
            <a:avLst/>
          </a:prstGeom>
        </p:spPr>
        <p:txBody>
          <a:bodyPr vert="horz" wrap="square" lIns="0" tIns="12700" rIns="0" bIns="0" rtlCol="0">
            <a:spAutoFit/>
          </a:bodyPr>
          <a:lstStyle/>
          <a:p>
            <a:pPr marL="12700">
              <a:lnSpc>
                <a:spcPct val="100000"/>
              </a:lnSpc>
              <a:spcBef>
                <a:spcPts val="100"/>
              </a:spcBef>
            </a:pPr>
            <a:r>
              <a:rPr sz="900" spc="-20" dirty="0">
                <a:solidFill>
                  <a:srgbClr val="6A7280"/>
                </a:solidFill>
                <a:latin typeface="宋体" panose="02010600030101010101" pitchFamily="2" charset="-122"/>
                <a:cs typeface="宋体" panose="02010600030101010101" pitchFamily="2" charset="-122"/>
              </a:rPr>
              <a:t>切分为</a:t>
            </a:r>
            <a:endParaRPr sz="900">
              <a:latin typeface="宋体" panose="02010600030101010101" pitchFamily="2" charset="-122"/>
              <a:cs typeface="宋体" panose="02010600030101010101" pitchFamily="2" charset="-122"/>
            </a:endParaRPr>
          </a:p>
        </p:txBody>
      </p:sp>
      <p:pic>
        <p:nvPicPr>
          <p:cNvPr id="22" name="object 22"/>
          <p:cNvPicPr/>
          <p:nvPr/>
        </p:nvPicPr>
        <p:blipFill>
          <a:blip r:embed="rId2" cstate="print"/>
          <a:stretch>
            <a:fillRect/>
          </a:stretch>
        </p:blipFill>
        <p:spPr>
          <a:xfrm>
            <a:off x="657224" y="4400549"/>
            <a:ext cx="247649" cy="190499"/>
          </a:xfrm>
          <a:prstGeom prst="rect">
            <a:avLst/>
          </a:prstGeom>
        </p:spPr>
      </p:pic>
      <p:sp>
        <p:nvSpPr>
          <p:cNvPr id="23" name="object 23"/>
          <p:cNvSpPr txBox="1"/>
          <p:nvPr/>
        </p:nvSpPr>
        <p:spPr>
          <a:xfrm>
            <a:off x="1013519" y="2997200"/>
            <a:ext cx="356235" cy="162560"/>
          </a:xfrm>
          <a:prstGeom prst="rect">
            <a:avLst/>
          </a:prstGeom>
        </p:spPr>
        <p:txBody>
          <a:bodyPr vert="horz" wrap="square" lIns="0" tIns="12700" rIns="0" bIns="0" rtlCol="0">
            <a:spAutoFit/>
          </a:bodyPr>
          <a:lstStyle/>
          <a:p>
            <a:pPr marL="38100">
              <a:lnSpc>
                <a:spcPct val="100000"/>
              </a:lnSpc>
              <a:spcBef>
                <a:spcPts val="100"/>
              </a:spcBef>
            </a:pPr>
            <a:r>
              <a:rPr sz="1350" spc="142" baseline="-25000" dirty="0">
                <a:latin typeface="Arial" panose="020B0604020202020204"/>
                <a:cs typeface="Arial" panose="020B0604020202020204"/>
              </a:rPr>
              <a:t>R</a:t>
            </a:r>
            <a:r>
              <a:rPr sz="600" i="1" spc="95" dirty="0">
                <a:latin typeface="Calibri" panose="020F0502020204030204"/>
                <a:cs typeface="Calibri" panose="020F0502020204030204"/>
              </a:rPr>
              <a:t>C</a:t>
            </a:r>
            <a:r>
              <a:rPr sz="600" spc="95" dirty="0">
                <a:latin typeface="Cambria" panose="02040503050406030204"/>
                <a:cs typeface="Cambria" panose="02040503050406030204"/>
              </a:rPr>
              <a:t>×</a:t>
            </a:r>
            <a:r>
              <a:rPr sz="600" i="1" spc="95" dirty="0">
                <a:latin typeface="Calibri" panose="020F0502020204030204"/>
                <a:cs typeface="Calibri" panose="020F0502020204030204"/>
              </a:rPr>
              <a:t>T</a:t>
            </a:r>
            <a:r>
              <a:rPr sz="600" i="1" spc="-45" dirty="0">
                <a:latin typeface="Calibri" panose="020F0502020204030204"/>
                <a:cs typeface="Calibri" panose="020F0502020204030204"/>
              </a:rPr>
              <a:t> </a:t>
            </a:r>
            <a:r>
              <a:rPr sz="675" spc="-75" baseline="25000" dirty="0">
                <a:latin typeface="Cambria" panose="02040503050406030204"/>
                <a:cs typeface="Cambria" panose="02040503050406030204"/>
              </a:rPr>
              <a:t>′</a:t>
            </a:r>
            <a:endParaRPr sz="675" baseline="25000">
              <a:latin typeface="Cambria" panose="02040503050406030204"/>
              <a:cs typeface="Cambria" panose="02040503050406030204"/>
            </a:endParaRPr>
          </a:p>
        </p:txBody>
      </p:sp>
      <p:sp>
        <p:nvSpPr>
          <p:cNvPr id="24" name="object 24"/>
          <p:cNvSpPr txBox="1"/>
          <p:nvPr/>
        </p:nvSpPr>
        <p:spPr>
          <a:xfrm>
            <a:off x="1425029" y="3759200"/>
            <a:ext cx="523240" cy="162560"/>
          </a:xfrm>
          <a:prstGeom prst="rect">
            <a:avLst/>
          </a:prstGeom>
        </p:spPr>
        <p:txBody>
          <a:bodyPr vert="horz" wrap="square" lIns="0" tIns="12700" rIns="0" bIns="0" rtlCol="0">
            <a:spAutoFit/>
          </a:bodyPr>
          <a:lstStyle/>
          <a:p>
            <a:pPr marL="38100">
              <a:lnSpc>
                <a:spcPct val="100000"/>
              </a:lnSpc>
              <a:spcBef>
                <a:spcPts val="100"/>
              </a:spcBef>
            </a:pPr>
            <a:r>
              <a:rPr sz="1350" spc="112" baseline="-25000" dirty="0">
                <a:latin typeface="Arial" panose="020B0604020202020204"/>
                <a:cs typeface="Arial" panose="020B0604020202020204"/>
              </a:rPr>
              <a:t>R</a:t>
            </a:r>
            <a:r>
              <a:rPr sz="600" i="1" spc="75" dirty="0">
                <a:latin typeface="Calibri" panose="020F0502020204030204"/>
                <a:cs typeface="Calibri" panose="020F0502020204030204"/>
              </a:rPr>
              <a:t>C</a:t>
            </a:r>
            <a:r>
              <a:rPr sz="600" spc="75" dirty="0">
                <a:latin typeface="Cambria" panose="02040503050406030204"/>
                <a:cs typeface="Cambria" panose="02040503050406030204"/>
              </a:rPr>
              <a:t>×(</a:t>
            </a:r>
            <a:r>
              <a:rPr sz="600" i="1" spc="75" dirty="0">
                <a:latin typeface="Calibri" panose="020F0502020204030204"/>
                <a:cs typeface="Calibri" panose="020F0502020204030204"/>
              </a:rPr>
              <a:t>N</a:t>
            </a:r>
            <a:r>
              <a:rPr sz="600" spc="75" dirty="0">
                <a:latin typeface="Cambria" panose="02040503050406030204"/>
                <a:cs typeface="Cambria" panose="02040503050406030204"/>
              </a:rPr>
              <a:t>×</a:t>
            </a:r>
            <a:r>
              <a:rPr sz="600" i="1" spc="75" dirty="0">
                <a:latin typeface="Calibri" panose="020F0502020204030204"/>
                <a:cs typeface="Calibri" panose="020F0502020204030204"/>
              </a:rPr>
              <a:t>P</a:t>
            </a:r>
            <a:r>
              <a:rPr sz="600" spc="75" dirty="0">
                <a:latin typeface="Cambria" panose="02040503050406030204"/>
                <a:cs typeface="Cambria" panose="02040503050406030204"/>
              </a:rPr>
              <a:t>)</a:t>
            </a:r>
            <a:endParaRPr sz="600">
              <a:latin typeface="Cambria" panose="02040503050406030204"/>
              <a:cs typeface="Cambria" panose="02040503050406030204"/>
            </a:endParaRPr>
          </a:p>
        </p:txBody>
      </p:sp>
      <p:sp>
        <p:nvSpPr>
          <p:cNvPr id="25" name="object 25"/>
          <p:cNvSpPr txBox="1"/>
          <p:nvPr/>
        </p:nvSpPr>
        <p:spPr>
          <a:xfrm>
            <a:off x="596899" y="4342764"/>
            <a:ext cx="2971165" cy="1703070"/>
          </a:xfrm>
          <a:prstGeom prst="rect">
            <a:avLst/>
          </a:prstGeom>
        </p:spPr>
        <p:txBody>
          <a:bodyPr vert="horz" wrap="square" lIns="0" tIns="48260" rIns="0" bIns="0" rtlCol="0">
            <a:spAutoFit/>
          </a:bodyPr>
          <a:lstStyle/>
          <a:p>
            <a:pPr marL="116840">
              <a:lnSpc>
                <a:spcPct val="100000"/>
              </a:lnSpc>
              <a:spcBef>
                <a:spcPts val="380"/>
              </a:spcBef>
              <a:tabLst>
                <a:tab pos="425450" algn="l"/>
              </a:tabLst>
            </a:pPr>
            <a:r>
              <a:rPr sz="900" spc="-25" dirty="0">
                <a:solidFill>
                  <a:srgbClr val="FFFFFF"/>
                </a:solidFill>
                <a:latin typeface="Courier New" panose="02070309020205020404"/>
                <a:cs typeface="Courier New" panose="02070309020205020404"/>
              </a:rPr>
              <a:t>03</a:t>
            </a:r>
            <a:r>
              <a:rPr sz="900" dirty="0">
                <a:solidFill>
                  <a:srgbClr val="FFFFFF"/>
                </a:solidFill>
                <a:latin typeface="Courier New" panose="02070309020205020404"/>
                <a:cs typeface="Courier New" panose="02070309020205020404"/>
              </a:rPr>
              <a:t>	</a:t>
            </a:r>
            <a:r>
              <a:rPr sz="1050" spc="-45" dirty="0">
                <a:latin typeface="宋体" panose="02010600030101010101" pitchFamily="2" charset="-122"/>
                <a:cs typeface="宋体" panose="02010600030101010101" pitchFamily="2" charset="-122"/>
              </a:rPr>
              <a:t>节点展平 </a:t>
            </a:r>
            <a:r>
              <a:rPr sz="1050" spc="-10" dirty="0">
                <a:latin typeface="宋体" panose="02010600030101010101" pitchFamily="2" charset="-122"/>
                <a:cs typeface="宋体" panose="02010600030101010101" pitchFamily="2" charset="-122"/>
              </a:rPr>
              <a:t>(Flatten)</a:t>
            </a:r>
            <a:endParaRPr sz="1050">
              <a:latin typeface="宋体" panose="02010600030101010101" pitchFamily="2" charset="-122"/>
              <a:cs typeface="宋体" panose="02010600030101010101" pitchFamily="2" charset="-122"/>
            </a:endParaRPr>
          </a:p>
          <a:p>
            <a:pPr marL="426085">
              <a:lnSpc>
                <a:spcPct val="100000"/>
              </a:lnSpc>
              <a:spcBef>
                <a:spcPts val="240"/>
              </a:spcBef>
            </a:pPr>
            <a:r>
              <a:rPr sz="900" dirty="0">
                <a:solidFill>
                  <a:srgbClr val="6A7280"/>
                </a:solidFill>
                <a:latin typeface="宋体" panose="02010600030101010101" pitchFamily="2" charset="-122"/>
                <a:cs typeface="宋体" panose="02010600030101010101" pitchFamily="2" charset="-122"/>
              </a:rPr>
              <a:t>转换通道</a:t>
            </a:r>
            <a:r>
              <a:rPr sz="900" dirty="0">
                <a:solidFill>
                  <a:srgbClr val="6A7280"/>
                </a:solidFill>
                <a:latin typeface="Courier New" panose="02070309020205020404"/>
                <a:cs typeface="Courier New" panose="02070309020205020404"/>
              </a:rPr>
              <a:t>-</a:t>
            </a:r>
            <a:r>
              <a:rPr sz="900" spc="10" dirty="0">
                <a:solidFill>
                  <a:srgbClr val="6A7280"/>
                </a:solidFill>
                <a:latin typeface="宋体" panose="02010600030101010101" pitchFamily="2" charset="-122"/>
                <a:cs typeface="宋体" panose="02010600030101010101" pitchFamily="2" charset="-122"/>
              </a:rPr>
              <a:t>补丁节点集合 </a:t>
            </a:r>
            <a:r>
              <a:rPr sz="900" i="1" spc="70" dirty="0">
                <a:latin typeface="Calibri" panose="020F0502020204030204"/>
                <a:cs typeface="Calibri" panose="020F0502020204030204"/>
              </a:rPr>
              <a:t>n</a:t>
            </a:r>
            <a:r>
              <a:rPr sz="900" i="1" spc="30" dirty="0">
                <a:latin typeface="Calibri" panose="020F0502020204030204"/>
                <a:cs typeface="Calibri" panose="020F0502020204030204"/>
              </a:rPr>
              <a:t> </a:t>
            </a:r>
            <a:r>
              <a:rPr sz="900" spc="110" dirty="0">
                <a:latin typeface="Cambria" panose="02040503050406030204"/>
                <a:cs typeface="Cambria" panose="02040503050406030204"/>
              </a:rPr>
              <a:t>= </a:t>
            </a:r>
            <a:r>
              <a:rPr sz="900" i="1" spc="165" dirty="0">
                <a:latin typeface="Calibri" panose="020F0502020204030204"/>
                <a:cs typeface="Calibri" panose="020F0502020204030204"/>
              </a:rPr>
              <a:t>C</a:t>
            </a:r>
            <a:r>
              <a:rPr sz="900" i="1" spc="90" dirty="0">
                <a:latin typeface="Calibri" panose="020F0502020204030204"/>
                <a:cs typeface="Calibri" panose="020F0502020204030204"/>
              </a:rPr>
              <a:t> </a:t>
            </a:r>
            <a:r>
              <a:rPr sz="900" spc="90" dirty="0">
                <a:latin typeface="Cambria" panose="02040503050406030204"/>
                <a:cs typeface="Cambria" panose="02040503050406030204"/>
              </a:rPr>
              <a:t>× </a:t>
            </a:r>
            <a:r>
              <a:rPr sz="900" i="1" spc="90" dirty="0">
                <a:latin typeface="Calibri" panose="020F0502020204030204"/>
                <a:cs typeface="Calibri" panose="020F0502020204030204"/>
              </a:rPr>
              <a:t>N</a:t>
            </a:r>
            <a:endParaRPr sz="900">
              <a:latin typeface="Calibri" panose="020F0502020204030204"/>
              <a:cs typeface="Calibri" panose="020F0502020204030204"/>
            </a:endParaRPr>
          </a:p>
          <a:p>
            <a:pPr>
              <a:lnSpc>
                <a:spcPct val="100000"/>
              </a:lnSpc>
            </a:pPr>
            <a:endParaRPr sz="900">
              <a:latin typeface="Calibri" panose="020F0502020204030204"/>
              <a:cs typeface="Calibri" panose="020F0502020204030204"/>
            </a:endParaRPr>
          </a:p>
          <a:p>
            <a:pPr>
              <a:lnSpc>
                <a:spcPct val="100000"/>
              </a:lnSpc>
            </a:pPr>
            <a:endParaRPr sz="900">
              <a:latin typeface="Calibri" panose="020F0502020204030204"/>
              <a:cs typeface="Calibri" panose="020F0502020204030204"/>
            </a:endParaRPr>
          </a:p>
          <a:p>
            <a:pPr>
              <a:lnSpc>
                <a:spcPct val="100000"/>
              </a:lnSpc>
              <a:spcBef>
                <a:spcPts val="195"/>
              </a:spcBef>
            </a:pPr>
            <a:endParaRPr sz="900">
              <a:latin typeface="Calibri" panose="020F0502020204030204"/>
              <a:cs typeface="Calibri" panose="020F0502020204030204"/>
            </a:endParaRPr>
          </a:p>
          <a:p>
            <a:pPr marL="206375" indent="-203200">
              <a:lnSpc>
                <a:spcPct val="100000"/>
              </a:lnSpc>
              <a:spcBef>
                <a:spcPts val="5"/>
              </a:spcBef>
              <a:buSzPct val="95000"/>
              <a:buAutoNum type="alphaUcParenBoth"/>
              <a:tabLst>
                <a:tab pos="206375" algn="l"/>
              </a:tabLst>
            </a:pPr>
            <a:r>
              <a:rPr sz="1050" spc="-45" dirty="0">
                <a:latin typeface="宋体" panose="02010600030101010101" pitchFamily="2" charset="-122"/>
                <a:cs typeface="宋体" panose="02010600030101010101" pitchFamily="2" charset="-122"/>
              </a:rPr>
              <a:t>频谱通道-补丁嵌入</a:t>
            </a:r>
            <a:endParaRPr sz="1050">
              <a:latin typeface="宋体" panose="02010600030101010101" pitchFamily="2" charset="-122"/>
              <a:cs typeface="宋体" panose="02010600030101010101" pitchFamily="2" charset="-122"/>
            </a:endParaRPr>
          </a:p>
          <a:p>
            <a:pPr marL="12700">
              <a:lnSpc>
                <a:spcPct val="100000"/>
              </a:lnSpc>
              <a:spcBef>
                <a:spcPts val="615"/>
              </a:spcBef>
            </a:pPr>
            <a:r>
              <a:rPr sz="900" spc="-5" dirty="0">
                <a:solidFill>
                  <a:srgbClr val="6A7280"/>
                </a:solidFill>
                <a:latin typeface="宋体" panose="02010600030101010101" pitchFamily="2" charset="-122"/>
                <a:cs typeface="宋体" panose="02010600030101010101" pitchFamily="2" charset="-122"/>
              </a:rPr>
              <a:t>构建节点图并投影至共享图傅里叶空间。</a:t>
            </a:r>
            <a:endParaRPr sz="900">
              <a:latin typeface="宋体" panose="02010600030101010101" pitchFamily="2" charset="-122"/>
              <a:cs typeface="宋体" panose="02010600030101010101" pitchFamily="2" charset="-122"/>
            </a:endParaRPr>
          </a:p>
          <a:p>
            <a:pPr marL="213995" indent="-203200">
              <a:lnSpc>
                <a:spcPct val="100000"/>
              </a:lnSpc>
              <a:spcBef>
                <a:spcPts val="945"/>
              </a:spcBef>
              <a:buSzPct val="95000"/>
              <a:buAutoNum type="alphaUcParenBoth" startAt="2"/>
              <a:tabLst>
                <a:tab pos="213995" algn="l"/>
              </a:tabLst>
            </a:pPr>
            <a:r>
              <a:rPr sz="1050" spc="-10" dirty="0">
                <a:latin typeface="宋体" panose="02010600030101010101" pitchFamily="2" charset="-122"/>
                <a:cs typeface="宋体" panose="02010600030101010101" pitchFamily="2" charset="-122"/>
              </a:rPr>
              <a:t>频谱节点分组</a:t>
            </a:r>
            <a:endParaRPr sz="1050">
              <a:latin typeface="宋体" panose="02010600030101010101" pitchFamily="2" charset="-122"/>
              <a:cs typeface="宋体" panose="02010600030101010101" pitchFamily="2" charset="-122"/>
            </a:endParaRPr>
          </a:p>
          <a:p>
            <a:pPr marL="12700">
              <a:lnSpc>
                <a:spcPct val="100000"/>
              </a:lnSpc>
              <a:spcBef>
                <a:spcPts val="615"/>
              </a:spcBef>
            </a:pPr>
            <a:r>
              <a:rPr sz="900" spc="-20" dirty="0">
                <a:solidFill>
                  <a:srgbClr val="6A7280"/>
                </a:solidFill>
                <a:latin typeface="宋体" panose="02010600030101010101" pitchFamily="2" charset="-122"/>
                <a:cs typeface="宋体" panose="02010600030101010101" pitchFamily="2" charset="-122"/>
              </a:rPr>
              <a:t>基于频谱能量响应 </a:t>
            </a:r>
            <a:r>
              <a:rPr sz="900" spc="-45" dirty="0">
                <a:solidFill>
                  <a:srgbClr val="6A7280"/>
                </a:solidFill>
                <a:latin typeface="宋体" panose="02010600030101010101" pitchFamily="2" charset="-122"/>
                <a:cs typeface="宋体" panose="02010600030101010101" pitchFamily="2" charset="-122"/>
              </a:rPr>
              <a:t>(Energy</a:t>
            </a:r>
            <a:r>
              <a:rPr sz="900" spc="-145" dirty="0">
                <a:solidFill>
                  <a:srgbClr val="6A7280"/>
                </a:solidFill>
                <a:latin typeface="宋体" panose="02010600030101010101" pitchFamily="2" charset="-122"/>
                <a:cs typeface="宋体" panose="02010600030101010101" pitchFamily="2" charset="-122"/>
              </a:rPr>
              <a:t> </a:t>
            </a:r>
            <a:r>
              <a:rPr sz="900" dirty="0">
                <a:solidFill>
                  <a:srgbClr val="6A7280"/>
                </a:solidFill>
                <a:latin typeface="宋体" panose="02010600030101010101" pitchFamily="2" charset="-122"/>
                <a:cs typeface="宋体" panose="02010600030101010101" pitchFamily="2" charset="-122"/>
              </a:rPr>
              <a:t>Response)</a:t>
            </a:r>
            <a:r>
              <a:rPr sz="900" spc="-35" dirty="0">
                <a:solidFill>
                  <a:srgbClr val="6A7280"/>
                </a:solidFill>
                <a:latin typeface="宋体" panose="02010600030101010101" pitchFamily="2" charset="-122"/>
                <a:cs typeface="宋体" panose="02010600030101010101" pitchFamily="2" charset="-122"/>
              </a:rPr>
              <a:t> 软划分低/中/高频。</a:t>
            </a:r>
            <a:endParaRPr sz="900">
              <a:latin typeface="宋体" panose="02010600030101010101" pitchFamily="2" charset="-122"/>
              <a:cs typeface="宋体" panose="02010600030101010101" pitchFamily="2" charset="-122"/>
            </a:endParaRPr>
          </a:p>
        </p:txBody>
      </p:sp>
      <p:sp>
        <p:nvSpPr>
          <p:cNvPr id="29" name="object 29"/>
          <p:cNvSpPr/>
          <p:nvPr/>
        </p:nvSpPr>
        <p:spPr>
          <a:xfrm>
            <a:off x="5091112" y="1281112"/>
            <a:ext cx="6638925" cy="5257800"/>
          </a:xfrm>
          <a:custGeom>
            <a:avLst/>
            <a:gdLst/>
            <a:ahLst/>
            <a:cxnLst/>
            <a:rect l="l" t="t" r="r" b="b"/>
            <a:pathLst>
              <a:path w="6638925" h="5257800">
                <a:moveTo>
                  <a:pt x="0" y="51482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5148262"/>
                </a:lnTo>
                <a:lnTo>
                  <a:pt x="6638923" y="5155454"/>
                </a:lnTo>
                <a:lnTo>
                  <a:pt x="6638222" y="5162577"/>
                </a:lnTo>
                <a:lnTo>
                  <a:pt x="6636818" y="5169631"/>
                </a:lnTo>
                <a:lnTo>
                  <a:pt x="6635415" y="5176685"/>
                </a:lnTo>
                <a:lnTo>
                  <a:pt x="6633338" y="5183535"/>
                </a:lnTo>
                <a:lnTo>
                  <a:pt x="6630586" y="5190179"/>
                </a:lnTo>
                <a:lnTo>
                  <a:pt x="6627833" y="5196824"/>
                </a:lnTo>
                <a:lnTo>
                  <a:pt x="6624459" y="5203136"/>
                </a:lnTo>
                <a:lnTo>
                  <a:pt x="6620463" y="5209117"/>
                </a:lnTo>
                <a:lnTo>
                  <a:pt x="6616468" y="5215097"/>
                </a:lnTo>
                <a:lnTo>
                  <a:pt x="6590242" y="5239339"/>
                </a:lnTo>
                <a:lnTo>
                  <a:pt x="6584261" y="5243334"/>
                </a:lnTo>
                <a:lnTo>
                  <a:pt x="6550756" y="5255694"/>
                </a:lnTo>
                <a:lnTo>
                  <a:pt x="6543702" y="5257097"/>
                </a:lnTo>
                <a:lnTo>
                  <a:pt x="6536579" y="5257799"/>
                </a:lnTo>
                <a:lnTo>
                  <a:pt x="6529386" y="5257799"/>
                </a:lnTo>
                <a:lnTo>
                  <a:pt x="109537" y="5257799"/>
                </a:lnTo>
                <a:lnTo>
                  <a:pt x="102345" y="5257799"/>
                </a:lnTo>
                <a:lnTo>
                  <a:pt x="95221" y="5257097"/>
                </a:lnTo>
                <a:lnTo>
                  <a:pt x="88167" y="5255694"/>
                </a:lnTo>
                <a:lnTo>
                  <a:pt x="81113" y="5254291"/>
                </a:lnTo>
                <a:lnTo>
                  <a:pt x="74264" y="5252213"/>
                </a:lnTo>
                <a:lnTo>
                  <a:pt x="67619" y="5249461"/>
                </a:lnTo>
                <a:lnTo>
                  <a:pt x="60974" y="5246708"/>
                </a:lnTo>
                <a:lnTo>
                  <a:pt x="26997" y="5220630"/>
                </a:lnTo>
                <a:lnTo>
                  <a:pt x="18460" y="5209117"/>
                </a:lnTo>
                <a:lnTo>
                  <a:pt x="14464" y="5203136"/>
                </a:lnTo>
                <a:lnTo>
                  <a:pt x="11090" y="5196824"/>
                </a:lnTo>
                <a:lnTo>
                  <a:pt x="8338" y="5190179"/>
                </a:lnTo>
                <a:lnTo>
                  <a:pt x="5585" y="5183535"/>
                </a:lnTo>
                <a:lnTo>
                  <a:pt x="3507" y="5176685"/>
                </a:lnTo>
                <a:lnTo>
                  <a:pt x="2104" y="5169631"/>
                </a:lnTo>
                <a:lnTo>
                  <a:pt x="701" y="5162577"/>
                </a:lnTo>
                <a:lnTo>
                  <a:pt x="0" y="5155454"/>
                </a:lnTo>
                <a:lnTo>
                  <a:pt x="0" y="5148262"/>
                </a:lnTo>
                <a:close/>
              </a:path>
            </a:pathLst>
          </a:custGeom>
          <a:ln w="9524">
            <a:solidFill>
              <a:srgbClr val="E4E7EB"/>
            </a:solidFill>
          </a:ln>
        </p:spPr>
        <p:txBody>
          <a:bodyPr wrap="square" lIns="0" tIns="0" rIns="0" bIns="0" rtlCol="0"/>
          <a:lstStyle/>
          <a:p/>
        </p:txBody>
      </p:sp>
      <p:sp>
        <p:nvSpPr>
          <p:cNvPr id="30" name="object 30"/>
          <p:cNvSpPr txBox="1"/>
          <p:nvPr/>
        </p:nvSpPr>
        <p:spPr>
          <a:xfrm>
            <a:off x="5239295" y="1417764"/>
            <a:ext cx="2696210" cy="206375"/>
          </a:xfrm>
          <a:prstGeom prst="rect">
            <a:avLst/>
          </a:prstGeom>
        </p:spPr>
        <p:txBody>
          <a:bodyPr vert="horz" wrap="square" lIns="0" tIns="17145" rIns="0" bIns="0" rtlCol="0">
            <a:spAutoFit/>
          </a:bodyPr>
          <a:lstStyle/>
          <a:p>
            <a:pPr marL="12700">
              <a:lnSpc>
                <a:spcPct val="100000"/>
              </a:lnSpc>
              <a:spcBef>
                <a:spcPts val="135"/>
              </a:spcBef>
            </a:pPr>
            <a:r>
              <a:rPr sz="1150" b="1" spc="25" dirty="0">
                <a:latin typeface="微软雅黑" panose="020B0503020204020204" charset="-122"/>
                <a:cs typeface="微软雅黑" panose="020B0503020204020204" charset="-122"/>
              </a:rPr>
              <a:t>架构蓝图 </a:t>
            </a:r>
            <a:r>
              <a:rPr sz="1100" b="1" spc="114" dirty="0">
                <a:latin typeface="Arial" panose="020B0604020202020204"/>
                <a:cs typeface="Arial" panose="020B0604020202020204"/>
              </a:rPr>
              <a:t>/ </a:t>
            </a:r>
            <a:r>
              <a:rPr sz="1100" b="1" spc="60" dirty="0">
                <a:latin typeface="Arial" panose="020B0604020202020204"/>
                <a:cs typeface="Arial" panose="020B0604020202020204"/>
              </a:rPr>
              <a:t>SYSTEM</a:t>
            </a:r>
            <a:r>
              <a:rPr sz="1100" b="1" spc="140" dirty="0">
                <a:latin typeface="Arial" panose="020B0604020202020204"/>
                <a:cs typeface="Arial" panose="020B0604020202020204"/>
              </a:rPr>
              <a:t> </a:t>
            </a:r>
            <a:r>
              <a:rPr sz="1100" b="1" spc="70" dirty="0">
                <a:latin typeface="Arial" panose="020B0604020202020204"/>
                <a:cs typeface="Arial" panose="020B0604020202020204"/>
              </a:rPr>
              <a:t>ARCHITECTURE</a:t>
            </a:r>
            <a:endParaRPr sz="1100">
              <a:latin typeface="Arial" panose="020B0604020202020204"/>
              <a:cs typeface="Arial" panose="020B0604020202020204"/>
            </a:endParaRPr>
          </a:p>
        </p:txBody>
      </p:sp>
      <p:sp>
        <p:nvSpPr>
          <p:cNvPr id="31" name="object 31"/>
          <p:cNvSpPr txBox="1"/>
          <p:nvPr/>
        </p:nvSpPr>
        <p:spPr>
          <a:xfrm>
            <a:off x="10531176" y="1444625"/>
            <a:ext cx="1054735" cy="139700"/>
          </a:xfrm>
          <a:prstGeom prst="rect">
            <a:avLst/>
          </a:prstGeom>
        </p:spPr>
        <p:txBody>
          <a:bodyPr vert="horz" wrap="square" lIns="0" tIns="12700" rIns="0" bIns="0" rtlCol="0">
            <a:spAutoFit/>
          </a:bodyPr>
          <a:lstStyle/>
          <a:p>
            <a:pPr marL="12700">
              <a:lnSpc>
                <a:spcPct val="100000"/>
              </a:lnSpc>
              <a:spcBef>
                <a:spcPts val="100"/>
              </a:spcBef>
            </a:pPr>
            <a:r>
              <a:rPr sz="750" dirty="0">
                <a:solidFill>
                  <a:srgbClr val="9CA2AF"/>
                </a:solidFill>
                <a:latin typeface="Courier New" panose="02070309020205020404"/>
                <a:cs typeface="Courier New" panose="02070309020205020404"/>
              </a:rPr>
              <a:t>VERSION: </a:t>
            </a:r>
            <a:r>
              <a:rPr sz="750" spc="-10" dirty="0">
                <a:solidFill>
                  <a:srgbClr val="9CA2AF"/>
                </a:solidFill>
                <a:latin typeface="Courier New" panose="02070309020205020404"/>
                <a:cs typeface="Courier New" panose="02070309020205020404"/>
              </a:rPr>
              <a:t>xCPD_v1.0</a:t>
            </a:r>
            <a:endParaRPr sz="750">
              <a:latin typeface="Courier New" panose="02070309020205020404"/>
              <a:cs typeface="Courier New" panose="02070309020205020404"/>
            </a:endParaRPr>
          </a:p>
        </p:txBody>
      </p:sp>
      <p:sp>
        <p:nvSpPr>
          <p:cNvPr id="32" name="object 32"/>
          <p:cNvSpPr txBox="1"/>
          <p:nvPr/>
        </p:nvSpPr>
        <p:spPr>
          <a:xfrm>
            <a:off x="5799335" y="6199678"/>
            <a:ext cx="5230495" cy="183515"/>
          </a:xfrm>
          <a:prstGeom prst="rect">
            <a:avLst/>
          </a:prstGeom>
        </p:spPr>
        <p:txBody>
          <a:bodyPr vert="horz" wrap="square" lIns="0" tIns="16510" rIns="0" bIns="0" rtlCol="0">
            <a:spAutoFit/>
          </a:bodyPr>
          <a:lstStyle/>
          <a:p>
            <a:pPr marL="12700">
              <a:lnSpc>
                <a:spcPct val="100000"/>
              </a:lnSpc>
              <a:spcBef>
                <a:spcPts val="130"/>
              </a:spcBef>
            </a:pPr>
            <a:r>
              <a:rPr sz="1000" i="1" spc="-45" dirty="0">
                <a:solidFill>
                  <a:srgbClr val="9CA2AF"/>
                </a:solidFill>
                <a:latin typeface="Arial" panose="020B0604020202020204"/>
                <a:cs typeface="Arial" panose="020B0604020202020204"/>
              </a:rPr>
              <a:t>Fig.</a:t>
            </a:r>
            <a:r>
              <a:rPr sz="1000" i="1" spc="-60" dirty="0">
                <a:solidFill>
                  <a:srgbClr val="9CA2AF"/>
                </a:solidFill>
                <a:latin typeface="Arial" panose="020B0604020202020204"/>
                <a:cs typeface="Arial" panose="020B0604020202020204"/>
              </a:rPr>
              <a:t> </a:t>
            </a:r>
            <a:r>
              <a:rPr sz="1000" i="1" spc="-110" dirty="0">
                <a:solidFill>
                  <a:srgbClr val="9CA2AF"/>
                </a:solidFill>
                <a:latin typeface="Arial" panose="020B0604020202020204"/>
                <a:cs typeface="Arial" panose="020B0604020202020204"/>
              </a:rPr>
              <a:t>1:</a:t>
            </a:r>
            <a:r>
              <a:rPr sz="1000" i="1" spc="-55" dirty="0">
                <a:solidFill>
                  <a:srgbClr val="9CA2AF"/>
                </a:solidFill>
                <a:latin typeface="Arial" panose="020B0604020202020204"/>
                <a:cs typeface="Arial" panose="020B0604020202020204"/>
              </a:rPr>
              <a:t> </a:t>
            </a:r>
            <a:r>
              <a:rPr sz="1000" i="1" spc="-25" dirty="0">
                <a:solidFill>
                  <a:srgbClr val="9CA2AF"/>
                </a:solidFill>
                <a:latin typeface="Arial" panose="020B0604020202020204"/>
                <a:cs typeface="Arial" panose="020B0604020202020204"/>
              </a:rPr>
              <a:t>Detailed</a:t>
            </a:r>
            <a:r>
              <a:rPr sz="1000" i="1" spc="-40" dirty="0">
                <a:solidFill>
                  <a:srgbClr val="9CA2AF"/>
                </a:solidFill>
                <a:latin typeface="Arial" panose="020B0604020202020204"/>
                <a:cs typeface="Arial" panose="020B0604020202020204"/>
              </a:rPr>
              <a:t> </a:t>
            </a:r>
            <a:r>
              <a:rPr sz="1000" i="1" spc="-20" dirty="0">
                <a:solidFill>
                  <a:srgbClr val="9CA2AF"/>
                </a:solidFill>
                <a:latin typeface="Arial" panose="020B0604020202020204"/>
                <a:cs typeface="Arial" panose="020B0604020202020204"/>
              </a:rPr>
              <a:t>schematic</a:t>
            </a:r>
            <a:r>
              <a:rPr sz="1000" i="1" spc="-5" dirty="0">
                <a:solidFill>
                  <a:srgbClr val="9CA2AF"/>
                </a:solidFill>
                <a:latin typeface="Arial" panose="020B0604020202020204"/>
                <a:cs typeface="Arial" panose="020B0604020202020204"/>
              </a:rPr>
              <a:t> </a:t>
            </a:r>
            <a:r>
              <a:rPr sz="1000" i="1" dirty="0">
                <a:solidFill>
                  <a:srgbClr val="9CA2AF"/>
                </a:solidFill>
                <a:latin typeface="Arial" panose="020B0604020202020204"/>
                <a:cs typeface="Arial" panose="020B0604020202020204"/>
              </a:rPr>
              <a:t>of</a:t>
            </a:r>
            <a:r>
              <a:rPr sz="1000" i="1" spc="-55" dirty="0">
                <a:solidFill>
                  <a:srgbClr val="9CA2AF"/>
                </a:solidFill>
                <a:latin typeface="Arial" panose="020B0604020202020204"/>
                <a:cs typeface="Arial" panose="020B0604020202020204"/>
              </a:rPr>
              <a:t> </a:t>
            </a:r>
            <a:r>
              <a:rPr sz="1000" i="1" spc="-20" dirty="0">
                <a:solidFill>
                  <a:srgbClr val="9CA2AF"/>
                </a:solidFill>
                <a:latin typeface="Arial" panose="020B0604020202020204"/>
                <a:cs typeface="Arial" panose="020B0604020202020204"/>
              </a:rPr>
              <a:t>the</a:t>
            </a:r>
            <a:r>
              <a:rPr sz="1000" i="1" spc="-10" dirty="0">
                <a:solidFill>
                  <a:srgbClr val="9CA2AF"/>
                </a:solidFill>
                <a:latin typeface="Arial" panose="020B0604020202020204"/>
                <a:cs typeface="Arial" panose="020B0604020202020204"/>
              </a:rPr>
              <a:t> </a:t>
            </a:r>
            <a:r>
              <a:rPr sz="1000" i="1" spc="-50" dirty="0">
                <a:solidFill>
                  <a:srgbClr val="9CA2AF"/>
                </a:solidFill>
                <a:latin typeface="Arial" panose="020B0604020202020204"/>
                <a:cs typeface="Arial" panose="020B0604020202020204"/>
              </a:rPr>
              <a:t>xCPD</a:t>
            </a:r>
            <a:r>
              <a:rPr sz="1000" i="1" spc="15" dirty="0">
                <a:solidFill>
                  <a:srgbClr val="9CA2AF"/>
                </a:solidFill>
                <a:latin typeface="Arial" panose="020B0604020202020204"/>
                <a:cs typeface="Arial" panose="020B0604020202020204"/>
              </a:rPr>
              <a:t> </a:t>
            </a:r>
            <a:r>
              <a:rPr sz="1000" i="1" spc="-30" dirty="0">
                <a:solidFill>
                  <a:srgbClr val="9CA2AF"/>
                </a:solidFill>
                <a:latin typeface="Arial" panose="020B0604020202020204"/>
                <a:cs typeface="Arial" panose="020B0604020202020204"/>
              </a:rPr>
              <a:t>plugin</a:t>
            </a:r>
            <a:r>
              <a:rPr sz="1000" i="1" spc="-20" dirty="0">
                <a:solidFill>
                  <a:srgbClr val="9CA2AF"/>
                </a:solidFill>
                <a:latin typeface="Arial" panose="020B0604020202020204"/>
                <a:cs typeface="Arial" panose="020B0604020202020204"/>
              </a:rPr>
              <a:t> </a:t>
            </a:r>
            <a:r>
              <a:rPr sz="1000" i="1" spc="-10" dirty="0">
                <a:solidFill>
                  <a:srgbClr val="9CA2AF"/>
                </a:solidFill>
                <a:latin typeface="Arial" panose="020B0604020202020204"/>
                <a:cs typeface="Arial" panose="020B0604020202020204"/>
              </a:rPr>
              <a:t>architecture</a:t>
            </a:r>
            <a:r>
              <a:rPr sz="1000" i="1" spc="-15" dirty="0">
                <a:solidFill>
                  <a:srgbClr val="9CA2AF"/>
                </a:solidFill>
                <a:latin typeface="Arial" panose="020B0604020202020204"/>
                <a:cs typeface="Arial" panose="020B0604020202020204"/>
              </a:rPr>
              <a:t> </a:t>
            </a:r>
            <a:r>
              <a:rPr sz="1000" i="1" spc="-30" dirty="0">
                <a:solidFill>
                  <a:srgbClr val="9CA2AF"/>
                </a:solidFill>
                <a:latin typeface="Arial" panose="020B0604020202020204"/>
                <a:cs typeface="Arial" panose="020B0604020202020204"/>
              </a:rPr>
              <a:t>showing</a:t>
            </a:r>
            <a:r>
              <a:rPr sz="1000" i="1" spc="-40" dirty="0">
                <a:solidFill>
                  <a:srgbClr val="9CA2AF"/>
                </a:solidFill>
                <a:latin typeface="Arial" panose="020B0604020202020204"/>
                <a:cs typeface="Arial" panose="020B0604020202020204"/>
              </a:rPr>
              <a:t> </a:t>
            </a:r>
            <a:r>
              <a:rPr sz="1000" i="1" spc="-10" dirty="0">
                <a:solidFill>
                  <a:srgbClr val="9CA2AF"/>
                </a:solidFill>
                <a:latin typeface="Arial" panose="020B0604020202020204"/>
                <a:cs typeface="Arial" panose="020B0604020202020204"/>
              </a:rPr>
              <a:t>spectral </a:t>
            </a:r>
            <a:r>
              <a:rPr sz="1000" i="1" spc="-25" dirty="0">
                <a:solidFill>
                  <a:srgbClr val="9CA2AF"/>
                </a:solidFill>
                <a:latin typeface="Arial" panose="020B0604020202020204"/>
                <a:cs typeface="Arial" panose="020B0604020202020204"/>
              </a:rPr>
              <a:t>decomposition</a:t>
            </a:r>
            <a:r>
              <a:rPr sz="1000" i="1" spc="-20" dirty="0">
                <a:solidFill>
                  <a:srgbClr val="9CA2AF"/>
                </a:solidFill>
                <a:latin typeface="Arial" panose="020B0604020202020204"/>
                <a:cs typeface="Arial" panose="020B0604020202020204"/>
              </a:rPr>
              <a:t> </a:t>
            </a:r>
            <a:r>
              <a:rPr sz="1000" i="1" spc="-10" dirty="0">
                <a:solidFill>
                  <a:srgbClr val="9CA2AF"/>
                </a:solidFill>
                <a:latin typeface="Arial" panose="020B0604020202020204"/>
                <a:cs typeface="Arial" panose="020B0604020202020204"/>
              </a:rPr>
              <a:t>paths.</a:t>
            </a:r>
            <a:endParaRPr sz="1000">
              <a:latin typeface="Arial" panose="020B0604020202020204"/>
              <a:cs typeface="Arial" panose="020B0604020202020204"/>
            </a:endParaRPr>
          </a:p>
        </p:txBody>
      </p:sp>
      <p:grpSp>
        <p:nvGrpSpPr>
          <p:cNvPr id="33" name="object 33"/>
          <p:cNvGrpSpPr/>
          <p:nvPr/>
        </p:nvGrpSpPr>
        <p:grpSpPr>
          <a:xfrm>
            <a:off x="5095875" y="1435099"/>
            <a:ext cx="6477000" cy="5095875"/>
            <a:chOff x="5172075" y="1362074"/>
            <a:chExt cx="6477000" cy="5095875"/>
          </a:xfrm>
        </p:grpSpPr>
        <p:sp>
          <p:nvSpPr>
            <p:cNvPr id="34" name="object 34"/>
            <p:cNvSpPr/>
            <p:nvPr/>
          </p:nvSpPr>
          <p:spPr>
            <a:xfrm>
              <a:off x="5253037" y="1785937"/>
              <a:ext cx="6315075" cy="4286250"/>
            </a:xfrm>
            <a:custGeom>
              <a:avLst/>
              <a:gdLst/>
              <a:ahLst/>
              <a:cxnLst/>
              <a:rect l="l" t="t" r="r" b="b"/>
              <a:pathLst>
                <a:path w="6315075" h="4286250">
                  <a:moveTo>
                    <a:pt x="6248327" y="4286249"/>
                  </a:moveTo>
                  <a:lnTo>
                    <a:pt x="66746" y="4286249"/>
                  </a:lnTo>
                  <a:lnTo>
                    <a:pt x="62101" y="4285791"/>
                  </a:lnTo>
                  <a:lnTo>
                    <a:pt x="24240" y="4268641"/>
                  </a:lnTo>
                  <a:lnTo>
                    <a:pt x="2287" y="4233348"/>
                  </a:lnTo>
                  <a:lnTo>
                    <a:pt x="0" y="4219502"/>
                  </a:lnTo>
                  <a:lnTo>
                    <a:pt x="0" y="4214811"/>
                  </a:lnTo>
                  <a:lnTo>
                    <a:pt x="0" y="66746"/>
                  </a:lnTo>
                  <a:lnTo>
                    <a:pt x="14645" y="27848"/>
                  </a:lnTo>
                  <a:lnTo>
                    <a:pt x="48433" y="3642"/>
                  </a:lnTo>
                  <a:lnTo>
                    <a:pt x="66746" y="0"/>
                  </a:lnTo>
                  <a:lnTo>
                    <a:pt x="6248327" y="0"/>
                  </a:lnTo>
                  <a:lnTo>
                    <a:pt x="6287225" y="14645"/>
                  </a:lnTo>
                  <a:lnTo>
                    <a:pt x="6311430" y="48433"/>
                  </a:lnTo>
                  <a:lnTo>
                    <a:pt x="6315073" y="66746"/>
                  </a:lnTo>
                  <a:lnTo>
                    <a:pt x="6315073" y="4219502"/>
                  </a:lnTo>
                  <a:lnTo>
                    <a:pt x="6300427" y="4258399"/>
                  </a:lnTo>
                  <a:lnTo>
                    <a:pt x="6266640" y="4282606"/>
                  </a:lnTo>
                  <a:lnTo>
                    <a:pt x="6252972" y="4285791"/>
                  </a:lnTo>
                  <a:lnTo>
                    <a:pt x="6248327" y="4286249"/>
                  </a:lnTo>
                  <a:close/>
                </a:path>
              </a:pathLst>
            </a:custGeom>
            <a:solidFill>
              <a:srgbClr val="F9FAFA"/>
            </a:solidFill>
          </p:spPr>
          <p:txBody>
            <a:bodyPr wrap="square" lIns="0" tIns="0" rIns="0" bIns="0" rtlCol="0"/>
            <a:lstStyle/>
            <a:p/>
          </p:txBody>
        </p:sp>
        <p:sp>
          <p:nvSpPr>
            <p:cNvPr id="35" name="object 35"/>
            <p:cNvSpPr/>
            <p:nvPr/>
          </p:nvSpPr>
          <p:spPr>
            <a:xfrm>
              <a:off x="5253037" y="1785937"/>
              <a:ext cx="6315075" cy="4286250"/>
            </a:xfrm>
            <a:custGeom>
              <a:avLst/>
              <a:gdLst/>
              <a:ahLst/>
              <a:cxnLst/>
              <a:rect l="l" t="t" r="r" b="b"/>
              <a:pathLst>
                <a:path w="6315075" h="4286250">
                  <a:moveTo>
                    <a:pt x="0" y="4214811"/>
                  </a:moveTo>
                  <a:lnTo>
                    <a:pt x="0" y="71437"/>
                  </a:lnTo>
                  <a:lnTo>
                    <a:pt x="0" y="66746"/>
                  </a:lnTo>
                  <a:lnTo>
                    <a:pt x="457" y="62101"/>
                  </a:lnTo>
                  <a:lnTo>
                    <a:pt x="1372" y="57500"/>
                  </a:lnTo>
                  <a:lnTo>
                    <a:pt x="2287" y="52900"/>
                  </a:lnTo>
                  <a:lnTo>
                    <a:pt x="3642" y="48433"/>
                  </a:lnTo>
                  <a:lnTo>
                    <a:pt x="5437" y="44099"/>
                  </a:lnTo>
                  <a:lnTo>
                    <a:pt x="7232" y="39765"/>
                  </a:lnTo>
                  <a:lnTo>
                    <a:pt x="20923" y="20923"/>
                  </a:lnTo>
                  <a:lnTo>
                    <a:pt x="24240" y="17606"/>
                  </a:lnTo>
                  <a:lnTo>
                    <a:pt x="62101" y="457"/>
                  </a:lnTo>
                  <a:lnTo>
                    <a:pt x="66746" y="0"/>
                  </a:lnTo>
                  <a:lnTo>
                    <a:pt x="71437" y="0"/>
                  </a:lnTo>
                  <a:lnTo>
                    <a:pt x="6243636" y="0"/>
                  </a:lnTo>
                  <a:lnTo>
                    <a:pt x="6248327" y="0"/>
                  </a:lnTo>
                  <a:lnTo>
                    <a:pt x="6252972" y="457"/>
                  </a:lnTo>
                  <a:lnTo>
                    <a:pt x="6257573" y="1372"/>
                  </a:lnTo>
                  <a:lnTo>
                    <a:pt x="6262173" y="2287"/>
                  </a:lnTo>
                  <a:lnTo>
                    <a:pt x="6294150" y="20923"/>
                  </a:lnTo>
                  <a:lnTo>
                    <a:pt x="6297467" y="24240"/>
                  </a:lnTo>
                  <a:lnTo>
                    <a:pt x="6300427" y="27848"/>
                  </a:lnTo>
                  <a:lnTo>
                    <a:pt x="6303033" y="31748"/>
                  </a:lnTo>
                  <a:lnTo>
                    <a:pt x="6305639" y="35649"/>
                  </a:lnTo>
                  <a:lnTo>
                    <a:pt x="6315074" y="71437"/>
                  </a:lnTo>
                  <a:lnTo>
                    <a:pt x="6315074" y="4214811"/>
                  </a:lnTo>
                  <a:lnTo>
                    <a:pt x="6303033" y="4254499"/>
                  </a:lnTo>
                  <a:lnTo>
                    <a:pt x="6300427" y="4258399"/>
                  </a:lnTo>
                  <a:lnTo>
                    <a:pt x="6270974" y="4280810"/>
                  </a:lnTo>
                  <a:lnTo>
                    <a:pt x="6266640" y="4282606"/>
                  </a:lnTo>
                  <a:lnTo>
                    <a:pt x="6262173" y="4283961"/>
                  </a:lnTo>
                  <a:lnTo>
                    <a:pt x="6257573" y="4284876"/>
                  </a:lnTo>
                  <a:lnTo>
                    <a:pt x="6252972" y="4285791"/>
                  </a:lnTo>
                  <a:lnTo>
                    <a:pt x="6248327" y="4286249"/>
                  </a:lnTo>
                  <a:lnTo>
                    <a:pt x="6243636" y="4286249"/>
                  </a:lnTo>
                  <a:lnTo>
                    <a:pt x="71437" y="4286249"/>
                  </a:lnTo>
                  <a:lnTo>
                    <a:pt x="66746" y="4286249"/>
                  </a:lnTo>
                  <a:lnTo>
                    <a:pt x="62101" y="4285791"/>
                  </a:lnTo>
                  <a:lnTo>
                    <a:pt x="57500" y="4284875"/>
                  </a:lnTo>
                  <a:lnTo>
                    <a:pt x="52900" y="4283961"/>
                  </a:lnTo>
                  <a:lnTo>
                    <a:pt x="48433" y="4282606"/>
                  </a:lnTo>
                  <a:lnTo>
                    <a:pt x="44099" y="4280810"/>
                  </a:lnTo>
                  <a:lnTo>
                    <a:pt x="39765" y="4279015"/>
                  </a:lnTo>
                  <a:lnTo>
                    <a:pt x="9433" y="4250599"/>
                  </a:lnTo>
                  <a:lnTo>
                    <a:pt x="0" y="4219502"/>
                  </a:lnTo>
                  <a:lnTo>
                    <a:pt x="0" y="4214811"/>
                  </a:lnTo>
                </a:path>
              </a:pathLst>
            </a:custGeom>
            <a:ln w="9524">
              <a:solidFill>
                <a:srgbClr val="F2F4F5"/>
              </a:solidFill>
            </a:ln>
          </p:spPr>
          <p:txBody>
            <a:bodyPr wrap="square" lIns="0" tIns="0" rIns="0" bIns="0" rtlCol="0"/>
            <a:lstStyle/>
            <a:p/>
          </p:txBody>
        </p:sp>
        <p:pic>
          <p:nvPicPr>
            <p:cNvPr id="36" name="object 36"/>
            <p:cNvPicPr/>
            <p:nvPr/>
          </p:nvPicPr>
          <p:blipFill>
            <a:blip r:embed="rId3" cstate="print"/>
            <a:stretch>
              <a:fillRect/>
            </a:stretch>
          </p:blipFill>
          <p:spPr>
            <a:xfrm>
              <a:off x="5562599" y="2438399"/>
              <a:ext cx="5695950" cy="2981324"/>
            </a:xfrm>
            <a:prstGeom prst="rect">
              <a:avLst/>
            </a:prstGeom>
          </p:spPr>
        </p:pic>
        <p:sp>
          <p:nvSpPr>
            <p:cNvPr id="37" name="object 37"/>
            <p:cNvSpPr/>
            <p:nvPr/>
          </p:nvSpPr>
          <p:spPr>
            <a:xfrm>
              <a:off x="5172075" y="1362074"/>
              <a:ext cx="6477000" cy="5095875"/>
            </a:xfrm>
            <a:custGeom>
              <a:avLst/>
              <a:gdLst/>
              <a:ahLst/>
              <a:cxnLst/>
              <a:rect l="l" t="t" r="r" b="b"/>
              <a:pathLst>
                <a:path w="6477000" h="5095875">
                  <a:moveTo>
                    <a:pt x="152400" y="5086350"/>
                  </a:moveTo>
                  <a:lnTo>
                    <a:pt x="9525" y="5086350"/>
                  </a:lnTo>
                  <a:lnTo>
                    <a:pt x="9525" y="4943475"/>
                  </a:lnTo>
                  <a:lnTo>
                    <a:pt x="0" y="4943475"/>
                  </a:lnTo>
                  <a:lnTo>
                    <a:pt x="0" y="5086350"/>
                  </a:lnTo>
                  <a:lnTo>
                    <a:pt x="0" y="5095875"/>
                  </a:lnTo>
                  <a:lnTo>
                    <a:pt x="9525" y="5095875"/>
                  </a:lnTo>
                  <a:lnTo>
                    <a:pt x="152400" y="5095875"/>
                  </a:lnTo>
                  <a:lnTo>
                    <a:pt x="152400" y="5086350"/>
                  </a:lnTo>
                  <a:close/>
                </a:path>
                <a:path w="6477000" h="5095875">
                  <a:moveTo>
                    <a:pt x="6476987" y="0"/>
                  </a:moveTo>
                  <a:lnTo>
                    <a:pt x="6467462" y="0"/>
                  </a:lnTo>
                  <a:lnTo>
                    <a:pt x="6324587" y="0"/>
                  </a:lnTo>
                  <a:lnTo>
                    <a:pt x="6324587" y="9525"/>
                  </a:lnTo>
                  <a:lnTo>
                    <a:pt x="6467462" y="9525"/>
                  </a:lnTo>
                  <a:lnTo>
                    <a:pt x="6467462" y="152400"/>
                  </a:lnTo>
                  <a:lnTo>
                    <a:pt x="6476987" y="152400"/>
                  </a:lnTo>
                  <a:lnTo>
                    <a:pt x="6476987" y="9525"/>
                  </a:lnTo>
                  <a:lnTo>
                    <a:pt x="6476987" y="0"/>
                  </a:lnTo>
                  <a:close/>
                </a:path>
              </a:pathLst>
            </a:custGeom>
            <a:solidFill>
              <a:srgbClr val="D0D5DA"/>
            </a:solidFill>
          </p:spPr>
          <p:txBody>
            <a:bodyPr wrap="square" lIns="0" tIns="0" rIns="0" bIns="0" rtlCol="0"/>
            <a:lstStyle/>
            <a:p/>
          </p:txBody>
        </p:sp>
      </p:grpSp>
      <p:sp>
        <p:nvSpPr>
          <p:cNvPr id="38" name="object 38"/>
          <p:cNvSpPr/>
          <p:nvPr/>
        </p:nvSpPr>
        <p:spPr>
          <a:xfrm>
            <a:off x="0" y="0"/>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39" name="object 39"/>
          <p:cNvSpPr/>
          <p:nvPr/>
        </p:nvSpPr>
        <p:spPr>
          <a:xfrm>
            <a:off x="0" y="72675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41" name="object 41"/>
          <p:cNvSpPr txBox="1"/>
          <p:nvPr/>
        </p:nvSpPr>
        <p:spPr>
          <a:xfrm>
            <a:off x="444500" y="6699327"/>
            <a:ext cx="2597785" cy="133350"/>
          </a:xfrm>
          <a:prstGeom prst="rect">
            <a:avLst/>
          </a:prstGeom>
        </p:spPr>
        <p:txBody>
          <a:bodyPr vert="horz" wrap="square" lIns="0" tIns="0" rIns="0" bIns="0" rtlCol="0">
            <a:spAutoFit/>
          </a:bodyPr>
          <a:lstStyle/>
          <a:p>
            <a:pPr marL="12700">
              <a:lnSpc>
                <a:spcPts val="875"/>
              </a:lnSpc>
            </a:pPr>
            <a:r>
              <a:rPr sz="750" spc="-40" dirty="0">
                <a:solidFill>
                  <a:srgbClr val="9CA2AF"/>
                </a:solidFill>
                <a:latin typeface="Courier New" panose="02070309020205020404"/>
                <a:cs typeface="Courier New" panose="02070309020205020404"/>
              </a:rPr>
              <a:t>RESEARCH</a:t>
            </a:r>
            <a:r>
              <a:rPr sz="750" spc="-55" dirty="0">
                <a:solidFill>
                  <a:srgbClr val="9CA2AF"/>
                </a:solidFill>
                <a:latin typeface="Courier New" panose="02070309020205020404"/>
                <a:cs typeface="Courier New" panose="02070309020205020404"/>
              </a:rPr>
              <a:t> </a:t>
            </a:r>
            <a:r>
              <a:rPr sz="750" spc="-35" dirty="0">
                <a:solidFill>
                  <a:srgbClr val="9CA2AF"/>
                </a:solidFill>
                <a:latin typeface="Courier New" panose="02070309020205020404"/>
                <a:cs typeface="Courier New" panose="02070309020205020404"/>
              </a:rPr>
              <a:t>PREVIEW</a:t>
            </a:r>
            <a:r>
              <a:rPr sz="750" spc="-55" dirty="0">
                <a:solidFill>
                  <a:srgbClr val="9CA2AF"/>
                </a:solidFill>
                <a:latin typeface="Courier New" panose="02070309020205020404"/>
                <a:cs typeface="Courier New" panose="02070309020205020404"/>
              </a:rPr>
              <a:t> </a:t>
            </a:r>
            <a:r>
              <a:rPr sz="750" spc="-10" dirty="0">
                <a:solidFill>
                  <a:srgbClr val="9CA2AF"/>
                </a:solidFill>
                <a:latin typeface="Courier New" panose="02070309020205020404"/>
                <a:cs typeface="Courier New" panose="02070309020205020404"/>
              </a:rPr>
              <a:t>//</a:t>
            </a:r>
            <a:r>
              <a:rPr sz="750" spc="-55" dirty="0">
                <a:solidFill>
                  <a:srgbClr val="9CA2AF"/>
                </a:solidFill>
                <a:latin typeface="Courier New" panose="02070309020205020404"/>
                <a:cs typeface="Courier New" panose="02070309020205020404"/>
              </a:rPr>
              <a:t> </a:t>
            </a:r>
            <a:r>
              <a:rPr sz="750" spc="-40" dirty="0">
                <a:solidFill>
                  <a:srgbClr val="9CA2AF"/>
                </a:solidFill>
                <a:latin typeface="Courier New" panose="02070309020205020404"/>
                <a:cs typeface="Courier New" panose="02070309020205020404"/>
              </a:rPr>
              <a:t>TOPOLOGICAL</a:t>
            </a:r>
            <a:r>
              <a:rPr sz="750" spc="-55" dirty="0">
                <a:solidFill>
                  <a:srgbClr val="9CA2AF"/>
                </a:solidFill>
                <a:latin typeface="Courier New" panose="02070309020205020404"/>
                <a:cs typeface="Courier New" panose="02070309020205020404"/>
              </a:rPr>
              <a:t> </a:t>
            </a:r>
            <a:r>
              <a:rPr sz="750" spc="-40" dirty="0">
                <a:solidFill>
                  <a:srgbClr val="9CA2AF"/>
                </a:solidFill>
                <a:latin typeface="Courier New" panose="02070309020205020404"/>
                <a:cs typeface="Courier New" panose="02070309020205020404"/>
              </a:rPr>
              <a:t>SPECTRAL</a:t>
            </a:r>
            <a:r>
              <a:rPr sz="750" spc="-50" dirty="0">
                <a:solidFill>
                  <a:srgbClr val="9CA2AF"/>
                </a:solidFill>
                <a:latin typeface="Courier New" panose="02070309020205020404"/>
                <a:cs typeface="Courier New" panose="02070309020205020404"/>
              </a:rPr>
              <a:t> </a:t>
            </a:r>
            <a:r>
              <a:rPr sz="750" spc="-25" dirty="0">
                <a:solidFill>
                  <a:srgbClr val="9CA2AF"/>
                </a:solidFill>
                <a:latin typeface="Courier New" panose="02070309020205020404"/>
                <a:cs typeface="Courier New" panose="02070309020205020404"/>
              </a:rPr>
              <a:t>ANALYSIS</a:t>
            </a:r>
            <a:endParaRPr sz="750">
              <a:latin typeface="Courier New" panose="02070309020205020404"/>
              <a:cs typeface="Courier New" panose="02070309020205020404"/>
            </a:endParaRPr>
          </a:p>
        </p:txBody>
      </p:sp>
      <p:pic>
        <p:nvPicPr>
          <p:cNvPr id="40" name="图片 39"/>
          <p:cNvPicPr>
            <a:picLocks noChangeAspect="1"/>
          </p:cNvPicPr>
          <p:nvPr/>
        </p:nvPicPr>
        <p:blipFill>
          <a:blip r:embed="rId4"/>
          <a:stretch>
            <a:fillRect/>
          </a:stretch>
        </p:blipFill>
        <p:spPr>
          <a:xfrm>
            <a:off x="596900" y="3829050"/>
            <a:ext cx="4319270" cy="393700"/>
          </a:xfrm>
          <a:prstGeom prst="rect">
            <a:avLst/>
          </a:prstGeom>
        </p:spPr>
      </p:pic>
      <p:pic>
        <p:nvPicPr>
          <p:cNvPr id="42" name="图片 41"/>
          <p:cNvPicPr>
            <a:picLocks noChangeAspect="1"/>
          </p:cNvPicPr>
          <p:nvPr/>
        </p:nvPicPr>
        <p:blipFill>
          <a:blip r:embed="rId5"/>
          <a:stretch>
            <a:fillRect/>
          </a:stretch>
        </p:blipFill>
        <p:spPr>
          <a:xfrm>
            <a:off x="2967990" y="4638675"/>
            <a:ext cx="1593850" cy="5213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5" dirty="0"/>
              <a:t>深</a:t>
            </a:r>
            <a:r>
              <a:rPr b="1" spc="-305" dirty="0">
                <a:latin typeface="微软雅黑" panose="020B0503020204020204" charset="-122"/>
                <a:cs typeface="微软雅黑" panose="020B0503020204020204" charset="-122"/>
              </a:rPr>
              <a:t>度</a:t>
            </a:r>
            <a:r>
              <a:rPr spc="-200" dirty="0"/>
              <a:t>剖析 </a:t>
            </a:r>
            <a:r>
              <a:rPr sz="2850" b="1" spc="-320" dirty="0">
                <a:latin typeface="Calibri" panose="020F0502020204030204"/>
                <a:cs typeface="Calibri" panose="020F0502020204030204"/>
              </a:rPr>
              <a:t>1</a:t>
            </a:r>
            <a:r>
              <a:rPr spc="-320" dirty="0"/>
              <a:t>：</a:t>
            </a:r>
            <a:r>
              <a:rPr b="1" spc="-305" dirty="0">
                <a:latin typeface="微软雅黑" panose="020B0503020204020204" charset="-122"/>
                <a:cs typeface="微软雅黑" panose="020B0503020204020204" charset="-122"/>
              </a:rPr>
              <a:t>图谱通道</a:t>
            </a:r>
            <a:r>
              <a:rPr sz="2850" b="1" spc="240" dirty="0">
                <a:latin typeface="Calibri" panose="020F0502020204030204"/>
                <a:cs typeface="Calibri" panose="020F0502020204030204"/>
              </a:rPr>
              <a:t>-</a:t>
            </a:r>
            <a:r>
              <a:rPr b="1" spc="-305" dirty="0">
                <a:latin typeface="微软雅黑" panose="020B0503020204020204" charset="-122"/>
                <a:cs typeface="微软雅黑" panose="020B0503020204020204" charset="-122"/>
              </a:rPr>
              <a:t>补</a:t>
            </a:r>
            <a:r>
              <a:rPr spc="-305" dirty="0"/>
              <a:t>丁嵌</a:t>
            </a:r>
            <a:r>
              <a:rPr b="1" spc="-180" dirty="0">
                <a:latin typeface="微软雅黑" panose="020B0503020204020204" charset="-122"/>
                <a:cs typeface="微软雅黑" panose="020B0503020204020204" charset="-122"/>
              </a:rPr>
              <a:t>入 </a:t>
            </a:r>
            <a:r>
              <a:rPr sz="2850" b="1" spc="150" dirty="0">
                <a:latin typeface="Calibri" panose="020F0502020204030204"/>
                <a:cs typeface="Calibri" panose="020F0502020204030204"/>
              </a:rPr>
              <a:t>(</a:t>
            </a:r>
            <a:r>
              <a:rPr spc="-305" dirty="0"/>
              <a:t>共享傅里叶基</a:t>
            </a:r>
            <a:r>
              <a:rPr sz="2850" b="1" spc="25" dirty="0">
                <a:latin typeface="Calibri" panose="020F0502020204030204"/>
                <a:cs typeface="Calibri" panose="020F0502020204030204"/>
              </a:rPr>
              <a:t>)</a:t>
            </a:r>
            <a:endParaRPr sz="2850">
              <a:latin typeface="Calibri" panose="020F0502020204030204"/>
              <a:cs typeface="Calibri" panose="020F0502020204030204"/>
            </a:endParaRPr>
          </a:p>
        </p:txBody>
      </p:sp>
      <p:grpSp>
        <p:nvGrpSpPr>
          <p:cNvPr id="3" name="object 3"/>
          <p:cNvGrpSpPr/>
          <p:nvPr/>
        </p:nvGrpSpPr>
        <p:grpSpPr>
          <a:xfrm>
            <a:off x="457200" y="1352549"/>
            <a:ext cx="4324350" cy="5257800"/>
            <a:chOff x="457200" y="1352549"/>
            <a:chExt cx="4324350" cy="5257800"/>
          </a:xfrm>
        </p:grpSpPr>
        <p:sp>
          <p:nvSpPr>
            <p:cNvPr id="4" name="object 4"/>
            <p:cNvSpPr/>
            <p:nvPr/>
          </p:nvSpPr>
          <p:spPr>
            <a:xfrm>
              <a:off x="457200" y="1352549"/>
              <a:ext cx="4324350" cy="5257800"/>
            </a:xfrm>
            <a:custGeom>
              <a:avLst/>
              <a:gdLst/>
              <a:ahLst/>
              <a:cxnLst/>
              <a:rect l="l" t="t" r="r" b="b"/>
              <a:pathLst>
                <a:path w="4324350" h="5257800">
                  <a:moveTo>
                    <a:pt x="4324349" y="5257799"/>
                  </a:moveTo>
                  <a:lnTo>
                    <a:pt x="0" y="5257799"/>
                  </a:lnTo>
                  <a:lnTo>
                    <a:pt x="0" y="0"/>
                  </a:lnTo>
                  <a:lnTo>
                    <a:pt x="4324349" y="0"/>
                  </a:lnTo>
                  <a:lnTo>
                    <a:pt x="4324349" y="5257799"/>
                  </a:lnTo>
                  <a:close/>
                </a:path>
              </a:pathLst>
            </a:custGeom>
            <a:solidFill>
              <a:srgbClr val="F9FAFA"/>
            </a:solidFill>
          </p:spPr>
          <p:txBody>
            <a:bodyPr wrap="square" lIns="0" tIns="0" rIns="0" bIns="0" rtlCol="0"/>
            <a:lstStyle/>
            <a:p/>
          </p:txBody>
        </p:sp>
        <p:sp>
          <p:nvSpPr>
            <p:cNvPr id="5" name="object 5"/>
            <p:cNvSpPr/>
            <p:nvPr/>
          </p:nvSpPr>
          <p:spPr>
            <a:xfrm>
              <a:off x="457187" y="1352549"/>
              <a:ext cx="571500" cy="5257800"/>
            </a:xfrm>
            <a:custGeom>
              <a:avLst/>
              <a:gdLst/>
              <a:ahLst/>
              <a:cxnLst/>
              <a:rect l="l" t="t" r="r" b="b"/>
              <a:pathLst>
                <a:path w="571500" h="5257800">
                  <a:moveTo>
                    <a:pt x="38100" y="0"/>
                  </a:moveTo>
                  <a:lnTo>
                    <a:pt x="0" y="0"/>
                  </a:lnTo>
                  <a:lnTo>
                    <a:pt x="0" y="5257800"/>
                  </a:lnTo>
                  <a:lnTo>
                    <a:pt x="38100" y="5257800"/>
                  </a:lnTo>
                  <a:lnTo>
                    <a:pt x="38100" y="0"/>
                  </a:lnTo>
                  <a:close/>
                </a:path>
                <a:path w="571500" h="5257800">
                  <a:moveTo>
                    <a:pt x="571500" y="381000"/>
                  </a:moveTo>
                  <a:lnTo>
                    <a:pt x="564946" y="336765"/>
                  </a:lnTo>
                  <a:lnTo>
                    <a:pt x="545820" y="296341"/>
                  </a:lnTo>
                  <a:lnTo>
                    <a:pt x="515785" y="263194"/>
                  </a:lnTo>
                  <a:lnTo>
                    <a:pt x="477431" y="240207"/>
                  </a:lnTo>
                  <a:lnTo>
                    <a:pt x="434047" y="229336"/>
                  </a:lnTo>
                  <a:lnTo>
                    <a:pt x="419100" y="228600"/>
                  </a:lnTo>
                  <a:lnTo>
                    <a:pt x="411619" y="228790"/>
                  </a:lnTo>
                  <a:lnTo>
                    <a:pt x="367766" y="237515"/>
                  </a:lnTo>
                  <a:lnTo>
                    <a:pt x="328307" y="258597"/>
                  </a:lnTo>
                  <a:lnTo>
                    <a:pt x="296697" y="290207"/>
                  </a:lnTo>
                  <a:lnTo>
                    <a:pt x="275615" y="329666"/>
                  </a:lnTo>
                  <a:lnTo>
                    <a:pt x="266890" y="373519"/>
                  </a:lnTo>
                  <a:lnTo>
                    <a:pt x="266700" y="381000"/>
                  </a:lnTo>
                  <a:lnTo>
                    <a:pt x="266890" y="388493"/>
                  </a:lnTo>
                  <a:lnTo>
                    <a:pt x="275615" y="432346"/>
                  </a:lnTo>
                  <a:lnTo>
                    <a:pt x="296697" y="471792"/>
                  </a:lnTo>
                  <a:lnTo>
                    <a:pt x="328307" y="503415"/>
                  </a:lnTo>
                  <a:lnTo>
                    <a:pt x="367766" y="524497"/>
                  </a:lnTo>
                  <a:lnTo>
                    <a:pt x="411619" y="533222"/>
                  </a:lnTo>
                  <a:lnTo>
                    <a:pt x="419100" y="533400"/>
                  </a:lnTo>
                  <a:lnTo>
                    <a:pt x="426593" y="533222"/>
                  </a:lnTo>
                  <a:lnTo>
                    <a:pt x="470446" y="524497"/>
                  </a:lnTo>
                  <a:lnTo>
                    <a:pt x="509905" y="503415"/>
                  </a:lnTo>
                  <a:lnTo>
                    <a:pt x="541515" y="471792"/>
                  </a:lnTo>
                  <a:lnTo>
                    <a:pt x="562597" y="432346"/>
                  </a:lnTo>
                  <a:lnTo>
                    <a:pt x="571322" y="388493"/>
                  </a:lnTo>
                  <a:lnTo>
                    <a:pt x="571500" y="381000"/>
                  </a:lnTo>
                  <a:close/>
                </a:path>
              </a:pathLst>
            </a:custGeom>
            <a:solidFill>
              <a:srgbClr val="000000"/>
            </a:solidFill>
          </p:spPr>
          <p:txBody>
            <a:bodyPr wrap="square" lIns="0" tIns="0" rIns="0" bIns="0" rtlCol="0"/>
            <a:lstStyle/>
            <a:p/>
          </p:txBody>
        </p:sp>
      </p:grpSp>
      <p:sp>
        <p:nvSpPr>
          <p:cNvPr id="6" name="object 6"/>
          <p:cNvSpPr txBox="1"/>
          <p:nvPr/>
        </p:nvSpPr>
        <p:spPr>
          <a:xfrm>
            <a:off x="796230" y="1616075"/>
            <a:ext cx="173355" cy="185420"/>
          </a:xfrm>
          <a:prstGeom prst="rect">
            <a:avLst/>
          </a:prstGeom>
        </p:spPr>
        <p:txBody>
          <a:bodyPr vert="horz" wrap="square" lIns="0" tIns="12700" rIns="0" bIns="0" rtlCol="0">
            <a:spAutoFit/>
          </a:bodyPr>
          <a:lstStyle/>
          <a:p>
            <a:pPr>
              <a:lnSpc>
                <a:spcPct val="100000"/>
              </a:lnSpc>
              <a:spcBef>
                <a:spcPts val="100"/>
              </a:spcBef>
            </a:pPr>
            <a:r>
              <a:rPr sz="1050" b="1" spc="-25" dirty="0">
                <a:solidFill>
                  <a:srgbClr val="FFFFFF"/>
                </a:solidFill>
                <a:latin typeface="Courier New" panose="02070309020205020404"/>
                <a:cs typeface="Courier New" panose="02070309020205020404"/>
              </a:rPr>
              <a:t>01</a:t>
            </a:r>
            <a:endParaRPr sz="1050">
              <a:latin typeface="Courier New" panose="02070309020205020404"/>
              <a:cs typeface="Courier New" panose="02070309020205020404"/>
            </a:endParaRPr>
          </a:p>
        </p:txBody>
      </p:sp>
      <p:sp>
        <p:nvSpPr>
          <p:cNvPr id="7" name="object 7"/>
          <p:cNvSpPr txBox="1"/>
          <p:nvPr/>
        </p:nvSpPr>
        <p:spPr>
          <a:xfrm>
            <a:off x="1143000" y="1587500"/>
            <a:ext cx="2247900" cy="254000"/>
          </a:xfrm>
          <a:prstGeom prst="rect">
            <a:avLst/>
          </a:prstGeom>
        </p:spPr>
        <p:txBody>
          <a:bodyPr vert="horz" wrap="square" lIns="0" tIns="12700" rIns="0" bIns="0" rtlCol="0">
            <a:spAutoFit/>
          </a:bodyPr>
          <a:lstStyle/>
          <a:p>
            <a:pPr>
              <a:lnSpc>
                <a:spcPct val="100000"/>
              </a:lnSpc>
              <a:spcBef>
                <a:spcPts val="100"/>
              </a:spcBef>
            </a:pPr>
            <a:r>
              <a:rPr sz="1500" spc="-110" dirty="0">
                <a:latin typeface="宋体" panose="02010600030101010101" pitchFamily="2" charset="-122"/>
                <a:cs typeface="宋体" panose="02010600030101010101" pitchFamily="2" charset="-122"/>
              </a:rPr>
              <a:t>图构建 (</a:t>
            </a:r>
            <a:r>
              <a:rPr sz="1500" spc="-75" dirty="0">
                <a:latin typeface="宋体" panose="02010600030101010101" pitchFamily="2" charset="-122"/>
                <a:cs typeface="宋体" panose="02010600030101010101" pitchFamily="2" charset="-122"/>
              </a:rPr>
              <a:t>Graph</a:t>
            </a:r>
            <a:r>
              <a:rPr sz="1500" spc="-350" dirty="0">
                <a:latin typeface="宋体" panose="02010600030101010101" pitchFamily="2" charset="-122"/>
                <a:cs typeface="宋体" panose="02010600030101010101" pitchFamily="2" charset="-122"/>
              </a:rPr>
              <a:t> </a:t>
            </a:r>
            <a:r>
              <a:rPr sz="1500" spc="-105" dirty="0">
                <a:latin typeface="宋体" panose="02010600030101010101" pitchFamily="2" charset="-122"/>
                <a:cs typeface="宋体" panose="02010600030101010101" pitchFamily="2" charset="-122"/>
              </a:rPr>
              <a:t>Construction)</a:t>
            </a:r>
            <a:endParaRPr sz="1500">
              <a:latin typeface="宋体" panose="02010600030101010101" pitchFamily="2" charset="-122"/>
              <a:cs typeface="宋体" panose="02010600030101010101" pitchFamily="2" charset="-122"/>
            </a:endParaRPr>
          </a:p>
        </p:txBody>
      </p:sp>
      <p:sp>
        <p:nvSpPr>
          <p:cNvPr id="9" name="object 9"/>
          <p:cNvSpPr/>
          <p:nvPr/>
        </p:nvSpPr>
        <p:spPr>
          <a:xfrm>
            <a:off x="723900" y="2895600"/>
            <a:ext cx="57150" cy="57150"/>
          </a:xfrm>
          <a:custGeom>
            <a:avLst/>
            <a:gdLst/>
            <a:ahLst/>
            <a:cxnLst/>
            <a:rect l="l" t="t" r="r" b="b"/>
            <a:pathLst>
              <a:path w="57150" h="57150">
                <a:moveTo>
                  <a:pt x="32364" y="57149"/>
                </a:moveTo>
                <a:lnTo>
                  <a:pt x="24785" y="57149"/>
                </a:lnTo>
                <a:lnTo>
                  <a:pt x="21140" y="56424"/>
                </a:lnTo>
                <a:lnTo>
                  <a:pt x="0" y="32364"/>
                </a:lnTo>
                <a:lnTo>
                  <a:pt x="0" y="24785"/>
                </a:lnTo>
                <a:lnTo>
                  <a:pt x="24785" y="0"/>
                </a:lnTo>
                <a:lnTo>
                  <a:pt x="32364" y="0"/>
                </a:lnTo>
                <a:lnTo>
                  <a:pt x="57150" y="28574"/>
                </a:lnTo>
                <a:lnTo>
                  <a:pt x="57149" y="32364"/>
                </a:lnTo>
                <a:lnTo>
                  <a:pt x="32364" y="57149"/>
                </a:lnTo>
                <a:close/>
              </a:path>
            </a:pathLst>
          </a:custGeom>
          <a:solidFill>
            <a:srgbClr val="000000"/>
          </a:solidFill>
        </p:spPr>
        <p:txBody>
          <a:bodyPr wrap="square" lIns="0" tIns="0" rIns="0" bIns="0" rtlCol="0"/>
          <a:lstStyle/>
          <a:p/>
        </p:txBody>
      </p:sp>
      <p:sp>
        <p:nvSpPr>
          <p:cNvPr id="15" name="object 15"/>
          <p:cNvSpPr txBox="1"/>
          <p:nvPr/>
        </p:nvSpPr>
        <p:spPr>
          <a:xfrm>
            <a:off x="895350" y="2808262"/>
            <a:ext cx="3651250" cy="406400"/>
          </a:xfrm>
          <a:prstGeom prst="rect">
            <a:avLst/>
          </a:prstGeom>
        </p:spPr>
        <p:txBody>
          <a:bodyPr vert="horz" wrap="square" lIns="0" tIns="11430" rIns="0" bIns="0" rtlCol="0">
            <a:spAutoFit/>
          </a:bodyPr>
          <a:lstStyle/>
          <a:p>
            <a:pPr marR="5080">
              <a:lnSpc>
                <a:spcPct val="109000"/>
              </a:lnSpc>
              <a:spcBef>
                <a:spcPts val="90"/>
              </a:spcBef>
            </a:pPr>
            <a:r>
              <a:rPr sz="1150" b="1" spc="-110" dirty="0">
                <a:latin typeface="微软雅黑" panose="020B0503020204020204" charset="-122"/>
                <a:cs typeface="微软雅黑" panose="020B0503020204020204" charset="-122"/>
              </a:rPr>
              <a:t>量纲无关性</a:t>
            </a:r>
            <a:r>
              <a:rPr sz="1150" b="1" spc="-55" dirty="0">
                <a:latin typeface="Microsoft New Tai Lue" panose="020B0502040204020203"/>
                <a:cs typeface="Microsoft New Tai Lue" panose="020B0502040204020203"/>
              </a:rPr>
              <a:t>： </a:t>
            </a:r>
            <a:r>
              <a:rPr sz="1150" spc="-110" dirty="0">
                <a:solidFill>
                  <a:srgbClr val="374050"/>
                </a:solidFill>
                <a:latin typeface="宋体" panose="02010600030101010101" pitchFamily="2" charset="-122"/>
                <a:cs typeface="宋体" panose="02010600030101010101" pitchFamily="2" charset="-122"/>
              </a:rPr>
              <a:t>余弦相似度的尺度不变性，天然适配具有不同物</a:t>
            </a:r>
            <a:r>
              <a:rPr sz="1150" spc="-105" dirty="0">
                <a:solidFill>
                  <a:srgbClr val="374050"/>
                </a:solidFill>
                <a:latin typeface="宋体" panose="02010600030101010101" pitchFamily="2" charset="-122"/>
                <a:cs typeface="宋体" panose="02010600030101010101" pitchFamily="2" charset="-122"/>
              </a:rPr>
              <a:t>理量纲的异构变量投影。</a:t>
            </a:r>
            <a:endParaRPr sz="1150">
              <a:latin typeface="宋体" panose="02010600030101010101" pitchFamily="2" charset="-122"/>
              <a:cs typeface="宋体" panose="02010600030101010101" pitchFamily="2" charset="-122"/>
            </a:endParaRPr>
          </a:p>
        </p:txBody>
      </p:sp>
      <p:sp>
        <p:nvSpPr>
          <p:cNvPr id="16" name="object 16"/>
          <p:cNvSpPr txBox="1"/>
          <p:nvPr/>
        </p:nvSpPr>
        <p:spPr>
          <a:xfrm>
            <a:off x="698499" y="2069617"/>
            <a:ext cx="3859529" cy="509270"/>
          </a:xfrm>
          <a:prstGeom prst="rect">
            <a:avLst/>
          </a:prstGeom>
        </p:spPr>
        <p:txBody>
          <a:bodyPr vert="horz" wrap="square" lIns="0" tIns="12065" rIns="0" bIns="0" rtlCol="0">
            <a:spAutoFit/>
          </a:bodyPr>
          <a:lstStyle/>
          <a:p>
            <a:pPr marL="25400" marR="30480">
              <a:lnSpc>
                <a:spcPct val="120000"/>
              </a:lnSpc>
              <a:spcBef>
                <a:spcPts val="95"/>
              </a:spcBef>
            </a:pPr>
            <a:r>
              <a:rPr sz="1350" spc="-180" dirty="0">
                <a:solidFill>
                  <a:srgbClr val="4A5462"/>
                </a:solidFill>
                <a:latin typeface="宋体" panose="02010600030101010101" pitchFamily="2" charset="-122"/>
                <a:cs typeface="宋体" panose="02010600030101010101" pitchFamily="2" charset="-122"/>
              </a:rPr>
              <a:t>基于补丁嵌入 </a:t>
            </a:r>
            <a:r>
              <a:rPr sz="1200" b="1" dirty="0">
                <a:latin typeface="Georgia" panose="02040502050405020303"/>
                <a:cs typeface="Georgia" panose="02040502050405020303"/>
              </a:rPr>
              <a:t>X</a:t>
            </a:r>
            <a:r>
              <a:rPr sz="1200" baseline="31000" dirty="0">
                <a:latin typeface="Cambria" panose="02040503050406030204"/>
                <a:cs typeface="Cambria" panose="02040503050406030204"/>
              </a:rPr>
              <a:t>emb</a:t>
            </a:r>
            <a:r>
              <a:rPr sz="1200" spc="427" baseline="31000" dirty="0">
                <a:latin typeface="Cambria" panose="02040503050406030204"/>
                <a:cs typeface="Cambria" panose="02040503050406030204"/>
              </a:rPr>
              <a:t> </a:t>
            </a:r>
            <a:r>
              <a:rPr sz="1200" spc="45" dirty="0">
                <a:latin typeface="Cambria" panose="02040503050406030204"/>
                <a:cs typeface="Cambria" panose="02040503050406030204"/>
              </a:rPr>
              <a:t>∈ </a:t>
            </a:r>
            <a:r>
              <a:rPr sz="1200" spc="95" dirty="0">
                <a:latin typeface="Arial" panose="020B0604020202020204"/>
                <a:cs typeface="Arial" panose="020B0604020202020204"/>
              </a:rPr>
              <a:t>R</a:t>
            </a:r>
            <a:r>
              <a:rPr sz="1200" i="1" spc="142" baseline="31000" dirty="0">
                <a:latin typeface="Calibri" panose="020F0502020204030204"/>
                <a:cs typeface="Calibri" panose="020F0502020204030204"/>
              </a:rPr>
              <a:t>n</a:t>
            </a:r>
            <a:r>
              <a:rPr sz="1200" spc="142" baseline="31000" dirty="0">
                <a:latin typeface="Cambria" panose="02040503050406030204"/>
                <a:cs typeface="Cambria" panose="02040503050406030204"/>
              </a:rPr>
              <a:t>×</a:t>
            </a:r>
            <a:r>
              <a:rPr sz="1200" i="1" spc="142" baseline="31000" dirty="0">
                <a:latin typeface="Calibri" panose="020F0502020204030204"/>
                <a:cs typeface="Calibri" panose="020F0502020204030204"/>
              </a:rPr>
              <a:t>d</a:t>
            </a:r>
            <a:r>
              <a:rPr sz="1200" i="1" spc="-142" baseline="31000" dirty="0">
                <a:latin typeface="Calibri" panose="020F0502020204030204"/>
                <a:cs typeface="Calibri" panose="020F0502020204030204"/>
              </a:rPr>
              <a:t> </a:t>
            </a:r>
            <a:r>
              <a:rPr sz="1350" spc="-170" dirty="0">
                <a:solidFill>
                  <a:srgbClr val="4A5462"/>
                </a:solidFill>
                <a:latin typeface="宋体" panose="02010600030101010101" pitchFamily="2" charset="-122"/>
                <a:cs typeface="宋体" panose="02010600030101010101" pitchFamily="2" charset="-122"/>
              </a:rPr>
              <a:t>，通过计算节点间的</a:t>
            </a:r>
            <a:r>
              <a:rPr sz="1350" spc="-130" dirty="0">
                <a:solidFill>
                  <a:srgbClr val="4A5462"/>
                </a:solidFill>
                <a:latin typeface="宋体" panose="02010600030101010101" pitchFamily="2" charset="-122"/>
                <a:cs typeface="宋体" panose="02010600030101010101" pitchFamily="2" charset="-122"/>
              </a:rPr>
              <a:t>余弦相</a:t>
            </a:r>
            <a:r>
              <a:rPr sz="1350" spc="-170" dirty="0">
                <a:solidFill>
                  <a:srgbClr val="4A5462"/>
                </a:solidFill>
                <a:latin typeface="宋体" panose="02010600030101010101" pitchFamily="2" charset="-122"/>
                <a:cs typeface="宋体" panose="02010600030101010101" pitchFamily="2" charset="-122"/>
              </a:rPr>
              <a:t>似度矩阵</a:t>
            </a:r>
            <a:r>
              <a:rPr sz="1300" spc="80" dirty="0">
                <a:solidFill>
                  <a:srgbClr val="4A5462"/>
                </a:solidFill>
                <a:latin typeface="Calibri" panose="020F0502020204030204"/>
                <a:cs typeface="Calibri" panose="020F0502020204030204"/>
              </a:rPr>
              <a:t> </a:t>
            </a:r>
            <a:r>
              <a:rPr sz="1200" b="1" spc="125" dirty="0">
                <a:latin typeface="Georgia" panose="02040502050405020303"/>
                <a:cs typeface="Georgia" panose="02040502050405020303"/>
              </a:rPr>
              <a:t>A</a:t>
            </a:r>
            <a:r>
              <a:rPr sz="1200" b="1" spc="80" dirty="0">
                <a:latin typeface="Georgia" panose="02040502050405020303"/>
                <a:cs typeface="Georgia" panose="02040502050405020303"/>
              </a:rPr>
              <a:t> </a:t>
            </a:r>
            <a:r>
              <a:rPr sz="1350" spc="-160" dirty="0">
                <a:solidFill>
                  <a:srgbClr val="4A5462"/>
                </a:solidFill>
                <a:latin typeface="宋体" panose="02010600030101010101" pitchFamily="2" charset="-122"/>
                <a:cs typeface="宋体" panose="02010600030101010101" pitchFamily="2" charset="-122"/>
              </a:rPr>
              <a:t>来捕捉跨通道的拓扑结构。</a:t>
            </a:r>
            <a:endParaRPr sz="1350">
              <a:latin typeface="宋体" panose="02010600030101010101" pitchFamily="2" charset="-122"/>
              <a:cs typeface="宋体" panose="02010600030101010101" pitchFamily="2" charset="-122"/>
            </a:endParaRPr>
          </a:p>
        </p:txBody>
      </p:sp>
      <p:grpSp>
        <p:nvGrpSpPr>
          <p:cNvPr id="17" name="object 17"/>
          <p:cNvGrpSpPr/>
          <p:nvPr/>
        </p:nvGrpSpPr>
        <p:grpSpPr>
          <a:xfrm>
            <a:off x="5086349" y="1352549"/>
            <a:ext cx="6648450" cy="5257800"/>
            <a:chOff x="5086349" y="1352549"/>
            <a:chExt cx="6648450" cy="5257800"/>
          </a:xfrm>
        </p:grpSpPr>
        <p:sp>
          <p:nvSpPr>
            <p:cNvPr id="18" name="object 18"/>
            <p:cNvSpPr/>
            <p:nvPr/>
          </p:nvSpPr>
          <p:spPr>
            <a:xfrm>
              <a:off x="5091112" y="1357312"/>
              <a:ext cx="6638925" cy="5248275"/>
            </a:xfrm>
            <a:custGeom>
              <a:avLst/>
              <a:gdLst/>
              <a:ahLst/>
              <a:cxnLst/>
              <a:rect l="l" t="t" r="r" b="b"/>
              <a:pathLst>
                <a:path w="6638925" h="5248275">
                  <a:moveTo>
                    <a:pt x="0" y="513873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5138737"/>
                  </a:lnTo>
                  <a:lnTo>
                    <a:pt x="6638923" y="5145929"/>
                  </a:lnTo>
                  <a:lnTo>
                    <a:pt x="6638222" y="5153052"/>
                  </a:lnTo>
                  <a:lnTo>
                    <a:pt x="6636818" y="5160106"/>
                  </a:lnTo>
                  <a:lnTo>
                    <a:pt x="6635415" y="5167160"/>
                  </a:lnTo>
                  <a:lnTo>
                    <a:pt x="6633338" y="5174009"/>
                  </a:lnTo>
                  <a:lnTo>
                    <a:pt x="6630586" y="5180654"/>
                  </a:lnTo>
                  <a:lnTo>
                    <a:pt x="6627833" y="5187299"/>
                  </a:lnTo>
                  <a:lnTo>
                    <a:pt x="6624459" y="5193611"/>
                  </a:lnTo>
                  <a:lnTo>
                    <a:pt x="6620463" y="5199592"/>
                  </a:lnTo>
                  <a:lnTo>
                    <a:pt x="6616468" y="5205572"/>
                  </a:lnTo>
                  <a:lnTo>
                    <a:pt x="6611927" y="5211105"/>
                  </a:lnTo>
                  <a:lnTo>
                    <a:pt x="6606841" y="5216191"/>
                  </a:lnTo>
                  <a:lnTo>
                    <a:pt x="6601755" y="5221276"/>
                  </a:lnTo>
                  <a:lnTo>
                    <a:pt x="6564659" y="5242688"/>
                  </a:lnTo>
                  <a:lnTo>
                    <a:pt x="6550756" y="5246169"/>
                  </a:lnTo>
                  <a:lnTo>
                    <a:pt x="6543702" y="5247572"/>
                  </a:lnTo>
                  <a:lnTo>
                    <a:pt x="6536579" y="5248274"/>
                  </a:lnTo>
                  <a:lnTo>
                    <a:pt x="6529386" y="5248274"/>
                  </a:lnTo>
                  <a:lnTo>
                    <a:pt x="109537" y="5248274"/>
                  </a:lnTo>
                  <a:lnTo>
                    <a:pt x="102345" y="5248274"/>
                  </a:lnTo>
                  <a:lnTo>
                    <a:pt x="95221" y="5247572"/>
                  </a:lnTo>
                  <a:lnTo>
                    <a:pt x="88167" y="5246169"/>
                  </a:lnTo>
                  <a:lnTo>
                    <a:pt x="81113" y="5244766"/>
                  </a:lnTo>
                  <a:lnTo>
                    <a:pt x="74264" y="5242688"/>
                  </a:lnTo>
                  <a:lnTo>
                    <a:pt x="67619" y="5239935"/>
                  </a:lnTo>
                  <a:lnTo>
                    <a:pt x="60974" y="5237182"/>
                  </a:lnTo>
                  <a:lnTo>
                    <a:pt x="32082" y="5216191"/>
                  </a:lnTo>
                  <a:lnTo>
                    <a:pt x="26997" y="5211105"/>
                  </a:lnTo>
                  <a:lnTo>
                    <a:pt x="22456" y="5205572"/>
                  </a:lnTo>
                  <a:lnTo>
                    <a:pt x="18460" y="5199592"/>
                  </a:lnTo>
                  <a:lnTo>
                    <a:pt x="14464" y="5193611"/>
                  </a:lnTo>
                  <a:lnTo>
                    <a:pt x="11090" y="5187299"/>
                  </a:lnTo>
                  <a:lnTo>
                    <a:pt x="8338" y="5180654"/>
                  </a:lnTo>
                  <a:lnTo>
                    <a:pt x="5585" y="5174009"/>
                  </a:lnTo>
                  <a:lnTo>
                    <a:pt x="3507" y="5167160"/>
                  </a:lnTo>
                  <a:lnTo>
                    <a:pt x="2104" y="5160106"/>
                  </a:lnTo>
                  <a:lnTo>
                    <a:pt x="701" y="5153052"/>
                  </a:lnTo>
                  <a:lnTo>
                    <a:pt x="0" y="5145929"/>
                  </a:lnTo>
                  <a:lnTo>
                    <a:pt x="0" y="5138737"/>
                  </a:lnTo>
                  <a:close/>
                </a:path>
              </a:pathLst>
            </a:custGeom>
            <a:ln w="9524">
              <a:solidFill>
                <a:srgbClr val="E4E7EB"/>
              </a:solidFill>
            </a:ln>
          </p:spPr>
          <p:txBody>
            <a:bodyPr wrap="square" lIns="0" tIns="0" rIns="0" bIns="0" rtlCol="0"/>
            <a:lstStyle/>
            <a:p/>
          </p:txBody>
        </p:sp>
        <p:sp>
          <p:nvSpPr>
            <p:cNvPr id="19" name="object 19"/>
            <p:cNvSpPr/>
            <p:nvPr/>
          </p:nvSpPr>
          <p:spPr>
            <a:xfrm>
              <a:off x="5405437" y="1671637"/>
              <a:ext cx="295275" cy="295275"/>
            </a:xfrm>
            <a:custGeom>
              <a:avLst/>
              <a:gdLst/>
              <a:ahLst/>
              <a:cxnLst/>
              <a:rect l="l" t="t" r="r" b="b"/>
              <a:pathLst>
                <a:path w="295275" h="295275">
                  <a:moveTo>
                    <a:pt x="295274" y="147637"/>
                  </a:moveTo>
                  <a:lnTo>
                    <a:pt x="288919" y="190494"/>
                  </a:lnTo>
                  <a:lnTo>
                    <a:pt x="270393" y="229660"/>
                  </a:lnTo>
                  <a:lnTo>
                    <a:pt x="241298" y="261764"/>
                  </a:lnTo>
                  <a:lnTo>
                    <a:pt x="204135" y="284036"/>
                  </a:lnTo>
                  <a:lnTo>
                    <a:pt x="162108" y="294565"/>
                  </a:lnTo>
                  <a:lnTo>
                    <a:pt x="147637" y="295274"/>
                  </a:lnTo>
                  <a:lnTo>
                    <a:pt x="140384" y="295097"/>
                  </a:lnTo>
                  <a:lnTo>
                    <a:pt x="97907" y="286648"/>
                  </a:lnTo>
                  <a:lnTo>
                    <a:pt x="59682" y="266216"/>
                  </a:lnTo>
                  <a:lnTo>
                    <a:pt x="29058" y="235592"/>
                  </a:lnTo>
                  <a:lnTo>
                    <a:pt x="8626" y="197367"/>
                  </a:lnTo>
                  <a:lnTo>
                    <a:pt x="177" y="154890"/>
                  </a:lnTo>
                  <a:lnTo>
                    <a:pt x="0" y="147637"/>
                  </a:lnTo>
                  <a:lnTo>
                    <a:pt x="177" y="140384"/>
                  </a:lnTo>
                  <a:lnTo>
                    <a:pt x="8626" y="97907"/>
                  </a:lnTo>
                  <a:lnTo>
                    <a:pt x="29058" y="59682"/>
                  </a:lnTo>
                  <a:lnTo>
                    <a:pt x="59682" y="29058"/>
                  </a:lnTo>
                  <a:lnTo>
                    <a:pt x="97907" y="8626"/>
                  </a:lnTo>
                  <a:lnTo>
                    <a:pt x="140384" y="177"/>
                  </a:lnTo>
                  <a:lnTo>
                    <a:pt x="147637" y="0"/>
                  </a:lnTo>
                  <a:lnTo>
                    <a:pt x="154890" y="177"/>
                  </a:lnTo>
                  <a:lnTo>
                    <a:pt x="197367" y="8626"/>
                  </a:lnTo>
                  <a:lnTo>
                    <a:pt x="235592" y="29058"/>
                  </a:lnTo>
                  <a:lnTo>
                    <a:pt x="266216" y="59682"/>
                  </a:lnTo>
                  <a:lnTo>
                    <a:pt x="286648" y="97907"/>
                  </a:lnTo>
                  <a:lnTo>
                    <a:pt x="295097" y="140384"/>
                  </a:lnTo>
                  <a:lnTo>
                    <a:pt x="295274" y="147637"/>
                  </a:lnTo>
                </a:path>
              </a:pathLst>
            </a:custGeom>
            <a:ln w="9524">
              <a:solidFill>
                <a:srgbClr val="000000"/>
              </a:solidFill>
            </a:ln>
          </p:spPr>
          <p:txBody>
            <a:bodyPr wrap="square" lIns="0" tIns="0" rIns="0" bIns="0" rtlCol="0"/>
            <a:lstStyle/>
            <a:p/>
          </p:txBody>
        </p:sp>
      </p:grpSp>
      <p:sp>
        <p:nvSpPr>
          <p:cNvPr id="20" name="object 20"/>
          <p:cNvSpPr txBox="1"/>
          <p:nvPr/>
        </p:nvSpPr>
        <p:spPr>
          <a:xfrm>
            <a:off x="5464025" y="1701800"/>
            <a:ext cx="186055" cy="185420"/>
          </a:xfrm>
          <a:prstGeom prst="rect">
            <a:avLst/>
          </a:prstGeom>
        </p:spPr>
        <p:txBody>
          <a:bodyPr vert="horz" wrap="square" lIns="0" tIns="12700" rIns="0" bIns="0" rtlCol="0">
            <a:spAutoFit/>
          </a:bodyPr>
          <a:lstStyle/>
          <a:p>
            <a:pPr marL="12700">
              <a:lnSpc>
                <a:spcPct val="100000"/>
              </a:lnSpc>
              <a:spcBef>
                <a:spcPts val="100"/>
              </a:spcBef>
            </a:pPr>
            <a:r>
              <a:rPr sz="1050" b="1" spc="-25" dirty="0">
                <a:latin typeface="Courier New" panose="02070309020205020404"/>
                <a:cs typeface="Courier New" panose="02070309020205020404"/>
              </a:rPr>
              <a:t>02</a:t>
            </a:r>
            <a:endParaRPr sz="1050">
              <a:latin typeface="Courier New" panose="02070309020205020404"/>
              <a:cs typeface="Courier New" panose="02070309020205020404"/>
            </a:endParaRPr>
          </a:p>
        </p:txBody>
      </p:sp>
      <p:sp>
        <p:nvSpPr>
          <p:cNvPr id="21" name="object 21"/>
          <p:cNvSpPr txBox="1"/>
          <p:nvPr/>
        </p:nvSpPr>
        <p:spPr>
          <a:xfrm>
            <a:off x="5810795" y="1673225"/>
            <a:ext cx="3176270" cy="254000"/>
          </a:xfrm>
          <a:prstGeom prst="rect">
            <a:avLst/>
          </a:prstGeom>
        </p:spPr>
        <p:txBody>
          <a:bodyPr vert="horz" wrap="square" lIns="0" tIns="12700" rIns="0" bIns="0" rtlCol="0">
            <a:spAutoFit/>
          </a:bodyPr>
          <a:lstStyle/>
          <a:p>
            <a:pPr marL="12700">
              <a:lnSpc>
                <a:spcPct val="100000"/>
              </a:lnSpc>
              <a:spcBef>
                <a:spcPts val="100"/>
              </a:spcBef>
            </a:pPr>
            <a:r>
              <a:rPr sz="1500" spc="-70" dirty="0">
                <a:latin typeface="宋体" panose="02010600030101010101" pitchFamily="2" charset="-122"/>
                <a:cs typeface="宋体" panose="02010600030101010101" pitchFamily="2" charset="-122"/>
              </a:rPr>
              <a:t>图谱嵌入推导 (</a:t>
            </a:r>
            <a:r>
              <a:rPr sz="1500" dirty="0">
                <a:latin typeface="宋体" panose="02010600030101010101" pitchFamily="2" charset="-122"/>
                <a:cs typeface="宋体" panose="02010600030101010101" pitchFamily="2" charset="-122"/>
              </a:rPr>
              <a:t>SPECTRAL</a:t>
            </a:r>
            <a:r>
              <a:rPr sz="1500" spc="-310" dirty="0">
                <a:latin typeface="宋体" panose="02010600030101010101" pitchFamily="2" charset="-122"/>
                <a:cs typeface="宋体" panose="02010600030101010101" pitchFamily="2" charset="-122"/>
              </a:rPr>
              <a:t> </a:t>
            </a:r>
            <a:r>
              <a:rPr sz="1500" spc="60" dirty="0">
                <a:latin typeface="宋体" panose="02010600030101010101" pitchFamily="2" charset="-122"/>
                <a:cs typeface="宋体" panose="02010600030101010101" pitchFamily="2" charset="-122"/>
              </a:rPr>
              <a:t>EMBEDDING)</a:t>
            </a:r>
            <a:endParaRPr sz="1500">
              <a:latin typeface="宋体" panose="02010600030101010101" pitchFamily="2" charset="-122"/>
              <a:cs typeface="宋体" panose="02010600030101010101" pitchFamily="2" charset="-122"/>
            </a:endParaRPr>
          </a:p>
        </p:txBody>
      </p:sp>
      <p:sp>
        <p:nvSpPr>
          <p:cNvPr id="22" name="object 22"/>
          <p:cNvSpPr/>
          <p:nvPr/>
        </p:nvSpPr>
        <p:spPr>
          <a:xfrm>
            <a:off x="9991724" y="1704975"/>
            <a:ext cx="1428750" cy="228600"/>
          </a:xfrm>
          <a:custGeom>
            <a:avLst/>
            <a:gdLst/>
            <a:ahLst/>
            <a:cxnLst/>
            <a:rect l="l" t="t" r="r" b="b"/>
            <a:pathLst>
              <a:path w="1428750" h="228600">
                <a:moveTo>
                  <a:pt x="1395702" y="228599"/>
                </a:moveTo>
                <a:lnTo>
                  <a:pt x="33047" y="228599"/>
                </a:lnTo>
                <a:lnTo>
                  <a:pt x="28187" y="227633"/>
                </a:lnTo>
                <a:lnTo>
                  <a:pt x="966" y="200412"/>
                </a:lnTo>
                <a:lnTo>
                  <a:pt x="0" y="195552"/>
                </a:lnTo>
                <a:lnTo>
                  <a:pt x="0" y="190499"/>
                </a:lnTo>
                <a:lnTo>
                  <a:pt x="0" y="33047"/>
                </a:lnTo>
                <a:lnTo>
                  <a:pt x="28187" y="966"/>
                </a:lnTo>
                <a:lnTo>
                  <a:pt x="33047" y="0"/>
                </a:lnTo>
                <a:lnTo>
                  <a:pt x="1395702" y="0"/>
                </a:lnTo>
                <a:lnTo>
                  <a:pt x="1427783" y="28187"/>
                </a:lnTo>
                <a:lnTo>
                  <a:pt x="1428749" y="33047"/>
                </a:lnTo>
                <a:lnTo>
                  <a:pt x="1428749" y="195552"/>
                </a:lnTo>
                <a:lnTo>
                  <a:pt x="1400562" y="227633"/>
                </a:lnTo>
                <a:lnTo>
                  <a:pt x="1395702" y="228599"/>
                </a:lnTo>
                <a:close/>
              </a:path>
            </a:pathLst>
          </a:custGeom>
          <a:solidFill>
            <a:srgbClr val="000000"/>
          </a:solidFill>
        </p:spPr>
        <p:txBody>
          <a:bodyPr wrap="square" lIns="0" tIns="0" rIns="0" bIns="0" rtlCol="0"/>
          <a:lstStyle/>
          <a:p/>
        </p:txBody>
      </p:sp>
      <p:sp>
        <p:nvSpPr>
          <p:cNvPr id="23" name="object 23"/>
          <p:cNvSpPr txBox="1"/>
          <p:nvPr/>
        </p:nvSpPr>
        <p:spPr>
          <a:xfrm>
            <a:off x="10093026" y="1720850"/>
            <a:ext cx="1214755" cy="162560"/>
          </a:xfrm>
          <a:prstGeom prst="rect">
            <a:avLst/>
          </a:prstGeom>
        </p:spPr>
        <p:txBody>
          <a:bodyPr vert="horz" wrap="square" lIns="0" tIns="12700" rIns="0" bIns="0" rtlCol="0">
            <a:spAutoFit/>
          </a:bodyPr>
          <a:lstStyle/>
          <a:p>
            <a:pPr marL="12700">
              <a:lnSpc>
                <a:spcPct val="100000"/>
              </a:lnSpc>
              <a:spcBef>
                <a:spcPts val="100"/>
              </a:spcBef>
            </a:pPr>
            <a:r>
              <a:rPr sz="900" spc="65" dirty="0">
                <a:solidFill>
                  <a:srgbClr val="FFFFFF"/>
                </a:solidFill>
                <a:latin typeface="Courier New" panose="02070309020205020404"/>
                <a:cs typeface="Courier New" panose="02070309020205020404"/>
              </a:rPr>
              <a:t>CORE</a:t>
            </a:r>
            <a:r>
              <a:rPr sz="900" spc="190" dirty="0">
                <a:solidFill>
                  <a:srgbClr val="FFFFFF"/>
                </a:solidFill>
                <a:latin typeface="Courier New" panose="02070309020205020404"/>
                <a:cs typeface="Courier New" panose="02070309020205020404"/>
              </a:rPr>
              <a:t> </a:t>
            </a:r>
            <a:r>
              <a:rPr sz="900" spc="70" dirty="0">
                <a:solidFill>
                  <a:srgbClr val="FFFFFF"/>
                </a:solidFill>
                <a:latin typeface="Courier New" panose="02070309020205020404"/>
                <a:cs typeface="Courier New" panose="02070309020205020404"/>
              </a:rPr>
              <a:t>INNOVATION</a:t>
            </a:r>
            <a:endParaRPr sz="900">
              <a:latin typeface="Courier New" panose="02070309020205020404"/>
              <a:cs typeface="Courier New" panose="02070309020205020404"/>
            </a:endParaRPr>
          </a:p>
        </p:txBody>
      </p:sp>
      <p:grpSp>
        <p:nvGrpSpPr>
          <p:cNvPr id="24" name="object 24"/>
          <p:cNvGrpSpPr/>
          <p:nvPr/>
        </p:nvGrpSpPr>
        <p:grpSpPr>
          <a:xfrm>
            <a:off x="5400675" y="2276474"/>
            <a:ext cx="6019800" cy="933450"/>
            <a:chOff x="5400675" y="2276474"/>
            <a:chExt cx="6019800" cy="933450"/>
          </a:xfrm>
        </p:grpSpPr>
        <p:sp>
          <p:nvSpPr>
            <p:cNvPr id="25" name="object 25"/>
            <p:cNvSpPr/>
            <p:nvPr/>
          </p:nvSpPr>
          <p:spPr>
            <a:xfrm>
              <a:off x="5405437" y="2281237"/>
              <a:ext cx="6010275" cy="923925"/>
            </a:xfrm>
            <a:custGeom>
              <a:avLst/>
              <a:gdLst/>
              <a:ahLst/>
              <a:cxnLst/>
              <a:rect l="l" t="t" r="r" b="b"/>
              <a:pathLst>
                <a:path w="6010275" h="923925">
                  <a:moveTo>
                    <a:pt x="5943527" y="923924"/>
                  </a:moveTo>
                  <a:lnTo>
                    <a:pt x="66746" y="923924"/>
                  </a:lnTo>
                  <a:lnTo>
                    <a:pt x="62101" y="923467"/>
                  </a:lnTo>
                  <a:lnTo>
                    <a:pt x="24240" y="906318"/>
                  </a:lnTo>
                  <a:lnTo>
                    <a:pt x="2287" y="871024"/>
                  </a:lnTo>
                  <a:lnTo>
                    <a:pt x="0" y="857177"/>
                  </a:lnTo>
                  <a:lnTo>
                    <a:pt x="0" y="852487"/>
                  </a:lnTo>
                  <a:lnTo>
                    <a:pt x="0" y="66746"/>
                  </a:lnTo>
                  <a:lnTo>
                    <a:pt x="14645" y="27848"/>
                  </a:lnTo>
                  <a:lnTo>
                    <a:pt x="48433" y="3642"/>
                  </a:lnTo>
                  <a:lnTo>
                    <a:pt x="66746" y="0"/>
                  </a:lnTo>
                  <a:lnTo>
                    <a:pt x="5943527" y="0"/>
                  </a:lnTo>
                  <a:lnTo>
                    <a:pt x="5982424" y="14645"/>
                  </a:lnTo>
                  <a:lnTo>
                    <a:pt x="6006630" y="48433"/>
                  </a:lnTo>
                  <a:lnTo>
                    <a:pt x="6010273" y="66746"/>
                  </a:lnTo>
                  <a:lnTo>
                    <a:pt x="6010273" y="857177"/>
                  </a:lnTo>
                  <a:lnTo>
                    <a:pt x="5995628" y="896075"/>
                  </a:lnTo>
                  <a:lnTo>
                    <a:pt x="5961839" y="920281"/>
                  </a:lnTo>
                  <a:lnTo>
                    <a:pt x="5948172" y="923467"/>
                  </a:lnTo>
                  <a:lnTo>
                    <a:pt x="5943527" y="923924"/>
                  </a:lnTo>
                  <a:close/>
                </a:path>
              </a:pathLst>
            </a:custGeom>
            <a:solidFill>
              <a:srgbClr val="F9FAFA"/>
            </a:solidFill>
          </p:spPr>
          <p:txBody>
            <a:bodyPr wrap="square" lIns="0" tIns="0" rIns="0" bIns="0" rtlCol="0"/>
            <a:lstStyle/>
            <a:p/>
          </p:txBody>
        </p:sp>
        <p:sp>
          <p:nvSpPr>
            <p:cNvPr id="26" name="object 26"/>
            <p:cNvSpPr/>
            <p:nvPr/>
          </p:nvSpPr>
          <p:spPr>
            <a:xfrm>
              <a:off x="5405437" y="2281237"/>
              <a:ext cx="6010275" cy="923925"/>
            </a:xfrm>
            <a:custGeom>
              <a:avLst/>
              <a:gdLst/>
              <a:ahLst/>
              <a:cxnLst/>
              <a:rect l="l" t="t" r="r" b="b"/>
              <a:pathLst>
                <a:path w="6010275" h="923925">
                  <a:moveTo>
                    <a:pt x="0" y="852487"/>
                  </a:moveTo>
                  <a:lnTo>
                    <a:pt x="0" y="71437"/>
                  </a:lnTo>
                  <a:lnTo>
                    <a:pt x="0" y="66746"/>
                  </a:lnTo>
                  <a:lnTo>
                    <a:pt x="457" y="62101"/>
                  </a:lnTo>
                  <a:lnTo>
                    <a:pt x="1372" y="57500"/>
                  </a:lnTo>
                  <a:lnTo>
                    <a:pt x="2287" y="52900"/>
                  </a:lnTo>
                  <a:lnTo>
                    <a:pt x="3642" y="48432"/>
                  </a:lnTo>
                  <a:lnTo>
                    <a:pt x="5437" y="44099"/>
                  </a:lnTo>
                  <a:lnTo>
                    <a:pt x="7232" y="39765"/>
                  </a:lnTo>
                  <a:lnTo>
                    <a:pt x="9433" y="35648"/>
                  </a:lnTo>
                  <a:lnTo>
                    <a:pt x="12039" y="31748"/>
                  </a:lnTo>
                  <a:lnTo>
                    <a:pt x="14645" y="27848"/>
                  </a:lnTo>
                  <a:lnTo>
                    <a:pt x="17606" y="24240"/>
                  </a:lnTo>
                  <a:lnTo>
                    <a:pt x="20923" y="20923"/>
                  </a:lnTo>
                  <a:lnTo>
                    <a:pt x="24240" y="17606"/>
                  </a:lnTo>
                  <a:lnTo>
                    <a:pt x="57500" y="1372"/>
                  </a:lnTo>
                  <a:lnTo>
                    <a:pt x="62101" y="457"/>
                  </a:lnTo>
                  <a:lnTo>
                    <a:pt x="66746" y="0"/>
                  </a:lnTo>
                  <a:lnTo>
                    <a:pt x="71437" y="0"/>
                  </a:lnTo>
                  <a:lnTo>
                    <a:pt x="5938836" y="0"/>
                  </a:lnTo>
                  <a:lnTo>
                    <a:pt x="5943527" y="0"/>
                  </a:lnTo>
                  <a:lnTo>
                    <a:pt x="5948172" y="457"/>
                  </a:lnTo>
                  <a:lnTo>
                    <a:pt x="5986033" y="17606"/>
                  </a:lnTo>
                  <a:lnTo>
                    <a:pt x="5989349" y="20923"/>
                  </a:lnTo>
                  <a:lnTo>
                    <a:pt x="5992666" y="24240"/>
                  </a:lnTo>
                  <a:lnTo>
                    <a:pt x="6009816" y="62101"/>
                  </a:lnTo>
                  <a:lnTo>
                    <a:pt x="6010274" y="71437"/>
                  </a:lnTo>
                  <a:lnTo>
                    <a:pt x="6010274" y="852487"/>
                  </a:lnTo>
                  <a:lnTo>
                    <a:pt x="5998234" y="892175"/>
                  </a:lnTo>
                  <a:lnTo>
                    <a:pt x="5989349" y="903001"/>
                  </a:lnTo>
                  <a:lnTo>
                    <a:pt x="5986033" y="906318"/>
                  </a:lnTo>
                  <a:lnTo>
                    <a:pt x="5948172" y="923467"/>
                  </a:lnTo>
                  <a:lnTo>
                    <a:pt x="5938836" y="923924"/>
                  </a:lnTo>
                  <a:lnTo>
                    <a:pt x="71437" y="923924"/>
                  </a:lnTo>
                  <a:lnTo>
                    <a:pt x="31748" y="911885"/>
                  </a:lnTo>
                  <a:lnTo>
                    <a:pt x="20923" y="903001"/>
                  </a:lnTo>
                  <a:lnTo>
                    <a:pt x="17606" y="899684"/>
                  </a:lnTo>
                  <a:lnTo>
                    <a:pt x="1372" y="866424"/>
                  </a:lnTo>
                  <a:lnTo>
                    <a:pt x="457" y="861823"/>
                  </a:lnTo>
                  <a:lnTo>
                    <a:pt x="0" y="857177"/>
                  </a:lnTo>
                  <a:lnTo>
                    <a:pt x="0" y="852487"/>
                  </a:lnTo>
                </a:path>
              </a:pathLst>
            </a:custGeom>
            <a:ln w="9524">
              <a:solidFill>
                <a:srgbClr val="F2F4F5"/>
              </a:solidFill>
            </a:ln>
          </p:spPr>
          <p:txBody>
            <a:bodyPr wrap="square" lIns="0" tIns="0" rIns="0" bIns="0" rtlCol="0"/>
            <a:lstStyle/>
            <a:p/>
          </p:txBody>
        </p:sp>
      </p:grpSp>
      <p:sp>
        <p:nvSpPr>
          <p:cNvPr id="27" name="object 27"/>
          <p:cNvSpPr txBox="1"/>
          <p:nvPr/>
        </p:nvSpPr>
        <p:spPr>
          <a:xfrm>
            <a:off x="5553620" y="2422182"/>
            <a:ext cx="1284605" cy="167005"/>
          </a:xfrm>
          <a:prstGeom prst="rect">
            <a:avLst/>
          </a:prstGeom>
        </p:spPr>
        <p:txBody>
          <a:bodyPr vert="horz" wrap="square" lIns="0" tIns="15875" rIns="0" bIns="0" rtlCol="0">
            <a:spAutoFit/>
          </a:bodyPr>
          <a:lstStyle/>
          <a:p>
            <a:pPr marL="12700">
              <a:lnSpc>
                <a:spcPct val="100000"/>
              </a:lnSpc>
              <a:spcBef>
                <a:spcPts val="125"/>
              </a:spcBef>
            </a:pPr>
            <a:r>
              <a:rPr sz="900" i="1" spc="65" dirty="0">
                <a:solidFill>
                  <a:srgbClr val="9CA2AF"/>
                </a:solidFill>
                <a:latin typeface="宋体" panose="02010600030101010101" pitchFamily="2" charset="-122"/>
                <a:cs typeface="宋体" panose="02010600030101010101" pitchFamily="2" charset="-122"/>
              </a:rPr>
              <a:t>CRITICAL</a:t>
            </a:r>
            <a:r>
              <a:rPr sz="900" i="1" spc="10" dirty="0">
                <a:solidFill>
                  <a:srgbClr val="9CA2AF"/>
                </a:solidFill>
                <a:latin typeface="宋体" panose="02010600030101010101" pitchFamily="2" charset="-122"/>
                <a:cs typeface="宋体" panose="02010600030101010101" pitchFamily="2" charset="-122"/>
              </a:rPr>
              <a:t> </a:t>
            </a:r>
            <a:r>
              <a:rPr sz="900" i="1" spc="70" dirty="0">
                <a:solidFill>
                  <a:srgbClr val="9CA2AF"/>
                </a:solidFill>
                <a:latin typeface="宋体" panose="02010600030101010101" pitchFamily="2" charset="-122"/>
                <a:cs typeface="宋体" panose="02010600030101010101" pitchFamily="2" charset="-122"/>
              </a:rPr>
              <a:t>PAIN</a:t>
            </a:r>
            <a:r>
              <a:rPr sz="900" i="1" spc="15" dirty="0">
                <a:solidFill>
                  <a:srgbClr val="9CA2AF"/>
                </a:solidFill>
                <a:latin typeface="宋体" panose="02010600030101010101" pitchFamily="2" charset="-122"/>
                <a:cs typeface="宋体" panose="02010600030101010101" pitchFamily="2" charset="-122"/>
              </a:rPr>
              <a:t> </a:t>
            </a:r>
            <a:r>
              <a:rPr sz="900" i="1" spc="80" dirty="0">
                <a:solidFill>
                  <a:srgbClr val="9CA2AF"/>
                </a:solidFill>
                <a:latin typeface="宋体" panose="02010600030101010101" pitchFamily="2" charset="-122"/>
                <a:cs typeface="宋体" panose="02010600030101010101" pitchFamily="2" charset="-122"/>
              </a:rPr>
              <a:t>POINT</a:t>
            </a:r>
            <a:endParaRPr sz="900">
              <a:latin typeface="宋体" panose="02010600030101010101" pitchFamily="2" charset="-122"/>
              <a:cs typeface="宋体" panose="02010600030101010101" pitchFamily="2" charset="-122"/>
            </a:endParaRPr>
          </a:p>
        </p:txBody>
      </p:sp>
      <p:grpSp>
        <p:nvGrpSpPr>
          <p:cNvPr id="28" name="object 28"/>
          <p:cNvGrpSpPr/>
          <p:nvPr/>
        </p:nvGrpSpPr>
        <p:grpSpPr>
          <a:xfrm>
            <a:off x="5400675" y="3543299"/>
            <a:ext cx="6019800" cy="2152650"/>
            <a:chOff x="5400675" y="3543299"/>
            <a:chExt cx="6019800" cy="2152650"/>
          </a:xfrm>
        </p:grpSpPr>
        <p:sp>
          <p:nvSpPr>
            <p:cNvPr id="29" name="object 29"/>
            <p:cNvSpPr/>
            <p:nvPr/>
          </p:nvSpPr>
          <p:spPr>
            <a:xfrm>
              <a:off x="5400675" y="4648199"/>
              <a:ext cx="6019800" cy="1047750"/>
            </a:xfrm>
            <a:custGeom>
              <a:avLst/>
              <a:gdLst/>
              <a:ahLst/>
              <a:cxnLst/>
              <a:rect l="l" t="t" r="r" b="b"/>
              <a:pathLst>
                <a:path w="6019800" h="1047750">
                  <a:moveTo>
                    <a:pt x="5948602" y="1047749"/>
                  </a:moveTo>
                  <a:lnTo>
                    <a:pt x="71196" y="1047749"/>
                  </a:lnTo>
                  <a:lnTo>
                    <a:pt x="66241" y="1047261"/>
                  </a:lnTo>
                  <a:lnTo>
                    <a:pt x="29705" y="1032127"/>
                  </a:lnTo>
                  <a:lnTo>
                    <a:pt x="3885" y="996087"/>
                  </a:lnTo>
                  <a:lnTo>
                    <a:pt x="0" y="976553"/>
                  </a:lnTo>
                  <a:lnTo>
                    <a:pt x="0" y="971549"/>
                  </a:lnTo>
                  <a:lnTo>
                    <a:pt x="0" y="71196"/>
                  </a:lnTo>
                  <a:lnTo>
                    <a:pt x="15621" y="29704"/>
                  </a:lnTo>
                  <a:lnTo>
                    <a:pt x="51661" y="3885"/>
                  </a:lnTo>
                  <a:lnTo>
                    <a:pt x="71196" y="0"/>
                  </a:lnTo>
                  <a:lnTo>
                    <a:pt x="5948602" y="0"/>
                  </a:lnTo>
                  <a:lnTo>
                    <a:pt x="5990093" y="15621"/>
                  </a:lnTo>
                  <a:lnTo>
                    <a:pt x="6015912" y="51661"/>
                  </a:lnTo>
                  <a:lnTo>
                    <a:pt x="6019798" y="71196"/>
                  </a:lnTo>
                  <a:lnTo>
                    <a:pt x="6019798" y="976553"/>
                  </a:lnTo>
                  <a:lnTo>
                    <a:pt x="6004176" y="1018044"/>
                  </a:lnTo>
                  <a:lnTo>
                    <a:pt x="5968136" y="1043863"/>
                  </a:lnTo>
                  <a:lnTo>
                    <a:pt x="5953557" y="1047261"/>
                  </a:lnTo>
                  <a:lnTo>
                    <a:pt x="5948602" y="1047749"/>
                  </a:lnTo>
                  <a:close/>
                </a:path>
              </a:pathLst>
            </a:custGeom>
            <a:solidFill>
              <a:srgbClr val="F9FAFA"/>
            </a:solidFill>
          </p:spPr>
          <p:txBody>
            <a:bodyPr wrap="square" lIns="0" tIns="0" rIns="0" bIns="0" rtlCol="0"/>
            <a:lstStyle/>
            <a:p/>
          </p:txBody>
        </p:sp>
        <p:sp>
          <p:nvSpPr>
            <p:cNvPr id="30" name="object 30"/>
            <p:cNvSpPr/>
            <p:nvPr/>
          </p:nvSpPr>
          <p:spPr>
            <a:xfrm>
              <a:off x="5405437" y="3548062"/>
              <a:ext cx="752475" cy="190500"/>
            </a:xfrm>
            <a:custGeom>
              <a:avLst/>
              <a:gdLst/>
              <a:ahLst/>
              <a:cxnLst/>
              <a:rect l="l" t="t" r="r" b="b"/>
              <a:pathLst>
                <a:path w="752475" h="190500">
                  <a:moveTo>
                    <a:pt x="723558" y="190499"/>
                  </a:moveTo>
                  <a:lnTo>
                    <a:pt x="28916" y="190499"/>
                  </a:lnTo>
                  <a:lnTo>
                    <a:pt x="24664" y="189653"/>
                  </a:lnTo>
                  <a:lnTo>
                    <a:pt x="0" y="161583"/>
                  </a:lnTo>
                  <a:lnTo>
                    <a:pt x="0" y="157162"/>
                  </a:lnTo>
                  <a:lnTo>
                    <a:pt x="0" y="28916"/>
                  </a:lnTo>
                  <a:lnTo>
                    <a:pt x="28916" y="0"/>
                  </a:lnTo>
                  <a:lnTo>
                    <a:pt x="723558" y="0"/>
                  </a:lnTo>
                  <a:lnTo>
                    <a:pt x="752474" y="28916"/>
                  </a:lnTo>
                  <a:lnTo>
                    <a:pt x="752474" y="161583"/>
                  </a:lnTo>
                  <a:lnTo>
                    <a:pt x="727810" y="189653"/>
                  </a:lnTo>
                  <a:lnTo>
                    <a:pt x="723558" y="190499"/>
                  </a:lnTo>
                  <a:close/>
                </a:path>
              </a:pathLst>
            </a:custGeom>
            <a:solidFill>
              <a:srgbClr val="F2F4F5"/>
            </a:solidFill>
          </p:spPr>
          <p:txBody>
            <a:bodyPr wrap="square" lIns="0" tIns="0" rIns="0" bIns="0" rtlCol="0"/>
            <a:lstStyle/>
            <a:p/>
          </p:txBody>
        </p:sp>
        <p:sp>
          <p:nvSpPr>
            <p:cNvPr id="31" name="object 31"/>
            <p:cNvSpPr/>
            <p:nvPr/>
          </p:nvSpPr>
          <p:spPr>
            <a:xfrm>
              <a:off x="5405437" y="3548062"/>
              <a:ext cx="752475" cy="190500"/>
            </a:xfrm>
            <a:custGeom>
              <a:avLst/>
              <a:gdLst/>
              <a:ahLst/>
              <a:cxnLst/>
              <a:rect l="l" t="t" r="r" b="b"/>
              <a:pathLst>
                <a:path w="752475" h="190500">
                  <a:moveTo>
                    <a:pt x="0" y="157162"/>
                  </a:moveTo>
                  <a:lnTo>
                    <a:pt x="0" y="33337"/>
                  </a:lnTo>
                  <a:lnTo>
                    <a:pt x="0" y="28916"/>
                  </a:lnTo>
                  <a:lnTo>
                    <a:pt x="845" y="24663"/>
                  </a:lnTo>
                  <a:lnTo>
                    <a:pt x="2537" y="20579"/>
                  </a:lnTo>
                  <a:lnTo>
                    <a:pt x="4229" y="16495"/>
                  </a:lnTo>
                  <a:lnTo>
                    <a:pt x="6638" y="12889"/>
                  </a:lnTo>
                  <a:lnTo>
                    <a:pt x="9764" y="9764"/>
                  </a:lnTo>
                  <a:lnTo>
                    <a:pt x="12890" y="6637"/>
                  </a:lnTo>
                  <a:lnTo>
                    <a:pt x="16495" y="4229"/>
                  </a:lnTo>
                  <a:lnTo>
                    <a:pt x="20579" y="2537"/>
                  </a:lnTo>
                  <a:lnTo>
                    <a:pt x="24664" y="845"/>
                  </a:lnTo>
                  <a:lnTo>
                    <a:pt x="28916" y="0"/>
                  </a:lnTo>
                  <a:lnTo>
                    <a:pt x="33337" y="0"/>
                  </a:lnTo>
                  <a:lnTo>
                    <a:pt x="719137" y="0"/>
                  </a:lnTo>
                  <a:lnTo>
                    <a:pt x="723558" y="0"/>
                  </a:lnTo>
                  <a:lnTo>
                    <a:pt x="727810" y="845"/>
                  </a:lnTo>
                  <a:lnTo>
                    <a:pt x="731894" y="2537"/>
                  </a:lnTo>
                  <a:lnTo>
                    <a:pt x="735979" y="4229"/>
                  </a:lnTo>
                  <a:lnTo>
                    <a:pt x="739584" y="6637"/>
                  </a:lnTo>
                  <a:lnTo>
                    <a:pt x="742710" y="9764"/>
                  </a:lnTo>
                  <a:lnTo>
                    <a:pt x="745836" y="12889"/>
                  </a:lnTo>
                  <a:lnTo>
                    <a:pt x="748245" y="16495"/>
                  </a:lnTo>
                  <a:lnTo>
                    <a:pt x="749937" y="20579"/>
                  </a:lnTo>
                  <a:lnTo>
                    <a:pt x="751628" y="24663"/>
                  </a:lnTo>
                  <a:lnTo>
                    <a:pt x="752474" y="28916"/>
                  </a:lnTo>
                  <a:lnTo>
                    <a:pt x="752474" y="33337"/>
                  </a:lnTo>
                  <a:lnTo>
                    <a:pt x="752474" y="157162"/>
                  </a:lnTo>
                  <a:lnTo>
                    <a:pt x="731894" y="187962"/>
                  </a:lnTo>
                  <a:lnTo>
                    <a:pt x="727810" y="189653"/>
                  </a:lnTo>
                  <a:lnTo>
                    <a:pt x="723558" y="190499"/>
                  </a:lnTo>
                  <a:lnTo>
                    <a:pt x="719137" y="190499"/>
                  </a:lnTo>
                  <a:lnTo>
                    <a:pt x="33337" y="190499"/>
                  </a:lnTo>
                  <a:lnTo>
                    <a:pt x="28916" y="190499"/>
                  </a:lnTo>
                  <a:lnTo>
                    <a:pt x="24664" y="189653"/>
                  </a:lnTo>
                  <a:lnTo>
                    <a:pt x="20579" y="187962"/>
                  </a:lnTo>
                  <a:lnTo>
                    <a:pt x="16495" y="186270"/>
                  </a:lnTo>
                  <a:lnTo>
                    <a:pt x="2537" y="169919"/>
                  </a:lnTo>
                  <a:lnTo>
                    <a:pt x="845" y="165835"/>
                  </a:lnTo>
                  <a:lnTo>
                    <a:pt x="0" y="161583"/>
                  </a:lnTo>
                  <a:lnTo>
                    <a:pt x="0" y="157162"/>
                  </a:lnTo>
                </a:path>
              </a:pathLst>
            </a:custGeom>
            <a:ln w="9524">
              <a:solidFill>
                <a:srgbClr val="D0D5DA"/>
              </a:solidFill>
            </a:ln>
          </p:spPr>
          <p:txBody>
            <a:bodyPr wrap="square" lIns="0" tIns="0" rIns="0" bIns="0" rtlCol="0"/>
            <a:lstStyle/>
            <a:p/>
          </p:txBody>
        </p:sp>
      </p:grpSp>
      <p:sp>
        <p:nvSpPr>
          <p:cNvPr id="32" name="object 32"/>
          <p:cNvSpPr txBox="1"/>
          <p:nvPr/>
        </p:nvSpPr>
        <p:spPr>
          <a:xfrm>
            <a:off x="5477420" y="3568700"/>
            <a:ext cx="614045" cy="139700"/>
          </a:xfrm>
          <a:prstGeom prst="rect">
            <a:avLst/>
          </a:prstGeom>
        </p:spPr>
        <p:txBody>
          <a:bodyPr vert="horz" wrap="square" lIns="0" tIns="12700" rIns="0" bIns="0" rtlCol="0">
            <a:spAutoFit/>
          </a:bodyPr>
          <a:lstStyle/>
          <a:p>
            <a:pPr marL="12700">
              <a:lnSpc>
                <a:spcPct val="100000"/>
              </a:lnSpc>
              <a:spcBef>
                <a:spcPts val="100"/>
              </a:spcBef>
            </a:pPr>
            <a:r>
              <a:rPr sz="750" spc="90" dirty="0">
                <a:latin typeface="宋体" panose="02010600030101010101" pitchFamily="2" charset="-122"/>
                <a:cs typeface="宋体" panose="02010600030101010101" pitchFamily="2" charset="-122"/>
              </a:rPr>
              <a:t>THEOREM</a:t>
            </a:r>
            <a:r>
              <a:rPr sz="750" spc="-130" dirty="0">
                <a:latin typeface="宋体" panose="02010600030101010101" pitchFamily="2" charset="-122"/>
                <a:cs typeface="宋体" panose="02010600030101010101" pitchFamily="2" charset="-122"/>
              </a:rPr>
              <a:t> </a:t>
            </a:r>
            <a:r>
              <a:rPr sz="750" spc="-25" dirty="0">
                <a:latin typeface="宋体" panose="02010600030101010101" pitchFamily="2" charset="-122"/>
                <a:cs typeface="宋体" panose="02010600030101010101" pitchFamily="2" charset="-122"/>
              </a:rPr>
              <a:t>4.1</a:t>
            </a:r>
            <a:endParaRPr sz="750">
              <a:latin typeface="宋体" panose="02010600030101010101" pitchFamily="2" charset="-122"/>
              <a:cs typeface="宋体" panose="02010600030101010101" pitchFamily="2" charset="-122"/>
            </a:endParaRPr>
          </a:p>
        </p:txBody>
      </p:sp>
      <p:pic>
        <p:nvPicPr>
          <p:cNvPr id="33" name="object 33"/>
          <p:cNvPicPr/>
          <p:nvPr/>
        </p:nvPicPr>
        <p:blipFill>
          <a:blip r:embed="rId1" cstate="print"/>
          <a:stretch>
            <a:fillRect/>
          </a:stretch>
        </p:blipFill>
        <p:spPr>
          <a:xfrm>
            <a:off x="5416548" y="5978549"/>
            <a:ext cx="158753" cy="158749"/>
          </a:xfrm>
          <a:prstGeom prst="rect">
            <a:avLst/>
          </a:prstGeom>
        </p:spPr>
      </p:pic>
      <p:sp>
        <p:nvSpPr>
          <p:cNvPr id="35" name="object 35"/>
          <p:cNvSpPr txBox="1"/>
          <p:nvPr/>
        </p:nvSpPr>
        <p:spPr>
          <a:xfrm>
            <a:off x="5553620" y="2636812"/>
            <a:ext cx="5664200" cy="203200"/>
          </a:xfrm>
          <a:prstGeom prst="rect">
            <a:avLst/>
          </a:prstGeom>
        </p:spPr>
        <p:txBody>
          <a:bodyPr vert="horz" wrap="square" lIns="0" tIns="11430" rIns="0" bIns="0" rtlCol="0">
            <a:spAutoFit/>
          </a:bodyPr>
          <a:lstStyle/>
          <a:p>
            <a:pPr marL="12700" marR="5080">
              <a:lnSpc>
                <a:spcPct val="109000"/>
              </a:lnSpc>
              <a:spcBef>
                <a:spcPts val="90"/>
              </a:spcBef>
            </a:pPr>
            <a:r>
              <a:rPr sz="1150" spc="-120" dirty="0">
                <a:solidFill>
                  <a:srgbClr val="374050"/>
                </a:solidFill>
                <a:latin typeface="宋体" panose="02010600030101010101" pitchFamily="2" charset="-122"/>
                <a:cs typeface="宋体" panose="02010600030101010101" pitchFamily="2" charset="-122"/>
              </a:rPr>
              <a:t>动态计算拉普拉斯矩阵 </a:t>
            </a:r>
            <a:r>
              <a:rPr sz="1050" b="1" dirty="0">
                <a:latin typeface="Georgia" panose="02040502050405020303"/>
                <a:cs typeface="Georgia" panose="02040502050405020303"/>
              </a:rPr>
              <a:t>L </a:t>
            </a:r>
            <a:r>
              <a:rPr sz="1150" spc="-110" dirty="0">
                <a:solidFill>
                  <a:srgbClr val="374050"/>
                </a:solidFill>
                <a:latin typeface="宋体" panose="02010600030101010101" pitchFamily="2" charset="-122"/>
                <a:cs typeface="宋体" panose="02010600030101010101" pitchFamily="2" charset="-122"/>
              </a:rPr>
              <a:t>的特征向量会导致傅里叶基不一致，破坏不同批次频谱空间的可比</a:t>
            </a:r>
            <a:r>
              <a:rPr sz="1150" spc="-80" dirty="0">
                <a:solidFill>
                  <a:srgbClr val="374050"/>
                </a:solidFill>
                <a:latin typeface="宋体" panose="02010600030101010101" pitchFamily="2" charset="-122"/>
                <a:cs typeface="宋体" panose="02010600030101010101" pitchFamily="2" charset="-122"/>
              </a:rPr>
              <a:t>性。</a:t>
            </a:r>
            <a:endParaRPr sz="1150">
              <a:latin typeface="宋体" panose="02010600030101010101" pitchFamily="2" charset="-122"/>
              <a:cs typeface="宋体" panose="02010600030101010101" pitchFamily="2" charset="-122"/>
            </a:endParaRPr>
          </a:p>
        </p:txBody>
      </p:sp>
      <p:sp>
        <p:nvSpPr>
          <p:cNvPr id="36" name="object 36"/>
          <p:cNvSpPr txBox="1"/>
          <p:nvPr/>
        </p:nvSpPr>
        <p:spPr>
          <a:xfrm>
            <a:off x="5391695" y="3808610"/>
            <a:ext cx="4425950" cy="606425"/>
          </a:xfrm>
          <a:prstGeom prst="rect">
            <a:avLst/>
          </a:prstGeom>
        </p:spPr>
        <p:txBody>
          <a:bodyPr vert="horz" wrap="square" lIns="0" tIns="13970" rIns="0" bIns="0" rtlCol="0">
            <a:spAutoFit/>
          </a:bodyPr>
          <a:lstStyle/>
          <a:p>
            <a:pPr marL="12700">
              <a:lnSpc>
                <a:spcPct val="100000"/>
              </a:lnSpc>
              <a:spcBef>
                <a:spcPts val="110"/>
              </a:spcBef>
            </a:pPr>
            <a:r>
              <a:rPr sz="1500" b="1" spc="-150" dirty="0">
                <a:latin typeface="Yu Gothic UI Semibold" panose="020B0700000000000000" charset="-128"/>
                <a:cs typeface="Yu Gothic UI Semibold" panose="020B0700000000000000" charset="-128"/>
              </a:rPr>
              <a:t>学</a:t>
            </a:r>
            <a:r>
              <a:rPr sz="1500" b="1" spc="-150" dirty="0">
                <a:latin typeface="微软雅黑" panose="020B0503020204020204" charset="-122"/>
                <a:cs typeface="微软雅黑" panose="020B0503020204020204" charset="-122"/>
              </a:rPr>
              <a:t>习</a:t>
            </a:r>
            <a:r>
              <a:rPr sz="1500" b="1" spc="-135" dirty="0">
                <a:latin typeface="Yu Gothic UI Semibold" panose="020B0700000000000000" charset="-128"/>
                <a:cs typeface="Yu Gothic UI Semibold" panose="020B0700000000000000" charset="-128"/>
              </a:rPr>
              <a:t>共享傅里叶基 </a:t>
            </a:r>
            <a:r>
              <a:rPr sz="1550" b="1" spc="-75" dirty="0">
                <a:latin typeface="Trebuchet MS" panose="020B0603020202020204"/>
                <a:cs typeface="Trebuchet MS" panose="020B0603020202020204"/>
              </a:rPr>
              <a:t>(</a:t>
            </a:r>
            <a:r>
              <a:rPr sz="1500" b="1" spc="-75" dirty="0">
                <a:latin typeface="Arial" panose="020B0604020202020204"/>
                <a:cs typeface="Arial" panose="020B0604020202020204"/>
              </a:rPr>
              <a:t>Shared</a:t>
            </a:r>
            <a:r>
              <a:rPr sz="1500" b="1" spc="-45" dirty="0">
                <a:latin typeface="Arial" panose="020B0604020202020204"/>
                <a:cs typeface="Arial" panose="020B0604020202020204"/>
              </a:rPr>
              <a:t> </a:t>
            </a:r>
            <a:r>
              <a:rPr sz="1500" b="1" spc="-110" dirty="0">
                <a:latin typeface="Arial" panose="020B0604020202020204"/>
                <a:cs typeface="Arial" panose="020B0604020202020204"/>
              </a:rPr>
              <a:t>Basis</a:t>
            </a:r>
            <a:r>
              <a:rPr sz="1500" b="1" spc="-20" dirty="0">
                <a:latin typeface="Arial" panose="020B0604020202020204"/>
                <a:cs typeface="Arial" panose="020B0604020202020204"/>
              </a:rPr>
              <a:t> </a:t>
            </a:r>
            <a:r>
              <a:rPr sz="1350" b="1" spc="-25" dirty="0">
                <a:latin typeface="Georgia" panose="02040502050405020303"/>
                <a:cs typeface="Georgia" panose="02040502050405020303"/>
              </a:rPr>
              <a:t>U</a:t>
            </a:r>
            <a:r>
              <a:rPr sz="1550" b="1" spc="-25" dirty="0">
                <a:latin typeface="Trebuchet MS" panose="020B0603020202020204"/>
                <a:cs typeface="Trebuchet MS" panose="020B0603020202020204"/>
              </a:rPr>
              <a:t>)</a:t>
            </a:r>
            <a:endParaRPr sz="1550">
              <a:latin typeface="Trebuchet MS" panose="020B0603020202020204"/>
              <a:cs typeface="Trebuchet MS" panose="020B0603020202020204"/>
            </a:endParaRPr>
          </a:p>
          <a:p>
            <a:pPr marL="12700">
              <a:lnSpc>
                <a:spcPct val="100000"/>
              </a:lnSpc>
              <a:spcBef>
                <a:spcPts val="1315"/>
              </a:spcBef>
            </a:pPr>
            <a:r>
              <a:rPr sz="1150" spc="-110" dirty="0">
                <a:solidFill>
                  <a:srgbClr val="4A5462"/>
                </a:solidFill>
                <a:latin typeface="宋体" panose="02010600030101010101" pitchFamily="2" charset="-122"/>
                <a:cs typeface="宋体" panose="02010600030101010101" pitchFamily="2" charset="-122"/>
              </a:rPr>
              <a:t>引入一个可学习的全局正交基，显式地将时域嵌入映射到统一的频域空间：</a:t>
            </a:r>
            <a:endParaRPr sz="1150">
              <a:latin typeface="宋体" panose="02010600030101010101" pitchFamily="2" charset="-122"/>
              <a:cs typeface="宋体" panose="02010600030101010101" pitchFamily="2" charset="-122"/>
            </a:endParaRPr>
          </a:p>
        </p:txBody>
      </p:sp>
      <p:sp>
        <p:nvSpPr>
          <p:cNvPr id="37" name="object 37"/>
          <p:cNvSpPr txBox="1"/>
          <p:nvPr/>
        </p:nvSpPr>
        <p:spPr>
          <a:xfrm>
            <a:off x="7200900" y="4902200"/>
            <a:ext cx="2409190" cy="299720"/>
          </a:xfrm>
          <a:prstGeom prst="rect">
            <a:avLst/>
          </a:prstGeom>
        </p:spPr>
        <p:txBody>
          <a:bodyPr vert="horz" wrap="square" lIns="0" tIns="12700" rIns="0" bIns="0" rtlCol="0">
            <a:spAutoFit/>
          </a:bodyPr>
          <a:lstStyle/>
          <a:p>
            <a:pPr marL="38100">
              <a:lnSpc>
                <a:spcPct val="100000"/>
              </a:lnSpc>
              <a:spcBef>
                <a:spcPts val="100"/>
              </a:spcBef>
            </a:pPr>
            <a:r>
              <a:rPr sz="2700" b="1" baseline="-23000" dirty="0">
                <a:latin typeface="Georgia" panose="02040502050405020303"/>
                <a:cs typeface="Georgia" panose="02040502050405020303"/>
              </a:rPr>
              <a:t>X</a:t>
            </a:r>
            <a:r>
              <a:rPr sz="1250" dirty="0">
                <a:latin typeface="Cambria" panose="02040503050406030204"/>
                <a:cs typeface="Cambria" panose="02040503050406030204"/>
              </a:rPr>
              <a:t>spc</a:t>
            </a:r>
            <a:r>
              <a:rPr sz="1250" spc="375" dirty="0">
                <a:latin typeface="Cambria" panose="02040503050406030204"/>
                <a:cs typeface="Cambria" panose="02040503050406030204"/>
              </a:rPr>
              <a:t> </a:t>
            </a:r>
            <a:r>
              <a:rPr sz="2700" spc="600" baseline="-23000" dirty="0">
                <a:latin typeface="Cambria" panose="02040503050406030204"/>
                <a:cs typeface="Cambria" panose="02040503050406030204"/>
              </a:rPr>
              <a:t>=</a:t>
            </a:r>
            <a:r>
              <a:rPr sz="2700" spc="217" baseline="-23000" dirty="0">
                <a:latin typeface="Cambria" panose="02040503050406030204"/>
                <a:cs typeface="Cambria" panose="02040503050406030204"/>
              </a:rPr>
              <a:t> </a:t>
            </a:r>
            <a:r>
              <a:rPr sz="2700" b="1" spc="97" baseline="-23000" dirty="0">
                <a:latin typeface="Georgia" panose="02040502050405020303"/>
                <a:cs typeface="Georgia" panose="02040502050405020303"/>
              </a:rPr>
              <a:t>U</a:t>
            </a:r>
            <a:r>
              <a:rPr sz="1250" spc="65" dirty="0">
                <a:latin typeface="Cambria" panose="02040503050406030204"/>
                <a:cs typeface="Cambria" panose="02040503050406030204"/>
              </a:rPr>
              <a:t>⊤</a:t>
            </a:r>
            <a:r>
              <a:rPr sz="2700" b="1" spc="97" baseline="-23000" dirty="0">
                <a:latin typeface="Georgia" panose="02040502050405020303"/>
                <a:cs typeface="Georgia" panose="02040502050405020303"/>
              </a:rPr>
              <a:t>X</a:t>
            </a:r>
            <a:r>
              <a:rPr sz="1250" spc="65" dirty="0">
                <a:latin typeface="Cambria" panose="02040503050406030204"/>
                <a:cs typeface="Cambria" panose="02040503050406030204"/>
              </a:rPr>
              <a:t>emb</a:t>
            </a:r>
            <a:r>
              <a:rPr sz="1250" spc="310" dirty="0">
                <a:latin typeface="Cambria" panose="02040503050406030204"/>
                <a:cs typeface="Cambria" panose="02040503050406030204"/>
              </a:rPr>
              <a:t> </a:t>
            </a:r>
            <a:r>
              <a:rPr sz="2700" spc="97" baseline="-23000" dirty="0">
                <a:latin typeface="Cambria" panose="02040503050406030204"/>
                <a:cs typeface="Cambria" panose="02040503050406030204"/>
              </a:rPr>
              <a:t>∈</a:t>
            </a:r>
            <a:r>
              <a:rPr sz="2700" spc="179" baseline="-23000" dirty="0">
                <a:latin typeface="Cambria" panose="02040503050406030204"/>
                <a:cs typeface="Cambria" panose="02040503050406030204"/>
              </a:rPr>
              <a:t> </a:t>
            </a:r>
            <a:r>
              <a:rPr sz="2700" spc="104" baseline="-23000" dirty="0">
                <a:latin typeface="Arial" panose="020B0604020202020204"/>
                <a:cs typeface="Arial" panose="020B0604020202020204"/>
              </a:rPr>
              <a:t>R</a:t>
            </a:r>
            <a:r>
              <a:rPr sz="1250" i="1" spc="70" dirty="0">
                <a:latin typeface="Calibri" panose="020F0502020204030204"/>
                <a:cs typeface="Calibri" panose="020F0502020204030204"/>
              </a:rPr>
              <a:t>n</a:t>
            </a:r>
            <a:r>
              <a:rPr sz="1250" spc="70" dirty="0">
                <a:latin typeface="Cambria" panose="02040503050406030204"/>
                <a:cs typeface="Cambria" panose="02040503050406030204"/>
              </a:rPr>
              <a:t>×</a:t>
            </a:r>
            <a:r>
              <a:rPr sz="1250" i="1" spc="70" dirty="0">
                <a:latin typeface="Calibri" panose="020F0502020204030204"/>
                <a:cs typeface="Calibri" panose="020F0502020204030204"/>
              </a:rPr>
              <a:t>d</a:t>
            </a:r>
            <a:endParaRPr sz="1250">
              <a:latin typeface="Calibri" panose="020F0502020204030204"/>
              <a:cs typeface="Calibri" panose="020F0502020204030204"/>
            </a:endParaRPr>
          </a:p>
        </p:txBody>
      </p:sp>
      <p:sp>
        <p:nvSpPr>
          <p:cNvPr id="38" name="object 38"/>
          <p:cNvSpPr txBox="1"/>
          <p:nvPr/>
        </p:nvSpPr>
        <p:spPr>
          <a:xfrm>
            <a:off x="5734595" y="5881326"/>
            <a:ext cx="5654675" cy="406400"/>
          </a:xfrm>
          <a:prstGeom prst="rect">
            <a:avLst/>
          </a:prstGeom>
        </p:spPr>
        <p:txBody>
          <a:bodyPr vert="horz" wrap="square" lIns="0" tIns="12700" rIns="0" bIns="0" rtlCol="0">
            <a:spAutoFit/>
          </a:bodyPr>
          <a:lstStyle/>
          <a:p>
            <a:pPr marL="12700" marR="5080">
              <a:lnSpc>
                <a:spcPct val="119000"/>
              </a:lnSpc>
              <a:spcBef>
                <a:spcPts val="100"/>
              </a:spcBef>
            </a:pPr>
            <a:r>
              <a:rPr sz="1000" i="1" spc="-25" dirty="0">
                <a:solidFill>
                  <a:srgbClr val="6A7280"/>
                </a:solidFill>
                <a:latin typeface="Arial" panose="020B0604020202020204"/>
                <a:cs typeface="Arial" panose="020B0604020202020204"/>
              </a:rPr>
              <a:t>Theorem </a:t>
            </a:r>
            <a:r>
              <a:rPr sz="1000" i="1" spc="-95" dirty="0">
                <a:solidFill>
                  <a:srgbClr val="6A7280"/>
                </a:solidFill>
                <a:latin typeface="Arial" panose="020B0604020202020204"/>
                <a:cs typeface="Arial" panose="020B0604020202020204"/>
              </a:rPr>
              <a:t>4.1</a:t>
            </a:r>
            <a:r>
              <a:rPr sz="1000" i="1" spc="30" dirty="0">
                <a:solidFill>
                  <a:srgbClr val="6A7280"/>
                </a:solidFill>
                <a:latin typeface="Arial" panose="020B0604020202020204"/>
                <a:cs typeface="Arial" panose="020B0604020202020204"/>
              </a:rPr>
              <a:t> </a:t>
            </a:r>
            <a:r>
              <a:rPr sz="1050" spc="-185" dirty="0">
                <a:solidFill>
                  <a:srgbClr val="6A7280"/>
                </a:solidFill>
                <a:latin typeface="宋体" panose="02010600030101010101" pitchFamily="2" charset="-122"/>
                <a:cs typeface="宋体" panose="02010600030101010101" pitchFamily="2" charset="-122"/>
              </a:rPr>
              <a:t>证明了 </a:t>
            </a:r>
            <a:r>
              <a:rPr sz="900" b="1" dirty="0">
                <a:latin typeface="Georgia" panose="02040502050405020303"/>
                <a:cs typeface="Georgia" panose="02040502050405020303"/>
              </a:rPr>
              <a:t>U</a:t>
            </a:r>
            <a:r>
              <a:rPr sz="900" b="1" spc="105" dirty="0">
                <a:latin typeface="Georgia" panose="02040502050405020303"/>
                <a:cs typeface="Georgia" panose="02040502050405020303"/>
              </a:rPr>
              <a:t> </a:t>
            </a:r>
            <a:r>
              <a:rPr sz="1050" spc="-170" dirty="0">
                <a:solidFill>
                  <a:srgbClr val="6A7280"/>
                </a:solidFill>
                <a:latin typeface="宋体" panose="02010600030101010101" pitchFamily="2" charset="-122"/>
                <a:cs typeface="宋体" panose="02010600030101010101" pitchFamily="2" charset="-122"/>
              </a:rPr>
              <a:t>在正交旋转下可近似任何时间步的特征基，误差受限于特征间隙 </a:t>
            </a:r>
            <a:r>
              <a:rPr sz="1000" i="1" spc="-30" dirty="0">
                <a:solidFill>
                  <a:srgbClr val="6A7280"/>
                </a:solidFill>
                <a:latin typeface="Arial" panose="020B0604020202020204"/>
                <a:cs typeface="Arial" panose="020B0604020202020204"/>
              </a:rPr>
              <a:t>(Eigen-</a:t>
            </a:r>
            <a:r>
              <a:rPr sz="1000" i="1" spc="-70" dirty="0">
                <a:solidFill>
                  <a:srgbClr val="6A7280"/>
                </a:solidFill>
                <a:latin typeface="Arial" panose="020B0604020202020204"/>
                <a:cs typeface="Arial" panose="020B0604020202020204"/>
              </a:rPr>
              <a:t>gap)</a:t>
            </a:r>
            <a:r>
              <a:rPr sz="1050" spc="-130" dirty="0">
                <a:solidFill>
                  <a:srgbClr val="6A7280"/>
                </a:solidFill>
                <a:latin typeface="宋体" panose="02010600030101010101" pitchFamily="2" charset="-122"/>
                <a:cs typeface="宋体" panose="02010600030101010101" pitchFamily="2" charset="-122"/>
              </a:rPr>
              <a:t>，确保跨批</a:t>
            </a:r>
            <a:r>
              <a:rPr sz="1050" spc="-160" dirty="0">
                <a:solidFill>
                  <a:srgbClr val="6A7280"/>
                </a:solidFill>
                <a:latin typeface="宋体" panose="02010600030101010101" pitchFamily="2" charset="-122"/>
                <a:cs typeface="宋体" panose="02010600030101010101" pitchFamily="2" charset="-122"/>
              </a:rPr>
              <a:t>次、非平稳数据的频域特征稳定性。</a:t>
            </a:r>
            <a:endParaRPr sz="1050">
              <a:latin typeface="宋体" panose="02010600030101010101" pitchFamily="2" charset="-122"/>
              <a:cs typeface="宋体" panose="02010600030101010101" pitchFamily="2" charset="-122"/>
            </a:endParaRPr>
          </a:p>
        </p:txBody>
      </p:sp>
      <p:sp>
        <p:nvSpPr>
          <p:cNvPr id="39" name="object 39"/>
          <p:cNvSpPr/>
          <p:nvPr/>
        </p:nvSpPr>
        <p:spPr>
          <a:xfrm>
            <a:off x="0" y="0"/>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40" name="object 40"/>
          <p:cNvSpPr/>
          <p:nvPr/>
        </p:nvSpPr>
        <p:spPr>
          <a:xfrm>
            <a:off x="0" y="740092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42" name="object 42"/>
          <p:cNvSpPr txBox="1"/>
          <p:nvPr/>
        </p:nvSpPr>
        <p:spPr>
          <a:xfrm>
            <a:off x="444500" y="6832677"/>
            <a:ext cx="2416810" cy="133350"/>
          </a:xfrm>
          <a:prstGeom prst="rect">
            <a:avLst/>
          </a:prstGeom>
        </p:spPr>
        <p:txBody>
          <a:bodyPr vert="horz" wrap="square" lIns="0" tIns="0" rIns="0" bIns="0" rtlCol="0">
            <a:spAutoFit/>
          </a:bodyPr>
          <a:lstStyle/>
          <a:p>
            <a:pPr marL="12700">
              <a:lnSpc>
                <a:spcPts val="875"/>
              </a:lnSpc>
            </a:pPr>
            <a:r>
              <a:rPr sz="750" spc="65" dirty="0">
                <a:solidFill>
                  <a:srgbClr val="9CA2AF"/>
                </a:solidFill>
                <a:latin typeface="Courier New" panose="02070309020205020404"/>
                <a:cs typeface="Courier New" panose="02070309020205020404"/>
              </a:rPr>
              <a:t>METHODOLOGY:</a:t>
            </a:r>
            <a:r>
              <a:rPr sz="750" spc="165" dirty="0">
                <a:solidFill>
                  <a:srgbClr val="9CA2AF"/>
                </a:solidFill>
                <a:latin typeface="Courier New" panose="02070309020205020404"/>
                <a:cs typeface="Courier New" panose="02070309020205020404"/>
              </a:rPr>
              <a:t> </a:t>
            </a:r>
            <a:r>
              <a:rPr sz="750" spc="60" dirty="0">
                <a:solidFill>
                  <a:srgbClr val="9CA2AF"/>
                </a:solidFill>
                <a:latin typeface="Courier New" panose="02070309020205020404"/>
                <a:cs typeface="Courier New" panose="02070309020205020404"/>
              </a:rPr>
              <a:t>GRAPH</a:t>
            </a:r>
            <a:r>
              <a:rPr sz="750" spc="165" dirty="0">
                <a:solidFill>
                  <a:srgbClr val="9CA2AF"/>
                </a:solidFill>
                <a:latin typeface="Courier New" panose="02070309020205020404"/>
                <a:cs typeface="Courier New" panose="02070309020205020404"/>
              </a:rPr>
              <a:t> </a:t>
            </a:r>
            <a:r>
              <a:rPr sz="750" spc="65" dirty="0">
                <a:solidFill>
                  <a:srgbClr val="9CA2AF"/>
                </a:solidFill>
                <a:latin typeface="Courier New" panose="02070309020205020404"/>
                <a:cs typeface="Courier New" panose="02070309020205020404"/>
              </a:rPr>
              <a:t>SPECTRAL</a:t>
            </a:r>
            <a:r>
              <a:rPr sz="750" spc="170" dirty="0">
                <a:solidFill>
                  <a:srgbClr val="9CA2AF"/>
                </a:solidFill>
                <a:latin typeface="Courier New" panose="02070309020205020404"/>
                <a:cs typeface="Courier New" panose="02070309020205020404"/>
              </a:rPr>
              <a:t> </a:t>
            </a:r>
            <a:r>
              <a:rPr sz="750" spc="55" dirty="0">
                <a:solidFill>
                  <a:srgbClr val="9CA2AF"/>
                </a:solidFill>
                <a:latin typeface="Courier New" panose="02070309020205020404"/>
                <a:cs typeface="Courier New" panose="02070309020205020404"/>
              </a:rPr>
              <a:t>ANALYSIS</a:t>
            </a:r>
            <a:endParaRPr sz="750">
              <a:latin typeface="Courier New" panose="02070309020205020404"/>
              <a:cs typeface="Courier New" panose="02070309020205020404"/>
            </a:endParaRPr>
          </a:p>
        </p:txBody>
      </p:sp>
      <p:pic>
        <p:nvPicPr>
          <p:cNvPr id="34" name="图片 33"/>
          <p:cNvPicPr>
            <a:picLocks noChangeAspect="1"/>
          </p:cNvPicPr>
          <p:nvPr/>
        </p:nvPicPr>
        <p:blipFill>
          <a:blip r:embed="rId2"/>
          <a:stretch>
            <a:fillRect/>
          </a:stretch>
        </p:blipFill>
        <p:spPr>
          <a:xfrm>
            <a:off x="1524000" y="3258820"/>
            <a:ext cx="2371090" cy="479425"/>
          </a:xfrm>
          <a:prstGeom prst="rect">
            <a:avLst/>
          </a:prstGeom>
        </p:spPr>
      </p:pic>
      <p:pic>
        <p:nvPicPr>
          <p:cNvPr id="41" name="图片 40"/>
          <p:cNvPicPr>
            <a:picLocks noChangeAspect="1"/>
          </p:cNvPicPr>
          <p:nvPr/>
        </p:nvPicPr>
        <p:blipFill>
          <a:blip r:embed="rId3"/>
          <a:stretch>
            <a:fillRect/>
          </a:stretch>
        </p:blipFill>
        <p:spPr>
          <a:xfrm>
            <a:off x="1218565" y="3782695"/>
            <a:ext cx="2981325" cy="633730"/>
          </a:xfrm>
          <a:prstGeom prst="rect">
            <a:avLst/>
          </a:prstGeom>
        </p:spPr>
      </p:pic>
      <p:pic>
        <p:nvPicPr>
          <p:cNvPr id="43" name="图片 42"/>
          <p:cNvPicPr>
            <a:picLocks noChangeAspect="1"/>
          </p:cNvPicPr>
          <p:nvPr/>
        </p:nvPicPr>
        <p:blipFill>
          <a:blip r:embed="rId4"/>
          <a:stretch>
            <a:fillRect/>
          </a:stretch>
        </p:blipFill>
        <p:spPr>
          <a:xfrm>
            <a:off x="1524000" y="4538345"/>
            <a:ext cx="2122170" cy="1493520"/>
          </a:xfrm>
          <a:prstGeom prst="rect">
            <a:avLst/>
          </a:prstGeom>
        </p:spPr>
      </p:pic>
      <p:pic>
        <p:nvPicPr>
          <p:cNvPr id="44" name="图片 43"/>
          <p:cNvPicPr>
            <a:picLocks noChangeAspect="1"/>
          </p:cNvPicPr>
          <p:nvPr/>
        </p:nvPicPr>
        <p:blipFill>
          <a:blip r:embed="rId5"/>
          <a:stretch>
            <a:fillRect/>
          </a:stretch>
        </p:blipFill>
        <p:spPr>
          <a:xfrm>
            <a:off x="6172200" y="6316980"/>
            <a:ext cx="4562475" cy="638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390397"/>
            <a:ext cx="6656070" cy="490855"/>
          </a:xfrm>
          <a:prstGeom prst="rect">
            <a:avLst/>
          </a:prstGeom>
        </p:spPr>
        <p:txBody>
          <a:bodyPr vert="horz" wrap="square" lIns="0" tIns="12700" rIns="0" bIns="0" rtlCol="0">
            <a:spAutoFit/>
          </a:bodyPr>
          <a:lstStyle/>
          <a:p>
            <a:pPr marL="12700">
              <a:lnSpc>
                <a:spcPct val="100000"/>
              </a:lnSpc>
              <a:spcBef>
                <a:spcPts val="100"/>
              </a:spcBef>
            </a:pPr>
            <a:r>
              <a:rPr b="1" spc="-305" dirty="0">
                <a:latin typeface="微软雅黑" panose="020B0503020204020204" charset="-122"/>
                <a:cs typeface="微软雅黑" panose="020B0503020204020204" charset="-122"/>
              </a:rPr>
              <a:t>深</a:t>
            </a:r>
            <a:r>
              <a:rPr spc="-220" dirty="0"/>
              <a:t>度剖析 </a:t>
            </a:r>
            <a:r>
              <a:rPr sz="2850" b="1" spc="-175" dirty="0">
                <a:latin typeface="Trebuchet MS" panose="020B0603020202020204"/>
                <a:cs typeface="Trebuchet MS" panose="020B0603020202020204"/>
              </a:rPr>
              <a:t>2</a:t>
            </a:r>
            <a:r>
              <a:rPr spc="-175" dirty="0"/>
              <a:t>：</a:t>
            </a:r>
            <a:r>
              <a:rPr b="1" spc="-305" dirty="0">
                <a:latin typeface="微软雅黑" panose="020B0503020204020204" charset="-122"/>
                <a:cs typeface="微软雅黑" panose="020B0503020204020204" charset="-122"/>
              </a:rPr>
              <a:t>基</a:t>
            </a:r>
            <a:r>
              <a:rPr spc="-305" dirty="0"/>
              <a:t>于能</a:t>
            </a:r>
            <a:r>
              <a:rPr b="1" spc="-305" dirty="0">
                <a:latin typeface="微软雅黑" panose="020B0503020204020204" charset="-122"/>
                <a:cs typeface="微软雅黑" panose="020B0503020204020204" charset="-122"/>
              </a:rPr>
              <a:t>量保存</a:t>
            </a:r>
            <a:r>
              <a:rPr spc="-305" dirty="0"/>
              <a:t>的</a:t>
            </a:r>
            <a:r>
              <a:rPr b="1" spc="-305" dirty="0">
                <a:latin typeface="微软雅黑" panose="020B0503020204020204" charset="-122"/>
                <a:cs typeface="微软雅黑" panose="020B0503020204020204" charset="-122"/>
              </a:rPr>
              <a:t>频</a:t>
            </a:r>
            <a:r>
              <a:rPr spc="-305" dirty="0"/>
              <a:t>域</a:t>
            </a:r>
            <a:r>
              <a:rPr b="1" spc="-305" dirty="0">
                <a:latin typeface="微软雅黑" panose="020B0503020204020204" charset="-122"/>
                <a:cs typeface="微软雅黑" panose="020B0503020204020204" charset="-122"/>
              </a:rPr>
              <a:t>节</a:t>
            </a:r>
            <a:r>
              <a:rPr spc="-305" dirty="0"/>
              <a:t>点分</a:t>
            </a:r>
            <a:r>
              <a:rPr b="1" spc="-420" dirty="0">
                <a:latin typeface="微软雅黑" panose="020B0503020204020204" charset="-122"/>
                <a:cs typeface="微软雅黑" panose="020B0503020204020204" charset="-122"/>
              </a:rPr>
              <a:t>组</a:t>
            </a:r>
            <a:endParaRPr sz="2850">
              <a:latin typeface="微软雅黑" panose="020B0503020204020204" charset="-122"/>
              <a:cs typeface="微软雅黑" panose="020B0503020204020204" charset="-122"/>
            </a:endParaRPr>
          </a:p>
        </p:txBody>
      </p:sp>
      <p:sp>
        <p:nvSpPr>
          <p:cNvPr id="3" name="object 3"/>
          <p:cNvSpPr/>
          <p:nvPr/>
        </p:nvSpPr>
        <p:spPr>
          <a:xfrm>
            <a:off x="457199" y="6086474"/>
            <a:ext cx="11277600" cy="9525"/>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2F4F5"/>
          </a:solidFill>
        </p:spPr>
        <p:txBody>
          <a:bodyPr wrap="square" lIns="0" tIns="0" rIns="0" bIns="0" rtlCol="0"/>
          <a:lstStyle/>
          <a:p/>
        </p:txBody>
      </p:sp>
      <p:grpSp>
        <p:nvGrpSpPr>
          <p:cNvPr id="4" name="object 4"/>
          <p:cNvGrpSpPr/>
          <p:nvPr/>
        </p:nvGrpSpPr>
        <p:grpSpPr>
          <a:xfrm>
            <a:off x="457200" y="1352549"/>
            <a:ext cx="3609975" cy="4429125"/>
            <a:chOff x="457200" y="1352549"/>
            <a:chExt cx="3609975" cy="4429125"/>
          </a:xfrm>
        </p:grpSpPr>
        <p:sp>
          <p:nvSpPr>
            <p:cNvPr id="5" name="object 5"/>
            <p:cNvSpPr/>
            <p:nvPr/>
          </p:nvSpPr>
          <p:spPr>
            <a:xfrm>
              <a:off x="461962" y="1357312"/>
              <a:ext cx="3600450" cy="4419600"/>
            </a:xfrm>
            <a:custGeom>
              <a:avLst/>
              <a:gdLst/>
              <a:ahLst/>
              <a:cxnLst/>
              <a:rect l="l" t="t" r="r" b="b"/>
              <a:pathLst>
                <a:path w="3600450" h="4419600">
                  <a:moveTo>
                    <a:pt x="3498104" y="4419599"/>
                  </a:moveTo>
                  <a:lnTo>
                    <a:pt x="102345" y="4419599"/>
                  </a:lnTo>
                  <a:lnTo>
                    <a:pt x="95221" y="4418897"/>
                  </a:lnTo>
                  <a:lnTo>
                    <a:pt x="54661" y="4405134"/>
                  </a:lnTo>
                  <a:lnTo>
                    <a:pt x="22456" y="4376897"/>
                  </a:lnTo>
                  <a:lnTo>
                    <a:pt x="3507" y="4338485"/>
                  </a:lnTo>
                  <a:lnTo>
                    <a:pt x="0" y="4317254"/>
                  </a:lnTo>
                  <a:lnTo>
                    <a:pt x="0" y="4310062"/>
                  </a:lnTo>
                  <a:lnTo>
                    <a:pt x="0" y="102345"/>
                  </a:lnTo>
                  <a:lnTo>
                    <a:pt x="11090" y="60974"/>
                  </a:lnTo>
                  <a:lnTo>
                    <a:pt x="37168" y="26997"/>
                  </a:lnTo>
                  <a:lnTo>
                    <a:pt x="74264" y="5585"/>
                  </a:lnTo>
                  <a:lnTo>
                    <a:pt x="102345" y="0"/>
                  </a:lnTo>
                  <a:lnTo>
                    <a:pt x="3498104" y="0"/>
                  </a:lnTo>
                  <a:lnTo>
                    <a:pt x="3539474" y="11090"/>
                  </a:lnTo>
                  <a:lnTo>
                    <a:pt x="3573452" y="37168"/>
                  </a:lnTo>
                  <a:lnTo>
                    <a:pt x="3594863" y="74264"/>
                  </a:lnTo>
                  <a:lnTo>
                    <a:pt x="3600449" y="102345"/>
                  </a:lnTo>
                  <a:lnTo>
                    <a:pt x="3600449" y="4317254"/>
                  </a:lnTo>
                  <a:lnTo>
                    <a:pt x="3589358" y="4358624"/>
                  </a:lnTo>
                  <a:lnTo>
                    <a:pt x="3563280" y="4392602"/>
                  </a:lnTo>
                  <a:lnTo>
                    <a:pt x="3526185" y="4414013"/>
                  </a:lnTo>
                  <a:lnTo>
                    <a:pt x="3505227" y="4418897"/>
                  </a:lnTo>
                  <a:lnTo>
                    <a:pt x="3498104" y="4419599"/>
                  </a:lnTo>
                  <a:close/>
                </a:path>
              </a:pathLst>
            </a:custGeom>
            <a:solidFill>
              <a:srgbClr val="F9FAFA"/>
            </a:solidFill>
          </p:spPr>
          <p:txBody>
            <a:bodyPr wrap="square" lIns="0" tIns="0" rIns="0" bIns="0" rtlCol="0"/>
            <a:lstStyle/>
            <a:p/>
          </p:txBody>
        </p:sp>
        <p:sp>
          <p:nvSpPr>
            <p:cNvPr id="6" name="object 6"/>
            <p:cNvSpPr/>
            <p:nvPr/>
          </p:nvSpPr>
          <p:spPr>
            <a:xfrm>
              <a:off x="461962" y="1357312"/>
              <a:ext cx="3600450" cy="4419600"/>
            </a:xfrm>
            <a:custGeom>
              <a:avLst/>
              <a:gdLst/>
              <a:ahLst/>
              <a:cxnLst/>
              <a:rect l="l" t="t" r="r" b="b"/>
              <a:pathLst>
                <a:path w="3600450" h="4419600">
                  <a:moveTo>
                    <a:pt x="0" y="43100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4310062"/>
                  </a:lnTo>
                  <a:lnTo>
                    <a:pt x="3600449" y="4317254"/>
                  </a:lnTo>
                  <a:lnTo>
                    <a:pt x="3599747" y="4324377"/>
                  </a:lnTo>
                  <a:lnTo>
                    <a:pt x="3598344" y="4331431"/>
                  </a:lnTo>
                  <a:lnTo>
                    <a:pt x="3596941" y="4338485"/>
                  </a:lnTo>
                  <a:lnTo>
                    <a:pt x="3594863" y="4345334"/>
                  </a:lnTo>
                  <a:lnTo>
                    <a:pt x="3592110" y="4351979"/>
                  </a:lnTo>
                  <a:lnTo>
                    <a:pt x="3589358" y="4358624"/>
                  </a:lnTo>
                  <a:lnTo>
                    <a:pt x="3563280" y="4392602"/>
                  </a:lnTo>
                  <a:lnTo>
                    <a:pt x="3551767" y="4401138"/>
                  </a:lnTo>
                  <a:lnTo>
                    <a:pt x="3545787" y="4405134"/>
                  </a:lnTo>
                  <a:lnTo>
                    <a:pt x="3539474" y="4408508"/>
                  </a:lnTo>
                  <a:lnTo>
                    <a:pt x="3532829" y="4411260"/>
                  </a:lnTo>
                  <a:lnTo>
                    <a:pt x="3526185" y="4414013"/>
                  </a:lnTo>
                  <a:lnTo>
                    <a:pt x="3519335" y="4416091"/>
                  </a:lnTo>
                  <a:lnTo>
                    <a:pt x="3512281" y="4417494"/>
                  </a:lnTo>
                  <a:lnTo>
                    <a:pt x="3505227" y="4418897"/>
                  </a:lnTo>
                  <a:lnTo>
                    <a:pt x="3498104" y="4419599"/>
                  </a:lnTo>
                  <a:lnTo>
                    <a:pt x="3490912" y="4419599"/>
                  </a:lnTo>
                  <a:lnTo>
                    <a:pt x="109537" y="4419599"/>
                  </a:lnTo>
                  <a:lnTo>
                    <a:pt x="102345" y="4419599"/>
                  </a:lnTo>
                  <a:lnTo>
                    <a:pt x="95221" y="4418897"/>
                  </a:lnTo>
                  <a:lnTo>
                    <a:pt x="88167" y="4417494"/>
                  </a:lnTo>
                  <a:lnTo>
                    <a:pt x="81113" y="4416091"/>
                  </a:lnTo>
                  <a:lnTo>
                    <a:pt x="74264" y="4414013"/>
                  </a:lnTo>
                  <a:lnTo>
                    <a:pt x="67619" y="4411260"/>
                  </a:lnTo>
                  <a:lnTo>
                    <a:pt x="60974" y="4408508"/>
                  </a:lnTo>
                  <a:lnTo>
                    <a:pt x="26997" y="4382430"/>
                  </a:lnTo>
                  <a:lnTo>
                    <a:pt x="18460" y="4370917"/>
                  </a:lnTo>
                  <a:lnTo>
                    <a:pt x="14464" y="4364937"/>
                  </a:lnTo>
                  <a:lnTo>
                    <a:pt x="701" y="4324377"/>
                  </a:lnTo>
                  <a:lnTo>
                    <a:pt x="0" y="4317254"/>
                  </a:lnTo>
                  <a:lnTo>
                    <a:pt x="0" y="4310062"/>
                  </a:lnTo>
                  <a:close/>
                </a:path>
              </a:pathLst>
            </a:custGeom>
            <a:ln w="9524">
              <a:solidFill>
                <a:srgbClr val="E4E7EB"/>
              </a:solidFill>
            </a:ln>
          </p:spPr>
          <p:txBody>
            <a:bodyPr wrap="square" lIns="0" tIns="0" rIns="0" bIns="0" rtlCol="0"/>
            <a:lstStyle/>
            <a:p/>
          </p:txBody>
        </p:sp>
        <p:sp>
          <p:nvSpPr>
            <p:cNvPr id="7" name="object 7"/>
            <p:cNvSpPr/>
            <p:nvPr/>
          </p:nvSpPr>
          <p:spPr>
            <a:xfrm>
              <a:off x="695324" y="1590674"/>
              <a:ext cx="304800" cy="304800"/>
            </a:xfrm>
            <a:custGeom>
              <a:avLst/>
              <a:gdLst/>
              <a:ahLst/>
              <a:cxnLst/>
              <a:rect l="l" t="t" r="r" b="b"/>
              <a:pathLst>
                <a:path w="304800" h="304800">
                  <a:moveTo>
                    <a:pt x="152399" y="304799"/>
                  </a:moveTo>
                  <a:lnTo>
                    <a:pt x="108160" y="298239"/>
                  </a:lnTo>
                  <a:lnTo>
                    <a:pt x="67731" y="279115"/>
                  </a:lnTo>
                  <a:lnTo>
                    <a:pt x="34591" y="249082"/>
                  </a:lnTo>
                  <a:lnTo>
                    <a:pt x="11600" y="210720"/>
                  </a:lnTo>
                  <a:lnTo>
                    <a:pt x="732" y="167337"/>
                  </a:lnTo>
                  <a:lnTo>
                    <a:pt x="0" y="152399"/>
                  </a:lnTo>
                  <a:lnTo>
                    <a:pt x="183" y="144912"/>
                  </a:lnTo>
                  <a:lnTo>
                    <a:pt x="8904" y="101066"/>
                  </a:lnTo>
                  <a:lnTo>
                    <a:pt x="29995" y="61607"/>
                  </a:lnTo>
                  <a:lnTo>
                    <a:pt x="61607" y="29995"/>
                  </a:lnTo>
                  <a:lnTo>
                    <a:pt x="101066" y="8904"/>
                  </a:lnTo>
                  <a:lnTo>
                    <a:pt x="144912" y="183"/>
                  </a:lnTo>
                  <a:lnTo>
                    <a:pt x="152399" y="0"/>
                  </a:lnTo>
                  <a:lnTo>
                    <a:pt x="159886" y="183"/>
                  </a:lnTo>
                  <a:lnTo>
                    <a:pt x="203733" y="8904"/>
                  </a:lnTo>
                  <a:lnTo>
                    <a:pt x="243192" y="29995"/>
                  </a:lnTo>
                  <a:lnTo>
                    <a:pt x="274804" y="61607"/>
                  </a:lnTo>
                  <a:lnTo>
                    <a:pt x="295895" y="101066"/>
                  </a:lnTo>
                  <a:lnTo>
                    <a:pt x="304616" y="144912"/>
                  </a:lnTo>
                  <a:lnTo>
                    <a:pt x="304799" y="152399"/>
                  </a:lnTo>
                  <a:lnTo>
                    <a:pt x="304616" y="159886"/>
                  </a:lnTo>
                  <a:lnTo>
                    <a:pt x="295895" y="203733"/>
                  </a:lnTo>
                  <a:lnTo>
                    <a:pt x="274804" y="243192"/>
                  </a:lnTo>
                  <a:lnTo>
                    <a:pt x="243192" y="274804"/>
                  </a:lnTo>
                  <a:lnTo>
                    <a:pt x="203733" y="295895"/>
                  </a:lnTo>
                  <a:lnTo>
                    <a:pt x="159886" y="304616"/>
                  </a:lnTo>
                  <a:lnTo>
                    <a:pt x="152399" y="304799"/>
                  </a:lnTo>
                  <a:close/>
                </a:path>
              </a:pathLst>
            </a:custGeom>
            <a:solidFill>
              <a:srgbClr val="000000"/>
            </a:solidFill>
          </p:spPr>
          <p:txBody>
            <a:bodyPr wrap="square" lIns="0" tIns="0" rIns="0" bIns="0" rtlCol="0"/>
            <a:lstStyle/>
            <a:p/>
          </p:txBody>
        </p:sp>
      </p:grpSp>
      <p:sp>
        <p:nvSpPr>
          <p:cNvPr id="8" name="object 8"/>
          <p:cNvSpPr txBox="1"/>
          <p:nvPr/>
        </p:nvSpPr>
        <p:spPr>
          <a:xfrm>
            <a:off x="754955" y="1625600"/>
            <a:ext cx="186055" cy="185420"/>
          </a:xfrm>
          <a:prstGeom prst="rect">
            <a:avLst/>
          </a:prstGeom>
        </p:spPr>
        <p:txBody>
          <a:bodyPr vert="horz" wrap="square" lIns="0" tIns="12700" rIns="0" bIns="0" rtlCol="0">
            <a:spAutoFit/>
          </a:bodyPr>
          <a:lstStyle/>
          <a:p>
            <a:pPr marL="12700">
              <a:lnSpc>
                <a:spcPct val="100000"/>
              </a:lnSpc>
              <a:spcBef>
                <a:spcPts val="100"/>
              </a:spcBef>
            </a:pPr>
            <a:r>
              <a:rPr sz="1050" spc="-25" dirty="0">
                <a:solidFill>
                  <a:srgbClr val="FFFFFF"/>
                </a:solidFill>
                <a:latin typeface="Courier New" panose="02070309020205020404"/>
                <a:cs typeface="Courier New" panose="02070309020205020404"/>
              </a:rPr>
              <a:t>01</a:t>
            </a:r>
            <a:endParaRPr sz="1050">
              <a:latin typeface="Courier New" panose="02070309020205020404"/>
              <a:cs typeface="Courier New" panose="02070309020205020404"/>
            </a:endParaRPr>
          </a:p>
        </p:txBody>
      </p:sp>
      <p:sp>
        <p:nvSpPr>
          <p:cNvPr id="9" name="object 9"/>
          <p:cNvSpPr txBox="1"/>
          <p:nvPr/>
        </p:nvSpPr>
        <p:spPr>
          <a:xfrm>
            <a:off x="1101725" y="1597025"/>
            <a:ext cx="1301750" cy="254000"/>
          </a:xfrm>
          <a:prstGeom prst="rect">
            <a:avLst/>
          </a:prstGeom>
        </p:spPr>
        <p:txBody>
          <a:bodyPr vert="horz" wrap="square" lIns="0" tIns="12700" rIns="0" bIns="0" rtlCol="0">
            <a:spAutoFit/>
          </a:bodyPr>
          <a:lstStyle/>
          <a:p>
            <a:pPr marL="12700">
              <a:lnSpc>
                <a:spcPct val="100000"/>
              </a:lnSpc>
              <a:spcBef>
                <a:spcPts val="100"/>
              </a:spcBef>
            </a:pPr>
            <a:r>
              <a:rPr sz="1500" spc="-75" dirty="0">
                <a:latin typeface="宋体" panose="02010600030101010101" pitchFamily="2" charset="-122"/>
                <a:cs typeface="宋体" panose="02010600030101010101" pitchFamily="2" charset="-122"/>
              </a:rPr>
              <a:t>频带软划分边界</a:t>
            </a:r>
            <a:endParaRPr sz="1500">
              <a:latin typeface="宋体" panose="02010600030101010101" pitchFamily="2" charset="-122"/>
              <a:cs typeface="宋体" panose="02010600030101010101" pitchFamily="2" charset="-122"/>
            </a:endParaRPr>
          </a:p>
        </p:txBody>
      </p:sp>
      <p:sp>
        <p:nvSpPr>
          <p:cNvPr id="10" name="object 10"/>
          <p:cNvSpPr txBox="1"/>
          <p:nvPr/>
        </p:nvSpPr>
        <p:spPr>
          <a:xfrm>
            <a:off x="682624" y="2002942"/>
            <a:ext cx="3073400" cy="520700"/>
          </a:xfrm>
          <a:prstGeom prst="rect">
            <a:avLst/>
          </a:prstGeom>
        </p:spPr>
        <p:txBody>
          <a:bodyPr vert="horz" wrap="square" lIns="0" tIns="12065" rIns="0" bIns="0" rtlCol="0">
            <a:spAutoFit/>
          </a:bodyPr>
          <a:lstStyle/>
          <a:p>
            <a:pPr marL="12700" marR="5080">
              <a:lnSpc>
                <a:spcPct val="120000"/>
              </a:lnSpc>
              <a:spcBef>
                <a:spcPts val="95"/>
              </a:spcBef>
            </a:pPr>
            <a:r>
              <a:rPr sz="1350" spc="-165" dirty="0">
                <a:solidFill>
                  <a:srgbClr val="4A5462"/>
                </a:solidFill>
                <a:latin typeface="宋体" panose="02010600030101010101" pitchFamily="2" charset="-122"/>
                <a:cs typeface="宋体" panose="02010600030101010101" pitchFamily="2" charset="-122"/>
              </a:rPr>
              <a:t>利用可学习参数定量控制频域分布的连续性与</a:t>
            </a:r>
            <a:r>
              <a:rPr sz="1350" spc="-130" dirty="0">
                <a:solidFill>
                  <a:srgbClr val="4A5462"/>
                </a:solidFill>
                <a:latin typeface="宋体" panose="02010600030101010101" pitchFamily="2" charset="-122"/>
                <a:cs typeface="宋体" panose="02010600030101010101" pitchFamily="2" charset="-122"/>
              </a:rPr>
              <a:t>锐度：</a:t>
            </a:r>
            <a:endParaRPr sz="1350">
              <a:latin typeface="宋体" panose="02010600030101010101" pitchFamily="2" charset="-122"/>
              <a:cs typeface="宋体" panose="02010600030101010101" pitchFamily="2" charset="-122"/>
            </a:endParaRPr>
          </a:p>
        </p:txBody>
      </p:sp>
      <p:sp>
        <p:nvSpPr>
          <p:cNvPr id="11" name="object 11"/>
          <p:cNvSpPr/>
          <p:nvPr/>
        </p:nvSpPr>
        <p:spPr>
          <a:xfrm>
            <a:off x="695312" y="2847974"/>
            <a:ext cx="57150" cy="647700"/>
          </a:xfrm>
          <a:custGeom>
            <a:avLst/>
            <a:gdLst/>
            <a:ahLst/>
            <a:cxnLst/>
            <a:rect l="l" t="t" r="r" b="b"/>
            <a:pathLst>
              <a:path w="57150" h="647700">
                <a:moveTo>
                  <a:pt x="57150" y="615340"/>
                </a:moveTo>
                <a:lnTo>
                  <a:pt x="32372" y="590550"/>
                </a:lnTo>
                <a:lnTo>
                  <a:pt x="24790" y="590550"/>
                </a:lnTo>
                <a:lnTo>
                  <a:pt x="0" y="615340"/>
                </a:lnTo>
                <a:lnTo>
                  <a:pt x="0" y="622922"/>
                </a:lnTo>
                <a:lnTo>
                  <a:pt x="24790" y="647700"/>
                </a:lnTo>
                <a:lnTo>
                  <a:pt x="32372" y="647700"/>
                </a:lnTo>
                <a:lnTo>
                  <a:pt x="57150" y="622922"/>
                </a:lnTo>
                <a:lnTo>
                  <a:pt x="57150" y="619125"/>
                </a:lnTo>
                <a:lnTo>
                  <a:pt x="57150" y="615340"/>
                </a:lnTo>
                <a:close/>
              </a:path>
              <a:path w="57150" h="64770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Lst>
          </a:custGeom>
          <a:solidFill>
            <a:srgbClr val="000000"/>
          </a:solidFill>
        </p:spPr>
        <p:txBody>
          <a:bodyPr wrap="square" lIns="0" tIns="0" rIns="0" bIns="0" rtlCol="0"/>
          <a:lstStyle/>
          <a:p/>
        </p:txBody>
      </p:sp>
      <p:sp>
        <p:nvSpPr>
          <p:cNvPr id="12" name="object 12"/>
          <p:cNvSpPr txBox="1"/>
          <p:nvPr/>
        </p:nvSpPr>
        <p:spPr>
          <a:xfrm>
            <a:off x="815975" y="2751264"/>
            <a:ext cx="692150" cy="206375"/>
          </a:xfrm>
          <a:prstGeom prst="rect">
            <a:avLst/>
          </a:prstGeom>
        </p:spPr>
        <p:txBody>
          <a:bodyPr vert="horz" wrap="square" lIns="0" tIns="17145" rIns="0" bIns="0" rtlCol="0">
            <a:spAutoFit/>
          </a:bodyPr>
          <a:lstStyle/>
          <a:p>
            <a:pPr marL="12700">
              <a:lnSpc>
                <a:spcPct val="100000"/>
              </a:lnSpc>
              <a:spcBef>
                <a:spcPts val="135"/>
              </a:spcBef>
            </a:pPr>
            <a:r>
              <a:rPr sz="1150" b="1" spc="-100" dirty="0">
                <a:latin typeface="微软雅黑" panose="020B0503020204020204" charset="-122"/>
                <a:cs typeface="微软雅黑" panose="020B0503020204020204" charset="-122"/>
              </a:rPr>
              <a:t>可学习参数</a:t>
            </a:r>
            <a:endParaRPr sz="1150">
              <a:latin typeface="微软雅黑" panose="020B0503020204020204" charset="-122"/>
              <a:cs typeface="微软雅黑" panose="020B0503020204020204" charset="-122"/>
            </a:endParaRPr>
          </a:p>
        </p:txBody>
      </p:sp>
      <p:sp>
        <p:nvSpPr>
          <p:cNvPr id="13" name="object 13"/>
          <p:cNvSpPr txBox="1"/>
          <p:nvPr/>
        </p:nvSpPr>
        <p:spPr>
          <a:xfrm>
            <a:off x="1133474" y="3038474"/>
            <a:ext cx="1352550" cy="152400"/>
          </a:xfrm>
          <a:prstGeom prst="rect">
            <a:avLst/>
          </a:prstGeom>
          <a:solidFill>
            <a:srgbClr val="FFFFFF"/>
          </a:solidFill>
        </p:spPr>
        <p:txBody>
          <a:bodyPr vert="horz" wrap="square" lIns="0" tIns="0" rIns="0" bIns="0" rtlCol="0">
            <a:spAutoFit/>
          </a:bodyPr>
          <a:lstStyle/>
          <a:p>
            <a:pPr marL="38100">
              <a:lnSpc>
                <a:spcPts val="1035"/>
              </a:lnSpc>
            </a:pPr>
            <a:r>
              <a:rPr sz="1050" dirty="0">
                <a:latin typeface="Courier New" panose="02070309020205020404"/>
                <a:cs typeface="Courier New" panose="02070309020205020404"/>
              </a:rPr>
              <a:t>$\tau_1, </a:t>
            </a:r>
            <a:r>
              <a:rPr sz="1050" spc="-10" dirty="0">
                <a:latin typeface="Courier New" panose="02070309020205020404"/>
                <a:cs typeface="Courier New" panose="02070309020205020404"/>
              </a:rPr>
              <a:t>\tau_2$</a:t>
            </a:r>
            <a:endParaRPr sz="1050">
              <a:latin typeface="Courier New" panose="02070309020205020404"/>
              <a:cs typeface="Courier New" panose="02070309020205020404"/>
            </a:endParaRPr>
          </a:p>
        </p:txBody>
      </p:sp>
      <p:sp>
        <p:nvSpPr>
          <p:cNvPr id="14" name="object 14"/>
          <p:cNvSpPr txBox="1"/>
          <p:nvPr/>
        </p:nvSpPr>
        <p:spPr>
          <a:xfrm>
            <a:off x="815975" y="2976364"/>
            <a:ext cx="3020695" cy="210820"/>
          </a:xfrm>
          <a:prstGeom prst="rect">
            <a:avLst/>
          </a:prstGeom>
        </p:spPr>
        <p:txBody>
          <a:bodyPr vert="horz" wrap="square" lIns="0" tIns="14605" rIns="0" bIns="0" rtlCol="0">
            <a:spAutoFit/>
          </a:bodyPr>
          <a:lstStyle/>
          <a:p>
            <a:pPr marL="12700">
              <a:lnSpc>
                <a:spcPct val="100000"/>
              </a:lnSpc>
              <a:spcBef>
                <a:spcPts val="115"/>
              </a:spcBef>
              <a:tabLst>
                <a:tab pos="1711960" algn="l"/>
              </a:tabLst>
            </a:pPr>
            <a:r>
              <a:rPr sz="1150" spc="-110" dirty="0">
                <a:latin typeface="宋体" panose="02010600030101010101" pitchFamily="2" charset="-122"/>
                <a:cs typeface="宋体" panose="02010600030101010101" pitchFamily="2" charset="-122"/>
              </a:rPr>
              <a:t>边</a:t>
            </a:r>
            <a:r>
              <a:rPr sz="1150" spc="-50" dirty="0">
                <a:latin typeface="宋体" panose="02010600030101010101" pitchFamily="2" charset="-122"/>
                <a:cs typeface="宋体" panose="02010600030101010101" pitchFamily="2" charset="-122"/>
              </a:rPr>
              <a:t>界</a:t>
            </a:r>
            <a:r>
              <a:rPr sz="1150" dirty="0">
                <a:latin typeface="宋体" panose="02010600030101010101" pitchFamily="2" charset="-122"/>
                <a:cs typeface="宋体" panose="02010600030101010101" pitchFamily="2" charset="-122"/>
              </a:rPr>
              <a:t>	</a:t>
            </a:r>
            <a:r>
              <a:rPr sz="1150" spc="-110" dirty="0">
                <a:latin typeface="宋体" panose="02010600030101010101" pitchFamily="2" charset="-122"/>
                <a:cs typeface="宋体" panose="02010600030101010101" pitchFamily="2" charset="-122"/>
              </a:rPr>
              <a:t>控制低</a:t>
            </a:r>
            <a:r>
              <a:rPr sz="1200" dirty="0">
                <a:latin typeface="Microsoft Sans Serif" panose="020B0604020202020204"/>
                <a:cs typeface="Microsoft Sans Serif" panose="020B0604020202020204"/>
              </a:rPr>
              <a:t>/</a:t>
            </a:r>
            <a:r>
              <a:rPr sz="1150" spc="-110" dirty="0">
                <a:latin typeface="宋体" panose="02010600030101010101" pitchFamily="2" charset="-122"/>
                <a:cs typeface="宋体" panose="02010600030101010101" pitchFamily="2" charset="-122"/>
              </a:rPr>
              <a:t>中</a:t>
            </a:r>
            <a:r>
              <a:rPr sz="1200" dirty="0">
                <a:latin typeface="Microsoft Sans Serif" panose="020B0604020202020204"/>
                <a:cs typeface="Microsoft Sans Serif" panose="020B0604020202020204"/>
              </a:rPr>
              <a:t>/</a:t>
            </a:r>
            <a:r>
              <a:rPr sz="1150" spc="-110" dirty="0">
                <a:latin typeface="宋体" panose="02010600030101010101" pitchFamily="2" charset="-122"/>
                <a:cs typeface="宋体" panose="02010600030101010101" pitchFamily="2" charset="-122"/>
              </a:rPr>
              <a:t>高频过渡</a:t>
            </a:r>
            <a:r>
              <a:rPr sz="1150" spc="-50" dirty="0">
                <a:latin typeface="宋体" panose="02010600030101010101" pitchFamily="2" charset="-122"/>
                <a:cs typeface="宋体" panose="02010600030101010101" pitchFamily="2" charset="-122"/>
              </a:rPr>
              <a:t>。</a:t>
            </a:r>
            <a:endParaRPr sz="1150">
              <a:latin typeface="宋体" panose="02010600030101010101" pitchFamily="2" charset="-122"/>
              <a:cs typeface="宋体" panose="02010600030101010101" pitchFamily="2" charset="-122"/>
            </a:endParaRPr>
          </a:p>
        </p:txBody>
      </p:sp>
      <p:sp>
        <p:nvSpPr>
          <p:cNvPr id="15" name="object 15"/>
          <p:cNvSpPr txBox="1"/>
          <p:nvPr/>
        </p:nvSpPr>
        <p:spPr>
          <a:xfrm>
            <a:off x="815975" y="3307017"/>
            <a:ext cx="2816860" cy="638175"/>
          </a:xfrm>
          <a:prstGeom prst="rect">
            <a:avLst/>
          </a:prstGeom>
        </p:spPr>
        <p:txBody>
          <a:bodyPr vert="horz" wrap="square" lIns="0" tIns="52069" rIns="0" bIns="0" rtlCol="0">
            <a:spAutoFit/>
          </a:bodyPr>
          <a:lstStyle/>
          <a:p>
            <a:pPr marL="12700">
              <a:lnSpc>
                <a:spcPct val="100000"/>
              </a:lnSpc>
              <a:spcBef>
                <a:spcPts val="410"/>
              </a:spcBef>
            </a:pPr>
            <a:r>
              <a:rPr sz="1150" b="1" spc="-100" dirty="0">
                <a:latin typeface="微软雅黑" panose="020B0503020204020204" charset="-122"/>
                <a:cs typeface="微软雅黑" panose="020B0503020204020204" charset="-122"/>
              </a:rPr>
              <a:t>平滑控制</a:t>
            </a:r>
            <a:endParaRPr sz="1150">
              <a:latin typeface="微软雅黑" panose="020B0503020204020204" charset="-122"/>
              <a:cs typeface="微软雅黑" panose="020B0503020204020204" charset="-122"/>
            </a:endParaRPr>
          </a:p>
          <a:p>
            <a:pPr marL="12700">
              <a:lnSpc>
                <a:spcPct val="100000"/>
              </a:lnSpc>
              <a:spcBef>
                <a:spcPts val="320"/>
              </a:spcBef>
            </a:pPr>
            <a:r>
              <a:rPr sz="1150" spc="-150" dirty="0">
                <a:latin typeface="宋体" panose="02010600030101010101" pitchFamily="2" charset="-122"/>
                <a:cs typeface="宋体" panose="02010600030101010101" pitchFamily="2" charset="-122"/>
              </a:rPr>
              <a:t>通过 </a:t>
            </a:r>
            <a:r>
              <a:rPr sz="1250" spc="-95" dirty="0">
                <a:latin typeface="Microsoft Sans Serif" panose="020B0604020202020204"/>
                <a:cs typeface="Microsoft Sans Serif" panose="020B0604020202020204"/>
              </a:rPr>
              <a:t>Sigmoid</a:t>
            </a:r>
            <a:r>
              <a:rPr sz="1250" spc="60" dirty="0">
                <a:latin typeface="Microsoft Sans Serif" panose="020B0604020202020204"/>
                <a:cs typeface="Microsoft Sans Serif" panose="020B0604020202020204"/>
              </a:rPr>
              <a:t> </a:t>
            </a:r>
            <a:r>
              <a:rPr sz="1150" spc="-105" dirty="0">
                <a:latin typeface="宋体" panose="02010600030101010101" pitchFamily="2" charset="-122"/>
                <a:cs typeface="宋体" panose="02010600030101010101" pitchFamily="2" charset="-122"/>
              </a:rPr>
              <a:t>函数生成连续权重系数群</a:t>
            </a:r>
            <a:endParaRPr sz="1150">
              <a:latin typeface="宋体" panose="02010600030101010101" pitchFamily="2" charset="-122"/>
              <a:cs typeface="宋体" panose="02010600030101010101" pitchFamily="2" charset="-122"/>
            </a:endParaRPr>
          </a:p>
          <a:p>
            <a:pPr marL="12700">
              <a:lnSpc>
                <a:spcPct val="100000"/>
              </a:lnSpc>
            </a:pPr>
            <a:endParaRPr sz="1150">
              <a:latin typeface="宋体" panose="02010600030101010101" pitchFamily="2" charset="-122"/>
              <a:cs typeface="宋体" panose="02010600030101010101" pitchFamily="2" charset="-122"/>
            </a:endParaRPr>
          </a:p>
        </p:txBody>
      </p:sp>
      <p:grpSp>
        <p:nvGrpSpPr>
          <p:cNvPr id="16" name="object 16"/>
          <p:cNvGrpSpPr/>
          <p:nvPr/>
        </p:nvGrpSpPr>
        <p:grpSpPr>
          <a:xfrm>
            <a:off x="4295775" y="1352549"/>
            <a:ext cx="3600450" cy="4429125"/>
            <a:chOff x="4295775" y="1352549"/>
            <a:chExt cx="3600450" cy="4429125"/>
          </a:xfrm>
        </p:grpSpPr>
        <p:sp>
          <p:nvSpPr>
            <p:cNvPr id="17" name="object 17"/>
            <p:cNvSpPr/>
            <p:nvPr/>
          </p:nvSpPr>
          <p:spPr>
            <a:xfrm>
              <a:off x="4305300" y="1362074"/>
              <a:ext cx="3581400" cy="4410075"/>
            </a:xfrm>
            <a:custGeom>
              <a:avLst/>
              <a:gdLst/>
              <a:ahLst/>
              <a:cxnLst/>
              <a:rect l="l" t="t" r="r" b="b"/>
              <a:pathLst>
                <a:path w="3581400" h="4410075">
                  <a:moveTo>
                    <a:pt x="0" y="4305299"/>
                  </a:moveTo>
                  <a:lnTo>
                    <a:pt x="0" y="104774"/>
                  </a:lnTo>
                  <a:lnTo>
                    <a:pt x="0" y="97895"/>
                  </a:lnTo>
                  <a:lnTo>
                    <a:pt x="671" y="91081"/>
                  </a:lnTo>
                  <a:lnTo>
                    <a:pt x="2013" y="84334"/>
                  </a:lnTo>
                  <a:lnTo>
                    <a:pt x="3355" y="77586"/>
                  </a:lnTo>
                  <a:lnTo>
                    <a:pt x="5342" y="71035"/>
                  </a:lnTo>
                  <a:lnTo>
                    <a:pt x="7975" y="64679"/>
                  </a:lnTo>
                  <a:lnTo>
                    <a:pt x="10608" y="58323"/>
                  </a:lnTo>
                  <a:lnTo>
                    <a:pt x="35552" y="25823"/>
                  </a:lnTo>
                  <a:lnTo>
                    <a:pt x="64679" y="7975"/>
                  </a:lnTo>
                  <a:lnTo>
                    <a:pt x="71035" y="5342"/>
                  </a:lnTo>
                  <a:lnTo>
                    <a:pt x="77586" y="3355"/>
                  </a:lnTo>
                  <a:lnTo>
                    <a:pt x="84334" y="2013"/>
                  </a:lnTo>
                  <a:lnTo>
                    <a:pt x="91081" y="671"/>
                  </a:lnTo>
                  <a:lnTo>
                    <a:pt x="97895" y="0"/>
                  </a:lnTo>
                  <a:lnTo>
                    <a:pt x="104774" y="0"/>
                  </a:lnTo>
                  <a:lnTo>
                    <a:pt x="3476624" y="0"/>
                  </a:lnTo>
                  <a:lnTo>
                    <a:pt x="3483504" y="0"/>
                  </a:lnTo>
                  <a:lnTo>
                    <a:pt x="3490317" y="671"/>
                  </a:lnTo>
                  <a:lnTo>
                    <a:pt x="3497064" y="2013"/>
                  </a:lnTo>
                  <a:lnTo>
                    <a:pt x="3503812" y="3355"/>
                  </a:lnTo>
                  <a:lnTo>
                    <a:pt x="3510363" y="5342"/>
                  </a:lnTo>
                  <a:lnTo>
                    <a:pt x="3516719" y="7975"/>
                  </a:lnTo>
                  <a:lnTo>
                    <a:pt x="3523075" y="10608"/>
                  </a:lnTo>
                  <a:lnTo>
                    <a:pt x="3555576" y="35552"/>
                  </a:lnTo>
                  <a:lnTo>
                    <a:pt x="3563741" y="46565"/>
                  </a:lnTo>
                  <a:lnTo>
                    <a:pt x="3567563" y="52285"/>
                  </a:lnTo>
                  <a:lnTo>
                    <a:pt x="3570790" y="58323"/>
                  </a:lnTo>
                  <a:lnTo>
                    <a:pt x="3573423" y="64679"/>
                  </a:lnTo>
                  <a:lnTo>
                    <a:pt x="3576056" y="71035"/>
                  </a:lnTo>
                  <a:lnTo>
                    <a:pt x="3578044" y="77586"/>
                  </a:lnTo>
                  <a:lnTo>
                    <a:pt x="3579386" y="84334"/>
                  </a:lnTo>
                  <a:lnTo>
                    <a:pt x="3580728" y="91081"/>
                  </a:lnTo>
                  <a:lnTo>
                    <a:pt x="3581399" y="97895"/>
                  </a:lnTo>
                  <a:lnTo>
                    <a:pt x="3581399" y="104774"/>
                  </a:lnTo>
                  <a:lnTo>
                    <a:pt x="3581399" y="4305299"/>
                  </a:lnTo>
                  <a:lnTo>
                    <a:pt x="3581399" y="4312178"/>
                  </a:lnTo>
                  <a:lnTo>
                    <a:pt x="3580728" y="4318992"/>
                  </a:lnTo>
                  <a:lnTo>
                    <a:pt x="3579386" y="4325739"/>
                  </a:lnTo>
                  <a:lnTo>
                    <a:pt x="3578044" y="4332487"/>
                  </a:lnTo>
                  <a:lnTo>
                    <a:pt x="3576056" y="4339038"/>
                  </a:lnTo>
                  <a:lnTo>
                    <a:pt x="3573423" y="4345394"/>
                  </a:lnTo>
                  <a:lnTo>
                    <a:pt x="3570790" y="4351750"/>
                  </a:lnTo>
                  <a:lnTo>
                    <a:pt x="3567563" y="4357788"/>
                  </a:lnTo>
                  <a:lnTo>
                    <a:pt x="3563741" y="4363508"/>
                  </a:lnTo>
                  <a:lnTo>
                    <a:pt x="3559919" y="4369229"/>
                  </a:lnTo>
                  <a:lnTo>
                    <a:pt x="3529113" y="4396238"/>
                  </a:lnTo>
                  <a:lnTo>
                    <a:pt x="3490317" y="4409403"/>
                  </a:lnTo>
                  <a:lnTo>
                    <a:pt x="3476624" y="4410074"/>
                  </a:lnTo>
                  <a:lnTo>
                    <a:pt x="104774" y="4410074"/>
                  </a:lnTo>
                  <a:lnTo>
                    <a:pt x="64679" y="4402098"/>
                  </a:lnTo>
                  <a:lnTo>
                    <a:pt x="58323" y="4399465"/>
                  </a:lnTo>
                  <a:lnTo>
                    <a:pt x="25823" y="4374521"/>
                  </a:lnTo>
                  <a:lnTo>
                    <a:pt x="7975" y="4345394"/>
                  </a:lnTo>
                  <a:lnTo>
                    <a:pt x="5342" y="4339038"/>
                  </a:lnTo>
                  <a:lnTo>
                    <a:pt x="3355" y="4332487"/>
                  </a:lnTo>
                  <a:lnTo>
                    <a:pt x="2013" y="4325739"/>
                  </a:lnTo>
                  <a:lnTo>
                    <a:pt x="671" y="4318992"/>
                  </a:lnTo>
                  <a:lnTo>
                    <a:pt x="0" y="4312178"/>
                  </a:lnTo>
                  <a:lnTo>
                    <a:pt x="0" y="4305299"/>
                  </a:lnTo>
                  <a:close/>
                </a:path>
              </a:pathLst>
            </a:custGeom>
            <a:ln w="19049">
              <a:solidFill>
                <a:srgbClr val="000000"/>
              </a:solidFill>
            </a:ln>
          </p:spPr>
          <p:txBody>
            <a:bodyPr wrap="square" lIns="0" tIns="0" rIns="0" bIns="0" rtlCol="0"/>
            <a:lstStyle/>
            <a:p/>
          </p:txBody>
        </p:sp>
        <p:sp>
          <p:nvSpPr>
            <p:cNvPr id="18" name="object 18"/>
            <p:cNvSpPr/>
            <p:nvPr/>
          </p:nvSpPr>
          <p:spPr>
            <a:xfrm>
              <a:off x="4543424" y="1600199"/>
              <a:ext cx="304800" cy="304800"/>
            </a:xfrm>
            <a:custGeom>
              <a:avLst/>
              <a:gdLst/>
              <a:ahLst/>
              <a:cxnLst/>
              <a:rect l="l" t="t" r="r" b="b"/>
              <a:pathLst>
                <a:path w="304800" h="304800">
                  <a:moveTo>
                    <a:pt x="152399" y="304799"/>
                  </a:moveTo>
                  <a:lnTo>
                    <a:pt x="108160" y="298239"/>
                  </a:lnTo>
                  <a:lnTo>
                    <a:pt x="67731" y="279115"/>
                  </a:lnTo>
                  <a:lnTo>
                    <a:pt x="34591" y="249082"/>
                  </a:lnTo>
                  <a:lnTo>
                    <a:pt x="11600" y="210720"/>
                  </a:lnTo>
                  <a:lnTo>
                    <a:pt x="732" y="167337"/>
                  </a:lnTo>
                  <a:lnTo>
                    <a:pt x="0" y="152399"/>
                  </a:lnTo>
                  <a:lnTo>
                    <a:pt x="183" y="144912"/>
                  </a:lnTo>
                  <a:lnTo>
                    <a:pt x="8904" y="101066"/>
                  </a:lnTo>
                  <a:lnTo>
                    <a:pt x="29995" y="61607"/>
                  </a:lnTo>
                  <a:lnTo>
                    <a:pt x="61607" y="29995"/>
                  </a:lnTo>
                  <a:lnTo>
                    <a:pt x="101066" y="8904"/>
                  </a:lnTo>
                  <a:lnTo>
                    <a:pt x="144912" y="183"/>
                  </a:lnTo>
                  <a:lnTo>
                    <a:pt x="152399" y="0"/>
                  </a:lnTo>
                  <a:lnTo>
                    <a:pt x="159886" y="183"/>
                  </a:lnTo>
                  <a:lnTo>
                    <a:pt x="203733" y="8904"/>
                  </a:lnTo>
                  <a:lnTo>
                    <a:pt x="243192" y="29995"/>
                  </a:lnTo>
                  <a:lnTo>
                    <a:pt x="274804" y="61607"/>
                  </a:lnTo>
                  <a:lnTo>
                    <a:pt x="295895" y="101066"/>
                  </a:lnTo>
                  <a:lnTo>
                    <a:pt x="304616" y="144912"/>
                  </a:lnTo>
                  <a:lnTo>
                    <a:pt x="304799" y="152399"/>
                  </a:lnTo>
                  <a:lnTo>
                    <a:pt x="304616" y="159886"/>
                  </a:lnTo>
                  <a:lnTo>
                    <a:pt x="295895" y="203733"/>
                  </a:lnTo>
                  <a:lnTo>
                    <a:pt x="274804" y="243192"/>
                  </a:lnTo>
                  <a:lnTo>
                    <a:pt x="243192" y="274804"/>
                  </a:lnTo>
                  <a:lnTo>
                    <a:pt x="203733" y="295895"/>
                  </a:lnTo>
                  <a:lnTo>
                    <a:pt x="159886" y="304616"/>
                  </a:lnTo>
                  <a:lnTo>
                    <a:pt x="152399" y="304799"/>
                  </a:lnTo>
                  <a:close/>
                </a:path>
              </a:pathLst>
            </a:custGeom>
            <a:solidFill>
              <a:srgbClr val="000000"/>
            </a:solidFill>
          </p:spPr>
          <p:txBody>
            <a:bodyPr wrap="square" lIns="0" tIns="0" rIns="0" bIns="0" rtlCol="0"/>
            <a:lstStyle/>
            <a:p/>
          </p:txBody>
        </p:sp>
      </p:grpSp>
      <p:sp>
        <p:nvSpPr>
          <p:cNvPr id="19" name="object 19"/>
          <p:cNvSpPr txBox="1"/>
          <p:nvPr/>
        </p:nvSpPr>
        <p:spPr>
          <a:xfrm>
            <a:off x="4599781" y="1635125"/>
            <a:ext cx="186055" cy="185420"/>
          </a:xfrm>
          <a:prstGeom prst="rect">
            <a:avLst/>
          </a:prstGeom>
        </p:spPr>
        <p:txBody>
          <a:bodyPr vert="horz" wrap="square" lIns="0" tIns="12700" rIns="0" bIns="0" rtlCol="0">
            <a:spAutoFit/>
          </a:bodyPr>
          <a:lstStyle/>
          <a:p>
            <a:pPr marL="12700">
              <a:lnSpc>
                <a:spcPct val="100000"/>
              </a:lnSpc>
              <a:spcBef>
                <a:spcPts val="100"/>
              </a:spcBef>
            </a:pPr>
            <a:r>
              <a:rPr sz="1050" spc="-25" dirty="0">
                <a:solidFill>
                  <a:srgbClr val="FFFFFF"/>
                </a:solidFill>
                <a:latin typeface="Courier New" panose="02070309020205020404"/>
                <a:cs typeface="Courier New" panose="02070309020205020404"/>
              </a:rPr>
              <a:t>02</a:t>
            </a:r>
            <a:endParaRPr sz="1050">
              <a:latin typeface="Courier New" panose="02070309020205020404"/>
              <a:cs typeface="Courier New" panose="02070309020205020404"/>
            </a:endParaRPr>
          </a:p>
        </p:txBody>
      </p:sp>
      <p:sp>
        <p:nvSpPr>
          <p:cNvPr id="20" name="object 20"/>
          <p:cNvSpPr txBox="1"/>
          <p:nvPr/>
        </p:nvSpPr>
        <p:spPr>
          <a:xfrm>
            <a:off x="4946550" y="1606550"/>
            <a:ext cx="2025650" cy="254000"/>
          </a:xfrm>
          <a:prstGeom prst="rect">
            <a:avLst/>
          </a:prstGeom>
        </p:spPr>
        <p:txBody>
          <a:bodyPr vert="horz" wrap="square" lIns="0" tIns="12700" rIns="0" bIns="0" rtlCol="0">
            <a:spAutoFit/>
          </a:bodyPr>
          <a:lstStyle/>
          <a:p>
            <a:pPr marL="12700">
              <a:lnSpc>
                <a:spcPct val="100000"/>
              </a:lnSpc>
              <a:spcBef>
                <a:spcPts val="100"/>
              </a:spcBef>
            </a:pPr>
            <a:r>
              <a:rPr sz="1500" spc="-75" dirty="0">
                <a:latin typeface="宋体" panose="02010600030101010101" pitchFamily="2" charset="-122"/>
                <a:cs typeface="宋体" panose="02010600030101010101" pitchFamily="2" charset="-122"/>
              </a:rPr>
              <a:t>核心指标：频谱能量响应</a:t>
            </a:r>
            <a:endParaRPr sz="1500">
              <a:latin typeface="宋体" panose="02010600030101010101" pitchFamily="2" charset="-122"/>
              <a:cs typeface="宋体" panose="02010600030101010101" pitchFamily="2" charset="-122"/>
            </a:endParaRPr>
          </a:p>
        </p:txBody>
      </p:sp>
      <p:sp>
        <p:nvSpPr>
          <p:cNvPr id="21" name="object 21"/>
          <p:cNvSpPr txBox="1"/>
          <p:nvPr/>
        </p:nvSpPr>
        <p:spPr>
          <a:xfrm>
            <a:off x="4543424" y="2095499"/>
            <a:ext cx="838200" cy="180975"/>
          </a:xfrm>
          <a:prstGeom prst="rect">
            <a:avLst/>
          </a:prstGeom>
          <a:solidFill>
            <a:srgbClr val="000000"/>
          </a:solidFill>
        </p:spPr>
        <p:txBody>
          <a:bodyPr vert="horz" wrap="square" lIns="0" tIns="28575" rIns="0" bIns="0" rtlCol="0">
            <a:spAutoFit/>
          </a:bodyPr>
          <a:lstStyle/>
          <a:p>
            <a:pPr marL="72390">
              <a:lnSpc>
                <a:spcPct val="100000"/>
              </a:lnSpc>
              <a:spcBef>
                <a:spcPts val="225"/>
              </a:spcBef>
            </a:pPr>
            <a:r>
              <a:rPr sz="750" spc="155" dirty="0">
                <a:solidFill>
                  <a:srgbClr val="FFFFFF"/>
                </a:solidFill>
                <a:latin typeface="宋体" panose="02010600030101010101" pitchFamily="2" charset="-122"/>
                <a:cs typeface="宋体" panose="02010600030101010101" pitchFamily="2" charset="-122"/>
              </a:rPr>
              <a:t>THEOREM</a:t>
            </a:r>
            <a:r>
              <a:rPr sz="750" spc="5" dirty="0">
                <a:solidFill>
                  <a:srgbClr val="FFFFFF"/>
                </a:solidFill>
                <a:latin typeface="宋体" panose="02010600030101010101" pitchFamily="2" charset="-122"/>
                <a:cs typeface="宋体" panose="02010600030101010101" pitchFamily="2" charset="-122"/>
              </a:rPr>
              <a:t> </a:t>
            </a:r>
            <a:r>
              <a:rPr sz="750" spc="-10" dirty="0">
                <a:solidFill>
                  <a:srgbClr val="FFFFFF"/>
                </a:solidFill>
                <a:latin typeface="宋体" panose="02010600030101010101" pitchFamily="2" charset="-122"/>
                <a:cs typeface="宋体" panose="02010600030101010101" pitchFamily="2" charset="-122"/>
              </a:rPr>
              <a:t>4.</a:t>
            </a:r>
            <a:r>
              <a:rPr sz="750" spc="-295" dirty="0">
                <a:solidFill>
                  <a:srgbClr val="FFFFFF"/>
                </a:solidFill>
                <a:latin typeface="宋体" panose="02010600030101010101" pitchFamily="2" charset="-122"/>
                <a:cs typeface="宋体" panose="02010600030101010101" pitchFamily="2" charset="-122"/>
              </a:rPr>
              <a:t> </a:t>
            </a:r>
            <a:r>
              <a:rPr sz="750" spc="20" dirty="0">
                <a:solidFill>
                  <a:srgbClr val="FFFFFF"/>
                </a:solidFill>
                <a:latin typeface="宋体" panose="02010600030101010101" pitchFamily="2" charset="-122"/>
                <a:cs typeface="宋体" panose="02010600030101010101" pitchFamily="2" charset="-122"/>
              </a:rPr>
              <a:t>2</a:t>
            </a:r>
            <a:endParaRPr sz="750">
              <a:latin typeface="宋体" panose="02010600030101010101" pitchFamily="2" charset="-122"/>
              <a:cs typeface="宋体" panose="02010600030101010101" pitchFamily="2" charset="-122"/>
            </a:endParaRPr>
          </a:p>
        </p:txBody>
      </p:sp>
      <p:sp>
        <p:nvSpPr>
          <p:cNvPr id="22" name="object 22"/>
          <p:cNvSpPr txBox="1"/>
          <p:nvPr/>
        </p:nvSpPr>
        <p:spPr>
          <a:xfrm>
            <a:off x="4527450" y="2347595"/>
            <a:ext cx="2959100" cy="387350"/>
          </a:xfrm>
          <a:prstGeom prst="rect">
            <a:avLst/>
          </a:prstGeom>
        </p:spPr>
        <p:txBody>
          <a:bodyPr vert="horz" wrap="square" lIns="0" tIns="12700" rIns="0" bIns="0" rtlCol="0">
            <a:spAutoFit/>
          </a:bodyPr>
          <a:lstStyle/>
          <a:p>
            <a:pPr marL="12700" marR="5080">
              <a:lnSpc>
                <a:spcPct val="113000"/>
              </a:lnSpc>
              <a:spcBef>
                <a:spcPts val="100"/>
              </a:spcBef>
            </a:pPr>
            <a:r>
              <a:rPr sz="1050" spc="-5" dirty="0">
                <a:solidFill>
                  <a:srgbClr val="374050"/>
                </a:solidFill>
                <a:latin typeface="宋体" panose="02010600030101010101" pitchFamily="2" charset="-122"/>
                <a:cs typeface="宋体" panose="02010600030101010101" pitchFamily="2" charset="-122"/>
              </a:rPr>
              <a:t>能量守恒保证了频域特征与原始时域特征的绝对映</a:t>
            </a:r>
            <a:r>
              <a:rPr sz="1050" dirty="0">
                <a:solidFill>
                  <a:srgbClr val="374050"/>
                </a:solidFill>
                <a:latin typeface="宋体" panose="02010600030101010101" pitchFamily="2" charset="-122"/>
                <a:cs typeface="宋体" panose="02010600030101010101" pitchFamily="2" charset="-122"/>
              </a:rPr>
              <a:t>射，实现</a:t>
            </a:r>
            <a:r>
              <a:rPr sz="1050" dirty="0">
                <a:latin typeface="宋体" panose="02010600030101010101" pitchFamily="2" charset="-122"/>
                <a:cs typeface="宋体" panose="02010600030101010101" pitchFamily="2" charset="-122"/>
              </a:rPr>
              <a:t>无损信息转化</a:t>
            </a:r>
            <a:r>
              <a:rPr sz="1050" spc="-50" dirty="0">
                <a:solidFill>
                  <a:srgbClr val="374050"/>
                </a:solidFill>
                <a:latin typeface="宋体" panose="02010600030101010101" pitchFamily="2" charset="-122"/>
                <a:cs typeface="宋体" panose="02010600030101010101" pitchFamily="2" charset="-122"/>
              </a:rPr>
              <a:t>。</a:t>
            </a:r>
            <a:endParaRPr sz="1050">
              <a:latin typeface="宋体" panose="02010600030101010101" pitchFamily="2" charset="-122"/>
              <a:cs typeface="宋体" panose="02010600030101010101" pitchFamily="2" charset="-122"/>
            </a:endParaRPr>
          </a:p>
        </p:txBody>
      </p:sp>
      <p:grpSp>
        <p:nvGrpSpPr>
          <p:cNvPr id="23" name="object 23"/>
          <p:cNvGrpSpPr/>
          <p:nvPr/>
        </p:nvGrpSpPr>
        <p:grpSpPr>
          <a:xfrm>
            <a:off x="4543424" y="3171825"/>
            <a:ext cx="3105150" cy="2362200"/>
            <a:chOff x="4543424" y="3171825"/>
            <a:chExt cx="3105150" cy="2362200"/>
          </a:xfrm>
        </p:grpSpPr>
        <p:sp>
          <p:nvSpPr>
            <p:cNvPr id="24" name="object 24"/>
            <p:cNvSpPr/>
            <p:nvPr/>
          </p:nvSpPr>
          <p:spPr>
            <a:xfrm>
              <a:off x="4543424" y="3171825"/>
              <a:ext cx="3105150" cy="752475"/>
            </a:xfrm>
            <a:custGeom>
              <a:avLst/>
              <a:gdLst/>
              <a:ahLst/>
              <a:cxnLst/>
              <a:rect l="l" t="t" r="r" b="b"/>
              <a:pathLst>
                <a:path w="3105150" h="752475">
                  <a:moveTo>
                    <a:pt x="3033952" y="752474"/>
                  </a:moveTo>
                  <a:lnTo>
                    <a:pt x="71196" y="752474"/>
                  </a:lnTo>
                  <a:lnTo>
                    <a:pt x="66241" y="751986"/>
                  </a:lnTo>
                  <a:lnTo>
                    <a:pt x="29705" y="736852"/>
                  </a:lnTo>
                  <a:lnTo>
                    <a:pt x="3885" y="700812"/>
                  </a:lnTo>
                  <a:lnTo>
                    <a:pt x="0" y="681278"/>
                  </a:lnTo>
                  <a:lnTo>
                    <a:pt x="0" y="676274"/>
                  </a:lnTo>
                  <a:lnTo>
                    <a:pt x="0" y="71196"/>
                  </a:lnTo>
                  <a:lnTo>
                    <a:pt x="15621" y="29704"/>
                  </a:lnTo>
                  <a:lnTo>
                    <a:pt x="51661" y="3885"/>
                  </a:lnTo>
                  <a:lnTo>
                    <a:pt x="71196" y="0"/>
                  </a:lnTo>
                  <a:lnTo>
                    <a:pt x="3033952" y="0"/>
                  </a:lnTo>
                  <a:lnTo>
                    <a:pt x="3075444" y="15621"/>
                  </a:lnTo>
                  <a:lnTo>
                    <a:pt x="3101263" y="51661"/>
                  </a:lnTo>
                  <a:lnTo>
                    <a:pt x="3105149" y="71196"/>
                  </a:lnTo>
                  <a:lnTo>
                    <a:pt x="3105149" y="681278"/>
                  </a:lnTo>
                  <a:lnTo>
                    <a:pt x="3089527" y="722769"/>
                  </a:lnTo>
                  <a:lnTo>
                    <a:pt x="3053487" y="748588"/>
                  </a:lnTo>
                  <a:lnTo>
                    <a:pt x="3038908" y="751986"/>
                  </a:lnTo>
                  <a:lnTo>
                    <a:pt x="3033952" y="752474"/>
                  </a:lnTo>
                  <a:close/>
                </a:path>
              </a:pathLst>
            </a:custGeom>
            <a:solidFill>
              <a:srgbClr val="F9FAFA"/>
            </a:solidFill>
          </p:spPr>
          <p:txBody>
            <a:bodyPr wrap="square" lIns="0" tIns="0" rIns="0" bIns="0" rtlCol="0"/>
            <a:lstStyle/>
            <a:p/>
          </p:txBody>
        </p:sp>
        <p:sp>
          <p:nvSpPr>
            <p:cNvPr id="25" name="object 25"/>
            <p:cNvSpPr/>
            <p:nvPr/>
          </p:nvSpPr>
          <p:spPr>
            <a:xfrm>
              <a:off x="4543424" y="4467224"/>
              <a:ext cx="3105150" cy="1066800"/>
            </a:xfrm>
            <a:custGeom>
              <a:avLst/>
              <a:gdLst/>
              <a:ahLst/>
              <a:cxnLst/>
              <a:rect l="l" t="t" r="r" b="b"/>
              <a:pathLst>
                <a:path w="3105150" h="1066800">
                  <a:moveTo>
                    <a:pt x="3028949" y="1066799"/>
                  </a:moveTo>
                  <a:lnTo>
                    <a:pt x="76199" y="1066799"/>
                  </a:lnTo>
                  <a:lnTo>
                    <a:pt x="68693" y="1066437"/>
                  </a:lnTo>
                  <a:lnTo>
                    <a:pt x="27882" y="1049532"/>
                  </a:lnTo>
                  <a:lnTo>
                    <a:pt x="3261" y="1012686"/>
                  </a:lnTo>
                  <a:lnTo>
                    <a:pt x="0" y="990599"/>
                  </a:lnTo>
                  <a:lnTo>
                    <a:pt x="0" y="76199"/>
                  </a:lnTo>
                  <a:lnTo>
                    <a:pt x="12829" y="33857"/>
                  </a:lnTo>
                  <a:lnTo>
                    <a:pt x="47038" y="5800"/>
                  </a:lnTo>
                  <a:lnTo>
                    <a:pt x="76199" y="0"/>
                  </a:lnTo>
                  <a:lnTo>
                    <a:pt x="3028949" y="0"/>
                  </a:lnTo>
                  <a:lnTo>
                    <a:pt x="3071291" y="12829"/>
                  </a:lnTo>
                  <a:lnTo>
                    <a:pt x="3099348" y="47038"/>
                  </a:lnTo>
                  <a:lnTo>
                    <a:pt x="3105149" y="76199"/>
                  </a:lnTo>
                  <a:lnTo>
                    <a:pt x="3105149" y="990599"/>
                  </a:lnTo>
                  <a:lnTo>
                    <a:pt x="3092318" y="1032941"/>
                  </a:lnTo>
                  <a:lnTo>
                    <a:pt x="3058109" y="1060998"/>
                  </a:lnTo>
                  <a:lnTo>
                    <a:pt x="3028949" y="1066799"/>
                  </a:lnTo>
                  <a:close/>
                </a:path>
              </a:pathLst>
            </a:custGeom>
            <a:solidFill>
              <a:srgbClr val="000000">
                <a:alpha val="5099"/>
              </a:srgbClr>
            </a:solidFill>
          </p:spPr>
          <p:txBody>
            <a:bodyPr wrap="square" lIns="0" tIns="0" rIns="0" bIns="0" rtlCol="0"/>
            <a:lstStyle/>
            <a:p/>
          </p:txBody>
        </p:sp>
        <p:sp>
          <p:nvSpPr>
            <p:cNvPr id="26" name="object 26"/>
            <p:cNvSpPr/>
            <p:nvPr/>
          </p:nvSpPr>
          <p:spPr>
            <a:xfrm>
              <a:off x="4543412" y="4467224"/>
              <a:ext cx="3105150" cy="1066800"/>
            </a:xfrm>
            <a:custGeom>
              <a:avLst/>
              <a:gdLst/>
              <a:ahLst/>
              <a:cxnLst/>
              <a:rect l="l" t="t" r="r" b="b"/>
              <a:pathLst>
                <a:path w="3105150" h="1066800">
                  <a:moveTo>
                    <a:pt x="9525" y="938961"/>
                  </a:moveTo>
                  <a:lnTo>
                    <a:pt x="0" y="938961"/>
                  </a:lnTo>
                  <a:lnTo>
                    <a:pt x="0" y="967536"/>
                  </a:lnTo>
                  <a:lnTo>
                    <a:pt x="9525" y="967536"/>
                  </a:lnTo>
                  <a:lnTo>
                    <a:pt x="9525" y="938961"/>
                  </a:lnTo>
                  <a:close/>
                </a:path>
                <a:path w="3105150" h="1066800">
                  <a:moveTo>
                    <a:pt x="9525" y="891286"/>
                  </a:moveTo>
                  <a:lnTo>
                    <a:pt x="0" y="891286"/>
                  </a:lnTo>
                  <a:lnTo>
                    <a:pt x="0" y="919861"/>
                  </a:lnTo>
                  <a:lnTo>
                    <a:pt x="9525" y="919861"/>
                  </a:lnTo>
                  <a:lnTo>
                    <a:pt x="9525" y="891286"/>
                  </a:lnTo>
                  <a:close/>
                </a:path>
                <a:path w="3105150" h="1066800">
                  <a:moveTo>
                    <a:pt x="9525" y="843597"/>
                  </a:moveTo>
                  <a:lnTo>
                    <a:pt x="0" y="843597"/>
                  </a:lnTo>
                  <a:lnTo>
                    <a:pt x="0" y="872172"/>
                  </a:lnTo>
                  <a:lnTo>
                    <a:pt x="9525" y="872172"/>
                  </a:lnTo>
                  <a:lnTo>
                    <a:pt x="9525" y="843597"/>
                  </a:lnTo>
                  <a:close/>
                </a:path>
                <a:path w="3105150" h="1066800">
                  <a:moveTo>
                    <a:pt x="9525" y="795921"/>
                  </a:moveTo>
                  <a:lnTo>
                    <a:pt x="0" y="795921"/>
                  </a:lnTo>
                  <a:lnTo>
                    <a:pt x="0" y="824496"/>
                  </a:lnTo>
                  <a:lnTo>
                    <a:pt x="9525" y="824496"/>
                  </a:lnTo>
                  <a:lnTo>
                    <a:pt x="9525" y="795921"/>
                  </a:lnTo>
                  <a:close/>
                </a:path>
                <a:path w="3105150" h="1066800">
                  <a:moveTo>
                    <a:pt x="9525" y="748245"/>
                  </a:moveTo>
                  <a:lnTo>
                    <a:pt x="0" y="748245"/>
                  </a:lnTo>
                  <a:lnTo>
                    <a:pt x="0" y="776820"/>
                  </a:lnTo>
                  <a:lnTo>
                    <a:pt x="9525" y="776820"/>
                  </a:lnTo>
                  <a:lnTo>
                    <a:pt x="9525" y="748245"/>
                  </a:lnTo>
                  <a:close/>
                </a:path>
                <a:path w="3105150" h="1066800">
                  <a:moveTo>
                    <a:pt x="9525" y="700557"/>
                  </a:moveTo>
                  <a:lnTo>
                    <a:pt x="0" y="700557"/>
                  </a:lnTo>
                  <a:lnTo>
                    <a:pt x="0" y="729132"/>
                  </a:lnTo>
                  <a:lnTo>
                    <a:pt x="9525" y="729132"/>
                  </a:lnTo>
                  <a:lnTo>
                    <a:pt x="9525" y="700557"/>
                  </a:lnTo>
                  <a:close/>
                </a:path>
                <a:path w="3105150" h="1066800">
                  <a:moveTo>
                    <a:pt x="9525" y="652881"/>
                  </a:moveTo>
                  <a:lnTo>
                    <a:pt x="0" y="652881"/>
                  </a:lnTo>
                  <a:lnTo>
                    <a:pt x="0" y="681456"/>
                  </a:lnTo>
                  <a:lnTo>
                    <a:pt x="9525" y="681456"/>
                  </a:lnTo>
                  <a:lnTo>
                    <a:pt x="9525" y="652881"/>
                  </a:lnTo>
                  <a:close/>
                </a:path>
                <a:path w="3105150" h="1066800">
                  <a:moveTo>
                    <a:pt x="9525" y="605205"/>
                  </a:moveTo>
                  <a:lnTo>
                    <a:pt x="0" y="605205"/>
                  </a:lnTo>
                  <a:lnTo>
                    <a:pt x="0" y="633780"/>
                  </a:lnTo>
                  <a:lnTo>
                    <a:pt x="9525" y="633780"/>
                  </a:lnTo>
                  <a:lnTo>
                    <a:pt x="9525" y="605205"/>
                  </a:lnTo>
                  <a:close/>
                </a:path>
                <a:path w="3105150" h="1066800">
                  <a:moveTo>
                    <a:pt x="9525" y="557517"/>
                  </a:moveTo>
                  <a:lnTo>
                    <a:pt x="0" y="557517"/>
                  </a:lnTo>
                  <a:lnTo>
                    <a:pt x="0" y="586092"/>
                  </a:lnTo>
                  <a:lnTo>
                    <a:pt x="9525" y="586092"/>
                  </a:lnTo>
                  <a:lnTo>
                    <a:pt x="9525" y="557517"/>
                  </a:lnTo>
                  <a:close/>
                </a:path>
                <a:path w="3105150" h="1066800">
                  <a:moveTo>
                    <a:pt x="9525" y="509841"/>
                  </a:moveTo>
                  <a:lnTo>
                    <a:pt x="0" y="509841"/>
                  </a:lnTo>
                  <a:lnTo>
                    <a:pt x="0" y="538416"/>
                  </a:lnTo>
                  <a:lnTo>
                    <a:pt x="9525" y="538416"/>
                  </a:lnTo>
                  <a:lnTo>
                    <a:pt x="9525" y="509841"/>
                  </a:lnTo>
                  <a:close/>
                </a:path>
                <a:path w="3105150" h="1066800">
                  <a:moveTo>
                    <a:pt x="9525" y="462165"/>
                  </a:moveTo>
                  <a:lnTo>
                    <a:pt x="0" y="462165"/>
                  </a:lnTo>
                  <a:lnTo>
                    <a:pt x="0" y="490740"/>
                  </a:lnTo>
                  <a:lnTo>
                    <a:pt x="9525" y="490740"/>
                  </a:lnTo>
                  <a:lnTo>
                    <a:pt x="9525" y="462165"/>
                  </a:lnTo>
                  <a:close/>
                </a:path>
                <a:path w="3105150" h="1066800">
                  <a:moveTo>
                    <a:pt x="9525" y="414477"/>
                  </a:moveTo>
                  <a:lnTo>
                    <a:pt x="0" y="414477"/>
                  </a:lnTo>
                  <a:lnTo>
                    <a:pt x="0" y="443052"/>
                  </a:lnTo>
                  <a:lnTo>
                    <a:pt x="9525" y="443052"/>
                  </a:lnTo>
                  <a:lnTo>
                    <a:pt x="9525" y="414477"/>
                  </a:lnTo>
                  <a:close/>
                </a:path>
                <a:path w="3105150" h="1066800">
                  <a:moveTo>
                    <a:pt x="9525" y="366801"/>
                  </a:moveTo>
                  <a:lnTo>
                    <a:pt x="0" y="366801"/>
                  </a:lnTo>
                  <a:lnTo>
                    <a:pt x="0" y="395376"/>
                  </a:lnTo>
                  <a:lnTo>
                    <a:pt x="9525" y="395376"/>
                  </a:lnTo>
                  <a:lnTo>
                    <a:pt x="9525" y="366801"/>
                  </a:lnTo>
                  <a:close/>
                </a:path>
                <a:path w="3105150" h="1066800">
                  <a:moveTo>
                    <a:pt x="9525" y="319125"/>
                  </a:moveTo>
                  <a:lnTo>
                    <a:pt x="0" y="319125"/>
                  </a:lnTo>
                  <a:lnTo>
                    <a:pt x="0" y="347700"/>
                  </a:lnTo>
                  <a:lnTo>
                    <a:pt x="9525" y="347700"/>
                  </a:lnTo>
                  <a:lnTo>
                    <a:pt x="9525" y="319125"/>
                  </a:lnTo>
                  <a:close/>
                </a:path>
                <a:path w="3105150" h="1066800">
                  <a:moveTo>
                    <a:pt x="9525" y="271437"/>
                  </a:moveTo>
                  <a:lnTo>
                    <a:pt x="0" y="271437"/>
                  </a:lnTo>
                  <a:lnTo>
                    <a:pt x="0" y="300012"/>
                  </a:lnTo>
                  <a:lnTo>
                    <a:pt x="9525" y="300012"/>
                  </a:lnTo>
                  <a:lnTo>
                    <a:pt x="9525" y="271437"/>
                  </a:lnTo>
                  <a:close/>
                </a:path>
                <a:path w="3105150" h="1066800">
                  <a:moveTo>
                    <a:pt x="9525" y="223761"/>
                  </a:moveTo>
                  <a:lnTo>
                    <a:pt x="0" y="223761"/>
                  </a:lnTo>
                  <a:lnTo>
                    <a:pt x="0" y="252336"/>
                  </a:lnTo>
                  <a:lnTo>
                    <a:pt x="9525" y="252336"/>
                  </a:lnTo>
                  <a:lnTo>
                    <a:pt x="9525" y="223761"/>
                  </a:lnTo>
                  <a:close/>
                </a:path>
                <a:path w="3105150" h="1066800">
                  <a:moveTo>
                    <a:pt x="9525" y="176072"/>
                  </a:moveTo>
                  <a:lnTo>
                    <a:pt x="0" y="176072"/>
                  </a:lnTo>
                  <a:lnTo>
                    <a:pt x="0" y="204647"/>
                  </a:lnTo>
                  <a:lnTo>
                    <a:pt x="9525" y="204647"/>
                  </a:lnTo>
                  <a:lnTo>
                    <a:pt x="9525" y="176072"/>
                  </a:lnTo>
                  <a:close/>
                </a:path>
                <a:path w="3105150" h="1066800">
                  <a:moveTo>
                    <a:pt x="9525" y="128397"/>
                  </a:moveTo>
                  <a:lnTo>
                    <a:pt x="0" y="128397"/>
                  </a:lnTo>
                  <a:lnTo>
                    <a:pt x="0" y="156972"/>
                  </a:lnTo>
                  <a:lnTo>
                    <a:pt x="9525" y="156972"/>
                  </a:lnTo>
                  <a:lnTo>
                    <a:pt x="9525" y="128397"/>
                  </a:lnTo>
                  <a:close/>
                </a:path>
                <a:path w="3105150" h="1066800">
                  <a:moveTo>
                    <a:pt x="9525" y="80721"/>
                  </a:moveTo>
                  <a:lnTo>
                    <a:pt x="0" y="80721"/>
                  </a:lnTo>
                  <a:lnTo>
                    <a:pt x="0" y="109296"/>
                  </a:lnTo>
                  <a:lnTo>
                    <a:pt x="9525" y="109296"/>
                  </a:lnTo>
                  <a:lnTo>
                    <a:pt x="9525" y="80721"/>
                  </a:lnTo>
                  <a:close/>
                </a:path>
                <a:path w="3105150" h="1066800">
                  <a:moveTo>
                    <a:pt x="13030" y="1011720"/>
                  </a:moveTo>
                  <a:lnTo>
                    <a:pt x="12382" y="1009929"/>
                  </a:lnTo>
                  <a:lnTo>
                    <a:pt x="10795" y="1003617"/>
                  </a:lnTo>
                  <a:lnTo>
                    <a:pt x="9842" y="997178"/>
                  </a:lnTo>
                  <a:lnTo>
                    <a:pt x="9525" y="990600"/>
                  </a:lnTo>
                  <a:lnTo>
                    <a:pt x="9525" y="986650"/>
                  </a:lnTo>
                  <a:lnTo>
                    <a:pt x="0" y="986650"/>
                  </a:lnTo>
                  <a:lnTo>
                    <a:pt x="0" y="990600"/>
                  </a:lnTo>
                  <a:lnTo>
                    <a:pt x="368" y="998118"/>
                  </a:lnTo>
                  <a:lnTo>
                    <a:pt x="1460" y="1005471"/>
                  </a:lnTo>
                  <a:lnTo>
                    <a:pt x="3263" y="1012698"/>
                  </a:lnTo>
                  <a:lnTo>
                    <a:pt x="4000" y="1014730"/>
                  </a:lnTo>
                  <a:lnTo>
                    <a:pt x="13030" y="1011720"/>
                  </a:lnTo>
                  <a:close/>
                </a:path>
                <a:path w="3105150" h="1066800">
                  <a:moveTo>
                    <a:pt x="20104" y="40246"/>
                  </a:moveTo>
                  <a:lnTo>
                    <a:pt x="19850" y="40246"/>
                  </a:lnTo>
                  <a:lnTo>
                    <a:pt x="12001" y="35242"/>
                  </a:lnTo>
                  <a:lnTo>
                    <a:pt x="9017" y="40246"/>
                  </a:lnTo>
                  <a:lnTo>
                    <a:pt x="5803" y="47040"/>
                  </a:lnTo>
                  <a:lnTo>
                    <a:pt x="3263" y="54114"/>
                  </a:lnTo>
                  <a:lnTo>
                    <a:pt x="1460" y="61341"/>
                  </a:lnTo>
                  <a:lnTo>
                    <a:pt x="1358" y="62026"/>
                  </a:lnTo>
                  <a:lnTo>
                    <a:pt x="10706" y="63804"/>
                  </a:lnTo>
                  <a:lnTo>
                    <a:pt x="10795" y="63195"/>
                  </a:lnTo>
                  <a:lnTo>
                    <a:pt x="12382" y="56883"/>
                  </a:lnTo>
                  <a:lnTo>
                    <a:pt x="14605" y="50685"/>
                  </a:lnTo>
                  <a:lnTo>
                    <a:pt x="17411" y="44742"/>
                  </a:lnTo>
                  <a:lnTo>
                    <a:pt x="20104" y="40246"/>
                  </a:lnTo>
                  <a:close/>
                </a:path>
                <a:path w="3105150" h="1066800">
                  <a:moveTo>
                    <a:pt x="37833" y="1045070"/>
                  </a:moveTo>
                  <a:lnTo>
                    <a:pt x="20281" y="1026858"/>
                  </a:lnTo>
                  <a:lnTo>
                    <a:pt x="12293" y="1032040"/>
                  </a:lnTo>
                  <a:lnTo>
                    <a:pt x="32346" y="1052855"/>
                  </a:lnTo>
                  <a:lnTo>
                    <a:pt x="37833" y="1045070"/>
                  </a:lnTo>
                  <a:close/>
                </a:path>
                <a:path w="3105150" h="1066800">
                  <a:moveTo>
                    <a:pt x="52095" y="14097"/>
                  </a:moveTo>
                  <a:lnTo>
                    <a:pt x="48653" y="5232"/>
                  </a:lnTo>
                  <a:lnTo>
                    <a:pt x="47040" y="5803"/>
                  </a:lnTo>
                  <a:lnTo>
                    <a:pt x="40246" y="9017"/>
                  </a:lnTo>
                  <a:lnTo>
                    <a:pt x="33858" y="12839"/>
                  </a:lnTo>
                  <a:lnTo>
                    <a:pt x="27889" y="17272"/>
                  </a:lnTo>
                  <a:lnTo>
                    <a:pt x="24447" y="20396"/>
                  </a:lnTo>
                  <a:lnTo>
                    <a:pt x="30924" y="27368"/>
                  </a:lnTo>
                  <a:lnTo>
                    <a:pt x="33934" y="24638"/>
                  </a:lnTo>
                  <a:lnTo>
                    <a:pt x="39154" y="20751"/>
                  </a:lnTo>
                  <a:lnTo>
                    <a:pt x="44742" y="17411"/>
                  </a:lnTo>
                  <a:lnTo>
                    <a:pt x="50685" y="14605"/>
                  </a:lnTo>
                  <a:lnTo>
                    <a:pt x="52095" y="14097"/>
                  </a:lnTo>
                  <a:close/>
                </a:path>
                <a:path w="3105150" h="1066800">
                  <a:moveTo>
                    <a:pt x="77254" y="1057275"/>
                  </a:moveTo>
                  <a:lnTo>
                    <a:pt x="76200" y="1057275"/>
                  </a:lnTo>
                  <a:lnTo>
                    <a:pt x="69634" y="1056957"/>
                  </a:lnTo>
                  <a:lnTo>
                    <a:pt x="63195" y="1056017"/>
                  </a:lnTo>
                  <a:lnTo>
                    <a:pt x="56883" y="1054430"/>
                  </a:lnTo>
                  <a:lnTo>
                    <a:pt x="52578" y="1052880"/>
                  </a:lnTo>
                  <a:lnTo>
                    <a:pt x="49199" y="1061783"/>
                  </a:lnTo>
                  <a:lnTo>
                    <a:pt x="54114" y="1063548"/>
                  </a:lnTo>
                  <a:lnTo>
                    <a:pt x="61341" y="1065352"/>
                  </a:lnTo>
                  <a:lnTo>
                    <a:pt x="68694" y="1066444"/>
                  </a:lnTo>
                  <a:lnTo>
                    <a:pt x="76200" y="1066800"/>
                  </a:lnTo>
                  <a:lnTo>
                    <a:pt x="77254" y="1066800"/>
                  </a:lnTo>
                  <a:lnTo>
                    <a:pt x="77254" y="1057275"/>
                  </a:lnTo>
                  <a:close/>
                </a:path>
                <a:path w="3105150" h="1066800">
                  <a:moveTo>
                    <a:pt x="104775" y="0"/>
                  </a:moveTo>
                  <a:lnTo>
                    <a:pt x="76200" y="0"/>
                  </a:lnTo>
                  <a:lnTo>
                    <a:pt x="68694" y="368"/>
                  </a:lnTo>
                  <a:lnTo>
                    <a:pt x="67576" y="533"/>
                  </a:lnTo>
                  <a:lnTo>
                    <a:pt x="68656" y="9994"/>
                  </a:lnTo>
                  <a:lnTo>
                    <a:pt x="69634" y="9842"/>
                  </a:lnTo>
                  <a:lnTo>
                    <a:pt x="76200" y="9525"/>
                  </a:lnTo>
                  <a:lnTo>
                    <a:pt x="104775" y="9525"/>
                  </a:lnTo>
                  <a:lnTo>
                    <a:pt x="104775" y="0"/>
                  </a:lnTo>
                  <a:close/>
                </a:path>
                <a:path w="3105150" h="1066800">
                  <a:moveTo>
                    <a:pt x="124942" y="1057275"/>
                  </a:moveTo>
                  <a:lnTo>
                    <a:pt x="96367" y="1057275"/>
                  </a:lnTo>
                  <a:lnTo>
                    <a:pt x="96367" y="1066800"/>
                  </a:lnTo>
                  <a:lnTo>
                    <a:pt x="124942" y="1066800"/>
                  </a:lnTo>
                  <a:lnTo>
                    <a:pt x="124942" y="1057275"/>
                  </a:lnTo>
                  <a:close/>
                </a:path>
                <a:path w="3105150" h="1066800">
                  <a:moveTo>
                    <a:pt x="152463" y="0"/>
                  </a:moveTo>
                  <a:lnTo>
                    <a:pt x="123888" y="0"/>
                  </a:lnTo>
                  <a:lnTo>
                    <a:pt x="123888" y="9525"/>
                  </a:lnTo>
                  <a:lnTo>
                    <a:pt x="152463" y="9525"/>
                  </a:lnTo>
                  <a:lnTo>
                    <a:pt x="152463" y="0"/>
                  </a:lnTo>
                  <a:close/>
                </a:path>
                <a:path w="3105150" h="1066800">
                  <a:moveTo>
                    <a:pt x="172618" y="1057275"/>
                  </a:moveTo>
                  <a:lnTo>
                    <a:pt x="144043" y="1057275"/>
                  </a:lnTo>
                  <a:lnTo>
                    <a:pt x="144043" y="1066800"/>
                  </a:lnTo>
                  <a:lnTo>
                    <a:pt x="172618" y="1066800"/>
                  </a:lnTo>
                  <a:lnTo>
                    <a:pt x="172618" y="1057275"/>
                  </a:lnTo>
                  <a:close/>
                </a:path>
                <a:path w="3105150" h="1066800">
                  <a:moveTo>
                    <a:pt x="200139" y="0"/>
                  </a:moveTo>
                  <a:lnTo>
                    <a:pt x="171564" y="0"/>
                  </a:lnTo>
                  <a:lnTo>
                    <a:pt x="171564" y="9525"/>
                  </a:lnTo>
                  <a:lnTo>
                    <a:pt x="200139" y="9525"/>
                  </a:lnTo>
                  <a:lnTo>
                    <a:pt x="200139" y="0"/>
                  </a:lnTo>
                  <a:close/>
                </a:path>
                <a:path w="3105150" h="1066800">
                  <a:moveTo>
                    <a:pt x="220294" y="1057275"/>
                  </a:moveTo>
                  <a:lnTo>
                    <a:pt x="191719" y="1057275"/>
                  </a:lnTo>
                  <a:lnTo>
                    <a:pt x="191719" y="1066800"/>
                  </a:lnTo>
                  <a:lnTo>
                    <a:pt x="220294" y="1066800"/>
                  </a:lnTo>
                  <a:lnTo>
                    <a:pt x="220294" y="1057275"/>
                  </a:lnTo>
                  <a:close/>
                </a:path>
                <a:path w="3105150" h="1066800">
                  <a:moveTo>
                    <a:pt x="247827" y="0"/>
                  </a:moveTo>
                  <a:lnTo>
                    <a:pt x="219252" y="0"/>
                  </a:lnTo>
                  <a:lnTo>
                    <a:pt x="219252" y="9525"/>
                  </a:lnTo>
                  <a:lnTo>
                    <a:pt x="247827" y="9525"/>
                  </a:lnTo>
                  <a:lnTo>
                    <a:pt x="247827" y="0"/>
                  </a:lnTo>
                  <a:close/>
                </a:path>
                <a:path w="3105150" h="1066800">
                  <a:moveTo>
                    <a:pt x="267982" y="1057275"/>
                  </a:moveTo>
                  <a:lnTo>
                    <a:pt x="239407" y="1057275"/>
                  </a:lnTo>
                  <a:lnTo>
                    <a:pt x="239407" y="1066800"/>
                  </a:lnTo>
                  <a:lnTo>
                    <a:pt x="267982" y="1066800"/>
                  </a:lnTo>
                  <a:lnTo>
                    <a:pt x="267982" y="1057275"/>
                  </a:lnTo>
                  <a:close/>
                </a:path>
                <a:path w="3105150" h="1066800">
                  <a:moveTo>
                    <a:pt x="295503" y="0"/>
                  </a:moveTo>
                  <a:lnTo>
                    <a:pt x="266928" y="0"/>
                  </a:lnTo>
                  <a:lnTo>
                    <a:pt x="266928" y="9525"/>
                  </a:lnTo>
                  <a:lnTo>
                    <a:pt x="295503" y="9525"/>
                  </a:lnTo>
                  <a:lnTo>
                    <a:pt x="295503" y="0"/>
                  </a:lnTo>
                  <a:close/>
                </a:path>
                <a:path w="3105150" h="1066800">
                  <a:moveTo>
                    <a:pt x="315658" y="1057275"/>
                  </a:moveTo>
                  <a:lnTo>
                    <a:pt x="287083" y="1057275"/>
                  </a:lnTo>
                  <a:lnTo>
                    <a:pt x="287083" y="1066800"/>
                  </a:lnTo>
                  <a:lnTo>
                    <a:pt x="315658" y="1066800"/>
                  </a:lnTo>
                  <a:lnTo>
                    <a:pt x="315658" y="1057275"/>
                  </a:lnTo>
                  <a:close/>
                </a:path>
                <a:path w="3105150" h="1066800">
                  <a:moveTo>
                    <a:pt x="343179" y="0"/>
                  </a:moveTo>
                  <a:lnTo>
                    <a:pt x="314604" y="0"/>
                  </a:lnTo>
                  <a:lnTo>
                    <a:pt x="314604" y="9525"/>
                  </a:lnTo>
                  <a:lnTo>
                    <a:pt x="343179" y="9525"/>
                  </a:lnTo>
                  <a:lnTo>
                    <a:pt x="343179" y="0"/>
                  </a:lnTo>
                  <a:close/>
                </a:path>
                <a:path w="3105150" h="1066800">
                  <a:moveTo>
                    <a:pt x="363334" y="1057275"/>
                  </a:moveTo>
                  <a:lnTo>
                    <a:pt x="334759" y="1057275"/>
                  </a:lnTo>
                  <a:lnTo>
                    <a:pt x="334759" y="1066800"/>
                  </a:lnTo>
                  <a:lnTo>
                    <a:pt x="363334" y="1066800"/>
                  </a:lnTo>
                  <a:lnTo>
                    <a:pt x="363334" y="1057275"/>
                  </a:lnTo>
                  <a:close/>
                </a:path>
                <a:path w="3105150" h="1066800">
                  <a:moveTo>
                    <a:pt x="390867" y="0"/>
                  </a:moveTo>
                  <a:lnTo>
                    <a:pt x="362292" y="0"/>
                  </a:lnTo>
                  <a:lnTo>
                    <a:pt x="362292" y="9525"/>
                  </a:lnTo>
                  <a:lnTo>
                    <a:pt x="390867" y="9525"/>
                  </a:lnTo>
                  <a:lnTo>
                    <a:pt x="390867" y="0"/>
                  </a:lnTo>
                  <a:close/>
                </a:path>
                <a:path w="3105150" h="1066800">
                  <a:moveTo>
                    <a:pt x="411022" y="1057275"/>
                  </a:moveTo>
                  <a:lnTo>
                    <a:pt x="382447" y="1057275"/>
                  </a:lnTo>
                  <a:lnTo>
                    <a:pt x="382447" y="1066800"/>
                  </a:lnTo>
                  <a:lnTo>
                    <a:pt x="411022" y="1066800"/>
                  </a:lnTo>
                  <a:lnTo>
                    <a:pt x="411022" y="1057275"/>
                  </a:lnTo>
                  <a:close/>
                </a:path>
                <a:path w="3105150" h="1066800">
                  <a:moveTo>
                    <a:pt x="438543" y="0"/>
                  </a:moveTo>
                  <a:lnTo>
                    <a:pt x="409968" y="0"/>
                  </a:lnTo>
                  <a:lnTo>
                    <a:pt x="409968" y="9525"/>
                  </a:lnTo>
                  <a:lnTo>
                    <a:pt x="438543" y="9525"/>
                  </a:lnTo>
                  <a:lnTo>
                    <a:pt x="438543" y="0"/>
                  </a:lnTo>
                  <a:close/>
                </a:path>
                <a:path w="3105150" h="1066800">
                  <a:moveTo>
                    <a:pt x="458698" y="1057275"/>
                  </a:moveTo>
                  <a:lnTo>
                    <a:pt x="430123" y="1057275"/>
                  </a:lnTo>
                  <a:lnTo>
                    <a:pt x="430123" y="1066800"/>
                  </a:lnTo>
                  <a:lnTo>
                    <a:pt x="458698" y="1066800"/>
                  </a:lnTo>
                  <a:lnTo>
                    <a:pt x="458698" y="1057275"/>
                  </a:lnTo>
                  <a:close/>
                </a:path>
                <a:path w="3105150" h="1066800">
                  <a:moveTo>
                    <a:pt x="486219" y="0"/>
                  </a:moveTo>
                  <a:lnTo>
                    <a:pt x="457644" y="0"/>
                  </a:lnTo>
                  <a:lnTo>
                    <a:pt x="457644" y="9525"/>
                  </a:lnTo>
                  <a:lnTo>
                    <a:pt x="486219" y="9525"/>
                  </a:lnTo>
                  <a:lnTo>
                    <a:pt x="486219" y="0"/>
                  </a:lnTo>
                  <a:close/>
                </a:path>
                <a:path w="3105150" h="1066800">
                  <a:moveTo>
                    <a:pt x="506387" y="1057275"/>
                  </a:moveTo>
                  <a:lnTo>
                    <a:pt x="477812" y="1057275"/>
                  </a:lnTo>
                  <a:lnTo>
                    <a:pt x="477812" y="1066800"/>
                  </a:lnTo>
                  <a:lnTo>
                    <a:pt x="506387" y="1066800"/>
                  </a:lnTo>
                  <a:lnTo>
                    <a:pt x="506387" y="1057275"/>
                  </a:lnTo>
                  <a:close/>
                </a:path>
                <a:path w="3105150" h="1066800">
                  <a:moveTo>
                    <a:pt x="533908" y="0"/>
                  </a:moveTo>
                  <a:lnTo>
                    <a:pt x="505333" y="0"/>
                  </a:lnTo>
                  <a:lnTo>
                    <a:pt x="505333" y="9525"/>
                  </a:lnTo>
                  <a:lnTo>
                    <a:pt x="533908" y="9525"/>
                  </a:lnTo>
                  <a:lnTo>
                    <a:pt x="533908" y="0"/>
                  </a:lnTo>
                  <a:close/>
                </a:path>
                <a:path w="3105150" h="1066800">
                  <a:moveTo>
                    <a:pt x="554062" y="1057275"/>
                  </a:moveTo>
                  <a:lnTo>
                    <a:pt x="525487" y="1057275"/>
                  </a:lnTo>
                  <a:lnTo>
                    <a:pt x="525487" y="1066800"/>
                  </a:lnTo>
                  <a:lnTo>
                    <a:pt x="554062" y="1066800"/>
                  </a:lnTo>
                  <a:lnTo>
                    <a:pt x="554062" y="1057275"/>
                  </a:lnTo>
                  <a:close/>
                </a:path>
                <a:path w="3105150" h="1066800">
                  <a:moveTo>
                    <a:pt x="581583" y="0"/>
                  </a:moveTo>
                  <a:lnTo>
                    <a:pt x="553008" y="0"/>
                  </a:lnTo>
                  <a:lnTo>
                    <a:pt x="553008" y="9525"/>
                  </a:lnTo>
                  <a:lnTo>
                    <a:pt x="581583" y="9525"/>
                  </a:lnTo>
                  <a:lnTo>
                    <a:pt x="581583" y="0"/>
                  </a:lnTo>
                  <a:close/>
                </a:path>
                <a:path w="3105150" h="1066800">
                  <a:moveTo>
                    <a:pt x="601738" y="1057275"/>
                  </a:moveTo>
                  <a:lnTo>
                    <a:pt x="573163" y="1057275"/>
                  </a:lnTo>
                  <a:lnTo>
                    <a:pt x="573163" y="1066800"/>
                  </a:lnTo>
                  <a:lnTo>
                    <a:pt x="601738" y="1066800"/>
                  </a:lnTo>
                  <a:lnTo>
                    <a:pt x="601738" y="1057275"/>
                  </a:lnTo>
                  <a:close/>
                </a:path>
                <a:path w="3105150" h="1066800">
                  <a:moveTo>
                    <a:pt x="629259" y="0"/>
                  </a:moveTo>
                  <a:lnTo>
                    <a:pt x="600684" y="0"/>
                  </a:lnTo>
                  <a:lnTo>
                    <a:pt x="600684" y="9525"/>
                  </a:lnTo>
                  <a:lnTo>
                    <a:pt x="629259" y="9525"/>
                  </a:lnTo>
                  <a:lnTo>
                    <a:pt x="629259" y="0"/>
                  </a:lnTo>
                  <a:close/>
                </a:path>
                <a:path w="3105150" h="1066800">
                  <a:moveTo>
                    <a:pt x="649427" y="1057275"/>
                  </a:moveTo>
                  <a:lnTo>
                    <a:pt x="620852" y="1057275"/>
                  </a:lnTo>
                  <a:lnTo>
                    <a:pt x="620852" y="1066800"/>
                  </a:lnTo>
                  <a:lnTo>
                    <a:pt x="649427" y="1066800"/>
                  </a:lnTo>
                  <a:lnTo>
                    <a:pt x="649427" y="1057275"/>
                  </a:lnTo>
                  <a:close/>
                </a:path>
                <a:path w="3105150" h="1066800">
                  <a:moveTo>
                    <a:pt x="676948" y="0"/>
                  </a:moveTo>
                  <a:lnTo>
                    <a:pt x="648373" y="0"/>
                  </a:lnTo>
                  <a:lnTo>
                    <a:pt x="648373" y="9525"/>
                  </a:lnTo>
                  <a:lnTo>
                    <a:pt x="676948" y="9525"/>
                  </a:lnTo>
                  <a:lnTo>
                    <a:pt x="676948" y="0"/>
                  </a:lnTo>
                  <a:close/>
                </a:path>
                <a:path w="3105150" h="1066800">
                  <a:moveTo>
                    <a:pt x="697103" y="1057275"/>
                  </a:moveTo>
                  <a:lnTo>
                    <a:pt x="668528" y="1057275"/>
                  </a:lnTo>
                  <a:lnTo>
                    <a:pt x="668528" y="1066800"/>
                  </a:lnTo>
                  <a:lnTo>
                    <a:pt x="697103" y="1066800"/>
                  </a:lnTo>
                  <a:lnTo>
                    <a:pt x="697103" y="1057275"/>
                  </a:lnTo>
                  <a:close/>
                </a:path>
                <a:path w="3105150" h="1066800">
                  <a:moveTo>
                    <a:pt x="724623" y="0"/>
                  </a:moveTo>
                  <a:lnTo>
                    <a:pt x="696048" y="0"/>
                  </a:lnTo>
                  <a:lnTo>
                    <a:pt x="696048" y="9525"/>
                  </a:lnTo>
                  <a:lnTo>
                    <a:pt x="724623" y="9525"/>
                  </a:lnTo>
                  <a:lnTo>
                    <a:pt x="724623" y="0"/>
                  </a:lnTo>
                  <a:close/>
                </a:path>
                <a:path w="3105150" h="1066800">
                  <a:moveTo>
                    <a:pt x="744778" y="1057275"/>
                  </a:moveTo>
                  <a:lnTo>
                    <a:pt x="716203" y="1057275"/>
                  </a:lnTo>
                  <a:lnTo>
                    <a:pt x="716203" y="1066800"/>
                  </a:lnTo>
                  <a:lnTo>
                    <a:pt x="744778" y="1066800"/>
                  </a:lnTo>
                  <a:lnTo>
                    <a:pt x="744778" y="1057275"/>
                  </a:lnTo>
                  <a:close/>
                </a:path>
                <a:path w="3105150" h="1066800">
                  <a:moveTo>
                    <a:pt x="772312" y="0"/>
                  </a:moveTo>
                  <a:lnTo>
                    <a:pt x="743737" y="0"/>
                  </a:lnTo>
                  <a:lnTo>
                    <a:pt x="743737" y="9525"/>
                  </a:lnTo>
                  <a:lnTo>
                    <a:pt x="772312" y="9525"/>
                  </a:lnTo>
                  <a:lnTo>
                    <a:pt x="772312" y="0"/>
                  </a:lnTo>
                  <a:close/>
                </a:path>
                <a:path w="3105150" h="1066800">
                  <a:moveTo>
                    <a:pt x="792467" y="1057275"/>
                  </a:moveTo>
                  <a:lnTo>
                    <a:pt x="763892" y="1057275"/>
                  </a:lnTo>
                  <a:lnTo>
                    <a:pt x="763892" y="1066800"/>
                  </a:lnTo>
                  <a:lnTo>
                    <a:pt x="792467" y="1066800"/>
                  </a:lnTo>
                  <a:lnTo>
                    <a:pt x="792467" y="1057275"/>
                  </a:lnTo>
                  <a:close/>
                </a:path>
                <a:path w="3105150" h="1066800">
                  <a:moveTo>
                    <a:pt x="819988" y="0"/>
                  </a:moveTo>
                  <a:lnTo>
                    <a:pt x="791413" y="0"/>
                  </a:lnTo>
                  <a:lnTo>
                    <a:pt x="791413" y="9525"/>
                  </a:lnTo>
                  <a:lnTo>
                    <a:pt x="819988" y="9525"/>
                  </a:lnTo>
                  <a:lnTo>
                    <a:pt x="819988" y="0"/>
                  </a:lnTo>
                  <a:close/>
                </a:path>
                <a:path w="3105150" h="1066800">
                  <a:moveTo>
                    <a:pt x="840143" y="1057275"/>
                  </a:moveTo>
                  <a:lnTo>
                    <a:pt x="811568" y="1057275"/>
                  </a:lnTo>
                  <a:lnTo>
                    <a:pt x="811568" y="1066800"/>
                  </a:lnTo>
                  <a:lnTo>
                    <a:pt x="840143" y="1066800"/>
                  </a:lnTo>
                  <a:lnTo>
                    <a:pt x="840143" y="1057275"/>
                  </a:lnTo>
                  <a:close/>
                </a:path>
                <a:path w="3105150" h="1066800">
                  <a:moveTo>
                    <a:pt x="867664" y="0"/>
                  </a:moveTo>
                  <a:lnTo>
                    <a:pt x="839089" y="0"/>
                  </a:lnTo>
                  <a:lnTo>
                    <a:pt x="839089" y="9525"/>
                  </a:lnTo>
                  <a:lnTo>
                    <a:pt x="867664" y="9525"/>
                  </a:lnTo>
                  <a:lnTo>
                    <a:pt x="867664" y="0"/>
                  </a:lnTo>
                  <a:close/>
                </a:path>
                <a:path w="3105150" h="1066800">
                  <a:moveTo>
                    <a:pt x="887818" y="1057275"/>
                  </a:moveTo>
                  <a:lnTo>
                    <a:pt x="859243" y="1057275"/>
                  </a:lnTo>
                  <a:lnTo>
                    <a:pt x="859243" y="1066800"/>
                  </a:lnTo>
                  <a:lnTo>
                    <a:pt x="887818" y="1066800"/>
                  </a:lnTo>
                  <a:lnTo>
                    <a:pt x="887818" y="1057275"/>
                  </a:lnTo>
                  <a:close/>
                </a:path>
                <a:path w="3105150" h="1066800">
                  <a:moveTo>
                    <a:pt x="915352" y="0"/>
                  </a:moveTo>
                  <a:lnTo>
                    <a:pt x="886777" y="0"/>
                  </a:lnTo>
                  <a:lnTo>
                    <a:pt x="886777" y="9525"/>
                  </a:lnTo>
                  <a:lnTo>
                    <a:pt x="915352" y="9525"/>
                  </a:lnTo>
                  <a:lnTo>
                    <a:pt x="915352" y="0"/>
                  </a:lnTo>
                  <a:close/>
                </a:path>
                <a:path w="3105150" h="1066800">
                  <a:moveTo>
                    <a:pt x="935507" y="1057275"/>
                  </a:moveTo>
                  <a:lnTo>
                    <a:pt x="906932" y="1057275"/>
                  </a:lnTo>
                  <a:lnTo>
                    <a:pt x="906932" y="1066800"/>
                  </a:lnTo>
                  <a:lnTo>
                    <a:pt x="935507" y="1066800"/>
                  </a:lnTo>
                  <a:lnTo>
                    <a:pt x="935507" y="1057275"/>
                  </a:lnTo>
                  <a:close/>
                </a:path>
                <a:path w="3105150" h="1066800">
                  <a:moveTo>
                    <a:pt x="963028" y="0"/>
                  </a:moveTo>
                  <a:lnTo>
                    <a:pt x="934453" y="0"/>
                  </a:lnTo>
                  <a:lnTo>
                    <a:pt x="934453" y="9525"/>
                  </a:lnTo>
                  <a:lnTo>
                    <a:pt x="963028" y="9525"/>
                  </a:lnTo>
                  <a:lnTo>
                    <a:pt x="963028" y="0"/>
                  </a:lnTo>
                  <a:close/>
                </a:path>
                <a:path w="3105150" h="1066800">
                  <a:moveTo>
                    <a:pt x="983183" y="1057275"/>
                  </a:moveTo>
                  <a:lnTo>
                    <a:pt x="954608" y="1057275"/>
                  </a:lnTo>
                  <a:lnTo>
                    <a:pt x="954608" y="1066800"/>
                  </a:lnTo>
                  <a:lnTo>
                    <a:pt x="983183" y="1066800"/>
                  </a:lnTo>
                  <a:lnTo>
                    <a:pt x="983183" y="1057275"/>
                  </a:lnTo>
                  <a:close/>
                </a:path>
                <a:path w="3105150" h="1066800">
                  <a:moveTo>
                    <a:pt x="1010704" y="0"/>
                  </a:moveTo>
                  <a:lnTo>
                    <a:pt x="982129" y="0"/>
                  </a:lnTo>
                  <a:lnTo>
                    <a:pt x="982129" y="9525"/>
                  </a:lnTo>
                  <a:lnTo>
                    <a:pt x="1010704" y="9525"/>
                  </a:lnTo>
                  <a:lnTo>
                    <a:pt x="1010704" y="0"/>
                  </a:lnTo>
                  <a:close/>
                </a:path>
                <a:path w="3105150" h="1066800">
                  <a:moveTo>
                    <a:pt x="1030859" y="1057275"/>
                  </a:moveTo>
                  <a:lnTo>
                    <a:pt x="1002284" y="1057275"/>
                  </a:lnTo>
                  <a:lnTo>
                    <a:pt x="1002284" y="1066800"/>
                  </a:lnTo>
                  <a:lnTo>
                    <a:pt x="1030859" y="1066800"/>
                  </a:lnTo>
                  <a:lnTo>
                    <a:pt x="1030859" y="1057275"/>
                  </a:lnTo>
                  <a:close/>
                </a:path>
                <a:path w="3105150" h="1066800">
                  <a:moveTo>
                    <a:pt x="1058392" y="0"/>
                  </a:moveTo>
                  <a:lnTo>
                    <a:pt x="1029817" y="0"/>
                  </a:lnTo>
                  <a:lnTo>
                    <a:pt x="1029817" y="9525"/>
                  </a:lnTo>
                  <a:lnTo>
                    <a:pt x="1058392" y="9525"/>
                  </a:lnTo>
                  <a:lnTo>
                    <a:pt x="1058392" y="0"/>
                  </a:lnTo>
                  <a:close/>
                </a:path>
                <a:path w="3105150" h="1066800">
                  <a:moveTo>
                    <a:pt x="1078547" y="1057275"/>
                  </a:moveTo>
                  <a:lnTo>
                    <a:pt x="1049972" y="1057275"/>
                  </a:lnTo>
                  <a:lnTo>
                    <a:pt x="1049972" y="1066800"/>
                  </a:lnTo>
                  <a:lnTo>
                    <a:pt x="1078547" y="1066800"/>
                  </a:lnTo>
                  <a:lnTo>
                    <a:pt x="1078547" y="1057275"/>
                  </a:lnTo>
                  <a:close/>
                </a:path>
                <a:path w="3105150" h="1066800">
                  <a:moveTo>
                    <a:pt x="1106068" y="0"/>
                  </a:moveTo>
                  <a:lnTo>
                    <a:pt x="1077493" y="0"/>
                  </a:lnTo>
                  <a:lnTo>
                    <a:pt x="1077493" y="9525"/>
                  </a:lnTo>
                  <a:lnTo>
                    <a:pt x="1106068" y="9525"/>
                  </a:lnTo>
                  <a:lnTo>
                    <a:pt x="1106068" y="0"/>
                  </a:lnTo>
                  <a:close/>
                </a:path>
                <a:path w="3105150" h="1066800">
                  <a:moveTo>
                    <a:pt x="1126223" y="1057275"/>
                  </a:moveTo>
                  <a:lnTo>
                    <a:pt x="1097648" y="1057275"/>
                  </a:lnTo>
                  <a:lnTo>
                    <a:pt x="1097648" y="1066800"/>
                  </a:lnTo>
                  <a:lnTo>
                    <a:pt x="1126223" y="1066800"/>
                  </a:lnTo>
                  <a:lnTo>
                    <a:pt x="1126223" y="1057275"/>
                  </a:lnTo>
                  <a:close/>
                </a:path>
                <a:path w="3105150" h="1066800">
                  <a:moveTo>
                    <a:pt x="1153744" y="0"/>
                  </a:moveTo>
                  <a:lnTo>
                    <a:pt x="1125169" y="0"/>
                  </a:lnTo>
                  <a:lnTo>
                    <a:pt x="1125169" y="9525"/>
                  </a:lnTo>
                  <a:lnTo>
                    <a:pt x="1153744" y="9525"/>
                  </a:lnTo>
                  <a:lnTo>
                    <a:pt x="1153744" y="0"/>
                  </a:lnTo>
                  <a:close/>
                </a:path>
                <a:path w="3105150" h="1066800">
                  <a:moveTo>
                    <a:pt x="1173911" y="1057275"/>
                  </a:moveTo>
                  <a:lnTo>
                    <a:pt x="1145336" y="1057275"/>
                  </a:lnTo>
                  <a:lnTo>
                    <a:pt x="1145336" y="1066800"/>
                  </a:lnTo>
                  <a:lnTo>
                    <a:pt x="1173911" y="1066800"/>
                  </a:lnTo>
                  <a:lnTo>
                    <a:pt x="1173911" y="1057275"/>
                  </a:lnTo>
                  <a:close/>
                </a:path>
                <a:path w="3105150" h="1066800">
                  <a:moveTo>
                    <a:pt x="1201432" y="0"/>
                  </a:moveTo>
                  <a:lnTo>
                    <a:pt x="1172857" y="0"/>
                  </a:lnTo>
                  <a:lnTo>
                    <a:pt x="1172857" y="9525"/>
                  </a:lnTo>
                  <a:lnTo>
                    <a:pt x="1201432" y="9525"/>
                  </a:lnTo>
                  <a:lnTo>
                    <a:pt x="1201432" y="0"/>
                  </a:lnTo>
                  <a:close/>
                </a:path>
                <a:path w="3105150" h="1066800">
                  <a:moveTo>
                    <a:pt x="1221587" y="1057275"/>
                  </a:moveTo>
                  <a:lnTo>
                    <a:pt x="1193012" y="1057275"/>
                  </a:lnTo>
                  <a:lnTo>
                    <a:pt x="1193012" y="1066800"/>
                  </a:lnTo>
                  <a:lnTo>
                    <a:pt x="1221587" y="1066800"/>
                  </a:lnTo>
                  <a:lnTo>
                    <a:pt x="1221587" y="1057275"/>
                  </a:lnTo>
                  <a:close/>
                </a:path>
                <a:path w="3105150" h="1066800">
                  <a:moveTo>
                    <a:pt x="1249108" y="0"/>
                  </a:moveTo>
                  <a:lnTo>
                    <a:pt x="1220533" y="0"/>
                  </a:lnTo>
                  <a:lnTo>
                    <a:pt x="1220533" y="9525"/>
                  </a:lnTo>
                  <a:lnTo>
                    <a:pt x="1249108" y="9525"/>
                  </a:lnTo>
                  <a:lnTo>
                    <a:pt x="1249108" y="0"/>
                  </a:lnTo>
                  <a:close/>
                </a:path>
                <a:path w="3105150" h="1066800">
                  <a:moveTo>
                    <a:pt x="1269263" y="1057275"/>
                  </a:moveTo>
                  <a:lnTo>
                    <a:pt x="1240688" y="1057275"/>
                  </a:lnTo>
                  <a:lnTo>
                    <a:pt x="1240688" y="1066800"/>
                  </a:lnTo>
                  <a:lnTo>
                    <a:pt x="1269263" y="1066800"/>
                  </a:lnTo>
                  <a:lnTo>
                    <a:pt x="1269263" y="1057275"/>
                  </a:lnTo>
                  <a:close/>
                </a:path>
                <a:path w="3105150" h="1066800">
                  <a:moveTo>
                    <a:pt x="1296784" y="0"/>
                  </a:moveTo>
                  <a:lnTo>
                    <a:pt x="1268209" y="0"/>
                  </a:lnTo>
                  <a:lnTo>
                    <a:pt x="1268209" y="9525"/>
                  </a:lnTo>
                  <a:lnTo>
                    <a:pt x="1296784" y="9525"/>
                  </a:lnTo>
                  <a:lnTo>
                    <a:pt x="1296784" y="0"/>
                  </a:lnTo>
                  <a:close/>
                </a:path>
                <a:path w="3105150" h="1066800">
                  <a:moveTo>
                    <a:pt x="1316951" y="1057275"/>
                  </a:moveTo>
                  <a:lnTo>
                    <a:pt x="1288376" y="1057275"/>
                  </a:lnTo>
                  <a:lnTo>
                    <a:pt x="1288376" y="1066800"/>
                  </a:lnTo>
                  <a:lnTo>
                    <a:pt x="1316951" y="1066800"/>
                  </a:lnTo>
                  <a:lnTo>
                    <a:pt x="1316951" y="1057275"/>
                  </a:lnTo>
                  <a:close/>
                </a:path>
                <a:path w="3105150" h="1066800">
                  <a:moveTo>
                    <a:pt x="1344472" y="0"/>
                  </a:moveTo>
                  <a:lnTo>
                    <a:pt x="1315897" y="0"/>
                  </a:lnTo>
                  <a:lnTo>
                    <a:pt x="1315897" y="9525"/>
                  </a:lnTo>
                  <a:lnTo>
                    <a:pt x="1344472" y="9525"/>
                  </a:lnTo>
                  <a:lnTo>
                    <a:pt x="1344472" y="0"/>
                  </a:lnTo>
                  <a:close/>
                </a:path>
                <a:path w="3105150" h="1066800">
                  <a:moveTo>
                    <a:pt x="1364627" y="1057275"/>
                  </a:moveTo>
                  <a:lnTo>
                    <a:pt x="1336052" y="1057275"/>
                  </a:lnTo>
                  <a:lnTo>
                    <a:pt x="1336052" y="1066800"/>
                  </a:lnTo>
                  <a:lnTo>
                    <a:pt x="1364627" y="1066800"/>
                  </a:lnTo>
                  <a:lnTo>
                    <a:pt x="1364627" y="1057275"/>
                  </a:lnTo>
                  <a:close/>
                </a:path>
                <a:path w="3105150" h="1066800">
                  <a:moveTo>
                    <a:pt x="1392148" y="0"/>
                  </a:moveTo>
                  <a:lnTo>
                    <a:pt x="1363573" y="0"/>
                  </a:lnTo>
                  <a:lnTo>
                    <a:pt x="1363573" y="9525"/>
                  </a:lnTo>
                  <a:lnTo>
                    <a:pt x="1392148" y="9525"/>
                  </a:lnTo>
                  <a:lnTo>
                    <a:pt x="1392148" y="0"/>
                  </a:lnTo>
                  <a:close/>
                </a:path>
                <a:path w="3105150" h="1066800">
                  <a:moveTo>
                    <a:pt x="1412303" y="1057275"/>
                  </a:moveTo>
                  <a:lnTo>
                    <a:pt x="1383728" y="1057275"/>
                  </a:lnTo>
                  <a:lnTo>
                    <a:pt x="1383728" y="1066800"/>
                  </a:lnTo>
                  <a:lnTo>
                    <a:pt x="1412303" y="1066800"/>
                  </a:lnTo>
                  <a:lnTo>
                    <a:pt x="1412303" y="1057275"/>
                  </a:lnTo>
                  <a:close/>
                </a:path>
                <a:path w="3105150" h="1066800">
                  <a:moveTo>
                    <a:pt x="1439837" y="0"/>
                  </a:moveTo>
                  <a:lnTo>
                    <a:pt x="1411262" y="0"/>
                  </a:lnTo>
                  <a:lnTo>
                    <a:pt x="1411262" y="9525"/>
                  </a:lnTo>
                  <a:lnTo>
                    <a:pt x="1439837" y="9525"/>
                  </a:lnTo>
                  <a:lnTo>
                    <a:pt x="1439837" y="0"/>
                  </a:lnTo>
                  <a:close/>
                </a:path>
                <a:path w="3105150" h="1066800">
                  <a:moveTo>
                    <a:pt x="1459992" y="1057275"/>
                  </a:moveTo>
                  <a:lnTo>
                    <a:pt x="1431417" y="1057275"/>
                  </a:lnTo>
                  <a:lnTo>
                    <a:pt x="1431417" y="1066800"/>
                  </a:lnTo>
                  <a:lnTo>
                    <a:pt x="1459992" y="1066800"/>
                  </a:lnTo>
                  <a:lnTo>
                    <a:pt x="1459992" y="1057275"/>
                  </a:lnTo>
                  <a:close/>
                </a:path>
                <a:path w="3105150" h="1066800">
                  <a:moveTo>
                    <a:pt x="1487512" y="0"/>
                  </a:moveTo>
                  <a:lnTo>
                    <a:pt x="1458937" y="0"/>
                  </a:lnTo>
                  <a:lnTo>
                    <a:pt x="1458937" y="9525"/>
                  </a:lnTo>
                  <a:lnTo>
                    <a:pt x="1487512" y="9525"/>
                  </a:lnTo>
                  <a:lnTo>
                    <a:pt x="1487512" y="0"/>
                  </a:lnTo>
                  <a:close/>
                </a:path>
                <a:path w="3105150" h="1066800">
                  <a:moveTo>
                    <a:pt x="1507667" y="1057275"/>
                  </a:moveTo>
                  <a:lnTo>
                    <a:pt x="1479092" y="1057275"/>
                  </a:lnTo>
                  <a:lnTo>
                    <a:pt x="1479092" y="1066800"/>
                  </a:lnTo>
                  <a:lnTo>
                    <a:pt x="1507667" y="1066800"/>
                  </a:lnTo>
                  <a:lnTo>
                    <a:pt x="1507667" y="1057275"/>
                  </a:lnTo>
                  <a:close/>
                </a:path>
                <a:path w="3105150" h="1066800">
                  <a:moveTo>
                    <a:pt x="1535188" y="0"/>
                  </a:moveTo>
                  <a:lnTo>
                    <a:pt x="1506613" y="0"/>
                  </a:lnTo>
                  <a:lnTo>
                    <a:pt x="1506613" y="9525"/>
                  </a:lnTo>
                  <a:lnTo>
                    <a:pt x="1535188" y="9525"/>
                  </a:lnTo>
                  <a:lnTo>
                    <a:pt x="1535188" y="0"/>
                  </a:lnTo>
                  <a:close/>
                </a:path>
                <a:path w="3105150" h="1066800">
                  <a:moveTo>
                    <a:pt x="1555343" y="1057275"/>
                  </a:moveTo>
                  <a:lnTo>
                    <a:pt x="1526768" y="1057275"/>
                  </a:lnTo>
                  <a:lnTo>
                    <a:pt x="1526768" y="1066800"/>
                  </a:lnTo>
                  <a:lnTo>
                    <a:pt x="1555343" y="1066800"/>
                  </a:lnTo>
                  <a:lnTo>
                    <a:pt x="1555343" y="1057275"/>
                  </a:lnTo>
                  <a:close/>
                </a:path>
                <a:path w="3105150" h="1066800">
                  <a:moveTo>
                    <a:pt x="1582877" y="0"/>
                  </a:moveTo>
                  <a:lnTo>
                    <a:pt x="1554302" y="0"/>
                  </a:lnTo>
                  <a:lnTo>
                    <a:pt x="1554302" y="9525"/>
                  </a:lnTo>
                  <a:lnTo>
                    <a:pt x="1582877" y="9525"/>
                  </a:lnTo>
                  <a:lnTo>
                    <a:pt x="1582877" y="0"/>
                  </a:lnTo>
                  <a:close/>
                </a:path>
                <a:path w="3105150" h="1066800">
                  <a:moveTo>
                    <a:pt x="1603032" y="1057275"/>
                  </a:moveTo>
                  <a:lnTo>
                    <a:pt x="1574457" y="1057275"/>
                  </a:lnTo>
                  <a:lnTo>
                    <a:pt x="1574457" y="1066800"/>
                  </a:lnTo>
                  <a:lnTo>
                    <a:pt x="1603032" y="1066800"/>
                  </a:lnTo>
                  <a:lnTo>
                    <a:pt x="1603032" y="1057275"/>
                  </a:lnTo>
                  <a:close/>
                </a:path>
                <a:path w="3105150" h="1066800">
                  <a:moveTo>
                    <a:pt x="1630553" y="0"/>
                  </a:moveTo>
                  <a:lnTo>
                    <a:pt x="1601978" y="0"/>
                  </a:lnTo>
                  <a:lnTo>
                    <a:pt x="1601978" y="9525"/>
                  </a:lnTo>
                  <a:lnTo>
                    <a:pt x="1630553" y="9525"/>
                  </a:lnTo>
                  <a:lnTo>
                    <a:pt x="1630553" y="0"/>
                  </a:lnTo>
                  <a:close/>
                </a:path>
                <a:path w="3105150" h="1066800">
                  <a:moveTo>
                    <a:pt x="1650707" y="1057275"/>
                  </a:moveTo>
                  <a:lnTo>
                    <a:pt x="1622132" y="1057275"/>
                  </a:lnTo>
                  <a:lnTo>
                    <a:pt x="1622132" y="1066800"/>
                  </a:lnTo>
                  <a:lnTo>
                    <a:pt x="1650707" y="1066800"/>
                  </a:lnTo>
                  <a:lnTo>
                    <a:pt x="1650707" y="1057275"/>
                  </a:lnTo>
                  <a:close/>
                </a:path>
                <a:path w="3105150" h="1066800">
                  <a:moveTo>
                    <a:pt x="1678228" y="0"/>
                  </a:moveTo>
                  <a:lnTo>
                    <a:pt x="1649653" y="0"/>
                  </a:lnTo>
                  <a:lnTo>
                    <a:pt x="1649653" y="9525"/>
                  </a:lnTo>
                  <a:lnTo>
                    <a:pt x="1678228" y="9525"/>
                  </a:lnTo>
                  <a:lnTo>
                    <a:pt x="1678228" y="0"/>
                  </a:lnTo>
                  <a:close/>
                </a:path>
                <a:path w="3105150" h="1066800">
                  <a:moveTo>
                    <a:pt x="1698383" y="1057275"/>
                  </a:moveTo>
                  <a:lnTo>
                    <a:pt x="1669808" y="1057275"/>
                  </a:lnTo>
                  <a:lnTo>
                    <a:pt x="1669808" y="1066800"/>
                  </a:lnTo>
                  <a:lnTo>
                    <a:pt x="1698383" y="1066800"/>
                  </a:lnTo>
                  <a:lnTo>
                    <a:pt x="1698383" y="1057275"/>
                  </a:lnTo>
                  <a:close/>
                </a:path>
                <a:path w="3105150" h="1066800">
                  <a:moveTo>
                    <a:pt x="1725917" y="0"/>
                  </a:moveTo>
                  <a:lnTo>
                    <a:pt x="1697342" y="0"/>
                  </a:lnTo>
                  <a:lnTo>
                    <a:pt x="1697342" y="9525"/>
                  </a:lnTo>
                  <a:lnTo>
                    <a:pt x="1725917" y="9525"/>
                  </a:lnTo>
                  <a:lnTo>
                    <a:pt x="1725917" y="0"/>
                  </a:lnTo>
                  <a:close/>
                </a:path>
                <a:path w="3105150" h="1066800">
                  <a:moveTo>
                    <a:pt x="1746072" y="1057275"/>
                  </a:moveTo>
                  <a:lnTo>
                    <a:pt x="1717497" y="1057275"/>
                  </a:lnTo>
                  <a:lnTo>
                    <a:pt x="1717497" y="1066800"/>
                  </a:lnTo>
                  <a:lnTo>
                    <a:pt x="1746072" y="1066800"/>
                  </a:lnTo>
                  <a:lnTo>
                    <a:pt x="1746072" y="1057275"/>
                  </a:lnTo>
                  <a:close/>
                </a:path>
                <a:path w="3105150" h="1066800">
                  <a:moveTo>
                    <a:pt x="1773593" y="0"/>
                  </a:moveTo>
                  <a:lnTo>
                    <a:pt x="1745018" y="0"/>
                  </a:lnTo>
                  <a:lnTo>
                    <a:pt x="1745018" y="9525"/>
                  </a:lnTo>
                  <a:lnTo>
                    <a:pt x="1773593" y="9525"/>
                  </a:lnTo>
                  <a:lnTo>
                    <a:pt x="1773593" y="0"/>
                  </a:lnTo>
                  <a:close/>
                </a:path>
                <a:path w="3105150" h="1066800">
                  <a:moveTo>
                    <a:pt x="1793748" y="1057275"/>
                  </a:moveTo>
                  <a:lnTo>
                    <a:pt x="1765173" y="1057275"/>
                  </a:lnTo>
                  <a:lnTo>
                    <a:pt x="1765173" y="1066800"/>
                  </a:lnTo>
                  <a:lnTo>
                    <a:pt x="1793748" y="1066800"/>
                  </a:lnTo>
                  <a:lnTo>
                    <a:pt x="1793748" y="1057275"/>
                  </a:lnTo>
                  <a:close/>
                </a:path>
                <a:path w="3105150" h="1066800">
                  <a:moveTo>
                    <a:pt x="1821268" y="0"/>
                  </a:moveTo>
                  <a:lnTo>
                    <a:pt x="1792693" y="0"/>
                  </a:lnTo>
                  <a:lnTo>
                    <a:pt x="1792693" y="9525"/>
                  </a:lnTo>
                  <a:lnTo>
                    <a:pt x="1821268" y="9525"/>
                  </a:lnTo>
                  <a:lnTo>
                    <a:pt x="1821268" y="0"/>
                  </a:lnTo>
                  <a:close/>
                </a:path>
                <a:path w="3105150" h="1066800">
                  <a:moveTo>
                    <a:pt x="1841436" y="1057275"/>
                  </a:moveTo>
                  <a:lnTo>
                    <a:pt x="1812861" y="1057275"/>
                  </a:lnTo>
                  <a:lnTo>
                    <a:pt x="1812861" y="1066800"/>
                  </a:lnTo>
                  <a:lnTo>
                    <a:pt x="1841436" y="1066800"/>
                  </a:lnTo>
                  <a:lnTo>
                    <a:pt x="1841436" y="1057275"/>
                  </a:lnTo>
                  <a:close/>
                </a:path>
                <a:path w="3105150" h="1066800">
                  <a:moveTo>
                    <a:pt x="1868957" y="0"/>
                  </a:moveTo>
                  <a:lnTo>
                    <a:pt x="1840382" y="0"/>
                  </a:lnTo>
                  <a:lnTo>
                    <a:pt x="1840382" y="9525"/>
                  </a:lnTo>
                  <a:lnTo>
                    <a:pt x="1868957" y="9525"/>
                  </a:lnTo>
                  <a:lnTo>
                    <a:pt x="1868957" y="0"/>
                  </a:lnTo>
                  <a:close/>
                </a:path>
                <a:path w="3105150" h="1066800">
                  <a:moveTo>
                    <a:pt x="1889112" y="1057275"/>
                  </a:moveTo>
                  <a:lnTo>
                    <a:pt x="1860537" y="1057275"/>
                  </a:lnTo>
                  <a:lnTo>
                    <a:pt x="1860537" y="1066800"/>
                  </a:lnTo>
                  <a:lnTo>
                    <a:pt x="1889112" y="1066800"/>
                  </a:lnTo>
                  <a:lnTo>
                    <a:pt x="1889112" y="1057275"/>
                  </a:lnTo>
                  <a:close/>
                </a:path>
                <a:path w="3105150" h="1066800">
                  <a:moveTo>
                    <a:pt x="1916633" y="0"/>
                  </a:moveTo>
                  <a:lnTo>
                    <a:pt x="1888058" y="0"/>
                  </a:lnTo>
                  <a:lnTo>
                    <a:pt x="1888058" y="9525"/>
                  </a:lnTo>
                  <a:lnTo>
                    <a:pt x="1916633" y="9525"/>
                  </a:lnTo>
                  <a:lnTo>
                    <a:pt x="1916633" y="0"/>
                  </a:lnTo>
                  <a:close/>
                </a:path>
                <a:path w="3105150" h="1066800">
                  <a:moveTo>
                    <a:pt x="1936788" y="1057275"/>
                  </a:moveTo>
                  <a:lnTo>
                    <a:pt x="1908213" y="1057275"/>
                  </a:lnTo>
                  <a:lnTo>
                    <a:pt x="1908213" y="1066800"/>
                  </a:lnTo>
                  <a:lnTo>
                    <a:pt x="1936788" y="1066800"/>
                  </a:lnTo>
                  <a:lnTo>
                    <a:pt x="1936788" y="1057275"/>
                  </a:lnTo>
                  <a:close/>
                </a:path>
                <a:path w="3105150" h="1066800">
                  <a:moveTo>
                    <a:pt x="1964321" y="0"/>
                  </a:moveTo>
                  <a:lnTo>
                    <a:pt x="1935746" y="0"/>
                  </a:lnTo>
                  <a:lnTo>
                    <a:pt x="1935746" y="9525"/>
                  </a:lnTo>
                  <a:lnTo>
                    <a:pt x="1964321" y="9525"/>
                  </a:lnTo>
                  <a:lnTo>
                    <a:pt x="1964321" y="0"/>
                  </a:lnTo>
                  <a:close/>
                </a:path>
                <a:path w="3105150" h="1066800">
                  <a:moveTo>
                    <a:pt x="1984476" y="1057275"/>
                  </a:moveTo>
                  <a:lnTo>
                    <a:pt x="1955901" y="1057275"/>
                  </a:lnTo>
                  <a:lnTo>
                    <a:pt x="1955901" y="1066800"/>
                  </a:lnTo>
                  <a:lnTo>
                    <a:pt x="1984476" y="1066800"/>
                  </a:lnTo>
                  <a:lnTo>
                    <a:pt x="1984476" y="1057275"/>
                  </a:lnTo>
                  <a:close/>
                </a:path>
                <a:path w="3105150" h="1066800">
                  <a:moveTo>
                    <a:pt x="2011997" y="0"/>
                  </a:moveTo>
                  <a:lnTo>
                    <a:pt x="1983422" y="0"/>
                  </a:lnTo>
                  <a:lnTo>
                    <a:pt x="1983422" y="9525"/>
                  </a:lnTo>
                  <a:lnTo>
                    <a:pt x="2011997" y="9525"/>
                  </a:lnTo>
                  <a:lnTo>
                    <a:pt x="2011997" y="0"/>
                  </a:lnTo>
                  <a:close/>
                </a:path>
                <a:path w="3105150" h="1066800">
                  <a:moveTo>
                    <a:pt x="2032152" y="1057275"/>
                  </a:moveTo>
                  <a:lnTo>
                    <a:pt x="2003577" y="1057275"/>
                  </a:lnTo>
                  <a:lnTo>
                    <a:pt x="2003577" y="1066800"/>
                  </a:lnTo>
                  <a:lnTo>
                    <a:pt x="2032152" y="1066800"/>
                  </a:lnTo>
                  <a:lnTo>
                    <a:pt x="2032152" y="1057275"/>
                  </a:lnTo>
                  <a:close/>
                </a:path>
                <a:path w="3105150" h="1066800">
                  <a:moveTo>
                    <a:pt x="2059673" y="0"/>
                  </a:moveTo>
                  <a:lnTo>
                    <a:pt x="2031098" y="0"/>
                  </a:lnTo>
                  <a:lnTo>
                    <a:pt x="2031098" y="9525"/>
                  </a:lnTo>
                  <a:lnTo>
                    <a:pt x="2059673" y="9525"/>
                  </a:lnTo>
                  <a:lnTo>
                    <a:pt x="2059673" y="0"/>
                  </a:lnTo>
                  <a:close/>
                </a:path>
                <a:path w="3105150" h="1066800">
                  <a:moveTo>
                    <a:pt x="2079828" y="1057275"/>
                  </a:moveTo>
                  <a:lnTo>
                    <a:pt x="2051253" y="1057275"/>
                  </a:lnTo>
                  <a:lnTo>
                    <a:pt x="2051253" y="1066800"/>
                  </a:lnTo>
                  <a:lnTo>
                    <a:pt x="2079828" y="1066800"/>
                  </a:lnTo>
                  <a:lnTo>
                    <a:pt x="2079828" y="1057275"/>
                  </a:lnTo>
                  <a:close/>
                </a:path>
                <a:path w="3105150" h="1066800">
                  <a:moveTo>
                    <a:pt x="2107361" y="0"/>
                  </a:moveTo>
                  <a:lnTo>
                    <a:pt x="2078786" y="0"/>
                  </a:lnTo>
                  <a:lnTo>
                    <a:pt x="2078786" y="9525"/>
                  </a:lnTo>
                  <a:lnTo>
                    <a:pt x="2107361" y="9525"/>
                  </a:lnTo>
                  <a:lnTo>
                    <a:pt x="2107361" y="0"/>
                  </a:lnTo>
                  <a:close/>
                </a:path>
                <a:path w="3105150" h="1066800">
                  <a:moveTo>
                    <a:pt x="2127516" y="1057275"/>
                  </a:moveTo>
                  <a:lnTo>
                    <a:pt x="2098941" y="1057275"/>
                  </a:lnTo>
                  <a:lnTo>
                    <a:pt x="2098941" y="1066800"/>
                  </a:lnTo>
                  <a:lnTo>
                    <a:pt x="2127516" y="1066800"/>
                  </a:lnTo>
                  <a:lnTo>
                    <a:pt x="2127516" y="1057275"/>
                  </a:lnTo>
                  <a:close/>
                </a:path>
                <a:path w="3105150" h="1066800">
                  <a:moveTo>
                    <a:pt x="2155037" y="0"/>
                  </a:moveTo>
                  <a:lnTo>
                    <a:pt x="2126462" y="0"/>
                  </a:lnTo>
                  <a:lnTo>
                    <a:pt x="2126462" y="9525"/>
                  </a:lnTo>
                  <a:lnTo>
                    <a:pt x="2155037" y="9525"/>
                  </a:lnTo>
                  <a:lnTo>
                    <a:pt x="2155037" y="0"/>
                  </a:lnTo>
                  <a:close/>
                </a:path>
                <a:path w="3105150" h="1066800">
                  <a:moveTo>
                    <a:pt x="2175192" y="1057275"/>
                  </a:moveTo>
                  <a:lnTo>
                    <a:pt x="2146617" y="1057275"/>
                  </a:lnTo>
                  <a:lnTo>
                    <a:pt x="2146617" y="1066800"/>
                  </a:lnTo>
                  <a:lnTo>
                    <a:pt x="2175192" y="1066800"/>
                  </a:lnTo>
                  <a:lnTo>
                    <a:pt x="2175192" y="1057275"/>
                  </a:lnTo>
                  <a:close/>
                </a:path>
                <a:path w="3105150" h="1066800">
                  <a:moveTo>
                    <a:pt x="2202713" y="0"/>
                  </a:moveTo>
                  <a:lnTo>
                    <a:pt x="2174138" y="0"/>
                  </a:lnTo>
                  <a:lnTo>
                    <a:pt x="2174138" y="9525"/>
                  </a:lnTo>
                  <a:lnTo>
                    <a:pt x="2202713" y="9525"/>
                  </a:lnTo>
                  <a:lnTo>
                    <a:pt x="2202713" y="0"/>
                  </a:lnTo>
                  <a:close/>
                </a:path>
                <a:path w="3105150" h="1066800">
                  <a:moveTo>
                    <a:pt x="2222868" y="1057275"/>
                  </a:moveTo>
                  <a:lnTo>
                    <a:pt x="2194293" y="1057275"/>
                  </a:lnTo>
                  <a:lnTo>
                    <a:pt x="2194293" y="1066800"/>
                  </a:lnTo>
                  <a:lnTo>
                    <a:pt x="2222868" y="1066800"/>
                  </a:lnTo>
                  <a:lnTo>
                    <a:pt x="2222868" y="1057275"/>
                  </a:lnTo>
                  <a:close/>
                </a:path>
                <a:path w="3105150" h="1066800">
                  <a:moveTo>
                    <a:pt x="2250402" y="0"/>
                  </a:moveTo>
                  <a:lnTo>
                    <a:pt x="2221827" y="0"/>
                  </a:lnTo>
                  <a:lnTo>
                    <a:pt x="2221827" y="9525"/>
                  </a:lnTo>
                  <a:lnTo>
                    <a:pt x="2250402" y="9525"/>
                  </a:lnTo>
                  <a:lnTo>
                    <a:pt x="2250402" y="0"/>
                  </a:lnTo>
                  <a:close/>
                </a:path>
                <a:path w="3105150" h="1066800">
                  <a:moveTo>
                    <a:pt x="2270556" y="1057275"/>
                  </a:moveTo>
                  <a:lnTo>
                    <a:pt x="2241981" y="1057275"/>
                  </a:lnTo>
                  <a:lnTo>
                    <a:pt x="2241981" y="1066800"/>
                  </a:lnTo>
                  <a:lnTo>
                    <a:pt x="2270556" y="1066800"/>
                  </a:lnTo>
                  <a:lnTo>
                    <a:pt x="2270556" y="1057275"/>
                  </a:lnTo>
                  <a:close/>
                </a:path>
                <a:path w="3105150" h="1066800">
                  <a:moveTo>
                    <a:pt x="2298077" y="0"/>
                  </a:moveTo>
                  <a:lnTo>
                    <a:pt x="2269502" y="0"/>
                  </a:lnTo>
                  <a:lnTo>
                    <a:pt x="2269502" y="9525"/>
                  </a:lnTo>
                  <a:lnTo>
                    <a:pt x="2298077" y="9525"/>
                  </a:lnTo>
                  <a:lnTo>
                    <a:pt x="2298077" y="0"/>
                  </a:lnTo>
                  <a:close/>
                </a:path>
                <a:path w="3105150" h="1066800">
                  <a:moveTo>
                    <a:pt x="2318232" y="1057275"/>
                  </a:moveTo>
                  <a:lnTo>
                    <a:pt x="2289657" y="1057275"/>
                  </a:lnTo>
                  <a:lnTo>
                    <a:pt x="2289657" y="1066800"/>
                  </a:lnTo>
                  <a:lnTo>
                    <a:pt x="2318232" y="1066800"/>
                  </a:lnTo>
                  <a:lnTo>
                    <a:pt x="2318232" y="1057275"/>
                  </a:lnTo>
                  <a:close/>
                </a:path>
                <a:path w="3105150" h="1066800">
                  <a:moveTo>
                    <a:pt x="2345753" y="0"/>
                  </a:moveTo>
                  <a:lnTo>
                    <a:pt x="2317178" y="0"/>
                  </a:lnTo>
                  <a:lnTo>
                    <a:pt x="2317178" y="9525"/>
                  </a:lnTo>
                  <a:lnTo>
                    <a:pt x="2345753" y="9525"/>
                  </a:lnTo>
                  <a:lnTo>
                    <a:pt x="2345753" y="0"/>
                  </a:lnTo>
                  <a:close/>
                </a:path>
                <a:path w="3105150" h="1066800">
                  <a:moveTo>
                    <a:pt x="2365921" y="1057275"/>
                  </a:moveTo>
                  <a:lnTo>
                    <a:pt x="2337346" y="1057275"/>
                  </a:lnTo>
                  <a:lnTo>
                    <a:pt x="2337346" y="1066800"/>
                  </a:lnTo>
                  <a:lnTo>
                    <a:pt x="2365921" y="1066800"/>
                  </a:lnTo>
                  <a:lnTo>
                    <a:pt x="2365921" y="1057275"/>
                  </a:lnTo>
                  <a:close/>
                </a:path>
                <a:path w="3105150" h="1066800">
                  <a:moveTo>
                    <a:pt x="2393442" y="0"/>
                  </a:moveTo>
                  <a:lnTo>
                    <a:pt x="2364867" y="0"/>
                  </a:lnTo>
                  <a:lnTo>
                    <a:pt x="2364867" y="9525"/>
                  </a:lnTo>
                  <a:lnTo>
                    <a:pt x="2393442" y="9525"/>
                  </a:lnTo>
                  <a:lnTo>
                    <a:pt x="2393442" y="0"/>
                  </a:lnTo>
                  <a:close/>
                </a:path>
                <a:path w="3105150" h="1066800">
                  <a:moveTo>
                    <a:pt x="2413597" y="1057275"/>
                  </a:moveTo>
                  <a:lnTo>
                    <a:pt x="2385022" y="1057275"/>
                  </a:lnTo>
                  <a:lnTo>
                    <a:pt x="2385022" y="1066800"/>
                  </a:lnTo>
                  <a:lnTo>
                    <a:pt x="2413597" y="1066800"/>
                  </a:lnTo>
                  <a:lnTo>
                    <a:pt x="2413597" y="1057275"/>
                  </a:lnTo>
                  <a:close/>
                </a:path>
                <a:path w="3105150" h="1066800">
                  <a:moveTo>
                    <a:pt x="2441117" y="0"/>
                  </a:moveTo>
                  <a:lnTo>
                    <a:pt x="2412542" y="0"/>
                  </a:lnTo>
                  <a:lnTo>
                    <a:pt x="2412542" y="9525"/>
                  </a:lnTo>
                  <a:lnTo>
                    <a:pt x="2441117" y="9525"/>
                  </a:lnTo>
                  <a:lnTo>
                    <a:pt x="2441117" y="0"/>
                  </a:lnTo>
                  <a:close/>
                </a:path>
                <a:path w="3105150" h="1066800">
                  <a:moveTo>
                    <a:pt x="2461272" y="1057275"/>
                  </a:moveTo>
                  <a:lnTo>
                    <a:pt x="2432697" y="1057275"/>
                  </a:lnTo>
                  <a:lnTo>
                    <a:pt x="2432697" y="1066800"/>
                  </a:lnTo>
                  <a:lnTo>
                    <a:pt x="2461272" y="1066800"/>
                  </a:lnTo>
                  <a:lnTo>
                    <a:pt x="2461272" y="1057275"/>
                  </a:lnTo>
                  <a:close/>
                </a:path>
                <a:path w="3105150" h="1066800">
                  <a:moveTo>
                    <a:pt x="2488793" y="0"/>
                  </a:moveTo>
                  <a:lnTo>
                    <a:pt x="2460218" y="0"/>
                  </a:lnTo>
                  <a:lnTo>
                    <a:pt x="2460218" y="9525"/>
                  </a:lnTo>
                  <a:lnTo>
                    <a:pt x="2488793" y="9525"/>
                  </a:lnTo>
                  <a:lnTo>
                    <a:pt x="2488793" y="0"/>
                  </a:lnTo>
                  <a:close/>
                </a:path>
                <a:path w="3105150" h="1066800">
                  <a:moveTo>
                    <a:pt x="2508961" y="1057275"/>
                  </a:moveTo>
                  <a:lnTo>
                    <a:pt x="2480386" y="1057275"/>
                  </a:lnTo>
                  <a:lnTo>
                    <a:pt x="2480386" y="1066800"/>
                  </a:lnTo>
                  <a:lnTo>
                    <a:pt x="2508961" y="1066800"/>
                  </a:lnTo>
                  <a:lnTo>
                    <a:pt x="2508961" y="1057275"/>
                  </a:lnTo>
                  <a:close/>
                </a:path>
                <a:path w="3105150" h="1066800">
                  <a:moveTo>
                    <a:pt x="2536482" y="0"/>
                  </a:moveTo>
                  <a:lnTo>
                    <a:pt x="2507907" y="0"/>
                  </a:lnTo>
                  <a:lnTo>
                    <a:pt x="2507907" y="9525"/>
                  </a:lnTo>
                  <a:lnTo>
                    <a:pt x="2536482" y="9525"/>
                  </a:lnTo>
                  <a:lnTo>
                    <a:pt x="2536482" y="0"/>
                  </a:lnTo>
                  <a:close/>
                </a:path>
                <a:path w="3105150" h="1066800">
                  <a:moveTo>
                    <a:pt x="2556637" y="1057275"/>
                  </a:moveTo>
                  <a:lnTo>
                    <a:pt x="2528062" y="1057275"/>
                  </a:lnTo>
                  <a:lnTo>
                    <a:pt x="2528062" y="1066800"/>
                  </a:lnTo>
                  <a:lnTo>
                    <a:pt x="2556637" y="1066800"/>
                  </a:lnTo>
                  <a:lnTo>
                    <a:pt x="2556637" y="1057275"/>
                  </a:lnTo>
                  <a:close/>
                </a:path>
                <a:path w="3105150" h="1066800">
                  <a:moveTo>
                    <a:pt x="2584158" y="0"/>
                  </a:moveTo>
                  <a:lnTo>
                    <a:pt x="2555583" y="0"/>
                  </a:lnTo>
                  <a:lnTo>
                    <a:pt x="2555583" y="9525"/>
                  </a:lnTo>
                  <a:lnTo>
                    <a:pt x="2584158" y="9525"/>
                  </a:lnTo>
                  <a:lnTo>
                    <a:pt x="2584158" y="0"/>
                  </a:lnTo>
                  <a:close/>
                </a:path>
                <a:path w="3105150" h="1066800">
                  <a:moveTo>
                    <a:pt x="2604312" y="1057275"/>
                  </a:moveTo>
                  <a:lnTo>
                    <a:pt x="2575737" y="1057275"/>
                  </a:lnTo>
                  <a:lnTo>
                    <a:pt x="2575737" y="1066800"/>
                  </a:lnTo>
                  <a:lnTo>
                    <a:pt x="2604312" y="1066800"/>
                  </a:lnTo>
                  <a:lnTo>
                    <a:pt x="2604312" y="1057275"/>
                  </a:lnTo>
                  <a:close/>
                </a:path>
                <a:path w="3105150" h="1066800">
                  <a:moveTo>
                    <a:pt x="2631846" y="0"/>
                  </a:moveTo>
                  <a:lnTo>
                    <a:pt x="2603271" y="0"/>
                  </a:lnTo>
                  <a:lnTo>
                    <a:pt x="2603271" y="9525"/>
                  </a:lnTo>
                  <a:lnTo>
                    <a:pt x="2631846" y="9525"/>
                  </a:lnTo>
                  <a:lnTo>
                    <a:pt x="2631846" y="0"/>
                  </a:lnTo>
                  <a:close/>
                </a:path>
                <a:path w="3105150" h="1066800">
                  <a:moveTo>
                    <a:pt x="2652001" y="1057275"/>
                  </a:moveTo>
                  <a:lnTo>
                    <a:pt x="2623426" y="1057275"/>
                  </a:lnTo>
                  <a:lnTo>
                    <a:pt x="2623426" y="1066800"/>
                  </a:lnTo>
                  <a:lnTo>
                    <a:pt x="2652001" y="1066800"/>
                  </a:lnTo>
                  <a:lnTo>
                    <a:pt x="2652001" y="1057275"/>
                  </a:lnTo>
                  <a:close/>
                </a:path>
                <a:path w="3105150" h="1066800">
                  <a:moveTo>
                    <a:pt x="2679522" y="0"/>
                  </a:moveTo>
                  <a:lnTo>
                    <a:pt x="2650947" y="0"/>
                  </a:lnTo>
                  <a:lnTo>
                    <a:pt x="2650947" y="9525"/>
                  </a:lnTo>
                  <a:lnTo>
                    <a:pt x="2679522" y="9525"/>
                  </a:lnTo>
                  <a:lnTo>
                    <a:pt x="2679522" y="0"/>
                  </a:lnTo>
                  <a:close/>
                </a:path>
                <a:path w="3105150" h="1066800">
                  <a:moveTo>
                    <a:pt x="2699677" y="1057275"/>
                  </a:moveTo>
                  <a:lnTo>
                    <a:pt x="2671102" y="1057275"/>
                  </a:lnTo>
                  <a:lnTo>
                    <a:pt x="2671102" y="1066800"/>
                  </a:lnTo>
                  <a:lnTo>
                    <a:pt x="2699677" y="1066800"/>
                  </a:lnTo>
                  <a:lnTo>
                    <a:pt x="2699677" y="1057275"/>
                  </a:lnTo>
                  <a:close/>
                </a:path>
                <a:path w="3105150" h="1066800">
                  <a:moveTo>
                    <a:pt x="2727198" y="0"/>
                  </a:moveTo>
                  <a:lnTo>
                    <a:pt x="2698623" y="0"/>
                  </a:lnTo>
                  <a:lnTo>
                    <a:pt x="2698623" y="9525"/>
                  </a:lnTo>
                  <a:lnTo>
                    <a:pt x="2727198" y="9525"/>
                  </a:lnTo>
                  <a:lnTo>
                    <a:pt x="2727198" y="0"/>
                  </a:lnTo>
                  <a:close/>
                </a:path>
                <a:path w="3105150" h="1066800">
                  <a:moveTo>
                    <a:pt x="2747353" y="1057275"/>
                  </a:moveTo>
                  <a:lnTo>
                    <a:pt x="2718778" y="1057275"/>
                  </a:lnTo>
                  <a:lnTo>
                    <a:pt x="2718778" y="1066800"/>
                  </a:lnTo>
                  <a:lnTo>
                    <a:pt x="2747353" y="1066800"/>
                  </a:lnTo>
                  <a:lnTo>
                    <a:pt x="2747353" y="1057275"/>
                  </a:lnTo>
                  <a:close/>
                </a:path>
                <a:path w="3105150" h="1066800">
                  <a:moveTo>
                    <a:pt x="2774886" y="0"/>
                  </a:moveTo>
                  <a:lnTo>
                    <a:pt x="2746311" y="0"/>
                  </a:lnTo>
                  <a:lnTo>
                    <a:pt x="2746311" y="9525"/>
                  </a:lnTo>
                  <a:lnTo>
                    <a:pt x="2774886" y="9525"/>
                  </a:lnTo>
                  <a:lnTo>
                    <a:pt x="2774886" y="0"/>
                  </a:lnTo>
                  <a:close/>
                </a:path>
                <a:path w="3105150" h="1066800">
                  <a:moveTo>
                    <a:pt x="2795041" y="1057275"/>
                  </a:moveTo>
                  <a:lnTo>
                    <a:pt x="2766466" y="1057275"/>
                  </a:lnTo>
                  <a:lnTo>
                    <a:pt x="2766466" y="1066800"/>
                  </a:lnTo>
                  <a:lnTo>
                    <a:pt x="2795041" y="1066800"/>
                  </a:lnTo>
                  <a:lnTo>
                    <a:pt x="2795041" y="1057275"/>
                  </a:lnTo>
                  <a:close/>
                </a:path>
                <a:path w="3105150" h="1066800">
                  <a:moveTo>
                    <a:pt x="2822562" y="0"/>
                  </a:moveTo>
                  <a:lnTo>
                    <a:pt x="2793987" y="0"/>
                  </a:lnTo>
                  <a:lnTo>
                    <a:pt x="2793987" y="9525"/>
                  </a:lnTo>
                  <a:lnTo>
                    <a:pt x="2822562" y="9525"/>
                  </a:lnTo>
                  <a:lnTo>
                    <a:pt x="2822562" y="0"/>
                  </a:lnTo>
                  <a:close/>
                </a:path>
                <a:path w="3105150" h="1066800">
                  <a:moveTo>
                    <a:pt x="2842717" y="1057275"/>
                  </a:moveTo>
                  <a:lnTo>
                    <a:pt x="2814142" y="1057275"/>
                  </a:lnTo>
                  <a:lnTo>
                    <a:pt x="2814142" y="1066800"/>
                  </a:lnTo>
                  <a:lnTo>
                    <a:pt x="2842717" y="1066800"/>
                  </a:lnTo>
                  <a:lnTo>
                    <a:pt x="2842717" y="1057275"/>
                  </a:lnTo>
                  <a:close/>
                </a:path>
                <a:path w="3105150" h="1066800">
                  <a:moveTo>
                    <a:pt x="2870238" y="0"/>
                  </a:moveTo>
                  <a:lnTo>
                    <a:pt x="2841663" y="0"/>
                  </a:lnTo>
                  <a:lnTo>
                    <a:pt x="2841663" y="9525"/>
                  </a:lnTo>
                  <a:lnTo>
                    <a:pt x="2870238" y="9525"/>
                  </a:lnTo>
                  <a:lnTo>
                    <a:pt x="2870238" y="0"/>
                  </a:lnTo>
                  <a:close/>
                </a:path>
                <a:path w="3105150" h="1066800">
                  <a:moveTo>
                    <a:pt x="2890405" y="1057275"/>
                  </a:moveTo>
                  <a:lnTo>
                    <a:pt x="2861830" y="1057275"/>
                  </a:lnTo>
                  <a:lnTo>
                    <a:pt x="2861830" y="1066800"/>
                  </a:lnTo>
                  <a:lnTo>
                    <a:pt x="2890405" y="1066800"/>
                  </a:lnTo>
                  <a:lnTo>
                    <a:pt x="2890405" y="1057275"/>
                  </a:lnTo>
                  <a:close/>
                </a:path>
                <a:path w="3105150" h="1066800">
                  <a:moveTo>
                    <a:pt x="2917926" y="0"/>
                  </a:moveTo>
                  <a:lnTo>
                    <a:pt x="2889351" y="0"/>
                  </a:lnTo>
                  <a:lnTo>
                    <a:pt x="2889351" y="9525"/>
                  </a:lnTo>
                  <a:lnTo>
                    <a:pt x="2917926" y="9525"/>
                  </a:lnTo>
                  <a:lnTo>
                    <a:pt x="2917926" y="0"/>
                  </a:lnTo>
                  <a:close/>
                </a:path>
                <a:path w="3105150" h="1066800">
                  <a:moveTo>
                    <a:pt x="2938081" y="1057275"/>
                  </a:moveTo>
                  <a:lnTo>
                    <a:pt x="2909506" y="1057275"/>
                  </a:lnTo>
                  <a:lnTo>
                    <a:pt x="2909506" y="1066800"/>
                  </a:lnTo>
                  <a:lnTo>
                    <a:pt x="2938081" y="1066800"/>
                  </a:lnTo>
                  <a:lnTo>
                    <a:pt x="2938081" y="1057275"/>
                  </a:lnTo>
                  <a:close/>
                </a:path>
                <a:path w="3105150" h="1066800">
                  <a:moveTo>
                    <a:pt x="2965602" y="0"/>
                  </a:moveTo>
                  <a:lnTo>
                    <a:pt x="2937027" y="0"/>
                  </a:lnTo>
                  <a:lnTo>
                    <a:pt x="2937027" y="9525"/>
                  </a:lnTo>
                  <a:lnTo>
                    <a:pt x="2965602" y="9525"/>
                  </a:lnTo>
                  <a:lnTo>
                    <a:pt x="2965602" y="0"/>
                  </a:lnTo>
                  <a:close/>
                </a:path>
                <a:path w="3105150" h="1066800">
                  <a:moveTo>
                    <a:pt x="2985757" y="1057275"/>
                  </a:moveTo>
                  <a:lnTo>
                    <a:pt x="2957182" y="1057275"/>
                  </a:lnTo>
                  <a:lnTo>
                    <a:pt x="2957182" y="1066800"/>
                  </a:lnTo>
                  <a:lnTo>
                    <a:pt x="2985757" y="1066800"/>
                  </a:lnTo>
                  <a:lnTo>
                    <a:pt x="2985757" y="1057275"/>
                  </a:lnTo>
                  <a:close/>
                </a:path>
                <a:path w="3105150" h="1066800">
                  <a:moveTo>
                    <a:pt x="3013278" y="0"/>
                  </a:moveTo>
                  <a:lnTo>
                    <a:pt x="2984703" y="0"/>
                  </a:lnTo>
                  <a:lnTo>
                    <a:pt x="2984703" y="9525"/>
                  </a:lnTo>
                  <a:lnTo>
                    <a:pt x="3013278" y="9525"/>
                  </a:lnTo>
                  <a:lnTo>
                    <a:pt x="3013278" y="0"/>
                  </a:lnTo>
                  <a:close/>
                </a:path>
                <a:path w="3105150" h="1066800">
                  <a:moveTo>
                    <a:pt x="3033230" y="1066596"/>
                  </a:moveTo>
                  <a:lnTo>
                    <a:pt x="3032696" y="1057097"/>
                  </a:lnTo>
                  <a:lnTo>
                    <a:pt x="3028950" y="1057275"/>
                  </a:lnTo>
                  <a:lnTo>
                    <a:pt x="3004870" y="1057275"/>
                  </a:lnTo>
                  <a:lnTo>
                    <a:pt x="3004870" y="1066800"/>
                  </a:lnTo>
                  <a:lnTo>
                    <a:pt x="3028950" y="1066800"/>
                  </a:lnTo>
                  <a:lnTo>
                    <a:pt x="3033230" y="1066596"/>
                  </a:lnTo>
                  <a:close/>
                </a:path>
                <a:path w="3105150" h="1066800">
                  <a:moveTo>
                    <a:pt x="3060103" y="6743"/>
                  </a:moveTo>
                  <a:lnTo>
                    <a:pt x="3032214" y="165"/>
                  </a:lnTo>
                  <a:lnTo>
                    <a:pt x="3032163" y="1460"/>
                  </a:lnTo>
                  <a:lnTo>
                    <a:pt x="3032087" y="3263"/>
                  </a:lnTo>
                  <a:lnTo>
                    <a:pt x="3031972" y="5803"/>
                  </a:lnTo>
                  <a:lnTo>
                    <a:pt x="3031934" y="6743"/>
                  </a:lnTo>
                  <a:lnTo>
                    <a:pt x="3031807" y="9664"/>
                  </a:lnTo>
                  <a:lnTo>
                    <a:pt x="3056204" y="15430"/>
                  </a:lnTo>
                  <a:lnTo>
                    <a:pt x="3060103" y="6743"/>
                  </a:lnTo>
                  <a:close/>
                </a:path>
                <a:path w="3105150" h="1066800">
                  <a:moveTo>
                    <a:pt x="3077451" y="1049401"/>
                  </a:moveTo>
                  <a:lnTo>
                    <a:pt x="3077248" y="1049401"/>
                  </a:lnTo>
                  <a:lnTo>
                    <a:pt x="3071279" y="1042136"/>
                  </a:lnTo>
                  <a:lnTo>
                    <a:pt x="3066008" y="1046048"/>
                  </a:lnTo>
                  <a:lnTo>
                    <a:pt x="3060420" y="1049401"/>
                  </a:lnTo>
                  <a:lnTo>
                    <a:pt x="3054477" y="1052207"/>
                  </a:lnTo>
                  <a:lnTo>
                    <a:pt x="3049536" y="1053973"/>
                  </a:lnTo>
                  <a:lnTo>
                    <a:pt x="3049143" y="1053973"/>
                  </a:lnTo>
                  <a:lnTo>
                    <a:pt x="3052076" y="1063167"/>
                  </a:lnTo>
                  <a:lnTo>
                    <a:pt x="3058109" y="1061008"/>
                  </a:lnTo>
                  <a:lnTo>
                    <a:pt x="3064916" y="1057795"/>
                  </a:lnTo>
                  <a:lnTo>
                    <a:pt x="3071291" y="1053973"/>
                  </a:lnTo>
                  <a:lnTo>
                    <a:pt x="3077451" y="1049401"/>
                  </a:lnTo>
                  <a:close/>
                </a:path>
                <a:path w="3105150" h="1066800">
                  <a:moveTo>
                    <a:pt x="3095180" y="38646"/>
                  </a:moveTo>
                  <a:lnTo>
                    <a:pt x="3076473" y="16675"/>
                  </a:lnTo>
                  <a:lnTo>
                    <a:pt x="3070529" y="24117"/>
                  </a:lnTo>
                  <a:lnTo>
                    <a:pt x="3071228" y="24638"/>
                  </a:lnTo>
                  <a:lnTo>
                    <a:pt x="3076105" y="29057"/>
                  </a:lnTo>
                  <a:lnTo>
                    <a:pt x="3080461" y="33858"/>
                  </a:lnTo>
                  <a:lnTo>
                    <a:pt x="3084398" y="39154"/>
                  </a:lnTo>
                  <a:lnTo>
                    <a:pt x="3086900" y="43332"/>
                  </a:lnTo>
                  <a:lnTo>
                    <a:pt x="3095180" y="38646"/>
                  </a:lnTo>
                  <a:close/>
                </a:path>
                <a:path w="3105150" h="1066800">
                  <a:moveTo>
                    <a:pt x="3102762" y="1009218"/>
                  </a:moveTo>
                  <a:lnTo>
                    <a:pt x="3093542" y="1006894"/>
                  </a:lnTo>
                  <a:lnTo>
                    <a:pt x="3092780" y="1009929"/>
                  </a:lnTo>
                  <a:lnTo>
                    <a:pt x="3090557" y="1016127"/>
                  </a:lnTo>
                  <a:lnTo>
                    <a:pt x="3087751" y="1022070"/>
                  </a:lnTo>
                  <a:lnTo>
                    <a:pt x="3084398" y="1027658"/>
                  </a:lnTo>
                  <a:lnTo>
                    <a:pt x="3082874" y="1029716"/>
                  </a:lnTo>
                  <a:lnTo>
                    <a:pt x="3090583" y="1035304"/>
                  </a:lnTo>
                  <a:lnTo>
                    <a:pt x="3092323" y="1032941"/>
                  </a:lnTo>
                  <a:lnTo>
                    <a:pt x="3096145" y="1026566"/>
                  </a:lnTo>
                  <a:lnTo>
                    <a:pt x="3099358" y="1019771"/>
                  </a:lnTo>
                  <a:lnTo>
                    <a:pt x="3101898" y="1012698"/>
                  </a:lnTo>
                  <a:lnTo>
                    <a:pt x="3102762" y="1009218"/>
                  </a:lnTo>
                  <a:close/>
                </a:path>
                <a:path w="3105150" h="1066800">
                  <a:moveTo>
                    <a:pt x="3105150" y="961999"/>
                  </a:moveTo>
                  <a:lnTo>
                    <a:pt x="3095625" y="961999"/>
                  </a:lnTo>
                  <a:lnTo>
                    <a:pt x="3095625" y="990574"/>
                  </a:lnTo>
                  <a:lnTo>
                    <a:pt x="3105150" y="990574"/>
                  </a:lnTo>
                  <a:lnTo>
                    <a:pt x="3105150" y="961999"/>
                  </a:lnTo>
                  <a:close/>
                </a:path>
                <a:path w="3105150" h="1066800">
                  <a:moveTo>
                    <a:pt x="3105150" y="914323"/>
                  </a:moveTo>
                  <a:lnTo>
                    <a:pt x="3095625" y="914323"/>
                  </a:lnTo>
                  <a:lnTo>
                    <a:pt x="3095625" y="942898"/>
                  </a:lnTo>
                  <a:lnTo>
                    <a:pt x="3105150" y="942898"/>
                  </a:lnTo>
                  <a:lnTo>
                    <a:pt x="3105150" y="914323"/>
                  </a:lnTo>
                  <a:close/>
                </a:path>
                <a:path w="3105150" h="1066800">
                  <a:moveTo>
                    <a:pt x="3105150" y="866648"/>
                  </a:moveTo>
                  <a:lnTo>
                    <a:pt x="3095625" y="866648"/>
                  </a:lnTo>
                  <a:lnTo>
                    <a:pt x="3095625" y="895223"/>
                  </a:lnTo>
                  <a:lnTo>
                    <a:pt x="3105150" y="895223"/>
                  </a:lnTo>
                  <a:lnTo>
                    <a:pt x="3105150" y="866648"/>
                  </a:lnTo>
                  <a:close/>
                </a:path>
                <a:path w="3105150" h="1066800">
                  <a:moveTo>
                    <a:pt x="3105150" y="818959"/>
                  </a:moveTo>
                  <a:lnTo>
                    <a:pt x="3095625" y="818959"/>
                  </a:lnTo>
                  <a:lnTo>
                    <a:pt x="3095625" y="847534"/>
                  </a:lnTo>
                  <a:lnTo>
                    <a:pt x="3105150" y="847534"/>
                  </a:lnTo>
                  <a:lnTo>
                    <a:pt x="3105150" y="818959"/>
                  </a:lnTo>
                  <a:close/>
                </a:path>
                <a:path w="3105150" h="1066800">
                  <a:moveTo>
                    <a:pt x="3105150" y="771283"/>
                  </a:moveTo>
                  <a:lnTo>
                    <a:pt x="3095625" y="771283"/>
                  </a:lnTo>
                  <a:lnTo>
                    <a:pt x="3095625" y="799858"/>
                  </a:lnTo>
                  <a:lnTo>
                    <a:pt x="3105150" y="799858"/>
                  </a:lnTo>
                  <a:lnTo>
                    <a:pt x="3105150" y="771283"/>
                  </a:lnTo>
                  <a:close/>
                </a:path>
                <a:path w="3105150" h="1066800">
                  <a:moveTo>
                    <a:pt x="3105150" y="723595"/>
                  </a:moveTo>
                  <a:lnTo>
                    <a:pt x="3095625" y="723595"/>
                  </a:lnTo>
                  <a:lnTo>
                    <a:pt x="3095625" y="752170"/>
                  </a:lnTo>
                  <a:lnTo>
                    <a:pt x="3105150" y="752170"/>
                  </a:lnTo>
                  <a:lnTo>
                    <a:pt x="3105150" y="723595"/>
                  </a:lnTo>
                  <a:close/>
                </a:path>
                <a:path w="3105150" h="1066800">
                  <a:moveTo>
                    <a:pt x="3105150" y="675919"/>
                  </a:moveTo>
                  <a:lnTo>
                    <a:pt x="3095625" y="675919"/>
                  </a:lnTo>
                  <a:lnTo>
                    <a:pt x="3095625" y="704494"/>
                  </a:lnTo>
                  <a:lnTo>
                    <a:pt x="3105150" y="704494"/>
                  </a:lnTo>
                  <a:lnTo>
                    <a:pt x="3105150" y="675919"/>
                  </a:lnTo>
                  <a:close/>
                </a:path>
                <a:path w="3105150" h="1066800">
                  <a:moveTo>
                    <a:pt x="3105150" y="628243"/>
                  </a:moveTo>
                  <a:lnTo>
                    <a:pt x="3095625" y="628243"/>
                  </a:lnTo>
                  <a:lnTo>
                    <a:pt x="3095625" y="656818"/>
                  </a:lnTo>
                  <a:lnTo>
                    <a:pt x="3105150" y="656818"/>
                  </a:lnTo>
                  <a:lnTo>
                    <a:pt x="3105150" y="628243"/>
                  </a:lnTo>
                  <a:close/>
                </a:path>
                <a:path w="3105150" h="1066800">
                  <a:moveTo>
                    <a:pt x="3105150" y="580555"/>
                  </a:moveTo>
                  <a:lnTo>
                    <a:pt x="3095625" y="580555"/>
                  </a:lnTo>
                  <a:lnTo>
                    <a:pt x="3095625" y="609130"/>
                  </a:lnTo>
                  <a:lnTo>
                    <a:pt x="3105150" y="609130"/>
                  </a:lnTo>
                  <a:lnTo>
                    <a:pt x="3105150" y="580555"/>
                  </a:lnTo>
                  <a:close/>
                </a:path>
                <a:path w="3105150" h="1066800">
                  <a:moveTo>
                    <a:pt x="3105150" y="532879"/>
                  </a:moveTo>
                  <a:lnTo>
                    <a:pt x="3095625" y="532879"/>
                  </a:lnTo>
                  <a:lnTo>
                    <a:pt x="3095625" y="561454"/>
                  </a:lnTo>
                  <a:lnTo>
                    <a:pt x="3105150" y="561454"/>
                  </a:lnTo>
                  <a:lnTo>
                    <a:pt x="3105150" y="532879"/>
                  </a:lnTo>
                  <a:close/>
                </a:path>
                <a:path w="3105150" h="1066800">
                  <a:moveTo>
                    <a:pt x="3105150" y="485203"/>
                  </a:moveTo>
                  <a:lnTo>
                    <a:pt x="3095625" y="485203"/>
                  </a:lnTo>
                  <a:lnTo>
                    <a:pt x="3095625" y="513778"/>
                  </a:lnTo>
                  <a:lnTo>
                    <a:pt x="3105150" y="513778"/>
                  </a:lnTo>
                  <a:lnTo>
                    <a:pt x="3105150" y="485203"/>
                  </a:lnTo>
                  <a:close/>
                </a:path>
                <a:path w="3105150" h="1066800">
                  <a:moveTo>
                    <a:pt x="3105150" y="437515"/>
                  </a:moveTo>
                  <a:lnTo>
                    <a:pt x="3095625" y="437515"/>
                  </a:lnTo>
                  <a:lnTo>
                    <a:pt x="3095625" y="466090"/>
                  </a:lnTo>
                  <a:lnTo>
                    <a:pt x="3105150" y="466090"/>
                  </a:lnTo>
                  <a:lnTo>
                    <a:pt x="3105150" y="437515"/>
                  </a:lnTo>
                  <a:close/>
                </a:path>
                <a:path w="3105150" h="1066800">
                  <a:moveTo>
                    <a:pt x="3105150" y="389839"/>
                  </a:moveTo>
                  <a:lnTo>
                    <a:pt x="3095625" y="389839"/>
                  </a:lnTo>
                  <a:lnTo>
                    <a:pt x="3095625" y="418414"/>
                  </a:lnTo>
                  <a:lnTo>
                    <a:pt x="3105150" y="418414"/>
                  </a:lnTo>
                  <a:lnTo>
                    <a:pt x="3105150" y="389839"/>
                  </a:lnTo>
                  <a:close/>
                </a:path>
                <a:path w="3105150" h="1066800">
                  <a:moveTo>
                    <a:pt x="3105150" y="342163"/>
                  </a:moveTo>
                  <a:lnTo>
                    <a:pt x="3095625" y="342163"/>
                  </a:lnTo>
                  <a:lnTo>
                    <a:pt x="3095625" y="370738"/>
                  </a:lnTo>
                  <a:lnTo>
                    <a:pt x="3105150" y="370738"/>
                  </a:lnTo>
                  <a:lnTo>
                    <a:pt x="3105150" y="342163"/>
                  </a:lnTo>
                  <a:close/>
                </a:path>
                <a:path w="3105150" h="1066800">
                  <a:moveTo>
                    <a:pt x="3105150" y="294474"/>
                  </a:moveTo>
                  <a:lnTo>
                    <a:pt x="3095625" y="294474"/>
                  </a:lnTo>
                  <a:lnTo>
                    <a:pt x="3095625" y="323049"/>
                  </a:lnTo>
                  <a:lnTo>
                    <a:pt x="3105150" y="323049"/>
                  </a:lnTo>
                  <a:lnTo>
                    <a:pt x="3105150" y="294474"/>
                  </a:lnTo>
                  <a:close/>
                </a:path>
                <a:path w="3105150" h="1066800">
                  <a:moveTo>
                    <a:pt x="3105150" y="246799"/>
                  </a:moveTo>
                  <a:lnTo>
                    <a:pt x="3095625" y="246799"/>
                  </a:lnTo>
                  <a:lnTo>
                    <a:pt x="3095625" y="275374"/>
                  </a:lnTo>
                  <a:lnTo>
                    <a:pt x="3105150" y="275374"/>
                  </a:lnTo>
                  <a:lnTo>
                    <a:pt x="3105150" y="246799"/>
                  </a:lnTo>
                  <a:close/>
                </a:path>
                <a:path w="3105150" h="1066800">
                  <a:moveTo>
                    <a:pt x="3105150" y="199123"/>
                  </a:moveTo>
                  <a:lnTo>
                    <a:pt x="3095625" y="199123"/>
                  </a:lnTo>
                  <a:lnTo>
                    <a:pt x="3095625" y="227698"/>
                  </a:lnTo>
                  <a:lnTo>
                    <a:pt x="3105150" y="227698"/>
                  </a:lnTo>
                  <a:lnTo>
                    <a:pt x="3105150" y="199123"/>
                  </a:lnTo>
                  <a:close/>
                </a:path>
                <a:path w="3105150" h="1066800">
                  <a:moveTo>
                    <a:pt x="3105150" y="151434"/>
                  </a:moveTo>
                  <a:lnTo>
                    <a:pt x="3095625" y="151434"/>
                  </a:lnTo>
                  <a:lnTo>
                    <a:pt x="3095625" y="180009"/>
                  </a:lnTo>
                  <a:lnTo>
                    <a:pt x="3105150" y="180009"/>
                  </a:lnTo>
                  <a:lnTo>
                    <a:pt x="3105150" y="151434"/>
                  </a:lnTo>
                  <a:close/>
                </a:path>
                <a:path w="3105150" h="1066800">
                  <a:moveTo>
                    <a:pt x="3105150" y="103759"/>
                  </a:moveTo>
                  <a:lnTo>
                    <a:pt x="3095625" y="103759"/>
                  </a:lnTo>
                  <a:lnTo>
                    <a:pt x="3095625" y="132334"/>
                  </a:lnTo>
                  <a:lnTo>
                    <a:pt x="3105150" y="132334"/>
                  </a:lnTo>
                  <a:lnTo>
                    <a:pt x="3105150" y="103759"/>
                  </a:lnTo>
                  <a:close/>
                </a:path>
                <a:path w="3105150" h="1066800">
                  <a:moveTo>
                    <a:pt x="3105150" y="76200"/>
                  </a:moveTo>
                  <a:lnTo>
                    <a:pt x="3104794" y="68694"/>
                  </a:lnTo>
                  <a:lnTo>
                    <a:pt x="3103702" y="61341"/>
                  </a:lnTo>
                  <a:lnTo>
                    <a:pt x="3102495" y="56540"/>
                  </a:lnTo>
                  <a:lnTo>
                    <a:pt x="3093313" y="58991"/>
                  </a:lnTo>
                  <a:lnTo>
                    <a:pt x="3094367" y="63195"/>
                  </a:lnTo>
                  <a:lnTo>
                    <a:pt x="3095307" y="69634"/>
                  </a:lnTo>
                  <a:lnTo>
                    <a:pt x="3095625" y="76200"/>
                  </a:lnTo>
                  <a:lnTo>
                    <a:pt x="3095625" y="84645"/>
                  </a:lnTo>
                  <a:lnTo>
                    <a:pt x="3105150" y="84645"/>
                  </a:lnTo>
                  <a:lnTo>
                    <a:pt x="3105150" y="76200"/>
                  </a:lnTo>
                  <a:close/>
                </a:path>
              </a:pathLst>
            </a:custGeom>
            <a:solidFill>
              <a:srgbClr val="000000">
                <a:alpha val="19999"/>
              </a:srgbClr>
            </a:solidFill>
          </p:spPr>
          <p:txBody>
            <a:bodyPr wrap="square" lIns="0" tIns="0" rIns="0" bIns="0" rtlCol="0"/>
            <a:lstStyle/>
            <a:p/>
          </p:txBody>
        </p:sp>
      </p:grpSp>
      <p:sp>
        <p:nvSpPr>
          <p:cNvPr id="27" name="object 27"/>
          <p:cNvSpPr txBox="1"/>
          <p:nvPr/>
        </p:nvSpPr>
        <p:spPr>
          <a:xfrm>
            <a:off x="4527450" y="2968625"/>
            <a:ext cx="1550035" cy="139700"/>
          </a:xfrm>
          <a:prstGeom prst="rect">
            <a:avLst/>
          </a:prstGeom>
        </p:spPr>
        <p:txBody>
          <a:bodyPr vert="horz" wrap="square" lIns="0" tIns="12700" rIns="0" bIns="0" rtlCol="0">
            <a:spAutoFit/>
          </a:bodyPr>
          <a:lstStyle/>
          <a:p>
            <a:pPr marL="12700">
              <a:lnSpc>
                <a:spcPct val="100000"/>
              </a:lnSpc>
              <a:spcBef>
                <a:spcPts val="100"/>
              </a:spcBef>
            </a:pPr>
            <a:r>
              <a:rPr sz="750" spc="15" dirty="0">
                <a:solidFill>
                  <a:srgbClr val="9CA2AF"/>
                </a:solidFill>
                <a:latin typeface="宋体" panose="02010600030101010101" pitchFamily="2" charset="-122"/>
                <a:cs typeface="宋体" panose="02010600030101010101" pitchFamily="2" charset="-122"/>
              </a:rPr>
              <a:t>能量定义 </a:t>
            </a:r>
            <a:r>
              <a:rPr sz="750" dirty="0">
                <a:solidFill>
                  <a:srgbClr val="9CA2AF"/>
                </a:solidFill>
                <a:latin typeface="Courier New" panose="02070309020205020404"/>
                <a:cs typeface="Courier New" panose="02070309020205020404"/>
              </a:rPr>
              <a:t>(ENERGY </a:t>
            </a:r>
            <a:r>
              <a:rPr sz="750" spc="-10" dirty="0">
                <a:solidFill>
                  <a:srgbClr val="9CA2AF"/>
                </a:solidFill>
                <a:latin typeface="Courier New" panose="02070309020205020404"/>
                <a:cs typeface="Courier New" panose="02070309020205020404"/>
              </a:rPr>
              <a:t>DEFINITION)</a:t>
            </a:r>
            <a:endParaRPr sz="750">
              <a:latin typeface="Courier New" panose="02070309020205020404"/>
              <a:cs typeface="Courier New" panose="02070309020205020404"/>
            </a:endParaRPr>
          </a:p>
        </p:txBody>
      </p:sp>
      <p:sp>
        <p:nvSpPr>
          <p:cNvPr id="28" name="object 28"/>
          <p:cNvSpPr txBox="1"/>
          <p:nvPr/>
        </p:nvSpPr>
        <p:spPr>
          <a:xfrm>
            <a:off x="4527450" y="4264025"/>
            <a:ext cx="1683385" cy="139700"/>
          </a:xfrm>
          <a:prstGeom prst="rect">
            <a:avLst/>
          </a:prstGeom>
        </p:spPr>
        <p:txBody>
          <a:bodyPr vert="horz" wrap="square" lIns="0" tIns="12700" rIns="0" bIns="0" rtlCol="0">
            <a:spAutoFit/>
          </a:bodyPr>
          <a:lstStyle/>
          <a:p>
            <a:pPr marL="12700">
              <a:lnSpc>
                <a:spcPct val="100000"/>
              </a:lnSpc>
              <a:spcBef>
                <a:spcPts val="100"/>
              </a:spcBef>
            </a:pPr>
            <a:r>
              <a:rPr sz="750" spc="10" dirty="0">
                <a:solidFill>
                  <a:srgbClr val="9CA2AF"/>
                </a:solidFill>
                <a:latin typeface="宋体" panose="02010600030101010101" pitchFamily="2" charset="-122"/>
                <a:cs typeface="宋体" panose="02010600030101010101" pitchFamily="2" charset="-122"/>
              </a:rPr>
              <a:t>能量守恒保证 </a:t>
            </a:r>
            <a:r>
              <a:rPr sz="750" dirty="0">
                <a:solidFill>
                  <a:srgbClr val="9CA2AF"/>
                </a:solidFill>
                <a:latin typeface="Courier New" panose="02070309020205020404"/>
                <a:cs typeface="Courier New" panose="02070309020205020404"/>
              </a:rPr>
              <a:t>(CONSERVATION </a:t>
            </a:r>
            <a:r>
              <a:rPr sz="750" spc="-20" dirty="0">
                <a:solidFill>
                  <a:srgbClr val="9CA2AF"/>
                </a:solidFill>
                <a:latin typeface="Courier New" panose="02070309020205020404"/>
                <a:cs typeface="Courier New" panose="02070309020205020404"/>
              </a:rPr>
              <a:t>LAW)</a:t>
            </a:r>
            <a:endParaRPr sz="750">
              <a:latin typeface="Courier New" panose="02070309020205020404"/>
              <a:cs typeface="Courier New" panose="02070309020205020404"/>
            </a:endParaRPr>
          </a:p>
        </p:txBody>
      </p:sp>
      <p:sp>
        <p:nvSpPr>
          <p:cNvPr id="29" name="object 29"/>
          <p:cNvSpPr txBox="1"/>
          <p:nvPr/>
        </p:nvSpPr>
        <p:spPr>
          <a:xfrm>
            <a:off x="5493344" y="3479926"/>
            <a:ext cx="696595" cy="166370"/>
          </a:xfrm>
          <a:prstGeom prst="rect">
            <a:avLst/>
          </a:prstGeom>
        </p:spPr>
        <p:txBody>
          <a:bodyPr vert="horz" wrap="square" lIns="0" tIns="15240" rIns="0" bIns="0" rtlCol="0">
            <a:spAutoFit/>
          </a:bodyPr>
          <a:lstStyle/>
          <a:p>
            <a:pPr marL="12700">
              <a:lnSpc>
                <a:spcPct val="100000"/>
              </a:lnSpc>
              <a:spcBef>
                <a:spcPts val="120"/>
              </a:spcBef>
              <a:tabLst>
                <a:tab pos="567690" algn="l"/>
              </a:tabLst>
            </a:pPr>
            <a:r>
              <a:rPr sz="900" i="1" spc="70" dirty="0">
                <a:latin typeface="Calibri" panose="020F0502020204030204"/>
                <a:cs typeface="Calibri" panose="020F0502020204030204"/>
              </a:rPr>
              <a:t>i</a:t>
            </a:r>
            <a:r>
              <a:rPr sz="900" spc="70" dirty="0">
                <a:latin typeface="Cambria" panose="02040503050406030204"/>
                <a:cs typeface="Cambria" panose="02040503050406030204"/>
              </a:rPr>
              <a:t>,</a:t>
            </a:r>
            <a:r>
              <a:rPr sz="900" i="1" spc="70" dirty="0">
                <a:latin typeface="Calibri" panose="020F0502020204030204"/>
                <a:cs typeface="Calibri" panose="020F0502020204030204"/>
              </a:rPr>
              <a:t>j</a:t>
            </a:r>
            <a:r>
              <a:rPr sz="900" i="1" dirty="0">
                <a:latin typeface="Calibri" panose="020F0502020204030204"/>
                <a:cs typeface="Calibri" panose="020F0502020204030204"/>
              </a:rPr>
              <a:t>	</a:t>
            </a:r>
            <a:r>
              <a:rPr sz="900" i="1" spc="70" dirty="0">
                <a:latin typeface="Calibri" panose="020F0502020204030204"/>
                <a:cs typeface="Calibri" panose="020F0502020204030204"/>
              </a:rPr>
              <a:t>i</a:t>
            </a:r>
            <a:r>
              <a:rPr sz="900" spc="70" dirty="0">
                <a:latin typeface="Cambria" panose="02040503050406030204"/>
                <a:cs typeface="Cambria" panose="02040503050406030204"/>
              </a:rPr>
              <a:t>,</a:t>
            </a:r>
            <a:r>
              <a:rPr sz="900" i="1" spc="70" dirty="0">
                <a:latin typeface="Calibri" panose="020F0502020204030204"/>
                <a:cs typeface="Calibri" panose="020F0502020204030204"/>
              </a:rPr>
              <a:t>j</a:t>
            </a:r>
            <a:endParaRPr sz="900">
              <a:latin typeface="Calibri" panose="020F0502020204030204"/>
              <a:cs typeface="Calibri" panose="020F0502020204030204"/>
            </a:endParaRPr>
          </a:p>
        </p:txBody>
      </p:sp>
      <p:sp>
        <p:nvSpPr>
          <p:cNvPr id="30" name="object 30"/>
          <p:cNvSpPr txBox="1"/>
          <p:nvPr/>
        </p:nvSpPr>
        <p:spPr>
          <a:xfrm>
            <a:off x="5388569" y="3410584"/>
            <a:ext cx="1347470" cy="226695"/>
          </a:xfrm>
          <a:prstGeom prst="rect">
            <a:avLst/>
          </a:prstGeom>
        </p:spPr>
        <p:txBody>
          <a:bodyPr vert="horz" wrap="square" lIns="0" tIns="15240" rIns="0" bIns="0" rtlCol="0">
            <a:spAutoFit/>
          </a:bodyPr>
          <a:lstStyle/>
          <a:p>
            <a:pPr marL="12700">
              <a:lnSpc>
                <a:spcPct val="100000"/>
              </a:lnSpc>
              <a:spcBef>
                <a:spcPts val="120"/>
              </a:spcBef>
              <a:tabLst>
                <a:tab pos="292735" algn="l"/>
                <a:tab pos="838835" algn="l"/>
                <a:tab pos="1250315" algn="l"/>
              </a:tabLst>
            </a:pPr>
            <a:r>
              <a:rPr sz="1300" i="1" spc="165" dirty="0">
                <a:latin typeface="Calibri" panose="020F0502020204030204"/>
                <a:cs typeface="Calibri" panose="020F0502020204030204"/>
              </a:rPr>
              <a:t>S</a:t>
            </a:r>
            <a:r>
              <a:rPr sz="1300" i="1" dirty="0">
                <a:latin typeface="Calibri" panose="020F0502020204030204"/>
                <a:cs typeface="Calibri" panose="020F0502020204030204"/>
              </a:rPr>
              <a:t>	</a:t>
            </a:r>
            <a:r>
              <a:rPr sz="1300" spc="295" dirty="0">
                <a:latin typeface="Cambria" panose="02040503050406030204"/>
                <a:cs typeface="Cambria" panose="02040503050406030204"/>
              </a:rPr>
              <a:t>=</a:t>
            </a:r>
            <a:r>
              <a:rPr sz="1300" spc="100" dirty="0">
                <a:latin typeface="Cambria" panose="02040503050406030204"/>
                <a:cs typeface="Cambria" panose="02040503050406030204"/>
              </a:rPr>
              <a:t> </a:t>
            </a:r>
            <a:r>
              <a:rPr sz="1300" spc="40" dirty="0">
                <a:latin typeface="Cambria" panose="02040503050406030204"/>
                <a:cs typeface="Cambria" panose="02040503050406030204"/>
              </a:rPr>
              <a:t>∥</a:t>
            </a:r>
            <a:r>
              <a:rPr sz="1300" i="1" spc="40" dirty="0">
                <a:latin typeface="Calibri" panose="020F0502020204030204"/>
                <a:cs typeface="Calibri" panose="020F0502020204030204"/>
              </a:rPr>
              <a:t>U</a:t>
            </a:r>
            <a:r>
              <a:rPr sz="1300" i="1" dirty="0">
                <a:latin typeface="Calibri" panose="020F0502020204030204"/>
                <a:cs typeface="Calibri" panose="020F0502020204030204"/>
              </a:rPr>
              <a:t>	</a:t>
            </a:r>
            <a:r>
              <a:rPr sz="1300" dirty="0">
                <a:latin typeface="Cambria" panose="02040503050406030204"/>
                <a:cs typeface="Cambria" panose="02040503050406030204"/>
              </a:rPr>
              <a:t>⋅</a:t>
            </a:r>
            <a:r>
              <a:rPr sz="1300" spc="10" dirty="0">
                <a:latin typeface="Cambria" panose="02040503050406030204"/>
                <a:cs typeface="Cambria" panose="02040503050406030204"/>
              </a:rPr>
              <a:t> </a:t>
            </a:r>
            <a:r>
              <a:rPr sz="1300" i="1" spc="360" dirty="0">
                <a:latin typeface="Calibri" panose="020F0502020204030204"/>
                <a:cs typeface="Calibri" panose="020F0502020204030204"/>
              </a:rPr>
              <a:t>X</a:t>
            </a:r>
            <a:r>
              <a:rPr sz="1300" i="1" dirty="0">
                <a:latin typeface="Calibri" panose="020F0502020204030204"/>
                <a:cs typeface="Calibri" panose="020F0502020204030204"/>
              </a:rPr>
              <a:t>	</a:t>
            </a:r>
            <a:r>
              <a:rPr sz="1300" spc="10" dirty="0">
                <a:latin typeface="Cambria" panose="02040503050406030204"/>
                <a:cs typeface="Cambria" panose="02040503050406030204"/>
              </a:rPr>
              <a:t>∥</a:t>
            </a:r>
            <a:endParaRPr sz="1300">
              <a:latin typeface="Cambria" panose="02040503050406030204"/>
              <a:cs typeface="Cambria" panose="02040503050406030204"/>
            </a:endParaRPr>
          </a:p>
        </p:txBody>
      </p:sp>
      <p:sp>
        <p:nvSpPr>
          <p:cNvPr id="31" name="object 31"/>
          <p:cNvSpPr txBox="1"/>
          <p:nvPr/>
        </p:nvSpPr>
        <p:spPr>
          <a:xfrm>
            <a:off x="6443166" y="3498976"/>
            <a:ext cx="353695" cy="166370"/>
          </a:xfrm>
          <a:prstGeom prst="rect">
            <a:avLst/>
          </a:prstGeom>
        </p:spPr>
        <p:txBody>
          <a:bodyPr vert="horz" wrap="square" lIns="0" tIns="15240" rIns="0" bIns="0" rtlCol="0">
            <a:spAutoFit/>
          </a:bodyPr>
          <a:lstStyle/>
          <a:p>
            <a:pPr marL="12700">
              <a:lnSpc>
                <a:spcPct val="100000"/>
              </a:lnSpc>
              <a:spcBef>
                <a:spcPts val="120"/>
              </a:spcBef>
              <a:tabLst>
                <a:tab pos="281305" algn="l"/>
              </a:tabLst>
            </a:pPr>
            <a:r>
              <a:rPr sz="900" i="1" spc="60" dirty="0">
                <a:latin typeface="Calibri" panose="020F0502020204030204"/>
                <a:cs typeface="Calibri" panose="020F0502020204030204"/>
              </a:rPr>
              <a:t>j</a:t>
            </a:r>
            <a:r>
              <a:rPr sz="900" spc="60" dirty="0">
                <a:latin typeface="Cambria" panose="02040503050406030204"/>
                <a:cs typeface="Cambria" panose="02040503050406030204"/>
              </a:rPr>
              <a:t>,:</a:t>
            </a:r>
            <a:r>
              <a:rPr sz="900" dirty="0">
                <a:latin typeface="Cambria" panose="02040503050406030204"/>
                <a:cs typeface="Cambria" panose="02040503050406030204"/>
              </a:rPr>
              <a:t>	</a:t>
            </a:r>
            <a:r>
              <a:rPr sz="900" spc="-50" dirty="0">
                <a:latin typeface="Cambria" panose="02040503050406030204"/>
                <a:cs typeface="Cambria" panose="02040503050406030204"/>
              </a:rPr>
              <a:t>2</a:t>
            </a:r>
            <a:endParaRPr sz="900">
              <a:latin typeface="Cambria" panose="02040503050406030204"/>
              <a:cs typeface="Cambria" panose="02040503050406030204"/>
            </a:endParaRPr>
          </a:p>
        </p:txBody>
      </p:sp>
      <p:sp>
        <p:nvSpPr>
          <p:cNvPr id="32" name="object 32"/>
          <p:cNvSpPr txBox="1"/>
          <p:nvPr/>
        </p:nvSpPr>
        <p:spPr>
          <a:xfrm>
            <a:off x="6456262" y="3384677"/>
            <a:ext cx="340360" cy="166370"/>
          </a:xfrm>
          <a:prstGeom prst="rect">
            <a:avLst/>
          </a:prstGeom>
        </p:spPr>
        <p:txBody>
          <a:bodyPr vert="horz" wrap="square" lIns="0" tIns="15240" rIns="0" bIns="0" rtlCol="0">
            <a:spAutoFit/>
          </a:bodyPr>
          <a:lstStyle/>
          <a:p>
            <a:pPr marL="12700">
              <a:lnSpc>
                <a:spcPct val="100000"/>
              </a:lnSpc>
              <a:spcBef>
                <a:spcPts val="120"/>
              </a:spcBef>
            </a:pPr>
            <a:r>
              <a:rPr sz="1350" baseline="3000" dirty="0">
                <a:latin typeface="Cambria" panose="02040503050406030204"/>
                <a:cs typeface="Cambria" panose="02040503050406030204"/>
              </a:rPr>
              <a:t>spc</a:t>
            </a:r>
            <a:r>
              <a:rPr sz="1350" spc="240" baseline="3000" dirty="0">
                <a:latin typeface="Cambria" panose="02040503050406030204"/>
                <a:cs typeface="Cambria" panose="02040503050406030204"/>
              </a:rPr>
              <a:t>  </a:t>
            </a:r>
            <a:r>
              <a:rPr sz="900" spc="-50" dirty="0">
                <a:latin typeface="Cambria" panose="02040503050406030204"/>
                <a:cs typeface="Cambria" panose="02040503050406030204"/>
              </a:rPr>
              <a:t>2</a:t>
            </a:r>
            <a:endParaRPr sz="900">
              <a:latin typeface="Cambria" panose="02040503050406030204"/>
              <a:cs typeface="Cambria" panose="02040503050406030204"/>
            </a:endParaRPr>
          </a:p>
        </p:txBody>
      </p:sp>
      <p:sp>
        <p:nvSpPr>
          <p:cNvPr id="33" name="object 33"/>
          <p:cNvSpPr txBox="1"/>
          <p:nvPr/>
        </p:nvSpPr>
        <p:spPr>
          <a:xfrm>
            <a:off x="5500339" y="4680076"/>
            <a:ext cx="95885" cy="166370"/>
          </a:xfrm>
          <a:prstGeom prst="rect">
            <a:avLst/>
          </a:prstGeom>
        </p:spPr>
        <p:txBody>
          <a:bodyPr vert="horz" wrap="square" lIns="0" tIns="15240" rIns="0" bIns="0" rtlCol="0">
            <a:spAutoFit/>
          </a:bodyPr>
          <a:lstStyle/>
          <a:p>
            <a:pPr marL="12700">
              <a:lnSpc>
                <a:spcPct val="100000"/>
              </a:lnSpc>
              <a:spcBef>
                <a:spcPts val="120"/>
              </a:spcBef>
            </a:pPr>
            <a:r>
              <a:rPr sz="900" i="1" spc="35" dirty="0">
                <a:latin typeface="Calibri" panose="020F0502020204030204"/>
                <a:cs typeface="Calibri" panose="020F0502020204030204"/>
              </a:rPr>
              <a:t>n</a:t>
            </a:r>
            <a:endParaRPr sz="900">
              <a:latin typeface="Calibri" panose="020F0502020204030204"/>
              <a:cs typeface="Calibri" panose="020F0502020204030204"/>
            </a:endParaRPr>
          </a:p>
        </p:txBody>
      </p:sp>
      <p:sp>
        <p:nvSpPr>
          <p:cNvPr id="34" name="object 34"/>
          <p:cNvSpPr txBox="1"/>
          <p:nvPr/>
        </p:nvSpPr>
        <p:spPr>
          <a:xfrm>
            <a:off x="5790108" y="4918201"/>
            <a:ext cx="140970" cy="166370"/>
          </a:xfrm>
          <a:prstGeom prst="rect">
            <a:avLst/>
          </a:prstGeom>
        </p:spPr>
        <p:txBody>
          <a:bodyPr vert="horz" wrap="square" lIns="0" tIns="15240" rIns="0" bIns="0" rtlCol="0">
            <a:spAutoFit/>
          </a:bodyPr>
          <a:lstStyle/>
          <a:p>
            <a:pPr marL="12700">
              <a:lnSpc>
                <a:spcPct val="100000"/>
              </a:lnSpc>
              <a:spcBef>
                <a:spcPts val="120"/>
              </a:spcBef>
            </a:pPr>
            <a:r>
              <a:rPr sz="900" i="1" spc="70" dirty="0">
                <a:latin typeface="Calibri" panose="020F0502020204030204"/>
                <a:cs typeface="Calibri" panose="020F0502020204030204"/>
              </a:rPr>
              <a:t>i</a:t>
            </a:r>
            <a:r>
              <a:rPr sz="900" spc="70" dirty="0">
                <a:latin typeface="Cambria" panose="02040503050406030204"/>
                <a:cs typeface="Cambria" panose="02040503050406030204"/>
              </a:rPr>
              <a:t>,</a:t>
            </a:r>
            <a:r>
              <a:rPr sz="900" i="1" spc="70" dirty="0">
                <a:latin typeface="Calibri" panose="020F0502020204030204"/>
                <a:cs typeface="Calibri" panose="020F0502020204030204"/>
              </a:rPr>
              <a:t>j</a:t>
            </a:r>
            <a:endParaRPr sz="900">
              <a:latin typeface="Calibri" panose="020F0502020204030204"/>
              <a:cs typeface="Calibri" panose="020F0502020204030204"/>
            </a:endParaRPr>
          </a:p>
        </p:txBody>
      </p:sp>
      <p:sp>
        <p:nvSpPr>
          <p:cNvPr id="35" name="object 35"/>
          <p:cNvSpPr txBox="1"/>
          <p:nvPr/>
        </p:nvSpPr>
        <p:spPr>
          <a:xfrm>
            <a:off x="5409852" y="4770567"/>
            <a:ext cx="1304925" cy="485775"/>
          </a:xfrm>
          <a:prstGeom prst="rect">
            <a:avLst/>
          </a:prstGeom>
        </p:spPr>
        <p:txBody>
          <a:bodyPr vert="horz" wrap="square" lIns="0" tIns="84455" rIns="0" bIns="0" rtlCol="0">
            <a:spAutoFit/>
          </a:bodyPr>
          <a:lstStyle/>
          <a:p>
            <a:pPr marL="12700">
              <a:lnSpc>
                <a:spcPct val="100000"/>
              </a:lnSpc>
              <a:spcBef>
                <a:spcPts val="665"/>
              </a:spcBef>
              <a:tabLst>
                <a:tab pos="568325" algn="l"/>
                <a:tab pos="1207770" algn="l"/>
              </a:tabLst>
            </a:pPr>
            <a:r>
              <a:rPr sz="1300" spc="980" dirty="0">
                <a:latin typeface="Arial" panose="020B0604020202020204"/>
                <a:cs typeface="Arial" panose="020B0604020202020204"/>
              </a:rPr>
              <a:t>∑</a:t>
            </a:r>
            <a:r>
              <a:rPr sz="1300" spc="-100" dirty="0">
                <a:latin typeface="Arial" panose="020B0604020202020204"/>
                <a:cs typeface="Arial" panose="020B0604020202020204"/>
              </a:rPr>
              <a:t> </a:t>
            </a:r>
            <a:r>
              <a:rPr sz="1300" i="1" spc="165" dirty="0">
                <a:latin typeface="Calibri" panose="020F0502020204030204"/>
                <a:cs typeface="Calibri" panose="020F0502020204030204"/>
              </a:rPr>
              <a:t>S</a:t>
            </a:r>
            <a:r>
              <a:rPr sz="1300" i="1" dirty="0">
                <a:latin typeface="Calibri" panose="020F0502020204030204"/>
                <a:cs typeface="Calibri" panose="020F0502020204030204"/>
              </a:rPr>
              <a:t>	</a:t>
            </a:r>
            <a:r>
              <a:rPr sz="1300" spc="295" dirty="0">
                <a:latin typeface="Cambria" panose="02040503050406030204"/>
                <a:cs typeface="Cambria" panose="02040503050406030204"/>
              </a:rPr>
              <a:t>=</a:t>
            </a:r>
            <a:r>
              <a:rPr sz="1300" spc="100" dirty="0">
                <a:latin typeface="Cambria" panose="02040503050406030204"/>
                <a:cs typeface="Cambria" panose="02040503050406030204"/>
              </a:rPr>
              <a:t> </a:t>
            </a:r>
            <a:r>
              <a:rPr sz="1300" spc="215" dirty="0">
                <a:latin typeface="Cambria" panose="02040503050406030204"/>
                <a:cs typeface="Cambria" panose="02040503050406030204"/>
              </a:rPr>
              <a:t>∥</a:t>
            </a:r>
            <a:r>
              <a:rPr sz="1300" i="1" spc="215" dirty="0">
                <a:latin typeface="Calibri" panose="020F0502020204030204"/>
                <a:cs typeface="Calibri" panose="020F0502020204030204"/>
              </a:rPr>
              <a:t>X</a:t>
            </a:r>
            <a:r>
              <a:rPr sz="1300" i="1" dirty="0">
                <a:latin typeface="Calibri" panose="020F0502020204030204"/>
                <a:cs typeface="Calibri" panose="020F0502020204030204"/>
              </a:rPr>
              <a:t>	</a:t>
            </a:r>
            <a:r>
              <a:rPr sz="1300" spc="10" dirty="0">
                <a:latin typeface="Cambria" panose="02040503050406030204"/>
                <a:cs typeface="Cambria" panose="02040503050406030204"/>
              </a:rPr>
              <a:t>∥</a:t>
            </a:r>
            <a:endParaRPr sz="1300">
              <a:latin typeface="Cambria" panose="02040503050406030204"/>
              <a:cs typeface="Cambria" panose="02040503050406030204"/>
            </a:endParaRPr>
          </a:p>
          <a:p>
            <a:pPr marL="37465">
              <a:lnSpc>
                <a:spcPct val="100000"/>
              </a:lnSpc>
              <a:spcBef>
                <a:spcPts val="410"/>
              </a:spcBef>
            </a:pPr>
            <a:r>
              <a:rPr sz="900" i="1" spc="85" dirty="0">
                <a:latin typeface="Calibri" panose="020F0502020204030204"/>
                <a:cs typeface="Calibri" panose="020F0502020204030204"/>
              </a:rPr>
              <a:t>j</a:t>
            </a:r>
            <a:r>
              <a:rPr sz="900" spc="85" dirty="0">
                <a:latin typeface="Cambria" panose="02040503050406030204"/>
                <a:cs typeface="Cambria" panose="02040503050406030204"/>
              </a:rPr>
              <a:t>=1</a:t>
            </a:r>
            <a:endParaRPr sz="900">
              <a:latin typeface="Cambria" panose="02040503050406030204"/>
              <a:cs typeface="Cambria" panose="02040503050406030204"/>
            </a:endParaRPr>
          </a:p>
        </p:txBody>
      </p:sp>
      <p:sp>
        <p:nvSpPr>
          <p:cNvPr id="36" name="object 36"/>
          <p:cNvSpPr txBox="1"/>
          <p:nvPr/>
        </p:nvSpPr>
        <p:spPr>
          <a:xfrm>
            <a:off x="6374258" y="4927726"/>
            <a:ext cx="401320" cy="166370"/>
          </a:xfrm>
          <a:prstGeom prst="rect">
            <a:avLst/>
          </a:prstGeom>
        </p:spPr>
        <p:txBody>
          <a:bodyPr vert="horz" wrap="square" lIns="0" tIns="15240" rIns="0" bIns="0" rtlCol="0">
            <a:spAutoFit/>
          </a:bodyPr>
          <a:lstStyle/>
          <a:p>
            <a:pPr marL="12700">
              <a:lnSpc>
                <a:spcPct val="100000"/>
              </a:lnSpc>
              <a:spcBef>
                <a:spcPts val="120"/>
              </a:spcBef>
              <a:tabLst>
                <a:tab pos="328930" algn="l"/>
              </a:tabLst>
            </a:pPr>
            <a:r>
              <a:rPr sz="900" i="1" spc="-25" dirty="0">
                <a:latin typeface="Calibri" panose="020F0502020204030204"/>
                <a:cs typeface="Calibri" panose="020F0502020204030204"/>
              </a:rPr>
              <a:t>i</a:t>
            </a:r>
            <a:r>
              <a:rPr sz="900" spc="-25" dirty="0">
                <a:latin typeface="Cambria" panose="02040503050406030204"/>
                <a:cs typeface="Cambria" panose="02040503050406030204"/>
              </a:rPr>
              <a:t>,:</a:t>
            </a:r>
            <a:r>
              <a:rPr sz="900" dirty="0">
                <a:latin typeface="Cambria" panose="02040503050406030204"/>
                <a:cs typeface="Cambria" panose="02040503050406030204"/>
              </a:rPr>
              <a:t>	</a:t>
            </a:r>
            <a:r>
              <a:rPr sz="900" spc="-50" dirty="0">
                <a:latin typeface="Cambria" panose="02040503050406030204"/>
                <a:cs typeface="Cambria" panose="02040503050406030204"/>
              </a:rPr>
              <a:t>2</a:t>
            </a:r>
            <a:endParaRPr sz="900">
              <a:latin typeface="Cambria" panose="02040503050406030204"/>
              <a:cs typeface="Cambria" panose="02040503050406030204"/>
            </a:endParaRPr>
          </a:p>
        </p:txBody>
      </p:sp>
      <p:sp>
        <p:nvSpPr>
          <p:cNvPr id="37" name="object 37"/>
          <p:cNvSpPr txBox="1"/>
          <p:nvPr/>
        </p:nvSpPr>
        <p:spPr>
          <a:xfrm>
            <a:off x="6387355" y="4822951"/>
            <a:ext cx="387985" cy="166370"/>
          </a:xfrm>
          <a:prstGeom prst="rect">
            <a:avLst/>
          </a:prstGeom>
        </p:spPr>
        <p:txBody>
          <a:bodyPr vert="horz" wrap="square" lIns="0" tIns="15240" rIns="0" bIns="0" rtlCol="0">
            <a:spAutoFit/>
          </a:bodyPr>
          <a:lstStyle/>
          <a:p>
            <a:pPr marL="12700">
              <a:lnSpc>
                <a:spcPct val="100000"/>
              </a:lnSpc>
              <a:spcBef>
                <a:spcPts val="120"/>
              </a:spcBef>
            </a:pPr>
            <a:r>
              <a:rPr sz="900" dirty="0">
                <a:latin typeface="Cambria" panose="02040503050406030204"/>
                <a:cs typeface="Cambria" panose="02040503050406030204"/>
              </a:rPr>
              <a:t>emb</a:t>
            </a:r>
            <a:r>
              <a:rPr sz="900" spc="150" dirty="0">
                <a:latin typeface="Cambria" panose="02040503050406030204"/>
                <a:cs typeface="Cambria" panose="02040503050406030204"/>
              </a:rPr>
              <a:t>  </a:t>
            </a:r>
            <a:r>
              <a:rPr sz="900" spc="-50" dirty="0">
                <a:latin typeface="Cambria" panose="02040503050406030204"/>
                <a:cs typeface="Cambria" panose="02040503050406030204"/>
              </a:rPr>
              <a:t>2</a:t>
            </a:r>
            <a:endParaRPr sz="900">
              <a:latin typeface="Cambria" panose="02040503050406030204"/>
              <a:cs typeface="Cambria" panose="02040503050406030204"/>
            </a:endParaRPr>
          </a:p>
        </p:txBody>
      </p:sp>
      <p:grpSp>
        <p:nvGrpSpPr>
          <p:cNvPr id="38" name="object 38"/>
          <p:cNvGrpSpPr/>
          <p:nvPr/>
        </p:nvGrpSpPr>
        <p:grpSpPr>
          <a:xfrm>
            <a:off x="8124825" y="1352549"/>
            <a:ext cx="3609975" cy="4429125"/>
            <a:chOff x="8124825" y="1352549"/>
            <a:chExt cx="3609975" cy="4429125"/>
          </a:xfrm>
        </p:grpSpPr>
        <p:sp>
          <p:nvSpPr>
            <p:cNvPr id="39" name="object 39"/>
            <p:cNvSpPr/>
            <p:nvPr/>
          </p:nvSpPr>
          <p:spPr>
            <a:xfrm>
              <a:off x="8129587" y="1357312"/>
              <a:ext cx="3600450" cy="4419600"/>
            </a:xfrm>
            <a:custGeom>
              <a:avLst/>
              <a:gdLst/>
              <a:ahLst/>
              <a:cxnLst/>
              <a:rect l="l" t="t" r="r" b="b"/>
              <a:pathLst>
                <a:path w="3600450" h="4419600">
                  <a:moveTo>
                    <a:pt x="3498104" y="4419599"/>
                  </a:moveTo>
                  <a:lnTo>
                    <a:pt x="102345" y="4419599"/>
                  </a:lnTo>
                  <a:lnTo>
                    <a:pt x="95221" y="4418897"/>
                  </a:lnTo>
                  <a:lnTo>
                    <a:pt x="54661" y="4405134"/>
                  </a:lnTo>
                  <a:lnTo>
                    <a:pt x="22456" y="4376897"/>
                  </a:lnTo>
                  <a:lnTo>
                    <a:pt x="3507" y="4338485"/>
                  </a:lnTo>
                  <a:lnTo>
                    <a:pt x="0" y="4317254"/>
                  </a:lnTo>
                  <a:lnTo>
                    <a:pt x="0" y="4310062"/>
                  </a:lnTo>
                  <a:lnTo>
                    <a:pt x="0" y="102345"/>
                  </a:lnTo>
                  <a:lnTo>
                    <a:pt x="11090" y="60974"/>
                  </a:lnTo>
                  <a:lnTo>
                    <a:pt x="37168" y="26997"/>
                  </a:lnTo>
                  <a:lnTo>
                    <a:pt x="74264" y="5585"/>
                  </a:lnTo>
                  <a:lnTo>
                    <a:pt x="102345" y="0"/>
                  </a:lnTo>
                  <a:lnTo>
                    <a:pt x="3498104" y="0"/>
                  </a:lnTo>
                  <a:lnTo>
                    <a:pt x="3539474" y="11090"/>
                  </a:lnTo>
                  <a:lnTo>
                    <a:pt x="3573452" y="37168"/>
                  </a:lnTo>
                  <a:lnTo>
                    <a:pt x="3594863" y="74264"/>
                  </a:lnTo>
                  <a:lnTo>
                    <a:pt x="3600449" y="102345"/>
                  </a:lnTo>
                  <a:lnTo>
                    <a:pt x="3600449" y="4317254"/>
                  </a:lnTo>
                  <a:lnTo>
                    <a:pt x="3589358" y="4358624"/>
                  </a:lnTo>
                  <a:lnTo>
                    <a:pt x="3563280" y="4392602"/>
                  </a:lnTo>
                  <a:lnTo>
                    <a:pt x="3526185" y="4414013"/>
                  </a:lnTo>
                  <a:lnTo>
                    <a:pt x="3505227" y="4418897"/>
                  </a:lnTo>
                  <a:lnTo>
                    <a:pt x="3498104" y="4419599"/>
                  </a:lnTo>
                  <a:close/>
                </a:path>
              </a:pathLst>
            </a:custGeom>
            <a:solidFill>
              <a:srgbClr val="F9FAFA"/>
            </a:solidFill>
          </p:spPr>
          <p:txBody>
            <a:bodyPr wrap="square" lIns="0" tIns="0" rIns="0" bIns="0" rtlCol="0"/>
            <a:lstStyle/>
            <a:p/>
          </p:txBody>
        </p:sp>
        <p:sp>
          <p:nvSpPr>
            <p:cNvPr id="40" name="object 40"/>
            <p:cNvSpPr/>
            <p:nvPr/>
          </p:nvSpPr>
          <p:spPr>
            <a:xfrm>
              <a:off x="8129587" y="1357312"/>
              <a:ext cx="3600450" cy="4419600"/>
            </a:xfrm>
            <a:custGeom>
              <a:avLst/>
              <a:gdLst/>
              <a:ahLst/>
              <a:cxnLst/>
              <a:rect l="l" t="t" r="r" b="b"/>
              <a:pathLst>
                <a:path w="3600450" h="4419600">
                  <a:moveTo>
                    <a:pt x="0" y="431006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4310062"/>
                  </a:lnTo>
                  <a:lnTo>
                    <a:pt x="3600449" y="4317254"/>
                  </a:lnTo>
                  <a:lnTo>
                    <a:pt x="3599747" y="4324377"/>
                  </a:lnTo>
                  <a:lnTo>
                    <a:pt x="3598344" y="4331431"/>
                  </a:lnTo>
                  <a:lnTo>
                    <a:pt x="3596941" y="4338485"/>
                  </a:lnTo>
                  <a:lnTo>
                    <a:pt x="3594863" y="4345334"/>
                  </a:lnTo>
                  <a:lnTo>
                    <a:pt x="3592110" y="4351979"/>
                  </a:lnTo>
                  <a:lnTo>
                    <a:pt x="3589358" y="4358624"/>
                  </a:lnTo>
                  <a:lnTo>
                    <a:pt x="3563280" y="4392602"/>
                  </a:lnTo>
                  <a:lnTo>
                    <a:pt x="3551767" y="4401138"/>
                  </a:lnTo>
                  <a:lnTo>
                    <a:pt x="3545787" y="4405134"/>
                  </a:lnTo>
                  <a:lnTo>
                    <a:pt x="3539474" y="4408508"/>
                  </a:lnTo>
                  <a:lnTo>
                    <a:pt x="3532829" y="4411260"/>
                  </a:lnTo>
                  <a:lnTo>
                    <a:pt x="3526185" y="4414013"/>
                  </a:lnTo>
                  <a:lnTo>
                    <a:pt x="3519335" y="4416091"/>
                  </a:lnTo>
                  <a:lnTo>
                    <a:pt x="3512281" y="4417494"/>
                  </a:lnTo>
                  <a:lnTo>
                    <a:pt x="3505227" y="4418897"/>
                  </a:lnTo>
                  <a:lnTo>
                    <a:pt x="3498104" y="4419599"/>
                  </a:lnTo>
                  <a:lnTo>
                    <a:pt x="3490912" y="4419599"/>
                  </a:lnTo>
                  <a:lnTo>
                    <a:pt x="109537" y="4419599"/>
                  </a:lnTo>
                  <a:lnTo>
                    <a:pt x="102345" y="4419599"/>
                  </a:lnTo>
                  <a:lnTo>
                    <a:pt x="95221" y="4418897"/>
                  </a:lnTo>
                  <a:lnTo>
                    <a:pt x="88167" y="4417494"/>
                  </a:lnTo>
                  <a:lnTo>
                    <a:pt x="81113" y="4416091"/>
                  </a:lnTo>
                  <a:lnTo>
                    <a:pt x="74264" y="4414013"/>
                  </a:lnTo>
                  <a:lnTo>
                    <a:pt x="67619" y="4411260"/>
                  </a:lnTo>
                  <a:lnTo>
                    <a:pt x="60974" y="4408508"/>
                  </a:lnTo>
                  <a:lnTo>
                    <a:pt x="26997" y="4382430"/>
                  </a:lnTo>
                  <a:lnTo>
                    <a:pt x="18460" y="4370917"/>
                  </a:lnTo>
                  <a:lnTo>
                    <a:pt x="14464" y="4364937"/>
                  </a:lnTo>
                  <a:lnTo>
                    <a:pt x="701" y="4324377"/>
                  </a:lnTo>
                  <a:lnTo>
                    <a:pt x="0" y="4317254"/>
                  </a:lnTo>
                  <a:lnTo>
                    <a:pt x="0" y="4310062"/>
                  </a:lnTo>
                  <a:close/>
                </a:path>
              </a:pathLst>
            </a:custGeom>
            <a:ln w="9524">
              <a:solidFill>
                <a:srgbClr val="E4E7EB"/>
              </a:solidFill>
            </a:ln>
          </p:spPr>
          <p:txBody>
            <a:bodyPr wrap="square" lIns="0" tIns="0" rIns="0" bIns="0" rtlCol="0"/>
            <a:lstStyle/>
            <a:p/>
          </p:txBody>
        </p:sp>
        <p:sp>
          <p:nvSpPr>
            <p:cNvPr id="41" name="object 41"/>
            <p:cNvSpPr/>
            <p:nvPr/>
          </p:nvSpPr>
          <p:spPr>
            <a:xfrm>
              <a:off x="8362949" y="1590674"/>
              <a:ext cx="304800" cy="304800"/>
            </a:xfrm>
            <a:custGeom>
              <a:avLst/>
              <a:gdLst/>
              <a:ahLst/>
              <a:cxnLst/>
              <a:rect l="l" t="t" r="r" b="b"/>
              <a:pathLst>
                <a:path w="304800" h="304800">
                  <a:moveTo>
                    <a:pt x="152399" y="304799"/>
                  </a:moveTo>
                  <a:lnTo>
                    <a:pt x="108160" y="298239"/>
                  </a:lnTo>
                  <a:lnTo>
                    <a:pt x="67731" y="279115"/>
                  </a:lnTo>
                  <a:lnTo>
                    <a:pt x="34591" y="249082"/>
                  </a:lnTo>
                  <a:lnTo>
                    <a:pt x="11600" y="210720"/>
                  </a:lnTo>
                  <a:lnTo>
                    <a:pt x="732" y="167337"/>
                  </a:lnTo>
                  <a:lnTo>
                    <a:pt x="0" y="152399"/>
                  </a:lnTo>
                  <a:lnTo>
                    <a:pt x="183" y="144912"/>
                  </a:lnTo>
                  <a:lnTo>
                    <a:pt x="8904" y="101066"/>
                  </a:lnTo>
                  <a:lnTo>
                    <a:pt x="29995" y="61607"/>
                  </a:lnTo>
                  <a:lnTo>
                    <a:pt x="61607" y="29995"/>
                  </a:lnTo>
                  <a:lnTo>
                    <a:pt x="101066" y="8904"/>
                  </a:lnTo>
                  <a:lnTo>
                    <a:pt x="144912" y="183"/>
                  </a:lnTo>
                  <a:lnTo>
                    <a:pt x="152399" y="0"/>
                  </a:lnTo>
                  <a:lnTo>
                    <a:pt x="159886" y="183"/>
                  </a:lnTo>
                  <a:lnTo>
                    <a:pt x="203733" y="8904"/>
                  </a:lnTo>
                  <a:lnTo>
                    <a:pt x="243192" y="29995"/>
                  </a:lnTo>
                  <a:lnTo>
                    <a:pt x="274804" y="61607"/>
                  </a:lnTo>
                  <a:lnTo>
                    <a:pt x="295895" y="101066"/>
                  </a:lnTo>
                  <a:lnTo>
                    <a:pt x="304616" y="144912"/>
                  </a:lnTo>
                  <a:lnTo>
                    <a:pt x="304799" y="152399"/>
                  </a:lnTo>
                  <a:lnTo>
                    <a:pt x="304616" y="159886"/>
                  </a:lnTo>
                  <a:lnTo>
                    <a:pt x="295895" y="203733"/>
                  </a:lnTo>
                  <a:lnTo>
                    <a:pt x="274804" y="243192"/>
                  </a:lnTo>
                  <a:lnTo>
                    <a:pt x="243192" y="274804"/>
                  </a:lnTo>
                  <a:lnTo>
                    <a:pt x="203733" y="295895"/>
                  </a:lnTo>
                  <a:lnTo>
                    <a:pt x="159886" y="304616"/>
                  </a:lnTo>
                  <a:lnTo>
                    <a:pt x="152399" y="304799"/>
                  </a:lnTo>
                  <a:close/>
                </a:path>
              </a:pathLst>
            </a:custGeom>
            <a:solidFill>
              <a:srgbClr val="000000"/>
            </a:solidFill>
          </p:spPr>
          <p:txBody>
            <a:bodyPr wrap="square" lIns="0" tIns="0" rIns="0" bIns="0" rtlCol="0"/>
            <a:lstStyle/>
            <a:p/>
          </p:txBody>
        </p:sp>
      </p:grpSp>
      <p:sp>
        <p:nvSpPr>
          <p:cNvPr id="42" name="object 42"/>
          <p:cNvSpPr txBox="1"/>
          <p:nvPr/>
        </p:nvSpPr>
        <p:spPr>
          <a:xfrm>
            <a:off x="8425705" y="1625600"/>
            <a:ext cx="186055" cy="185420"/>
          </a:xfrm>
          <a:prstGeom prst="rect">
            <a:avLst/>
          </a:prstGeom>
        </p:spPr>
        <p:txBody>
          <a:bodyPr vert="horz" wrap="square" lIns="0" tIns="12700" rIns="0" bIns="0" rtlCol="0">
            <a:spAutoFit/>
          </a:bodyPr>
          <a:lstStyle/>
          <a:p>
            <a:pPr marL="12700">
              <a:lnSpc>
                <a:spcPct val="100000"/>
              </a:lnSpc>
              <a:spcBef>
                <a:spcPts val="100"/>
              </a:spcBef>
            </a:pPr>
            <a:r>
              <a:rPr sz="1050" spc="-25" dirty="0">
                <a:solidFill>
                  <a:srgbClr val="FFFFFF"/>
                </a:solidFill>
                <a:latin typeface="Courier New" panose="02070309020205020404"/>
                <a:cs typeface="Courier New" panose="02070309020205020404"/>
              </a:rPr>
              <a:t>03</a:t>
            </a:r>
            <a:endParaRPr sz="1050">
              <a:latin typeface="Courier New" panose="02070309020205020404"/>
              <a:cs typeface="Courier New" panose="02070309020205020404"/>
            </a:endParaRPr>
          </a:p>
        </p:txBody>
      </p:sp>
      <p:sp>
        <p:nvSpPr>
          <p:cNvPr id="43" name="object 43"/>
          <p:cNvSpPr txBox="1"/>
          <p:nvPr/>
        </p:nvSpPr>
        <p:spPr>
          <a:xfrm>
            <a:off x="8772475" y="1597025"/>
            <a:ext cx="1301750" cy="254000"/>
          </a:xfrm>
          <a:prstGeom prst="rect">
            <a:avLst/>
          </a:prstGeom>
        </p:spPr>
        <p:txBody>
          <a:bodyPr vert="horz" wrap="square" lIns="0" tIns="12700" rIns="0" bIns="0" rtlCol="0">
            <a:spAutoFit/>
          </a:bodyPr>
          <a:lstStyle/>
          <a:p>
            <a:pPr marL="12700">
              <a:lnSpc>
                <a:spcPct val="100000"/>
              </a:lnSpc>
              <a:spcBef>
                <a:spcPts val="100"/>
              </a:spcBef>
            </a:pPr>
            <a:r>
              <a:rPr sz="1500" spc="-75" dirty="0">
                <a:latin typeface="宋体" panose="02010600030101010101" pitchFamily="2" charset="-122"/>
                <a:cs typeface="宋体" panose="02010600030101010101" pitchFamily="2" charset="-122"/>
              </a:rPr>
              <a:t>自我中心图构建</a:t>
            </a:r>
            <a:endParaRPr sz="1500">
              <a:latin typeface="宋体" panose="02010600030101010101" pitchFamily="2" charset="-122"/>
              <a:cs typeface="宋体" panose="02010600030101010101" pitchFamily="2" charset="-122"/>
            </a:endParaRPr>
          </a:p>
        </p:txBody>
      </p:sp>
      <p:sp>
        <p:nvSpPr>
          <p:cNvPr id="44" name="object 44"/>
          <p:cNvSpPr txBox="1"/>
          <p:nvPr/>
        </p:nvSpPr>
        <p:spPr>
          <a:xfrm>
            <a:off x="8353375" y="2043938"/>
            <a:ext cx="2616200" cy="232410"/>
          </a:xfrm>
          <a:prstGeom prst="rect">
            <a:avLst/>
          </a:prstGeom>
        </p:spPr>
        <p:txBody>
          <a:bodyPr vert="horz" wrap="square" lIns="0" tIns="13335" rIns="0" bIns="0" rtlCol="0">
            <a:spAutoFit/>
          </a:bodyPr>
          <a:lstStyle/>
          <a:p>
            <a:pPr marL="12700">
              <a:lnSpc>
                <a:spcPct val="100000"/>
              </a:lnSpc>
              <a:spcBef>
                <a:spcPts val="105"/>
              </a:spcBef>
            </a:pPr>
            <a:r>
              <a:rPr sz="1350" spc="-165" dirty="0">
                <a:solidFill>
                  <a:srgbClr val="4A5462"/>
                </a:solidFill>
                <a:latin typeface="宋体" panose="02010600030101010101" pitchFamily="2" charset="-122"/>
                <a:cs typeface="宋体" panose="02010600030101010101" pitchFamily="2" charset="-122"/>
              </a:rPr>
              <a:t>将全局频域洞察转化为局部结构约束：</a:t>
            </a:r>
            <a:endParaRPr sz="1350">
              <a:latin typeface="宋体" panose="02010600030101010101" pitchFamily="2" charset="-122"/>
              <a:cs typeface="宋体" panose="02010600030101010101" pitchFamily="2" charset="-122"/>
            </a:endParaRPr>
          </a:p>
        </p:txBody>
      </p:sp>
      <p:grpSp>
        <p:nvGrpSpPr>
          <p:cNvPr id="53" name="object 53"/>
          <p:cNvGrpSpPr/>
          <p:nvPr/>
        </p:nvGrpSpPr>
        <p:grpSpPr>
          <a:xfrm>
            <a:off x="8362950" y="2524124"/>
            <a:ext cx="3133725" cy="2057400"/>
            <a:chOff x="8362950" y="2524124"/>
            <a:chExt cx="3133725" cy="2057400"/>
          </a:xfrm>
        </p:grpSpPr>
        <p:sp>
          <p:nvSpPr>
            <p:cNvPr id="54" name="object 54"/>
            <p:cNvSpPr/>
            <p:nvPr/>
          </p:nvSpPr>
          <p:spPr>
            <a:xfrm>
              <a:off x="8367712" y="2528887"/>
              <a:ext cx="3124200" cy="2047875"/>
            </a:xfrm>
            <a:custGeom>
              <a:avLst/>
              <a:gdLst/>
              <a:ahLst/>
              <a:cxnLst/>
              <a:rect l="l" t="t" r="r" b="b"/>
              <a:pathLst>
                <a:path w="3124200" h="2047875">
                  <a:moveTo>
                    <a:pt x="3057452" y="2047874"/>
                  </a:moveTo>
                  <a:lnTo>
                    <a:pt x="66746" y="2047874"/>
                  </a:lnTo>
                  <a:lnTo>
                    <a:pt x="62101" y="2047416"/>
                  </a:lnTo>
                  <a:lnTo>
                    <a:pt x="24240" y="2030267"/>
                  </a:lnTo>
                  <a:lnTo>
                    <a:pt x="2287" y="1994974"/>
                  </a:lnTo>
                  <a:lnTo>
                    <a:pt x="0" y="1981128"/>
                  </a:lnTo>
                  <a:lnTo>
                    <a:pt x="0" y="1976437"/>
                  </a:lnTo>
                  <a:lnTo>
                    <a:pt x="0" y="66746"/>
                  </a:lnTo>
                  <a:lnTo>
                    <a:pt x="14645" y="27848"/>
                  </a:lnTo>
                  <a:lnTo>
                    <a:pt x="48433" y="3642"/>
                  </a:lnTo>
                  <a:lnTo>
                    <a:pt x="66746" y="0"/>
                  </a:lnTo>
                  <a:lnTo>
                    <a:pt x="3057452" y="0"/>
                  </a:lnTo>
                  <a:lnTo>
                    <a:pt x="3096350" y="14645"/>
                  </a:lnTo>
                  <a:lnTo>
                    <a:pt x="3120556" y="48433"/>
                  </a:lnTo>
                  <a:lnTo>
                    <a:pt x="3124199" y="66746"/>
                  </a:lnTo>
                  <a:lnTo>
                    <a:pt x="3124199" y="1981128"/>
                  </a:lnTo>
                  <a:lnTo>
                    <a:pt x="3109554" y="2020025"/>
                  </a:lnTo>
                  <a:lnTo>
                    <a:pt x="3075766" y="2044231"/>
                  </a:lnTo>
                  <a:lnTo>
                    <a:pt x="3062098" y="2047416"/>
                  </a:lnTo>
                  <a:lnTo>
                    <a:pt x="3057452" y="2047874"/>
                  </a:lnTo>
                  <a:close/>
                </a:path>
              </a:pathLst>
            </a:custGeom>
            <a:solidFill>
              <a:srgbClr val="FFFFFF"/>
            </a:solidFill>
          </p:spPr>
          <p:txBody>
            <a:bodyPr wrap="square" lIns="0" tIns="0" rIns="0" bIns="0" rtlCol="0"/>
            <a:lstStyle/>
            <a:p/>
          </p:txBody>
        </p:sp>
        <p:sp>
          <p:nvSpPr>
            <p:cNvPr id="55" name="object 55"/>
            <p:cNvSpPr/>
            <p:nvPr/>
          </p:nvSpPr>
          <p:spPr>
            <a:xfrm>
              <a:off x="8367712" y="2528887"/>
              <a:ext cx="3124200" cy="2047875"/>
            </a:xfrm>
            <a:custGeom>
              <a:avLst/>
              <a:gdLst/>
              <a:ahLst/>
              <a:cxnLst/>
              <a:rect l="l" t="t" r="r" b="b"/>
              <a:pathLst>
                <a:path w="3124200" h="2047875">
                  <a:moveTo>
                    <a:pt x="0" y="1976437"/>
                  </a:moveTo>
                  <a:lnTo>
                    <a:pt x="0" y="71437"/>
                  </a:lnTo>
                  <a:lnTo>
                    <a:pt x="0" y="66746"/>
                  </a:lnTo>
                  <a:lnTo>
                    <a:pt x="457" y="62101"/>
                  </a:lnTo>
                  <a:lnTo>
                    <a:pt x="1372" y="57500"/>
                  </a:lnTo>
                  <a:lnTo>
                    <a:pt x="2287" y="52900"/>
                  </a:lnTo>
                  <a:lnTo>
                    <a:pt x="3642" y="48432"/>
                  </a:lnTo>
                  <a:lnTo>
                    <a:pt x="5437" y="44099"/>
                  </a:lnTo>
                  <a:lnTo>
                    <a:pt x="7232" y="39765"/>
                  </a:lnTo>
                  <a:lnTo>
                    <a:pt x="20923" y="20923"/>
                  </a:lnTo>
                  <a:lnTo>
                    <a:pt x="24240" y="17606"/>
                  </a:lnTo>
                  <a:lnTo>
                    <a:pt x="62101" y="457"/>
                  </a:lnTo>
                  <a:lnTo>
                    <a:pt x="66746" y="0"/>
                  </a:lnTo>
                  <a:lnTo>
                    <a:pt x="71437" y="0"/>
                  </a:lnTo>
                  <a:lnTo>
                    <a:pt x="3052762" y="0"/>
                  </a:lnTo>
                  <a:lnTo>
                    <a:pt x="3057452" y="0"/>
                  </a:lnTo>
                  <a:lnTo>
                    <a:pt x="3062098" y="457"/>
                  </a:lnTo>
                  <a:lnTo>
                    <a:pt x="3092450" y="12039"/>
                  </a:lnTo>
                  <a:lnTo>
                    <a:pt x="3096350" y="14645"/>
                  </a:lnTo>
                  <a:lnTo>
                    <a:pt x="3120556" y="48433"/>
                  </a:lnTo>
                  <a:lnTo>
                    <a:pt x="3122826" y="57500"/>
                  </a:lnTo>
                  <a:lnTo>
                    <a:pt x="3123742" y="62101"/>
                  </a:lnTo>
                  <a:lnTo>
                    <a:pt x="3124199" y="66746"/>
                  </a:lnTo>
                  <a:lnTo>
                    <a:pt x="3124199" y="71437"/>
                  </a:lnTo>
                  <a:lnTo>
                    <a:pt x="3124199" y="1976437"/>
                  </a:lnTo>
                  <a:lnTo>
                    <a:pt x="3124199" y="1981128"/>
                  </a:lnTo>
                  <a:lnTo>
                    <a:pt x="3123742" y="1985773"/>
                  </a:lnTo>
                  <a:lnTo>
                    <a:pt x="3122826" y="1990374"/>
                  </a:lnTo>
                  <a:lnTo>
                    <a:pt x="3121911" y="1994974"/>
                  </a:lnTo>
                  <a:lnTo>
                    <a:pt x="3099959" y="2030267"/>
                  </a:lnTo>
                  <a:lnTo>
                    <a:pt x="3092450" y="2035834"/>
                  </a:lnTo>
                  <a:lnTo>
                    <a:pt x="3088550" y="2038441"/>
                  </a:lnTo>
                  <a:lnTo>
                    <a:pt x="3052762" y="2047874"/>
                  </a:lnTo>
                  <a:lnTo>
                    <a:pt x="71437" y="2047874"/>
                  </a:lnTo>
                  <a:lnTo>
                    <a:pt x="31748" y="2035834"/>
                  </a:lnTo>
                  <a:lnTo>
                    <a:pt x="27848" y="2033228"/>
                  </a:lnTo>
                  <a:lnTo>
                    <a:pt x="3642" y="1999441"/>
                  </a:lnTo>
                  <a:lnTo>
                    <a:pt x="0" y="1981128"/>
                  </a:lnTo>
                  <a:lnTo>
                    <a:pt x="0" y="1976437"/>
                  </a:lnTo>
                  <a:close/>
                </a:path>
              </a:pathLst>
            </a:custGeom>
            <a:ln w="9524">
              <a:solidFill>
                <a:srgbClr val="F2F4F5"/>
              </a:solidFill>
            </a:ln>
          </p:spPr>
          <p:txBody>
            <a:bodyPr wrap="square" lIns="0" tIns="0" rIns="0" bIns="0" rtlCol="0"/>
            <a:lstStyle/>
            <a:p/>
          </p:txBody>
        </p:sp>
      </p:grpSp>
      <p:sp>
        <p:nvSpPr>
          <p:cNvPr id="57" name="object 57"/>
          <p:cNvSpPr txBox="1"/>
          <p:nvPr/>
        </p:nvSpPr>
        <p:spPr>
          <a:xfrm>
            <a:off x="10845501" y="2587625"/>
            <a:ext cx="540385" cy="139700"/>
          </a:xfrm>
          <a:prstGeom prst="rect">
            <a:avLst/>
          </a:prstGeom>
        </p:spPr>
        <p:txBody>
          <a:bodyPr vert="horz" wrap="square" lIns="0" tIns="12700" rIns="0" bIns="0" rtlCol="0">
            <a:spAutoFit/>
          </a:bodyPr>
          <a:lstStyle/>
          <a:p>
            <a:pPr marL="12700">
              <a:lnSpc>
                <a:spcPct val="100000"/>
              </a:lnSpc>
              <a:spcBef>
                <a:spcPts val="100"/>
              </a:spcBef>
            </a:pPr>
            <a:r>
              <a:rPr sz="750" i="1" spc="-10" dirty="0">
                <a:solidFill>
                  <a:srgbClr val="6A7280"/>
                </a:solidFill>
                <a:latin typeface="Courier New" panose="02070309020205020404"/>
                <a:cs typeface="Courier New" panose="02070309020205020404"/>
              </a:rPr>
              <a:t>STRUCTURE</a:t>
            </a:r>
            <a:endParaRPr sz="750">
              <a:latin typeface="Courier New" panose="02070309020205020404"/>
              <a:cs typeface="Courier New" panose="02070309020205020404"/>
            </a:endParaRPr>
          </a:p>
        </p:txBody>
      </p:sp>
      <p:sp>
        <p:nvSpPr>
          <p:cNvPr id="58" name="object 58"/>
          <p:cNvSpPr/>
          <p:nvPr/>
        </p:nvSpPr>
        <p:spPr>
          <a:xfrm>
            <a:off x="0" y="0"/>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59" name="object 59"/>
          <p:cNvSpPr/>
          <p:nvPr/>
        </p:nvSpPr>
        <p:spPr>
          <a:xfrm>
            <a:off x="0" y="6819899"/>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61" name="object 61"/>
          <p:cNvSpPr txBox="1"/>
          <p:nvPr/>
        </p:nvSpPr>
        <p:spPr>
          <a:xfrm>
            <a:off x="11301957" y="6239941"/>
            <a:ext cx="445770" cy="169545"/>
          </a:xfrm>
          <a:prstGeom prst="rect">
            <a:avLst/>
          </a:prstGeom>
        </p:spPr>
        <p:txBody>
          <a:bodyPr vert="horz" wrap="square" lIns="0" tIns="8255" rIns="0" bIns="0" rtlCol="0">
            <a:spAutoFit/>
          </a:bodyPr>
          <a:lstStyle/>
          <a:p>
            <a:pPr marL="12700">
              <a:lnSpc>
                <a:spcPct val="100000"/>
              </a:lnSpc>
              <a:spcBef>
                <a:spcPts val="65"/>
              </a:spcBef>
            </a:pPr>
            <a:r>
              <a:rPr sz="900" spc="-65" dirty="0">
                <a:solidFill>
                  <a:srgbClr val="D0D5DA"/>
                </a:solidFill>
                <a:latin typeface="宋体" panose="02010600030101010101" pitchFamily="2" charset="-122"/>
                <a:cs typeface="宋体" panose="02010600030101010101" pitchFamily="2" charset="-122"/>
              </a:rPr>
              <a:t>Slide</a:t>
            </a:r>
            <a:r>
              <a:rPr sz="900" spc="-155" dirty="0">
                <a:solidFill>
                  <a:srgbClr val="D0D5DA"/>
                </a:solidFill>
                <a:latin typeface="宋体" panose="02010600030101010101" pitchFamily="2" charset="-122"/>
                <a:cs typeface="宋体" panose="02010600030101010101" pitchFamily="2" charset="-122"/>
              </a:rPr>
              <a:t> </a:t>
            </a:r>
            <a:r>
              <a:rPr sz="900" spc="60" dirty="0">
                <a:solidFill>
                  <a:srgbClr val="D0D5DA"/>
                </a:solidFill>
                <a:latin typeface="宋体" panose="02010600030101010101" pitchFamily="2" charset="-122"/>
                <a:cs typeface="宋体" panose="02010600030101010101" pitchFamily="2" charset="-122"/>
              </a:rPr>
              <a:t>05</a:t>
            </a:r>
            <a:endParaRPr sz="900">
              <a:latin typeface="宋体" panose="02010600030101010101" pitchFamily="2" charset="-122"/>
              <a:cs typeface="宋体" panose="02010600030101010101" pitchFamily="2" charset="-122"/>
            </a:endParaRPr>
          </a:p>
        </p:txBody>
      </p:sp>
      <p:pic>
        <p:nvPicPr>
          <p:cNvPr id="63" name="图片 62"/>
          <p:cNvPicPr>
            <a:picLocks noChangeAspect="1"/>
          </p:cNvPicPr>
          <p:nvPr/>
        </p:nvPicPr>
        <p:blipFill>
          <a:blip r:embed="rId1"/>
          <a:stretch>
            <a:fillRect/>
          </a:stretch>
        </p:blipFill>
        <p:spPr>
          <a:xfrm>
            <a:off x="695325" y="3800475"/>
            <a:ext cx="2881630" cy="454025"/>
          </a:xfrm>
          <a:prstGeom prst="rect">
            <a:avLst/>
          </a:prstGeom>
        </p:spPr>
      </p:pic>
      <p:pic>
        <p:nvPicPr>
          <p:cNvPr id="64" name="图片 63"/>
          <p:cNvPicPr>
            <a:picLocks noChangeAspect="1"/>
          </p:cNvPicPr>
          <p:nvPr/>
        </p:nvPicPr>
        <p:blipFill>
          <a:blip r:embed="rId2"/>
          <a:stretch>
            <a:fillRect/>
          </a:stretch>
        </p:blipFill>
        <p:spPr>
          <a:xfrm>
            <a:off x="752475" y="4248150"/>
            <a:ext cx="2782570" cy="431800"/>
          </a:xfrm>
          <a:prstGeom prst="rect">
            <a:avLst/>
          </a:prstGeom>
        </p:spPr>
      </p:pic>
      <p:pic>
        <p:nvPicPr>
          <p:cNvPr id="65" name="图片 64"/>
          <p:cNvPicPr>
            <a:picLocks noChangeAspect="1"/>
          </p:cNvPicPr>
          <p:nvPr/>
        </p:nvPicPr>
        <p:blipFill>
          <a:blip r:embed="rId3"/>
          <a:stretch>
            <a:fillRect/>
          </a:stretch>
        </p:blipFill>
        <p:spPr>
          <a:xfrm>
            <a:off x="762000" y="4770755"/>
            <a:ext cx="2682240" cy="474980"/>
          </a:xfrm>
          <a:prstGeom prst="rect">
            <a:avLst/>
          </a:prstGeom>
        </p:spPr>
      </p:pic>
      <p:pic>
        <p:nvPicPr>
          <p:cNvPr id="66" name="图片 65"/>
          <p:cNvPicPr>
            <a:picLocks noChangeAspect="1"/>
          </p:cNvPicPr>
          <p:nvPr/>
        </p:nvPicPr>
        <p:blipFill>
          <a:blip r:embed="rId4"/>
          <a:stretch>
            <a:fillRect/>
          </a:stretch>
        </p:blipFill>
        <p:spPr>
          <a:xfrm>
            <a:off x="4876800" y="3190875"/>
            <a:ext cx="2557780" cy="659130"/>
          </a:xfrm>
          <a:prstGeom prst="rect">
            <a:avLst/>
          </a:prstGeom>
        </p:spPr>
      </p:pic>
      <p:pic>
        <p:nvPicPr>
          <p:cNvPr id="67" name="图片 66"/>
          <p:cNvPicPr>
            <a:picLocks noChangeAspect="1"/>
          </p:cNvPicPr>
          <p:nvPr/>
        </p:nvPicPr>
        <p:blipFill>
          <a:blip r:embed="rId5"/>
          <a:stretch>
            <a:fillRect/>
          </a:stretch>
        </p:blipFill>
        <p:spPr>
          <a:xfrm>
            <a:off x="4785995" y="4576445"/>
            <a:ext cx="2621280" cy="854075"/>
          </a:xfrm>
          <a:prstGeom prst="rect">
            <a:avLst/>
          </a:prstGeom>
        </p:spPr>
      </p:pic>
      <p:pic>
        <p:nvPicPr>
          <p:cNvPr id="68" name="图片 67"/>
          <p:cNvPicPr>
            <a:picLocks noChangeAspect="1"/>
          </p:cNvPicPr>
          <p:nvPr/>
        </p:nvPicPr>
        <p:blipFill>
          <a:blip r:embed="rId6"/>
          <a:stretch>
            <a:fillRect/>
          </a:stretch>
        </p:blipFill>
        <p:spPr>
          <a:xfrm>
            <a:off x="3444240" y="5857875"/>
            <a:ext cx="5334635" cy="837565"/>
          </a:xfrm>
          <a:prstGeom prst="rect">
            <a:avLst/>
          </a:prstGeom>
        </p:spPr>
      </p:pic>
      <p:pic>
        <p:nvPicPr>
          <p:cNvPr id="69" name="图片 68"/>
          <p:cNvPicPr>
            <a:picLocks noChangeAspect="1"/>
          </p:cNvPicPr>
          <p:nvPr/>
        </p:nvPicPr>
        <p:blipFill>
          <a:blip r:embed="rId7"/>
          <a:stretch>
            <a:fillRect/>
          </a:stretch>
        </p:blipFill>
        <p:spPr>
          <a:xfrm>
            <a:off x="8515350" y="2581275"/>
            <a:ext cx="2844800" cy="377825"/>
          </a:xfrm>
          <a:prstGeom prst="rect">
            <a:avLst/>
          </a:prstGeom>
        </p:spPr>
      </p:pic>
      <p:pic>
        <p:nvPicPr>
          <p:cNvPr id="70" name="图片 69"/>
          <p:cNvPicPr>
            <a:picLocks noChangeAspect="1"/>
          </p:cNvPicPr>
          <p:nvPr/>
        </p:nvPicPr>
        <p:blipFill>
          <a:blip r:embed="rId8"/>
          <a:stretch>
            <a:fillRect/>
          </a:stretch>
        </p:blipFill>
        <p:spPr>
          <a:xfrm>
            <a:off x="8489950" y="3374390"/>
            <a:ext cx="2870200" cy="643890"/>
          </a:xfrm>
          <a:prstGeom prst="rect">
            <a:avLst/>
          </a:prstGeom>
        </p:spPr>
      </p:pic>
      <p:pic>
        <p:nvPicPr>
          <p:cNvPr id="71" name="图片 70"/>
          <p:cNvPicPr>
            <a:picLocks noChangeAspect="1"/>
          </p:cNvPicPr>
          <p:nvPr/>
        </p:nvPicPr>
        <p:blipFill>
          <a:blip r:embed="rId9"/>
          <a:stretch>
            <a:fillRect/>
          </a:stretch>
        </p:blipFill>
        <p:spPr>
          <a:xfrm>
            <a:off x="1143000" y="2941955"/>
            <a:ext cx="1360170" cy="432435"/>
          </a:xfrm>
          <a:prstGeom prst="rect">
            <a:avLst/>
          </a:prstGeom>
        </p:spPr>
      </p:pic>
      <p:pic>
        <p:nvPicPr>
          <p:cNvPr id="72" name="图片 71"/>
          <p:cNvPicPr>
            <a:picLocks noChangeAspect="1"/>
          </p:cNvPicPr>
          <p:nvPr/>
        </p:nvPicPr>
        <p:blipFill>
          <a:blip r:embed="rId10"/>
          <a:stretch>
            <a:fillRect/>
          </a:stretch>
        </p:blipFill>
        <p:spPr>
          <a:xfrm>
            <a:off x="10250170" y="1410970"/>
            <a:ext cx="1207135" cy="5918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spcBef>
                <a:spcPts val="100"/>
              </a:spcBef>
            </a:pPr>
            <a:r>
              <a:rPr spc="-250" dirty="0"/>
              <a:t>深度剖析 </a:t>
            </a:r>
            <a:r>
              <a:rPr sz="2850" b="0" spc="-285" dirty="0">
                <a:latin typeface="Arial Black" panose="020B0A04020102020204"/>
                <a:cs typeface="Arial Black" panose="020B0A04020102020204"/>
              </a:rPr>
              <a:t>3</a:t>
            </a:r>
            <a:r>
              <a:rPr spc="-225" dirty="0"/>
              <a:t>：基于 </a:t>
            </a:r>
            <a:r>
              <a:rPr sz="2850" b="0" spc="-140" dirty="0">
                <a:latin typeface="Arial Black" panose="020B0A04020102020204"/>
                <a:cs typeface="Arial Black" panose="020B0A04020102020204"/>
              </a:rPr>
              <a:t>MOE</a:t>
            </a:r>
            <a:r>
              <a:rPr sz="2850" b="0" spc="-60" dirty="0">
                <a:latin typeface="Arial Black" panose="020B0A04020102020204"/>
                <a:cs typeface="Arial Black" panose="020B0A04020102020204"/>
              </a:rPr>
              <a:t> </a:t>
            </a:r>
            <a:r>
              <a:rPr spc="-305" dirty="0"/>
              <a:t>的</a:t>
            </a:r>
            <a:r>
              <a:rPr spc="-305" dirty="0">
                <a:latin typeface="微软雅黑" panose="020B0503020204020204" charset="-122"/>
                <a:cs typeface="微软雅黑" panose="020B0503020204020204" charset="-122"/>
              </a:rPr>
              <a:t>频</a:t>
            </a:r>
            <a:r>
              <a:rPr spc="-305" dirty="0"/>
              <a:t>域</a:t>
            </a:r>
            <a:r>
              <a:rPr spc="-305" dirty="0">
                <a:latin typeface="微软雅黑" panose="020B0503020204020204" charset="-122"/>
                <a:cs typeface="微软雅黑" panose="020B0503020204020204" charset="-122"/>
              </a:rPr>
              <a:t>路由</a:t>
            </a:r>
            <a:r>
              <a:rPr spc="-330" dirty="0"/>
              <a:t>与残差融合</a:t>
            </a:r>
            <a:endParaRPr sz="2850">
              <a:latin typeface="微软雅黑" panose="020B0503020204020204" charset="-122"/>
              <a:cs typeface="微软雅黑" panose="020B0503020204020204" charset="-122"/>
            </a:endParaRPr>
          </a:p>
        </p:txBody>
      </p:sp>
      <p:sp>
        <p:nvSpPr>
          <p:cNvPr id="3" name="object 3"/>
          <p:cNvSpPr/>
          <p:nvPr/>
        </p:nvSpPr>
        <p:spPr>
          <a:xfrm>
            <a:off x="457199" y="6391275"/>
            <a:ext cx="11277600" cy="9525"/>
          </a:xfrm>
          <a:custGeom>
            <a:avLst/>
            <a:gdLst/>
            <a:ahLst/>
            <a:cxnLst/>
            <a:rect l="l" t="t" r="r" b="b"/>
            <a:pathLst>
              <a:path w="11277600" h="9525">
                <a:moveTo>
                  <a:pt x="11277599" y="9524"/>
                </a:moveTo>
                <a:lnTo>
                  <a:pt x="0" y="9524"/>
                </a:lnTo>
                <a:lnTo>
                  <a:pt x="0" y="0"/>
                </a:lnTo>
                <a:lnTo>
                  <a:pt x="11277599" y="0"/>
                </a:lnTo>
                <a:lnTo>
                  <a:pt x="11277599" y="9524"/>
                </a:lnTo>
                <a:close/>
              </a:path>
            </a:pathLst>
          </a:custGeom>
          <a:solidFill>
            <a:srgbClr val="F2F4F5"/>
          </a:solidFill>
        </p:spPr>
        <p:txBody>
          <a:bodyPr wrap="square" lIns="0" tIns="0" rIns="0" bIns="0" rtlCol="0"/>
          <a:lstStyle/>
          <a:p/>
        </p:txBody>
      </p:sp>
      <p:sp>
        <p:nvSpPr>
          <p:cNvPr id="4" name="object 4"/>
          <p:cNvSpPr txBox="1"/>
          <p:nvPr/>
        </p:nvSpPr>
        <p:spPr>
          <a:xfrm>
            <a:off x="596900" y="6530974"/>
            <a:ext cx="3112135" cy="128240"/>
          </a:xfrm>
          <a:prstGeom prst="rect">
            <a:avLst/>
          </a:prstGeom>
        </p:spPr>
        <p:txBody>
          <a:bodyPr vert="horz" wrap="square" lIns="0" tIns="12700" rIns="0" bIns="0" rtlCol="0">
            <a:spAutoFit/>
          </a:bodyPr>
          <a:lstStyle/>
          <a:p>
            <a:pPr marL="12700">
              <a:spcBef>
                <a:spcPts val="100"/>
              </a:spcBef>
            </a:pPr>
            <a:r>
              <a:rPr sz="750" dirty="0">
                <a:solidFill>
                  <a:srgbClr val="9CA2AF"/>
                </a:solidFill>
                <a:latin typeface="Courier New" panose="02070309020205020404"/>
                <a:cs typeface="Courier New" panose="02070309020205020404"/>
              </a:rPr>
              <a:t>FREQUENCY DOMAIN MIXTURE-OF-EXPERTS AGGREGATION </a:t>
            </a:r>
            <a:r>
              <a:rPr sz="750" spc="-10" dirty="0">
                <a:solidFill>
                  <a:srgbClr val="9CA2AF"/>
                </a:solidFill>
                <a:latin typeface="Courier New" panose="02070309020205020404"/>
                <a:cs typeface="Courier New" panose="02070309020205020404"/>
              </a:rPr>
              <a:t>SYSTEM</a:t>
            </a:r>
            <a:endParaRPr sz="750">
              <a:latin typeface="Courier New" panose="02070309020205020404"/>
              <a:cs typeface="Courier New" panose="02070309020205020404"/>
            </a:endParaRPr>
          </a:p>
        </p:txBody>
      </p:sp>
      <p:sp>
        <p:nvSpPr>
          <p:cNvPr id="5" name="object 5"/>
          <p:cNvSpPr txBox="1"/>
          <p:nvPr/>
        </p:nvSpPr>
        <p:spPr>
          <a:xfrm>
            <a:off x="11036151" y="6530974"/>
            <a:ext cx="711835" cy="128240"/>
          </a:xfrm>
          <a:prstGeom prst="rect">
            <a:avLst/>
          </a:prstGeom>
        </p:spPr>
        <p:txBody>
          <a:bodyPr vert="horz" wrap="square" lIns="0" tIns="12700" rIns="0" bIns="0" rtlCol="0">
            <a:spAutoFit/>
          </a:bodyPr>
          <a:lstStyle/>
          <a:p>
            <a:pPr marL="12700">
              <a:spcBef>
                <a:spcPts val="100"/>
              </a:spcBef>
            </a:pPr>
            <a:r>
              <a:rPr sz="750" dirty="0">
                <a:solidFill>
                  <a:srgbClr val="D0D5DA"/>
                </a:solidFill>
                <a:latin typeface="Courier New" panose="02070309020205020404"/>
                <a:cs typeface="Courier New" panose="02070309020205020404"/>
              </a:rPr>
              <a:t>PAGE 06 / </a:t>
            </a:r>
            <a:r>
              <a:rPr sz="750" spc="-25" dirty="0">
                <a:solidFill>
                  <a:srgbClr val="D0D5DA"/>
                </a:solidFill>
                <a:latin typeface="Courier New" panose="02070309020205020404"/>
                <a:cs typeface="Courier New" panose="02070309020205020404"/>
              </a:rPr>
              <a:t>09</a:t>
            </a:r>
            <a:endParaRPr sz="750">
              <a:latin typeface="Courier New" panose="02070309020205020404"/>
              <a:cs typeface="Courier New" panose="02070309020205020404"/>
            </a:endParaRPr>
          </a:p>
        </p:txBody>
      </p:sp>
      <p:grpSp>
        <p:nvGrpSpPr>
          <p:cNvPr id="6" name="object 6"/>
          <p:cNvGrpSpPr/>
          <p:nvPr/>
        </p:nvGrpSpPr>
        <p:grpSpPr>
          <a:xfrm>
            <a:off x="457201" y="1647824"/>
            <a:ext cx="3609975" cy="4514850"/>
            <a:chOff x="457200" y="1352549"/>
            <a:chExt cx="3609975" cy="4514850"/>
          </a:xfrm>
        </p:grpSpPr>
        <p:sp>
          <p:nvSpPr>
            <p:cNvPr id="7" name="object 7"/>
            <p:cNvSpPr/>
            <p:nvPr/>
          </p:nvSpPr>
          <p:spPr>
            <a:xfrm>
              <a:off x="461962" y="1357312"/>
              <a:ext cx="3600450" cy="4505325"/>
            </a:xfrm>
            <a:custGeom>
              <a:avLst/>
              <a:gdLst/>
              <a:ahLst/>
              <a:cxnLst/>
              <a:rect l="l" t="t" r="r" b="b"/>
              <a:pathLst>
                <a:path w="3600450" h="4505325">
                  <a:moveTo>
                    <a:pt x="3498104" y="4505324"/>
                  </a:moveTo>
                  <a:lnTo>
                    <a:pt x="102345" y="4505324"/>
                  </a:lnTo>
                  <a:lnTo>
                    <a:pt x="95221" y="4504622"/>
                  </a:lnTo>
                  <a:lnTo>
                    <a:pt x="54661" y="4490859"/>
                  </a:lnTo>
                  <a:lnTo>
                    <a:pt x="22456" y="4462622"/>
                  </a:lnTo>
                  <a:lnTo>
                    <a:pt x="3507" y="4424210"/>
                  </a:lnTo>
                  <a:lnTo>
                    <a:pt x="0" y="4402979"/>
                  </a:lnTo>
                  <a:lnTo>
                    <a:pt x="0" y="4395787"/>
                  </a:lnTo>
                  <a:lnTo>
                    <a:pt x="0" y="102345"/>
                  </a:lnTo>
                  <a:lnTo>
                    <a:pt x="11090" y="60974"/>
                  </a:lnTo>
                  <a:lnTo>
                    <a:pt x="37168" y="26997"/>
                  </a:lnTo>
                  <a:lnTo>
                    <a:pt x="74264" y="5585"/>
                  </a:lnTo>
                  <a:lnTo>
                    <a:pt x="102345" y="0"/>
                  </a:lnTo>
                  <a:lnTo>
                    <a:pt x="3498104" y="0"/>
                  </a:lnTo>
                  <a:lnTo>
                    <a:pt x="3539474" y="11090"/>
                  </a:lnTo>
                  <a:lnTo>
                    <a:pt x="3573452" y="37168"/>
                  </a:lnTo>
                  <a:lnTo>
                    <a:pt x="3594863" y="74264"/>
                  </a:lnTo>
                  <a:lnTo>
                    <a:pt x="3600449" y="102345"/>
                  </a:lnTo>
                  <a:lnTo>
                    <a:pt x="3600449" y="4402979"/>
                  </a:lnTo>
                  <a:lnTo>
                    <a:pt x="3589358" y="4444349"/>
                  </a:lnTo>
                  <a:lnTo>
                    <a:pt x="3563280" y="4478327"/>
                  </a:lnTo>
                  <a:lnTo>
                    <a:pt x="3526185" y="4499738"/>
                  </a:lnTo>
                  <a:lnTo>
                    <a:pt x="3505227" y="4504622"/>
                  </a:lnTo>
                  <a:lnTo>
                    <a:pt x="3498104" y="4505324"/>
                  </a:lnTo>
                  <a:close/>
                </a:path>
              </a:pathLst>
            </a:custGeom>
            <a:solidFill>
              <a:srgbClr val="000000"/>
            </a:solidFill>
          </p:spPr>
          <p:txBody>
            <a:bodyPr wrap="square" lIns="0" tIns="0" rIns="0" bIns="0" rtlCol="0"/>
            <a:lstStyle/>
            <a:p/>
          </p:txBody>
        </p:sp>
        <p:sp>
          <p:nvSpPr>
            <p:cNvPr id="8" name="object 8"/>
            <p:cNvSpPr/>
            <p:nvPr/>
          </p:nvSpPr>
          <p:spPr>
            <a:xfrm>
              <a:off x="461962" y="1357312"/>
              <a:ext cx="3600450" cy="4505325"/>
            </a:xfrm>
            <a:custGeom>
              <a:avLst/>
              <a:gdLst/>
              <a:ahLst/>
              <a:cxnLst/>
              <a:rect l="l" t="t" r="r" b="b"/>
              <a:pathLst>
                <a:path w="3600450" h="4505325">
                  <a:moveTo>
                    <a:pt x="0" y="43957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4395787"/>
                  </a:lnTo>
                  <a:lnTo>
                    <a:pt x="3600449" y="4402979"/>
                  </a:lnTo>
                  <a:lnTo>
                    <a:pt x="3599747" y="4410102"/>
                  </a:lnTo>
                  <a:lnTo>
                    <a:pt x="3598344" y="4417156"/>
                  </a:lnTo>
                  <a:lnTo>
                    <a:pt x="3596941" y="4424210"/>
                  </a:lnTo>
                  <a:lnTo>
                    <a:pt x="3594863" y="4431060"/>
                  </a:lnTo>
                  <a:lnTo>
                    <a:pt x="3592110" y="4437704"/>
                  </a:lnTo>
                  <a:lnTo>
                    <a:pt x="3589358" y="4444349"/>
                  </a:lnTo>
                  <a:lnTo>
                    <a:pt x="3585984" y="4450662"/>
                  </a:lnTo>
                  <a:lnTo>
                    <a:pt x="3581988" y="4456642"/>
                  </a:lnTo>
                  <a:lnTo>
                    <a:pt x="3577992" y="4462622"/>
                  </a:lnTo>
                  <a:lnTo>
                    <a:pt x="3551767" y="4486863"/>
                  </a:lnTo>
                  <a:lnTo>
                    <a:pt x="3545787" y="4490859"/>
                  </a:lnTo>
                  <a:lnTo>
                    <a:pt x="3505227" y="4504622"/>
                  </a:lnTo>
                  <a:lnTo>
                    <a:pt x="3490912" y="4505324"/>
                  </a:lnTo>
                  <a:lnTo>
                    <a:pt x="109537" y="4505324"/>
                  </a:lnTo>
                  <a:lnTo>
                    <a:pt x="67619" y="4496985"/>
                  </a:lnTo>
                  <a:lnTo>
                    <a:pt x="60974" y="4494233"/>
                  </a:lnTo>
                  <a:lnTo>
                    <a:pt x="54661" y="4490859"/>
                  </a:lnTo>
                  <a:lnTo>
                    <a:pt x="48681" y="4486863"/>
                  </a:lnTo>
                  <a:lnTo>
                    <a:pt x="42701" y="4482867"/>
                  </a:lnTo>
                  <a:lnTo>
                    <a:pt x="18460" y="4456642"/>
                  </a:lnTo>
                  <a:lnTo>
                    <a:pt x="14464" y="4450662"/>
                  </a:lnTo>
                  <a:lnTo>
                    <a:pt x="2104" y="4417156"/>
                  </a:lnTo>
                  <a:lnTo>
                    <a:pt x="701" y="4410102"/>
                  </a:lnTo>
                  <a:lnTo>
                    <a:pt x="0" y="4402979"/>
                  </a:lnTo>
                  <a:lnTo>
                    <a:pt x="0" y="4395787"/>
                  </a:lnTo>
                  <a:close/>
                </a:path>
              </a:pathLst>
            </a:custGeom>
            <a:ln w="9524">
              <a:solidFill>
                <a:srgbClr val="000000"/>
              </a:solidFill>
            </a:ln>
          </p:spPr>
          <p:txBody>
            <a:bodyPr wrap="square" lIns="0" tIns="0" rIns="0" bIns="0" rtlCol="0"/>
            <a:lstStyle/>
            <a:p/>
          </p:txBody>
        </p:sp>
        <p:sp>
          <p:nvSpPr>
            <p:cNvPr id="9" name="object 9"/>
            <p:cNvSpPr/>
            <p:nvPr/>
          </p:nvSpPr>
          <p:spPr>
            <a:xfrm>
              <a:off x="700087" y="1604962"/>
              <a:ext cx="714375" cy="238125"/>
            </a:xfrm>
            <a:custGeom>
              <a:avLst/>
              <a:gdLst/>
              <a:ahLst/>
              <a:cxnLst/>
              <a:rect l="l" t="t" r="r" b="b"/>
              <a:pathLst>
                <a:path w="714375" h="238125">
                  <a:moveTo>
                    <a:pt x="0" y="204787"/>
                  </a:moveTo>
                  <a:lnTo>
                    <a:pt x="0" y="33337"/>
                  </a:lnTo>
                  <a:lnTo>
                    <a:pt x="0" y="28916"/>
                  </a:lnTo>
                  <a:lnTo>
                    <a:pt x="845" y="24664"/>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681037" y="0"/>
                  </a:lnTo>
                  <a:lnTo>
                    <a:pt x="685458" y="0"/>
                  </a:lnTo>
                  <a:lnTo>
                    <a:pt x="689710" y="845"/>
                  </a:lnTo>
                  <a:lnTo>
                    <a:pt x="714374" y="33337"/>
                  </a:lnTo>
                  <a:lnTo>
                    <a:pt x="714374" y="204787"/>
                  </a:lnTo>
                  <a:lnTo>
                    <a:pt x="693795" y="235587"/>
                  </a:lnTo>
                  <a:lnTo>
                    <a:pt x="689710" y="237279"/>
                  </a:lnTo>
                  <a:lnTo>
                    <a:pt x="685458" y="238124"/>
                  </a:lnTo>
                  <a:lnTo>
                    <a:pt x="681037" y="238124"/>
                  </a:lnTo>
                  <a:lnTo>
                    <a:pt x="33337" y="238124"/>
                  </a:lnTo>
                  <a:lnTo>
                    <a:pt x="28916" y="238124"/>
                  </a:lnTo>
                  <a:lnTo>
                    <a:pt x="24664" y="237279"/>
                  </a:lnTo>
                  <a:lnTo>
                    <a:pt x="20579" y="235587"/>
                  </a:lnTo>
                  <a:lnTo>
                    <a:pt x="16495" y="233895"/>
                  </a:lnTo>
                  <a:lnTo>
                    <a:pt x="0" y="209208"/>
                  </a:lnTo>
                  <a:lnTo>
                    <a:pt x="0" y="204787"/>
                  </a:lnTo>
                  <a:close/>
                </a:path>
              </a:pathLst>
            </a:custGeom>
            <a:ln w="9524">
              <a:solidFill>
                <a:srgbClr val="FFFFFF"/>
              </a:solidFill>
            </a:ln>
          </p:spPr>
          <p:txBody>
            <a:bodyPr wrap="square" lIns="0" tIns="0" rIns="0" bIns="0" rtlCol="0"/>
            <a:lstStyle/>
            <a:p/>
          </p:txBody>
        </p:sp>
      </p:grpSp>
      <p:sp>
        <p:nvSpPr>
          <p:cNvPr id="10" name="object 10"/>
          <p:cNvSpPr txBox="1"/>
          <p:nvPr/>
        </p:nvSpPr>
        <p:spPr>
          <a:xfrm>
            <a:off x="768350" y="1920876"/>
            <a:ext cx="574675" cy="151323"/>
          </a:xfrm>
          <a:prstGeom prst="rect">
            <a:avLst/>
          </a:prstGeom>
        </p:spPr>
        <p:txBody>
          <a:bodyPr vert="horz" wrap="square" lIns="0" tIns="12700" rIns="0" bIns="0" rtlCol="0">
            <a:spAutoFit/>
          </a:bodyPr>
          <a:lstStyle/>
          <a:p>
            <a:pPr marL="12700">
              <a:spcBef>
                <a:spcPts val="100"/>
              </a:spcBef>
            </a:pPr>
            <a:r>
              <a:rPr sz="900" dirty="0">
                <a:solidFill>
                  <a:srgbClr val="FFFFFF"/>
                </a:solidFill>
                <a:latin typeface="Courier New" panose="02070309020205020404"/>
                <a:cs typeface="Courier New" panose="02070309020205020404"/>
              </a:rPr>
              <a:t>STAGE </a:t>
            </a:r>
            <a:r>
              <a:rPr sz="900" spc="-25" dirty="0">
                <a:solidFill>
                  <a:srgbClr val="FFFFFF"/>
                </a:solidFill>
                <a:latin typeface="Courier New" panose="02070309020205020404"/>
                <a:cs typeface="Courier New" panose="02070309020205020404"/>
              </a:rPr>
              <a:t>01</a:t>
            </a:r>
            <a:endParaRPr sz="900">
              <a:latin typeface="Courier New" panose="02070309020205020404"/>
              <a:cs typeface="Courier New" panose="02070309020205020404"/>
            </a:endParaRPr>
          </a:p>
        </p:txBody>
      </p:sp>
      <p:sp>
        <p:nvSpPr>
          <p:cNvPr id="11" name="object 11"/>
          <p:cNvSpPr txBox="1"/>
          <p:nvPr/>
        </p:nvSpPr>
        <p:spPr>
          <a:xfrm>
            <a:off x="1517104" y="1873250"/>
            <a:ext cx="773430" cy="243656"/>
          </a:xfrm>
          <a:prstGeom prst="rect">
            <a:avLst/>
          </a:prstGeom>
        </p:spPr>
        <p:txBody>
          <a:bodyPr vert="horz" wrap="square" lIns="0" tIns="12700" rIns="0" bIns="0" rtlCol="0">
            <a:spAutoFit/>
          </a:bodyPr>
          <a:lstStyle/>
          <a:p>
            <a:pPr marL="12700">
              <a:spcBef>
                <a:spcPts val="100"/>
              </a:spcBef>
            </a:pPr>
            <a:r>
              <a:rPr sz="1500" spc="-45" dirty="0">
                <a:solidFill>
                  <a:srgbClr val="FFFFFF"/>
                </a:solidFill>
                <a:latin typeface="宋体" panose="02010600030101010101" pitchFamily="2" charset="-122"/>
                <a:cs typeface="宋体" panose="02010600030101010101" pitchFamily="2" charset="-122"/>
              </a:rPr>
              <a:t>专家定义</a:t>
            </a:r>
            <a:endParaRPr sz="1500">
              <a:latin typeface="宋体" panose="02010600030101010101" pitchFamily="2" charset="-122"/>
              <a:cs typeface="宋体" panose="02010600030101010101" pitchFamily="2" charset="-122"/>
            </a:endParaRPr>
          </a:p>
        </p:txBody>
      </p:sp>
      <p:sp>
        <p:nvSpPr>
          <p:cNvPr id="12" name="object 12"/>
          <p:cNvSpPr txBox="1"/>
          <p:nvPr/>
        </p:nvSpPr>
        <p:spPr>
          <a:xfrm>
            <a:off x="682625" y="2359026"/>
            <a:ext cx="1683385" cy="174407"/>
          </a:xfrm>
          <a:prstGeom prst="rect">
            <a:avLst/>
          </a:prstGeom>
        </p:spPr>
        <p:txBody>
          <a:bodyPr vert="horz" wrap="square" lIns="0" tIns="12700" rIns="0" bIns="0" rtlCol="0">
            <a:spAutoFit/>
          </a:bodyPr>
          <a:lstStyle/>
          <a:p>
            <a:pPr marL="12700">
              <a:spcBef>
                <a:spcPts val="100"/>
              </a:spcBef>
            </a:pPr>
            <a:r>
              <a:rPr sz="1050" spc="180" dirty="0">
                <a:solidFill>
                  <a:srgbClr val="9CA2AF"/>
                </a:solidFill>
                <a:latin typeface="宋体" panose="02010600030101010101" pitchFamily="2" charset="-122"/>
                <a:cs typeface="宋体" panose="02010600030101010101" pitchFamily="2" charset="-122"/>
              </a:rPr>
              <a:t>DYNAMIC</a:t>
            </a:r>
            <a:r>
              <a:rPr sz="1050" spc="5" dirty="0">
                <a:solidFill>
                  <a:srgbClr val="9CA2AF"/>
                </a:solidFill>
                <a:latin typeface="宋体" panose="02010600030101010101" pitchFamily="2" charset="-122"/>
                <a:cs typeface="宋体" panose="02010600030101010101" pitchFamily="2" charset="-122"/>
              </a:rPr>
              <a:t> </a:t>
            </a:r>
            <a:r>
              <a:rPr sz="1050" spc="250" dirty="0">
                <a:solidFill>
                  <a:srgbClr val="9CA2AF"/>
                </a:solidFill>
                <a:latin typeface="宋体" panose="02010600030101010101" pitchFamily="2" charset="-122"/>
                <a:cs typeface="宋体" panose="02010600030101010101" pitchFamily="2" charset="-122"/>
              </a:rPr>
              <a:t>MOE</a:t>
            </a:r>
            <a:r>
              <a:rPr sz="1050" spc="5" dirty="0">
                <a:solidFill>
                  <a:srgbClr val="9CA2AF"/>
                </a:solidFill>
                <a:latin typeface="宋体" panose="02010600030101010101" pitchFamily="2" charset="-122"/>
                <a:cs typeface="宋体" panose="02010600030101010101" pitchFamily="2" charset="-122"/>
              </a:rPr>
              <a:t> </a:t>
            </a:r>
            <a:r>
              <a:rPr sz="1050" spc="-225" dirty="0">
                <a:solidFill>
                  <a:srgbClr val="9CA2AF"/>
                </a:solidFill>
                <a:latin typeface="宋体" panose="02010600030101010101" pitchFamily="2" charset="-122"/>
                <a:cs typeface="宋体" panose="02010600030101010101" pitchFamily="2" charset="-122"/>
              </a:rPr>
              <a:t>(</a:t>
            </a:r>
            <a:r>
              <a:rPr sz="1050" spc="-415" dirty="0">
                <a:solidFill>
                  <a:srgbClr val="9CA2AF"/>
                </a:solidFill>
                <a:latin typeface="宋体" panose="02010600030101010101" pitchFamily="2" charset="-122"/>
                <a:cs typeface="宋体" panose="02010600030101010101" pitchFamily="2" charset="-122"/>
              </a:rPr>
              <a:t> </a:t>
            </a:r>
            <a:r>
              <a:rPr sz="1050" spc="170" dirty="0">
                <a:solidFill>
                  <a:srgbClr val="9CA2AF"/>
                </a:solidFill>
                <a:latin typeface="宋体" panose="02010600030101010101" pitchFamily="2" charset="-122"/>
                <a:cs typeface="宋体" panose="02010600030101010101" pitchFamily="2" charset="-122"/>
              </a:rPr>
              <a:t>DYMOE)</a:t>
            </a:r>
            <a:endParaRPr sz="1050">
              <a:latin typeface="宋体" panose="02010600030101010101" pitchFamily="2" charset="-122"/>
              <a:cs typeface="宋体" panose="02010600030101010101" pitchFamily="2" charset="-122"/>
            </a:endParaRPr>
          </a:p>
        </p:txBody>
      </p:sp>
      <p:grpSp>
        <p:nvGrpSpPr>
          <p:cNvPr id="13" name="object 13"/>
          <p:cNvGrpSpPr/>
          <p:nvPr/>
        </p:nvGrpSpPr>
        <p:grpSpPr>
          <a:xfrm>
            <a:off x="695325" y="2724149"/>
            <a:ext cx="3133725" cy="2895600"/>
            <a:chOff x="695324" y="2428874"/>
            <a:chExt cx="3133725" cy="2895600"/>
          </a:xfrm>
        </p:grpSpPr>
        <p:sp>
          <p:nvSpPr>
            <p:cNvPr id="14" name="object 14"/>
            <p:cNvSpPr/>
            <p:nvPr/>
          </p:nvSpPr>
          <p:spPr>
            <a:xfrm>
              <a:off x="695312" y="2428874"/>
              <a:ext cx="19050" cy="2133600"/>
            </a:xfrm>
            <a:custGeom>
              <a:avLst/>
              <a:gdLst/>
              <a:ahLst/>
              <a:cxnLst/>
              <a:rect l="l" t="t" r="r" b="b"/>
              <a:pathLst>
                <a:path w="19050" h="2133600">
                  <a:moveTo>
                    <a:pt x="19050" y="1524000"/>
                  </a:moveTo>
                  <a:lnTo>
                    <a:pt x="0" y="1524000"/>
                  </a:lnTo>
                  <a:lnTo>
                    <a:pt x="0" y="2133600"/>
                  </a:lnTo>
                  <a:lnTo>
                    <a:pt x="19050" y="2133600"/>
                  </a:lnTo>
                  <a:lnTo>
                    <a:pt x="19050" y="1524000"/>
                  </a:lnTo>
                  <a:close/>
                </a:path>
                <a:path w="19050" h="2133600">
                  <a:moveTo>
                    <a:pt x="19050" y="762000"/>
                  </a:moveTo>
                  <a:lnTo>
                    <a:pt x="0" y="762000"/>
                  </a:lnTo>
                  <a:lnTo>
                    <a:pt x="0" y="1371600"/>
                  </a:lnTo>
                  <a:lnTo>
                    <a:pt x="19050" y="1371600"/>
                  </a:lnTo>
                  <a:lnTo>
                    <a:pt x="19050" y="762000"/>
                  </a:lnTo>
                  <a:close/>
                </a:path>
                <a:path w="19050" h="2133600">
                  <a:moveTo>
                    <a:pt x="19050" y="0"/>
                  </a:moveTo>
                  <a:lnTo>
                    <a:pt x="0" y="0"/>
                  </a:lnTo>
                  <a:lnTo>
                    <a:pt x="0" y="609600"/>
                  </a:lnTo>
                  <a:lnTo>
                    <a:pt x="19050" y="609600"/>
                  </a:lnTo>
                  <a:lnTo>
                    <a:pt x="19050" y="0"/>
                  </a:lnTo>
                  <a:close/>
                </a:path>
              </a:pathLst>
            </a:custGeom>
            <a:solidFill>
              <a:srgbClr val="FFFFFF">
                <a:alpha val="19999"/>
              </a:srgbClr>
            </a:solidFill>
          </p:spPr>
          <p:txBody>
            <a:bodyPr wrap="square" lIns="0" tIns="0" rIns="0" bIns="0" rtlCol="0"/>
            <a:lstStyle/>
            <a:p/>
          </p:txBody>
        </p:sp>
        <p:sp>
          <p:nvSpPr>
            <p:cNvPr id="15" name="object 15"/>
            <p:cNvSpPr/>
            <p:nvPr/>
          </p:nvSpPr>
          <p:spPr>
            <a:xfrm>
              <a:off x="695324" y="5314949"/>
              <a:ext cx="3133725" cy="9525"/>
            </a:xfrm>
            <a:custGeom>
              <a:avLst/>
              <a:gdLst/>
              <a:ahLst/>
              <a:cxnLst/>
              <a:rect l="l" t="t" r="r" b="b"/>
              <a:pathLst>
                <a:path w="3133725" h="9525">
                  <a:moveTo>
                    <a:pt x="3133724" y="9524"/>
                  </a:moveTo>
                  <a:lnTo>
                    <a:pt x="0" y="9524"/>
                  </a:lnTo>
                  <a:lnTo>
                    <a:pt x="0" y="0"/>
                  </a:lnTo>
                  <a:lnTo>
                    <a:pt x="3133724" y="0"/>
                  </a:lnTo>
                  <a:lnTo>
                    <a:pt x="3133724" y="9524"/>
                  </a:lnTo>
                  <a:close/>
                </a:path>
              </a:pathLst>
            </a:custGeom>
            <a:solidFill>
              <a:srgbClr val="FFFFFF">
                <a:alpha val="10198"/>
              </a:srgbClr>
            </a:solidFill>
          </p:spPr>
          <p:txBody>
            <a:bodyPr wrap="square" lIns="0" tIns="0" rIns="0" bIns="0" rtlCol="0"/>
            <a:lstStyle/>
            <a:p/>
          </p:txBody>
        </p:sp>
      </p:grpSp>
      <p:sp>
        <p:nvSpPr>
          <p:cNvPr id="16" name="object 16"/>
          <p:cNvSpPr txBox="1"/>
          <p:nvPr/>
        </p:nvSpPr>
        <p:spPr>
          <a:xfrm>
            <a:off x="854076" y="2723153"/>
            <a:ext cx="2714625" cy="507365"/>
          </a:xfrm>
          <a:prstGeom prst="rect">
            <a:avLst/>
          </a:prstGeom>
        </p:spPr>
        <p:txBody>
          <a:bodyPr vert="horz" wrap="square" lIns="0" tIns="86360" rIns="0" bIns="0" rtlCol="0">
            <a:spAutoFit/>
          </a:bodyPr>
          <a:lstStyle/>
          <a:p>
            <a:pPr marL="12700">
              <a:spcBef>
                <a:spcPts val="680"/>
              </a:spcBef>
            </a:pPr>
            <a:r>
              <a:rPr sz="1200" spc="-50" dirty="0">
                <a:solidFill>
                  <a:srgbClr val="FFFFFF"/>
                </a:solidFill>
                <a:latin typeface="宋体" panose="02010600030101010101" pitchFamily="2" charset="-122"/>
                <a:cs typeface="宋体" panose="02010600030101010101" pitchFamily="2" charset="-122"/>
              </a:rPr>
              <a:t>滤波器组 </a:t>
            </a:r>
            <a:r>
              <a:rPr sz="1200" spc="-70" dirty="0">
                <a:solidFill>
                  <a:srgbClr val="FFFFFF"/>
                </a:solidFill>
                <a:latin typeface="宋体" panose="02010600030101010101" pitchFamily="2" charset="-122"/>
                <a:cs typeface="宋体" panose="02010600030101010101" pitchFamily="2" charset="-122"/>
              </a:rPr>
              <a:t>(Filters)</a:t>
            </a:r>
            <a:endParaRPr sz="1200">
              <a:latin typeface="宋体" panose="02010600030101010101" pitchFamily="2" charset="-122"/>
              <a:cs typeface="宋体" panose="02010600030101010101" pitchFamily="2" charset="-122"/>
            </a:endParaRPr>
          </a:p>
          <a:p>
            <a:pPr marL="12700">
              <a:spcBef>
                <a:spcPts val="510"/>
              </a:spcBef>
            </a:pPr>
            <a:r>
              <a:rPr sz="1050" dirty="0">
                <a:solidFill>
                  <a:srgbClr val="9CA2AF"/>
                </a:solidFill>
                <a:latin typeface="宋体" panose="02010600030101010101" pitchFamily="2" charset="-122"/>
                <a:cs typeface="宋体" panose="02010600030101010101" pitchFamily="2" charset="-122"/>
              </a:rPr>
              <a:t>专有三频段分工：Low</a:t>
            </a:r>
            <a:r>
              <a:rPr sz="1050" spc="-85" dirty="0">
                <a:solidFill>
                  <a:srgbClr val="9CA2AF"/>
                </a:solidFill>
                <a:latin typeface="宋体" panose="02010600030101010101" pitchFamily="2" charset="-122"/>
                <a:cs typeface="宋体" panose="02010600030101010101" pitchFamily="2" charset="-122"/>
              </a:rPr>
              <a:t> / </a:t>
            </a:r>
            <a:r>
              <a:rPr sz="1050" dirty="0">
                <a:solidFill>
                  <a:srgbClr val="9CA2AF"/>
                </a:solidFill>
                <a:latin typeface="宋体" panose="02010600030101010101" pitchFamily="2" charset="-122"/>
                <a:cs typeface="宋体" panose="02010600030101010101" pitchFamily="2" charset="-122"/>
              </a:rPr>
              <a:t>Mid</a:t>
            </a:r>
            <a:r>
              <a:rPr sz="1050" spc="-85" dirty="0">
                <a:solidFill>
                  <a:srgbClr val="9CA2AF"/>
                </a:solidFill>
                <a:latin typeface="宋体" panose="02010600030101010101" pitchFamily="2" charset="-122"/>
                <a:cs typeface="宋体" panose="02010600030101010101" pitchFamily="2" charset="-122"/>
              </a:rPr>
              <a:t> / </a:t>
            </a:r>
            <a:r>
              <a:rPr sz="1050" spc="-40" dirty="0">
                <a:solidFill>
                  <a:srgbClr val="9CA2AF"/>
                </a:solidFill>
                <a:latin typeface="宋体" panose="02010600030101010101" pitchFamily="2" charset="-122"/>
                <a:cs typeface="宋体" panose="02010600030101010101" pitchFamily="2" charset="-122"/>
              </a:rPr>
              <a:t>High-</a:t>
            </a:r>
            <a:r>
              <a:rPr sz="1050" spc="-20" dirty="0">
                <a:solidFill>
                  <a:srgbClr val="9CA2AF"/>
                </a:solidFill>
                <a:latin typeface="宋体" panose="02010600030101010101" pitchFamily="2" charset="-122"/>
                <a:cs typeface="宋体" panose="02010600030101010101" pitchFamily="2" charset="-122"/>
              </a:rPr>
              <a:t>Frequency</a:t>
            </a:r>
            <a:endParaRPr sz="1050">
              <a:latin typeface="宋体" panose="02010600030101010101" pitchFamily="2" charset="-122"/>
              <a:cs typeface="宋体" panose="02010600030101010101" pitchFamily="2" charset="-122"/>
            </a:endParaRPr>
          </a:p>
        </p:txBody>
      </p:sp>
      <p:sp>
        <p:nvSpPr>
          <p:cNvPr id="17" name="object 17"/>
          <p:cNvSpPr txBox="1"/>
          <p:nvPr/>
        </p:nvSpPr>
        <p:spPr>
          <a:xfrm>
            <a:off x="854075" y="3485153"/>
            <a:ext cx="1092200" cy="507365"/>
          </a:xfrm>
          <a:prstGeom prst="rect">
            <a:avLst/>
          </a:prstGeom>
        </p:spPr>
        <p:txBody>
          <a:bodyPr vert="horz" wrap="square" lIns="0" tIns="86360" rIns="0" bIns="0" rtlCol="0">
            <a:spAutoFit/>
          </a:bodyPr>
          <a:lstStyle/>
          <a:p>
            <a:pPr marL="12700">
              <a:spcBef>
                <a:spcPts val="680"/>
              </a:spcBef>
            </a:pPr>
            <a:r>
              <a:rPr sz="1200" spc="-10" dirty="0">
                <a:solidFill>
                  <a:srgbClr val="FFFFFF"/>
                </a:solidFill>
                <a:latin typeface="宋体" panose="02010600030101010101" pitchFamily="2" charset="-122"/>
                <a:cs typeface="宋体" panose="02010600030101010101" pitchFamily="2" charset="-122"/>
              </a:rPr>
              <a:t>周期与趋势</a:t>
            </a:r>
            <a:endParaRPr sz="1200">
              <a:latin typeface="宋体" panose="02010600030101010101" pitchFamily="2" charset="-122"/>
              <a:cs typeface="宋体" panose="02010600030101010101" pitchFamily="2" charset="-122"/>
            </a:endParaRPr>
          </a:p>
          <a:p>
            <a:pPr marL="12700">
              <a:spcBef>
                <a:spcPts val="510"/>
              </a:spcBef>
            </a:pPr>
            <a:r>
              <a:rPr sz="1050" spc="-10" dirty="0">
                <a:solidFill>
                  <a:srgbClr val="9CA2AF"/>
                </a:solidFill>
                <a:latin typeface="宋体" panose="02010600030101010101" pitchFamily="2" charset="-122"/>
                <a:cs typeface="宋体" panose="02010600030101010101" pitchFamily="2" charset="-122"/>
              </a:rPr>
              <a:t>低频捕获长期规律</a:t>
            </a:r>
            <a:endParaRPr sz="1050">
              <a:latin typeface="宋体" panose="02010600030101010101" pitchFamily="2" charset="-122"/>
              <a:cs typeface="宋体" panose="02010600030101010101" pitchFamily="2" charset="-122"/>
            </a:endParaRPr>
          </a:p>
        </p:txBody>
      </p:sp>
      <p:sp>
        <p:nvSpPr>
          <p:cNvPr id="18" name="object 18"/>
          <p:cNvSpPr txBox="1"/>
          <p:nvPr/>
        </p:nvSpPr>
        <p:spPr>
          <a:xfrm>
            <a:off x="854075" y="4247152"/>
            <a:ext cx="1225550" cy="507365"/>
          </a:xfrm>
          <a:prstGeom prst="rect">
            <a:avLst/>
          </a:prstGeom>
        </p:spPr>
        <p:txBody>
          <a:bodyPr vert="horz" wrap="square" lIns="0" tIns="86360" rIns="0" bIns="0" rtlCol="0">
            <a:spAutoFit/>
          </a:bodyPr>
          <a:lstStyle/>
          <a:p>
            <a:pPr marL="12700">
              <a:spcBef>
                <a:spcPts val="680"/>
              </a:spcBef>
            </a:pPr>
            <a:r>
              <a:rPr sz="1200" spc="-10" dirty="0">
                <a:solidFill>
                  <a:srgbClr val="FFFFFF"/>
                </a:solidFill>
                <a:latin typeface="宋体" panose="02010600030101010101" pitchFamily="2" charset="-122"/>
                <a:cs typeface="宋体" panose="02010600030101010101" pitchFamily="2" charset="-122"/>
              </a:rPr>
              <a:t>突变与异常</a:t>
            </a:r>
            <a:endParaRPr sz="1200">
              <a:latin typeface="宋体" panose="02010600030101010101" pitchFamily="2" charset="-122"/>
              <a:cs typeface="宋体" panose="02010600030101010101" pitchFamily="2" charset="-122"/>
            </a:endParaRPr>
          </a:p>
          <a:p>
            <a:pPr marL="12700">
              <a:spcBef>
                <a:spcPts val="510"/>
              </a:spcBef>
            </a:pPr>
            <a:r>
              <a:rPr sz="1050" spc="-10" dirty="0">
                <a:solidFill>
                  <a:srgbClr val="9CA2AF"/>
                </a:solidFill>
                <a:latin typeface="宋体" panose="02010600030101010101" pitchFamily="2" charset="-122"/>
                <a:cs typeface="宋体" panose="02010600030101010101" pitchFamily="2" charset="-122"/>
              </a:rPr>
              <a:t>高频捕获结构性异动</a:t>
            </a:r>
            <a:endParaRPr sz="1050">
              <a:latin typeface="宋体" panose="02010600030101010101" pitchFamily="2" charset="-122"/>
              <a:cs typeface="宋体" panose="02010600030101010101" pitchFamily="2" charset="-122"/>
            </a:endParaRPr>
          </a:p>
        </p:txBody>
      </p:sp>
      <p:sp>
        <p:nvSpPr>
          <p:cNvPr id="19" name="object 19"/>
          <p:cNvSpPr txBox="1"/>
          <p:nvPr/>
        </p:nvSpPr>
        <p:spPr>
          <a:xfrm>
            <a:off x="682625" y="5749926"/>
            <a:ext cx="2609215" cy="151323"/>
          </a:xfrm>
          <a:prstGeom prst="rect">
            <a:avLst/>
          </a:prstGeom>
        </p:spPr>
        <p:txBody>
          <a:bodyPr vert="horz" wrap="square" lIns="0" tIns="12700" rIns="0" bIns="0" rtlCol="0">
            <a:spAutoFit/>
          </a:bodyPr>
          <a:lstStyle/>
          <a:p>
            <a:pPr marL="12700">
              <a:spcBef>
                <a:spcPts val="100"/>
              </a:spcBef>
            </a:pPr>
            <a:r>
              <a:rPr sz="900" i="1" spc="-40" dirty="0">
                <a:solidFill>
                  <a:srgbClr val="6A7280"/>
                </a:solidFill>
                <a:latin typeface="Courier New" panose="02070309020205020404"/>
                <a:cs typeface="Courier New" panose="02070309020205020404"/>
              </a:rPr>
              <a:t>Status:</a:t>
            </a:r>
            <a:r>
              <a:rPr sz="900" i="1" spc="-60" dirty="0">
                <a:solidFill>
                  <a:srgbClr val="6A7280"/>
                </a:solidFill>
                <a:latin typeface="Courier New" panose="02070309020205020404"/>
                <a:cs typeface="Courier New" panose="02070309020205020404"/>
              </a:rPr>
              <a:t> </a:t>
            </a:r>
            <a:r>
              <a:rPr sz="900" i="1" spc="-45" dirty="0">
                <a:solidFill>
                  <a:srgbClr val="6A7280"/>
                </a:solidFill>
                <a:latin typeface="Courier New" panose="02070309020205020404"/>
                <a:cs typeface="Courier New" panose="02070309020205020404"/>
              </a:rPr>
              <a:t>Hierarchical</a:t>
            </a:r>
            <a:r>
              <a:rPr sz="900" i="1" spc="-55" dirty="0">
                <a:solidFill>
                  <a:srgbClr val="6A7280"/>
                </a:solidFill>
                <a:latin typeface="Courier New" panose="02070309020205020404"/>
                <a:cs typeface="Courier New" panose="02070309020205020404"/>
              </a:rPr>
              <a:t> </a:t>
            </a:r>
            <a:r>
              <a:rPr sz="900" i="1" spc="-45" dirty="0">
                <a:solidFill>
                  <a:srgbClr val="6A7280"/>
                </a:solidFill>
                <a:latin typeface="Courier New" panose="02070309020205020404"/>
                <a:cs typeface="Courier New" panose="02070309020205020404"/>
              </a:rPr>
              <a:t>Decomposition</a:t>
            </a:r>
            <a:r>
              <a:rPr sz="900" i="1" spc="-55" dirty="0">
                <a:solidFill>
                  <a:srgbClr val="6A7280"/>
                </a:solidFill>
                <a:latin typeface="Courier New" panose="02070309020205020404"/>
                <a:cs typeface="Courier New" panose="02070309020205020404"/>
              </a:rPr>
              <a:t> </a:t>
            </a:r>
            <a:r>
              <a:rPr sz="900" i="1" spc="-20" dirty="0">
                <a:solidFill>
                  <a:srgbClr val="6A7280"/>
                </a:solidFill>
                <a:latin typeface="Courier New" panose="02070309020205020404"/>
                <a:cs typeface="Courier New" panose="02070309020205020404"/>
              </a:rPr>
              <a:t>Active</a:t>
            </a:r>
            <a:endParaRPr sz="900">
              <a:latin typeface="Courier New" panose="02070309020205020404"/>
              <a:cs typeface="Courier New" panose="02070309020205020404"/>
            </a:endParaRPr>
          </a:p>
        </p:txBody>
      </p:sp>
      <p:grpSp>
        <p:nvGrpSpPr>
          <p:cNvPr id="20" name="object 20"/>
          <p:cNvGrpSpPr/>
          <p:nvPr/>
        </p:nvGrpSpPr>
        <p:grpSpPr>
          <a:xfrm>
            <a:off x="4295775" y="1647824"/>
            <a:ext cx="3600450" cy="4514850"/>
            <a:chOff x="4295775" y="1352549"/>
            <a:chExt cx="3600450" cy="4514850"/>
          </a:xfrm>
        </p:grpSpPr>
        <p:sp>
          <p:nvSpPr>
            <p:cNvPr id="21" name="object 21"/>
            <p:cNvSpPr/>
            <p:nvPr/>
          </p:nvSpPr>
          <p:spPr>
            <a:xfrm>
              <a:off x="4300537" y="1357312"/>
              <a:ext cx="3590925" cy="4505325"/>
            </a:xfrm>
            <a:custGeom>
              <a:avLst/>
              <a:gdLst/>
              <a:ahLst/>
              <a:cxnLst/>
              <a:rect l="l" t="t" r="r" b="b"/>
              <a:pathLst>
                <a:path w="3590925" h="4505325">
                  <a:moveTo>
                    <a:pt x="3488579" y="4505324"/>
                  </a:moveTo>
                  <a:lnTo>
                    <a:pt x="102345" y="4505324"/>
                  </a:lnTo>
                  <a:lnTo>
                    <a:pt x="95221" y="4504622"/>
                  </a:lnTo>
                  <a:lnTo>
                    <a:pt x="54661" y="4490859"/>
                  </a:lnTo>
                  <a:lnTo>
                    <a:pt x="22456" y="4462622"/>
                  </a:lnTo>
                  <a:lnTo>
                    <a:pt x="3507" y="4424210"/>
                  </a:lnTo>
                  <a:lnTo>
                    <a:pt x="0" y="4402979"/>
                  </a:lnTo>
                  <a:lnTo>
                    <a:pt x="0" y="4395787"/>
                  </a:lnTo>
                  <a:lnTo>
                    <a:pt x="0" y="102345"/>
                  </a:lnTo>
                  <a:lnTo>
                    <a:pt x="11090" y="60974"/>
                  </a:lnTo>
                  <a:lnTo>
                    <a:pt x="37168" y="26997"/>
                  </a:lnTo>
                  <a:lnTo>
                    <a:pt x="74264" y="5585"/>
                  </a:lnTo>
                  <a:lnTo>
                    <a:pt x="102345" y="0"/>
                  </a:lnTo>
                  <a:lnTo>
                    <a:pt x="3488579" y="0"/>
                  </a:lnTo>
                  <a:lnTo>
                    <a:pt x="3529949" y="11090"/>
                  </a:lnTo>
                  <a:lnTo>
                    <a:pt x="3563927" y="37168"/>
                  </a:lnTo>
                  <a:lnTo>
                    <a:pt x="3585338" y="74264"/>
                  </a:lnTo>
                  <a:lnTo>
                    <a:pt x="3590924" y="102345"/>
                  </a:lnTo>
                  <a:lnTo>
                    <a:pt x="3590924" y="4402979"/>
                  </a:lnTo>
                  <a:lnTo>
                    <a:pt x="3579833" y="4444349"/>
                  </a:lnTo>
                  <a:lnTo>
                    <a:pt x="3553756" y="4478327"/>
                  </a:lnTo>
                  <a:lnTo>
                    <a:pt x="3516660" y="4499738"/>
                  </a:lnTo>
                  <a:lnTo>
                    <a:pt x="3495702" y="4504622"/>
                  </a:lnTo>
                  <a:lnTo>
                    <a:pt x="3488579" y="4505324"/>
                  </a:lnTo>
                  <a:close/>
                </a:path>
              </a:pathLst>
            </a:custGeom>
            <a:solidFill>
              <a:srgbClr val="F9FAFA"/>
            </a:solidFill>
          </p:spPr>
          <p:txBody>
            <a:bodyPr wrap="square" lIns="0" tIns="0" rIns="0" bIns="0" rtlCol="0"/>
            <a:lstStyle/>
            <a:p/>
          </p:txBody>
        </p:sp>
        <p:sp>
          <p:nvSpPr>
            <p:cNvPr id="22" name="object 22"/>
            <p:cNvSpPr/>
            <p:nvPr/>
          </p:nvSpPr>
          <p:spPr>
            <a:xfrm>
              <a:off x="4300537" y="1357312"/>
              <a:ext cx="3590925" cy="4505325"/>
            </a:xfrm>
            <a:custGeom>
              <a:avLst/>
              <a:gdLst/>
              <a:ahLst/>
              <a:cxnLst/>
              <a:rect l="l" t="t" r="r" b="b"/>
              <a:pathLst>
                <a:path w="3590925" h="4505325">
                  <a:moveTo>
                    <a:pt x="0" y="43957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81387" y="0"/>
                  </a:lnTo>
                  <a:lnTo>
                    <a:pt x="3488579" y="0"/>
                  </a:lnTo>
                  <a:lnTo>
                    <a:pt x="3495702" y="701"/>
                  </a:lnTo>
                  <a:lnTo>
                    <a:pt x="3502756" y="2104"/>
                  </a:lnTo>
                  <a:lnTo>
                    <a:pt x="3509810" y="3507"/>
                  </a:lnTo>
                  <a:lnTo>
                    <a:pt x="3516660" y="5585"/>
                  </a:lnTo>
                  <a:lnTo>
                    <a:pt x="3523305" y="8338"/>
                  </a:lnTo>
                  <a:lnTo>
                    <a:pt x="3529949" y="11090"/>
                  </a:lnTo>
                  <a:lnTo>
                    <a:pt x="3536262" y="14464"/>
                  </a:lnTo>
                  <a:lnTo>
                    <a:pt x="3542242" y="18460"/>
                  </a:lnTo>
                  <a:lnTo>
                    <a:pt x="3548223" y="22456"/>
                  </a:lnTo>
                  <a:lnTo>
                    <a:pt x="3553756" y="26997"/>
                  </a:lnTo>
                  <a:lnTo>
                    <a:pt x="3558841" y="32082"/>
                  </a:lnTo>
                  <a:lnTo>
                    <a:pt x="3563927" y="37168"/>
                  </a:lnTo>
                  <a:lnTo>
                    <a:pt x="3568468" y="42701"/>
                  </a:lnTo>
                  <a:lnTo>
                    <a:pt x="3572463" y="48681"/>
                  </a:lnTo>
                  <a:lnTo>
                    <a:pt x="3576459" y="54661"/>
                  </a:lnTo>
                  <a:lnTo>
                    <a:pt x="3579833" y="60974"/>
                  </a:lnTo>
                  <a:lnTo>
                    <a:pt x="3582585" y="67619"/>
                  </a:lnTo>
                  <a:lnTo>
                    <a:pt x="3585338" y="74264"/>
                  </a:lnTo>
                  <a:lnTo>
                    <a:pt x="3587416" y="81113"/>
                  </a:lnTo>
                  <a:lnTo>
                    <a:pt x="3588819" y="88167"/>
                  </a:lnTo>
                  <a:lnTo>
                    <a:pt x="3590223" y="95221"/>
                  </a:lnTo>
                  <a:lnTo>
                    <a:pt x="3590924" y="102345"/>
                  </a:lnTo>
                  <a:lnTo>
                    <a:pt x="3590924" y="109537"/>
                  </a:lnTo>
                  <a:lnTo>
                    <a:pt x="3590924" y="4395787"/>
                  </a:lnTo>
                  <a:lnTo>
                    <a:pt x="3590924" y="4402979"/>
                  </a:lnTo>
                  <a:lnTo>
                    <a:pt x="3590223" y="4410102"/>
                  </a:lnTo>
                  <a:lnTo>
                    <a:pt x="3588819" y="4417156"/>
                  </a:lnTo>
                  <a:lnTo>
                    <a:pt x="3587416" y="4424210"/>
                  </a:lnTo>
                  <a:lnTo>
                    <a:pt x="3585338" y="4431060"/>
                  </a:lnTo>
                  <a:lnTo>
                    <a:pt x="3582586" y="4437704"/>
                  </a:lnTo>
                  <a:lnTo>
                    <a:pt x="3579833" y="4444349"/>
                  </a:lnTo>
                  <a:lnTo>
                    <a:pt x="3576459" y="4450662"/>
                  </a:lnTo>
                  <a:lnTo>
                    <a:pt x="3572463" y="4456642"/>
                  </a:lnTo>
                  <a:lnTo>
                    <a:pt x="3568468" y="4462622"/>
                  </a:lnTo>
                  <a:lnTo>
                    <a:pt x="3542242" y="4486863"/>
                  </a:lnTo>
                  <a:lnTo>
                    <a:pt x="3536262" y="4490859"/>
                  </a:lnTo>
                  <a:lnTo>
                    <a:pt x="3529949" y="4494233"/>
                  </a:lnTo>
                  <a:lnTo>
                    <a:pt x="3523304" y="4496986"/>
                  </a:lnTo>
                  <a:lnTo>
                    <a:pt x="3516660" y="4499738"/>
                  </a:lnTo>
                  <a:lnTo>
                    <a:pt x="3481387" y="4505324"/>
                  </a:lnTo>
                  <a:lnTo>
                    <a:pt x="109537" y="4505324"/>
                  </a:lnTo>
                  <a:lnTo>
                    <a:pt x="67619" y="4496985"/>
                  </a:lnTo>
                  <a:lnTo>
                    <a:pt x="60974" y="4494233"/>
                  </a:lnTo>
                  <a:lnTo>
                    <a:pt x="54661" y="4490859"/>
                  </a:lnTo>
                  <a:lnTo>
                    <a:pt x="48681" y="4486863"/>
                  </a:lnTo>
                  <a:lnTo>
                    <a:pt x="42701" y="4482867"/>
                  </a:lnTo>
                  <a:lnTo>
                    <a:pt x="18460" y="4456642"/>
                  </a:lnTo>
                  <a:lnTo>
                    <a:pt x="14464" y="4450662"/>
                  </a:lnTo>
                  <a:lnTo>
                    <a:pt x="2104" y="4417156"/>
                  </a:lnTo>
                  <a:lnTo>
                    <a:pt x="701" y="4410102"/>
                  </a:lnTo>
                  <a:lnTo>
                    <a:pt x="0" y="4402979"/>
                  </a:lnTo>
                  <a:lnTo>
                    <a:pt x="0" y="4395787"/>
                  </a:lnTo>
                  <a:close/>
                </a:path>
              </a:pathLst>
            </a:custGeom>
            <a:ln w="9524">
              <a:solidFill>
                <a:srgbClr val="E4E7EB"/>
              </a:solidFill>
            </a:ln>
          </p:spPr>
          <p:txBody>
            <a:bodyPr wrap="square" lIns="0" tIns="0" rIns="0" bIns="0" rtlCol="0"/>
            <a:lstStyle/>
            <a:p/>
          </p:txBody>
        </p:sp>
        <p:sp>
          <p:nvSpPr>
            <p:cNvPr id="23" name="object 23"/>
            <p:cNvSpPr/>
            <p:nvPr/>
          </p:nvSpPr>
          <p:spPr>
            <a:xfrm>
              <a:off x="4538662" y="1604962"/>
              <a:ext cx="704850" cy="238125"/>
            </a:xfrm>
            <a:custGeom>
              <a:avLst/>
              <a:gdLst/>
              <a:ahLst/>
              <a:cxnLst/>
              <a:rect l="l" t="t" r="r" b="b"/>
              <a:pathLst>
                <a:path w="704850" h="238125">
                  <a:moveTo>
                    <a:pt x="0" y="204787"/>
                  </a:moveTo>
                  <a:lnTo>
                    <a:pt x="0" y="33337"/>
                  </a:lnTo>
                  <a:lnTo>
                    <a:pt x="0" y="28916"/>
                  </a:lnTo>
                  <a:lnTo>
                    <a:pt x="845" y="24664"/>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671512" y="0"/>
                  </a:lnTo>
                  <a:lnTo>
                    <a:pt x="675933" y="0"/>
                  </a:lnTo>
                  <a:lnTo>
                    <a:pt x="680185" y="845"/>
                  </a:lnTo>
                  <a:lnTo>
                    <a:pt x="704849" y="33337"/>
                  </a:lnTo>
                  <a:lnTo>
                    <a:pt x="704849" y="204787"/>
                  </a:lnTo>
                  <a:lnTo>
                    <a:pt x="704849" y="209208"/>
                  </a:lnTo>
                  <a:lnTo>
                    <a:pt x="704004" y="213460"/>
                  </a:lnTo>
                  <a:lnTo>
                    <a:pt x="702312" y="217545"/>
                  </a:lnTo>
                  <a:lnTo>
                    <a:pt x="700620" y="221629"/>
                  </a:lnTo>
                  <a:lnTo>
                    <a:pt x="684270" y="235587"/>
                  </a:lnTo>
                  <a:lnTo>
                    <a:pt x="680185" y="237279"/>
                  </a:lnTo>
                  <a:lnTo>
                    <a:pt x="675933" y="238124"/>
                  </a:lnTo>
                  <a:lnTo>
                    <a:pt x="671512" y="238124"/>
                  </a:lnTo>
                  <a:lnTo>
                    <a:pt x="33337" y="238124"/>
                  </a:lnTo>
                  <a:lnTo>
                    <a:pt x="28916" y="238124"/>
                  </a:lnTo>
                  <a:lnTo>
                    <a:pt x="24664" y="237279"/>
                  </a:lnTo>
                  <a:lnTo>
                    <a:pt x="20579" y="235587"/>
                  </a:lnTo>
                  <a:lnTo>
                    <a:pt x="16495" y="233895"/>
                  </a:lnTo>
                  <a:lnTo>
                    <a:pt x="0" y="209208"/>
                  </a:lnTo>
                  <a:lnTo>
                    <a:pt x="0" y="204787"/>
                  </a:lnTo>
                  <a:close/>
                </a:path>
              </a:pathLst>
            </a:custGeom>
            <a:ln w="9524">
              <a:solidFill>
                <a:srgbClr val="000000"/>
              </a:solidFill>
            </a:ln>
          </p:spPr>
          <p:txBody>
            <a:bodyPr wrap="square" lIns="0" tIns="0" rIns="0" bIns="0" rtlCol="0"/>
            <a:lstStyle/>
            <a:p/>
          </p:txBody>
        </p:sp>
      </p:grpSp>
      <p:sp>
        <p:nvSpPr>
          <p:cNvPr id="24" name="object 24"/>
          <p:cNvSpPr txBox="1"/>
          <p:nvPr/>
        </p:nvSpPr>
        <p:spPr>
          <a:xfrm>
            <a:off x="4603651" y="1920876"/>
            <a:ext cx="574675" cy="151323"/>
          </a:xfrm>
          <a:prstGeom prst="rect">
            <a:avLst/>
          </a:prstGeom>
        </p:spPr>
        <p:txBody>
          <a:bodyPr vert="horz" wrap="square" lIns="0" tIns="12700" rIns="0" bIns="0" rtlCol="0">
            <a:spAutoFit/>
          </a:bodyPr>
          <a:lstStyle/>
          <a:p>
            <a:pPr marL="12700">
              <a:spcBef>
                <a:spcPts val="100"/>
              </a:spcBef>
            </a:pPr>
            <a:r>
              <a:rPr sz="900" dirty="0">
                <a:solidFill>
                  <a:srgbClr val="6A7280"/>
                </a:solidFill>
                <a:latin typeface="Courier New" panose="02070309020205020404"/>
                <a:cs typeface="Courier New" panose="02070309020205020404"/>
              </a:rPr>
              <a:t>STAGE </a:t>
            </a:r>
            <a:r>
              <a:rPr sz="900" spc="-25" dirty="0">
                <a:solidFill>
                  <a:srgbClr val="6A7280"/>
                </a:solidFill>
                <a:latin typeface="Courier New" panose="02070309020205020404"/>
                <a:cs typeface="Courier New" panose="02070309020205020404"/>
              </a:rPr>
              <a:t>02</a:t>
            </a:r>
            <a:endParaRPr sz="900">
              <a:latin typeface="Courier New" panose="02070309020205020404"/>
              <a:cs typeface="Courier New" panose="02070309020205020404"/>
            </a:endParaRPr>
          </a:p>
        </p:txBody>
      </p:sp>
      <p:sp>
        <p:nvSpPr>
          <p:cNvPr id="25" name="object 25"/>
          <p:cNvSpPr txBox="1"/>
          <p:nvPr/>
        </p:nvSpPr>
        <p:spPr>
          <a:xfrm>
            <a:off x="5352405" y="1873250"/>
            <a:ext cx="1330325" cy="243656"/>
          </a:xfrm>
          <a:prstGeom prst="rect">
            <a:avLst/>
          </a:prstGeom>
        </p:spPr>
        <p:txBody>
          <a:bodyPr vert="horz" wrap="square" lIns="0" tIns="12700" rIns="0" bIns="0" rtlCol="0">
            <a:spAutoFit/>
          </a:bodyPr>
          <a:lstStyle/>
          <a:p>
            <a:pPr marL="12700">
              <a:spcBef>
                <a:spcPts val="100"/>
              </a:spcBef>
            </a:pPr>
            <a:r>
              <a:rPr sz="1500" spc="-45" dirty="0">
                <a:latin typeface="宋体" panose="02010600030101010101" pitchFamily="2" charset="-122"/>
                <a:cs typeface="宋体" panose="02010600030101010101" pitchFamily="2" charset="-122"/>
              </a:rPr>
              <a:t>自适应路由分配</a:t>
            </a:r>
            <a:endParaRPr sz="1500">
              <a:latin typeface="宋体" panose="02010600030101010101" pitchFamily="2" charset="-122"/>
              <a:cs typeface="宋体" panose="02010600030101010101" pitchFamily="2" charset="-122"/>
            </a:endParaRPr>
          </a:p>
        </p:txBody>
      </p:sp>
      <p:grpSp>
        <p:nvGrpSpPr>
          <p:cNvPr id="26" name="object 26"/>
          <p:cNvGrpSpPr/>
          <p:nvPr/>
        </p:nvGrpSpPr>
        <p:grpSpPr>
          <a:xfrm>
            <a:off x="4533899" y="2686050"/>
            <a:ext cx="3124200" cy="2105025"/>
            <a:chOff x="4533899" y="2390774"/>
            <a:chExt cx="3124200" cy="2105025"/>
          </a:xfrm>
        </p:grpSpPr>
        <p:sp>
          <p:nvSpPr>
            <p:cNvPr id="27" name="object 27"/>
            <p:cNvSpPr/>
            <p:nvPr/>
          </p:nvSpPr>
          <p:spPr>
            <a:xfrm>
              <a:off x="4538662" y="2395537"/>
              <a:ext cx="3114675" cy="1114425"/>
            </a:xfrm>
            <a:custGeom>
              <a:avLst/>
              <a:gdLst/>
              <a:ahLst/>
              <a:cxnLst/>
              <a:rect l="l" t="t" r="r" b="b"/>
              <a:pathLst>
                <a:path w="3114675" h="1114425">
                  <a:moveTo>
                    <a:pt x="3085757" y="1114424"/>
                  </a:moveTo>
                  <a:lnTo>
                    <a:pt x="28916" y="1114424"/>
                  </a:lnTo>
                  <a:lnTo>
                    <a:pt x="24664" y="1113578"/>
                  </a:lnTo>
                  <a:lnTo>
                    <a:pt x="0" y="1085508"/>
                  </a:lnTo>
                  <a:lnTo>
                    <a:pt x="0" y="1081087"/>
                  </a:lnTo>
                  <a:lnTo>
                    <a:pt x="0" y="28916"/>
                  </a:lnTo>
                  <a:lnTo>
                    <a:pt x="28916" y="0"/>
                  </a:lnTo>
                  <a:lnTo>
                    <a:pt x="3085757" y="0"/>
                  </a:lnTo>
                  <a:lnTo>
                    <a:pt x="3114674" y="28916"/>
                  </a:lnTo>
                  <a:lnTo>
                    <a:pt x="3114674" y="1085508"/>
                  </a:lnTo>
                  <a:lnTo>
                    <a:pt x="3090009" y="1113578"/>
                  </a:lnTo>
                  <a:lnTo>
                    <a:pt x="3085757" y="1114424"/>
                  </a:lnTo>
                  <a:close/>
                </a:path>
              </a:pathLst>
            </a:custGeom>
            <a:solidFill>
              <a:srgbClr val="FFFFFF"/>
            </a:solidFill>
          </p:spPr>
          <p:txBody>
            <a:bodyPr wrap="square" lIns="0" tIns="0" rIns="0" bIns="0" rtlCol="0"/>
            <a:lstStyle/>
            <a:p/>
          </p:txBody>
        </p:sp>
        <p:sp>
          <p:nvSpPr>
            <p:cNvPr id="28" name="object 28"/>
            <p:cNvSpPr/>
            <p:nvPr/>
          </p:nvSpPr>
          <p:spPr>
            <a:xfrm>
              <a:off x="4538662" y="2395537"/>
              <a:ext cx="3114675" cy="1114425"/>
            </a:xfrm>
            <a:custGeom>
              <a:avLst/>
              <a:gdLst/>
              <a:ahLst/>
              <a:cxnLst/>
              <a:rect l="l" t="t" r="r" b="b"/>
              <a:pathLst>
                <a:path w="3114675" h="1114425">
                  <a:moveTo>
                    <a:pt x="0" y="1081087"/>
                  </a:moveTo>
                  <a:lnTo>
                    <a:pt x="0" y="33337"/>
                  </a:lnTo>
                  <a:lnTo>
                    <a:pt x="0" y="28916"/>
                  </a:lnTo>
                  <a:lnTo>
                    <a:pt x="845" y="24663"/>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3081337" y="0"/>
                  </a:lnTo>
                  <a:lnTo>
                    <a:pt x="3085757" y="0"/>
                  </a:lnTo>
                  <a:lnTo>
                    <a:pt x="3090009" y="845"/>
                  </a:lnTo>
                  <a:lnTo>
                    <a:pt x="3114674" y="33337"/>
                  </a:lnTo>
                  <a:lnTo>
                    <a:pt x="3114674" y="1081087"/>
                  </a:lnTo>
                  <a:lnTo>
                    <a:pt x="3090009" y="1113578"/>
                  </a:lnTo>
                  <a:lnTo>
                    <a:pt x="3081337" y="1114424"/>
                  </a:lnTo>
                  <a:lnTo>
                    <a:pt x="33337" y="1114424"/>
                  </a:lnTo>
                  <a:lnTo>
                    <a:pt x="845" y="1089760"/>
                  </a:lnTo>
                  <a:lnTo>
                    <a:pt x="0" y="1085508"/>
                  </a:lnTo>
                  <a:lnTo>
                    <a:pt x="0" y="1081087"/>
                  </a:lnTo>
                  <a:close/>
                </a:path>
              </a:pathLst>
            </a:custGeom>
            <a:ln w="9524">
              <a:solidFill>
                <a:srgbClr val="F2F4F5"/>
              </a:solidFill>
            </a:ln>
          </p:spPr>
          <p:txBody>
            <a:bodyPr wrap="square" lIns="0" tIns="0" rIns="0" bIns="0" rtlCol="0"/>
            <a:lstStyle/>
            <a:p/>
          </p:txBody>
        </p:sp>
        <p:sp>
          <p:nvSpPr>
            <p:cNvPr id="29" name="object 29"/>
            <p:cNvSpPr/>
            <p:nvPr/>
          </p:nvSpPr>
          <p:spPr>
            <a:xfrm>
              <a:off x="4538662" y="3748087"/>
              <a:ext cx="3114675" cy="742950"/>
            </a:xfrm>
            <a:custGeom>
              <a:avLst/>
              <a:gdLst/>
              <a:ahLst/>
              <a:cxnLst/>
              <a:rect l="l" t="t" r="r" b="b"/>
              <a:pathLst>
                <a:path w="3114675" h="742950">
                  <a:moveTo>
                    <a:pt x="3047927" y="742949"/>
                  </a:moveTo>
                  <a:lnTo>
                    <a:pt x="66746" y="742949"/>
                  </a:lnTo>
                  <a:lnTo>
                    <a:pt x="62101" y="742492"/>
                  </a:lnTo>
                  <a:lnTo>
                    <a:pt x="24240" y="725342"/>
                  </a:lnTo>
                  <a:lnTo>
                    <a:pt x="2287" y="690049"/>
                  </a:lnTo>
                  <a:lnTo>
                    <a:pt x="0" y="676202"/>
                  </a:lnTo>
                  <a:lnTo>
                    <a:pt x="0" y="671512"/>
                  </a:lnTo>
                  <a:lnTo>
                    <a:pt x="0" y="66746"/>
                  </a:lnTo>
                  <a:lnTo>
                    <a:pt x="14645" y="27848"/>
                  </a:lnTo>
                  <a:lnTo>
                    <a:pt x="48433" y="3642"/>
                  </a:lnTo>
                  <a:lnTo>
                    <a:pt x="66746" y="0"/>
                  </a:lnTo>
                  <a:lnTo>
                    <a:pt x="3047927" y="0"/>
                  </a:lnTo>
                  <a:lnTo>
                    <a:pt x="3086825" y="14645"/>
                  </a:lnTo>
                  <a:lnTo>
                    <a:pt x="3111031" y="48433"/>
                  </a:lnTo>
                  <a:lnTo>
                    <a:pt x="3114674" y="66746"/>
                  </a:lnTo>
                  <a:lnTo>
                    <a:pt x="3114674" y="676202"/>
                  </a:lnTo>
                  <a:lnTo>
                    <a:pt x="3100028" y="715100"/>
                  </a:lnTo>
                  <a:lnTo>
                    <a:pt x="3066241" y="739306"/>
                  </a:lnTo>
                  <a:lnTo>
                    <a:pt x="3052572" y="742492"/>
                  </a:lnTo>
                  <a:lnTo>
                    <a:pt x="3047927" y="742949"/>
                  </a:lnTo>
                  <a:close/>
                </a:path>
              </a:pathLst>
            </a:custGeom>
            <a:solidFill>
              <a:srgbClr val="FFFFFF">
                <a:alpha val="50199"/>
              </a:srgbClr>
            </a:solidFill>
          </p:spPr>
          <p:txBody>
            <a:bodyPr wrap="square" lIns="0" tIns="0" rIns="0" bIns="0" rtlCol="0"/>
            <a:lstStyle/>
            <a:p/>
          </p:txBody>
        </p:sp>
        <p:sp>
          <p:nvSpPr>
            <p:cNvPr id="30" name="object 30"/>
            <p:cNvSpPr/>
            <p:nvPr/>
          </p:nvSpPr>
          <p:spPr>
            <a:xfrm>
              <a:off x="4538662" y="3748087"/>
              <a:ext cx="3114675" cy="742950"/>
            </a:xfrm>
            <a:custGeom>
              <a:avLst/>
              <a:gdLst/>
              <a:ahLst/>
              <a:cxnLst/>
              <a:rect l="l" t="t" r="r" b="b"/>
              <a:pathLst>
                <a:path w="3114675" h="742950">
                  <a:moveTo>
                    <a:pt x="0" y="671512"/>
                  </a:moveTo>
                  <a:lnTo>
                    <a:pt x="0" y="71437"/>
                  </a:lnTo>
                  <a:lnTo>
                    <a:pt x="0" y="66746"/>
                  </a:lnTo>
                  <a:lnTo>
                    <a:pt x="457" y="62101"/>
                  </a:lnTo>
                  <a:lnTo>
                    <a:pt x="12039" y="31748"/>
                  </a:lnTo>
                  <a:lnTo>
                    <a:pt x="14645" y="27848"/>
                  </a:lnTo>
                  <a:lnTo>
                    <a:pt x="17606" y="24239"/>
                  </a:lnTo>
                  <a:lnTo>
                    <a:pt x="20923" y="20923"/>
                  </a:lnTo>
                  <a:lnTo>
                    <a:pt x="24240" y="17606"/>
                  </a:lnTo>
                  <a:lnTo>
                    <a:pt x="62101" y="457"/>
                  </a:lnTo>
                  <a:lnTo>
                    <a:pt x="66746" y="0"/>
                  </a:lnTo>
                  <a:lnTo>
                    <a:pt x="71437" y="0"/>
                  </a:lnTo>
                  <a:lnTo>
                    <a:pt x="3043237" y="0"/>
                  </a:lnTo>
                  <a:lnTo>
                    <a:pt x="3047927" y="0"/>
                  </a:lnTo>
                  <a:lnTo>
                    <a:pt x="3052572" y="457"/>
                  </a:lnTo>
                  <a:lnTo>
                    <a:pt x="3090434" y="17606"/>
                  </a:lnTo>
                  <a:lnTo>
                    <a:pt x="3102635" y="31748"/>
                  </a:lnTo>
                  <a:lnTo>
                    <a:pt x="3105241" y="35648"/>
                  </a:lnTo>
                  <a:lnTo>
                    <a:pt x="3113301" y="57500"/>
                  </a:lnTo>
                  <a:lnTo>
                    <a:pt x="3114216" y="62101"/>
                  </a:lnTo>
                  <a:lnTo>
                    <a:pt x="3114674" y="66746"/>
                  </a:lnTo>
                  <a:lnTo>
                    <a:pt x="3114674" y="71437"/>
                  </a:lnTo>
                  <a:lnTo>
                    <a:pt x="3114674" y="671512"/>
                  </a:lnTo>
                  <a:lnTo>
                    <a:pt x="3114674" y="676202"/>
                  </a:lnTo>
                  <a:lnTo>
                    <a:pt x="3114217" y="680848"/>
                  </a:lnTo>
                  <a:lnTo>
                    <a:pt x="3097067" y="718709"/>
                  </a:lnTo>
                  <a:lnTo>
                    <a:pt x="3061773" y="740662"/>
                  </a:lnTo>
                  <a:lnTo>
                    <a:pt x="3047927" y="742949"/>
                  </a:lnTo>
                  <a:lnTo>
                    <a:pt x="3043237" y="742949"/>
                  </a:lnTo>
                  <a:lnTo>
                    <a:pt x="71437" y="742949"/>
                  </a:lnTo>
                  <a:lnTo>
                    <a:pt x="66746" y="742949"/>
                  </a:lnTo>
                  <a:lnTo>
                    <a:pt x="62101" y="742492"/>
                  </a:lnTo>
                  <a:lnTo>
                    <a:pt x="24240" y="725342"/>
                  </a:lnTo>
                  <a:lnTo>
                    <a:pt x="2287" y="690049"/>
                  </a:lnTo>
                  <a:lnTo>
                    <a:pt x="0" y="676202"/>
                  </a:lnTo>
                  <a:lnTo>
                    <a:pt x="0" y="671512"/>
                  </a:lnTo>
                  <a:close/>
                </a:path>
              </a:pathLst>
            </a:custGeom>
            <a:ln w="9524">
              <a:solidFill>
                <a:srgbClr val="F2F4F5"/>
              </a:solidFill>
            </a:ln>
          </p:spPr>
          <p:txBody>
            <a:bodyPr wrap="square" lIns="0" tIns="0" rIns="0" bIns="0" rtlCol="0"/>
            <a:lstStyle/>
            <a:p/>
          </p:txBody>
        </p:sp>
      </p:grpSp>
      <p:sp>
        <p:nvSpPr>
          <p:cNvPr id="31" name="object 31"/>
          <p:cNvSpPr txBox="1"/>
          <p:nvPr/>
        </p:nvSpPr>
        <p:spPr>
          <a:xfrm>
            <a:off x="4517926" y="2416176"/>
            <a:ext cx="917575" cy="151323"/>
          </a:xfrm>
          <a:prstGeom prst="rect">
            <a:avLst/>
          </a:prstGeom>
        </p:spPr>
        <p:txBody>
          <a:bodyPr vert="horz" wrap="square" lIns="0" tIns="12700" rIns="0" bIns="0" rtlCol="0">
            <a:spAutoFit/>
          </a:bodyPr>
          <a:lstStyle/>
          <a:p>
            <a:pPr marL="12700">
              <a:spcBef>
                <a:spcPts val="100"/>
              </a:spcBef>
            </a:pPr>
            <a:r>
              <a:rPr sz="900" dirty="0">
                <a:solidFill>
                  <a:srgbClr val="9CA2AF"/>
                </a:solidFill>
                <a:latin typeface="Courier New" panose="02070309020205020404"/>
                <a:cs typeface="Courier New" panose="02070309020205020404"/>
              </a:rPr>
              <a:t>ROUTING </a:t>
            </a:r>
            <a:r>
              <a:rPr sz="900" spc="-10" dirty="0">
                <a:solidFill>
                  <a:srgbClr val="9CA2AF"/>
                </a:solidFill>
                <a:latin typeface="Courier New" panose="02070309020205020404"/>
                <a:cs typeface="Courier New" panose="02070309020205020404"/>
              </a:rPr>
              <a:t>LOGIC</a:t>
            </a:r>
            <a:endParaRPr sz="900">
              <a:latin typeface="Courier New" panose="02070309020205020404"/>
              <a:cs typeface="Courier New" panose="02070309020205020404"/>
            </a:endParaRPr>
          </a:p>
        </p:txBody>
      </p:sp>
      <p:sp>
        <p:nvSpPr>
          <p:cNvPr id="32" name="object 32"/>
          <p:cNvSpPr txBox="1"/>
          <p:nvPr/>
        </p:nvSpPr>
        <p:spPr>
          <a:xfrm>
            <a:off x="6459685" y="3338195"/>
            <a:ext cx="215900" cy="141064"/>
          </a:xfrm>
          <a:prstGeom prst="rect">
            <a:avLst/>
          </a:prstGeom>
        </p:spPr>
        <p:txBody>
          <a:bodyPr vert="horz" wrap="square" lIns="0" tIns="17780" rIns="0" bIns="0" rtlCol="0">
            <a:spAutoFit/>
          </a:bodyPr>
          <a:lstStyle/>
          <a:p>
            <a:pPr marL="12700">
              <a:spcBef>
                <a:spcPts val="140"/>
              </a:spcBef>
            </a:pPr>
            <a:r>
              <a:rPr sz="800" i="1" spc="40" dirty="0">
                <a:latin typeface="Calibri" panose="020F0502020204030204"/>
                <a:cs typeface="Calibri" panose="020F0502020204030204"/>
              </a:rPr>
              <a:t>g</a:t>
            </a:r>
            <a:r>
              <a:rPr sz="800" spc="40" dirty="0">
                <a:latin typeface="Cambria" panose="02040503050406030204"/>
                <a:cs typeface="Cambria" panose="02040503050406030204"/>
              </a:rPr>
              <a:t>=1</a:t>
            </a:r>
            <a:endParaRPr sz="800">
              <a:latin typeface="Cambria" panose="02040503050406030204"/>
              <a:cs typeface="Cambria" panose="02040503050406030204"/>
            </a:endParaRPr>
          </a:p>
        </p:txBody>
      </p:sp>
      <p:sp>
        <p:nvSpPr>
          <p:cNvPr id="33" name="object 33"/>
          <p:cNvSpPr txBox="1"/>
          <p:nvPr/>
        </p:nvSpPr>
        <p:spPr>
          <a:xfrm>
            <a:off x="4889102" y="3115220"/>
            <a:ext cx="1905000" cy="197490"/>
          </a:xfrm>
          <a:prstGeom prst="rect">
            <a:avLst/>
          </a:prstGeom>
        </p:spPr>
        <p:txBody>
          <a:bodyPr vert="horz" wrap="square" lIns="0" tIns="12700" rIns="0" bIns="0" rtlCol="0">
            <a:spAutoFit/>
          </a:bodyPr>
          <a:lstStyle/>
          <a:p>
            <a:pPr marL="12700">
              <a:spcBef>
                <a:spcPts val="100"/>
              </a:spcBef>
            </a:pPr>
            <a:r>
              <a:rPr i="1" spc="142" baseline="2000" dirty="0">
                <a:latin typeface="Calibri" panose="020F0502020204030204"/>
                <a:cs typeface="Calibri" panose="020F0502020204030204"/>
              </a:rPr>
              <a:t>s</a:t>
            </a:r>
            <a:r>
              <a:rPr i="1" spc="187" baseline="2000" dirty="0">
                <a:latin typeface="Calibri" panose="020F0502020204030204"/>
                <a:cs typeface="Calibri" panose="020F0502020204030204"/>
              </a:rPr>
              <a:t> </a:t>
            </a:r>
            <a:r>
              <a:rPr spc="397" baseline="2000" dirty="0">
                <a:latin typeface="Cambria" panose="02040503050406030204"/>
                <a:cs typeface="Cambria" panose="02040503050406030204"/>
              </a:rPr>
              <a:t>=</a:t>
            </a:r>
            <a:r>
              <a:rPr spc="89" baseline="2000" dirty="0">
                <a:latin typeface="Cambria" panose="02040503050406030204"/>
                <a:cs typeface="Cambria" panose="02040503050406030204"/>
              </a:rPr>
              <a:t> </a:t>
            </a:r>
            <a:r>
              <a:rPr sz="1200" spc="-35" dirty="0">
                <a:latin typeface="Cambria" panose="02040503050406030204"/>
                <a:cs typeface="Cambria" panose="02040503050406030204"/>
              </a:rPr>
              <a:t>min</a:t>
            </a:r>
            <a:r>
              <a:rPr sz="1200" spc="-40" dirty="0">
                <a:latin typeface="Cambria" panose="02040503050406030204"/>
                <a:cs typeface="Cambria" panose="02040503050406030204"/>
              </a:rPr>
              <a:t> </a:t>
            </a:r>
            <a:r>
              <a:rPr baseline="2000" dirty="0">
                <a:latin typeface="Verdana" panose="020B0604030504040204"/>
                <a:cs typeface="Verdana" panose="020B0604030504040204"/>
              </a:rPr>
              <a:t>{</a:t>
            </a:r>
            <a:r>
              <a:rPr baseline="2000" dirty="0">
                <a:latin typeface="Cambria" panose="02040503050406030204"/>
                <a:cs typeface="Cambria" panose="02040503050406030204"/>
              </a:rPr>
              <a:t>ℓ</a:t>
            </a:r>
            <a:r>
              <a:rPr spc="179" baseline="2000" dirty="0">
                <a:latin typeface="Cambria" panose="02040503050406030204"/>
                <a:cs typeface="Cambria" panose="02040503050406030204"/>
              </a:rPr>
              <a:t> </a:t>
            </a:r>
            <a:r>
              <a:rPr baseline="2000" dirty="0">
                <a:latin typeface="Cambria" panose="02040503050406030204"/>
                <a:cs typeface="Cambria" panose="02040503050406030204"/>
              </a:rPr>
              <a:t>∈</a:t>
            </a:r>
            <a:r>
              <a:rPr spc="187" baseline="2000" dirty="0">
                <a:latin typeface="Cambria" panose="02040503050406030204"/>
                <a:cs typeface="Cambria" panose="02040503050406030204"/>
              </a:rPr>
              <a:t> </a:t>
            </a:r>
            <a:r>
              <a:rPr spc="75" baseline="2000" dirty="0">
                <a:latin typeface="Cambria" panose="02040503050406030204"/>
                <a:cs typeface="Cambria" panose="02040503050406030204"/>
              </a:rPr>
              <a:t>{1,</a:t>
            </a:r>
            <a:r>
              <a:rPr spc="-127" baseline="2000" dirty="0">
                <a:latin typeface="Cambria" panose="02040503050406030204"/>
                <a:cs typeface="Cambria" panose="02040503050406030204"/>
              </a:rPr>
              <a:t> </a:t>
            </a:r>
            <a:r>
              <a:rPr baseline="2000" dirty="0">
                <a:latin typeface="Cambria" panose="02040503050406030204"/>
                <a:cs typeface="Cambria" panose="02040503050406030204"/>
              </a:rPr>
              <a:t>2,</a:t>
            </a:r>
            <a:r>
              <a:rPr spc="-127" baseline="2000" dirty="0">
                <a:latin typeface="Cambria" panose="02040503050406030204"/>
                <a:cs typeface="Cambria" panose="02040503050406030204"/>
              </a:rPr>
              <a:t> </a:t>
            </a:r>
            <a:r>
              <a:rPr baseline="2000" dirty="0">
                <a:latin typeface="Cambria" panose="02040503050406030204"/>
                <a:cs typeface="Cambria" panose="02040503050406030204"/>
              </a:rPr>
              <a:t>3}</a:t>
            </a:r>
            <a:r>
              <a:rPr spc="135" baseline="2000" dirty="0">
                <a:latin typeface="Cambria" panose="02040503050406030204"/>
                <a:cs typeface="Cambria" panose="02040503050406030204"/>
              </a:rPr>
              <a:t> </a:t>
            </a:r>
            <a:r>
              <a:rPr baseline="2000" dirty="0">
                <a:latin typeface="Cambria" panose="02040503050406030204"/>
                <a:cs typeface="Cambria" panose="02040503050406030204"/>
              </a:rPr>
              <a:t>:</a:t>
            </a:r>
            <a:r>
              <a:rPr spc="97" baseline="2000" dirty="0">
                <a:latin typeface="Cambria" panose="02040503050406030204"/>
                <a:cs typeface="Cambria" panose="02040503050406030204"/>
              </a:rPr>
              <a:t> </a:t>
            </a:r>
            <a:r>
              <a:rPr spc="1312" baseline="2000" dirty="0">
                <a:latin typeface="Arial" panose="020B0604020202020204"/>
                <a:cs typeface="Arial" panose="020B0604020202020204"/>
              </a:rPr>
              <a:t>∑</a:t>
            </a:r>
            <a:r>
              <a:rPr spc="-195" baseline="2000" dirty="0">
                <a:latin typeface="Arial" panose="020B0604020202020204"/>
                <a:cs typeface="Arial" panose="020B0604020202020204"/>
              </a:rPr>
              <a:t> </a:t>
            </a:r>
            <a:r>
              <a:rPr i="1" spc="-75" baseline="2000" dirty="0">
                <a:latin typeface="Calibri" panose="020F0502020204030204"/>
                <a:cs typeface="Calibri" panose="020F0502020204030204"/>
              </a:rPr>
              <a:t>p</a:t>
            </a:r>
            <a:endParaRPr baseline="2000">
              <a:latin typeface="Calibri" panose="020F0502020204030204"/>
              <a:cs typeface="Calibri" panose="020F0502020204030204"/>
            </a:endParaRPr>
          </a:p>
        </p:txBody>
      </p:sp>
      <p:sp>
        <p:nvSpPr>
          <p:cNvPr id="34" name="object 34"/>
          <p:cNvSpPr txBox="1"/>
          <p:nvPr/>
        </p:nvSpPr>
        <p:spPr>
          <a:xfrm>
            <a:off x="6533059" y="2966720"/>
            <a:ext cx="70485" cy="141064"/>
          </a:xfrm>
          <a:prstGeom prst="rect">
            <a:avLst/>
          </a:prstGeom>
        </p:spPr>
        <p:txBody>
          <a:bodyPr vert="horz" wrap="square" lIns="0" tIns="17780" rIns="0" bIns="0" rtlCol="0">
            <a:spAutoFit/>
          </a:bodyPr>
          <a:lstStyle/>
          <a:p>
            <a:pPr marL="12700">
              <a:spcBef>
                <a:spcPts val="140"/>
              </a:spcBef>
            </a:pPr>
            <a:r>
              <a:rPr sz="800" spc="-50" dirty="0">
                <a:latin typeface="Cambria" panose="02040503050406030204"/>
                <a:cs typeface="Cambria" panose="02040503050406030204"/>
              </a:rPr>
              <a:t>ℓ</a:t>
            </a:r>
            <a:endParaRPr sz="800">
              <a:latin typeface="Cambria" panose="02040503050406030204"/>
              <a:cs typeface="Cambria" panose="02040503050406030204"/>
            </a:endParaRPr>
          </a:p>
        </p:txBody>
      </p:sp>
      <p:sp>
        <p:nvSpPr>
          <p:cNvPr id="35" name="object 35"/>
          <p:cNvSpPr txBox="1"/>
          <p:nvPr/>
        </p:nvSpPr>
        <p:spPr>
          <a:xfrm>
            <a:off x="6767909" y="3185795"/>
            <a:ext cx="119380" cy="141064"/>
          </a:xfrm>
          <a:prstGeom prst="rect">
            <a:avLst/>
          </a:prstGeom>
        </p:spPr>
        <p:txBody>
          <a:bodyPr vert="horz" wrap="square" lIns="0" tIns="17780" rIns="0" bIns="0" rtlCol="0">
            <a:spAutoFit/>
          </a:bodyPr>
          <a:lstStyle/>
          <a:p>
            <a:pPr marL="12700">
              <a:spcBef>
                <a:spcPts val="140"/>
              </a:spcBef>
            </a:pPr>
            <a:r>
              <a:rPr sz="800" i="1" spc="45" dirty="0">
                <a:latin typeface="Calibri" panose="020F0502020204030204"/>
                <a:cs typeface="Calibri" panose="020F0502020204030204"/>
              </a:rPr>
              <a:t>m</a:t>
            </a:r>
            <a:endParaRPr sz="800">
              <a:latin typeface="Calibri" panose="020F0502020204030204"/>
              <a:cs typeface="Calibri" panose="020F0502020204030204"/>
            </a:endParaRPr>
          </a:p>
        </p:txBody>
      </p:sp>
      <p:sp>
        <p:nvSpPr>
          <p:cNvPr id="36" name="object 36"/>
          <p:cNvSpPr txBox="1"/>
          <p:nvPr/>
        </p:nvSpPr>
        <p:spPr>
          <a:xfrm>
            <a:off x="6913016" y="3111500"/>
            <a:ext cx="388620" cy="197490"/>
          </a:xfrm>
          <a:prstGeom prst="rect">
            <a:avLst/>
          </a:prstGeom>
        </p:spPr>
        <p:txBody>
          <a:bodyPr vert="horz" wrap="square" lIns="0" tIns="12700" rIns="0" bIns="0" rtlCol="0">
            <a:spAutoFit/>
          </a:bodyPr>
          <a:lstStyle/>
          <a:p>
            <a:pPr marL="12700">
              <a:spcBef>
                <a:spcPts val="100"/>
              </a:spcBef>
            </a:pPr>
            <a:r>
              <a:rPr sz="1200" spc="265" dirty="0">
                <a:latin typeface="Cambria" panose="02040503050406030204"/>
                <a:cs typeface="Cambria" panose="02040503050406030204"/>
              </a:rPr>
              <a:t>≥</a:t>
            </a:r>
            <a:r>
              <a:rPr sz="1200" spc="35" dirty="0">
                <a:latin typeface="Cambria" panose="02040503050406030204"/>
                <a:cs typeface="Cambria" panose="02040503050406030204"/>
              </a:rPr>
              <a:t> </a:t>
            </a:r>
            <a:r>
              <a:rPr sz="1200" i="1" spc="60" dirty="0">
                <a:latin typeface="Calibri" panose="020F0502020204030204"/>
                <a:cs typeface="Calibri" panose="020F0502020204030204"/>
              </a:rPr>
              <a:t>τ</a:t>
            </a:r>
            <a:r>
              <a:rPr sz="1200" i="1" spc="-140" dirty="0">
                <a:latin typeface="Calibri" panose="020F0502020204030204"/>
                <a:cs typeface="Calibri" panose="020F0502020204030204"/>
              </a:rPr>
              <a:t> </a:t>
            </a:r>
            <a:r>
              <a:rPr sz="1200" spc="145" dirty="0">
                <a:latin typeface="Verdana" panose="020B0604030504040204"/>
                <a:cs typeface="Verdana" panose="020B0604030504040204"/>
              </a:rPr>
              <a:t>}</a:t>
            </a:r>
            <a:endParaRPr sz="1200">
              <a:latin typeface="Verdana" panose="020B0604030504040204"/>
              <a:cs typeface="Verdana" panose="020B0604030504040204"/>
            </a:endParaRPr>
          </a:p>
        </p:txBody>
      </p:sp>
      <p:sp>
        <p:nvSpPr>
          <p:cNvPr id="37" name="object 37"/>
          <p:cNvSpPr txBox="1"/>
          <p:nvPr/>
        </p:nvSpPr>
        <p:spPr>
          <a:xfrm>
            <a:off x="4679850" y="4129590"/>
            <a:ext cx="2818130" cy="421590"/>
          </a:xfrm>
          <a:prstGeom prst="rect">
            <a:avLst/>
          </a:prstGeom>
        </p:spPr>
        <p:txBody>
          <a:bodyPr vert="horz" wrap="square" lIns="0" tIns="11430" rIns="0" bIns="0" rtlCol="0">
            <a:spAutoFit/>
          </a:bodyPr>
          <a:lstStyle/>
          <a:p>
            <a:pPr marL="12700" marR="5080">
              <a:lnSpc>
                <a:spcPct val="137000"/>
              </a:lnSpc>
              <a:spcBef>
                <a:spcPts val="90"/>
              </a:spcBef>
            </a:pPr>
            <a:r>
              <a:rPr sz="1050" i="1" spc="-30" dirty="0">
                <a:solidFill>
                  <a:srgbClr val="4A5462"/>
                </a:solidFill>
                <a:latin typeface="宋体" panose="02010600030101010101" pitchFamily="2" charset="-122"/>
                <a:cs typeface="宋体" panose="02010600030101010101" pitchFamily="2" charset="-122"/>
              </a:rPr>
              <a:t>不再采用固定 </a:t>
            </a:r>
            <a:r>
              <a:rPr sz="1050" i="1" spc="-10" dirty="0">
                <a:solidFill>
                  <a:srgbClr val="4A5462"/>
                </a:solidFill>
                <a:latin typeface="宋体" panose="02010600030101010101" pitchFamily="2" charset="-122"/>
                <a:cs typeface="宋体" panose="02010600030101010101" pitchFamily="2" charset="-122"/>
              </a:rPr>
              <a:t>Top-K，</a:t>
            </a:r>
            <a:r>
              <a:rPr sz="1050" i="1" spc="-40" dirty="0">
                <a:solidFill>
                  <a:srgbClr val="4A5462"/>
                </a:solidFill>
                <a:latin typeface="宋体" panose="02010600030101010101" pitchFamily="2" charset="-122"/>
                <a:cs typeface="宋体" panose="02010600030101010101" pitchFamily="2" charset="-122"/>
              </a:rPr>
              <a:t>而是基于累计概率 </a:t>
            </a:r>
            <a:r>
              <a:rPr sz="1050" i="1" dirty="0">
                <a:latin typeface="Calibri" panose="020F0502020204030204"/>
                <a:cs typeface="Calibri" panose="020F0502020204030204"/>
              </a:rPr>
              <a:t>τ</a:t>
            </a:r>
            <a:r>
              <a:rPr sz="1050" i="1" spc="235" dirty="0">
                <a:latin typeface="Calibri" panose="020F0502020204030204"/>
                <a:cs typeface="Calibri" panose="020F0502020204030204"/>
              </a:rPr>
              <a:t> </a:t>
            </a:r>
            <a:r>
              <a:rPr sz="1050" i="1" spc="-25" dirty="0">
                <a:latin typeface="宋体" panose="02010600030101010101" pitchFamily="2" charset="-122"/>
                <a:cs typeface="宋体" panose="02010600030101010101" pitchFamily="2" charset="-122"/>
              </a:rPr>
              <a:t>动态</a:t>
            </a:r>
            <a:r>
              <a:rPr sz="1050" i="1" spc="-75" dirty="0">
                <a:latin typeface="宋体" panose="02010600030101010101" pitchFamily="2" charset="-122"/>
                <a:cs typeface="宋体" panose="02010600030101010101" pitchFamily="2" charset="-122"/>
              </a:rPr>
              <a:t>激活 </a:t>
            </a:r>
            <a:r>
              <a:rPr sz="1050" i="1" spc="95" dirty="0">
                <a:latin typeface="宋体" panose="02010600030101010101" pitchFamily="2" charset="-122"/>
                <a:cs typeface="宋体" panose="02010600030101010101" pitchFamily="2" charset="-122"/>
              </a:rPr>
              <a:t>1~3</a:t>
            </a:r>
            <a:r>
              <a:rPr sz="1050" i="1" spc="-45" dirty="0">
                <a:latin typeface="宋体" panose="02010600030101010101" pitchFamily="2" charset="-122"/>
                <a:cs typeface="宋体" panose="02010600030101010101" pitchFamily="2" charset="-122"/>
              </a:rPr>
              <a:t> 个滤波器</a:t>
            </a:r>
            <a:r>
              <a:rPr sz="1050" i="1" spc="-5" dirty="0">
                <a:solidFill>
                  <a:srgbClr val="4A5462"/>
                </a:solidFill>
                <a:latin typeface="宋体" panose="02010600030101010101" pitchFamily="2" charset="-122"/>
                <a:cs typeface="宋体" panose="02010600030101010101" pitchFamily="2" charset="-122"/>
              </a:rPr>
              <a:t>，从根本上剥离冗余依赖。</a:t>
            </a:r>
            <a:endParaRPr sz="1050">
              <a:latin typeface="宋体" panose="02010600030101010101" pitchFamily="2" charset="-122"/>
              <a:cs typeface="宋体" panose="02010600030101010101" pitchFamily="2" charset="-122"/>
            </a:endParaRPr>
          </a:p>
        </p:txBody>
      </p:sp>
      <p:grpSp>
        <p:nvGrpSpPr>
          <p:cNvPr id="38" name="object 38"/>
          <p:cNvGrpSpPr/>
          <p:nvPr/>
        </p:nvGrpSpPr>
        <p:grpSpPr>
          <a:xfrm>
            <a:off x="8124826" y="1647824"/>
            <a:ext cx="3609975" cy="4514850"/>
            <a:chOff x="8124825" y="1352549"/>
            <a:chExt cx="3609975" cy="4514850"/>
          </a:xfrm>
        </p:grpSpPr>
        <p:sp>
          <p:nvSpPr>
            <p:cNvPr id="39" name="object 39"/>
            <p:cNvSpPr/>
            <p:nvPr/>
          </p:nvSpPr>
          <p:spPr>
            <a:xfrm>
              <a:off x="8129587" y="1357312"/>
              <a:ext cx="3600450" cy="4505325"/>
            </a:xfrm>
            <a:custGeom>
              <a:avLst/>
              <a:gdLst/>
              <a:ahLst/>
              <a:cxnLst/>
              <a:rect l="l" t="t" r="r" b="b"/>
              <a:pathLst>
                <a:path w="3600450" h="4505325">
                  <a:moveTo>
                    <a:pt x="0" y="43957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3490912" y="0"/>
                  </a:lnTo>
                  <a:lnTo>
                    <a:pt x="3498104" y="0"/>
                  </a:lnTo>
                  <a:lnTo>
                    <a:pt x="3505227" y="701"/>
                  </a:lnTo>
                  <a:lnTo>
                    <a:pt x="3512281" y="2104"/>
                  </a:lnTo>
                  <a:lnTo>
                    <a:pt x="3519335" y="3507"/>
                  </a:lnTo>
                  <a:lnTo>
                    <a:pt x="3526185" y="5585"/>
                  </a:lnTo>
                  <a:lnTo>
                    <a:pt x="3532829" y="8338"/>
                  </a:lnTo>
                  <a:lnTo>
                    <a:pt x="3539474" y="11090"/>
                  </a:lnTo>
                  <a:lnTo>
                    <a:pt x="3573452" y="37168"/>
                  </a:lnTo>
                  <a:lnTo>
                    <a:pt x="3592110" y="67619"/>
                  </a:lnTo>
                  <a:lnTo>
                    <a:pt x="3594863" y="74264"/>
                  </a:lnTo>
                  <a:lnTo>
                    <a:pt x="3596941" y="81113"/>
                  </a:lnTo>
                  <a:lnTo>
                    <a:pt x="3598344" y="88167"/>
                  </a:lnTo>
                  <a:lnTo>
                    <a:pt x="3599747" y="95221"/>
                  </a:lnTo>
                  <a:lnTo>
                    <a:pt x="3600449" y="102345"/>
                  </a:lnTo>
                  <a:lnTo>
                    <a:pt x="3600449" y="109537"/>
                  </a:lnTo>
                  <a:lnTo>
                    <a:pt x="3600449" y="4395787"/>
                  </a:lnTo>
                  <a:lnTo>
                    <a:pt x="3600449" y="4402979"/>
                  </a:lnTo>
                  <a:lnTo>
                    <a:pt x="3599747" y="4410102"/>
                  </a:lnTo>
                  <a:lnTo>
                    <a:pt x="3598344" y="4417156"/>
                  </a:lnTo>
                  <a:lnTo>
                    <a:pt x="3596941" y="4424210"/>
                  </a:lnTo>
                  <a:lnTo>
                    <a:pt x="3594863" y="4431060"/>
                  </a:lnTo>
                  <a:lnTo>
                    <a:pt x="3592110" y="4437704"/>
                  </a:lnTo>
                  <a:lnTo>
                    <a:pt x="3589358" y="4444349"/>
                  </a:lnTo>
                  <a:lnTo>
                    <a:pt x="3585984" y="4450662"/>
                  </a:lnTo>
                  <a:lnTo>
                    <a:pt x="3581988" y="4456642"/>
                  </a:lnTo>
                  <a:lnTo>
                    <a:pt x="3577992" y="4462622"/>
                  </a:lnTo>
                  <a:lnTo>
                    <a:pt x="3551767" y="4486863"/>
                  </a:lnTo>
                  <a:lnTo>
                    <a:pt x="3545787" y="4490859"/>
                  </a:lnTo>
                  <a:lnTo>
                    <a:pt x="3505227" y="4504622"/>
                  </a:lnTo>
                  <a:lnTo>
                    <a:pt x="3490912" y="4505324"/>
                  </a:lnTo>
                  <a:lnTo>
                    <a:pt x="109537" y="4505324"/>
                  </a:lnTo>
                  <a:lnTo>
                    <a:pt x="67619" y="4496985"/>
                  </a:lnTo>
                  <a:lnTo>
                    <a:pt x="60974" y="4494233"/>
                  </a:lnTo>
                  <a:lnTo>
                    <a:pt x="54661" y="4490859"/>
                  </a:lnTo>
                  <a:lnTo>
                    <a:pt x="48681" y="4486863"/>
                  </a:lnTo>
                  <a:lnTo>
                    <a:pt x="42701" y="4482867"/>
                  </a:lnTo>
                  <a:lnTo>
                    <a:pt x="18460" y="4456642"/>
                  </a:lnTo>
                  <a:lnTo>
                    <a:pt x="14464" y="4450662"/>
                  </a:lnTo>
                  <a:lnTo>
                    <a:pt x="2104" y="4417156"/>
                  </a:lnTo>
                  <a:lnTo>
                    <a:pt x="701" y="4410102"/>
                  </a:lnTo>
                  <a:lnTo>
                    <a:pt x="0" y="4402979"/>
                  </a:lnTo>
                  <a:lnTo>
                    <a:pt x="0" y="4395787"/>
                  </a:lnTo>
                  <a:close/>
                </a:path>
              </a:pathLst>
            </a:custGeom>
            <a:ln w="9524">
              <a:solidFill>
                <a:srgbClr val="E4E7EB"/>
              </a:solidFill>
            </a:ln>
          </p:spPr>
          <p:txBody>
            <a:bodyPr wrap="square" lIns="0" tIns="0" rIns="0" bIns="0" rtlCol="0"/>
            <a:lstStyle/>
            <a:p/>
          </p:txBody>
        </p:sp>
        <p:sp>
          <p:nvSpPr>
            <p:cNvPr id="40" name="object 40"/>
            <p:cNvSpPr/>
            <p:nvPr/>
          </p:nvSpPr>
          <p:spPr>
            <a:xfrm>
              <a:off x="8362949" y="5324474"/>
              <a:ext cx="3133725" cy="9525"/>
            </a:xfrm>
            <a:custGeom>
              <a:avLst/>
              <a:gdLst/>
              <a:ahLst/>
              <a:cxnLst/>
              <a:rect l="l" t="t" r="r" b="b"/>
              <a:pathLst>
                <a:path w="3133725" h="9525">
                  <a:moveTo>
                    <a:pt x="3133724" y="9524"/>
                  </a:moveTo>
                  <a:lnTo>
                    <a:pt x="0" y="9524"/>
                  </a:lnTo>
                  <a:lnTo>
                    <a:pt x="0" y="0"/>
                  </a:lnTo>
                  <a:lnTo>
                    <a:pt x="3133724" y="0"/>
                  </a:lnTo>
                  <a:lnTo>
                    <a:pt x="3133724" y="9524"/>
                  </a:lnTo>
                  <a:close/>
                </a:path>
              </a:pathLst>
            </a:custGeom>
            <a:solidFill>
              <a:srgbClr val="F2F4F5"/>
            </a:solidFill>
          </p:spPr>
          <p:txBody>
            <a:bodyPr wrap="square" lIns="0" tIns="0" rIns="0" bIns="0" rtlCol="0"/>
            <a:lstStyle/>
            <a:p/>
          </p:txBody>
        </p:sp>
        <p:sp>
          <p:nvSpPr>
            <p:cNvPr id="41" name="object 41"/>
            <p:cNvSpPr/>
            <p:nvPr/>
          </p:nvSpPr>
          <p:spPr>
            <a:xfrm>
              <a:off x="8362949" y="5553074"/>
              <a:ext cx="76200" cy="76200"/>
            </a:xfrm>
            <a:custGeom>
              <a:avLst/>
              <a:gdLst/>
              <a:ahLst/>
              <a:cxnLst/>
              <a:rect l="l" t="t" r="r" b="b"/>
              <a:pathLst>
                <a:path w="76200" h="76200">
                  <a:moveTo>
                    <a:pt x="76199" y="76199"/>
                  </a:moveTo>
                  <a:lnTo>
                    <a:pt x="0" y="76199"/>
                  </a:lnTo>
                  <a:lnTo>
                    <a:pt x="0" y="0"/>
                  </a:lnTo>
                  <a:lnTo>
                    <a:pt x="76199" y="0"/>
                  </a:lnTo>
                  <a:lnTo>
                    <a:pt x="76199" y="76199"/>
                  </a:lnTo>
                  <a:close/>
                </a:path>
              </a:pathLst>
            </a:custGeom>
            <a:solidFill>
              <a:srgbClr val="000000"/>
            </a:solidFill>
          </p:spPr>
          <p:txBody>
            <a:bodyPr wrap="square" lIns="0" tIns="0" rIns="0" bIns="0" rtlCol="0"/>
            <a:lstStyle/>
            <a:p/>
          </p:txBody>
        </p:sp>
        <p:sp>
          <p:nvSpPr>
            <p:cNvPr id="42" name="object 42"/>
            <p:cNvSpPr/>
            <p:nvPr/>
          </p:nvSpPr>
          <p:spPr>
            <a:xfrm>
              <a:off x="8477249" y="5553074"/>
              <a:ext cx="76200" cy="76200"/>
            </a:xfrm>
            <a:custGeom>
              <a:avLst/>
              <a:gdLst/>
              <a:ahLst/>
              <a:cxnLst/>
              <a:rect l="l" t="t" r="r" b="b"/>
              <a:pathLst>
                <a:path w="76200" h="76200">
                  <a:moveTo>
                    <a:pt x="76199" y="76199"/>
                  </a:moveTo>
                  <a:lnTo>
                    <a:pt x="0" y="76199"/>
                  </a:lnTo>
                  <a:lnTo>
                    <a:pt x="0" y="0"/>
                  </a:lnTo>
                  <a:lnTo>
                    <a:pt x="76199" y="0"/>
                  </a:lnTo>
                  <a:lnTo>
                    <a:pt x="76199" y="76199"/>
                  </a:lnTo>
                  <a:close/>
                </a:path>
              </a:pathLst>
            </a:custGeom>
            <a:solidFill>
              <a:srgbClr val="D0D5DA"/>
            </a:solidFill>
          </p:spPr>
          <p:txBody>
            <a:bodyPr wrap="square" lIns="0" tIns="0" rIns="0" bIns="0" rtlCol="0"/>
            <a:lstStyle/>
            <a:p/>
          </p:txBody>
        </p:sp>
        <p:sp>
          <p:nvSpPr>
            <p:cNvPr id="43" name="object 43"/>
            <p:cNvSpPr/>
            <p:nvPr/>
          </p:nvSpPr>
          <p:spPr>
            <a:xfrm>
              <a:off x="8591549" y="5553074"/>
              <a:ext cx="76200" cy="76200"/>
            </a:xfrm>
            <a:custGeom>
              <a:avLst/>
              <a:gdLst/>
              <a:ahLst/>
              <a:cxnLst/>
              <a:rect l="l" t="t" r="r" b="b"/>
              <a:pathLst>
                <a:path w="76200" h="76200">
                  <a:moveTo>
                    <a:pt x="76199" y="76199"/>
                  </a:moveTo>
                  <a:lnTo>
                    <a:pt x="0" y="76199"/>
                  </a:lnTo>
                  <a:lnTo>
                    <a:pt x="0" y="0"/>
                  </a:lnTo>
                  <a:lnTo>
                    <a:pt x="76199" y="0"/>
                  </a:lnTo>
                  <a:lnTo>
                    <a:pt x="76199" y="76199"/>
                  </a:lnTo>
                  <a:close/>
                </a:path>
              </a:pathLst>
            </a:custGeom>
            <a:solidFill>
              <a:srgbClr val="F2F4F5"/>
            </a:solidFill>
          </p:spPr>
          <p:txBody>
            <a:bodyPr wrap="square" lIns="0" tIns="0" rIns="0" bIns="0" rtlCol="0"/>
            <a:lstStyle/>
            <a:p/>
          </p:txBody>
        </p:sp>
      </p:grpSp>
      <p:sp>
        <p:nvSpPr>
          <p:cNvPr id="44" name="object 44"/>
          <p:cNvSpPr txBox="1"/>
          <p:nvPr/>
        </p:nvSpPr>
        <p:spPr>
          <a:xfrm>
            <a:off x="10416876" y="5759450"/>
            <a:ext cx="1083310" cy="128240"/>
          </a:xfrm>
          <a:prstGeom prst="rect">
            <a:avLst/>
          </a:prstGeom>
        </p:spPr>
        <p:txBody>
          <a:bodyPr vert="horz" wrap="square" lIns="0" tIns="12700" rIns="0" bIns="0" rtlCol="0">
            <a:spAutoFit/>
          </a:bodyPr>
          <a:lstStyle/>
          <a:p>
            <a:pPr marL="12700">
              <a:spcBef>
                <a:spcPts val="100"/>
              </a:spcBef>
            </a:pPr>
            <a:r>
              <a:rPr sz="750" spc="50" dirty="0">
                <a:solidFill>
                  <a:srgbClr val="D0D5DA"/>
                </a:solidFill>
                <a:latin typeface="Courier New" panose="02070309020205020404"/>
                <a:cs typeface="Courier New" panose="02070309020205020404"/>
              </a:rPr>
              <a:t>END</a:t>
            </a:r>
            <a:r>
              <a:rPr sz="750" spc="185" dirty="0">
                <a:solidFill>
                  <a:srgbClr val="D0D5DA"/>
                </a:solidFill>
                <a:latin typeface="Courier New" panose="02070309020205020404"/>
                <a:cs typeface="Courier New" panose="02070309020205020404"/>
              </a:rPr>
              <a:t> </a:t>
            </a:r>
            <a:r>
              <a:rPr sz="750" dirty="0">
                <a:solidFill>
                  <a:srgbClr val="D0D5DA"/>
                </a:solidFill>
                <a:latin typeface="Courier New" panose="02070309020205020404"/>
                <a:cs typeface="Courier New" panose="02070309020205020404"/>
              </a:rPr>
              <a:t>OF</a:t>
            </a:r>
            <a:r>
              <a:rPr sz="750" spc="190" dirty="0">
                <a:solidFill>
                  <a:srgbClr val="D0D5DA"/>
                </a:solidFill>
                <a:latin typeface="Courier New" panose="02070309020205020404"/>
                <a:cs typeface="Courier New" panose="02070309020205020404"/>
              </a:rPr>
              <a:t> </a:t>
            </a:r>
            <a:r>
              <a:rPr sz="750" spc="55" dirty="0">
                <a:solidFill>
                  <a:srgbClr val="D0D5DA"/>
                </a:solidFill>
                <a:latin typeface="Courier New" panose="02070309020205020404"/>
                <a:cs typeface="Courier New" panose="02070309020205020404"/>
              </a:rPr>
              <a:t>MECHANISM</a:t>
            </a:r>
            <a:endParaRPr sz="750">
              <a:latin typeface="Courier New" panose="02070309020205020404"/>
              <a:cs typeface="Courier New" panose="02070309020205020404"/>
            </a:endParaRPr>
          </a:p>
        </p:txBody>
      </p:sp>
      <p:grpSp>
        <p:nvGrpSpPr>
          <p:cNvPr id="45" name="object 45"/>
          <p:cNvGrpSpPr/>
          <p:nvPr/>
        </p:nvGrpSpPr>
        <p:grpSpPr>
          <a:xfrm>
            <a:off x="8362950" y="1657350"/>
            <a:ext cx="3362325" cy="485775"/>
            <a:chOff x="8362949" y="1362074"/>
            <a:chExt cx="3362325" cy="485775"/>
          </a:xfrm>
        </p:grpSpPr>
        <p:sp>
          <p:nvSpPr>
            <p:cNvPr id="46" name="object 46"/>
            <p:cNvSpPr/>
            <p:nvPr/>
          </p:nvSpPr>
          <p:spPr>
            <a:xfrm>
              <a:off x="11268075" y="1362074"/>
              <a:ext cx="457200" cy="457200"/>
            </a:xfrm>
            <a:custGeom>
              <a:avLst/>
              <a:gdLst/>
              <a:ahLst/>
              <a:cxnLst/>
              <a:rect l="l" t="t" r="r" b="b"/>
              <a:pathLst>
                <a:path w="457200" h="457200">
                  <a:moveTo>
                    <a:pt x="457200" y="457199"/>
                  </a:moveTo>
                  <a:lnTo>
                    <a:pt x="412386" y="454998"/>
                  </a:lnTo>
                  <a:lnTo>
                    <a:pt x="368004" y="448414"/>
                  </a:lnTo>
                  <a:lnTo>
                    <a:pt x="324481" y="437513"/>
                  </a:lnTo>
                  <a:lnTo>
                    <a:pt x="282237" y="422397"/>
                  </a:lnTo>
                  <a:lnTo>
                    <a:pt x="241677" y="403214"/>
                  </a:lnTo>
                  <a:lnTo>
                    <a:pt x="203193" y="380147"/>
                  </a:lnTo>
                  <a:lnTo>
                    <a:pt x="167155" y="353420"/>
                  </a:lnTo>
                  <a:lnTo>
                    <a:pt x="133910" y="323289"/>
                  </a:lnTo>
                  <a:lnTo>
                    <a:pt x="103779" y="290044"/>
                  </a:lnTo>
                  <a:lnTo>
                    <a:pt x="77052" y="254006"/>
                  </a:lnTo>
                  <a:lnTo>
                    <a:pt x="53985" y="215522"/>
                  </a:lnTo>
                  <a:lnTo>
                    <a:pt x="34802" y="174962"/>
                  </a:lnTo>
                  <a:lnTo>
                    <a:pt x="19686" y="132718"/>
                  </a:lnTo>
                  <a:lnTo>
                    <a:pt x="8784" y="89195"/>
                  </a:lnTo>
                  <a:lnTo>
                    <a:pt x="2201" y="44813"/>
                  </a:lnTo>
                  <a:lnTo>
                    <a:pt x="630" y="23741"/>
                  </a:lnTo>
                  <a:lnTo>
                    <a:pt x="550" y="22433"/>
                  </a:lnTo>
                  <a:lnTo>
                    <a:pt x="180" y="12385"/>
                  </a:lnTo>
                  <a:lnTo>
                    <a:pt x="97" y="7975"/>
                  </a:lnTo>
                  <a:lnTo>
                    <a:pt x="0" y="0"/>
                  </a:lnTo>
                  <a:lnTo>
                    <a:pt x="352425" y="0"/>
                  </a:lnTo>
                  <a:lnTo>
                    <a:pt x="392519" y="7975"/>
                  </a:lnTo>
                  <a:lnTo>
                    <a:pt x="426511" y="30687"/>
                  </a:lnTo>
                  <a:lnTo>
                    <a:pt x="449222" y="64679"/>
                  </a:lnTo>
                  <a:lnTo>
                    <a:pt x="457200" y="104774"/>
                  </a:lnTo>
                  <a:lnTo>
                    <a:pt x="457200" y="457199"/>
                  </a:lnTo>
                  <a:close/>
                </a:path>
              </a:pathLst>
            </a:custGeom>
            <a:solidFill>
              <a:srgbClr val="F9FAFA"/>
            </a:solidFill>
          </p:spPr>
          <p:txBody>
            <a:bodyPr wrap="square" lIns="0" tIns="0" rIns="0" bIns="0" rtlCol="0"/>
            <a:lstStyle/>
            <a:p/>
          </p:txBody>
        </p:sp>
        <p:sp>
          <p:nvSpPr>
            <p:cNvPr id="47" name="object 47"/>
            <p:cNvSpPr/>
            <p:nvPr/>
          </p:nvSpPr>
          <p:spPr>
            <a:xfrm>
              <a:off x="8367711" y="1604962"/>
              <a:ext cx="714375" cy="238125"/>
            </a:xfrm>
            <a:custGeom>
              <a:avLst/>
              <a:gdLst/>
              <a:ahLst/>
              <a:cxnLst/>
              <a:rect l="l" t="t" r="r" b="b"/>
              <a:pathLst>
                <a:path w="714375" h="238125">
                  <a:moveTo>
                    <a:pt x="0" y="204787"/>
                  </a:moveTo>
                  <a:lnTo>
                    <a:pt x="0" y="33337"/>
                  </a:lnTo>
                  <a:lnTo>
                    <a:pt x="0" y="28916"/>
                  </a:lnTo>
                  <a:lnTo>
                    <a:pt x="845" y="24664"/>
                  </a:lnTo>
                  <a:lnTo>
                    <a:pt x="2537" y="20579"/>
                  </a:lnTo>
                  <a:lnTo>
                    <a:pt x="4229" y="16495"/>
                  </a:lnTo>
                  <a:lnTo>
                    <a:pt x="6638" y="12890"/>
                  </a:lnTo>
                  <a:lnTo>
                    <a:pt x="9764" y="9764"/>
                  </a:lnTo>
                  <a:lnTo>
                    <a:pt x="12890" y="6638"/>
                  </a:lnTo>
                  <a:lnTo>
                    <a:pt x="16495" y="4229"/>
                  </a:lnTo>
                  <a:lnTo>
                    <a:pt x="20579" y="2537"/>
                  </a:lnTo>
                  <a:lnTo>
                    <a:pt x="24664" y="845"/>
                  </a:lnTo>
                  <a:lnTo>
                    <a:pt x="28916" y="0"/>
                  </a:lnTo>
                  <a:lnTo>
                    <a:pt x="33337" y="0"/>
                  </a:lnTo>
                  <a:lnTo>
                    <a:pt x="681037" y="0"/>
                  </a:lnTo>
                  <a:lnTo>
                    <a:pt x="685458" y="0"/>
                  </a:lnTo>
                  <a:lnTo>
                    <a:pt x="689710" y="845"/>
                  </a:lnTo>
                  <a:lnTo>
                    <a:pt x="714374" y="33337"/>
                  </a:lnTo>
                  <a:lnTo>
                    <a:pt x="714374" y="204787"/>
                  </a:lnTo>
                  <a:lnTo>
                    <a:pt x="693795" y="235587"/>
                  </a:lnTo>
                  <a:lnTo>
                    <a:pt x="689710" y="237279"/>
                  </a:lnTo>
                  <a:lnTo>
                    <a:pt x="685458" y="238124"/>
                  </a:lnTo>
                  <a:lnTo>
                    <a:pt x="681037" y="238124"/>
                  </a:lnTo>
                  <a:lnTo>
                    <a:pt x="33337" y="238124"/>
                  </a:lnTo>
                  <a:lnTo>
                    <a:pt x="28916" y="238124"/>
                  </a:lnTo>
                  <a:lnTo>
                    <a:pt x="24664" y="237279"/>
                  </a:lnTo>
                  <a:lnTo>
                    <a:pt x="20579" y="235587"/>
                  </a:lnTo>
                  <a:lnTo>
                    <a:pt x="16495" y="233895"/>
                  </a:lnTo>
                  <a:lnTo>
                    <a:pt x="0" y="209208"/>
                  </a:lnTo>
                  <a:lnTo>
                    <a:pt x="0" y="204787"/>
                  </a:lnTo>
                </a:path>
              </a:pathLst>
            </a:custGeom>
            <a:ln w="9524">
              <a:solidFill>
                <a:srgbClr val="000000"/>
              </a:solidFill>
            </a:ln>
          </p:spPr>
          <p:txBody>
            <a:bodyPr wrap="square" lIns="0" tIns="0" rIns="0" bIns="0" rtlCol="0"/>
            <a:lstStyle/>
            <a:p/>
          </p:txBody>
        </p:sp>
      </p:grpSp>
      <p:sp>
        <p:nvSpPr>
          <p:cNvPr id="48" name="object 48"/>
          <p:cNvSpPr txBox="1"/>
          <p:nvPr/>
        </p:nvSpPr>
        <p:spPr>
          <a:xfrm>
            <a:off x="8439101" y="1920876"/>
            <a:ext cx="574675" cy="151323"/>
          </a:xfrm>
          <a:prstGeom prst="rect">
            <a:avLst/>
          </a:prstGeom>
        </p:spPr>
        <p:txBody>
          <a:bodyPr vert="horz" wrap="square" lIns="0" tIns="12700" rIns="0" bIns="0" rtlCol="0">
            <a:spAutoFit/>
          </a:bodyPr>
          <a:lstStyle/>
          <a:p>
            <a:pPr marL="12700">
              <a:spcBef>
                <a:spcPts val="100"/>
              </a:spcBef>
            </a:pPr>
            <a:r>
              <a:rPr sz="900" dirty="0">
                <a:solidFill>
                  <a:srgbClr val="6A7280"/>
                </a:solidFill>
                <a:latin typeface="Courier New" panose="02070309020205020404"/>
                <a:cs typeface="Courier New" panose="02070309020205020404"/>
              </a:rPr>
              <a:t>STAGE </a:t>
            </a:r>
            <a:r>
              <a:rPr sz="900" spc="-25" dirty="0">
                <a:solidFill>
                  <a:srgbClr val="6A7280"/>
                </a:solidFill>
                <a:latin typeface="Courier New" panose="02070309020205020404"/>
                <a:cs typeface="Courier New" panose="02070309020205020404"/>
              </a:rPr>
              <a:t>03</a:t>
            </a:r>
            <a:endParaRPr sz="900">
              <a:latin typeface="Courier New" panose="02070309020205020404"/>
              <a:cs typeface="Courier New" panose="02070309020205020404"/>
            </a:endParaRPr>
          </a:p>
        </p:txBody>
      </p:sp>
      <p:sp>
        <p:nvSpPr>
          <p:cNvPr id="49" name="object 49"/>
          <p:cNvSpPr txBox="1"/>
          <p:nvPr/>
        </p:nvSpPr>
        <p:spPr>
          <a:xfrm>
            <a:off x="9187855" y="1873250"/>
            <a:ext cx="1330325" cy="243656"/>
          </a:xfrm>
          <a:prstGeom prst="rect">
            <a:avLst/>
          </a:prstGeom>
        </p:spPr>
        <p:txBody>
          <a:bodyPr vert="horz" wrap="square" lIns="0" tIns="12700" rIns="0" bIns="0" rtlCol="0">
            <a:spAutoFit/>
          </a:bodyPr>
          <a:lstStyle/>
          <a:p>
            <a:pPr marL="12700">
              <a:spcBef>
                <a:spcPts val="100"/>
              </a:spcBef>
            </a:pPr>
            <a:r>
              <a:rPr sz="1500" spc="-45" dirty="0">
                <a:latin typeface="宋体" panose="02010600030101010101" pitchFamily="2" charset="-122"/>
                <a:cs typeface="宋体" panose="02010600030101010101" pitchFamily="2" charset="-122"/>
              </a:rPr>
              <a:t>预测生成与优化</a:t>
            </a:r>
            <a:endParaRPr sz="1500">
              <a:latin typeface="宋体" panose="02010600030101010101" pitchFamily="2" charset="-122"/>
              <a:cs typeface="宋体" panose="02010600030101010101" pitchFamily="2" charset="-122"/>
            </a:endParaRPr>
          </a:p>
        </p:txBody>
      </p:sp>
      <p:sp>
        <p:nvSpPr>
          <p:cNvPr id="50" name="object 50"/>
          <p:cNvSpPr txBox="1"/>
          <p:nvPr/>
        </p:nvSpPr>
        <p:spPr>
          <a:xfrm>
            <a:off x="8353376" y="2416176"/>
            <a:ext cx="1740535" cy="151323"/>
          </a:xfrm>
          <a:prstGeom prst="rect">
            <a:avLst/>
          </a:prstGeom>
        </p:spPr>
        <p:txBody>
          <a:bodyPr vert="horz" wrap="square" lIns="0" tIns="12700" rIns="0" bIns="0" rtlCol="0">
            <a:spAutoFit/>
          </a:bodyPr>
          <a:lstStyle/>
          <a:p>
            <a:pPr marL="12700">
              <a:spcBef>
                <a:spcPts val="100"/>
              </a:spcBef>
            </a:pPr>
            <a:r>
              <a:rPr sz="900" dirty="0">
                <a:solidFill>
                  <a:srgbClr val="9CA2AF"/>
                </a:solidFill>
                <a:latin typeface="Courier New" panose="02070309020205020404"/>
                <a:cs typeface="Courier New" panose="02070309020205020404"/>
              </a:rPr>
              <a:t>DUAL-PATH RESIDUAL </a:t>
            </a:r>
            <a:r>
              <a:rPr sz="900" spc="-10" dirty="0">
                <a:solidFill>
                  <a:srgbClr val="9CA2AF"/>
                </a:solidFill>
                <a:latin typeface="Courier New" panose="02070309020205020404"/>
                <a:cs typeface="Courier New" panose="02070309020205020404"/>
              </a:rPr>
              <a:t>FUSION</a:t>
            </a:r>
            <a:endParaRPr sz="900">
              <a:latin typeface="Courier New" panose="02070309020205020404"/>
              <a:cs typeface="Courier New" panose="02070309020205020404"/>
            </a:endParaRPr>
          </a:p>
        </p:txBody>
      </p:sp>
      <p:grpSp>
        <p:nvGrpSpPr>
          <p:cNvPr id="51" name="object 51"/>
          <p:cNvGrpSpPr/>
          <p:nvPr/>
        </p:nvGrpSpPr>
        <p:grpSpPr>
          <a:xfrm>
            <a:off x="8362950" y="2914650"/>
            <a:ext cx="767715" cy="1171575"/>
            <a:chOff x="8362949" y="2619374"/>
            <a:chExt cx="767715" cy="1171575"/>
          </a:xfrm>
        </p:grpSpPr>
        <p:sp>
          <p:nvSpPr>
            <p:cNvPr id="52" name="object 52"/>
            <p:cNvSpPr/>
            <p:nvPr/>
          </p:nvSpPr>
          <p:spPr>
            <a:xfrm>
              <a:off x="8362937" y="3238499"/>
              <a:ext cx="57150" cy="552450"/>
            </a:xfrm>
            <a:custGeom>
              <a:avLst/>
              <a:gdLst/>
              <a:ahLst/>
              <a:cxnLst/>
              <a:rect l="l" t="t" r="r" b="b"/>
              <a:pathLst>
                <a:path w="57150" h="552450">
                  <a:moveTo>
                    <a:pt x="57150" y="520090"/>
                  </a:moveTo>
                  <a:lnTo>
                    <a:pt x="32372" y="495300"/>
                  </a:lnTo>
                  <a:lnTo>
                    <a:pt x="24790" y="495300"/>
                  </a:lnTo>
                  <a:lnTo>
                    <a:pt x="0" y="520090"/>
                  </a:lnTo>
                  <a:lnTo>
                    <a:pt x="0" y="527672"/>
                  </a:lnTo>
                  <a:lnTo>
                    <a:pt x="24790" y="552450"/>
                  </a:lnTo>
                  <a:lnTo>
                    <a:pt x="32372" y="552450"/>
                  </a:lnTo>
                  <a:lnTo>
                    <a:pt x="57150" y="527672"/>
                  </a:lnTo>
                  <a:lnTo>
                    <a:pt x="57150" y="523875"/>
                  </a:lnTo>
                  <a:lnTo>
                    <a:pt x="57150" y="520090"/>
                  </a:lnTo>
                  <a:close/>
                </a:path>
                <a:path w="57150" h="552450">
                  <a:moveTo>
                    <a:pt x="57150" y="24790"/>
                  </a:moveTo>
                  <a:lnTo>
                    <a:pt x="32372" y="0"/>
                  </a:lnTo>
                  <a:lnTo>
                    <a:pt x="24790" y="0"/>
                  </a:lnTo>
                  <a:lnTo>
                    <a:pt x="0" y="24790"/>
                  </a:lnTo>
                  <a:lnTo>
                    <a:pt x="0" y="32372"/>
                  </a:lnTo>
                  <a:lnTo>
                    <a:pt x="24790" y="57150"/>
                  </a:lnTo>
                  <a:lnTo>
                    <a:pt x="32372" y="57150"/>
                  </a:lnTo>
                  <a:lnTo>
                    <a:pt x="57150" y="32372"/>
                  </a:lnTo>
                  <a:lnTo>
                    <a:pt x="57150" y="28575"/>
                  </a:lnTo>
                  <a:lnTo>
                    <a:pt x="57150" y="24790"/>
                  </a:lnTo>
                  <a:close/>
                </a:path>
              </a:pathLst>
            </a:custGeom>
            <a:solidFill>
              <a:srgbClr val="000000"/>
            </a:solidFill>
          </p:spPr>
          <p:txBody>
            <a:bodyPr wrap="square" lIns="0" tIns="0" rIns="0" bIns="0" rtlCol="0"/>
            <a:lstStyle/>
            <a:p/>
          </p:txBody>
        </p:sp>
        <p:sp>
          <p:nvSpPr>
            <p:cNvPr id="53" name="object 53"/>
            <p:cNvSpPr/>
            <p:nvPr/>
          </p:nvSpPr>
          <p:spPr>
            <a:xfrm>
              <a:off x="8448662" y="2619374"/>
              <a:ext cx="681990" cy="22225"/>
            </a:xfrm>
            <a:custGeom>
              <a:avLst/>
              <a:gdLst/>
              <a:ahLst/>
              <a:cxnLst/>
              <a:rect l="l" t="t" r="r" b="b"/>
              <a:pathLst>
                <a:path w="681990" h="22225">
                  <a:moveTo>
                    <a:pt x="85725" y="14097"/>
                  </a:moveTo>
                  <a:lnTo>
                    <a:pt x="45948" y="0"/>
                  </a:lnTo>
                  <a:lnTo>
                    <a:pt x="45529" y="0"/>
                  </a:lnTo>
                  <a:lnTo>
                    <a:pt x="774" y="15836"/>
                  </a:lnTo>
                  <a:lnTo>
                    <a:pt x="266" y="15963"/>
                  </a:lnTo>
                  <a:lnTo>
                    <a:pt x="0" y="16789"/>
                  </a:lnTo>
                  <a:lnTo>
                    <a:pt x="0" y="17627"/>
                  </a:lnTo>
                  <a:lnTo>
                    <a:pt x="520" y="20650"/>
                  </a:lnTo>
                  <a:lnTo>
                    <a:pt x="698" y="21336"/>
                  </a:lnTo>
                  <a:lnTo>
                    <a:pt x="1041" y="21882"/>
                  </a:lnTo>
                  <a:lnTo>
                    <a:pt x="1638" y="21882"/>
                  </a:lnTo>
                  <a:lnTo>
                    <a:pt x="45783" y="9220"/>
                  </a:lnTo>
                  <a:lnTo>
                    <a:pt x="85725" y="20701"/>
                  </a:lnTo>
                  <a:lnTo>
                    <a:pt x="85725" y="14097"/>
                  </a:lnTo>
                  <a:close/>
                </a:path>
                <a:path w="681990" h="22225">
                  <a:moveTo>
                    <a:pt x="681939" y="16522"/>
                  </a:moveTo>
                  <a:lnTo>
                    <a:pt x="681596" y="15963"/>
                  </a:lnTo>
                  <a:lnTo>
                    <a:pt x="681164" y="15836"/>
                  </a:lnTo>
                  <a:lnTo>
                    <a:pt x="636498" y="0"/>
                  </a:lnTo>
                  <a:lnTo>
                    <a:pt x="636079" y="0"/>
                  </a:lnTo>
                  <a:lnTo>
                    <a:pt x="591324" y="15836"/>
                  </a:lnTo>
                  <a:lnTo>
                    <a:pt x="590816" y="15963"/>
                  </a:lnTo>
                  <a:lnTo>
                    <a:pt x="590550" y="16802"/>
                  </a:lnTo>
                  <a:lnTo>
                    <a:pt x="590638" y="17627"/>
                  </a:lnTo>
                  <a:lnTo>
                    <a:pt x="591070" y="20650"/>
                  </a:lnTo>
                  <a:lnTo>
                    <a:pt x="591248" y="21336"/>
                  </a:lnTo>
                  <a:lnTo>
                    <a:pt x="591591" y="21882"/>
                  </a:lnTo>
                  <a:lnTo>
                    <a:pt x="592188" y="21882"/>
                  </a:lnTo>
                  <a:lnTo>
                    <a:pt x="636333" y="9232"/>
                  </a:lnTo>
                  <a:lnTo>
                    <a:pt x="680389" y="21882"/>
                  </a:lnTo>
                  <a:lnTo>
                    <a:pt x="681075" y="21882"/>
                  </a:lnTo>
                  <a:lnTo>
                    <a:pt x="681418" y="21336"/>
                  </a:lnTo>
                  <a:lnTo>
                    <a:pt x="681507" y="20650"/>
                  </a:lnTo>
                  <a:lnTo>
                    <a:pt x="681850" y="17627"/>
                  </a:lnTo>
                  <a:lnTo>
                    <a:pt x="681850" y="17487"/>
                  </a:lnTo>
                  <a:lnTo>
                    <a:pt x="681939" y="17348"/>
                  </a:lnTo>
                  <a:lnTo>
                    <a:pt x="681939" y="16522"/>
                  </a:lnTo>
                  <a:close/>
                </a:path>
              </a:pathLst>
            </a:custGeom>
            <a:solidFill>
              <a:srgbClr val="000000"/>
            </a:solidFill>
          </p:spPr>
          <p:txBody>
            <a:bodyPr wrap="square" lIns="0" tIns="0" rIns="0" bIns="0" rtlCol="0"/>
            <a:lstStyle/>
            <a:p/>
          </p:txBody>
        </p:sp>
      </p:grpSp>
      <p:sp>
        <p:nvSpPr>
          <p:cNvPr id="54" name="object 54"/>
          <p:cNvSpPr txBox="1"/>
          <p:nvPr/>
        </p:nvSpPr>
        <p:spPr>
          <a:xfrm>
            <a:off x="8384232" y="2891889"/>
            <a:ext cx="3083560" cy="178254"/>
          </a:xfrm>
          <a:prstGeom prst="rect">
            <a:avLst/>
          </a:prstGeom>
        </p:spPr>
        <p:txBody>
          <a:bodyPr vert="horz" wrap="square" lIns="0" tIns="16510" rIns="0" bIns="0" rtlCol="0">
            <a:spAutoFit/>
          </a:bodyPr>
          <a:lstStyle/>
          <a:p>
            <a:pPr marL="38100">
              <a:spcBef>
                <a:spcPts val="130"/>
              </a:spcBef>
            </a:pPr>
            <a:r>
              <a:rPr sz="1575" b="1" baseline="3000" dirty="0">
                <a:latin typeface="Calibri" panose="020F0502020204030204"/>
                <a:cs typeface="Calibri" panose="020F0502020204030204"/>
              </a:rPr>
              <a:t>X</a:t>
            </a:r>
            <a:r>
              <a:rPr sz="1125" baseline="37000" dirty="0">
                <a:latin typeface="Cambria" panose="02040503050406030204"/>
                <a:cs typeface="Cambria" panose="02040503050406030204"/>
              </a:rPr>
              <a:t>predict</a:t>
            </a:r>
            <a:r>
              <a:rPr sz="1125" spc="487" baseline="37000" dirty="0">
                <a:latin typeface="Cambria" panose="02040503050406030204"/>
                <a:cs typeface="Cambria" panose="02040503050406030204"/>
              </a:rPr>
              <a:t> </a:t>
            </a:r>
            <a:r>
              <a:rPr sz="1050" spc="250" dirty="0">
                <a:latin typeface="Cambria" panose="02040503050406030204"/>
                <a:cs typeface="Cambria" panose="02040503050406030204"/>
              </a:rPr>
              <a:t>=</a:t>
            </a:r>
            <a:r>
              <a:rPr sz="1050" spc="165" dirty="0">
                <a:latin typeface="Cambria" panose="02040503050406030204"/>
                <a:cs typeface="Cambria" panose="02040503050406030204"/>
              </a:rPr>
              <a:t> </a:t>
            </a:r>
            <a:r>
              <a:rPr sz="1575" b="1" baseline="3000" dirty="0">
                <a:latin typeface="Calibri" panose="020F0502020204030204"/>
                <a:cs typeface="Calibri" panose="020F0502020204030204"/>
              </a:rPr>
              <a:t>X</a:t>
            </a:r>
            <a:r>
              <a:rPr sz="1125" baseline="37000" dirty="0">
                <a:latin typeface="Cambria" panose="02040503050406030204"/>
                <a:cs typeface="Cambria" panose="02040503050406030204"/>
              </a:rPr>
              <a:t>model</a:t>
            </a:r>
            <a:r>
              <a:rPr sz="1125" spc="390" baseline="37000" dirty="0">
                <a:latin typeface="Cambria" panose="02040503050406030204"/>
                <a:cs typeface="Cambria" panose="02040503050406030204"/>
              </a:rPr>
              <a:t> </a:t>
            </a:r>
            <a:r>
              <a:rPr sz="1050" spc="250" dirty="0">
                <a:latin typeface="Cambria" panose="02040503050406030204"/>
                <a:cs typeface="Cambria" panose="02040503050406030204"/>
              </a:rPr>
              <a:t>+</a:t>
            </a:r>
            <a:r>
              <a:rPr sz="1050" spc="80" dirty="0">
                <a:latin typeface="Cambria" panose="02040503050406030204"/>
                <a:cs typeface="Cambria" panose="02040503050406030204"/>
              </a:rPr>
              <a:t> </a:t>
            </a:r>
            <a:r>
              <a:rPr sz="1575" i="1" spc="104" baseline="3000" dirty="0">
                <a:latin typeface="Calibri" panose="020F0502020204030204"/>
                <a:cs typeface="Calibri" panose="020F0502020204030204"/>
              </a:rPr>
              <a:t>σ</a:t>
            </a:r>
            <a:r>
              <a:rPr sz="1575" spc="104" baseline="3000" dirty="0">
                <a:latin typeface="Cambria" panose="02040503050406030204"/>
                <a:cs typeface="Cambria" panose="02040503050406030204"/>
              </a:rPr>
              <a:t>(</a:t>
            </a:r>
            <a:r>
              <a:rPr sz="1575" b="1" spc="104" baseline="3000" dirty="0">
                <a:latin typeface="Calibri" panose="020F0502020204030204"/>
                <a:cs typeface="Calibri" panose="020F0502020204030204"/>
              </a:rPr>
              <a:t>g</a:t>
            </a:r>
            <a:r>
              <a:rPr sz="1125" spc="104" baseline="-15000" dirty="0">
                <a:latin typeface="Cambria" panose="02040503050406030204"/>
                <a:cs typeface="Cambria" panose="02040503050406030204"/>
              </a:rPr>
              <a:t>GNN</a:t>
            </a:r>
            <a:r>
              <a:rPr sz="1575" spc="104" baseline="3000" dirty="0">
                <a:latin typeface="Cambria" panose="02040503050406030204"/>
                <a:cs typeface="Cambria" panose="02040503050406030204"/>
              </a:rPr>
              <a:t>)</a:t>
            </a:r>
            <a:r>
              <a:rPr sz="1575" spc="52" baseline="3000" dirty="0">
                <a:latin typeface="Cambria" panose="02040503050406030204"/>
                <a:cs typeface="Cambria" panose="02040503050406030204"/>
              </a:rPr>
              <a:t> </a:t>
            </a:r>
            <a:r>
              <a:rPr sz="1575" spc="-315" baseline="3000" dirty="0">
                <a:latin typeface="Cambria" panose="02040503050406030204"/>
                <a:cs typeface="Cambria" panose="02040503050406030204"/>
              </a:rPr>
              <a:t>⊙</a:t>
            </a:r>
            <a:r>
              <a:rPr sz="1575" spc="120" baseline="3000" dirty="0">
                <a:latin typeface="Cambria" panose="02040503050406030204"/>
                <a:cs typeface="Cambria" panose="02040503050406030204"/>
              </a:rPr>
              <a:t> </a:t>
            </a:r>
            <a:r>
              <a:rPr sz="1575" i="1" baseline="3000" dirty="0">
                <a:latin typeface="Calibri" panose="020F0502020204030204"/>
                <a:cs typeface="Calibri" panose="020F0502020204030204"/>
              </a:rPr>
              <a:t>δ</a:t>
            </a:r>
            <a:r>
              <a:rPr sz="1125" baseline="-15000" dirty="0">
                <a:latin typeface="Cambria" panose="02040503050406030204"/>
                <a:cs typeface="Cambria" panose="02040503050406030204"/>
              </a:rPr>
              <a:t>GNN</a:t>
            </a:r>
            <a:r>
              <a:rPr sz="1125" spc="434" baseline="-15000" dirty="0">
                <a:latin typeface="Cambria" panose="02040503050406030204"/>
                <a:cs typeface="Cambria" panose="02040503050406030204"/>
              </a:rPr>
              <a:t> </a:t>
            </a:r>
            <a:r>
              <a:rPr sz="1575" spc="375" baseline="3000" dirty="0">
                <a:latin typeface="Cambria" panose="02040503050406030204"/>
                <a:cs typeface="Cambria" panose="02040503050406030204"/>
              </a:rPr>
              <a:t>+</a:t>
            </a:r>
            <a:r>
              <a:rPr sz="1575" spc="120" baseline="3000" dirty="0">
                <a:latin typeface="Cambria" panose="02040503050406030204"/>
                <a:cs typeface="Cambria" panose="02040503050406030204"/>
              </a:rPr>
              <a:t> </a:t>
            </a:r>
            <a:r>
              <a:rPr sz="1575" i="1" baseline="3000" dirty="0">
                <a:latin typeface="Calibri" panose="020F0502020204030204"/>
                <a:cs typeface="Calibri" panose="020F0502020204030204"/>
              </a:rPr>
              <a:t>σ</a:t>
            </a:r>
            <a:r>
              <a:rPr sz="1575" baseline="3000" dirty="0">
                <a:latin typeface="Cambria" panose="02040503050406030204"/>
                <a:cs typeface="Cambria" panose="02040503050406030204"/>
              </a:rPr>
              <a:t>(</a:t>
            </a:r>
            <a:r>
              <a:rPr sz="1575" b="1" baseline="3000" dirty="0">
                <a:latin typeface="Calibri" panose="020F0502020204030204"/>
                <a:cs typeface="Calibri" panose="020F0502020204030204"/>
              </a:rPr>
              <a:t>g</a:t>
            </a:r>
            <a:r>
              <a:rPr sz="1125" baseline="-15000" dirty="0">
                <a:latin typeface="Cambria" panose="02040503050406030204"/>
                <a:cs typeface="Cambria" panose="02040503050406030204"/>
              </a:rPr>
              <a:t>Lin</a:t>
            </a:r>
            <a:r>
              <a:rPr sz="1575" baseline="3000" dirty="0">
                <a:latin typeface="Cambria" panose="02040503050406030204"/>
                <a:cs typeface="Cambria" panose="02040503050406030204"/>
              </a:rPr>
              <a:t>)</a:t>
            </a:r>
            <a:r>
              <a:rPr sz="1575" spc="52" baseline="3000" dirty="0">
                <a:latin typeface="Cambria" panose="02040503050406030204"/>
                <a:cs typeface="Cambria" panose="02040503050406030204"/>
              </a:rPr>
              <a:t> </a:t>
            </a:r>
            <a:r>
              <a:rPr sz="1575" spc="-315" baseline="3000" dirty="0">
                <a:latin typeface="Cambria" panose="02040503050406030204"/>
                <a:cs typeface="Cambria" panose="02040503050406030204"/>
              </a:rPr>
              <a:t>⊙</a:t>
            </a:r>
            <a:r>
              <a:rPr sz="1575" spc="120" baseline="3000" dirty="0">
                <a:latin typeface="Cambria" panose="02040503050406030204"/>
                <a:cs typeface="Cambria" panose="02040503050406030204"/>
              </a:rPr>
              <a:t> </a:t>
            </a:r>
            <a:r>
              <a:rPr sz="1575" i="1" spc="-30" baseline="3000" dirty="0">
                <a:latin typeface="Calibri" panose="020F0502020204030204"/>
                <a:cs typeface="Calibri" panose="020F0502020204030204"/>
              </a:rPr>
              <a:t>δ</a:t>
            </a:r>
            <a:r>
              <a:rPr sz="1125" spc="-30" baseline="-15000" dirty="0">
                <a:latin typeface="Cambria" panose="02040503050406030204"/>
                <a:cs typeface="Cambria" panose="02040503050406030204"/>
              </a:rPr>
              <a:t>Lin</a:t>
            </a:r>
            <a:endParaRPr sz="1125" baseline="-15000">
              <a:latin typeface="Cambria" panose="02040503050406030204"/>
              <a:cs typeface="Cambria" panose="02040503050406030204"/>
            </a:endParaRPr>
          </a:p>
        </p:txBody>
      </p:sp>
      <p:sp>
        <p:nvSpPr>
          <p:cNvPr id="55" name="object 55"/>
          <p:cNvSpPr txBox="1"/>
          <p:nvPr/>
        </p:nvSpPr>
        <p:spPr>
          <a:xfrm>
            <a:off x="8461326" y="3423920"/>
            <a:ext cx="3021965" cy="901700"/>
          </a:xfrm>
          <a:prstGeom prst="rect">
            <a:avLst/>
          </a:prstGeom>
        </p:spPr>
        <p:txBody>
          <a:bodyPr vert="horz" wrap="square" lIns="0" tIns="12700" rIns="0" bIns="0" rtlCol="0">
            <a:spAutoFit/>
          </a:bodyPr>
          <a:lstStyle/>
          <a:p>
            <a:pPr marL="38100" marR="30480">
              <a:lnSpc>
                <a:spcPct val="119000"/>
              </a:lnSpc>
              <a:spcBef>
                <a:spcPts val="100"/>
              </a:spcBef>
            </a:pPr>
            <a:r>
              <a:rPr sz="1050" dirty="0">
                <a:latin typeface="宋体" panose="02010600030101010101" pitchFamily="2" charset="-122"/>
                <a:cs typeface="宋体" panose="02010600030101010101" pitchFamily="2" charset="-122"/>
              </a:rPr>
              <a:t>门控退化机制：</a:t>
            </a:r>
            <a:r>
              <a:rPr sz="1050" spc="-55" dirty="0">
                <a:solidFill>
                  <a:srgbClr val="4A5462"/>
                </a:solidFill>
                <a:latin typeface="宋体" panose="02010600030101010101" pitchFamily="2" charset="-122"/>
                <a:cs typeface="宋体" panose="02010600030101010101" pitchFamily="2" charset="-122"/>
              </a:rPr>
              <a:t>若门控 </a:t>
            </a:r>
            <a:r>
              <a:rPr sz="1050" b="1" spc="100" dirty="0">
                <a:latin typeface="Calibri" panose="020F0502020204030204"/>
                <a:cs typeface="Calibri" panose="020F0502020204030204"/>
              </a:rPr>
              <a:t>g</a:t>
            </a:r>
            <a:r>
              <a:rPr sz="1050" b="1" spc="65" dirty="0">
                <a:latin typeface="Calibri" panose="020F0502020204030204"/>
                <a:cs typeface="Calibri" panose="020F0502020204030204"/>
              </a:rPr>
              <a:t> </a:t>
            </a:r>
            <a:r>
              <a:rPr sz="1050" spc="-75" dirty="0">
                <a:solidFill>
                  <a:srgbClr val="4A5462"/>
                </a:solidFill>
                <a:latin typeface="宋体" panose="02010600030101010101" pitchFamily="2" charset="-122"/>
                <a:cs typeface="宋体" panose="02010600030101010101" pitchFamily="2" charset="-122"/>
              </a:rPr>
              <a:t>趋于 </a:t>
            </a:r>
            <a:r>
              <a:rPr sz="1050" dirty="0">
                <a:solidFill>
                  <a:srgbClr val="4A5462"/>
                </a:solidFill>
                <a:latin typeface="宋体" panose="02010600030101010101" pitchFamily="2" charset="-122"/>
                <a:cs typeface="宋体" panose="02010600030101010101" pitchFamily="2" charset="-122"/>
              </a:rPr>
              <a:t>0，</a:t>
            </a:r>
            <a:r>
              <a:rPr sz="1050" spc="-10" dirty="0">
                <a:solidFill>
                  <a:srgbClr val="4A5462"/>
                </a:solidFill>
                <a:latin typeface="宋体" panose="02010600030101010101" pitchFamily="2" charset="-122"/>
                <a:cs typeface="宋体" panose="02010600030101010101" pitchFamily="2" charset="-122"/>
              </a:rPr>
              <a:t>则系统自动退化为基础模型预测。</a:t>
            </a:r>
            <a:endParaRPr sz="1050">
              <a:latin typeface="宋体" panose="02010600030101010101" pitchFamily="2" charset="-122"/>
              <a:cs typeface="宋体" panose="02010600030101010101" pitchFamily="2" charset="-122"/>
            </a:endParaRPr>
          </a:p>
          <a:p>
            <a:pPr marL="38100" marR="68580">
              <a:lnSpc>
                <a:spcPct val="119000"/>
              </a:lnSpc>
              <a:spcBef>
                <a:spcPts val="900"/>
              </a:spcBef>
            </a:pPr>
            <a:r>
              <a:rPr sz="1050" dirty="0">
                <a:latin typeface="宋体" panose="02010600030101010101" pitchFamily="2" charset="-122"/>
                <a:cs typeface="宋体" panose="02010600030101010101" pitchFamily="2" charset="-122"/>
              </a:rPr>
              <a:t>惩罚项：</a:t>
            </a:r>
            <a:r>
              <a:rPr sz="1050" spc="-75" dirty="0">
                <a:solidFill>
                  <a:srgbClr val="4A5462"/>
                </a:solidFill>
                <a:latin typeface="宋体" panose="02010600030101010101" pitchFamily="2" charset="-122"/>
                <a:cs typeface="宋体" panose="02010600030101010101" pitchFamily="2" charset="-122"/>
              </a:rPr>
              <a:t>引入 </a:t>
            </a:r>
            <a:r>
              <a:rPr sz="1050" spc="60" dirty="0">
                <a:latin typeface="Arial" panose="020B0604020202020204"/>
                <a:cs typeface="Arial" panose="020B0604020202020204"/>
              </a:rPr>
              <a:t>L</a:t>
            </a:r>
            <a:r>
              <a:rPr sz="1050" spc="89" baseline="-12000" dirty="0">
                <a:latin typeface="Cambria" panose="02040503050406030204"/>
                <a:cs typeface="Cambria" panose="02040503050406030204"/>
              </a:rPr>
              <a:t>Entropy</a:t>
            </a:r>
            <a:r>
              <a:rPr sz="1050" spc="270" baseline="-12000" dirty="0">
                <a:latin typeface="Cambria" panose="02040503050406030204"/>
                <a:cs typeface="Cambria" panose="02040503050406030204"/>
              </a:rPr>
              <a:t> </a:t>
            </a:r>
            <a:r>
              <a:rPr sz="1050" spc="-105" dirty="0">
                <a:solidFill>
                  <a:srgbClr val="4A5462"/>
                </a:solidFill>
                <a:latin typeface="宋体" panose="02010600030101010101" pitchFamily="2" charset="-122"/>
                <a:cs typeface="宋体" panose="02010600030101010101" pitchFamily="2" charset="-122"/>
              </a:rPr>
              <a:t>与 </a:t>
            </a:r>
            <a:r>
              <a:rPr sz="1050" spc="45" dirty="0">
                <a:latin typeface="Arial" panose="020B0604020202020204"/>
                <a:cs typeface="Arial" panose="020B0604020202020204"/>
              </a:rPr>
              <a:t>L</a:t>
            </a:r>
            <a:r>
              <a:rPr sz="1050" spc="67" baseline="-12000" dirty="0">
                <a:latin typeface="Cambria" panose="02040503050406030204"/>
                <a:cs typeface="Cambria" panose="02040503050406030204"/>
              </a:rPr>
              <a:t>Balance</a:t>
            </a:r>
            <a:r>
              <a:rPr sz="1050" spc="262" baseline="-12000" dirty="0">
                <a:latin typeface="Cambria" panose="02040503050406030204"/>
                <a:cs typeface="Cambria" panose="02040503050406030204"/>
              </a:rPr>
              <a:t> </a:t>
            </a:r>
            <a:r>
              <a:rPr sz="1050" spc="-10" dirty="0">
                <a:solidFill>
                  <a:srgbClr val="4A5462"/>
                </a:solidFill>
                <a:latin typeface="宋体" panose="02010600030101010101" pitchFamily="2" charset="-122"/>
                <a:cs typeface="宋体" panose="02010600030101010101" pitchFamily="2" charset="-122"/>
              </a:rPr>
              <a:t>严防路由崩溃风</a:t>
            </a:r>
            <a:r>
              <a:rPr sz="1050" spc="-25" dirty="0">
                <a:solidFill>
                  <a:srgbClr val="4A5462"/>
                </a:solidFill>
                <a:latin typeface="宋体" panose="02010600030101010101" pitchFamily="2" charset="-122"/>
                <a:cs typeface="宋体" panose="02010600030101010101" pitchFamily="2" charset="-122"/>
              </a:rPr>
              <a:t>险。</a:t>
            </a:r>
            <a:endParaRPr sz="1050">
              <a:latin typeface="宋体" panose="02010600030101010101" pitchFamily="2" charset="-122"/>
              <a:cs typeface="宋体" panose="02010600030101010101" pitchFamily="2" charset="-122"/>
            </a:endParaRPr>
          </a:p>
        </p:txBody>
      </p:sp>
      <p:pic>
        <p:nvPicPr>
          <p:cNvPr id="56" name="object 56"/>
          <p:cNvPicPr/>
          <p:nvPr/>
        </p:nvPicPr>
        <p:blipFill>
          <a:blip r:embed="rId1" cstate="print"/>
          <a:stretch>
            <a:fillRect/>
          </a:stretch>
        </p:blipFill>
        <p:spPr>
          <a:xfrm>
            <a:off x="457199" y="6591300"/>
            <a:ext cx="76200" cy="76199"/>
          </a:xfrm>
          <a:prstGeom prst="rect">
            <a:avLst/>
          </a:prstGeom>
        </p:spPr>
      </p:pic>
      <p:sp>
        <p:nvSpPr>
          <p:cNvPr id="57" name="object 57"/>
          <p:cNvSpPr/>
          <p:nvPr/>
        </p:nvSpPr>
        <p:spPr>
          <a:xfrm>
            <a:off x="0" y="295275"/>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58" name="object 58"/>
          <p:cNvSpPr/>
          <p:nvPr/>
        </p:nvSpPr>
        <p:spPr>
          <a:xfrm>
            <a:off x="0" y="71151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pic>
        <p:nvPicPr>
          <p:cNvPr id="59" name="图片 58"/>
          <p:cNvPicPr>
            <a:picLocks noChangeAspect="1"/>
          </p:cNvPicPr>
          <p:nvPr/>
        </p:nvPicPr>
        <p:blipFill>
          <a:blip r:embed="rId2"/>
          <a:stretch>
            <a:fillRect/>
          </a:stretch>
        </p:blipFill>
        <p:spPr>
          <a:xfrm>
            <a:off x="4572000" y="2891790"/>
            <a:ext cx="2938780" cy="730250"/>
          </a:xfrm>
          <a:prstGeom prst="rect">
            <a:avLst/>
          </a:prstGeom>
        </p:spPr>
      </p:pic>
      <p:pic>
        <p:nvPicPr>
          <p:cNvPr id="60" name="图片 59"/>
          <p:cNvPicPr>
            <a:picLocks noChangeAspect="1"/>
          </p:cNvPicPr>
          <p:nvPr/>
        </p:nvPicPr>
        <p:blipFill>
          <a:blip r:embed="rId3"/>
          <a:stretch>
            <a:fillRect/>
          </a:stretch>
        </p:blipFill>
        <p:spPr>
          <a:xfrm>
            <a:off x="4419600" y="4638675"/>
            <a:ext cx="3333115" cy="593725"/>
          </a:xfrm>
          <a:prstGeom prst="rect">
            <a:avLst/>
          </a:prstGeom>
        </p:spPr>
      </p:pic>
      <p:pic>
        <p:nvPicPr>
          <p:cNvPr id="61" name="图片 60"/>
          <p:cNvPicPr>
            <a:picLocks noChangeAspect="1"/>
          </p:cNvPicPr>
          <p:nvPr/>
        </p:nvPicPr>
        <p:blipFill>
          <a:blip r:embed="rId4"/>
          <a:stretch>
            <a:fillRect/>
          </a:stretch>
        </p:blipFill>
        <p:spPr>
          <a:xfrm>
            <a:off x="4724400" y="5269865"/>
            <a:ext cx="2667000" cy="489585"/>
          </a:xfrm>
          <a:prstGeom prst="rect">
            <a:avLst/>
          </a:prstGeom>
        </p:spPr>
      </p:pic>
      <p:pic>
        <p:nvPicPr>
          <p:cNvPr id="62" name="图片 61"/>
          <p:cNvPicPr>
            <a:picLocks noChangeAspect="1"/>
          </p:cNvPicPr>
          <p:nvPr/>
        </p:nvPicPr>
        <p:blipFill>
          <a:blip r:embed="rId5"/>
          <a:stretch>
            <a:fillRect/>
          </a:stretch>
        </p:blipFill>
        <p:spPr>
          <a:xfrm>
            <a:off x="4343400" y="5781675"/>
            <a:ext cx="3489325" cy="475615"/>
          </a:xfrm>
          <a:prstGeom prst="rect">
            <a:avLst/>
          </a:prstGeom>
        </p:spPr>
      </p:pic>
      <p:pic>
        <p:nvPicPr>
          <p:cNvPr id="63" name="图片 62"/>
          <p:cNvPicPr>
            <a:picLocks noChangeAspect="1"/>
          </p:cNvPicPr>
          <p:nvPr/>
        </p:nvPicPr>
        <p:blipFill>
          <a:blip r:embed="rId6"/>
          <a:stretch>
            <a:fillRect/>
          </a:stretch>
        </p:blipFill>
        <p:spPr>
          <a:xfrm>
            <a:off x="8763000" y="4305300"/>
            <a:ext cx="2193925" cy="552450"/>
          </a:xfrm>
          <a:prstGeom prst="rect">
            <a:avLst/>
          </a:prstGeom>
        </p:spPr>
      </p:pic>
      <p:pic>
        <p:nvPicPr>
          <p:cNvPr id="64" name="图片 63"/>
          <p:cNvPicPr>
            <a:picLocks noChangeAspect="1"/>
          </p:cNvPicPr>
          <p:nvPr/>
        </p:nvPicPr>
        <p:blipFill>
          <a:blip r:embed="rId7"/>
          <a:stretch>
            <a:fillRect/>
          </a:stretch>
        </p:blipFill>
        <p:spPr>
          <a:xfrm>
            <a:off x="8610600" y="4886325"/>
            <a:ext cx="2609850" cy="666750"/>
          </a:xfrm>
          <a:prstGeom prst="rect">
            <a:avLst/>
          </a:prstGeom>
        </p:spPr>
      </p:pic>
      <p:pic>
        <p:nvPicPr>
          <p:cNvPr id="65" name="图片 64"/>
          <p:cNvPicPr>
            <a:picLocks noChangeAspect="1"/>
          </p:cNvPicPr>
          <p:nvPr/>
        </p:nvPicPr>
        <p:blipFill>
          <a:blip r:embed="rId8"/>
          <a:stretch>
            <a:fillRect/>
          </a:stretch>
        </p:blipFill>
        <p:spPr>
          <a:xfrm>
            <a:off x="4300220" y="6391275"/>
            <a:ext cx="3545840" cy="548005"/>
          </a:xfrm>
          <a:prstGeom prst="rect">
            <a:avLst/>
          </a:prstGeom>
        </p:spPr>
      </p:pic>
      <p:pic>
        <p:nvPicPr>
          <p:cNvPr id="66" name="图片 65"/>
          <p:cNvPicPr>
            <a:picLocks noChangeAspect="1"/>
          </p:cNvPicPr>
          <p:nvPr/>
        </p:nvPicPr>
        <p:blipFill>
          <a:blip r:embed="rId9"/>
          <a:stretch>
            <a:fillRect/>
          </a:stretch>
        </p:blipFill>
        <p:spPr>
          <a:xfrm>
            <a:off x="8129905" y="5705475"/>
            <a:ext cx="3576955" cy="6000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0" y="685673"/>
            <a:ext cx="4937760" cy="490855"/>
          </a:xfrm>
          <a:prstGeom prst="rect">
            <a:avLst/>
          </a:prstGeom>
        </p:spPr>
        <p:txBody>
          <a:bodyPr vert="horz" wrap="square" lIns="0" tIns="12700" rIns="0" bIns="0" rtlCol="0">
            <a:spAutoFit/>
          </a:bodyPr>
          <a:lstStyle/>
          <a:p>
            <a:pPr marL="12700">
              <a:spcBef>
                <a:spcPts val="100"/>
              </a:spcBef>
            </a:pPr>
            <a:r>
              <a:rPr spc="-305" dirty="0">
                <a:latin typeface="微软雅黑" panose="020B0503020204020204" charset="-122"/>
                <a:cs typeface="微软雅黑" panose="020B0503020204020204" charset="-122"/>
              </a:rPr>
              <a:t>实验分析</a:t>
            </a:r>
            <a:r>
              <a:rPr spc="-305" dirty="0"/>
              <a:t>：</a:t>
            </a:r>
            <a:r>
              <a:rPr spc="-320" dirty="0">
                <a:latin typeface="微软雅黑" panose="020B0503020204020204" charset="-122"/>
                <a:cs typeface="微软雅黑" panose="020B0503020204020204" charset="-122"/>
              </a:rPr>
              <a:t>常规长短期预测基准</a:t>
            </a:r>
            <a:endParaRPr spc="-320" dirty="0">
              <a:latin typeface="微软雅黑" panose="020B0503020204020204" charset="-122"/>
              <a:cs typeface="微软雅黑" panose="020B0503020204020204" charset="-122"/>
            </a:endParaRPr>
          </a:p>
        </p:txBody>
      </p:sp>
      <p:sp>
        <p:nvSpPr>
          <p:cNvPr id="3" name="object 3"/>
          <p:cNvSpPr/>
          <p:nvPr/>
        </p:nvSpPr>
        <p:spPr>
          <a:xfrm>
            <a:off x="457200" y="1647825"/>
            <a:ext cx="19050" cy="1019175"/>
          </a:xfrm>
          <a:custGeom>
            <a:avLst/>
            <a:gdLst/>
            <a:ahLst/>
            <a:cxnLst/>
            <a:rect l="l" t="t" r="r" b="b"/>
            <a:pathLst>
              <a:path w="19050" h="1019175">
                <a:moveTo>
                  <a:pt x="19049" y="1019174"/>
                </a:moveTo>
                <a:lnTo>
                  <a:pt x="0" y="1019174"/>
                </a:lnTo>
                <a:lnTo>
                  <a:pt x="0" y="0"/>
                </a:lnTo>
                <a:lnTo>
                  <a:pt x="19049" y="0"/>
                </a:lnTo>
                <a:lnTo>
                  <a:pt x="19049" y="1019174"/>
                </a:lnTo>
                <a:close/>
              </a:path>
            </a:pathLst>
          </a:custGeom>
          <a:solidFill>
            <a:srgbClr val="000000"/>
          </a:solidFill>
        </p:spPr>
        <p:txBody>
          <a:bodyPr wrap="square" lIns="0" tIns="0" rIns="0" bIns="0" rtlCol="0"/>
          <a:lstStyle/>
          <a:p/>
        </p:txBody>
      </p:sp>
      <p:grpSp>
        <p:nvGrpSpPr>
          <p:cNvPr id="4" name="object 4"/>
          <p:cNvGrpSpPr/>
          <p:nvPr/>
        </p:nvGrpSpPr>
        <p:grpSpPr>
          <a:xfrm>
            <a:off x="461963" y="2900362"/>
            <a:ext cx="4314825" cy="1009650"/>
            <a:chOff x="461962" y="2605087"/>
            <a:chExt cx="4314825" cy="1009650"/>
          </a:xfrm>
        </p:grpSpPr>
        <p:sp>
          <p:nvSpPr>
            <p:cNvPr id="5" name="object 5"/>
            <p:cNvSpPr/>
            <p:nvPr/>
          </p:nvSpPr>
          <p:spPr>
            <a:xfrm>
              <a:off x="461962" y="2605087"/>
              <a:ext cx="4314825" cy="1009650"/>
            </a:xfrm>
            <a:custGeom>
              <a:avLst/>
              <a:gdLst/>
              <a:ahLst/>
              <a:cxnLst/>
              <a:rect l="l" t="t" r="r" b="b"/>
              <a:pathLst>
                <a:path w="4314825" h="1009650">
                  <a:moveTo>
                    <a:pt x="4302431" y="1009649"/>
                  </a:moveTo>
                  <a:lnTo>
                    <a:pt x="12392" y="1009649"/>
                  </a:lnTo>
                  <a:lnTo>
                    <a:pt x="10570" y="1009287"/>
                  </a:lnTo>
                  <a:lnTo>
                    <a:pt x="0" y="997256"/>
                  </a:lnTo>
                  <a:lnTo>
                    <a:pt x="0" y="995362"/>
                  </a:lnTo>
                  <a:lnTo>
                    <a:pt x="0" y="12392"/>
                  </a:lnTo>
                  <a:lnTo>
                    <a:pt x="12392" y="0"/>
                  </a:lnTo>
                  <a:lnTo>
                    <a:pt x="4302431" y="0"/>
                  </a:lnTo>
                  <a:lnTo>
                    <a:pt x="4314824" y="12392"/>
                  </a:lnTo>
                  <a:lnTo>
                    <a:pt x="4314824" y="997256"/>
                  </a:lnTo>
                  <a:lnTo>
                    <a:pt x="4304253" y="1009287"/>
                  </a:lnTo>
                  <a:lnTo>
                    <a:pt x="4302431" y="1009649"/>
                  </a:lnTo>
                  <a:close/>
                </a:path>
              </a:pathLst>
            </a:custGeom>
            <a:solidFill>
              <a:srgbClr val="F9FAFA"/>
            </a:solidFill>
          </p:spPr>
          <p:txBody>
            <a:bodyPr wrap="square" lIns="0" tIns="0" rIns="0" bIns="0" rtlCol="0"/>
            <a:lstStyle/>
            <a:p/>
          </p:txBody>
        </p:sp>
        <p:sp>
          <p:nvSpPr>
            <p:cNvPr id="6" name="object 6"/>
            <p:cNvSpPr/>
            <p:nvPr/>
          </p:nvSpPr>
          <p:spPr>
            <a:xfrm>
              <a:off x="619124" y="2819399"/>
              <a:ext cx="76200" cy="76200"/>
            </a:xfrm>
            <a:custGeom>
              <a:avLst/>
              <a:gdLst/>
              <a:ahLst/>
              <a:cxnLst/>
              <a:rect l="l" t="t" r="r" b="b"/>
              <a:pathLst>
                <a:path w="76200" h="76200">
                  <a:moveTo>
                    <a:pt x="76199" y="76199"/>
                  </a:moveTo>
                  <a:lnTo>
                    <a:pt x="0" y="76199"/>
                  </a:lnTo>
                  <a:lnTo>
                    <a:pt x="0" y="0"/>
                  </a:lnTo>
                  <a:lnTo>
                    <a:pt x="76199" y="0"/>
                  </a:lnTo>
                  <a:lnTo>
                    <a:pt x="76199" y="76199"/>
                  </a:lnTo>
                  <a:close/>
                </a:path>
              </a:pathLst>
            </a:custGeom>
            <a:solidFill>
              <a:srgbClr val="000000"/>
            </a:solidFill>
          </p:spPr>
          <p:txBody>
            <a:bodyPr wrap="square" lIns="0" tIns="0" rIns="0" bIns="0" rtlCol="0"/>
            <a:lstStyle/>
            <a:p/>
          </p:txBody>
        </p:sp>
      </p:grpSp>
      <p:grpSp>
        <p:nvGrpSpPr>
          <p:cNvPr id="7" name="object 7"/>
          <p:cNvGrpSpPr/>
          <p:nvPr/>
        </p:nvGrpSpPr>
        <p:grpSpPr>
          <a:xfrm>
            <a:off x="461963" y="4071938"/>
            <a:ext cx="4314825" cy="1019175"/>
            <a:chOff x="461962" y="3776662"/>
            <a:chExt cx="4314825" cy="1019175"/>
          </a:xfrm>
        </p:grpSpPr>
        <p:sp>
          <p:nvSpPr>
            <p:cNvPr id="8" name="object 8"/>
            <p:cNvSpPr/>
            <p:nvPr/>
          </p:nvSpPr>
          <p:spPr>
            <a:xfrm>
              <a:off x="461962" y="3776662"/>
              <a:ext cx="4314825" cy="1019175"/>
            </a:xfrm>
            <a:custGeom>
              <a:avLst/>
              <a:gdLst/>
              <a:ahLst/>
              <a:cxnLst/>
              <a:rect l="l" t="t" r="r" b="b"/>
              <a:pathLst>
                <a:path w="4314825" h="1019175">
                  <a:moveTo>
                    <a:pt x="4302431" y="1019174"/>
                  </a:moveTo>
                  <a:lnTo>
                    <a:pt x="12392" y="1019174"/>
                  </a:lnTo>
                  <a:lnTo>
                    <a:pt x="10570" y="1018811"/>
                  </a:lnTo>
                  <a:lnTo>
                    <a:pt x="0" y="1006781"/>
                  </a:lnTo>
                  <a:lnTo>
                    <a:pt x="0" y="1004887"/>
                  </a:lnTo>
                  <a:lnTo>
                    <a:pt x="0" y="12392"/>
                  </a:lnTo>
                  <a:lnTo>
                    <a:pt x="12392" y="0"/>
                  </a:lnTo>
                  <a:lnTo>
                    <a:pt x="4302431" y="0"/>
                  </a:lnTo>
                  <a:lnTo>
                    <a:pt x="4314824" y="12392"/>
                  </a:lnTo>
                  <a:lnTo>
                    <a:pt x="4314824" y="1006781"/>
                  </a:lnTo>
                  <a:lnTo>
                    <a:pt x="4304253" y="1018811"/>
                  </a:lnTo>
                  <a:lnTo>
                    <a:pt x="4302431" y="1019174"/>
                  </a:lnTo>
                  <a:close/>
                </a:path>
              </a:pathLst>
            </a:custGeom>
            <a:solidFill>
              <a:srgbClr val="F9FAFA"/>
            </a:solidFill>
          </p:spPr>
          <p:txBody>
            <a:bodyPr wrap="square" lIns="0" tIns="0" rIns="0" bIns="0" rtlCol="0"/>
            <a:lstStyle/>
            <a:p/>
          </p:txBody>
        </p:sp>
        <p:sp>
          <p:nvSpPr>
            <p:cNvPr id="9" name="object 9"/>
            <p:cNvSpPr/>
            <p:nvPr/>
          </p:nvSpPr>
          <p:spPr>
            <a:xfrm>
              <a:off x="623887" y="3995737"/>
              <a:ext cx="66675" cy="66675"/>
            </a:xfrm>
            <a:custGeom>
              <a:avLst/>
              <a:gdLst/>
              <a:ahLst/>
              <a:cxnLst/>
              <a:rect l="l" t="t" r="r" b="b"/>
              <a:pathLst>
                <a:path w="66675" h="66675">
                  <a:moveTo>
                    <a:pt x="0" y="0"/>
                  </a:moveTo>
                  <a:lnTo>
                    <a:pt x="66674" y="0"/>
                  </a:lnTo>
                  <a:lnTo>
                    <a:pt x="66674" y="66674"/>
                  </a:lnTo>
                  <a:lnTo>
                    <a:pt x="0" y="66674"/>
                  </a:lnTo>
                  <a:lnTo>
                    <a:pt x="0" y="0"/>
                  </a:lnTo>
                  <a:close/>
                </a:path>
              </a:pathLst>
            </a:custGeom>
            <a:ln w="9524">
              <a:solidFill>
                <a:srgbClr val="000000"/>
              </a:solidFill>
            </a:ln>
          </p:spPr>
          <p:txBody>
            <a:bodyPr wrap="square" lIns="0" tIns="0" rIns="0" bIns="0" rtlCol="0"/>
            <a:lstStyle/>
            <a:p/>
          </p:txBody>
        </p:sp>
      </p:grpSp>
      <p:sp>
        <p:nvSpPr>
          <p:cNvPr id="10" name="object 10"/>
          <p:cNvSpPr txBox="1"/>
          <p:nvPr/>
        </p:nvSpPr>
        <p:spPr>
          <a:xfrm>
            <a:off x="615950" y="1592557"/>
            <a:ext cx="3844925" cy="1054100"/>
          </a:xfrm>
          <a:prstGeom prst="rect">
            <a:avLst/>
          </a:prstGeom>
        </p:spPr>
        <p:txBody>
          <a:bodyPr vert="horz" wrap="square" lIns="0" tIns="45720" rIns="0" bIns="0" rtlCol="0">
            <a:spAutoFit/>
          </a:bodyPr>
          <a:lstStyle/>
          <a:p>
            <a:pPr marL="12700" algn="just">
              <a:spcBef>
                <a:spcPts val="360"/>
              </a:spcBef>
            </a:pPr>
            <a:r>
              <a:rPr sz="1050" spc="135" dirty="0">
                <a:solidFill>
                  <a:srgbClr val="6A7280"/>
                </a:solidFill>
                <a:latin typeface="宋体" panose="02010600030101010101" pitchFamily="2" charset="-122"/>
                <a:cs typeface="宋体" panose="02010600030101010101" pitchFamily="2" charset="-122"/>
              </a:rPr>
              <a:t>IMPACT</a:t>
            </a:r>
            <a:r>
              <a:rPr sz="1050" spc="15" dirty="0">
                <a:solidFill>
                  <a:srgbClr val="6A7280"/>
                </a:solidFill>
                <a:latin typeface="宋体" panose="02010600030101010101" pitchFamily="2" charset="-122"/>
                <a:cs typeface="宋体" panose="02010600030101010101" pitchFamily="2" charset="-122"/>
              </a:rPr>
              <a:t> </a:t>
            </a:r>
            <a:r>
              <a:rPr sz="1050" spc="155" dirty="0">
                <a:solidFill>
                  <a:srgbClr val="6A7280"/>
                </a:solidFill>
                <a:latin typeface="宋体" panose="02010600030101010101" pitchFamily="2" charset="-122"/>
                <a:cs typeface="宋体" panose="02010600030101010101" pitchFamily="2" charset="-122"/>
              </a:rPr>
              <a:t>OVERVIEW</a:t>
            </a:r>
            <a:endParaRPr sz="1050">
              <a:latin typeface="宋体" panose="02010600030101010101" pitchFamily="2" charset="-122"/>
              <a:cs typeface="宋体" panose="02010600030101010101" pitchFamily="2" charset="-122"/>
            </a:endParaRPr>
          </a:p>
          <a:p>
            <a:pPr marL="12700" marR="5080" algn="just">
              <a:lnSpc>
                <a:spcPct val="101000"/>
              </a:lnSpc>
              <a:spcBef>
                <a:spcPts val="390"/>
              </a:spcBef>
            </a:pPr>
            <a:r>
              <a:rPr sz="1700" spc="-340" dirty="0">
                <a:latin typeface="宋体" panose="02010600030101010101" pitchFamily="2" charset="-122"/>
                <a:cs typeface="宋体" panose="02010600030101010101" pitchFamily="2" charset="-122"/>
              </a:rPr>
              <a:t>在 </a:t>
            </a:r>
            <a:r>
              <a:rPr sz="1650" spc="-105" dirty="0">
                <a:latin typeface="Lucida Sans Unicode" panose="020B0602030504020204"/>
                <a:cs typeface="Lucida Sans Unicode" panose="020B0602030504020204"/>
              </a:rPr>
              <a:t>9</a:t>
            </a:r>
            <a:r>
              <a:rPr sz="1650" spc="-120" dirty="0">
                <a:latin typeface="Lucida Sans Unicode" panose="020B0602030504020204"/>
                <a:cs typeface="Lucida Sans Unicode" panose="020B0602030504020204"/>
              </a:rPr>
              <a:t> </a:t>
            </a:r>
            <a:r>
              <a:rPr sz="1700" spc="-195" dirty="0">
                <a:latin typeface="宋体" panose="02010600030101010101" pitchFamily="2" charset="-122"/>
                <a:cs typeface="宋体" panose="02010600030101010101" pitchFamily="2" charset="-122"/>
              </a:rPr>
              <a:t>大真实数据集上，</a:t>
            </a:r>
            <a:r>
              <a:rPr sz="1650" spc="-110" dirty="0">
                <a:latin typeface="Microsoft Sans Serif" panose="020B0604020202020204"/>
                <a:cs typeface="Microsoft Sans Serif" panose="020B0604020202020204"/>
              </a:rPr>
              <a:t>xCPD</a:t>
            </a:r>
            <a:r>
              <a:rPr sz="1650" spc="-100" dirty="0">
                <a:latin typeface="Microsoft Sans Serif" panose="020B0604020202020204"/>
                <a:cs typeface="Microsoft Sans Serif" panose="020B0604020202020204"/>
              </a:rPr>
              <a:t> </a:t>
            </a:r>
            <a:r>
              <a:rPr sz="1700" spc="-204" dirty="0">
                <a:latin typeface="宋体" panose="02010600030101010101" pitchFamily="2" charset="-122"/>
                <a:cs typeface="宋体" panose="02010600030101010101" pitchFamily="2" charset="-122"/>
              </a:rPr>
              <a:t>广泛增强了各类</a:t>
            </a:r>
            <a:r>
              <a:rPr sz="1700" spc="-105" dirty="0">
                <a:latin typeface="宋体" panose="02010600030101010101" pitchFamily="2" charset="-122"/>
                <a:cs typeface="宋体" panose="02010600030101010101" pitchFamily="2" charset="-122"/>
              </a:rPr>
              <a:t> </a:t>
            </a:r>
            <a:r>
              <a:rPr sz="1650" spc="-150" dirty="0">
                <a:latin typeface="Microsoft Sans Serif" panose="020B0604020202020204"/>
                <a:cs typeface="Microsoft Sans Serif" panose="020B0604020202020204"/>
              </a:rPr>
              <a:t>SOTA</a:t>
            </a:r>
            <a:r>
              <a:rPr sz="1650" spc="-80" dirty="0">
                <a:latin typeface="Microsoft Sans Serif" panose="020B0604020202020204"/>
                <a:cs typeface="Microsoft Sans Serif" panose="020B0604020202020204"/>
              </a:rPr>
              <a:t> </a:t>
            </a:r>
            <a:r>
              <a:rPr sz="1700" spc="-204" dirty="0">
                <a:latin typeface="宋体" panose="02010600030101010101" pitchFamily="2" charset="-122"/>
                <a:cs typeface="宋体" panose="02010600030101010101" pitchFamily="2" charset="-122"/>
              </a:rPr>
              <a:t>骨干模型，展现了频域隔离机制的通用性。</a:t>
            </a:r>
            <a:endParaRPr sz="1700">
              <a:latin typeface="宋体" panose="02010600030101010101" pitchFamily="2" charset="-122"/>
              <a:cs typeface="宋体" panose="02010600030101010101" pitchFamily="2" charset="-122"/>
            </a:endParaRPr>
          </a:p>
        </p:txBody>
      </p:sp>
      <p:sp>
        <p:nvSpPr>
          <p:cNvPr id="11" name="object 11"/>
          <p:cNvSpPr txBox="1"/>
          <p:nvPr/>
        </p:nvSpPr>
        <p:spPr>
          <a:xfrm>
            <a:off x="461963" y="2900362"/>
            <a:ext cx="4314825" cy="807720"/>
          </a:xfrm>
          <a:prstGeom prst="rect">
            <a:avLst/>
          </a:prstGeom>
          <a:ln w="16595">
            <a:solidFill>
              <a:srgbClr val="F2F4F5"/>
            </a:solidFill>
          </a:ln>
        </p:spPr>
        <p:txBody>
          <a:bodyPr vert="horz" wrap="square" lIns="0" tIns="635" rIns="0" bIns="0" rtlCol="0">
            <a:spAutoFit/>
          </a:bodyPr>
          <a:lstStyle/>
          <a:p>
            <a:pPr>
              <a:spcBef>
                <a:spcPts val="5"/>
              </a:spcBef>
            </a:pPr>
            <a:endParaRPr sz="1050">
              <a:latin typeface="Times New Roman" panose="02020603050405020304"/>
              <a:cs typeface="Times New Roman" panose="02020603050405020304"/>
            </a:endParaRPr>
          </a:p>
          <a:p>
            <a:pPr marL="309245"/>
            <a:r>
              <a:rPr sz="1150" b="1" spc="-15" dirty="0">
                <a:latin typeface="微软雅黑" panose="020B0503020204020204" charset="-122"/>
                <a:cs typeface="微软雅黑" panose="020B0503020204020204" charset="-122"/>
              </a:rPr>
              <a:t>增强 </a:t>
            </a:r>
            <a:r>
              <a:rPr sz="1100" b="1" dirty="0">
                <a:latin typeface="Arial" panose="020B0604020202020204"/>
                <a:cs typeface="Arial" panose="020B0604020202020204"/>
              </a:rPr>
              <a:t>CI</a:t>
            </a:r>
            <a:r>
              <a:rPr sz="1100" b="1" spc="90" dirty="0">
                <a:latin typeface="Arial" panose="020B0604020202020204"/>
                <a:cs typeface="Arial" panose="020B0604020202020204"/>
              </a:rPr>
              <a:t> </a:t>
            </a:r>
            <a:r>
              <a:rPr sz="1150" b="1" spc="-15" dirty="0">
                <a:latin typeface="微软雅黑" panose="020B0503020204020204" charset="-122"/>
                <a:cs typeface="微软雅黑" panose="020B0503020204020204" charset="-122"/>
              </a:rPr>
              <a:t>模型 </a:t>
            </a:r>
            <a:r>
              <a:rPr sz="1100" b="1" spc="45" dirty="0">
                <a:latin typeface="Arial" panose="020B0604020202020204"/>
                <a:cs typeface="Arial" panose="020B0604020202020204"/>
              </a:rPr>
              <a:t>(DLINEAR</a:t>
            </a:r>
            <a:r>
              <a:rPr sz="1100" b="1" spc="65" dirty="0">
                <a:latin typeface="Arial" panose="020B0604020202020204"/>
                <a:cs typeface="Arial" panose="020B0604020202020204"/>
              </a:rPr>
              <a:t>, </a:t>
            </a:r>
            <a:r>
              <a:rPr sz="1100" b="1" spc="-10" dirty="0">
                <a:latin typeface="Arial" panose="020B0604020202020204"/>
                <a:cs typeface="Arial" panose="020B0604020202020204"/>
              </a:rPr>
              <a:t>PATCHTST)</a:t>
            </a:r>
            <a:endParaRPr sz="1100">
              <a:latin typeface="Arial" panose="020B0604020202020204"/>
              <a:cs typeface="Arial" panose="020B0604020202020204"/>
            </a:endParaRPr>
          </a:p>
          <a:p>
            <a:pPr marL="156845" marR="205740">
              <a:lnSpc>
                <a:spcPct val="131000"/>
              </a:lnSpc>
              <a:spcBef>
                <a:spcPts val="355"/>
              </a:spcBef>
            </a:pPr>
            <a:r>
              <a:rPr sz="1050" dirty="0">
                <a:solidFill>
                  <a:srgbClr val="374050"/>
                </a:solidFill>
                <a:latin typeface="宋体" panose="02010600030101010101" pitchFamily="2" charset="-122"/>
                <a:cs typeface="宋体" panose="02010600030101010101" pitchFamily="2" charset="-122"/>
              </a:rPr>
              <a:t>找回了通道独立（CI）模型缺失的关键跨通道交互，</a:t>
            </a:r>
            <a:r>
              <a:rPr sz="1050" spc="-10" dirty="0">
                <a:solidFill>
                  <a:srgbClr val="374050"/>
                </a:solidFill>
                <a:latin typeface="宋体" panose="02010600030101010101" pitchFamily="2" charset="-122"/>
                <a:cs typeface="宋体" panose="02010600030101010101" pitchFamily="2" charset="-122"/>
              </a:rPr>
              <a:t>使得 </a:t>
            </a:r>
            <a:r>
              <a:rPr sz="1050" spc="145" dirty="0">
                <a:solidFill>
                  <a:srgbClr val="374050"/>
                </a:solidFill>
                <a:latin typeface="宋体" panose="02010600030101010101" pitchFamily="2" charset="-122"/>
                <a:cs typeface="宋体" panose="02010600030101010101" pitchFamily="2" charset="-122"/>
              </a:rPr>
              <a:t>MSE</a:t>
            </a:r>
            <a:r>
              <a:rPr sz="1050" spc="-5" dirty="0">
                <a:solidFill>
                  <a:srgbClr val="374050"/>
                </a:solidFill>
                <a:latin typeface="宋体" panose="02010600030101010101" pitchFamily="2" charset="-122"/>
                <a:cs typeface="宋体" panose="02010600030101010101" pitchFamily="2" charset="-122"/>
              </a:rPr>
              <a:t>指标在大规模任务中大幅度下降。</a:t>
            </a:r>
            <a:endParaRPr sz="1050">
              <a:latin typeface="宋体" panose="02010600030101010101" pitchFamily="2" charset="-122"/>
              <a:cs typeface="宋体" panose="02010600030101010101" pitchFamily="2" charset="-122"/>
            </a:endParaRPr>
          </a:p>
        </p:txBody>
      </p:sp>
      <p:sp>
        <p:nvSpPr>
          <p:cNvPr id="12" name="object 12"/>
          <p:cNvSpPr txBox="1"/>
          <p:nvPr/>
        </p:nvSpPr>
        <p:spPr>
          <a:xfrm>
            <a:off x="461963" y="4071938"/>
            <a:ext cx="4314825" cy="817245"/>
          </a:xfrm>
          <a:prstGeom prst="rect">
            <a:avLst/>
          </a:prstGeom>
          <a:ln w="16595">
            <a:solidFill>
              <a:srgbClr val="F2F4F5"/>
            </a:solidFill>
          </a:ln>
        </p:spPr>
        <p:txBody>
          <a:bodyPr vert="horz" wrap="square" lIns="0" tIns="635" rIns="0" bIns="0" rtlCol="0">
            <a:spAutoFit/>
          </a:bodyPr>
          <a:lstStyle/>
          <a:p>
            <a:pPr>
              <a:spcBef>
                <a:spcPts val="5"/>
              </a:spcBef>
            </a:pPr>
            <a:endParaRPr sz="1050">
              <a:latin typeface="Times New Roman" panose="02020603050405020304"/>
              <a:cs typeface="Times New Roman" panose="02020603050405020304"/>
            </a:endParaRPr>
          </a:p>
          <a:p>
            <a:pPr marL="309245"/>
            <a:r>
              <a:rPr sz="1150" b="1" spc="15" dirty="0">
                <a:latin typeface="微软雅黑" panose="020B0503020204020204" charset="-122"/>
                <a:cs typeface="微软雅黑" panose="020B0503020204020204" charset="-122"/>
              </a:rPr>
              <a:t>优化 </a:t>
            </a:r>
            <a:r>
              <a:rPr sz="1100" b="1" dirty="0">
                <a:latin typeface="Arial" panose="020B0604020202020204"/>
                <a:cs typeface="Arial" panose="020B0604020202020204"/>
              </a:rPr>
              <a:t>CD</a:t>
            </a:r>
            <a:r>
              <a:rPr sz="1100" b="1" spc="190" dirty="0">
                <a:latin typeface="Arial" panose="020B0604020202020204"/>
                <a:cs typeface="Arial" panose="020B0604020202020204"/>
              </a:rPr>
              <a:t> </a:t>
            </a:r>
            <a:r>
              <a:rPr sz="1150" b="1" spc="15" dirty="0">
                <a:latin typeface="微软雅黑" panose="020B0503020204020204" charset="-122"/>
                <a:cs typeface="微软雅黑" panose="020B0503020204020204" charset="-122"/>
              </a:rPr>
              <a:t>模型 </a:t>
            </a:r>
            <a:r>
              <a:rPr sz="1100" b="1" dirty="0">
                <a:latin typeface="Arial" panose="020B0604020202020204"/>
                <a:cs typeface="Arial" panose="020B0604020202020204"/>
              </a:rPr>
              <a:t>(TSMIXER</a:t>
            </a:r>
            <a:r>
              <a:rPr sz="1100" b="1" spc="90" dirty="0">
                <a:latin typeface="Arial" panose="020B0604020202020204"/>
                <a:cs typeface="Arial" panose="020B0604020202020204"/>
              </a:rPr>
              <a:t>, </a:t>
            </a:r>
            <a:r>
              <a:rPr sz="1100" b="1" spc="-10" dirty="0">
                <a:latin typeface="Arial" panose="020B0604020202020204"/>
                <a:cs typeface="Arial" panose="020B0604020202020204"/>
              </a:rPr>
              <a:t>TIMESNET)</a:t>
            </a:r>
            <a:endParaRPr sz="1100">
              <a:latin typeface="Arial" panose="020B0604020202020204"/>
              <a:cs typeface="Arial" panose="020B0604020202020204"/>
            </a:endParaRPr>
          </a:p>
          <a:p>
            <a:pPr marL="156845">
              <a:spcBef>
                <a:spcPts val="745"/>
              </a:spcBef>
            </a:pPr>
            <a:r>
              <a:rPr sz="1050" spc="-50" dirty="0">
                <a:solidFill>
                  <a:srgbClr val="374050"/>
                </a:solidFill>
                <a:latin typeface="宋体" panose="02010600030101010101" pitchFamily="2" charset="-122"/>
                <a:cs typeface="宋体" panose="02010600030101010101" pitchFamily="2" charset="-122"/>
              </a:rPr>
              <a:t>通过频域去噪，有效抑制了“全连接”架构带来的噪声跨通道传播</a:t>
            </a:r>
            <a:endParaRPr sz="1050">
              <a:latin typeface="宋体" panose="02010600030101010101" pitchFamily="2" charset="-122"/>
              <a:cs typeface="宋体" panose="02010600030101010101" pitchFamily="2" charset="-122"/>
            </a:endParaRPr>
          </a:p>
          <a:p>
            <a:pPr marL="156845">
              <a:spcBef>
                <a:spcPts val="465"/>
              </a:spcBef>
            </a:pPr>
            <a:r>
              <a:rPr sz="1050" dirty="0">
                <a:solidFill>
                  <a:srgbClr val="374050"/>
                </a:solidFill>
                <a:latin typeface="宋体" panose="02010600030101010101" pitchFamily="2" charset="-122"/>
                <a:cs typeface="宋体" panose="02010600030101010101" pitchFamily="2" charset="-122"/>
              </a:rPr>
              <a:t>，</a:t>
            </a:r>
            <a:r>
              <a:rPr sz="1050" spc="-5" dirty="0">
                <a:solidFill>
                  <a:srgbClr val="374050"/>
                </a:solidFill>
                <a:latin typeface="宋体" panose="02010600030101010101" pitchFamily="2" charset="-122"/>
                <a:cs typeface="宋体" panose="02010600030101010101" pitchFamily="2" charset="-122"/>
              </a:rPr>
              <a:t>平衡了交互与准确性。</a:t>
            </a:r>
            <a:endParaRPr sz="1050">
              <a:latin typeface="宋体" panose="02010600030101010101" pitchFamily="2" charset="-122"/>
              <a:cs typeface="宋体" panose="02010600030101010101" pitchFamily="2" charset="-122"/>
            </a:endParaRPr>
          </a:p>
        </p:txBody>
      </p:sp>
      <p:sp>
        <p:nvSpPr>
          <p:cNvPr id="13" name="object 13"/>
          <p:cNvSpPr txBox="1"/>
          <p:nvPr/>
        </p:nvSpPr>
        <p:spPr>
          <a:xfrm>
            <a:off x="457200" y="5657849"/>
            <a:ext cx="4324350" cy="805092"/>
          </a:xfrm>
          <a:prstGeom prst="rect">
            <a:avLst/>
          </a:prstGeom>
          <a:solidFill>
            <a:srgbClr val="000000"/>
          </a:solidFill>
        </p:spPr>
        <p:txBody>
          <a:bodyPr vert="horz" wrap="square" lIns="0" tIns="52705" rIns="0" bIns="0" rtlCol="0">
            <a:spAutoFit/>
          </a:bodyPr>
          <a:lstStyle/>
          <a:p>
            <a:pPr>
              <a:spcBef>
                <a:spcPts val="415"/>
              </a:spcBef>
            </a:pPr>
            <a:endParaRPr sz="900">
              <a:latin typeface="Times New Roman" panose="02020603050405020304"/>
              <a:cs typeface="Times New Roman" panose="02020603050405020304"/>
            </a:endParaRPr>
          </a:p>
          <a:p>
            <a:pPr marL="189865"/>
            <a:r>
              <a:rPr sz="950" spc="50" dirty="0">
                <a:solidFill>
                  <a:srgbClr val="FFFFFF"/>
                </a:solidFill>
                <a:latin typeface="Arial" panose="020B0604020202020204"/>
                <a:cs typeface="Arial" panose="020B0604020202020204"/>
              </a:rPr>
              <a:t>DATASET</a:t>
            </a:r>
            <a:r>
              <a:rPr sz="950" spc="175" dirty="0">
                <a:solidFill>
                  <a:srgbClr val="FFFFFF"/>
                </a:solidFill>
                <a:latin typeface="Arial" panose="020B0604020202020204"/>
                <a:cs typeface="Arial" panose="020B0604020202020204"/>
              </a:rPr>
              <a:t> </a:t>
            </a:r>
            <a:r>
              <a:rPr sz="950" spc="55" dirty="0">
                <a:solidFill>
                  <a:srgbClr val="FFFFFF"/>
                </a:solidFill>
                <a:latin typeface="Arial" panose="020B0604020202020204"/>
                <a:cs typeface="Arial" panose="020B0604020202020204"/>
              </a:rPr>
              <a:t>INSIGHT</a:t>
            </a:r>
            <a:endParaRPr sz="950">
              <a:latin typeface="Arial" panose="020B0604020202020204"/>
              <a:cs typeface="Arial" panose="020B0604020202020204"/>
            </a:endParaRPr>
          </a:p>
          <a:p>
            <a:pPr marL="189865" marR="221615">
              <a:lnSpc>
                <a:spcPct val="120000"/>
              </a:lnSpc>
              <a:spcBef>
                <a:spcPts val="490"/>
              </a:spcBef>
            </a:pPr>
            <a:r>
              <a:rPr sz="1150" spc="-190" dirty="0">
                <a:solidFill>
                  <a:srgbClr val="FFFFFF"/>
                </a:solidFill>
                <a:latin typeface="宋体" panose="02010600030101010101" pitchFamily="2" charset="-122"/>
                <a:cs typeface="宋体" panose="02010600030101010101" pitchFamily="2" charset="-122"/>
              </a:rPr>
              <a:t>在 </a:t>
            </a:r>
            <a:r>
              <a:rPr sz="1150" spc="-20" dirty="0">
                <a:solidFill>
                  <a:srgbClr val="FFFFFF"/>
                </a:solidFill>
                <a:latin typeface="Microsoft Sans Serif" panose="020B0604020202020204"/>
                <a:cs typeface="Microsoft Sans Serif" panose="020B0604020202020204"/>
              </a:rPr>
              <a:t>Traffic</a:t>
            </a:r>
            <a:r>
              <a:rPr sz="1150" spc="-10" dirty="0">
                <a:solidFill>
                  <a:srgbClr val="FFFFFF"/>
                </a:solidFill>
                <a:latin typeface="Microsoft Sans Serif" panose="020B0604020202020204"/>
                <a:cs typeface="Microsoft Sans Serif" panose="020B0604020202020204"/>
              </a:rPr>
              <a:t> (</a:t>
            </a:r>
            <a:r>
              <a:rPr sz="1150" dirty="0">
                <a:solidFill>
                  <a:srgbClr val="FFFFFF"/>
                </a:solidFill>
                <a:latin typeface="Microsoft Sans Serif" panose="020B0604020202020204"/>
                <a:cs typeface="Microsoft Sans Serif" panose="020B0604020202020204"/>
              </a:rPr>
              <a:t>862</a:t>
            </a:r>
            <a:r>
              <a:rPr sz="1150" spc="-110" dirty="0">
                <a:solidFill>
                  <a:srgbClr val="FFFFFF"/>
                </a:solidFill>
                <a:latin typeface="宋体" panose="02010600030101010101" pitchFamily="2" charset="-122"/>
                <a:cs typeface="宋体" panose="02010600030101010101" pitchFamily="2" charset="-122"/>
              </a:rPr>
              <a:t>维</a:t>
            </a:r>
            <a:r>
              <a:rPr sz="1150" spc="-5" dirty="0">
                <a:solidFill>
                  <a:srgbClr val="FFFFFF"/>
                </a:solidFill>
                <a:latin typeface="Microsoft Sans Serif" panose="020B0604020202020204"/>
                <a:cs typeface="Microsoft Sans Serif" panose="020B0604020202020204"/>
              </a:rPr>
              <a:t>) </a:t>
            </a:r>
            <a:r>
              <a:rPr sz="1150" spc="-190" dirty="0">
                <a:solidFill>
                  <a:srgbClr val="FFFFFF"/>
                </a:solidFill>
                <a:latin typeface="宋体" panose="02010600030101010101" pitchFamily="2" charset="-122"/>
                <a:cs typeface="宋体" panose="02010600030101010101" pitchFamily="2" charset="-122"/>
              </a:rPr>
              <a:t>与 </a:t>
            </a:r>
            <a:r>
              <a:rPr sz="1150" spc="-10" dirty="0">
                <a:solidFill>
                  <a:srgbClr val="FFFFFF"/>
                </a:solidFill>
                <a:latin typeface="Microsoft Sans Serif" panose="020B0604020202020204"/>
                <a:cs typeface="Microsoft Sans Serif" panose="020B0604020202020204"/>
              </a:rPr>
              <a:t>Electricity</a:t>
            </a:r>
            <a:r>
              <a:rPr sz="1150" spc="-30" dirty="0">
                <a:solidFill>
                  <a:srgbClr val="FFFFFF"/>
                </a:solidFill>
                <a:latin typeface="Microsoft Sans Serif" panose="020B0604020202020204"/>
                <a:cs typeface="Microsoft Sans Serif" panose="020B0604020202020204"/>
              </a:rPr>
              <a:t> (</a:t>
            </a:r>
            <a:r>
              <a:rPr sz="1150" spc="-50" dirty="0">
                <a:solidFill>
                  <a:srgbClr val="FFFFFF"/>
                </a:solidFill>
                <a:latin typeface="Microsoft Sans Serif" panose="020B0604020202020204"/>
                <a:cs typeface="Microsoft Sans Serif" panose="020B0604020202020204"/>
              </a:rPr>
              <a:t>321</a:t>
            </a:r>
            <a:r>
              <a:rPr sz="1150" spc="-110" dirty="0">
                <a:solidFill>
                  <a:srgbClr val="FFFFFF"/>
                </a:solidFill>
                <a:latin typeface="宋体" panose="02010600030101010101" pitchFamily="2" charset="-122"/>
                <a:cs typeface="宋体" panose="02010600030101010101" pitchFamily="2" charset="-122"/>
              </a:rPr>
              <a:t>维</a:t>
            </a:r>
            <a:r>
              <a:rPr sz="1150" spc="-5" dirty="0">
                <a:solidFill>
                  <a:srgbClr val="FFFFFF"/>
                </a:solidFill>
                <a:latin typeface="Microsoft Sans Serif" panose="020B0604020202020204"/>
                <a:cs typeface="Microsoft Sans Serif" panose="020B0604020202020204"/>
              </a:rPr>
              <a:t>) </a:t>
            </a:r>
            <a:r>
              <a:rPr sz="1150" spc="-110" dirty="0">
                <a:solidFill>
                  <a:srgbClr val="FFFFFF"/>
                </a:solidFill>
                <a:latin typeface="宋体" panose="02010600030101010101" pitchFamily="2" charset="-122"/>
                <a:cs typeface="宋体" panose="02010600030101010101" pitchFamily="2" charset="-122"/>
              </a:rPr>
              <a:t>等</a:t>
            </a:r>
            <a:r>
              <a:rPr sz="1150" spc="65" dirty="0">
                <a:solidFill>
                  <a:srgbClr val="FFFFFF"/>
                </a:solidFill>
                <a:latin typeface="Microsoft Sans Serif" panose="020B0604020202020204"/>
                <a:cs typeface="Microsoft Sans Serif" panose="020B0604020202020204"/>
              </a:rPr>
              <a:t>**</a:t>
            </a:r>
            <a:r>
              <a:rPr sz="1150" spc="-110" dirty="0">
                <a:solidFill>
                  <a:srgbClr val="FFFFFF"/>
                </a:solidFill>
                <a:latin typeface="宋体" panose="02010600030101010101" pitchFamily="2" charset="-122"/>
                <a:cs typeface="宋体" panose="02010600030101010101" pitchFamily="2" charset="-122"/>
              </a:rPr>
              <a:t>大维异构数据</a:t>
            </a:r>
            <a:r>
              <a:rPr sz="1150" spc="65" dirty="0">
                <a:solidFill>
                  <a:srgbClr val="FFFFFF"/>
                </a:solidFill>
                <a:latin typeface="Microsoft Sans Serif" panose="020B0604020202020204"/>
                <a:cs typeface="Microsoft Sans Serif" panose="020B0604020202020204"/>
              </a:rPr>
              <a:t>**</a:t>
            </a:r>
            <a:r>
              <a:rPr sz="1150" spc="-80" dirty="0">
                <a:solidFill>
                  <a:srgbClr val="FFFFFF"/>
                </a:solidFill>
                <a:latin typeface="宋体" panose="02010600030101010101" pitchFamily="2" charset="-122"/>
                <a:cs typeface="宋体" panose="02010600030101010101" pitchFamily="2" charset="-122"/>
              </a:rPr>
              <a:t>中收</a:t>
            </a:r>
            <a:r>
              <a:rPr sz="1150" spc="-110" dirty="0">
                <a:solidFill>
                  <a:srgbClr val="FFFFFF"/>
                </a:solidFill>
                <a:latin typeface="宋体" panose="02010600030101010101" pitchFamily="2" charset="-122"/>
                <a:cs typeface="宋体" panose="02010600030101010101" pitchFamily="2" charset="-122"/>
              </a:rPr>
              <a:t>益最高，证明了</a:t>
            </a:r>
            <a:r>
              <a:rPr sz="1150" spc="60" dirty="0">
                <a:solidFill>
                  <a:srgbClr val="FFFFFF"/>
                </a:solidFill>
                <a:latin typeface="Microsoft Sans Serif" panose="020B0604020202020204"/>
                <a:cs typeface="Microsoft Sans Serif" panose="020B0604020202020204"/>
              </a:rPr>
              <a:t>“</a:t>
            </a:r>
            <a:r>
              <a:rPr sz="1150" spc="-130" dirty="0">
                <a:solidFill>
                  <a:srgbClr val="FFFFFF"/>
                </a:solidFill>
                <a:latin typeface="宋体" panose="02010600030101010101" pitchFamily="2" charset="-122"/>
                <a:cs typeface="宋体" panose="02010600030101010101" pitchFamily="2" charset="-122"/>
              </a:rPr>
              <a:t>细粒度 </a:t>
            </a:r>
            <a:r>
              <a:rPr sz="1150" spc="30" dirty="0">
                <a:solidFill>
                  <a:srgbClr val="FFFFFF"/>
                </a:solidFill>
                <a:latin typeface="Microsoft Sans Serif" panose="020B0604020202020204"/>
                <a:cs typeface="Microsoft Sans Serif" panose="020B0604020202020204"/>
              </a:rPr>
              <a:t>+ </a:t>
            </a:r>
            <a:r>
              <a:rPr sz="1150" spc="-110" dirty="0">
                <a:solidFill>
                  <a:srgbClr val="FFFFFF"/>
                </a:solidFill>
                <a:latin typeface="宋体" panose="02010600030101010101" pitchFamily="2" charset="-122"/>
                <a:cs typeface="宋体" panose="02010600030101010101" pitchFamily="2" charset="-122"/>
              </a:rPr>
              <a:t>频域隔离</a:t>
            </a:r>
            <a:r>
              <a:rPr sz="1150" spc="60" dirty="0">
                <a:solidFill>
                  <a:srgbClr val="FFFFFF"/>
                </a:solidFill>
                <a:latin typeface="Microsoft Sans Serif" panose="020B0604020202020204"/>
                <a:cs typeface="Microsoft Sans Serif" panose="020B0604020202020204"/>
              </a:rPr>
              <a:t>”</a:t>
            </a:r>
            <a:r>
              <a:rPr sz="1150" spc="-110" dirty="0">
                <a:solidFill>
                  <a:srgbClr val="FFFFFF"/>
                </a:solidFill>
                <a:latin typeface="宋体" panose="02010600030101010101" pitchFamily="2" charset="-122"/>
                <a:cs typeface="宋体" panose="02010600030101010101" pitchFamily="2" charset="-122"/>
              </a:rPr>
              <a:t>相比传统混合模式的优越性。</a:t>
            </a:r>
            <a:endParaRPr sz="1150">
              <a:latin typeface="宋体" panose="02010600030101010101" pitchFamily="2" charset="-122"/>
              <a:cs typeface="宋体" panose="02010600030101010101" pitchFamily="2" charset="-122"/>
            </a:endParaRPr>
          </a:p>
        </p:txBody>
      </p:sp>
      <p:grpSp>
        <p:nvGrpSpPr>
          <p:cNvPr id="14" name="object 14"/>
          <p:cNvGrpSpPr/>
          <p:nvPr/>
        </p:nvGrpSpPr>
        <p:grpSpPr>
          <a:xfrm>
            <a:off x="5086349" y="1647824"/>
            <a:ext cx="6648450" cy="5048250"/>
            <a:chOff x="5086349" y="1352549"/>
            <a:chExt cx="6648450" cy="5048250"/>
          </a:xfrm>
        </p:grpSpPr>
        <p:sp>
          <p:nvSpPr>
            <p:cNvPr id="15" name="object 15"/>
            <p:cNvSpPr/>
            <p:nvPr/>
          </p:nvSpPr>
          <p:spPr>
            <a:xfrm>
              <a:off x="5091112" y="1357312"/>
              <a:ext cx="6638925" cy="5038725"/>
            </a:xfrm>
            <a:custGeom>
              <a:avLst/>
              <a:gdLst/>
              <a:ahLst/>
              <a:cxnLst/>
              <a:rect l="l" t="t" r="r" b="b"/>
              <a:pathLst>
                <a:path w="6638925" h="5038725">
                  <a:moveTo>
                    <a:pt x="6536579" y="5038724"/>
                  </a:moveTo>
                  <a:lnTo>
                    <a:pt x="102345" y="5038724"/>
                  </a:lnTo>
                  <a:lnTo>
                    <a:pt x="95221" y="5038022"/>
                  </a:lnTo>
                  <a:lnTo>
                    <a:pt x="54661" y="5024259"/>
                  </a:lnTo>
                  <a:lnTo>
                    <a:pt x="22456" y="4996022"/>
                  </a:lnTo>
                  <a:lnTo>
                    <a:pt x="3507" y="4957610"/>
                  </a:lnTo>
                  <a:lnTo>
                    <a:pt x="0" y="4936379"/>
                  </a:lnTo>
                  <a:lnTo>
                    <a:pt x="0" y="4929187"/>
                  </a:lnTo>
                  <a:lnTo>
                    <a:pt x="0" y="102345"/>
                  </a:lnTo>
                  <a:lnTo>
                    <a:pt x="11090" y="60974"/>
                  </a:lnTo>
                  <a:lnTo>
                    <a:pt x="37168" y="26997"/>
                  </a:lnTo>
                  <a:lnTo>
                    <a:pt x="74264" y="5585"/>
                  </a:lnTo>
                  <a:lnTo>
                    <a:pt x="102345" y="0"/>
                  </a:lnTo>
                  <a:lnTo>
                    <a:pt x="6536579" y="0"/>
                  </a:lnTo>
                  <a:lnTo>
                    <a:pt x="6577948" y="11090"/>
                  </a:lnTo>
                  <a:lnTo>
                    <a:pt x="6611927" y="37168"/>
                  </a:lnTo>
                  <a:lnTo>
                    <a:pt x="6633338" y="74264"/>
                  </a:lnTo>
                  <a:lnTo>
                    <a:pt x="6638923" y="102345"/>
                  </a:lnTo>
                  <a:lnTo>
                    <a:pt x="6638923" y="4936379"/>
                  </a:lnTo>
                  <a:lnTo>
                    <a:pt x="6627833" y="4977749"/>
                  </a:lnTo>
                  <a:lnTo>
                    <a:pt x="6601755" y="5011727"/>
                  </a:lnTo>
                  <a:lnTo>
                    <a:pt x="6564659" y="5033137"/>
                  </a:lnTo>
                  <a:lnTo>
                    <a:pt x="6543702" y="5038022"/>
                  </a:lnTo>
                  <a:lnTo>
                    <a:pt x="6536579" y="5038724"/>
                  </a:lnTo>
                  <a:close/>
                </a:path>
              </a:pathLst>
            </a:custGeom>
            <a:solidFill>
              <a:srgbClr val="F9FAFA"/>
            </a:solidFill>
          </p:spPr>
          <p:txBody>
            <a:bodyPr wrap="square" lIns="0" tIns="0" rIns="0" bIns="0" rtlCol="0"/>
            <a:lstStyle/>
            <a:p/>
          </p:txBody>
        </p:sp>
        <p:sp>
          <p:nvSpPr>
            <p:cNvPr id="16" name="object 16"/>
            <p:cNvSpPr/>
            <p:nvPr/>
          </p:nvSpPr>
          <p:spPr>
            <a:xfrm>
              <a:off x="5091112" y="1357312"/>
              <a:ext cx="6638925" cy="5038725"/>
            </a:xfrm>
            <a:custGeom>
              <a:avLst/>
              <a:gdLst/>
              <a:ahLst/>
              <a:cxnLst/>
              <a:rect l="l" t="t" r="r" b="b"/>
              <a:pathLst>
                <a:path w="6638925" h="5038725">
                  <a:moveTo>
                    <a:pt x="0" y="49291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4929187"/>
                  </a:lnTo>
                  <a:lnTo>
                    <a:pt x="6638923" y="4936379"/>
                  </a:lnTo>
                  <a:lnTo>
                    <a:pt x="6638222" y="4943502"/>
                  </a:lnTo>
                  <a:lnTo>
                    <a:pt x="6636818" y="4950556"/>
                  </a:lnTo>
                  <a:lnTo>
                    <a:pt x="6635415" y="4957610"/>
                  </a:lnTo>
                  <a:lnTo>
                    <a:pt x="6633338" y="4964460"/>
                  </a:lnTo>
                  <a:lnTo>
                    <a:pt x="6630586" y="4971104"/>
                  </a:lnTo>
                  <a:lnTo>
                    <a:pt x="6627833" y="4977749"/>
                  </a:lnTo>
                  <a:lnTo>
                    <a:pt x="6624459" y="4984062"/>
                  </a:lnTo>
                  <a:lnTo>
                    <a:pt x="6620463" y="4990042"/>
                  </a:lnTo>
                  <a:lnTo>
                    <a:pt x="6616468" y="4996023"/>
                  </a:lnTo>
                  <a:lnTo>
                    <a:pt x="6590242" y="5020264"/>
                  </a:lnTo>
                  <a:lnTo>
                    <a:pt x="6584261" y="5024259"/>
                  </a:lnTo>
                  <a:lnTo>
                    <a:pt x="6550756" y="5036618"/>
                  </a:lnTo>
                  <a:lnTo>
                    <a:pt x="6543702" y="5038022"/>
                  </a:lnTo>
                  <a:lnTo>
                    <a:pt x="6536579" y="5038724"/>
                  </a:lnTo>
                  <a:lnTo>
                    <a:pt x="6529386" y="5038724"/>
                  </a:lnTo>
                  <a:lnTo>
                    <a:pt x="109537" y="5038724"/>
                  </a:lnTo>
                  <a:lnTo>
                    <a:pt x="67619" y="5030386"/>
                  </a:lnTo>
                  <a:lnTo>
                    <a:pt x="32082" y="5006641"/>
                  </a:lnTo>
                  <a:lnTo>
                    <a:pt x="26997" y="5001555"/>
                  </a:lnTo>
                  <a:lnTo>
                    <a:pt x="22456" y="4996022"/>
                  </a:lnTo>
                  <a:lnTo>
                    <a:pt x="18460" y="4990042"/>
                  </a:lnTo>
                  <a:lnTo>
                    <a:pt x="14464" y="4984062"/>
                  </a:lnTo>
                  <a:lnTo>
                    <a:pt x="11090" y="4977749"/>
                  </a:lnTo>
                  <a:lnTo>
                    <a:pt x="8338" y="4971104"/>
                  </a:lnTo>
                  <a:lnTo>
                    <a:pt x="5585" y="4964460"/>
                  </a:lnTo>
                  <a:lnTo>
                    <a:pt x="3507" y="4957610"/>
                  </a:lnTo>
                  <a:lnTo>
                    <a:pt x="2104" y="4950556"/>
                  </a:lnTo>
                  <a:lnTo>
                    <a:pt x="701" y="4943502"/>
                  </a:lnTo>
                  <a:lnTo>
                    <a:pt x="0" y="4936379"/>
                  </a:lnTo>
                  <a:lnTo>
                    <a:pt x="0" y="4929187"/>
                  </a:lnTo>
                  <a:close/>
                </a:path>
              </a:pathLst>
            </a:custGeom>
            <a:ln w="9524">
              <a:solidFill>
                <a:srgbClr val="E4E7EB"/>
              </a:solidFill>
            </a:ln>
          </p:spPr>
          <p:txBody>
            <a:bodyPr wrap="square" lIns="0" tIns="0" rIns="0" bIns="0" rtlCol="0"/>
            <a:lstStyle/>
            <a:p/>
          </p:txBody>
        </p:sp>
      </p:grpSp>
      <p:sp>
        <p:nvSpPr>
          <p:cNvPr id="17" name="object 17"/>
          <p:cNvSpPr txBox="1"/>
          <p:nvPr/>
        </p:nvSpPr>
        <p:spPr>
          <a:xfrm>
            <a:off x="5315495" y="1863726"/>
            <a:ext cx="2269490" cy="174407"/>
          </a:xfrm>
          <a:prstGeom prst="rect">
            <a:avLst/>
          </a:prstGeom>
        </p:spPr>
        <p:txBody>
          <a:bodyPr vert="horz" wrap="square" lIns="0" tIns="12700" rIns="0" bIns="0" rtlCol="0">
            <a:spAutoFit/>
          </a:bodyPr>
          <a:lstStyle/>
          <a:p>
            <a:pPr marL="12700">
              <a:spcBef>
                <a:spcPts val="100"/>
              </a:spcBef>
            </a:pPr>
            <a:r>
              <a:rPr sz="1050" spc="130" dirty="0">
                <a:latin typeface="宋体" panose="02010600030101010101" pitchFamily="2" charset="-122"/>
                <a:cs typeface="宋体" panose="02010600030101010101" pitchFamily="2" charset="-122"/>
              </a:rPr>
              <a:t>TABLE</a:t>
            </a:r>
            <a:r>
              <a:rPr sz="1050" dirty="0">
                <a:latin typeface="宋体" panose="02010600030101010101" pitchFamily="2" charset="-122"/>
                <a:cs typeface="宋体" panose="02010600030101010101" pitchFamily="2" charset="-122"/>
              </a:rPr>
              <a:t> 1: </a:t>
            </a:r>
            <a:r>
              <a:rPr sz="1050" spc="229" dirty="0">
                <a:latin typeface="宋体" panose="02010600030101010101" pitchFamily="2" charset="-122"/>
                <a:cs typeface="宋体" panose="02010600030101010101" pitchFamily="2" charset="-122"/>
              </a:rPr>
              <a:t>BENCHMARK</a:t>
            </a:r>
            <a:r>
              <a:rPr sz="1050" spc="5" dirty="0">
                <a:latin typeface="宋体" panose="02010600030101010101" pitchFamily="2" charset="-122"/>
                <a:cs typeface="宋体" panose="02010600030101010101" pitchFamily="2" charset="-122"/>
              </a:rPr>
              <a:t> </a:t>
            </a:r>
            <a:r>
              <a:rPr sz="1050" spc="160" dirty="0">
                <a:latin typeface="宋体" panose="02010600030101010101" pitchFamily="2" charset="-122"/>
                <a:cs typeface="宋体" panose="02010600030101010101" pitchFamily="2" charset="-122"/>
              </a:rPr>
              <a:t>RESULTS</a:t>
            </a:r>
            <a:endParaRPr sz="1050">
              <a:latin typeface="宋体" panose="02010600030101010101" pitchFamily="2" charset="-122"/>
              <a:cs typeface="宋体" panose="02010600030101010101" pitchFamily="2" charset="-122"/>
            </a:endParaRPr>
          </a:p>
        </p:txBody>
      </p:sp>
      <p:sp>
        <p:nvSpPr>
          <p:cNvPr id="18" name="object 18"/>
          <p:cNvSpPr txBox="1"/>
          <p:nvPr/>
        </p:nvSpPr>
        <p:spPr>
          <a:xfrm>
            <a:off x="10454977" y="1892300"/>
            <a:ext cx="1054735" cy="128240"/>
          </a:xfrm>
          <a:prstGeom prst="rect">
            <a:avLst/>
          </a:prstGeom>
        </p:spPr>
        <p:txBody>
          <a:bodyPr vert="horz" wrap="square" lIns="0" tIns="12700" rIns="0" bIns="0" rtlCol="0">
            <a:spAutoFit/>
          </a:bodyPr>
          <a:lstStyle/>
          <a:p>
            <a:pPr marL="12700">
              <a:spcBef>
                <a:spcPts val="100"/>
              </a:spcBef>
            </a:pPr>
            <a:r>
              <a:rPr sz="750" spc="-10" dirty="0">
                <a:solidFill>
                  <a:srgbClr val="9CA2AF"/>
                </a:solidFill>
                <a:latin typeface="Courier New" panose="02070309020205020404"/>
                <a:cs typeface="Courier New" panose="02070309020205020404"/>
              </a:rPr>
              <a:t>BENCHMARK_ST_LT_V1</a:t>
            </a:r>
            <a:endParaRPr sz="750">
              <a:latin typeface="Courier New" panose="02070309020205020404"/>
              <a:cs typeface="Courier New" panose="02070309020205020404"/>
            </a:endParaRPr>
          </a:p>
        </p:txBody>
      </p:sp>
      <p:grpSp>
        <p:nvGrpSpPr>
          <p:cNvPr id="19" name="object 19"/>
          <p:cNvGrpSpPr/>
          <p:nvPr/>
        </p:nvGrpSpPr>
        <p:grpSpPr>
          <a:xfrm>
            <a:off x="5329237" y="2233613"/>
            <a:ext cx="6162675" cy="4211657"/>
            <a:chOff x="5329237" y="1938337"/>
            <a:chExt cx="6162675" cy="4211657"/>
          </a:xfrm>
        </p:grpSpPr>
        <p:pic>
          <p:nvPicPr>
            <p:cNvPr id="20" name="object 20"/>
            <p:cNvPicPr/>
            <p:nvPr/>
          </p:nvPicPr>
          <p:blipFill>
            <a:blip r:embed="rId1" cstate="print"/>
            <a:stretch>
              <a:fillRect/>
            </a:stretch>
          </p:blipFill>
          <p:spPr>
            <a:xfrm>
              <a:off x="5337173" y="6022994"/>
              <a:ext cx="127002" cy="127000"/>
            </a:xfrm>
            <a:prstGeom prst="rect">
              <a:avLst/>
            </a:prstGeom>
          </p:spPr>
        </p:pic>
        <p:sp>
          <p:nvSpPr>
            <p:cNvPr id="21" name="object 21"/>
            <p:cNvSpPr/>
            <p:nvPr/>
          </p:nvSpPr>
          <p:spPr>
            <a:xfrm>
              <a:off x="5329237" y="1938337"/>
              <a:ext cx="6162675" cy="3933825"/>
            </a:xfrm>
            <a:custGeom>
              <a:avLst/>
              <a:gdLst/>
              <a:ahLst/>
              <a:cxnLst/>
              <a:rect l="l" t="t" r="r" b="b"/>
              <a:pathLst>
                <a:path w="6162675" h="3933825">
                  <a:moveTo>
                    <a:pt x="6095927" y="3933824"/>
                  </a:moveTo>
                  <a:lnTo>
                    <a:pt x="66746" y="3933824"/>
                  </a:lnTo>
                  <a:lnTo>
                    <a:pt x="62101" y="3933366"/>
                  </a:lnTo>
                  <a:lnTo>
                    <a:pt x="24240" y="3916217"/>
                  </a:lnTo>
                  <a:lnTo>
                    <a:pt x="2287" y="3880924"/>
                  </a:lnTo>
                  <a:lnTo>
                    <a:pt x="0" y="3867077"/>
                  </a:lnTo>
                  <a:lnTo>
                    <a:pt x="0" y="3862387"/>
                  </a:lnTo>
                  <a:lnTo>
                    <a:pt x="0" y="66746"/>
                  </a:lnTo>
                  <a:lnTo>
                    <a:pt x="14645" y="27848"/>
                  </a:lnTo>
                  <a:lnTo>
                    <a:pt x="48433" y="3642"/>
                  </a:lnTo>
                  <a:lnTo>
                    <a:pt x="66746" y="0"/>
                  </a:lnTo>
                  <a:lnTo>
                    <a:pt x="6095927" y="0"/>
                  </a:lnTo>
                  <a:lnTo>
                    <a:pt x="6134825" y="14645"/>
                  </a:lnTo>
                  <a:lnTo>
                    <a:pt x="6159031" y="48433"/>
                  </a:lnTo>
                  <a:lnTo>
                    <a:pt x="6162674" y="66746"/>
                  </a:lnTo>
                  <a:lnTo>
                    <a:pt x="6162674" y="3867077"/>
                  </a:lnTo>
                  <a:lnTo>
                    <a:pt x="6148027" y="3905975"/>
                  </a:lnTo>
                  <a:lnTo>
                    <a:pt x="6114240" y="3930181"/>
                  </a:lnTo>
                  <a:lnTo>
                    <a:pt x="6100573" y="3933366"/>
                  </a:lnTo>
                  <a:lnTo>
                    <a:pt x="6095927" y="3933824"/>
                  </a:lnTo>
                  <a:close/>
                </a:path>
              </a:pathLst>
            </a:custGeom>
            <a:solidFill>
              <a:srgbClr val="FFFFFF"/>
            </a:solidFill>
          </p:spPr>
          <p:txBody>
            <a:bodyPr wrap="square" lIns="0" tIns="0" rIns="0" bIns="0" rtlCol="0"/>
            <a:lstStyle/>
            <a:p/>
          </p:txBody>
        </p:sp>
        <p:sp>
          <p:nvSpPr>
            <p:cNvPr id="22" name="object 22"/>
            <p:cNvSpPr/>
            <p:nvPr/>
          </p:nvSpPr>
          <p:spPr>
            <a:xfrm>
              <a:off x="5329237" y="1938337"/>
              <a:ext cx="6162675" cy="3933825"/>
            </a:xfrm>
            <a:custGeom>
              <a:avLst/>
              <a:gdLst/>
              <a:ahLst/>
              <a:cxnLst/>
              <a:rect l="l" t="t" r="r" b="b"/>
              <a:pathLst>
                <a:path w="6162675" h="3933825">
                  <a:moveTo>
                    <a:pt x="0" y="3862387"/>
                  </a:moveTo>
                  <a:lnTo>
                    <a:pt x="0" y="71437"/>
                  </a:lnTo>
                  <a:lnTo>
                    <a:pt x="0" y="66746"/>
                  </a:lnTo>
                  <a:lnTo>
                    <a:pt x="457" y="62101"/>
                  </a:lnTo>
                  <a:lnTo>
                    <a:pt x="17606" y="24240"/>
                  </a:lnTo>
                  <a:lnTo>
                    <a:pt x="20923" y="20923"/>
                  </a:lnTo>
                  <a:lnTo>
                    <a:pt x="24240" y="17606"/>
                  </a:lnTo>
                  <a:lnTo>
                    <a:pt x="62101" y="457"/>
                  </a:lnTo>
                  <a:lnTo>
                    <a:pt x="66746" y="0"/>
                  </a:lnTo>
                  <a:lnTo>
                    <a:pt x="71437" y="0"/>
                  </a:lnTo>
                  <a:lnTo>
                    <a:pt x="6091237" y="0"/>
                  </a:lnTo>
                  <a:lnTo>
                    <a:pt x="6095927" y="0"/>
                  </a:lnTo>
                  <a:lnTo>
                    <a:pt x="6100573" y="457"/>
                  </a:lnTo>
                  <a:lnTo>
                    <a:pt x="6105173" y="1372"/>
                  </a:lnTo>
                  <a:lnTo>
                    <a:pt x="6109773" y="2287"/>
                  </a:lnTo>
                  <a:lnTo>
                    <a:pt x="6114240" y="3642"/>
                  </a:lnTo>
                  <a:lnTo>
                    <a:pt x="6118574" y="5437"/>
                  </a:lnTo>
                  <a:lnTo>
                    <a:pt x="6122908" y="7232"/>
                  </a:lnTo>
                  <a:lnTo>
                    <a:pt x="6127024" y="9433"/>
                  </a:lnTo>
                  <a:lnTo>
                    <a:pt x="6130924" y="12039"/>
                  </a:lnTo>
                  <a:lnTo>
                    <a:pt x="6134825" y="14645"/>
                  </a:lnTo>
                  <a:lnTo>
                    <a:pt x="6138433" y="17606"/>
                  </a:lnTo>
                  <a:lnTo>
                    <a:pt x="6141750" y="20923"/>
                  </a:lnTo>
                  <a:lnTo>
                    <a:pt x="6145066" y="24240"/>
                  </a:lnTo>
                  <a:lnTo>
                    <a:pt x="6157235" y="44099"/>
                  </a:lnTo>
                  <a:lnTo>
                    <a:pt x="6159031" y="48433"/>
                  </a:lnTo>
                  <a:lnTo>
                    <a:pt x="6160386" y="52900"/>
                  </a:lnTo>
                  <a:lnTo>
                    <a:pt x="6161301" y="57500"/>
                  </a:lnTo>
                  <a:lnTo>
                    <a:pt x="6162217" y="62101"/>
                  </a:lnTo>
                  <a:lnTo>
                    <a:pt x="6162674" y="66746"/>
                  </a:lnTo>
                  <a:lnTo>
                    <a:pt x="6162674" y="71437"/>
                  </a:lnTo>
                  <a:lnTo>
                    <a:pt x="6162674" y="3862387"/>
                  </a:lnTo>
                  <a:lnTo>
                    <a:pt x="6162674" y="3867077"/>
                  </a:lnTo>
                  <a:lnTo>
                    <a:pt x="6162217" y="3871722"/>
                  </a:lnTo>
                  <a:lnTo>
                    <a:pt x="6161301" y="3876323"/>
                  </a:lnTo>
                  <a:lnTo>
                    <a:pt x="6160386" y="3880924"/>
                  </a:lnTo>
                  <a:lnTo>
                    <a:pt x="6159031" y="3885391"/>
                  </a:lnTo>
                  <a:lnTo>
                    <a:pt x="6157235" y="3889724"/>
                  </a:lnTo>
                  <a:lnTo>
                    <a:pt x="6155441" y="3894057"/>
                  </a:lnTo>
                  <a:lnTo>
                    <a:pt x="6130924" y="3921784"/>
                  </a:lnTo>
                  <a:lnTo>
                    <a:pt x="6127024" y="3924390"/>
                  </a:lnTo>
                  <a:lnTo>
                    <a:pt x="6122908" y="3926591"/>
                  </a:lnTo>
                  <a:lnTo>
                    <a:pt x="6118574" y="3928386"/>
                  </a:lnTo>
                  <a:lnTo>
                    <a:pt x="6114240" y="3930181"/>
                  </a:lnTo>
                  <a:lnTo>
                    <a:pt x="6091237" y="3933824"/>
                  </a:lnTo>
                  <a:lnTo>
                    <a:pt x="71437" y="3933824"/>
                  </a:lnTo>
                  <a:lnTo>
                    <a:pt x="31748" y="3921784"/>
                  </a:lnTo>
                  <a:lnTo>
                    <a:pt x="5437" y="3889724"/>
                  </a:lnTo>
                  <a:lnTo>
                    <a:pt x="0" y="3867077"/>
                  </a:lnTo>
                  <a:lnTo>
                    <a:pt x="0" y="3862387"/>
                  </a:lnTo>
                  <a:close/>
                </a:path>
              </a:pathLst>
            </a:custGeom>
            <a:ln w="9524">
              <a:solidFill>
                <a:srgbClr val="F2F4F5"/>
              </a:solidFill>
            </a:ln>
          </p:spPr>
          <p:txBody>
            <a:bodyPr wrap="square" lIns="0" tIns="0" rIns="0" bIns="0" rtlCol="0"/>
            <a:lstStyle/>
            <a:p/>
          </p:txBody>
        </p:sp>
        <p:pic>
          <p:nvPicPr>
            <p:cNvPr id="23" name="object 23"/>
            <p:cNvPicPr/>
            <p:nvPr/>
          </p:nvPicPr>
          <p:blipFill>
            <a:blip r:embed="rId2" cstate="print"/>
            <a:stretch>
              <a:fillRect/>
            </a:stretch>
          </p:blipFill>
          <p:spPr>
            <a:xfrm>
              <a:off x="6076949" y="2095499"/>
              <a:ext cx="4676774" cy="3619499"/>
            </a:xfrm>
            <a:prstGeom prst="rect">
              <a:avLst/>
            </a:prstGeom>
          </p:spPr>
        </p:pic>
      </p:grpSp>
      <p:sp>
        <p:nvSpPr>
          <p:cNvPr id="25" name="object 25"/>
          <p:cNvSpPr txBox="1"/>
          <p:nvPr/>
        </p:nvSpPr>
        <p:spPr>
          <a:xfrm>
            <a:off x="5544096" y="6251526"/>
            <a:ext cx="5056505" cy="143629"/>
          </a:xfrm>
          <a:prstGeom prst="rect">
            <a:avLst/>
          </a:prstGeom>
        </p:spPr>
        <p:txBody>
          <a:bodyPr vert="horz" wrap="square" lIns="0" tIns="12700" rIns="0" bIns="0" rtlCol="0">
            <a:spAutoFit/>
          </a:bodyPr>
          <a:lstStyle/>
          <a:p>
            <a:pPr marL="12700">
              <a:spcBef>
                <a:spcPts val="100"/>
              </a:spcBef>
            </a:pPr>
            <a:r>
              <a:rPr sz="850" i="1" spc="-45" dirty="0">
                <a:solidFill>
                  <a:srgbClr val="6A7280"/>
                </a:solidFill>
                <a:latin typeface="宋体" panose="02010600030101010101" pitchFamily="2" charset="-122"/>
                <a:cs typeface="宋体" panose="02010600030101010101" pitchFamily="2" charset="-122"/>
              </a:rPr>
              <a:t>注：实验对比涵盖了 </a:t>
            </a:r>
            <a:r>
              <a:rPr sz="850" i="1" spc="120" dirty="0">
                <a:solidFill>
                  <a:srgbClr val="6A7280"/>
                </a:solidFill>
                <a:latin typeface="宋体" panose="02010600030101010101" pitchFamily="2" charset="-122"/>
                <a:cs typeface="宋体" panose="02010600030101010101" pitchFamily="2" charset="-122"/>
              </a:rPr>
              <a:t>MSE</a:t>
            </a:r>
            <a:r>
              <a:rPr sz="850" i="1" spc="-75" dirty="0">
                <a:solidFill>
                  <a:srgbClr val="6A7280"/>
                </a:solidFill>
                <a:latin typeface="宋体" panose="02010600030101010101" pitchFamily="2" charset="-122"/>
                <a:cs typeface="宋体" panose="02010600030101010101" pitchFamily="2" charset="-122"/>
              </a:rPr>
              <a:t> 与 </a:t>
            </a:r>
            <a:r>
              <a:rPr sz="850" i="1" spc="105" dirty="0">
                <a:solidFill>
                  <a:srgbClr val="6A7280"/>
                </a:solidFill>
                <a:latin typeface="宋体" panose="02010600030101010101" pitchFamily="2" charset="-122"/>
                <a:cs typeface="宋体" panose="02010600030101010101" pitchFamily="2" charset="-122"/>
              </a:rPr>
              <a:t>MAE</a:t>
            </a:r>
            <a:r>
              <a:rPr sz="850" i="1" spc="-55" dirty="0">
                <a:solidFill>
                  <a:srgbClr val="6A7280"/>
                </a:solidFill>
                <a:latin typeface="宋体" panose="02010600030101010101" pitchFamily="2" charset="-122"/>
                <a:cs typeface="宋体" panose="02010600030101010101" pitchFamily="2" charset="-122"/>
              </a:rPr>
              <a:t> 指标。加粗数值表示在当前骨干网络下应用 </a:t>
            </a:r>
            <a:r>
              <a:rPr sz="850" i="1" dirty="0">
                <a:solidFill>
                  <a:srgbClr val="6A7280"/>
                </a:solidFill>
                <a:latin typeface="宋体" panose="02010600030101010101" pitchFamily="2" charset="-122"/>
                <a:cs typeface="宋体" panose="02010600030101010101" pitchFamily="2" charset="-122"/>
              </a:rPr>
              <a:t>xCPD</a:t>
            </a:r>
            <a:r>
              <a:rPr sz="850" i="1" spc="-50" dirty="0">
                <a:solidFill>
                  <a:srgbClr val="6A7280"/>
                </a:solidFill>
                <a:latin typeface="宋体" panose="02010600030101010101" pitchFamily="2" charset="-122"/>
                <a:cs typeface="宋体" panose="02010600030101010101" pitchFamily="2" charset="-122"/>
              </a:rPr>
              <a:t> 后获得的最佳性能提升。</a:t>
            </a:r>
            <a:endParaRPr sz="850">
              <a:latin typeface="宋体" panose="02010600030101010101" pitchFamily="2" charset="-122"/>
              <a:cs typeface="宋体" panose="02010600030101010101" pitchFamily="2" charset="-122"/>
            </a:endParaRPr>
          </a:p>
        </p:txBody>
      </p:sp>
      <p:sp>
        <p:nvSpPr>
          <p:cNvPr id="26" name="object 26"/>
          <p:cNvSpPr/>
          <p:nvPr/>
        </p:nvSpPr>
        <p:spPr>
          <a:xfrm>
            <a:off x="0" y="295275"/>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27" name="object 27"/>
          <p:cNvSpPr/>
          <p:nvPr/>
        </p:nvSpPr>
        <p:spPr>
          <a:xfrm>
            <a:off x="0" y="71151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1" y="685673"/>
            <a:ext cx="6589395" cy="481965"/>
          </a:xfrm>
          <a:prstGeom prst="rect">
            <a:avLst/>
          </a:prstGeom>
        </p:spPr>
        <p:txBody>
          <a:bodyPr vert="horz" wrap="square" lIns="0" tIns="12700" rIns="0" bIns="0" rtlCol="0">
            <a:spAutoFit/>
          </a:bodyPr>
          <a:lstStyle/>
          <a:p>
            <a:pPr marL="12700">
              <a:spcBef>
                <a:spcPts val="100"/>
              </a:spcBef>
            </a:pPr>
            <a:r>
              <a:rPr spc="-254" dirty="0">
                <a:latin typeface="微软雅黑" panose="020B0503020204020204" charset="-122"/>
                <a:cs typeface="微软雅黑" panose="020B0503020204020204" charset="-122"/>
              </a:rPr>
              <a:t>实验 </a:t>
            </a:r>
            <a:r>
              <a:rPr sz="2850" spc="-320" dirty="0">
                <a:latin typeface="Calibri" panose="020F0502020204030204"/>
                <a:cs typeface="Calibri" panose="020F0502020204030204"/>
              </a:rPr>
              <a:t>1</a:t>
            </a:r>
            <a:r>
              <a:rPr spc="-320" dirty="0"/>
              <a:t>：</a:t>
            </a:r>
            <a:r>
              <a:rPr spc="-305" dirty="0">
                <a:latin typeface="微软雅黑" panose="020B0503020204020204" charset="-122"/>
                <a:cs typeface="微软雅黑" panose="020B0503020204020204" charset="-122"/>
              </a:rPr>
              <a:t>极高计算效率背后</a:t>
            </a:r>
            <a:r>
              <a:rPr spc="-305" dirty="0"/>
              <a:t>的</a:t>
            </a:r>
            <a:r>
              <a:rPr spc="-335" dirty="0">
                <a:latin typeface="微软雅黑" panose="020B0503020204020204" charset="-122"/>
                <a:cs typeface="微软雅黑" panose="020B0503020204020204" charset="-122"/>
              </a:rPr>
              <a:t>理论优势</a:t>
            </a:r>
            <a:endParaRPr sz="2850">
              <a:latin typeface="微软雅黑" panose="020B0503020204020204" charset="-122"/>
              <a:cs typeface="微软雅黑" panose="020B0503020204020204" charset="-122"/>
            </a:endParaRPr>
          </a:p>
        </p:txBody>
      </p:sp>
      <p:grpSp>
        <p:nvGrpSpPr>
          <p:cNvPr id="3" name="object 3"/>
          <p:cNvGrpSpPr/>
          <p:nvPr/>
        </p:nvGrpSpPr>
        <p:grpSpPr>
          <a:xfrm>
            <a:off x="457200" y="1647825"/>
            <a:ext cx="4324350" cy="1171575"/>
            <a:chOff x="457200" y="1352549"/>
            <a:chExt cx="4324350" cy="1171575"/>
          </a:xfrm>
        </p:grpSpPr>
        <p:sp>
          <p:nvSpPr>
            <p:cNvPr id="4" name="object 4"/>
            <p:cNvSpPr/>
            <p:nvPr/>
          </p:nvSpPr>
          <p:spPr>
            <a:xfrm>
              <a:off x="457200" y="1352549"/>
              <a:ext cx="4324350" cy="1171575"/>
            </a:xfrm>
            <a:custGeom>
              <a:avLst/>
              <a:gdLst/>
              <a:ahLst/>
              <a:cxnLst/>
              <a:rect l="l" t="t" r="r" b="b"/>
              <a:pathLst>
                <a:path w="4324350" h="1171575">
                  <a:moveTo>
                    <a:pt x="4324349" y="1171574"/>
                  </a:moveTo>
                  <a:lnTo>
                    <a:pt x="0" y="1171574"/>
                  </a:lnTo>
                  <a:lnTo>
                    <a:pt x="0" y="0"/>
                  </a:lnTo>
                  <a:lnTo>
                    <a:pt x="4324349" y="0"/>
                  </a:lnTo>
                  <a:lnTo>
                    <a:pt x="4324349" y="1171574"/>
                  </a:lnTo>
                  <a:close/>
                </a:path>
              </a:pathLst>
            </a:custGeom>
            <a:solidFill>
              <a:srgbClr val="F9FAFA"/>
            </a:solidFill>
          </p:spPr>
          <p:txBody>
            <a:bodyPr wrap="square" lIns="0" tIns="0" rIns="0" bIns="0" rtlCol="0"/>
            <a:lstStyle/>
            <a:p/>
          </p:txBody>
        </p:sp>
        <p:sp>
          <p:nvSpPr>
            <p:cNvPr id="5" name="object 5"/>
            <p:cNvSpPr/>
            <p:nvPr/>
          </p:nvSpPr>
          <p:spPr>
            <a:xfrm>
              <a:off x="457200" y="1352549"/>
              <a:ext cx="38100" cy="1171575"/>
            </a:xfrm>
            <a:custGeom>
              <a:avLst/>
              <a:gdLst/>
              <a:ahLst/>
              <a:cxnLst/>
              <a:rect l="l" t="t" r="r" b="b"/>
              <a:pathLst>
                <a:path w="38100" h="1171575">
                  <a:moveTo>
                    <a:pt x="38099" y="1171574"/>
                  </a:moveTo>
                  <a:lnTo>
                    <a:pt x="0" y="1171574"/>
                  </a:lnTo>
                  <a:lnTo>
                    <a:pt x="0" y="0"/>
                  </a:lnTo>
                  <a:lnTo>
                    <a:pt x="38099" y="0"/>
                  </a:lnTo>
                  <a:lnTo>
                    <a:pt x="38099" y="1171574"/>
                  </a:lnTo>
                  <a:close/>
                </a:path>
              </a:pathLst>
            </a:custGeom>
            <a:solidFill>
              <a:srgbClr val="000000"/>
            </a:solidFill>
          </p:spPr>
          <p:txBody>
            <a:bodyPr wrap="square" lIns="0" tIns="0" rIns="0" bIns="0" rtlCol="0"/>
            <a:lstStyle/>
            <a:p/>
          </p:txBody>
        </p:sp>
      </p:grpSp>
      <p:sp>
        <p:nvSpPr>
          <p:cNvPr id="6" name="object 6"/>
          <p:cNvSpPr txBox="1"/>
          <p:nvPr/>
        </p:nvSpPr>
        <p:spPr>
          <a:xfrm>
            <a:off x="495300" y="1767970"/>
            <a:ext cx="4286250" cy="781561"/>
          </a:xfrm>
          <a:prstGeom prst="rect">
            <a:avLst/>
          </a:prstGeom>
        </p:spPr>
        <p:txBody>
          <a:bodyPr vert="horz" wrap="square" lIns="0" tIns="69850" rIns="0" bIns="0" rtlCol="0">
            <a:spAutoFit/>
          </a:bodyPr>
          <a:lstStyle/>
          <a:p>
            <a:pPr marL="189865">
              <a:spcBef>
                <a:spcPts val="550"/>
              </a:spcBef>
            </a:pPr>
            <a:r>
              <a:rPr sz="900" spc="180" dirty="0">
                <a:solidFill>
                  <a:srgbClr val="9CA2AF"/>
                </a:solidFill>
                <a:latin typeface="宋体" panose="02010600030101010101" pitchFamily="2" charset="-122"/>
                <a:cs typeface="宋体" panose="02010600030101010101" pitchFamily="2" charset="-122"/>
              </a:rPr>
              <a:t>PROBLEM</a:t>
            </a:r>
            <a:r>
              <a:rPr sz="900" dirty="0">
                <a:solidFill>
                  <a:srgbClr val="9CA2AF"/>
                </a:solidFill>
                <a:latin typeface="宋体" panose="02010600030101010101" pitchFamily="2" charset="-122"/>
                <a:cs typeface="宋体" panose="02010600030101010101" pitchFamily="2" charset="-122"/>
              </a:rPr>
              <a:t> </a:t>
            </a:r>
            <a:r>
              <a:rPr sz="900" spc="145" dirty="0">
                <a:solidFill>
                  <a:srgbClr val="9CA2AF"/>
                </a:solidFill>
                <a:latin typeface="宋体" panose="02010600030101010101" pitchFamily="2" charset="-122"/>
                <a:cs typeface="宋体" panose="02010600030101010101" pitchFamily="2" charset="-122"/>
              </a:rPr>
              <a:t>STATEMENT</a:t>
            </a:r>
            <a:endParaRPr sz="900">
              <a:latin typeface="宋体" panose="02010600030101010101" pitchFamily="2" charset="-122"/>
              <a:cs typeface="宋体" panose="02010600030101010101" pitchFamily="2" charset="-122"/>
            </a:endParaRPr>
          </a:p>
          <a:p>
            <a:pPr marL="189865" marR="316865">
              <a:lnSpc>
                <a:spcPct val="121000"/>
              </a:lnSpc>
              <a:spcBef>
                <a:spcPts val="425"/>
              </a:spcBef>
            </a:pPr>
            <a:r>
              <a:rPr sz="1500" spc="-185" dirty="0">
                <a:latin typeface="宋体" panose="02010600030101010101" pitchFamily="2" charset="-122"/>
                <a:cs typeface="宋体" panose="02010600030101010101" pitchFamily="2" charset="-122"/>
              </a:rPr>
              <a:t>传统具有相似 </a:t>
            </a:r>
            <a:r>
              <a:rPr sz="1500" spc="-130" dirty="0">
                <a:latin typeface="Microsoft Sans Serif" panose="020B0604020202020204"/>
                <a:cs typeface="Microsoft Sans Serif" panose="020B0604020202020204"/>
              </a:rPr>
              <a:t>CP</a:t>
            </a:r>
            <a:r>
              <a:rPr sz="1500" spc="10" dirty="0">
                <a:latin typeface="Microsoft Sans Serif" panose="020B0604020202020204"/>
                <a:cs typeface="Microsoft Sans Serif" panose="020B0604020202020204"/>
              </a:rPr>
              <a:t> </a:t>
            </a:r>
            <a:r>
              <a:rPr sz="1500" spc="-150" dirty="0">
                <a:latin typeface="宋体" panose="02010600030101010101" pitchFamily="2" charset="-122"/>
                <a:cs typeface="宋体" panose="02010600030101010101" pitchFamily="2" charset="-122"/>
              </a:rPr>
              <a:t>策略的模型（</a:t>
            </a:r>
            <a:r>
              <a:rPr sz="1500" spc="-265" dirty="0">
                <a:latin typeface="宋体" panose="02010600030101010101" pitchFamily="2" charset="-122"/>
                <a:cs typeface="宋体" panose="02010600030101010101" pitchFamily="2" charset="-122"/>
              </a:rPr>
              <a:t>如 </a:t>
            </a:r>
            <a:r>
              <a:rPr sz="1500" spc="-95" dirty="0">
                <a:latin typeface="Microsoft Sans Serif" panose="020B0604020202020204"/>
                <a:cs typeface="Microsoft Sans Serif" panose="020B0604020202020204"/>
              </a:rPr>
              <a:t>CCM</a:t>
            </a:r>
            <a:r>
              <a:rPr sz="1500" spc="-45" dirty="0">
                <a:latin typeface="Microsoft Sans Serif" panose="020B0604020202020204"/>
                <a:cs typeface="Microsoft Sans Serif" panose="020B0604020202020204"/>
              </a:rPr>
              <a:t> </a:t>
            </a:r>
            <a:r>
              <a:rPr sz="1500" spc="-125" dirty="0">
                <a:latin typeface="宋体" panose="02010600030101010101" pitchFamily="2" charset="-122"/>
                <a:cs typeface="宋体" panose="02010600030101010101" pitchFamily="2" charset="-122"/>
              </a:rPr>
              <a:t>的聚类机</a:t>
            </a:r>
            <a:r>
              <a:rPr sz="1500" spc="-150" dirty="0">
                <a:latin typeface="宋体" panose="02010600030101010101" pitchFamily="2" charset="-122"/>
                <a:cs typeface="宋体" panose="02010600030101010101" pitchFamily="2" charset="-122"/>
              </a:rPr>
              <a:t>制）</a:t>
            </a:r>
            <a:r>
              <a:rPr sz="1500" spc="-155" dirty="0">
                <a:latin typeface="宋体" panose="02010600030101010101" pitchFamily="2" charset="-122"/>
                <a:cs typeface="宋体" panose="02010600030101010101" pitchFamily="2" charset="-122"/>
              </a:rPr>
              <a:t>面临极高的计算开销，难以满足实时性需求。</a:t>
            </a:r>
            <a:endParaRPr sz="1500">
              <a:latin typeface="宋体" panose="02010600030101010101" pitchFamily="2" charset="-122"/>
              <a:cs typeface="宋体" panose="02010600030101010101" pitchFamily="2" charset="-122"/>
            </a:endParaRPr>
          </a:p>
        </p:txBody>
      </p:sp>
      <p:sp>
        <p:nvSpPr>
          <p:cNvPr id="7" name="object 7"/>
          <p:cNvSpPr/>
          <p:nvPr/>
        </p:nvSpPr>
        <p:spPr>
          <a:xfrm>
            <a:off x="461963" y="3471862"/>
            <a:ext cx="4314825" cy="1085850"/>
          </a:xfrm>
          <a:custGeom>
            <a:avLst/>
            <a:gdLst/>
            <a:ahLst/>
            <a:cxnLst/>
            <a:rect l="l" t="t" r="r" b="b"/>
            <a:pathLst>
              <a:path w="4314825" h="1085850">
                <a:moveTo>
                  <a:pt x="0" y="1014412"/>
                </a:moveTo>
                <a:lnTo>
                  <a:pt x="0" y="71437"/>
                </a:lnTo>
                <a:lnTo>
                  <a:pt x="0" y="66746"/>
                </a:lnTo>
                <a:lnTo>
                  <a:pt x="457" y="62101"/>
                </a:lnTo>
                <a:lnTo>
                  <a:pt x="17606" y="24240"/>
                </a:lnTo>
                <a:lnTo>
                  <a:pt x="20923" y="20923"/>
                </a:lnTo>
                <a:lnTo>
                  <a:pt x="24240" y="17606"/>
                </a:lnTo>
                <a:lnTo>
                  <a:pt x="27848" y="14645"/>
                </a:lnTo>
                <a:lnTo>
                  <a:pt x="31748" y="12039"/>
                </a:lnTo>
                <a:lnTo>
                  <a:pt x="35649" y="9433"/>
                </a:lnTo>
                <a:lnTo>
                  <a:pt x="66746" y="0"/>
                </a:lnTo>
                <a:lnTo>
                  <a:pt x="71437" y="0"/>
                </a:lnTo>
                <a:lnTo>
                  <a:pt x="4243387" y="0"/>
                </a:lnTo>
                <a:lnTo>
                  <a:pt x="4248077" y="0"/>
                </a:lnTo>
                <a:lnTo>
                  <a:pt x="4252723" y="457"/>
                </a:lnTo>
                <a:lnTo>
                  <a:pt x="4283074" y="12039"/>
                </a:lnTo>
                <a:lnTo>
                  <a:pt x="4286975" y="14645"/>
                </a:lnTo>
                <a:lnTo>
                  <a:pt x="4290583" y="17606"/>
                </a:lnTo>
                <a:lnTo>
                  <a:pt x="4293900" y="20923"/>
                </a:lnTo>
                <a:lnTo>
                  <a:pt x="4297217" y="24240"/>
                </a:lnTo>
                <a:lnTo>
                  <a:pt x="4300178" y="27848"/>
                </a:lnTo>
                <a:lnTo>
                  <a:pt x="4302784" y="31748"/>
                </a:lnTo>
                <a:lnTo>
                  <a:pt x="4305390" y="35649"/>
                </a:lnTo>
                <a:lnTo>
                  <a:pt x="4313451" y="57500"/>
                </a:lnTo>
                <a:lnTo>
                  <a:pt x="4314366" y="62101"/>
                </a:lnTo>
                <a:lnTo>
                  <a:pt x="4314824" y="66746"/>
                </a:lnTo>
                <a:lnTo>
                  <a:pt x="4314824" y="71437"/>
                </a:lnTo>
                <a:lnTo>
                  <a:pt x="4314824" y="1014412"/>
                </a:lnTo>
                <a:lnTo>
                  <a:pt x="4314824" y="1019103"/>
                </a:lnTo>
                <a:lnTo>
                  <a:pt x="4314367" y="1023748"/>
                </a:lnTo>
                <a:lnTo>
                  <a:pt x="4297217" y="1061609"/>
                </a:lnTo>
                <a:lnTo>
                  <a:pt x="4261924" y="1083562"/>
                </a:lnTo>
                <a:lnTo>
                  <a:pt x="4243387" y="1085849"/>
                </a:lnTo>
                <a:lnTo>
                  <a:pt x="71437" y="1085849"/>
                </a:lnTo>
                <a:lnTo>
                  <a:pt x="31748" y="1073810"/>
                </a:lnTo>
                <a:lnTo>
                  <a:pt x="5437" y="1041750"/>
                </a:lnTo>
                <a:lnTo>
                  <a:pt x="0" y="1019103"/>
                </a:lnTo>
                <a:lnTo>
                  <a:pt x="0" y="1014412"/>
                </a:lnTo>
                <a:close/>
              </a:path>
            </a:pathLst>
          </a:custGeom>
          <a:ln w="9524">
            <a:solidFill>
              <a:srgbClr val="E4E7EB"/>
            </a:solidFill>
          </a:ln>
        </p:spPr>
        <p:txBody>
          <a:bodyPr wrap="square" lIns="0" tIns="0" rIns="0" bIns="0" rtlCol="0"/>
          <a:lstStyle/>
          <a:p/>
        </p:txBody>
      </p:sp>
      <p:sp>
        <p:nvSpPr>
          <p:cNvPr id="8" name="object 8"/>
          <p:cNvSpPr/>
          <p:nvPr/>
        </p:nvSpPr>
        <p:spPr>
          <a:xfrm>
            <a:off x="457200" y="3181349"/>
            <a:ext cx="76200" cy="76200"/>
          </a:xfrm>
          <a:custGeom>
            <a:avLst/>
            <a:gdLst/>
            <a:ahLst/>
            <a:cxnLst/>
            <a:rect l="l" t="t" r="r" b="b"/>
            <a:pathLst>
              <a:path w="76200" h="76200">
                <a:moveTo>
                  <a:pt x="76199" y="76199"/>
                </a:moveTo>
                <a:lnTo>
                  <a:pt x="0" y="76199"/>
                </a:lnTo>
                <a:lnTo>
                  <a:pt x="0" y="0"/>
                </a:lnTo>
                <a:lnTo>
                  <a:pt x="76199" y="0"/>
                </a:lnTo>
                <a:lnTo>
                  <a:pt x="76199" y="76199"/>
                </a:lnTo>
                <a:close/>
              </a:path>
            </a:pathLst>
          </a:custGeom>
          <a:solidFill>
            <a:srgbClr val="000000"/>
          </a:solidFill>
        </p:spPr>
        <p:txBody>
          <a:bodyPr wrap="square" lIns="0" tIns="0" rIns="0" bIns="0" rtlCol="0"/>
          <a:lstStyle/>
          <a:p/>
        </p:txBody>
      </p:sp>
      <p:sp>
        <p:nvSpPr>
          <p:cNvPr id="9" name="object 9"/>
          <p:cNvSpPr txBox="1"/>
          <p:nvPr/>
        </p:nvSpPr>
        <p:spPr>
          <a:xfrm>
            <a:off x="596899" y="3101976"/>
            <a:ext cx="1836420" cy="174407"/>
          </a:xfrm>
          <a:prstGeom prst="rect">
            <a:avLst/>
          </a:prstGeom>
        </p:spPr>
        <p:txBody>
          <a:bodyPr vert="horz" wrap="square" lIns="0" tIns="12700" rIns="0" bIns="0" rtlCol="0">
            <a:spAutoFit/>
          </a:bodyPr>
          <a:lstStyle/>
          <a:p>
            <a:pPr marL="12700">
              <a:spcBef>
                <a:spcPts val="100"/>
              </a:spcBef>
            </a:pPr>
            <a:r>
              <a:rPr sz="1050" dirty="0">
                <a:latin typeface="宋体" panose="02010600030101010101" pitchFamily="2" charset="-122"/>
                <a:cs typeface="宋体" panose="02010600030101010101" pitchFamily="2" charset="-122"/>
              </a:rPr>
              <a:t>时空复杂度：xCPD</a:t>
            </a:r>
            <a:r>
              <a:rPr sz="1050" spc="-10" dirty="0">
                <a:latin typeface="宋体" panose="02010600030101010101" pitchFamily="2" charset="-122"/>
                <a:cs typeface="宋体" panose="02010600030101010101" pitchFamily="2" charset="-122"/>
              </a:rPr>
              <a:t> 的线性优势</a:t>
            </a:r>
            <a:endParaRPr sz="1050">
              <a:latin typeface="宋体" panose="02010600030101010101" pitchFamily="2" charset="-122"/>
              <a:cs typeface="宋体" panose="02010600030101010101" pitchFamily="2" charset="-122"/>
            </a:endParaRPr>
          </a:p>
        </p:txBody>
      </p:sp>
      <p:sp>
        <p:nvSpPr>
          <p:cNvPr id="10" name="object 10"/>
          <p:cNvSpPr txBox="1"/>
          <p:nvPr/>
        </p:nvSpPr>
        <p:spPr>
          <a:xfrm>
            <a:off x="606425" y="3606801"/>
            <a:ext cx="1740535" cy="151323"/>
          </a:xfrm>
          <a:prstGeom prst="rect">
            <a:avLst/>
          </a:prstGeom>
        </p:spPr>
        <p:txBody>
          <a:bodyPr vert="horz" wrap="square" lIns="0" tIns="12700" rIns="0" bIns="0" rtlCol="0">
            <a:spAutoFit/>
          </a:bodyPr>
          <a:lstStyle/>
          <a:p>
            <a:pPr marL="12700">
              <a:spcBef>
                <a:spcPts val="100"/>
              </a:spcBef>
            </a:pPr>
            <a:r>
              <a:rPr sz="900" dirty="0">
                <a:solidFill>
                  <a:srgbClr val="6A7280"/>
                </a:solidFill>
                <a:latin typeface="Courier New" panose="02070309020205020404"/>
                <a:cs typeface="Courier New" panose="02070309020205020404"/>
              </a:rPr>
              <a:t>xCPD Complexity </a:t>
            </a:r>
            <a:r>
              <a:rPr sz="900" spc="-10" dirty="0">
                <a:solidFill>
                  <a:srgbClr val="6A7280"/>
                </a:solidFill>
                <a:latin typeface="Courier New" panose="02070309020205020404"/>
                <a:cs typeface="Courier New" panose="02070309020205020404"/>
              </a:rPr>
              <a:t>(Linear):</a:t>
            </a:r>
            <a:endParaRPr sz="900">
              <a:latin typeface="Courier New" panose="02070309020205020404"/>
              <a:cs typeface="Courier New" panose="02070309020205020404"/>
            </a:endParaRPr>
          </a:p>
        </p:txBody>
      </p:sp>
      <p:sp>
        <p:nvSpPr>
          <p:cNvPr id="11" name="object 11"/>
          <p:cNvSpPr txBox="1"/>
          <p:nvPr/>
        </p:nvSpPr>
        <p:spPr>
          <a:xfrm>
            <a:off x="419101" y="4692650"/>
            <a:ext cx="3580129" cy="561692"/>
          </a:xfrm>
          <a:prstGeom prst="rect">
            <a:avLst/>
          </a:prstGeom>
        </p:spPr>
        <p:txBody>
          <a:bodyPr vert="horz" wrap="square" lIns="0" tIns="12700" rIns="0" bIns="0" rtlCol="0">
            <a:spAutoFit/>
          </a:bodyPr>
          <a:lstStyle/>
          <a:p>
            <a:pPr marL="168275" indent="-130175">
              <a:spcBef>
                <a:spcPts val="100"/>
              </a:spcBef>
              <a:buSzPct val="114000"/>
              <a:buFont typeface="Arial" panose="020B0604020202020204"/>
              <a:buChar char="•"/>
              <a:tabLst>
                <a:tab pos="168275" algn="l"/>
              </a:tabLst>
            </a:pPr>
            <a:r>
              <a:rPr sz="1050" spc="-30" dirty="0">
                <a:latin typeface="宋体" panose="02010600030101010101" pitchFamily="2" charset="-122"/>
                <a:cs typeface="宋体" panose="02010600030101010101" pitchFamily="2" charset="-122"/>
              </a:rPr>
              <a:t>共享傅里叶基： </a:t>
            </a:r>
            <a:r>
              <a:rPr sz="1050" spc="-5" dirty="0">
                <a:solidFill>
                  <a:srgbClr val="374050"/>
                </a:solidFill>
                <a:latin typeface="宋体" panose="02010600030101010101" pitchFamily="2" charset="-122"/>
                <a:cs typeface="宋体" panose="02010600030101010101" pitchFamily="2" charset="-122"/>
              </a:rPr>
              <a:t>消除每批次的特征分解迭代，性能质变。</a:t>
            </a:r>
            <a:endParaRPr sz="1050">
              <a:latin typeface="宋体" panose="02010600030101010101" pitchFamily="2" charset="-122"/>
              <a:cs typeface="宋体" panose="02010600030101010101" pitchFamily="2" charset="-122"/>
            </a:endParaRPr>
          </a:p>
          <a:p>
            <a:pPr>
              <a:spcBef>
                <a:spcPts val="525"/>
              </a:spcBef>
              <a:buFont typeface="Arial" panose="020B0604020202020204"/>
              <a:buChar char="•"/>
            </a:pPr>
            <a:endParaRPr sz="1050">
              <a:latin typeface="宋体" panose="02010600030101010101" pitchFamily="2" charset="-122"/>
              <a:cs typeface="宋体" panose="02010600030101010101" pitchFamily="2" charset="-122"/>
            </a:endParaRPr>
          </a:p>
          <a:p>
            <a:pPr marL="168275" indent="-130175">
              <a:buSzPct val="114000"/>
              <a:buFont typeface="Arial" panose="020B0604020202020204"/>
              <a:buChar char="•"/>
              <a:tabLst>
                <a:tab pos="168275" algn="l"/>
              </a:tabLst>
            </a:pPr>
            <a:r>
              <a:rPr sz="1050" dirty="0">
                <a:latin typeface="宋体" panose="02010600030101010101" pitchFamily="2" charset="-122"/>
                <a:cs typeface="宋体" panose="02010600030101010101" pitchFamily="2" charset="-122"/>
              </a:rPr>
              <a:t>k-NN</a:t>
            </a:r>
            <a:r>
              <a:rPr sz="1050" spc="-60" dirty="0">
                <a:latin typeface="宋体" panose="02010600030101010101" pitchFamily="2" charset="-122"/>
                <a:cs typeface="宋体" panose="02010600030101010101" pitchFamily="2" charset="-122"/>
              </a:rPr>
              <a:t> 稀疏图： </a:t>
            </a:r>
            <a:r>
              <a:rPr sz="1050" spc="-5" dirty="0">
                <a:solidFill>
                  <a:srgbClr val="374050"/>
                </a:solidFill>
                <a:latin typeface="宋体" panose="02010600030101010101" pitchFamily="2" charset="-122"/>
                <a:cs typeface="宋体" panose="02010600030101010101" pitchFamily="2" charset="-122"/>
              </a:rPr>
              <a:t>极限优化矩阵乘法效率。</a:t>
            </a:r>
            <a:endParaRPr sz="1050">
              <a:latin typeface="宋体" panose="02010600030101010101" pitchFamily="2" charset="-122"/>
              <a:cs typeface="宋体" panose="02010600030101010101" pitchFamily="2" charset="-122"/>
            </a:endParaRPr>
          </a:p>
        </p:txBody>
      </p:sp>
      <p:sp>
        <p:nvSpPr>
          <p:cNvPr id="12" name="object 12"/>
          <p:cNvSpPr/>
          <p:nvPr/>
        </p:nvSpPr>
        <p:spPr>
          <a:xfrm>
            <a:off x="457200" y="5886450"/>
            <a:ext cx="4324350" cy="9525"/>
          </a:xfrm>
          <a:custGeom>
            <a:avLst/>
            <a:gdLst/>
            <a:ahLst/>
            <a:cxnLst/>
            <a:rect l="l" t="t" r="r" b="b"/>
            <a:pathLst>
              <a:path w="4324350" h="9525">
                <a:moveTo>
                  <a:pt x="4324349" y="9524"/>
                </a:moveTo>
                <a:lnTo>
                  <a:pt x="0" y="9524"/>
                </a:lnTo>
                <a:lnTo>
                  <a:pt x="0" y="0"/>
                </a:lnTo>
                <a:lnTo>
                  <a:pt x="4324349" y="0"/>
                </a:lnTo>
                <a:lnTo>
                  <a:pt x="4324349" y="9524"/>
                </a:lnTo>
                <a:close/>
              </a:path>
            </a:pathLst>
          </a:custGeom>
          <a:solidFill>
            <a:srgbClr val="F2F4F5"/>
          </a:solidFill>
        </p:spPr>
        <p:txBody>
          <a:bodyPr wrap="square" lIns="0" tIns="0" rIns="0" bIns="0" rtlCol="0"/>
          <a:lstStyle/>
          <a:p/>
        </p:txBody>
      </p:sp>
      <p:sp>
        <p:nvSpPr>
          <p:cNvPr id="13" name="object 13"/>
          <p:cNvSpPr txBox="1"/>
          <p:nvPr/>
        </p:nvSpPr>
        <p:spPr>
          <a:xfrm>
            <a:off x="444500" y="5875080"/>
            <a:ext cx="2320290" cy="730885"/>
          </a:xfrm>
          <a:prstGeom prst="rect">
            <a:avLst/>
          </a:prstGeom>
        </p:spPr>
        <p:txBody>
          <a:bodyPr vert="horz" wrap="square" lIns="0" tIns="125730" rIns="0" bIns="0" rtlCol="0">
            <a:spAutoFit/>
          </a:bodyPr>
          <a:lstStyle/>
          <a:p>
            <a:pPr marL="12700">
              <a:spcBef>
                <a:spcPts val="990"/>
              </a:spcBef>
            </a:pPr>
            <a:r>
              <a:rPr sz="2850" spc="-60" dirty="0">
                <a:latin typeface="Arial" panose="020B0604020202020204"/>
                <a:cs typeface="Arial" panose="020B0604020202020204"/>
              </a:rPr>
              <a:t>&lt;10ms</a:t>
            </a:r>
            <a:r>
              <a:rPr sz="2850" spc="-130" dirty="0">
                <a:latin typeface="Arial" panose="020B0604020202020204"/>
                <a:cs typeface="Arial" panose="020B0604020202020204"/>
              </a:rPr>
              <a:t> </a:t>
            </a:r>
            <a:r>
              <a:rPr sz="900" dirty="0">
                <a:solidFill>
                  <a:srgbClr val="6A7280"/>
                </a:solidFill>
                <a:latin typeface="宋体" panose="02010600030101010101" pitchFamily="2" charset="-122"/>
                <a:cs typeface="宋体" panose="02010600030101010101" pitchFamily="2" charset="-122"/>
              </a:rPr>
              <a:t>SINGLE</a:t>
            </a:r>
            <a:r>
              <a:rPr sz="900" spc="-195" dirty="0">
                <a:solidFill>
                  <a:srgbClr val="6A7280"/>
                </a:solidFill>
                <a:latin typeface="宋体" panose="02010600030101010101" pitchFamily="2" charset="-122"/>
                <a:cs typeface="宋体" panose="02010600030101010101" pitchFamily="2" charset="-122"/>
              </a:rPr>
              <a:t> </a:t>
            </a:r>
            <a:r>
              <a:rPr sz="900" spc="-10" dirty="0">
                <a:solidFill>
                  <a:srgbClr val="6A7280"/>
                </a:solidFill>
                <a:latin typeface="宋体" panose="02010600030101010101" pitchFamily="2" charset="-122"/>
                <a:cs typeface="宋体" panose="02010600030101010101" pitchFamily="2" charset="-122"/>
              </a:rPr>
              <a:t>ITERATION</a:t>
            </a:r>
            <a:endParaRPr sz="900">
              <a:latin typeface="宋体" panose="02010600030101010101" pitchFamily="2" charset="-122"/>
              <a:cs typeface="宋体" panose="02010600030101010101" pitchFamily="2" charset="-122"/>
            </a:endParaRPr>
          </a:p>
          <a:p>
            <a:pPr marL="12700">
              <a:spcBef>
                <a:spcPts val="280"/>
              </a:spcBef>
            </a:pPr>
            <a:r>
              <a:rPr sz="800" spc="80" dirty="0">
                <a:solidFill>
                  <a:srgbClr val="9CA2AF"/>
                </a:solidFill>
                <a:latin typeface="宋体" panose="02010600030101010101" pitchFamily="2" charset="-122"/>
                <a:cs typeface="宋体" panose="02010600030101010101" pitchFamily="2" charset="-122"/>
              </a:rPr>
              <a:t>READY</a:t>
            </a:r>
            <a:r>
              <a:rPr sz="800" spc="-55" dirty="0">
                <a:solidFill>
                  <a:srgbClr val="9CA2AF"/>
                </a:solidFill>
                <a:latin typeface="宋体" panose="02010600030101010101" pitchFamily="2" charset="-122"/>
                <a:cs typeface="宋体" panose="02010600030101010101" pitchFamily="2" charset="-122"/>
              </a:rPr>
              <a:t> </a:t>
            </a:r>
            <a:r>
              <a:rPr sz="800" spc="80" dirty="0">
                <a:solidFill>
                  <a:srgbClr val="9CA2AF"/>
                </a:solidFill>
                <a:latin typeface="宋体" panose="02010600030101010101" pitchFamily="2" charset="-122"/>
                <a:cs typeface="宋体" panose="02010600030101010101" pitchFamily="2" charset="-122"/>
              </a:rPr>
              <a:t>FOR</a:t>
            </a:r>
            <a:r>
              <a:rPr sz="800" spc="-55" dirty="0">
                <a:solidFill>
                  <a:srgbClr val="9CA2AF"/>
                </a:solidFill>
                <a:latin typeface="宋体" panose="02010600030101010101" pitchFamily="2" charset="-122"/>
                <a:cs typeface="宋体" panose="02010600030101010101" pitchFamily="2" charset="-122"/>
              </a:rPr>
              <a:t> </a:t>
            </a:r>
            <a:r>
              <a:rPr sz="800" spc="10" dirty="0">
                <a:solidFill>
                  <a:srgbClr val="9CA2AF"/>
                </a:solidFill>
                <a:latin typeface="宋体" panose="02010600030101010101" pitchFamily="2" charset="-122"/>
                <a:cs typeface="宋体" panose="02010600030101010101" pitchFamily="2" charset="-122"/>
              </a:rPr>
              <a:t>INDUSTRIAL</a:t>
            </a:r>
            <a:r>
              <a:rPr sz="800" spc="-55" dirty="0">
                <a:solidFill>
                  <a:srgbClr val="9CA2AF"/>
                </a:solidFill>
                <a:latin typeface="宋体" panose="02010600030101010101" pitchFamily="2" charset="-122"/>
                <a:cs typeface="宋体" panose="02010600030101010101" pitchFamily="2" charset="-122"/>
              </a:rPr>
              <a:t> </a:t>
            </a:r>
            <a:r>
              <a:rPr sz="800" spc="10" dirty="0">
                <a:solidFill>
                  <a:srgbClr val="9CA2AF"/>
                </a:solidFill>
                <a:latin typeface="宋体" panose="02010600030101010101" pitchFamily="2" charset="-122"/>
                <a:cs typeface="宋体" panose="02010600030101010101" pitchFamily="2" charset="-122"/>
              </a:rPr>
              <a:t>REAL-TIME</a:t>
            </a:r>
            <a:r>
              <a:rPr sz="800" spc="-55" dirty="0">
                <a:solidFill>
                  <a:srgbClr val="9CA2AF"/>
                </a:solidFill>
                <a:latin typeface="宋体" panose="02010600030101010101" pitchFamily="2" charset="-122"/>
                <a:cs typeface="宋体" panose="02010600030101010101" pitchFamily="2" charset="-122"/>
              </a:rPr>
              <a:t> </a:t>
            </a:r>
            <a:r>
              <a:rPr sz="800" spc="85" dirty="0">
                <a:solidFill>
                  <a:srgbClr val="9CA2AF"/>
                </a:solidFill>
                <a:latin typeface="宋体" panose="02010600030101010101" pitchFamily="2" charset="-122"/>
                <a:cs typeface="宋体" panose="02010600030101010101" pitchFamily="2" charset="-122"/>
              </a:rPr>
              <a:t>DEPLOYMENT</a:t>
            </a:r>
            <a:endParaRPr sz="800">
              <a:latin typeface="宋体" panose="02010600030101010101" pitchFamily="2" charset="-122"/>
              <a:cs typeface="宋体" panose="02010600030101010101" pitchFamily="2" charset="-122"/>
            </a:endParaRPr>
          </a:p>
        </p:txBody>
      </p:sp>
      <p:sp>
        <p:nvSpPr>
          <p:cNvPr id="14" name="object 14"/>
          <p:cNvSpPr txBox="1"/>
          <p:nvPr/>
        </p:nvSpPr>
        <p:spPr>
          <a:xfrm>
            <a:off x="606424" y="3978275"/>
            <a:ext cx="1853564" cy="243656"/>
          </a:xfrm>
          <a:prstGeom prst="rect">
            <a:avLst/>
          </a:prstGeom>
        </p:spPr>
        <p:txBody>
          <a:bodyPr vert="horz" wrap="square" lIns="0" tIns="12700" rIns="0" bIns="0" rtlCol="0">
            <a:spAutoFit/>
          </a:bodyPr>
          <a:lstStyle/>
          <a:p>
            <a:pPr marL="12700">
              <a:spcBef>
                <a:spcPts val="100"/>
              </a:spcBef>
            </a:pPr>
            <a:r>
              <a:rPr sz="1500" spc="50" dirty="0">
                <a:latin typeface="Arial" panose="020B0604020202020204"/>
                <a:cs typeface="Arial" panose="020B0604020202020204"/>
              </a:rPr>
              <a:t>O</a:t>
            </a:r>
            <a:r>
              <a:rPr sz="1500" i="1" spc="50" dirty="0">
                <a:latin typeface="Cambria" panose="02040503050406030204"/>
                <a:cs typeface="Cambria" panose="02040503050406030204"/>
              </a:rPr>
              <a:t>(</a:t>
            </a:r>
            <a:r>
              <a:rPr sz="1500" i="1" spc="50" dirty="0">
                <a:latin typeface="Calibri" panose="020F0502020204030204"/>
                <a:cs typeface="Calibri" panose="020F0502020204030204"/>
              </a:rPr>
              <a:t>nkd</a:t>
            </a:r>
            <a:r>
              <a:rPr sz="1500" i="1" spc="50" dirty="0">
                <a:latin typeface="Cambria" panose="02040503050406030204"/>
                <a:cs typeface="Cambria" panose="02040503050406030204"/>
              </a:rPr>
              <a:t>)</a:t>
            </a:r>
            <a:r>
              <a:rPr sz="1500" i="1" spc="15" dirty="0">
                <a:latin typeface="Cambria" panose="02040503050406030204"/>
                <a:cs typeface="Cambria" panose="02040503050406030204"/>
              </a:rPr>
              <a:t> </a:t>
            </a:r>
            <a:r>
              <a:rPr sz="1500" i="1" spc="375" dirty="0">
                <a:latin typeface="Cambria" panose="02040503050406030204"/>
                <a:cs typeface="Cambria" panose="02040503050406030204"/>
              </a:rPr>
              <a:t>+</a:t>
            </a:r>
            <a:r>
              <a:rPr sz="1500" i="1" spc="40" dirty="0">
                <a:latin typeface="Cambria" panose="02040503050406030204"/>
                <a:cs typeface="Cambria" panose="02040503050406030204"/>
              </a:rPr>
              <a:t> </a:t>
            </a:r>
            <a:r>
              <a:rPr sz="1500" spc="55" dirty="0">
                <a:latin typeface="Arial" panose="020B0604020202020204"/>
                <a:cs typeface="Arial" panose="020B0604020202020204"/>
              </a:rPr>
              <a:t>O</a:t>
            </a:r>
            <a:r>
              <a:rPr sz="1500" i="1" spc="55" dirty="0">
                <a:latin typeface="Cambria" panose="02040503050406030204"/>
                <a:cs typeface="Cambria" panose="02040503050406030204"/>
              </a:rPr>
              <a:t>(</a:t>
            </a:r>
            <a:r>
              <a:rPr sz="1500" i="1" spc="55" dirty="0">
                <a:latin typeface="Calibri" panose="020F0502020204030204"/>
                <a:cs typeface="Calibri" panose="020F0502020204030204"/>
              </a:rPr>
              <a:t>nd</a:t>
            </a:r>
            <a:r>
              <a:rPr sz="1500" i="1" spc="-35" dirty="0">
                <a:latin typeface="Calibri" panose="020F0502020204030204"/>
                <a:cs typeface="Calibri" panose="020F0502020204030204"/>
              </a:rPr>
              <a:t> </a:t>
            </a:r>
            <a:r>
              <a:rPr sz="1500" i="1" spc="375" dirty="0">
                <a:latin typeface="Cambria" panose="02040503050406030204"/>
                <a:cs typeface="Cambria" panose="02040503050406030204"/>
              </a:rPr>
              <a:t>+</a:t>
            </a:r>
            <a:r>
              <a:rPr sz="1500" i="1" spc="40" dirty="0">
                <a:latin typeface="Cambria" panose="02040503050406030204"/>
                <a:cs typeface="Cambria" panose="02040503050406030204"/>
              </a:rPr>
              <a:t> </a:t>
            </a:r>
            <a:r>
              <a:rPr sz="1500" i="1" spc="50" dirty="0">
                <a:latin typeface="Calibri" panose="020F0502020204030204"/>
                <a:cs typeface="Calibri" panose="020F0502020204030204"/>
              </a:rPr>
              <a:t>nk</a:t>
            </a:r>
            <a:r>
              <a:rPr sz="1500" i="1" spc="50" dirty="0">
                <a:latin typeface="Cambria" panose="02040503050406030204"/>
                <a:cs typeface="Cambria" panose="02040503050406030204"/>
              </a:rPr>
              <a:t>)</a:t>
            </a:r>
            <a:endParaRPr sz="1500">
              <a:latin typeface="Cambria" panose="02040503050406030204"/>
              <a:cs typeface="Cambria" panose="02040503050406030204"/>
            </a:endParaRPr>
          </a:p>
        </p:txBody>
      </p:sp>
      <p:grpSp>
        <p:nvGrpSpPr>
          <p:cNvPr id="15" name="object 15"/>
          <p:cNvGrpSpPr/>
          <p:nvPr/>
        </p:nvGrpSpPr>
        <p:grpSpPr>
          <a:xfrm>
            <a:off x="5086349" y="1647825"/>
            <a:ext cx="6648450" cy="4752975"/>
            <a:chOff x="5086349" y="1352549"/>
            <a:chExt cx="6648450" cy="4752975"/>
          </a:xfrm>
        </p:grpSpPr>
        <p:sp>
          <p:nvSpPr>
            <p:cNvPr id="16" name="object 16"/>
            <p:cNvSpPr/>
            <p:nvPr/>
          </p:nvSpPr>
          <p:spPr>
            <a:xfrm>
              <a:off x="5091112" y="1357312"/>
              <a:ext cx="6638925" cy="4743450"/>
            </a:xfrm>
            <a:custGeom>
              <a:avLst/>
              <a:gdLst/>
              <a:ahLst/>
              <a:cxnLst/>
              <a:rect l="l" t="t" r="r" b="b"/>
              <a:pathLst>
                <a:path w="6638925" h="4743450">
                  <a:moveTo>
                    <a:pt x="6536579" y="4743449"/>
                  </a:moveTo>
                  <a:lnTo>
                    <a:pt x="102345" y="4743449"/>
                  </a:lnTo>
                  <a:lnTo>
                    <a:pt x="95221" y="4742747"/>
                  </a:lnTo>
                  <a:lnTo>
                    <a:pt x="54661" y="4728984"/>
                  </a:lnTo>
                  <a:lnTo>
                    <a:pt x="22456" y="4700747"/>
                  </a:lnTo>
                  <a:lnTo>
                    <a:pt x="3507" y="4662335"/>
                  </a:lnTo>
                  <a:lnTo>
                    <a:pt x="0" y="4641104"/>
                  </a:lnTo>
                  <a:lnTo>
                    <a:pt x="0" y="4633912"/>
                  </a:lnTo>
                  <a:lnTo>
                    <a:pt x="0" y="102345"/>
                  </a:lnTo>
                  <a:lnTo>
                    <a:pt x="11090" y="60974"/>
                  </a:lnTo>
                  <a:lnTo>
                    <a:pt x="37168" y="26997"/>
                  </a:lnTo>
                  <a:lnTo>
                    <a:pt x="74264" y="5585"/>
                  </a:lnTo>
                  <a:lnTo>
                    <a:pt x="102345" y="0"/>
                  </a:lnTo>
                  <a:lnTo>
                    <a:pt x="6536579" y="0"/>
                  </a:lnTo>
                  <a:lnTo>
                    <a:pt x="6577948" y="11090"/>
                  </a:lnTo>
                  <a:lnTo>
                    <a:pt x="6611927" y="37168"/>
                  </a:lnTo>
                  <a:lnTo>
                    <a:pt x="6633338" y="74264"/>
                  </a:lnTo>
                  <a:lnTo>
                    <a:pt x="6638923" y="102345"/>
                  </a:lnTo>
                  <a:lnTo>
                    <a:pt x="6638923" y="4641104"/>
                  </a:lnTo>
                  <a:lnTo>
                    <a:pt x="6627833" y="4682474"/>
                  </a:lnTo>
                  <a:lnTo>
                    <a:pt x="6601755" y="4716452"/>
                  </a:lnTo>
                  <a:lnTo>
                    <a:pt x="6564659" y="4737863"/>
                  </a:lnTo>
                  <a:lnTo>
                    <a:pt x="6543702" y="4742747"/>
                  </a:lnTo>
                  <a:lnTo>
                    <a:pt x="6536579" y="4743449"/>
                  </a:lnTo>
                  <a:close/>
                </a:path>
              </a:pathLst>
            </a:custGeom>
            <a:solidFill>
              <a:srgbClr val="F9FAFA"/>
            </a:solidFill>
          </p:spPr>
          <p:txBody>
            <a:bodyPr wrap="square" lIns="0" tIns="0" rIns="0" bIns="0" rtlCol="0"/>
            <a:lstStyle/>
            <a:p/>
          </p:txBody>
        </p:sp>
        <p:sp>
          <p:nvSpPr>
            <p:cNvPr id="17" name="object 17"/>
            <p:cNvSpPr/>
            <p:nvPr/>
          </p:nvSpPr>
          <p:spPr>
            <a:xfrm>
              <a:off x="5091112" y="1357312"/>
              <a:ext cx="6638925" cy="4743450"/>
            </a:xfrm>
            <a:custGeom>
              <a:avLst/>
              <a:gdLst/>
              <a:ahLst/>
              <a:cxnLst/>
              <a:rect l="l" t="t" r="r" b="b"/>
              <a:pathLst>
                <a:path w="6638925" h="4743450">
                  <a:moveTo>
                    <a:pt x="0" y="4633912"/>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529386" y="0"/>
                  </a:lnTo>
                  <a:lnTo>
                    <a:pt x="6536579" y="0"/>
                  </a:lnTo>
                  <a:lnTo>
                    <a:pt x="6543702" y="701"/>
                  </a:lnTo>
                  <a:lnTo>
                    <a:pt x="6550756" y="2104"/>
                  </a:lnTo>
                  <a:lnTo>
                    <a:pt x="6557809" y="3507"/>
                  </a:lnTo>
                  <a:lnTo>
                    <a:pt x="6590242" y="18460"/>
                  </a:lnTo>
                  <a:lnTo>
                    <a:pt x="6596222" y="22456"/>
                  </a:lnTo>
                  <a:lnTo>
                    <a:pt x="6620463" y="48681"/>
                  </a:lnTo>
                  <a:lnTo>
                    <a:pt x="6624459" y="54661"/>
                  </a:lnTo>
                  <a:lnTo>
                    <a:pt x="6627833" y="60974"/>
                  </a:lnTo>
                  <a:lnTo>
                    <a:pt x="6630586" y="67619"/>
                  </a:lnTo>
                  <a:lnTo>
                    <a:pt x="6633338" y="74264"/>
                  </a:lnTo>
                  <a:lnTo>
                    <a:pt x="6635416" y="81113"/>
                  </a:lnTo>
                  <a:lnTo>
                    <a:pt x="6636819" y="88167"/>
                  </a:lnTo>
                  <a:lnTo>
                    <a:pt x="6638222" y="95221"/>
                  </a:lnTo>
                  <a:lnTo>
                    <a:pt x="6638923" y="102345"/>
                  </a:lnTo>
                  <a:lnTo>
                    <a:pt x="6638924" y="109537"/>
                  </a:lnTo>
                  <a:lnTo>
                    <a:pt x="6638924" y="4633912"/>
                  </a:lnTo>
                  <a:lnTo>
                    <a:pt x="6638923" y="4641104"/>
                  </a:lnTo>
                  <a:lnTo>
                    <a:pt x="6638222" y="4648227"/>
                  </a:lnTo>
                  <a:lnTo>
                    <a:pt x="6636818" y="4655281"/>
                  </a:lnTo>
                  <a:lnTo>
                    <a:pt x="6635415" y="4662335"/>
                  </a:lnTo>
                  <a:lnTo>
                    <a:pt x="6620463" y="4694767"/>
                  </a:lnTo>
                  <a:lnTo>
                    <a:pt x="6616468" y="4700747"/>
                  </a:lnTo>
                  <a:lnTo>
                    <a:pt x="6590242" y="4724988"/>
                  </a:lnTo>
                  <a:lnTo>
                    <a:pt x="6584261" y="4728984"/>
                  </a:lnTo>
                  <a:lnTo>
                    <a:pt x="6543702" y="4742747"/>
                  </a:lnTo>
                  <a:lnTo>
                    <a:pt x="6529386" y="4743449"/>
                  </a:lnTo>
                  <a:lnTo>
                    <a:pt x="109537" y="4743449"/>
                  </a:lnTo>
                  <a:lnTo>
                    <a:pt x="67619" y="4735111"/>
                  </a:lnTo>
                  <a:lnTo>
                    <a:pt x="32082" y="4711366"/>
                  </a:lnTo>
                  <a:lnTo>
                    <a:pt x="18460" y="4694767"/>
                  </a:lnTo>
                  <a:lnTo>
                    <a:pt x="14464" y="4688786"/>
                  </a:lnTo>
                  <a:lnTo>
                    <a:pt x="11090" y="4682474"/>
                  </a:lnTo>
                  <a:lnTo>
                    <a:pt x="8338" y="4675829"/>
                  </a:lnTo>
                  <a:lnTo>
                    <a:pt x="5585" y="4669185"/>
                  </a:lnTo>
                  <a:lnTo>
                    <a:pt x="3507" y="4662335"/>
                  </a:lnTo>
                  <a:lnTo>
                    <a:pt x="2104" y="4655281"/>
                  </a:lnTo>
                  <a:lnTo>
                    <a:pt x="701" y="4648227"/>
                  </a:lnTo>
                  <a:lnTo>
                    <a:pt x="0" y="4641104"/>
                  </a:lnTo>
                  <a:lnTo>
                    <a:pt x="0" y="4633912"/>
                  </a:lnTo>
                  <a:close/>
                </a:path>
              </a:pathLst>
            </a:custGeom>
            <a:ln w="9524">
              <a:solidFill>
                <a:srgbClr val="F2F4F5"/>
              </a:solidFill>
            </a:ln>
          </p:spPr>
          <p:txBody>
            <a:bodyPr wrap="square" lIns="0" tIns="0" rIns="0" bIns="0" rtlCol="0"/>
            <a:lstStyle/>
            <a:p/>
          </p:txBody>
        </p:sp>
      </p:grpSp>
      <p:sp>
        <p:nvSpPr>
          <p:cNvPr id="18" name="object 18"/>
          <p:cNvSpPr txBox="1"/>
          <p:nvPr/>
        </p:nvSpPr>
        <p:spPr>
          <a:xfrm>
            <a:off x="5315496" y="1882776"/>
            <a:ext cx="3129915" cy="220573"/>
          </a:xfrm>
          <a:prstGeom prst="rect">
            <a:avLst/>
          </a:prstGeom>
        </p:spPr>
        <p:txBody>
          <a:bodyPr vert="horz" wrap="square" lIns="0" tIns="12700" rIns="0" bIns="0" rtlCol="0">
            <a:spAutoFit/>
          </a:bodyPr>
          <a:lstStyle/>
          <a:p>
            <a:pPr marL="12700">
              <a:spcBef>
                <a:spcPts val="100"/>
              </a:spcBef>
            </a:pPr>
            <a:r>
              <a:rPr sz="1350" dirty="0">
                <a:latin typeface="宋体" panose="02010600030101010101" pitchFamily="2" charset="-122"/>
                <a:cs typeface="宋体" panose="02010600030101010101" pitchFamily="2" charset="-122"/>
              </a:rPr>
              <a:t>Model</a:t>
            </a:r>
            <a:r>
              <a:rPr sz="1350" spc="-280" dirty="0">
                <a:latin typeface="宋体" panose="02010600030101010101" pitchFamily="2" charset="-122"/>
                <a:cs typeface="宋体" panose="02010600030101010101" pitchFamily="2" charset="-122"/>
              </a:rPr>
              <a:t> </a:t>
            </a:r>
            <a:r>
              <a:rPr sz="1350" spc="-165" dirty="0">
                <a:latin typeface="宋体" panose="02010600030101010101" pitchFamily="2" charset="-122"/>
                <a:cs typeface="宋体" panose="02010600030101010101" pitchFamily="2" charset="-122"/>
              </a:rPr>
              <a:t>Efficiency</a:t>
            </a:r>
            <a:r>
              <a:rPr sz="1350" spc="-270" dirty="0">
                <a:latin typeface="宋体" panose="02010600030101010101" pitchFamily="2" charset="-122"/>
                <a:cs typeface="宋体" panose="02010600030101010101" pitchFamily="2" charset="-122"/>
              </a:rPr>
              <a:t> </a:t>
            </a:r>
            <a:r>
              <a:rPr sz="1350" spc="-10" dirty="0">
                <a:latin typeface="宋体" panose="02010600030101010101" pitchFamily="2" charset="-122"/>
                <a:cs typeface="宋体" panose="02010600030101010101" pitchFamily="2" charset="-122"/>
              </a:rPr>
              <a:t>Comparison</a:t>
            </a:r>
            <a:r>
              <a:rPr sz="1350" spc="-265" dirty="0">
                <a:latin typeface="宋体" panose="02010600030101010101" pitchFamily="2" charset="-122"/>
                <a:cs typeface="宋体" panose="02010600030101010101" pitchFamily="2" charset="-122"/>
              </a:rPr>
              <a:t> </a:t>
            </a:r>
            <a:r>
              <a:rPr sz="1350" spc="-229" dirty="0">
                <a:latin typeface="宋体" panose="02010600030101010101" pitchFamily="2" charset="-122"/>
                <a:cs typeface="宋体" panose="02010600030101010101" pitchFamily="2" charset="-122"/>
              </a:rPr>
              <a:t>(Traffic-</a:t>
            </a:r>
            <a:r>
              <a:rPr sz="1350" spc="-50" dirty="0">
                <a:latin typeface="宋体" panose="02010600030101010101" pitchFamily="2" charset="-122"/>
                <a:cs typeface="宋体" panose="02010600030101010101" pitchFamily="2" charset="-122"/>
              </a:rPr>
              <a:t>96-</a:t>
            </a:r>
            <a:r>
              <a:rPr sz="1350" spc="-25" dirty="0">
                <a:latin typeface="宋体" panose="02010600030101010101" pitchFamily="2" charset="-122"/>
                <a:cs typeface="宋体" panose="02010600030101010101" pitchFamily="2" charset="-122"/>
              </a:rPr>
              <a:t>96)</a:t>
            </a:r>
            <a:endParaRPr sz="1350">
              <a:latin typeface="宋体" panose="02010600030101010101" pitchFamily="2" charset="-122"/>
              <a:cs typeface="宋体" panose="02010600030101010101" pitchFamily="2" charset="-122"/>
            </a:endParaRPr>
          </a:p>
        </p:txBody>
      </p:sp>
      <p:sp>
        <p:nvSpPr>
          <p:cNvPr id="19" name="object 19"/>
          <p:cNvSpPr/>
          <p:nvPr/>
        </p:nvSpPr>
        <p:spPr>
          <a:xfrm>
            <a:off x="10829923" y="1914525"/>
            <a:ext cx="666750" cy="219075"/>
          </a:xfrm>
          <a:custGeom>
            <a:avLst/>
            <a:gdLst/>
            <a:ahLst/>
            <a:cxnLst/>
            <a:rect l="l" t="t" r="r" b="b"/>
            <a:pathLst>
              <a:path w="666750" h="219075">
                <a:moveTo>
                  <a:pt x="633702" y="219074"/>
                </a:moveTo>
                <a:lnTo>
                  <a:pt x="33047" y="219074"/>
                </a:lnTo>
                <a:lnTo>
                  <a:pt x="28187" y="218108"/>
                </a:lnTo>
                <a:lnTo>
                  <a:pt x="966" y="190887"/>
                </a:lnTo>
                <a:lnTo>
                  <a:pt x="0" y="186027"/>
                </a:lnTo>
                <a:lnTo>
                  <a:pt x="0" y="180974"/>
                </a:lnTo>
                <a:lnTo>
                  <a:pt x="0" y="33047"/>
                </a:lnTo>
                <a:lnTo>
                  <a:pt x="28187" y="966"/>
                </a:lnTo>
                <a:lnTo>
                  <a:pt x="33047" y="0"/>
                </a:lnTo>
                <a:lnTo>
                  <a:pt x="633702" y="0"/>
                </a:lnTo>
                <a:lnTo>
                  <a:pt x="665783" y="28187"/>
                </a:lnTo>
                <a:lnTo>
                  <a:pt x="666749" y="33047"/>
                </a:lnTo>
                <a:lnTo>
                  <a:pt x="666749" y="186027"/>
                </a:lnTo>
                <a:lnTo>
                  <a:pt x="638562" y="218108"/>
                </a:lnTo>
                <a:lnTo>
                  <a:pt x="633702" y="219074"/>
                </a:lnTo>
                <a:close/>
              </a:path>
            </a:pathLst>
          </a:custGeom>
          <a:solidFill>
            <a:srgbClr val="000000"/>
          </a:solidFill>
        </p:spPr>
        <p:txBody>
          <a:bodyPr wrap="square" lIns="0" tIns="0" rIns="0" bIns="0" rtlCol="0"/>
          <a:lstStyle/>
          <a:p/>
        </p:txBody>
      </p:sp>
      <p:sp>
        <p:nvSpPr>
          <p:cNvPr id="20" name="object 20"/>
          <p:cNvSpPr txBox="1"/>
          <p:nvPr/>
        </p:nvSpPr>
        <p:spPr>
          <a:xfrm>
            <a:off x="10893276" y="1930400"/>
            <a:ext cx="540385" cy="128240"/>
          </a:xfrm>
          <a:prstGeom prst="rect">
            <a:avLst/>
          </a:prstGeom>
        </p:spPr>
        <p:txBody>
          <a:bodyPr vert="horz" wrap="square" lIns="0" tIns="12700" rIns="0" bIns="0" rtlCol="0">
            <a:spAutoFit/>
          </a:bodyPr>
          <a:lstStyle/>
          <a:p>
            <a:pPr marL="12700">
              <a:spcBef>
                <a:spcPts val="100"/>
              </a:spcBef>
            </a:pPr>
            <a:r>
              <a:rPr sz="750" dirty="0">
                <a:solidFill>
                  <a:srgbClr val="FFFFFF"/>
                </a:solidFill>
                <a:latin typeface="Courier New" panose="02070309020205020404"/>
                <a:cs typeface="Courier New" panose="02070309020205020404"/>
              </a:rPr>
              <a:t>FIGURE </a:t>
            </a:r>
            <a:r>
              <a:rPr sz="750" spc="-25" dirty="0">
                <a:solidFill>
                  <a:srgbClr val="FFFFFF"/>
                </a:solidFill>
                <a:latin typeface="Courier New" panose="02070309020205020404"/>
                <a:cs typeface="Courier New" panose="02070309020205020404"/>
              </a:rPr>
              <a:t>02</a:t>
            </a:r>
            <a:endParaRPr sz="750">
              <a:latin typeface="Courier New" panose="02070309020205020404"/>
              <a:cs typeface="Courier New" panose="02070309020205020404"/>
            </a:endParaRPr>
          </a:p>
        </p:txBody>
      </p:sp>
      <p:grpSp>
        <p:nvGrpSpPr>
          <p:cNvPr id="21" name="object 21"/>
          <p:cNvGrpSpPr/>
          <p:nvPr/>
        </p:nvGrpSpPr>
        <p:grpSpPr>
          <a:xfrm>
            <a:off x="5324474" y="2305050"/>
            <a:ext cx="6172200" cy="3857625"/>
            <a:chOff x="5324474" y="2009774"/>
            <a:chExt cx="6172200" cy="3857625"/>
          </a:xfrm>
        </p:grpSpPr>
        <p:sp>
          <p:nvSpPr>
            <p:cNvPr id="22" name="object 22"/>
            <p:cNvSpPr/>
            <p:nvPr/>
          </p:nvSpPr>
          <p:spPr>
            <a:xfrm>
              <a:off x="5324474" y="5686424"/>
              <a:ext cx="19050" cy="180975"/>
            </a:xfrm>
            <a:custGeom>
              <a:avLst/>
              <a:gdLst/>
              <a:ahLst/>
              <a:cxnLst/>
              <a:rect l="l" t="t" r="r" b="b"/>
              <a:pathLst>
                <a:path w="19050" h="180975">
                  <a:moveTo>
                    <a:pt x="19049" y="180974"/>
                  </a:moveTo>
                  <a:lnTo>
                    <a:pt x="0" y="180974"/>
                  </a:lnTo>
                  <a:lnTo>
                    <a:pt x="0" y="0"/>
                  </a:lnTo>
                  <a:lnTo>
                    <a:pt x="19049" y="0"/>
                  </a:lnTo>
                  <a:lnTo>
                    <a:pt x="19049" y="180974"/>
                  </a:lnTo>
                  <a:close/>
                </a:path>
              </a:pathLst>
            </a:custGeom>
            <a:solidFill>
              <a:srgbClr val="E4E7EB"/>
            </a:solidFill>
          </p:spPr>
          <p:txBody>
            <a:bodyPr wrap="square" lIns="0" tIns="0" rIns="0" bIns="0" rtlCol="0"/>
            <a:lstStyle/>
            <a:p/>
          </p:txBody>
        </p:sp>
        <p:sp>
          <p:nvSpPr>
            <p:cNvPr id="23" name="object 23"/>
            <p:cNvSpPr/>
            <p:nvPr/>
          </p:nvSpPr>
          <p:spPr>
            <a:xfrm>
              <a:off x="5329237" y="2014537"/>
              <a:ext cx="6162675" cy="3514725"/>
            </a:xfrm>
            <a:custGeom>
              <a:avLst/>
              <a:gdLst/>
              <a:ahLst/>
              <a:cxnLst/>
              <a:rect l="l" t="t" r="r" b="b"/>
              <a:pathLst>
                <a:path w="6162675" h="3514725">
                  <a:moveTo>
                    <a:pt x="6095927" y="3514724"/>
                  </a:moveTo>
                  <a:lnTo>
                    <a:pt x="66746" y="3514724"/>
                  </a:lnTo>
                  <a:lnTo>
                    <a:pt x="62101" y="3514266"/>
                  </a:lnTo>
                  <a:lnTo>
                    <a:pt x="24240" y="3497117"/>
                  </a:lnTo>
                  <a:lnTo>
                    <a:pt x="2287" y="3461823"/>
                  </a:lnTo>
                  <a:lnTo>
                    <a:pt x="0" y="3447977"/>
                  </a:lnTo>
                  <a:lnTo>
                    <a:pt x="0" y="3443287"/>
                  </a:lnTo>
                  <a:lnTo>
                    <a:pt x="0" y="66746"/>
                  </a:lnTo>
                  <a:lnTo>
                    <a:pt x="14645" y="27848"/>
                  </a:lnTo>
                  <a:lnTo>
                    <a:pt x="48433" y="3642"/>
                  </a:lnTo>
                  <a:lnTo>
                    <a:pt x="66746" y="0"/>
                  </a:lnTo>
                  <a:lnTo>
                    <a:pt x="6095927" y="0"/>
                  </a:lnTo>
                  <a:lnTo>
                    <a:pt x="6134825" y="14645"/>
                  </a:lnTo>
                  <a:lnTo>
                    <a:pt x="6159031" y="48433"/>
                  </a:lnTo>
                  <a:lnTo>
                    <a:pt x="6162674" y="66746"/>
                  </a:lnTo>
                  <a:lnTo>
                    <a:pt x="6162674" y="3447977"/>
                  </a:lnTo>
                  <a:lnTo>
                    <a:pt x="6148027" y="3486875"/>
                  </a:lnTo>
                  <a:lnTo>
                    <a:pt x="6114240" y="3511081"/>
                  </a:lnTo>
                  <a:lnTo>
                    <a:pt x="6100573" y="3514266"/>
                  </a:lnTo>
                  <a:lnTo>
                    <a:pt x="6095927" y="3514724"/>
                  </a:lnTo>
                  <a:close/>
                </a:path>
              </a:pathLst>
            </a:custGeom>
            <a:solidFill>
              <a:srgbClr val="FFFFFF"/>
            </a:solidFill>
          </p:spPr>
          <p:txBody>
            <a:bodyPr wrap="square" lIns="0" tIns="0" rIns="0" bIns="0" rtlCol="0"/>
            <a:lstStyle/>
            <a:p/>
          </p:txBody>
        </p:sp>
        <p:sp>
          <p:nvSpPr>
            <p:cNvPr id="24" name="object 24"/>
            <p:cNvSpPr/>
            <p:nvPr/>
          </p:nvSpPr>
          <p:spPr>
            <a:xfrm>
              <a:off x="5329237" y="2014537"/>
              <a:ext cx="6162675" cy="3514725"/>
            </a:xfrm>
            <a:custGeom>
              <a:avLst/>
              <a:gdLst/>
              <a:ahLst/>
              <a:cxnLst/>
              <a:rect l="l" t="t" r="r" b="b"/>
              <a:pathLst>
                <a:path w="6162675" h="3514725">
                  <a:moveTo>
                    <a:pt x="0" y="3443287"/>
                  </a:moveTo>
                  <a:lnTo>
                    <a:pt x="0" y="71437"/>
                  </a:lnTo>
                  <a:lnTo>
                    <a:pt x="0" y="66746"/>
                  </a:lnTo>
                  <a:lnTo>
                    <a:pt x="457" y="62101"/>
                  </a:lnTo>
                  <a:lnTo>
                    <a:pt x="1372" y="57500"/>
                  </a:lnTo>
                  <a:lnTo>
                    <a:pt x="2287" y="52900"/>
                  </a:lnTo>
                  <a:lnTo>
                    <a:pt x="3642" y="48433"/>
                  </a:lnTo>
                  <a:lnTo>
                    <a:pt x="5437" y="44099"/>
                  </a:lnTo>
                  <a:lnTo>
                    <a:pt x="7232" y="39765"/>
                  </a:lnTo>
                  <a:lnTo>
                    <a:pt x="35649" y="9433"/>
                  </a:lnTo>
                  <a:lnTo>
                    <a:pt x="57500" y="1372"/>
                  </a:lnTo>
                  <a:lnTo>
                    <a:pt x="62101" y="457"/>
                  </a:lnTo>
                  <a:lnTo>
                    <a:pt x="66746" y="0"/>
                  </a:lnTo>
                  <a:lnTo>
                    <a:pt x="71437" y="0"/>
                  </a:lnTo>
                  <a:lnTo>
                    <a:pt x="6091237" y="0"/>
                  </a:lnTo>
                  <a:lnTo>
                    <a:pt x="6095927" y="0"/>
                  </a:lnTo>
                  <a:lnTo>
                    <a:pt x="6100573" y="457"/>
                  </a:lnTo>
                  <a:lnTo>
                    <a:pt x="6105173" y="1372"/>
                  </a:lnTo>
                  <a:lnTo>
                    <a:pt x="6109773" y="2287"/>
                  </a:lnTo>
                  <a:lnTo>
                    <a:pt x="6114240" y="3642"/>
                  </a:lnTo>
                  <a:lnTo>
                    <a:pt x="6118574" y="5437"/>
                  </a:lnTo>
                  <a:lnTo>
                    <a:pt x="6122908" y="7232"/>
                  </a:lnTo>
                  <a:lnTo>
                    <a:pt x="6127024" y="9433"/>
                  </a:lnTo>
                  <a:lnTo>
                    <a:pt x="6130924" y="12039"/>
                  </a:lnTo>
                  <a:lnTo>
                    <a:pt x="6134825" y="14645"/>
                  </a:lnTo>
                  <a:lnTo>
                    <a:pt x="6138433" y="17606"/>
                  </a:lnTo>
                  <a:lnTo>
                    <a:pt x="6141750" y="20923"/>
                  </a:lnTo>
                  <a:lnTo>
                    <a:pt x="6145066" y="24240"/>
                  </a:lnTo>
                  <a:lnTo>
                    <a:pt x="6157235" y="44099"/>
                  </a:lnTo>
                  <a:lnTo>
                    <a:pt x="6159031" y="48433"/>
                  </a:lnTo>
                  <a:lnTo>
                    <a:pt x="6160386" y="52900"/>
                  </a:lnTo>
                  <a:lnTo>
                    <a:pt x="6161301" y="57500"/>
                  </a:lnTo>
                  <a:lnTo>
                    <a:pt x="6162217" y="62101"/>
                  </a:lnTo>
                  <a:lnTo>
                    <a:pt x="6162674" y="66746"/>
                  </a:lnTo>
                  <a:lnTo>
                    <a:pt x="6162674" y="71437"/>
                  </a:lnTo>
                  <a:lnTo>
                    <a:pt x="6162674" y="3443287"/>
                  </a:lnTo>
                  <a:lnTo>
                    <a:pt x="6162674" y="3447977"/>
                  </a:lnTo>
                  <a:lnTo>
                    <a:pt x="6162217" y="3452623"/>
                  </a:lnTo>
                  <a:lnTo>
                    <a:pt x="6161301" y="3457223"/>
                  </a:lnTo>
                  <a:lnTo>
                    <a:pt x="6160386" y="3461823"/>
                  </a:lnTo>
                  <a:lnTo>
                    <a:pt x="6159031" y="3466290"/>
                  </a:lnTo>
                  <a:lnTo>
                    <a:pt x="6157235" y="3470624"/>
                  </a:lnTo>
                  <a:lnTo>
                    <a:pt x="6155441" y="3474958"/>
                  </a:lnTo>
                  <a:lnTo>
                    <a:pt x="6153240" y="3479074"/>
                  </a:lnTo>
                  <a:lnTo>
                    <a:pt x="6150633" y="3482974"/>
                  </a:lnTo>
                  <a:lnTo>
                    <a:pt x="6148027" y="3486875"/>
                  </a:lnTo>
                  <a:lnTo>
                    <a:pt x="6145066" y="3490484"/>
                  </a:lnTo>
                  <a:lnTo>
                    <a:pt x="6141750" y="3493800"/>
                  </a:lnTo>
                  <a:lnTo>
                    <a:pt x="6138433" y="3497117"/>
                  </a:lnTo>
                  <a:lnTo>
                    <a:pt x="6134825" y="3500078"/>
                  </a:lnTo>
                  <a:lnTo>
                    <a:pt x="6130924" y="3502684"/>
                  </a:lnTo>
                  <a:lnTo>
                    <a:pt x="6127024" y="3505290"/>
                  </a:lnTo>
                  <a:lnTo>
                    <a:pt x="6122908" y="3507491"/>
                  </a:lnTo>
                  <a:lnTo>
                    <a:pt x="6118574" y="3509286"/>
                  </a:lnTo>
                  <a:lnTo>
                    <a:pt x="6114240" y="3511081"/>
                  </a:lnTo>
                  <a:lnTo>
                    <a:pt x="6109773" y="3512436"/>
                  </a:lnTo>
                  <a:lnTo>
                    <a:pt x="6105173" y="3513351"/>
                  </a:lnTo>
                  <a:lnTo>
                    <a:pt x="6100573" y="3514266"/>
                  </a:lnTo>
                  <a:lnTo>
                    <a:pt x="6095927" y="3514724"/>
                  </a:lnTo>
                  <a:lnTo>
                    <a:pt x="6091237" y="3514724"/>
                  </a:lnTo>
                  <a:lnTo>
                    <a:pt x="71437" y="3514724"/>
                  </a:lnTo>
                  <a:lnTo>
                    <a:pt x="66746" y="3514724"/>
                  </a:lnTo>
                  <a:lnTo>
                    <a:pt x="62101" y="3514266"/>
                  </a:lnTo>
                  <a:lnTo>
                    <a:pt x="57500" y="3513351"/>
                  </a:lnTo>
                  <a:lnTo>
                    <a:pt x="52900" y="3512436"/>
                  </a:lnTo>
                  <a:lnTo>
                    <a:pt x="48433" y="3511081"/>
                  </a:lnTo>
                  <a:lnTo>
                    <a:pt x="44099" y="3509285"/>
                  </a:lnTo>
                  <a:lnTo>
                    <a:pt x="39765" y="3507490"/>
                  </a:lnTo>
                  <a:lnTo>
                    <a:pt x="35649" y="3505290"/>
                  </a:lnTo>
                  <a:lnTo>
                    <a:pt x="31748" y="3502684"/>
                  </a:lnTo>
                  <a:lnTo>
                    <a:pt x="27848" y="3500078"/>
                  </a:lnTo>
                  <a:lnTo>
                    <a:pt x="24240" y="3497117"/>
                  </a:lnTo>
                  <a:lnTo>
                    <a:pt x="20923" y="3493800"/>
                  </a:lnTo>
                  <a:lnTo>
                    <a:pt x="17606" y="3490484"/>
                  </a:lnTo>
                  <a:lnTo>
                    <a:pt x="14645" y="3486875"/>
                  </a:lnTo>
                  <a:lnTo>
                    <a:pt x="12039" y="3482974"/>
                  </a:lnTo>
                  <a:lnTo>
                    <a:pt x="9433" y="3479074"/>
                  </a:lnTo>
                  <a:lnTo>
                    <a:pt x="0" y="3447977"/>
                  </a:lnTo>
                  <a:lnTo>
                    <a:pt x="0" y="3443287"/>
                  </a:lnTo>
                  <a:close/>
                </a:path>
              </a:pathLst>
            </a:custGeom>
            <a:ln w="9524">
              <a:solidFill>
                <a:srgbClr val="F2F4F5"/>
              </a:solidFill>
            </a:ln>
          </p:spPr>
          <p:txBody>
            <a:bodyPr wrap="square" lIns="0" tIns="0" rIns="0" bIns="0" rtlCol="0"/>
            <a:lstStyle/>
            <a:p/>
          </p:txBody>
        </p:sp>
        <p:pic>
          <p:nvPicPr>
            <p:cNvPr id="25" name="object 25"/>
            <p:cNvPicPr/>
            <p:nvPr/>
          </p:nvPicPr>
          <p:blipFill>
            <a:blip r:embed="rId1" cstate="print"/>
            <a:stretch>
              <a:fillRect/>
            </a:stretch>
          </p:blipFill>
          <p:spPr>
            <a:xfrm>
              <a:off x="5676899" y="2324099"/>
              <a:ext cx="5467349" cy="2895600"/>
            </a:xfrm>
            <a:prstGeom prst="rect">
              <a:avLst/>
            </a:prstGeom>
          </p:spPr>
        </p:pic>
      </p:grpSp>
      <p:sp>
        <p:nvSpPr>
          <p:cNvPr id="26" name="object 26"/>
          <p:cNvSpPr txBox="1"/>
          <p:nvPr/>
        </p:nvSpPr>
        <p:spPr>
          <a:xfrm>
            <a:off x="5448846" y="5969215"/>
            <a:ext cx="5826125" cy="173766"/>
          </a:xfrm>
          <a:prstGeom prst="rect">
            <a:avLst/>
          </a:prstGeom>
        </p:spPr>
        <p:txBody>
          <a:bodyPr vert="horz" wrap="square" lIns="0" tIns="12065" rIns="0" bIns="0" rtlCol="0">
            <a:spAutoFit/>
          </a:bodyPr>
          <a:lstStyle/>
          <a:p>
            <a:pPr marL="12700">
              <a:spcBef>
                <a:spcPts val="95"/>
              </a:spcBef>
            </a:pPr>
            <a:r>
              <a:rPr sz="1000" i="1" spc="-45" dirty="0">
                <a:solidFill>
                  <a:srgbClr val="6A7280"/>
                </a:solidFill>
                <a:latin typeface="Arial" panose="020B0604020202020204"/>
                <a:cs typeface="Arial" panose="020B0604020202020204"/>
              </a:rPr>
              <a:t>Fig. </a:t>
            </a:r>
            <a:r>
              <a:rPr sz="1000" i="1" spc="-35" dirty="0">
                <a:solidFill>
                  <a:srgbClr val="6A7280"/>
                </a:solidFill>
                <a:latin typeface="Arial" panose="020B0604020202020204"/>
                <a:cs typeface="Arial" panose="020B0604020202020204"/>
              </a:rPr>
              <a:t>2: </a:t>
            </a:r>
            <a:r>
              <a:rPr sz="1050" spc="-175" dirty="0">
                <a:solidFill>
                  <a:srgbClr val="6A7280"/>
                </a:solidFill>
                <a:latin typeface="宋体" panose="02010600030101010101" pitchFamily="2" charset="-122"/>
                <a:cs typeface="宋体" panose="02010600030101010101" pitchFamily="2" charset="-122"/>
              </a:rPr>
              <a:t>实验结果证明，相较于 </a:t>
            </a:r>
            <a:r>
              <a:rPr sz="1000" i="1" spc="-50" dirty="0">
                <a:solidFill>
                  <a:srgbClr val="6A7280"/>
                </a:solidFill>
                <a:latin typeface="Arial" panose="020B0604020202020204"/>
                <a:cs typeface="Arial" panose="020B0604020202020204"/>
              </a:rPr>
              <a:t>CCM</a:t>
            </a:r>
            <a:r>
              <a:rPr sz="1000" i="1" spc="25" dirty="0">
                <a:solidFill>
                  <a:srgbClr val="6A7280"/>
                </a:solidFill>
                <a:latin typeface="Arial" panose="020B0604020202020204"/>
                <a:cs typeface="Arial" panose="020B0604020202020204"/>
              </a:rPr>
              <a:t> </a:t>
            </a:r>
            <a:r>
              <a:rPr sz="1050" spc="-160" dirty="0">
                <a:solidFill>
                  <a:srgbClr val="6A7280"/>
                </a:solidFill>
                <a:latin typeface="宋体" panose="02010600030101010101" pitchFamily="2" charset="-122"/>
                <a:cs typeface="宋体" panose="02010600030101010101" pitchFamily="2" charset="-122"/>
              </a:rPr>
              <a:t>等聚类机制导致的二次方增长，</a:t>
            </a:r>
            <a:r>
              <a:rPr sz="1000" i="1" spc="-75" dirty="0">
                <a:solidFill>
                  <a:srgbClr val="6A7280"/>
                </a:solidFill>
                <a:latin typeface="Arial" panose="020B0604020202020204"/>
                <a:cs typeface="Arial" panose="020B0604020202020204"/>
              </a:rPr>
              <a:t>xCPD</a:t>
            </a:r>
            <a:r>
              <a:rPr sz="1000" i="1" spc="40" dirty="0">
                <a:solidFill>
                  <a:srgbClr val="6A7280"/>
                </a:solidFill>
                <a:latin typeface="Arial" panose="020B0604020202020204"/>
                <a:cs typeface="Arial" panose="020B0604020202020204"/>
              </a:rPr>
              <a:t> </a:t>
            </a:r>
            <a:r>
              <a:rPr sz="1050" spc="-175" dirty="0">
                <a:solidFill>
                  <a:srgbClr val="6A7280"/>
                </a:solidFill>
                <a:latin typeface="宋体" panose="02010600030101010101" pitchFamily="2" charset="-122"/>
                <a:cs typeface="宋体" panose="02010600030101010101" pitchFamily="2" charset="-122"/>
              </a:rPr>
              <a:t>保持恒定内存负担 </a:t>
            </a:r>
            <a:r>
              <a:rPr sz="1000" i="1" spc="-50" dirty="0">
                <a:solidFill>
                  <a:srgbClr val="6A7280"/>
                </a:solidFill>
                <a:latin typeface="Arial" panose="020B0604020202020204"/>
                <a:cs typeface="Arial" panose="020B0604020202020204"/>
              </a:rPr>
              <a:t>(~7GB</a:t>
            </a:r>
            <a:r>
              <a:rPr sz="1000" i="1" spc="-40" dirty="0">
                <a:solidFill>
                  <a:srgbClr val="6A7280"/>
                </a:solidFill>
                <a:latin typeface="Arial" panose="020B0604020202020204"/>
                <a:cs typeface="Arial" panose="020B0604020202020204"/>
              </a:rPr>
              <a:t>) </a:t>
            </a:r>
            <a:r>
              <a:rPr sz="1050" spc="-150" dirty="0">
                <a:solidFill>
                  <a:srgbClr val="6A7280"/>
                </a:solidFill>
                <a:latin typeface="宋体" panose="02010600030101010101" pitchFamily="2" charset="-122"/>
                <a:cs typeface="宋体" panose="02010600030101010101" pitchFamily="2" charset="-122"/>
              </a:rPr>
              <a:t>且耗时极低。</a:t>
            </a:r>
            <a:endParaRPr sz="1050">
              <a:latin typeface="宋体" panose="02010600030101010101" pitchFamily="2" charset="-122"/>
              <a:cs typeface="宋体" panose="02010600030101010101" pitchFamily="2" charset="-122"/>
            </a:endParaRPr>
          </a:p>
        </p:txBody>
      </p:sp>
      <p:pic>
        <p:nvPicPr>
          <p:cNvPr id="27" name="object 27"/>
          <p:cNvPicPr/>
          <p:nvPr/>
        </p:nvPicPr>
        <p:blipFill>
          <a:blip r:embed="rId2" cstate="print"/>
          <a:stretch>
            <a:fillRect/>
          </a:stretch>
        </p:blipFill>
        <p:spPr>
          <a:xfrm>
            <a:off x="5162550" y="6591300"/>
            <a:ext cx="76199" cy="76199"/>
          </a:xfrm>
          <a:prstGeom prst="rect">
            <a:avLst/>
          </a:prstGeom>
        </p:spPr>
      </p:pic>
      <p:sp>
        <p:nvSpPr>
          <p:cNvPr id="28" name="object 28"/>
          <p:cNvSpPr txBox="1"/>
          <p:nvPr/>
        </p:nvSpPr>
        <p:spPr>
          <a:xfrm>
            <a:off x="5305970" y="6530974"/>
            <a:ext cx="1483360" cy="128240"/>
          </a:xfrm>
          <a:prstGeom prst="rect">
            <a:avLst/>
          </a:prstGeom>
        </p:spPr>
        <p:txBody>
          <a:bodyPr vert="horz" wrap="square" lIns="0" tIns="12700" rIns="0" bIns="0" rtlCol="0">
            <a:spAutoFit/>
          </a:bodyPr>
          <a:lstStyle/>
          <a:p>
            <a:pPr marL="12700">
              <a:spcBef>
                <a:spcPts val="100"/>
              </a:spcBef>
            </a:pPr>
            <a:r>
              <a:rPr sz="750" spc="65" dirty="0">
                <a:solidFill>
                  <a:srgbClr val="9CA2AF"/>
                </a:solidFill>
                <a:latin typeface="Courier New" panose="02070309020205020404"/>
                <a:cs typeface="Courier New" panose="02070309020205020404"/>
              </a:rPr>
              <a:t>CONSTANT</a:t>
            </a:r>
            <a:r>
              <a:rPr sz="750" spc="155" dirty="0">
                <a:solidFill>
                  <a:srgbClr val="9CA2AF"/>
                </a:solidFill>
                <a:latin typeface="Courier New" panose="02070309020205020404"/>
                <a:cs typeface="Courier New" panose="02070309020205020404"/>
              </a:rPr>
              <a:t> </a:t>
            </a:r>
            <a:r>
              <a:rPr sz="750" spc="60" dirty="0">
                <a:solidFill>
                  <a:srgbClr val="9CA2AF"/>
                </a:solidFill>
                <a:latin typeface="Courier New" panose="02070309020205020404"/>
                <a:cs typeface="Courier New" panose="02070309020205020404"/>
              </a:rPr>
              <a:t>MEMORY</a:t>
            </a:r>
            <a:r>
              <a:rPr sz="750" spc="160" dirty="0">
                <a:solidFill>
                  <a:srgbClr val="9CA2AF"/>
                </a:solidFill>
                <a:latin typeface="Courier New" panose="02070309020205020404"/>
                <a:cs typeface="Courier New" panose="02070309020205020404"/>
              </a:rPr>
              <a:t> </a:t>
            </a:r>
            <a:r>
              <a:rPr sz="750" dirty="0">
                <a:solidFill>
                  <a:srgbClr val="9CA2AF"/>
                </a:solidFill>
                <a:latin typeface="Courier New" panose="02070309020205020404"/>
                <a:cs typeface="Courier New" panose="02070309020205020404"/>
              </a:rPr>
              <a:t>(</a:t>
            </a:r>
            <a:r>
              <a:rPr sz="750" spc="-380" dirty="0">
                <a:solidFill>
                  <a:srgbClr val="9CA2AF"/>
                </a:solidFill>
                <a:latin typeface="Courier New" panose="02070309020205020404"/>
                <a:cs typeface="Courier New" panose="02070309020205020404"/>
              </a:rPr>
              <a:t> </a:t>
            </a:r>
            <a:r>
              <a:rPr sz="750" dirty="0">
                <a:solidFill>
                  <a:srgbClr val="9CA2AF"/>
                </a:solidFill>
                <a:latin typeface="Courier New" panose="02070309020205020404"/>
                <a:cs typeface="Courier New" panose="02070309020205020404"/>
              </a:rPr>
              <a:t>~</a:t>
            </a:r>
            <a:r>
              <a:rPr sz="750" spc="-380" dirty="0">
                <a:solidFill>
                  <a:srgbClr val="9CA2AF"/>
                </a:solidFill>
                <a:latin typeface="Courier New" panose="02070309020205020404"/>
                <a:cs typeface="Courier New" panose="02070309020205020404"/>
              </a:rPr>
              <a:t> </a:t>
            </a:r>
            <a:r>
              <a:rPr sz="750" dirty="0">
                <a:solidFill>
                  <a:srgbClr val="9CA2AF"/>
                </a:solidFill>
                <a:latin typeface="Courier New" panose="02070309020205020404"/>
                <a:cs typeface="Courier New" panose="02070309020205020404"/>
              </a:rPr>
              <a:t>7</a:t>
            </a:r>
            <a:r>
              <a:rPr sz="750" spc="-375" dirty="0">
                <a:solidFill>
                  <a:srgbClr val="9CA2AF"/>
                </a:solidFill>
                <a:latin typeface="Courier New" panose="02070309020205020404"/>
                <a:cs typeface="Courier New" panose="02070309020205020404"/>
              </a:rPr>
              <a:t> </a:t>
            </a:r>
            <a:r>
              <a:rPr sz="750" spc="25" dirty="0">
                <a:solidFill>
                  <a:srgbClr val="9CA2AF"/>
                </a:solidFill>
                <a:latin typeface="Courier New" panose="02070309020205020404"/>
                <a:cs typeface="Courier New" panose="02070309020205020404"/>
              </a:rPr>
              <a:t>GB)</a:t>
            </a:r>
            <a:endParaRPr sz="750">
              <a:latin typeface="Courier New" panose="02070309020205020404"/>
              <a:cs typeface="Courier New" panose="02070309020205020404"/>
            </a:endParaRPr>
          </a:p>
        </p:txBody>
      </p:sp>
      <p:pic>
        <p:nvPicPr>
          <p:cNvPr id="29" name="object 29"/>
          <p:cNvPicPr/>
          <p:nvPr/>
        </p:nvPicPr>
        <p:blipFill>
          <a:blip r:embed="rId3" cstate="print"/>
          <a:stretch>
            <a:fillRect/>
          </a:stretch>
        </p:blipFill>
        <p:spPr>
          <a:xfrm>
            <a:off x="6934199" y="6591300"/>
            <a:ext cx="76200" cy="76199"/>
          </a:xfrm>
          <a:prstGeom prst="rect">
            <a:avLst/>
          </a:prstGeom>
        </p:spPr>
      </p:pic>
      <p:sp>
        <p:nvSpPr>
          <p:cNvPr id="30" name="object 30"/>
          <p:cNvSpPr txBox="1"/>
          <p:nvPr/>
        </p:nvSpPr>
        <p:spPr>
          <a:xfrm>
            <a:off x="7077918" y="6530974"/>
            <a:ext cx="1616710" cy="128240"/>
          </a:xfrm>
          <a:prstGeom prst="rect">
            <a:avLst/>
          </a:prstGeom>
        </p:spPr>
        <p:txBody>
          <a:bodyPr vert="horz" wrap="square" lIns="0" tIns="12700" rIns="0" bIns="0" rtlCol="0">
            <a:spAutoFit/>
          </a:bodyPr>
          <a:lstStyle/>
          <a:p>
            <a:pPr marL="12700">
              <a:spcBef>
                <a:spcPts val="100"/>
              </a:spcBef>
            </a:pPr>
            <a:r>
              <a:rPr sz="750" spc="60" dirty="0">
                <a:solidFill>
                  <a:srgbClr val="9CA2AF"/>
                </a:solidFill>
                <a:latin typeface="Courier New" panose="02070309020205020404"/>
                <a:cs typeface="Courier New" panose="02070309020205020404"/>
              </a:rPr>
              <a:t>LINEAR</a:t>
            </a:r>
            <a:r>
              <a:rPr sz="750" spc="170" dirty="0">
                <a:solidFill>
                  <a:srgbClr val="9CA2AF"/>
                </a:solidFill>
                <a:latin typeface="Courier New" panose="02070309020205020404"/>
                <a:cs typeface="Courier New" panose="02070309020205020404"/>
              </a:rPr>
              <a:t> </a:t>
            </a:r>
            <a:r>
              <a:rPr sz="750" spc="60" dirty="0">
                <a:solidFill>
                  <a:srgbClr val="9CA2AF"/>
                </a:solidFill>
                <a:latin typeface="Courier New" panose="02070309020205020404"/>
                <a:cs typeface="Courier New" panose="02070309020205020404"/>
              </a:rPr>
              <a:t>SCALING</a:t>
            </a:r>
            <a:r>
              <a:rPr sz="750" spc="175" dirty="0">
                <a:solidFill>
                  <a:srgbClr val="9CA2AF"/>
                </a:solidFill>
                <a:latin typeface="Courier New" panose="02070309020205020404"/>
                <a:cs typeface="Courier New" panose="02070309020205020404"/>
              </a:rPr>
              <a:t> </a:t>
            </a:r>
            <a:r>
              <a:rPr sz="750" spc="55" dirty="0">
                <a:solidFill>
                  <a:srgbClr val="9CA2AF"/>
                </a:solidFill>
                <a:latin typeface="Courier New" panose="02070309020205020404"/>
                <a:cs typeface="Courier New" panose="02070309020205020404"/>
              </a:rPr>
              <a:t>ADVANTAGE</a:t>
            </a:r>
            <a:endParaRPr sz="750">
              <a:latin typeface="Courier New" panose="02070309020205020404"/>
              <a:cs typeface="Courier New" panose="02070309020205020404"/>
            </a:endParaRPr>
          </a:p>
        </p:txBody>
      </p:sp>
      <p:sp>
        <p:nvSpPr>
          <p:cNvPr id="31" name="object 31"/>
          <p:cNvSpPr txBox="1"/>
          <p:nvPr/>
        </p:nvSpPr>
        <p:spPr>
          <a:xfrm>
            <a:off x="10674052" y="6530974"/>
            <a:ext cx="997585" cy="128240"/>
          </a:xfrm>
          <a:prstGeom prst="rect">
            <a:avLst/>
          </a:prstGeom>
        </p:spPr>
        <p:txBody>
          <a:bodyPr vert="horz" wrap="square" lIns="0" tIns="12700" rIns="0" bIns="0" rtlCol="0">
            <a:spAutoFit/>
          </a:bodyPr>
          <a:lstStyle/>
          <a:p>
            <a:pPr marL="12700">
              <a:spcBef>
                <a:spcPts val="100"/>
              </a:spcBef>
            </a:pPr>
            <a:r>
              <a:rPr sz="750" dirty="0">
                <a:solidFill>
                  <a:srgbClr val="D0D5DA"/>
                </a:solidFill>
                <a:latin typeface="Courier New" panose="02070309020205020404"/>
                <a:cs typeface="Courier New" panose="02070309020205020404"/>
              </a:rPr>
              <a:t>EXP-ID: UV-EFF-</a:t>
            </a:r>
            <a:r>
              <a:rPr sz="750" spc="-25" dirty="0">
                <a:solidFill>
                  <a:srgbClr val="D0D5DA"/>
                </a:solidFill>
                <a:latin typeface="Courier New" panose="02070309020205020404"/>
                <a:cs typeface="Courier New" panose="02070309020205020404"/>
              </a:rPr>
              <a:t>96</a:t>
            </a:r>
            <a:endParaRPr sz="750">
              <a:latin typeface="Courier New" panose="02070309020205020404"/>
              <a:cs typeface="Courier New" panose="02070309020205020404"/>
            </a:endParaRPr>
          </a:p>
        </p:txBody>
      </p:sp>
      <p:sp>
        <p:nvSpPr>
          <p:cNvPr id="32" name="object 32"/>
          <p:cNvSpPr/>
          <p:nvPr/>
        </p:nvSpPr>
        <p:spPr>
          <a:xfrm>
            <a:off x="0" y="295275"/>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33" name="object 33"/>
          <p:cNvSpPr/>
          <p:nvPr/>
        </p:nvSpPr>
        <p:spPr>
          <a:xfrm>
            <a:off x="0" y="71151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501" y="685673"/>
            <a:ext cx="7007225" cy="481965"/>
          </a:xfrm>
          <a:prstGeom prst="rect">
            <a:avLst/>
          </a:prstGeom>
        </p:spPr>
        <p:txBody>
          <a:bodyPr vert="horz" wrap="square" lIns="0" tIns="12700" rIns="0" bIns="0" rtlCol="0">
            <a:spAutoFit/>
          </a:bodyPr>
          <a:lstStyle/>
          <a:p>
            <a:pPr marL="12700">
              <a:spcBef>
                <a:spcPts val="100"/>
              </a:spcBef>
            </a:pPr>
            <a:r>
              <a:rPr spc="-240" dirty="0">
                <a:latin typeface="微软雅黑" panose="020B0503020204020204" charset="-122"/>
                <a:cs typeface="微软雅黑" panose="020B0503020204020204" charset="-122"/>
              </a:rPr>
              <a:t>实验 </a:t>
            </a:r>
            <a:r>
              <a:rPr sz="2850" spc="-175" dirty="0">
                <a:latin typeface="Trebuchet MS" panose="020B0603020202020204"/>
                <a:cs typeface="Trebuchet MS" panose="020B0603020202020204"/>
              </a:rPr>
              <a:t>2</a:t>
            </a:r>
            <a:r>
              <a:rPr spc="-175" dirty="0"/>
              <a:t>：</a:t>
            </a:r>
            <a:r>
              <a:rPr spc="-305" dirty="0">
                <a:latin typeface="微软雅黑" panose="020B0503020204020204" charset="-122"/>
                <a:cs typeface="微软雅黑" panose="020B0503020204020204" charset="-122"/>
              </a:rPr>
              <a:t>频</a:t>
            </a:r>
            <a:r>
              <a:rPr spc="-305" dirty="0"/>
              <a:t>域</a:t>
            </a:r>
            <a:r>
              <a:rPr spc="-305" dirty="0">
                <a:latin typeface="微软雅黑" panose="020B0503020204020204" charset="-122"/>
                <a:cs typeface="微软雅黑" panose="020B0503020204020204" charset="-122"/>
              </a:rPr>
              <a:t>过滤</a:t>
            </a:r>
            <a:r>
              <a:rPr spc="-305" dirty="0"/>
              <a:t>的</a:t>
            </a:r>
            <a:r>
              <a:rPr spc="-320" dirty="0">
                <a:latin typeface="微软雅黑" panose="020B0503020204020204" charset="-122"/>
                <a:cs typeface="微软雅黑" panose="020B0503020204020204" charset="-122"/>
              </a:rPr>
              <a:t>可解释性与定性论证</a:t>
            </a:r>
            <a:endParaRPr sz="2850">
              <a:latin typeface="微软雅黑" panose="020B0503020204020204" charset="-122"/>
              <a:cs typeface="微软雅黑" panose="020B0503020204020204" charset="-122"/>
            </a:endParaRPr>
          </a:p>
        </p:txBody>
      </p:sp>
      <p:sp>
        <p:nvSpPr>
          <p:cNvPr id="3" name="object 3"/>
          <p:cNvSpPr/>
          <p:nvPr/>
        </p:nvSpPr>
        <p:spPr>
          <a:xfrm>
            <a:off x="457200" y="2628900"/>
            <a:ext cx="38100" cy="523875"/>
          </a:xfrm>
          <a:custGeom>
            <a:avLst/>
            <a:gdLst/>
            <a:ahLst/>
            <a:cxnLst/>
            <a:rect l="l" t="t" r="r" b="b"/>
            <a:pathLst>
              <a:path w="38100" h="523875">
                <a:moveTo>
                  <a:pt x="38099" y="523874"/>
                </a:moveTo>
                <a:lnTo>
                  <a:pt x="0" y="523874"/>
                </a:lnTo>
                <a:lnTo>
                  <a:pt x="0" y="0"/>
                </a:lnTo>
                <a:lnTo>
                  <a:pt x="38099" y="0"/>
                </a:lnTo>
                <a:lnTo>
                  <a:pt x="38099" y="523874"/>
                </a:lnTo>
                <a:close/>
              </a:path>
            </a:pathLst>
          </a:custGeom>
          <a:solidFill>
            <a:srgbClr val="EF4444"/>
          </a:solidFill>
        </p:spPr>
        <p:txBody>
          <a:bodyPr wrap="square" lIns="0" tIns="0" rIns="0" bIns="0" rtlCol="0"/>
          <a:lstStyle/>
          <a:p/>
        </p:txBody>
      </p:sp>
      <p:sp>
        <p:nvSpPr>
          <p:cNvPr id="4" name="object 4"/>
          <p:cNvSpPr/>
          <p:nvPr/>
        </p:nvSpPr>
        <p:spPr>
          <a:xfrm>
            <a:off x="457200" y="3305175"/>
            <a:ext cx="38100" cy="523875"/>
          </a:xfrm>
          <a:custGeom>
            <a:avLst/>
            <a:gdLst/>
            <a:ahLst/>
            <a:cxnLst/>
            <a:rect l="l" t="t" r="r" b="b"/>
            <a:pathLst>
              <a:path w="38100" h="523875">
                <a:moveTo>
                  <a:pt x="38099" y="523874"/>
                </a:moveTo>
                <a:lnTo>
                  <a:pt x="0" y="523874"/>
                </a:lnTo>
                <a:lnTo>
                  <a:pt x="0" y="0"/>
                </a:lnTo>
                <a:lnTo>
                  <a:pt x="38099" y="0"/>
                </a:lnTo>
                <a:lnTo>
                  <a:pt x="38099" y="523874"/>
                </a:lnTo>
                <a:close/>
              </a:path>
            </a:pathLst>
          </a:custGeom>
          <a:solidFill>
            <a:srgbClr val="21C45D"/>
          </a:solidFill>
        </p:spPr>
        <p:txBody>
          <a:bodyPr wrap="square" lIns="0" tIns="0" rIns="0" bIns="0" rtlCol="0"/>
          <a:lstStyle/>
          <a:p/>
        </p:txBody>
      </p:sp>
      <p:sp>
        <p:nvSpPr>
          <p:cNvPr id="5" name="object 5"/>
          <p:cNvSpPr/>
          <p:nvPr/>
        </p:nvSpPr>
        <p:spPr>
          <a:xfrm>
            <a:off x="1704974" y="2666999"/>
            <a:ext cx="952500" cy="190500"/>
          </a:xfrm>
          <a:custGeom>
            <a:avLst/>
            <a:gdLst/>
            <a:ahLst/>
            <a:cxnLst/>
            <a:rect l="l" t="t" r="r" b="b"/>
            <a:pathLst>
              <a:path w="952500" h="190500">
                <a:moveTo>
                  <a:pt x="919452" y="190499"/>
                </a:moveTo>
                <a:lnTo>
                  <a:pt x="33047" y="190499"/>
                </a:lnTo>
                <a:lnTo>
                  <a:pt x="28187" y="189533"/>
                </a:lnTo>
                <a:lnTo>
                  <a:pt x="966" y="162312"/>
                </a:lnTo>
                <a:lnTo>
                  <a:pt x="0" y="157452"/>
                </a:lnTo>
                <a:lnTo>
                  <a:pt x="0" y="152399"/>
                </a:lnTo>
                <a:lnTo>
                  <a:pt x="0" y="33047"/>
                </a:lnTo>
                <a:lnTo>
                  <a:pt x="28187" y="966"/>
                </a:lnTo>
                <a:lnTo>
                  <a:pt x="33047" y="0"/>
                </a:lnTo>
                <a:lnTo>
                  <a:pt x="919452" y="0"/>
                </a:lnTo>
                <a:lnTo>
                  <a:pt x="951533" y="28187"/>
                </a:lnTo>
                <a:lnTo>
                  <a:pt x="952499" y="33047"/>
                </a:lnTo>
                <a:lnTo>
                  <a:pt x="952499" y="157452"/>
                </a:lnTo>
                <a:lnTo>
                  <a:pt x="924312" y="189533"/>
                </a:lnTo>
                <a:lnTo>
                  <a:pt x="919452" y="190499"/>
                </a:lnTo>
                <a:close/>
              </a:path>
            </a:pathLst>
          </a:custGeom>
          <a:solidFill>
            <a:srgbClr val="F2F4F5"/>
          </a:solidFill>
        </p:spPr>
        <p:txBody>
          <a:bodyPr wrap="square" lIns="0" tIns="0" rIns="0" bIns="0" rtlCol="0"/>
          <a:lstStyle/>
          <a:p/>
        </p:txBody>
      </p:sp>
      <p:sp>
        <p:nvSpPr>
          <p:cNvPr id="6" name="object 6"/>
          <p:cNvSpPr/>
          <p:nvPr/>
        </p:nvSpPr>
        <p:spPr>
          <a:xfrm>
            <a:off x="2095499" y="3343274"/>
            <a:ext cx="971550" cy="190500"/>
          </a:xfrm>
          <a:custGeom>
            <a:avLst/>
            <a:gdLst/>
            <a:ahLst/>
            <a:cxnLst/>
            <a:rect l="l" t="t" r="r" b="b"/>
            <a:pathLst>
              <a:path w="971550" h="190500">
                <a:moveTo>
                  <a:pt x="938502" y="190499"/>
                </a:moveTo>
                <a:lnTo>
                  <a:pt x="33047" y="190499"/>
                </a:lnTo>
                <a:lnTo>
                  <a:pt x="28187" y="189533"/>
                </a:lnTo>
                <a:lnTo>
                  <a:pt x="966" y="162312"/>
                </a:lnTo>
                <a:lnTo>
                  <a:pt x="0" y="157452"/>
                </a:lnTo>
                <a:lnTo>
                  <a:pt x="0" y="152399"/>
                </a:lnTo>
                <a:lnTo>
                  <a:pt x="0" y="33047"/>
                </a:lnTo>
                <a:lnTo>
                  <a:pt x="28187" y="966"/>
                </a:lnTo>
                <a:lnTo>
                  <a:pt x="33047" y="0"/>
                </a:lnTo>
                <a:lnTo>
                  <a:pt x="938502" y="0"/>
                </a:lnTo>
                <a:lnTo>
                  <a:pt x="970583" y="28187"/>
                </a:lnTo>
                <a:lnTo>
                  <a:pt x="971549" y="33047"/>
                </a:lnTo>
                <a:lnTo>
                  <a:pt x="971549" y="157452"/>
                </a:lnTo>
                <a:lnTo>
                  <a:pt x="943362" y="189533"/>
                </a:lnTo>
                <a:lnTo>
                  <a:pt x="938502" y="190499"/>
                </a:lnTo>
                <a:close/>
              </a:path>
            </a:pathLst>
          </a:custGeom>
          <a:solidFill>
            <a:srgbClr val="F2F4F5"/>
          </a:solidFill>
        </p:spPr>
        <p:txBody>
          <a:bodyPr wrap="square" lIns="0" tIns="0" rIns="0" bIns="0" rtlCol="0"/>
          <a:lstStyle/>
          <a:p/>
        </p:txBody>
      </p:sp>
      <p:sp>
        <p:nvSpPr>
          <p:cNvPr id="7" name="object 7"/>
          <p:cNvSpPr txBox="1"/>
          <p:nvPr/>
        </p:nvSpPr>
        <p:spPr>
          <a:xfrm>
            <a:off x="444501" y="1570926"/>
            <a:ext cx="4018279" cy="2174240"/>
          </a:xfrm>
          <a:prstGeom prst="rect">
            <a:avLst/>
          </a:prstGeom>
        </p:spPr>
        <p:txBody>
          <a:bodyPr vert="horz" wrap="square" lIns="0" tIns="67310" rIns="0" bIns="0" rtlCol="0">
            <a:spAutoFit/>
          </a:bodyPr>
          <a:lstStyle/>
          <a:p>
            <a:pPr marL="12700">
              <a:spcBef>
                <a:spcPts val="530"/>
              </a:spcBef>
            </a:pPr>
            <a:r>
              <a:rPr sz="1050" spc="85" dirty="0">
                <a:solidFill>
                  <a:srgbClr val="6A7280"/>
                </a:solidFill>
                <a:latin typeface="Courier New" panose="02070309020205020404"/>
                <a:cs typeface="Courier New" panose="02070309020205020404"/>
              </a:rPr>
              <a:t>INVESTIGATION</a:t>
            </a:r>
            <a:endParaRPr sz="1050">
              <a:latin typeface="Courier New" panose="02070309020205020404"/>
              <a:cs typeface="Courier New" panose="02070309020205020404"/>
            </a:endParaRPr>
          </a:p>
          <a:p>
            <a:pPr marL="12700">
              <a:spcBef>
                <a:spcPts val="615"/>
              </a:spcBef>
            </a:pPr>
            <a:r>
              <a:rPr sz="1500" spc="-10" dirty="0">
                <a:latin typeface="宋体" panose="02010600030101010101" pitchFamily="2" charset="-122"/>
                <a:cs typeface="宋体" panose="02010600030101010101" pitchFamily="2" charset="-122"/>
              </a:rPr>
              <a:t>内部机制探究：</a:t>
            </a:r>
            <a:endParaRPr sz="1500">
              <a:latin typeface="宋体" panose="02010600030101010101" pitchFamily="2" charset="-122"/>
              <a:cs typeface="宋体" panose="02010600030101010101" pitchFamily="2" charset="-122"/>
            </a:endParaRPr>
          </a:p>
          <a:p>
            <a:pPr marL="12700">
              <a:spcBef>
                <a:spcPts val="300"/>
              </a:spcBef>
            </a:pPr>
            <a:r>
              <a:rPr sz="1500" spc="-5" dirty="0">
                <a:latin typeface="宋体" panose="02010600030101010101" pitchFamily="2" charset="-122"/>
                <a:cs typeface="宋体" panose="02010600030101010101" pitchFamily="2" charset="-122"/>
              </a:rPr>
              <a:t>我们真的学到了想要解耦的频率吗？</a:t>
            </a:r>
            <a:endParaRPr sz="1500">
              <a:latin typeface="宋体" panose="02010600030101010101" pitchFamily="2" charset="-122"/>
              <a:cs typeface="宋体" panose="02010600030101010101" pitchFamily="2" charset="-122"/>
            </a:endParaRPr>
          </a:p>
          <a:p>
            <a:pPr>
              <a:spcBef>
                <a:spcPts val="475"/>
              </a:spcBef>
            </a:pPr>
            <a:endParaRPr sz="1500">
              <a:latin typeface="宋体" panose="02010600030101010101" pitchFamily="2" charset="-122"/>
              <a:cs typeface="宋体" panose="02010600030101010101" pitchFamily="2" charset="-122"/>
            </a:endParaRPr>
          </a:p>
          <a:p>
            <a:pPr marL="202565">
              <a:tabLst>
                <a:tab pos="1336040" algn="l"/>
              </a:tabLst>
            </a:pPr>
            <a:r>
              <a:rPr sz="950" b="1" dirty="0">
                <a:solidFill>
                  <a:srgbClr val="EF4444"/>
                </a:solidFill>
                <a:latin typeface="Arial" panose="020B0604020202020204"/>
                <a:cs typeface="Arial" panose="020B0604020202020204"/>
              </a:rPr>
              <a:t>SMOOTH</a:t>
            </a:r>
            <a:r>
              <a:rPr sz="950" b="1" spc="-55" dirty="0">
                <a:solidFill>
                  <a:srgbClr val="EF4444"/>
                </a:solidFill>
                <a:latin typeface="Arial" panose="020B0604020202020204"/>
                <a:cs typeface="Arial" panose="020B0604020202020204"/>
              </a:rPr>
              <a:t> </a:t>
            </a:r>
            <a:r>
              <a:rPr sz="950" b="1" spc="-10" dirty="0">
                <a:solidFill>
                  <a:srgbClr val="EF4444"/>
                </a:solidFill>
                <a:latin typeface="Arial" panose="020B0604020202020204"/>
                <a:cs typeface="Arial" panose="020B0604020202020204"/>
              </a:rPr>
              <a:t>TREND</a:t>
            </a:r>
            <a:r>
              <a:rPr sz="950" b="1" dirty="0">
                <a:solidFill>
                  <a:srgbClr val="EF4444"/>
                </a:solidFill>
                <a:latin typeface="Arial" panose="020B0604020202020204"/>
                <a:cs typeface="Arial" panose="020B0604020202020204"/>
              </a:rPr>
              <a:t>	</a:t>
            </a:r>
            <a:r>
              <a:rPr sz="1350" baseline="3000" dirty="0">
                <a:latin typeface="Cambria" panose="02040503050406030204"/>
                <a:cs typeface="Cambria" panose="02040503050406030204"/>
              </a:rPr>
              <a:t>Low</a:t>
            </a:r>
            <a:r>
              <a:rPr sz="1350" spc="142" baseline="3000" dirty="0">
                <a:latin typeface="Cambria" panose="02040503050406030204"/>
                <a:cs typeface="Cambria" panose="02040503050406030204"/>
              </a:rPr>
              <a:t> </a:t>
            </a:r>
            <a:r>
              <a:rPr sz="1350" baseline="3000" dirty="0">
                <a:latin typeface="Cambria" panose="02040503050406030204"/>
                <a:cs typeface="Cambria" panose="02040503050406030204"/>
              </a:rPr>
              <a:t>Fre.</a:t>
            </a:r>
            <a:r>
              <a:rPr sz="1350" spc="97" baseline="3000" dirty="0">
                <a:latin typeface="Cambria" panose="02040503050406030204"/>
                <a:cs typeface="Cambria" panose="02040503050406030204"/>
              </a:rPr>
              <a:t> </a:t>
            </a:r>
            <a:r>
              <a:rPr sz="1350" spc="300" baseline="3000" dirty="0">
                <a:latin typeface="Cambria" panose="02040503050406030204"/>
                <a:cs typeface="Cambria" panose="02040503050406030204"/>
              </a:rPr>
              <a:t>=</a:t>
            </a:r>
            <a:r>
              <a:rPr sz="1350" spc="97" baseline="3000" dirty="0">
                <a:latin typeface="Cambria" panose="02040503050406030204"/>
                <a:cs typeface="Cambria" panose="02040503050406030204"/>
              </a:rPr>
              <a:t> </a:t>
            </a:r>
            <a:r>
              <a:rPr sz="1350" spc="-30" baseline="3000" dirty="0">
                <a:latin typeface="Cambria" panose="02040503050406030204"/>
                <a:cs typeface="Cambria" panose="02040503050406030204"/>
              </a:rPr>
              <a:t>0.73</a:t>
            </a:r>
            <a:endParaRPr sz="1350" baseline="3000">
              <a:latin typeface="Cambria" panose="02040503050406030204"/>
              <a:cs typeface="Cambria" panose="02040503050406030204"/>
            </a:endParaRPr>
          </a:p>
          <a:p>
            <a:pPr marL="202565">
              <a:spcBef>
                <a:spcPts val="560"/>
              </a:spcBef>
            </a:pPr>
            <a:r>
              <a:rPr sz="1050" spc="-105" dirty="0">
                <a:solidFill>
                  <a:srgbClr val="374050"/>
                </a:solidFill>
                <a:latin typeface="宋体" panose="02010600030101010101" pitchFamily="2" charset="-122"/>
                <a:cs typeface="宋体" panose="02010600030101010101" pitchFamily="2" charset="-122"/>
              </a:rPr>
              <a:t>在 </a:t>
            </a:r>
            <a:r>
              <a:rPr sz="1050" spc="-50" dirty="0">
                <a:latin typeface="Cambria" panose="02040503050406030204"/>
                <a:cs typeface="Cambria" panose="02040503050406030204"/>
              </a:rPr>
              <a:t>[26</a:t>
            </a:r>
            <a:r>
              <a:rPr sz="1050" spc="25" dirty="0">
                <a:latin typeface="Cambria" panose="02040503050406030204"/>
                <a:cs typeface="Cambria" panose="02040503050406030204"/>
              </a:rPr>
              <a:t> ∼ </a:t>
            </a:r>
            <a:r>
              <a:rPr sz="1050" spc="-40" dirty="0">
                <a:latin typeface="Cambria" panose="02040503050406030204"/>
                <a:cs typeface="Cambria" panose="02040503050406030204"/>
              </a:rPr>
              <a:t>28</a:t>
            </a:r>
            <a:r>
              <a:rPr sz="1050" spc="5" dirty="0">
                <a:latin typeface="Cambria" panose="02040503050406030204"/>
                <a:cs typeface="Cambria" panose="02040503050406030204"/>
              </a:rPr>
              <a:t>] </a:t>
            </a:r>
            <a:r>
              <a:rPr sz="1050" spc="-5" dirty="0">
                <a:solidFill>
                  <a:srgbClr val="374050"/>
                </a:solidFill>
                <a:latin typeface="宋体" panose="02010600030101010101" pitchFamily="2" charset="-122"/>
                <a:cs typeface="宋体" panose="02010600030101010101" pitchFamily="2" charset="-122"/>
              </a:rPr>
              <a:t>步呈周期性平滑过渡，系统主动连接低频背景通道。</a:t>
            </a:r>
            <a:endParaRPr sz="1050">
              <a:latin typeface="宋体" panose="02010600030101010101" pitchFamily="2" charset="-122"/>
              <a:cs typeface="宋体" panose="02010600030101010101" pitchFamily="2" charset="-122"/>
            </a:endParaRPr>
          </a:p>
          <a:p>
            <a:pPr>
              <a:spcBef>
                <a:spcPts val="1000"/>
              </a:spcBef>
            </a:pPr>
            <a:endParaRPr sz="1050">
              <a:latin typeface="宋体" panose="02010600030101010101" pitchFamily="2" charset="-122"/>
              <a:cs typeface="宋体" panose="02010600030101010101" pitchFamily="2" charset="-122"/>
            </a:endParaRPr>
          </a:p>
          <a:p>
            <a:pPr marL="202565">
              <a:tabLst>
                <a:tab pos="1725930" algn="l"/>
              </a:tabLst>
            </a:pPr>
            <a:r>
              <a:rPr sz="950" b="1" spc="-10" dirty="0">
                <a:solidFill>
                  <a:srgbClr val="21C45D"/>
                </a:solidFill>
                <a:latin typeface="Arial" panose="020B0604020202020204"/>
                <a:cs typeface="Arial" panose="020B0604020202020204"/>
              </a:rPr>
              <a:t>ABRUPT</a:t>
            </a:r>
            <a:r>
              <a:rPr sz="950" b="1" spc="-70" dirty="0">
                <a:solidFill>
                  <a:srgbClr val="21C45D"/>
                </a:solidFill>
                <a:latin typeface="Arial" panose="020B0604020202020204"/>
                <a:cs typeface="Arial" panose="020B0604020202020204"/>
              </a:rPr>
              <a:t> </a:t>
            </a:r>
            <a:r>
              <a:rPr sz="950" b="1" spc="-10" dirty="0">
                <a:solidFill>
                  <a:srgbClr val="21C45D"/>
                </a:solidFill>
                <a:latin typeface="Arial" panose="020B0604020202020204"/>
                <a:cs typeface="Arial" panose="020B0604020202020204"/>
              </a:rPr>
              <a:t>FLUCTUATION</a:t>
            </a:r>
            <a:r>
              <a:rPr sz="950" b="1" dirty="0">
                <a:solidFill>
                  <a:srgbClr val="21C45D"/>
                </a:solidFill>
                <a:latin typeface="Arial" panose="020B0604020202020204"/>
                <a:cs typeface="Arial" panose="020B0604020202020204"/>
              </a:rPr>
              <a:t>	</a:t>
            </a:r>
            <a:r>
              <a:rPr sz="1350" baseline="3000" dirty="0">
                <a:latin typeface="Cambria" panose="02040503050406030204"/>
                <a:cs typeface="Cambria" panose="02040503050406030204"/>
              </a:rPr>
              <a:t>High</a:t>
            </a:r>
            <a:r>
              <a:rPr sz="1350" spc="142" baseline="3000" dirty="0">
                <a:latin typeface="Cambria" panose="02040503050406030204"/>
                <a:cs typeface="Cambria" panose="02040503050406030204"/>
              </a:rPr>
              <a:t> </a:t>
            </a:r>
            <a:r>
              <a:rPr sz="1350" baseline="3000" dirty="0">
                <a:latin typeface="Cambria" panose="02040503050406030204"/>
                <a:cs typeface="Cambria" panose="02040503050406030204"/>
              </a:rPr>
              <a:t>Fre.</a:t>
            </a:r>
            <a:r>
              <a:rPr sz="1350" spc="104" baseline="3000" dirty="0">
                <a:latin typeface="Cambria" panose="02040503050406030204"/>
                <a:cs typeface="Cambria" panose="02040503050406030204"/>
              </a:rPr>
              <a:t> </a:t>
            </a:r>
            <a:r>
              <a:rPr sz="1350" spc="300" baseline="3000" dirty="0">
                <a:latin typeface="Cambria" panose="02040503050406030204"/>
                <a:cs typeface="Cambria" panose="02040503050406030204"/>
              </a:rPr>
              <a:t>=</a:t>
            </a:r>
            <a:r>
              <a:rPr sz="1350" spc="97" baseline="3000" dirty="0">
                <a:latin typeface="Cambria" panose="02040503050406030204"/>
                <a:cs typeface="Cambria" panose="02040503050406030204"/>
              </a:rPr>
              <a:t> </a:t>
            </a:r>
            <a:r>
              <a:rPr sz="1350" spc="-30" baseline="3000" dirty="0">
                <a:latin typeface="Cambria" panose="02040503050406030204"/>
                <a:cs typeface="Cambria" panose="02040503050406030204"/>
              </a:rPr>
              <a:t>0.67</a:t>
            </a:r>
            <a:endParaRPr sz="1350" baseline="3000">
              <a:latin typeface="Cambria" panose="02040503050406030204"/>
              <a:cs typeface="Cambria" panose="02040503050406030204"/>
            </a:endParaRPr>
          </a:p>
          <a:p>
            <a:pPr marL="202565">
              <a:spcBef>
                <a:spcPts val="560"/>
              </a:spcBef>
            </a:pPr>
            <a:r>
              <a:rPr sz="1050" spc="-105" dirty="0">
                <a:solidFill>
                  <a:srgbClr val="374050"/>
                </a:solidFill>
                <a:latin typeface="宋体" panose="02010600030101010101" pitchFamily="2" charset="-122"/>
                <a:cs typeface="宋体" panose="02010600030101010101" pitchFamily="2" charset="-122"/>
              </a:rPr>
              <a:t>在 </a:t>
            </a:r>
            <a:r>
              <a:rPr sz="1050" spc="-50" dirty="0">
                <a:latin typeface="Cambria" panose="02040503050406030204"/>
                <a:cs typeface="Cambria" panose="02040503050406030204"/>
              </a:rPr>
              <a:t>[30</a:t>
            </a:r>
            <a:r>
              <a:rPr sz="1050" spc="25" dirty="0">
                <a:latin typeface="Cambria" panose="02040503050406030204"/>
                <a:cs typeface="Cambria" panose="02040503050406030204"/>
              </a:rPr>
              <a:t> ∼ </a:t>
            </a:r>
            <a:r>
              <a:rPr sz="1050" spc="-40" dirty="0">
                <a:latin typeface="Cambria" panose="02040503050406030204"/>
                <a:cs typeface="Cambria" panose="02040503050406030204"/>
              </a:rPr>
              <a:t>32</a:t>
            </a:r>
            <a:r>
              <a:rPr sz="1050" spc="5" dirty="0">
                <a:latin typeface="Cambria" panose="02040503050406030204"/>
                <a:cs typeface="Cambria" panose="02040503050406030204"/>
              </a:rPr>
              <a:t>] </a:t>
            </a:r>
            <a:r>
              <a:rPr sz="1050" spc="-5" dirty="0">
                <a:solidFill>
                  <a:srgbClr val="374050"/>
                </a:solidFill>
                <a:latin typeface="宋体" panose="02010600030101010101" pitchFamily="2" charset="-122"/>
                <a:cs typeface="宋体" panose="02010600030101010101" pitchFamily="2" charset="-122"/>
              </a:rPr>
              <a:t>步发生断崖式下跌，激活突变捕捉滤波器。</a:t>
            </a:r>
            <a:endParaRPr sz="1050">
              <a:latin typeface="宋体" panose="02010600030101010101" pitchFamily="2" charset="-122"/>
              <a:cs typeface="宋体" panose="02010600030101010101" pitchFamily="2" charset="-122"/>
            </a:endParaRPr>
          </a:p>
        </p:txBody>
      </p:sp>
      <p:grpSp>
        <p:nvGrpSpPr>
          <p:cNvPr id="8" name="object 8"/>
          <p:cNvGrpSpPr/>
          <p:nvPr/>
        </p:nvGrpSpPr>
        <p:grpSpPr>
          <a:xfrm>
            <a:off x="457200" y="5314950"/>
            <a:ext cx="4286250" cy="1038225"/>
            <a:chOff x="457200" y="5019674"/>
            <a:chExt cx="4286250" cy="1038225"/>
          </a:xfrm>
        </p:grpSpPr>
        <p:sp>
          <p:nvSpPr>
            <p:cNvPr id="9" name="object 9"/>
            <p:cNvSpPr/>
            <p:nvPr/>
          </p:nvSpPr>
          <p:spPr>
            <a:xfrm>
              <a:off x="457200" y="5019674"/>
              <a:ext cx="4286250" cy="1038225"/>
            </a:xfrm>
            <a:custGeom>
              <a:avLst/>
              <a:gdLst/>
              <a:ahLst/>
              <a:cxnLst/>
              <a:rect l="l" t="t" r="r" b="b"/>
              <a:pathLst>
                <a:path w="4286250" h="1038225">
                  <a:moveTo>
                    <a:pt x="4215053" y="1038224"/>
                  </a:moveTo>
                  <a:lnTo>
                    <a:pt x="71196" y="1038224"/>
                  </a:lnTo>
                  <a:lnTo>
                    <a:pt x="66241" y="1037736"/>
                  </a:lnTo>
                  <a:lnTo>
                    <a:pt x="29705" y="1022602"/>
                  </a:lnTo>
                  <a:lnTo>
                    <a:pt x="3885" y="986562"/>
                  </a:lnTo>
                  <a:lnTo>
                    <a:pt x="0" y="967027"/>
                  </a:lnTo>
                  <a:lnTo>
                    <a:pt x="0" y="962024"/>
                  </a:lnTo>
                  <a:lnTo>
                    <a:pt x="0" y="71196"/>
                  </a:lnTo>
                  <a:lnTo>
                    <a:pt x="15621" y="29704"/>
                  </a:lnTo>
                  <a:lnTo>
                    <a:pt x="51662" y="3885"/>
                  </a:lnTo>
                  <a:lnTo>
                    <a:pt x="71196" y="0"/>
                  </a:lnTo>
                  <a:lnTo>
                    <a:pt x="4215053" y="0"/>
                  </a:lnTo>
                  <a:lnTo>
                    <a:pt x="4256543" y="15621"/>
                  </a:lnTo>
                  <a:lnTo>
                    <a:pt x="4282363" y="51661"/>
                  </a:lnTo>
                  <a:lnTo>
                    <a:pt x="4286249" y="71196"/>
                  </a:lnTo>
                  <a:lnTo>
                    <a:pt x="4286249" y="967027"/>
                  </a:lnTo>
                  <a:lnTo>
                    <a:pt x="4270627" y="1008518"/>
                  </a:lnTo>
                  <a:lnTo>
                    <a:pt x="4234587" y="1034338"/>
                  </a:lnTo>
                  <a:lnTo>
                    <a:pt x="4220008" y="1037736"/>
                  </a:lnTo>
                  <a:lnTo>
                    <a:pt x="4215053" y="1038224"/>
                  </a:lnTo>
                  <a:close/>
                </a:path>
              </a:pathLst>
            </a:custGeom>
            <a:solidFill>
              <a:srgbClr val="000000"/>
            </a:solidFill>
          </p:spPr>
          <p:txBody>
            <a:bodyPr wrap="square" lIns="0" tIns="0" rIns="0" bIns="0" rtlCol="0"/>
            <a:lstStyle/>
            <a:p/>
          </p:txBody>
        </p:sp>
        <p:pic>
          <p:nvPicPr>
            <p:cNvPr id="10" name="object 10"/>
            <p:cNvPicPr/>
            <p:nvPr/>
          </p:nvPicPr>
          <p:blipFill>
            <a:blip r:embed="rId1" cstate="print"/>
            <a:stretch>
              <a:fillRect/>
            </a:stretch>
          </p:blipFill>
          <p:spPr>
            <a:xfrm>
              <a:off x="671512" y="5272087"/>
              <a:ext cx="142874" cy="150812"/>
            </a:xfrm>
            <a:prstGeom prst="rect">
              <a:avLst/>
            </a:prstGeom>
          </p:spPr>
        </p:pic>
      </p:grpSp>
      <p:sp>
        <p:nvSpPr>
          <p:cNvPr id="11" name="object 11"/>
          <p:cNvSpPr txBox="1"/>
          <p:nvPr/>
        </p:nvSpPr>
        <p:spPr>
          <a:xfrm>
            <a:off x="977901" y="5402601"/>
            <a:ext cx="3505835" cy="675249"/>
          </a:xfrm>
          <a:prstGeom prst="rect">
            <a:avLst/>
          </a:prstGeom>
        </p:spPr>
        <p:txBody>
          <a:bodyPr vert="horz" wrap="square" lIns="0" tIns="96520" rIns="0" bIns="0" rtlCol="0">
            <a:spAutoFit/>
          </a:bodyPr>
          <a:lstStyle/>
          <a:p>
            <a:pPr marL="12700">
              <a:spcBef>
                <a:spcPts val="760"/>
              </a:spcBef>
            </a:pPr>
            <a:r>
              <a:rPr sz="950" b="1" spc="55" dirty="0">
                <a:solidFill>
                  <a:srgbClr val="9CA2AF"/>
                </a:solidFill>
                <a:latin typeface="Arial" panose="020B0604020202020204"/>
                <a:cs typeface="Arial" panose="020B0604020202020204"/>
              </a:rPr>
              <a:t>ROBUSTNESS</a:t>
            </a:r>
            <a:r>
              <a:rPr sz="950" b="1" spc="190" dirty="0">
                <a:solidFill>
                  <a:srgbClr val="9CA2AF"/>
                </a:solidFill>
                <a:latin typeface="Arial" panose="020B0604020202020204"/>
                <a:cs typeface="Arial" panose="020B0604020202020204"/>
              </a:rPr>
              <a:t> </a:t>
            </a:r>
            <a:r>
              <a:rPr sz="950" b="1" spc="70" dirty="0">
                <a:solidFill>
                  <a:srgbClr val="9CA2AF"/>
                </a:solidFill>
                <a:latin typeface="Arial" panose="020B0604020202020204"/>
                <a:cs typeface="Arial" panose="020B0604020202020204"/>
              </a:rPr>
              <a:t>INSIGHT</a:t>
            </a:r>
            <a:endParaRPr sz="950">
              <a:latin typeface="Arial" panose="020B0604020202020204"/>
              <a:cs typeface="Arial" panose="020B0604020202020204"/>
            </a:endParaRPr>
          </a:p>
          <a:p>
            <a:pPr marL="12700" marR="5080">
              <a:lnSpc>
                <a:spcPct val="131000"/>
              </a:lnSpc>
              <a:spcBef>
                <a:spcPts val="320"/>
              </a:spcBef>
            </a:pPr>
            <a:r>
              <a:rPr sz="1050" spc="-15" dirty="0">
                <a:solidFill>
                  <a:srgbClr val="FFFFFF"/>
                </a:solidFill>
                <a:latin typeface="宋体" panose="02010600030101010101" pitchFamily="2" charset="-122"/>
                <a:cs typeface="宋体" panose="02010600030101010101" pitchFamily="2" charset="-122"/>
              </a:rPr>
              <a:t>无需人工启发式阈值，频域归属由定理 </a:t>
            </a:r>
            <a:r>
              <a:rPr sz="1050" spc="-10" dirty="0">
                <a:solidFill>
                  <a:srgbClr val="FFFFFF"/>
                </a:solidFill>
                <a:latin typeface="宋体" panose="02010600030101010101" pitchFamily="2" charset="-122"/>
                <a:cs typeface="宋体" panose="02010600030101010101" pitchFamily="2" charset="-122"/>
              </a:rPr>
              <a:t>4.2</a:t>
            </a:r>
            <a:r>
              <a:rPr sz="1050" spc="-45" dirty="0">
                <a:solidFill>
                  <a:srgbClr val="FFFFFF"/>
                </a:solidFill>
                <a:latin typeface="宋体" panose="02010600030101010101" pitchFamily="2" charset="-122"/>
                <a:cs typeface="宋体" panose="02010600030101010101" pitchFamily="2" charset="-122"/>
              </a:rPr>
              <a:t> 能谱反馈自然涌</a:t>
            </a:r>
            <a:r>
              <a:rPr sz="1050" spc="-5" dirty="0">
                <a:solidFill>
                  <a:srgbClr val="FFFFFF"/>
                </a:solidFill>
                <a:latin typeface="宋体" panose="02010600030101010101" pitchFamily="2" charset="-122"/>
                <a:cs typeface="宋体" panose="02010600030101010101" pitchFamily="2" charset="-122"/>
              </a:rPr>
              <a:t>现，有效解救了时域混合趋势建模的缺陷。</a:t>
            </a:r>
            <a:endParaRPr sz="1050">
              <a:latin typeface="宋体" panose="02010600030101010101" pitchFamily="2" charset="-122"/>
              <a:cs typeface="宋体" panose="02010600030101010101" pitchFamily="2" charset="-122"/>
            </a:endParaRPr>
          </a:p>
        </p:txBody>
      </p:sp>
      <p:grpSp>
        <p:nvGrpSpPr>
          <p:cNvPr id="12" name="object 12"/>
          <p:cNvGrpSpPr/>
          <p:nvPr/>
        </p:nvGrpSpPr>
        <p:grpSpPr>
          <a:xfrm>
            <a:off x="5124449" y="1647824"/>
            <a:ext cx="6610350" cy="4705350"/>
            <a:chOff x="5124449" y="1352549"/>
            <a:chExt cx="6610350" cy="4705350"/>
          </a:xfrm>
        </p:grpSpPr>
        <p:sp>
          <p:nvSpPr>
            <p:cNvPr id="13" name="object 13"/>
            <p:cNvSpPr/>
            <p:nvPr/>
          </p:nvSpPr>
          <p:spPr>
            <a:xfrm>
              <a:off x="5129212" y="1357312"/>
              <a:ext cx="6600825" cy="4695825"/>
            </a:xfrm>
            <a:custGeom>
              <a:avLst/>
              <a:gdLst/>
              <a:ahLst/>
              <a:cxnLst/>
              <a:rect l="l" t="t" r="r" b="b"/>
              <a:pathLst>
                <a:path w="6600825" h="4695825">
                  <a:moveTo>
                    <a:pt x="6498479" y="4695824"/>
                  </a:moveTo>
                  <a:lnTo>
                    <a:pt x="102345" y="4695824"/>
                  </a:lnTo>
                  <a:lnTo>
                    <a:pt x="95221" y="4695122"/>
                  </a:lnTo>
                  <a:lnTo>
                    <a:pt x="54661" y="4681359"/>
                  </a:lnTo>
                  <a:lnTo>
                    <a:pt x="22456" y="4653122"/>
                  </a:lnTo>
                  <a:lnTo>
                    <a:pt x="3507" y="4614710"/>
                  </a:lnTo>
                  <a:lnTo>
                    <a:pt x="0" y="4593479"/>
                  </a:lnTo>
                  <a:lnTo>
                    <a:pt x="0" y="4586287"/>
                  </a:lnTo>
                  <a:lnTo>
                    <a:pt x="0" y="102345"/>
                  </a:lnTo>
                  <a:lnTo>
                    <a:pt x="11090" y="60974"/>
                  </a:lnTo>
                  <a:lnTo>
                    <a:pt x="37168" y="26997"/>
                  </a:lnTo>
                  <a:lnTo>
                    <a:pt x="74264" y="5585"/>
                  </a:lnTo>
                  <a:lnTo>
                    <a:pt x="102345" y="0"/>
                  </a:lnTo>
                  <a:lnTo>
                    <a:pt x="6498479" y="0"/>
                  </a:lnTo>
                  <a:lnTo>
                    <a:pt x="6539849" y="11090"/>
                  </a:lnTo>
                  <a:lnTo>
                    <a:pt x="6573826" y="37168"/>
                  </a:lnTo>
                  <a:lnTo>
                    <a:pt x="6595238" y="74264"/>
                  </a:lnTo>
                  <a:lnTo>
                    <a:pt x="6600824" y="102345"/>
                  </a:lnTo>
                  <a:lnTo>
                    <a:pt x="6600824" y="4593479"/>
                  </a:lnTo>
                  <a:lnTo>
                    <a:pt x="6589732" y="4634849"/>
                  </a:lnTo>
                  <a:lnTo>
                    <a:pt x="6563655" y="4668826"/>
                  </a:lnTo>
                  <a:lnTo>
                    <a:pt x="6526559" y="4690238"/>
                  </a:lnTo>
                  <a:lnTo>
                    <a:pt x="6505601" y="4695122"/>
                  </a:lnTo>
                  <a:lnTo>
                    <a:pt x="6498479" y="4695824"/>
                  </a:lnTo>
                  <a:close/>
                </a:path>
              </a:pathLst>
            </a:custGeom>
            <a:solidFill>
              <a:srgbClr val="F9FAFA"/>
            </a:solidFill>
          </p:spPr>
          <p:txBody>
            <a:bodyPr wrap="square" lIns="0" tIns="0" rIns="0" bIns="0" rtlCol="0"/>
            <a:lstStyle/>
            <a:p/>
          </p:txBody>
        </p:sp>
        <p:sp>
          <p:nvSpPr>
            <p:cNvPr id="14" name="object 14"/>
            <p:cNvSpPr/>
            <p:nvPr/>
          </p:nvSpPr>
          <p:spPr>
            <a:xfrm>
              <a:off x="5129212" y="1357312"/>
              <a:ext cx="6600825" cy="4695825"/>
            </a:xfrm>
            <a:custGeom>
              <a:avLst/>
              <a:gdLst/>
              <a:ahLst/>
              <a:cxnLst/>
              <a:rect l="l" t="t" r="r" b="b"/>
              <a:pathLst>
                <a:path w="6600825" h="4695825">
                  <a:moveTo>
                    <a:pt x="0" y="4586287"/>
                  </a:moveTo>
                  <a:lnTo>
                    <a:pt x="0" y="109537"/>
                  </a:lnTo>
                  <a:lnTo>
                    <a:pt x="0" y="102345"/>
                  </a:lnTo>
                  <a:lnTo>
                    <a:pt x="701" y="95221"/>
                  </a:lnTo>
                  <a:lnTo>
                    <a:pt x="14464" y="54661"/>
                  </a:lnTo>
                  <a:lnTo>
                    <a:pt x="18460" y="48681"/>
                  </a:lnTo>
                  <a:lnTo>
                    <a:pt x="22456" y="42701"/>
                  </a:lnTo>
                  <a:lnTo>
                    <a:pt x="48681" y="18460"/>
                  </a:lnTo>
                  <a:lnTo>
                    <a:pt x="54661" y="14464"/>
                  </a:lnTo>
                  <a:lnTo>
                    <a:pt x="95221" y="701"/>
                  </a:lnTo>
                  <a:lnTo>
                    <a:pt x="102345" y="0"/>
                  </a:lnTo>
                  <a:lnTo>
                    <a:pt x="109537" y="0"/>
                  </a:lnTo>
                  <a:lnTo>
                    <a:pt x="6491286" y="0"/>
                  </a:lnTo>
                  <a:lnTo>
                    <a:pt x="6498479" y="0"/>
                  </a:lnTo>
                  <a:lnTo>
                    <a:pt x="6505601" y="701"/>
                  </a:lnTo>
                  <a:lnTo>
                    <a:pt x="6512655" y="2104"/>
                  </a:lnTo>
                  <a:lnTo>
                    <a:pt x="6519709" y="3507"/>
                  </a:lnTo>
                  <a:lnTo>
                    <a:pt x="6526559" y="5585"/>
                  </a:lnTo>
                  <a:lnTo>
                    <a:pt x="6533204" y="8338"/>
                  </a:lnTo>
                  <a:lnTo>
                    <a:pt x="6539849" y="11090"/>
                  </a:lnTo>
                  <a:lnTo>
                    <a:pt x="6546161" y="14464"/>
                  </a:lnTo>
                  <a:lnTo>
                    <a:pt x="6552142" y="18460"/>
                  </a:lnTo>
                  <a:lnTo>
                    <a:pt x="6558122" y="22456"/>
                  </a:lnTo>
                  <a:lnTo>
                    <a:pt x="6586358" y="54661"/>
                  </a:lnTo>
                  <a:lnTo>
                    <a:pt x="6592485" y="67619"/>
                  </a:lnTo>
                  <a:lnTo>
                    <a:pt x="6595238" y="74264"/>
                  </a:lnTo>
                  <a:lnTo>
                    <a:pt x="6597315" y="81113"/>
                  </a:lnTo>
                  <a:lnTo>
                    <a:pt x="6598719" y="88167"/>
                  </a:lnTo>
                  <a:lnTo>
                    <a:pt x="6600122" y="95221"/>
                  </a:lnTo>
                  <a:lnTo>
                    <a:pt x="6600824" y="102345"/>
                  </a:lnTo>
                  <a:lnTo>
                    <a:pt x="6600824" y="109537"/>
                  </a:lnTo>
                  <a:lnTo>
                    <a:pt x="6600824" y="4586287"/>
                  </a:lnTo>
                  <a:lnTo>
                    <a:pt x="6600824" y="4593479"/>
                  </a:lnTo>
                  <a:lnTo>
                    <a:pt x="6600122" y="4600602"/>
                  </a:lnTo>
                  <a:lnTo>
                    <a:pt x="6598719" y="4607656"/>
                  </a:lnTo>
                  <a:lnTo>
                    <a:pt x="6597315" y="4614710"/>
                  </a:lnTo>
                  <a:lnTo>
                    <a:pt x="6595238" y="4621560"/>
                  </a:lnTo>
                  <a:lnTo>
                    <a:pt x="6592485" y="4628204"/>
                  </a:lnTo>
                  <a:lnTo>
                    <a:pt x="6589732" y="4634849"/>
                  </a:lnTo>
                  <a:lnTo>
                    <a:pt x="6563655" y="4668826"/>
                  </a:lnTo>
                  <a:lnTo>
                    <a:pt x="6552142" y="4677363"/>
                  </a:lnTo>
                  <a:lnTo>
                    <a:pt x="6546161" y="4681359"/>
                  </a:lnTo>
                  <a:lnTo>
                    <a:pt x="6539849" y="4684733"/>
                  </a:lnTo>
                  <a:lnTo>
                    <a:pt x="6533204" y="4687485"/>
                  </a:lnTo>
                  <a:lnTo>
                    <a:pt x="6526559" y="4690238"/>
                  </a:lnTo>
                  <a:lnTo>
                    <a:pt x="6491286" y="4695824"/>
                  </a:lnTo>
                  <a:lnTo>
                    <a:pt x="109537" y="4695824"/>
                  </a:lnTo>
                  <a:lnTo>
                    <a:pt x="67619" y="4687485"/>
                  </a:lnTo>
                  <a:lnTo>
                    <a:pt x="60974" y="4684733"/>
                  </a:lnTo>
                  <a:lnTo>
                    <a:pt x="26997" y="4658655"/>
                  </a:lnTo>
                  <a:lnTo>
                    <a:pt x="18460" y="4647141"/>
                  </a:lnTo>
                  <a:lnTo>
                    <a:pt x="14464" y="4641161"/>
                  </a:lnTo>
                  <a:lnTo>
                    <a:pt x="11090" y="4634849"/>
                  </a:lnTo>
                  <a:lnTo>
                    <a:pt x="8338" y="4628204"/>
                  </a:lnTo>
                  <a:lnTo>
                    <a:pt x="5585" y="4621560"/>
                  </a:lnTo>
                  <a:lnTo>
                    <a:pt x="3507" y="4614710"/>
                  </a:lnTo>
                  <a:lnTo>
                    <a:pt x="2104" y="4607656"/>
                  </a:lnTo>
                  <a:lnTo>
                    <a:pt x="701" y="4600602"/>
                  </a:lnTo>
                  <a:lnTo>
                    <a:pt x="0" y="4593479"/>
                  </a:lnTo>
                  <a:lnTo>
                    <a:pt x="0" y="4586287"/>
                  </a:lnTo>
                  <a:close/>
                </a:path>
              </a:pathLst>
            </a:custGeom>
            <a:ln w="9524">
              <a:solidFill>
                <a:srgbClr val="F2F4F5"/>
              </a:solidFill>
            </a:ln>
          </p:spPr>
          <p:txBody>
            <a:bodyPr wrap="square" lIns="0" tIns="0" rIns="0" bIns="0" rtlCol="0"/>
            <a:lstStyle/>
            <a:p/>
          </p:txBody>
        </p:sp>
      </p:grpSp>
      <p:sp>
        <p:nvSpPr>
          <p:cNvPr id="15" name="object 15"/>
          <p:cNvSpPr txBox="1"/>
          <p:nvPr/>
        </p:nvSpPr>
        <p:spPr>
          <a:xfrm>
            <a:off x="5346006" y="1859620"/>
            <a:ext cx="2988945" cy="178254"/>
          </a:xfrm>
          <a:prstGeom prst="rect">
            <a:avLst/>
          </a:prstGeom>
        </p:spPr>
        <p:txBody>
          <a:bodyPr vert="horz" wrap="square" lIns="0" tIns="16510" rIns="0" bIns="0" rtlCol="0">
            <a:spAutoFit/>
          </a:bodyPr>
          <a:lstStyle/>
          <a:p>
            <a:pPr marL="12700">
              <a:spcBef>
                <a:spcPts val="130"/>
              </a:spcBef>
            </a:pPr>
            <a:r>
              <a:rPr sz="1050" i="1" spc="110" dirty="0">
                <a:latin typeface="宋体" panose="02010600030101010101" pitchFamily="2" charset="-122"/>
                <a:cs typeface="宋体" panose="02010600030101010101" pitchFamily="2" charset="-122"/>
              </a:rPr>
              <a:t>SPECTRAL</a:t>
            </a:r>
            <a:r>
              <a:rPr sz="1050" i="1" spc="-95" dirty="0">
                <a:latin typeface="宋体" panose="02010600030101010101" pitchFamily="2" charset="-122"/>
                <a:cs typeface="宋体" panose="02010600030101010101" pitchFamily="2" charset="-122"/>
              </a:rPr>
              <a:t> </a:t>
            </a:r>
            <a:r>
              <a:rPr sz="1050" i="1" spc="140" dirty="0">
                <a:latin typeface="宋体" panose="02010600030101010101" pitchFamily="2" charset="-122"/>
                <a:cs typeface="宋体" panose="02010600030101010101" pitchFamily="2" charset="-122"/>
              </a:rPr>
              <a:t>ENERGY</a:t>
            </a:r>
            <a:r>
              <a:rPr sz="1050" i="1" spc="-95" dirty="0">
                <a:latin typeface="宋体" panose="02010600030101010101" pitchFamily="2" charset="-122"/>
                <a:cs typeface="宋体" panose="02010600030101010101" pitchFamily="2" charset="-122"/>
              </a:rPr>
              <a:t> </a:t>
            </a:r>
            <a:r>
              <a:rPr sz="1050" i="1" spc="110" dirty="0">
                <a:latin typeface="宋体" panose="02010600030101010101" pitchFamily="2" charset="-122"/>
                <a:cs typeface="宋体" panose="02010600030101010101" pitchFamily="2" charset="-122"/>
              </a:rPr>
              <a:t>VS</a:t>
            </a:r>
            <a:r>
              <a:rPr sz="1050" i="1" spc="-95" dirty="0">
                <a:latin typeface="宋体" panose="02010600030101010101" pitchFamily="2" charset="-122"/>
                <a:cs typeface="宋体" panose="02010600030101010101" pitchFamily="2" charset="-122"/>
              </a:rPr>
              <a:t> </a:t>
            </a:r>
            <a:r>
              <a:rPr sz="1050" i="1" spc="140" dirty="0">
                <a:latin typeface="宋体" panose="02010600030101010101" pitchFamily="2" charset="-122"/>
                <a:cs typeface="宋体" panose="02010600030101010101" pitchFamily="2" charset="-122"/>
              </a:rPr>
              <a:t>TEMPORAL</a:t>
            </a:r>
            <a:r>
              <a:rPr sz="1050" i="1" spc="-95" dirty="0">
                <a:latin typeface="宋体" panose="02010600030101010101" pitchFamily="2" charset="-122"/>
                <a:cs typeface="宋体" panose="02010600030101010101" pitchFamily="2" charset="-122"/>
              </a:rPr>
              <a:t> </a:t>
            </a:r>
            <a:r>
              <a:rPr sz="1050" i="1" spc="100" dirty="0">
                <a:latin typeface="宋体" panose="02010600030101010101" pitchFamily="2" charset="-122"/>
                <a:cs typeface="宋体" panose="02010600030101010101" pitchFamily="2" charset="-122"/>
              </a:rPr>
              <a:t>BEHAVIORS</a:t>
            </a:r>
            <a:endParaRPr sz="1050">
              <a:latin typeface="宋体" panose="02010600030101010101" pitchFamily="2" charset="-122"/>
              <a:cs typeface="宋体" panose="02010600030101010101" pitchFamily="2" charset="-122"/>
            </a:endParaRPr>
          </a:p>
        </p:txBody>
      </p:sp>
      <p:grpSp>
        <p:nvGrpSpPr>
          <p:cNvPr id="16" name="object 16"/>
          <p:cNvGrpSpPr/>
          <p:nvPr/>
        </p:nvGrpSpPr>
        <p:grpSpPr>
          <a:xfrm>
            <a:off x="5362574" y="1924051"/>
            <a:ext cx="6134100" cy="3895725"/>
            <a:chOff x="5362574" y="1628775"/>
            <a:chExt cx="6134100" cy="3895725"/>
          </a:xfrm>
        </p:grpSpPr>
        <p:pic>
          <p:nvPicPr>
            <p:cNvPr id="17" name="object 17"/>
            <p:cNvPicPr/>
            <p:nvPr/>
          </p:nvPicPr>
          <p:blipFill>
            <a:blip r:embed="rId2" cstate="print"/>
            <a:stretch>
              <a:fillRect/>
            </a:stretch>
          </p:blipFill>
          <p:spPr>
            <a:xfrm>
              <a:off x="11191874" y="1628775"/>
              <a:ext cx="114299" cy="114299"/>
            </a:xfrm>
            <a:prstGeom prst="rect">
              <a:avLst/>
            </a:prstGeom>
          </p:spPr>
        </p:pic>
        <p:pic>
          <p:nvPicPr>
            <p:cNvPr id="18" name="object 18"/>
            <p:cNvPicPr/>
            <p:nvPr/>
          </p:nvPicPr>
          <p:blipFill>
            <a:blip r:embed="rId3" cstate="print"/>
            <a:stretch>
              <a:fillRect/>
            </a:stretch>
          </p:blipFill>
          <p:spPr>
            <a:xfrm>
              <a:off x="11382373" y="1628775"/>
              <a:ext cx="114300" cy="114299"/>
            </a:xfrm>
            <a:prstGeom prst="rect">
              <a:avLst/>
            </a:prstGeom>
          </p:spPr>
        </p:pic>
        <p:sp>
          <p:nvSpPr>
            <p:cNvPr id="19" name="object 19"/>
            <p:cNvSpPr/>
            <p:nvPr/>
          </p:nvSpPr>
          <p:spPr>
            <a:xfrm>
              <a:off x="5367337" y="1938337"/>
              <a:ext cx="6124575" cy="3581400"/>
            </a:xfrm>
            <a:custGeom>
              <a:avLst/>
              <a:gdLst/>
              <a:ahLst/>
              <a:cxnLst/>
              <a:rect l="l" t="t" r="r" b="b"/>
              <a:pathLst>
                <a:path w="6124575" h="3581400">
                  <a:moveTo>
                    <a:pt x="6057827" y="3581399"/>
                  </a:moveTo>
                  <a:lnTo>
                    <a:pt x="66746" y="3581399"/>
                  </a:lnTo>
                  <a:lnTo>
                    <a:pt x="62101" y="3580941"/>
                  </a:lnTo>
                  <a:lnTo>
                    <a:pt x="24240" y="3563792"/>
                  </a:lnTo>
                  <a:lnTo>
                    <a:pt x="2287" y="3528499"/>
                  </a:lnTo>
                  <a:lnTo>
                    <a:pt x="0" y="3514652"/>
                  </a:lnTo>
                  <a:lnTo>
                    <a:pt x="0" y="3509962"/>
                  </a:lnTo>
                  <a:lnTo>
                    <a:pt x="0" y="66746"/>
                  </a:lnTo>
                  <a:lnTo>
                    <a:pt x="14645" y="27848"/>
                  </a:lnTo>
                  <a:lnTo>
                    <a:pt x="48433" y="3642"/>
                  </a:lnTo>
                  <a:lnTo>
                    <a:pt x="66746" y="0"/>
                  </a:lnTo>
                  <a:lnTo>
                    <a:pt x="6057827" y="0"/>
                  </a:lnTo>
                  <a:lnTo>
                    <a:pt x="6096725" y="14645"/>
                  </a:lnTo>
                  <a:lnTo>
                    <a:pt x="6120931" y="48433"/>
                  </a:lnTo>
                  <a:lnTo>
                    <a:pt x="6124574" y="66746"/>
                  </a:lnTo>
                  <a:lnTo>
                    <a:pt x="6124574" y="3514652"/>
                  </a:lnTo>
                  <a:lnTo>
                    <a:pt x="6109928" y="3553550"/>
                  </a:lnTo>
                  <a:lnTo>
                    <a:pt x="6076140" y="3577756"/>
                  </a:lnTo>
                  <a:lnTo>
                    <a:pt x="6062473" y="3580941"/>
                  </a:lnTo>
                  <a:lnTo>
                    <a:pt x="6057827" y="3581399"/>
                  </a:lnTo>
                  <a:close/>
                </a:path>
              </a:pathLst>
            </a:custGeom>
            <a:solidFill>
              <a:srgbClr val="FFFFFF"/>
            </a:solidFill>
          </p:spPr>
          <p:txBody>
            <a:bodyPr wrap="square" lIns="0" tIns="0" rIns="0" bIns="0" rtlCol="0"/>
            <a:lstStyle/>
            <a:p/>
          </p:txBody>
        </p:sp>
        <p:sp>
          <p:nvSpPr>
            <p:cNvPr id="20" name="object 20"/>
            <p:cNvSpPr/>
            <p:nvPr/>
          </p:nvSpPr>
          <p:spPr>
            <a:xfrm>
              <a:off x="5367337" y="1938337"/>
              <a:ext cx="6124575" cy="3581400"/>
            </a:xfrm>
            <a:custGeom>
              <a:avLst/>
              <a:gdLst/>
              <a:ahLst/>
              <a:cxnLst/>
              <a:rect l="l" t="t" r="r" b="b"/>
              <a:pathLst>
                <a:path w="6124575" h="3581400">
                  <a:moveTo>
                    <a:pt x="0" y="3509962"/>
                  </a:moveTo>
                  <a:lnTo>
                    <a:pt x="0" y="71437"/>
                  </a:lnTo>
                  <a:lnTo>
                    <a:pt x="0" y="66746"/>
                  </a:lnTo>
                  <a:lnTo>
                    <a:pt x="457" y="62101"/>
                  </a:lnTo>
                  <a:lnTo>
                    <a:pt x="17606" y="24240"/>
                  </a:lnTo>
                  <a:lnTo>
                    <a:pt x="20923" y="20923"/>
                  </a:lnTo>
                  <a:lnTo>
                    <a:pt x="24240" y="17606"/>
                  </a:lnTo>
                  <a:lnTo>
                    <a:pt x="62101" y="457"/>
                  </a:lnTo>
                  <a:lnTo>
                    <a:pt x="66746" y="0"/>
                  </a:lnTo>
                  <a:lnTo>
                    <a:pt x="71437" y="0"/>
                  </a:lnTo>
                  <a:lnTo>
                    <a:pt x="6053137" y="0"/>
                  </a:lnTo>
                  <a:lnTo>
                    <a:pt x="6057827" y="0"/>
                  </a:lnTo>
                  <a:lnTo>
                    <a:pt x="6062473" y="457"/>
                  </a:lnTo>
                  <a:lnTo>
                    <a:pt x="6067073" y="1372"/>
                  </a:lnTo>
                  <a:lnTo>
                    <a:pt x="6071673" y="2287"/>
                  </a:lnTo>
                  <a:lnTo>
                    <a:pt x="6076140" y="3642"/>
                  </a:lnTo>
                  <a:lnTo>
                    <a:pt x="6080474" y="5437"/>
                  </a:lnTo>
                  <a:lnTo>
                    <a:pt x="6084808" y="7232"/>
                  </a:lnTo>
                  <a:lnTo>
                    <a:pt x="6115140" y="35648"/>
                  </a:lnTo>
                  <a:lnTo>
                    <a:pt x="6124574" y="66746"/>
                  </a:lnTo>
                  <a:lnTo>
                    <a:pt x="6124574" y="71437"/>
                  </a:lnTo>
                  <a:lnTo>
                    <a:pt x="6124574" y="3509962"/>
                  </a:lnTo>
                  <a:lnTo>
                    <a:pt x="6124574" y="3514652"/>
                  </a:lnTo>
                  <a:lnTo>
                    <a:pt x="6124117" y="3519297"/>
                  </a:lnTo>
                  <a:lnTo>
                    <a:pt x="6112534" y="3549650"/>
                  </a:lnTo>
                  <a:lnTo>
                    <a:pt x="6109928" y="3553550"/>
                  </a:lnTo>
                  <a:lnTo>
                    <a:pt x="6080474" y="3575961"/>
                  </a:lnTo>
                  <a:lnTo>
                    <a:pt x="6076140" y="3577756"/>
                  </a:lnTo>
                  <a:lnTo>
                    <a:pt x="6071673" y="3579111"/>
                  </a:lnTo>
                  <a:lnTo>
                    <a:pt x="6067073" y="3580026"/>
                  </a:lnTo>
                  <a:lnTo>
                    <a:pt x="6062473" y="3580941"/>
                  </a:lnTo>
                  <a:lnTo>
                    <a:pt x="6057827" y="3581399"/>
                  </a:lnTo>
                  <a:lnTo>
                    <a:pt x="6053137" y="3581399"/>
                  </a:lnTo>
                  <a:lnTo>
                    <a:pt x="71437" y="3581399"/>
                  </a:lnTo>
                  <a:lnTo>
                    <a:pt x="66746" y="3581399"/>
                  </a:lnTo>
                  <a:lnTo>
                    <a:pt x="62101" y="3580941"/>
                  </a:lnTo>
                  <a:lnTo>
                    <a:pt x="57500" y="3580026"/>
                  </a:lnTo>
                  <a:lnTo>
                    <a:pt x="52900" y="3579111"/>
                  </a:lnTo>
                  <a:lnTo>
                    <a:pt x="20923" y="3560475"/>
                  </a:lnTo>
                  <a:lnTo>
                    <a:pt x="17606" y="3557159"/>
                  </a:lnTo>
                  <a:lnTo>
                    <a:pt x="14645" y="3553550"/>
                  </a:lnTo>
                  <a:lnTo>
                    <a:pt x="12039" y="3549650"/>
                  </a:lnTo>
                  <a:lnTo>
                    <a:pt x="9433" y="3545750"/>
                  </a:lnTo>
                  <a:lnTo>
                    <a:pt x="0" y="3514652"/>
                  </a:lnTo>
                  <a:lnTo>
                    <a:pt x="0" y="3509962"/>
                  </a:lnTo>
                  <a:close/>
                </a:path>
              </a:pathLst>
            </a:custGeom>
            <a:ln w="9524">
              <a:solidFill>
                <a:srgbClr val="E4E7EB"/>
              </a:solidFill>
            </a:ln>
          </p:spPr>
          <p:txBody>
            <a:bodyPr wrap="square" lIns="0" tIns="0" rIns="0" bIns="0" rtlCol="0"/>
            <a:lstStyle/>
            <a:p/>
          </p:txBody>
        </p:sp>
        <p:pic>
          <p:nvPicPr>
            <p:cNvPr id="21" name="object 21"/>
            <p:cNvPicPr/>
            <p:nvPr/>
          </p:nvPicPr>
          <p:blipFill>
            <a:blip r:embed="rId4" cstate="print"/>
            <a:stretch>
              <a:fillRect/>
            </a:stretch>
          </p:blipFill>
          <p:spPr>
            <a:xfrm>
              <a:off x="5524499" y="2124075"/>
              <a:ext cx="5810249" cy="3209924"/>
            </a:xfrm>
            <a:prstGeom prst="rect">
              <a:avLst/>
            </a:prstGeom>
          </p:spPr>
        </p:pic>
      </p:grpSp>
      <p:sp>
        <p:nvSpPr>
          <p:cNvPr id="22" name="object 22"/>
          <p:cNvSpPr txBox="1"/>
          <p:nvPr/>
        </p:nvSpPr>
        <p:spPr>
          <a:xfrm>
            <a:off x="5925690" y="5969000"/>
            <a:ext cx="4984750" cy="128240"/>
          </a:xfrm>
          <a:prstGeom prst="rect">
            <a:avLst/>
          </a:prstGeom>
        </p:spPr>
        <p:txBody>
          <a:bodyPr vert="horz" wrap="square" lIns="0" tIns="12700" rIns="0" bIns="0" rtlCol="0">
            <a:spAutoFit/>
          </a:bodyPr>
          <a:lstStyle/>
          <a:p>
            <a:pPr marL="12700">
              <a:spcBef>
                <a:spcPts val="100"/>
              </a:spcBef>
            </a:pPr>
            <a:r>
              <a:rPr sz="750" spc="-25" dirty="0">
                <a:solidFill>
                  <a:srgbClr val="9CA2AF"/>
                </a:solidFill>
                <a:latin typeface="宋体" panose="02010600030101010101" pitchFamily="2" charset="-122"/>
                <a:cs typeface="宋体" panose="02010600030101010101" pitchFamily="2" charset="-122"/>
              </a:rPr>
              <a:t>F</a:t>
            </a:r>
            <a:r>
              <a:rPr sz="750" spc="-220" dirty="0">
                <a:solidFill>
                  <a:srgbClr val="9CA2AF"/>
                </a:solidFill>
                <a:latin typeface="宋体" panose="02010600030101010101" pitchFamily="2" charset="-122"/>
                <a:cs typeface="宋体" panose="02010600030101010101" pitchFamily="2" charset="-122"/>
              </a:rPr>
              <a:t> </a:t>
            </a:r>
            <a:r>
              <a:rPr sz="750" spc="-190" dirty="0">
                <a:solidFill>
                  <a:srgbClr val="9CA2AF"/>
                </a:solidFill>
                <a:latin typeface="宋体" panose="02010600030101010101" pitchFamily="2" charset="-122"/>
                <a:cs typeface="宋体" panose="02010600030101010101" pitchFamily="2" charset="-122"/>
              </a:rPr>
              <a:t>I</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G</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t>
            </a:r>
            <a:r>
              <a:rPr sz="750" spc="170" dirty="0">
                <a:solidFill>
                  <a:srgbClr val="9CA2AF"/>
                </a:solidFill>
                <a:latin typeface="宋体" panose="02010600030101010101" pitchFamily="2" charset="-122"/>
                <a:cs typeface="宋体" panose="02010600030101010101" pitchFamily="2" charset="-122"/>
              </a:rPr>
              <a:t> </a:t>
            </a:r>
            <a:r>
              <a:rPr sz="750" spc="70" dirty="0">
                <a:solidFill>
                  <a:srgbClr val="9CA2AF"/>
                </a:solidFill>
                <a:latin typeface="宋体" panose="02010600030101010101" pitchFamily="2" charset="-122"/>
                <a:cs typeface="宋体" panose="02010600030101010101" pitchFamily="2" charset="-122"/>
              </a:rPr>
              <a:t>3</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t>
            </a:r>
            <a:r>
              <a:rPr sz="750" spc="17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Q</a:t>
            </a:r>
            <a:r>
              <a:rPr sz="750" spc="-220" dirty="0">
                <a:solidFill>
                  <a:srgbClr val="9CA2AF"/>
                </a:solidFill>
                <a:latin typeface="宋体" panose="02010600030101010101" pitchFamily="2" charset="-122"/>
                <a:cs typeface="宋体" panose="02010600030101010101" pitchFamily="2" charset="-122"/>
              </a:rPr>
              <a:t> </a:t>
            </a:r>
            <a:r>
              <a:rPr sz="750" spc="100" dirty="0">
                <a:solidFill>
                  <a:srgbClr val="9CA2AF"/>
                </a:solidFill>
                <a:latin typeface="宋体" panose="02010600030101010101" pitchFamily="2" charset="-122"/>
                <a:cs typeface="宋体" panose="02010600030101010101" pitchFamily="2" charset="-122"/>
              </a:rPr>
              <a:t>U</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N</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20" dirty="0">
                <a:solidFill>
                  <a:srgbClr val="9CA2AF"/>
                </a:solidFill>
                <a:latin typeface="宋体" panose="02010600030101010101" pitchFamily="2" charset="-122"/>
                <a:cs typeface="宋体" panose="02010600030101010101" pitchFamily="2" charset="-122"/>
              </a:rPr>
              <a:t> </a:t>
            </a:r>
            <a:r>
              <a:rPr sz="750" spc="-190" dirty="0">
                <a:solidFill>
                  <a:srgbClr val="9CA2AF"/>
                </a:solidFill>
                <a:latin typeface="宋体" panose="02010600030101010101" pitchFamily="2" charset="-122"/>
                <a:cs typeface="宋体" panose="02010600030101010101" pitchFamily="2" charset="-122"/>
              </a:rPr>
              <a:t>I</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15" dirty="0">
                <a:solidFill>
                  <a:srgbClr val="9CA2AF"/>
                </a:solidFill>
                <a:latin typeface="宋体" panose="02010600030101010101" pitchFamily="2" charset="-122"/>
                <a:cs typeface="宋体" panose="02010600030101010101" pitchFamily="2" charset="-122"/>
              </a:rPr>
              <a:t> </a:t>
            </a:r>
            <a:r>
              <a:rPr sz="750" spc="-190" dirty="0">
                <a:solidFill>
                  <a:srgbClr val="9CA2AF"/>
                </a:solidFill>
                <a:latin typeface="宋体" panose="02010600030101010101" pitchFamily="2" charset="-122"/>
                <a:cs typeface="宋体" panose="02010600030101010101" pitchFamily="2" charset="-122"/>
              </a:rPr>
              <a:t>I</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V</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E</a:t>
            </a:r>
            <a:r>
              <a:rPr sz="750" spc="17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S</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P</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E</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C</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R</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L</a:t>
            </a:r>
            <a:r>
              <a:rPr sz="750" spc="170" dirty="0">
                <a:solidFill>
                  <a:srgbClr val="9CA2AF"/>
                </a:solidFill>
                <a:latin typeface="宋体" panose="02010600030101010101" pitchFamily="2" charset="-122"/>
                <a:cs typeface="宋体" panose="02010600030101010101" pitchFamily="2" charset="-122"/>
              </a:rPr>
              <a:t> </a:t>
            </a:r>
            <a:r>
              <a:rPr sz="750" spc="235" dirty="0">
                <a:solidFill>
                  <a:srgbClr val="9CA2AF"/>
                </a:solidFill>
                <a:latin typeface="宋体" panose="02010600030101010101" pitchFamily="2" charset="-122"/>
                <a:cs typeface="宋体" panose="02010600030101010101" pitchFamily="2" charset="-122"/>
              </a:rPr>
              <a:t>M</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P</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P</a:t>
            </a:r>
            <a:r>
              <a:rPr sz="750" spc="-220" dirty="0">
                <a:solidFill>
                  <a:srgbClr val="9CA2AF"/>
                </a:solidFill>
                <a:latin typeface="宋体" panose="02010600030101010101" pitchFamily="2" charset="-122"/>
                <a:cs typeface="宋体" panose="02010600030101010101" pitchFamily="2" charset="-122"/>
              </a:rPr>
              <a:t> </a:t>
            </a:r>
            <a:r>
              <a:rPr sz="750" spc="-190" dirty="0">
                <a:solidFill>
                  <a:srgbClr val="9CA2AF"/>
                </a:solidFill>
                <a:latin typeface="宋体" panose="02010600030101010101" pitchFamily="2" charset="-122"/>
                <a:cs typeface="宋体" panose="02010600030101010101" pitchFamily="2" charset="-122"/>
              </a:rPr>
              <a:t>I</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N</a:t>
            </a:r>
            <a:r>
              <a:rPr sz="750" spc="-215"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G</a:t>
            </a:r>
            <a:r>
              <a:rPr sz="750" spc="165" dirty="0">
                <a:solidFill>
                  <a:srgbClr val="9CA2AF"/>
                </a:solidFill>
                <a:latin typeface="宋体" panose="02010600030101010101" pitchFamily="2" charset="-122"/>
                <a:cs typeface="宋体" panose="02010600030101010101" pitchFamily="2" charset="-122"/>
              </a:rPr>
              <a:t> </a:t>
            </a:r>
            <a:r>
              <a:rPr sz="750" spc="-25" dirty="0">
                <a:solidFill>
                  <a:srgbClr val="9CA2AF"/>
                </a:solidFill>
                <a:latin typeface="宋体" panose="02010600030101010101" pitchFamily="2" charset="-122"/>
                <a:cs typeface="宋体" panose="02010600030101010101" pitchFamily="2" charset="-122"/>
              </a:rPr>
              <a:t>F</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E</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E</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D</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B</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C</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K</a:t>
            </a:r>
            <a:r>
              <a:rPr sz="750" spc="17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N</a:t>
            </a:r>
            <a:r>
              <a:rPr sz="750" spc="-215"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D</a:t>
            </a:r>
            <a:r>
              <a:rPr sz="750" spc="165"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D</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Y</a:t>
            </a:r>
            <a:r>
              <a:rPr sz="750" spc="-215"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N</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spc="235" dirty="0">
                <a:solidFill>
                  <a:srgbClr val="9CA2AF"/>
                </a:solidFill>
                <a:latin typeface="宋体" panose="02010600030101010101" pitchFamily="2" charset="-122"/>
                <a:cs typeface="宋体" panose="02010600030101010101" pitchFamily="2" charset="-122"/>
              </a:rPr>
              <a:t>M</a:t>
            </a:r>
            <a:r>
              <a:rPr sz="750" spc="-215" dirty="0">
                <a:solidFill>
                  <a:srgbClr val="9CA2AF"/>
                </a:solidFill>
                <a:latin typeface="宋体" panose="02010600030101010101" pitchFamily="2" charset="-122"/>
                <a:cs typeface="宋体" panose="02010600030101010101" pitchFamily="2" charset="-122"/>
              </a:rPr>
              <a:t> </a:t>
            </a:r>
            <a:r>
              <a:rPr sz="750" spc="-190" dirty="0">
                <a:solidFill>
                  <a:srgbClr val="9CA2AF"/>
                </a:solidFill>
                <a:latin typeface="宋体" panose="02010600030101010101" pitchFamily="2" charset="-122"/>
                <a:cs typeface="宋体" panose="02010600030101010101" pitchFamily="2" charset="-122"/>
              </a:rPr>
              <a:t>I</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C</a:t>
            </a:r>
            <a:r>
              <a:rPr sz="750" spc="17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R</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E</a:t>
            </a:r>
            <a:r>
              <a:rPr sz="750" spc="-220"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N</a:t>
            </a:r>
            <a:r>
              <a:rPr sz="750" spc="-215" dirty="0">
                <a:solidFill>
                  <a:srgbClr val="9CA2AF"/>
                </a:solidFill>
                <a:latin typeface="宋体" panose="02010600030101010101" pitchFamily="2" charset="-122"/>
                <a:cs typeface="宋体" panose="02010600030101010101" pitchFamily="2" charset="-122"/>
              </a:rPr>
              <a:t> </a:t>
            </a:r>
            <a:r>
              <a:rPr sz="750" spc="114" dirty="0">
                <a:solidFill>
                  <a:srgbClr val="9CA2AF"/>
                </a:solidFill>
                <a:latin typeface="宋体" panose="02010600030101010101" pitchFamily="2" charset="-122"/>
                <a:cs typeface="宋体" panose="02010600030101010101" pitchFamily="2" charset="-122"/>
              </a:rPr>
              <a:t>D</a:t>
            </a:r>
            <a:r>
              <a:rPr sz="750" spc="165"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C</a:t>
            </a:r>
            <a:r>
              <a:rPr sz="750" spc="-215"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A</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P</a:t>
            </a:r>
            <a:r>
              <a:rPr sz="750" spc="-220" dirty="0">
                <a:solidFill>
                  <a:srgbClr val="9CA2AF"/>
                </a:solidFill>
                <a:latin typeface="宋体" panose="02010600030101010101" pitchFamily="2" charset="-122"/>
                <a:cs typeface="宋体" panose="02010600030101010101" pitchFamily="2" charset="-122"/>
              </a:rPr>
              <a:t> </a:t>
            </a:r>
            <a:r>
              <a:rPr sz="750" dirty="0">
                <a:solidFill>
                  <a:srgbClr val="9CA2AF"/>
                </a:solidFill>
                <a:latin typeface="宋体" panose="02010600030101010101" pitchFamily="2" charset="-122"/>
                <a:cs typeface="宋体" panose="02010600030101010101" pitchFamily="2" charset="-122"/>
              </a:rPr>
              <a:t>T</a:t>
            </a:r>
            <a:r>
              <a:rPr sz="750" spc="-215" dirty="0">
                <a:solidFill>
                  <a:srgbClr val="9CA2AF"/>
                </a:solidFill>
                <a:latin typeface="宋体" panose="02010600030101010101" pitchFamily="2" charset="-122"/>
                <a:cs typeface="宋体" panose="02010600030101010101" pitchFamily="2" charset="-122"/>
              </a:rPr>
              <a:t> </a:t>
            </a:r>
            <a:r>
              <a:rPr sz="750" spc="100" dirty="0">
                <a:solidFill>
                  <a:srgbClr val="9CA2AF"/>
                </a:solidFill>
                <a:latin typeface="宋体" panose="02010600030101010101" pitchFamily="2" charset="-122"/>
                <a:cs typeface="宋体" panose="02010600030101010101" pitchFamily="2" charset="-122"/>
              </a:rPr>
              <a:t>U</a:t>
            </a:r>
            <a:r>
              <a:rPr sz="750" spc="-220" dirty="0">
                <a:solidFill>
                  <a:srgbClr val="9CA2AF"/>
                </a:solidFill>
                <a:latin typeface="宋体" panose="02010600030101010101" pitchFamily="2" charset="-122"/>
                <a:cs typeface="宋体" panose="02010600030101010101" pitchFamily="2" charset="-122"/>
              </a:rPr>
              <a:t> </a:t>
            </a:r>
            <a:r>
              <a:rPr sz="750" spc="85" dirty="0">
                <a:solidFill>
                  <a:srgbClr val="9CA2AF"/>
                </a:solidFill>
                <a:latin typeface="宋体" panose="02010600030101010101" pitchFamily="2" charset="-122"/>
                <a:cs typeface="宋体" panose="02010600030101010101" pitchFamily="2" charset="-122"/>
              </a:rPr>
              <a:t>R</a:t>
            </a:r>
            <a:r>
              <a:rPr sz="750" spc="-220" dirty="0">
                <a:solidFill>
                  <a:srgbClr val="9CA2AF"/>
                </a:solidFill>
                <a:latin typeface="宋体" panose="02010600030101010101" pitchFamily="2" charset="-122"/>
                <a:cs typeface="宋体" panose="02010600030101010101" pitchFamily="2" charset="-122"/>
              </a:rPr>
              <a:t> </a:t>
            </a:r>
            <a:r>
              <a:rPr sz="750" spc="-50" dirty="0">
                <a:solidFill>
                  <a:srgbClr val="9CA2AF"/>
                </a:solidFill>
                <a:latin typeface="宋体" panose="02010600030101010101" pitchFamily="2" charset="-122"/>
                <a:cs typeface="宋体" panose="02010600030101010101" pitchFamily="2" charset="-122"/>
              </a:rPr>
              <a:t>E</a:t>
            </a:r>
            <a:endParaRPr sz="750">
              <a:latin typeface="宋体" panose="02010600030101010101" pitchFamily="2" charset="-122"/>
              <a:cs typeface="宋体" panose="02010600030101010101" pitchFamily="2" charset="-122"/>
            </a:endParaRPr>
          </a:p>
        </p:txBody>
      </p:sp>
      <p:sp>
        <p:nvSpPr>
          <p:cNvPr id="23" name="object 23"/>
          <p:cNvSpPr/>
          <p:nvPr/>
        </p:nvSpPr>
        <p:spPr>
          <a:xfrm>
            <a:off x="0" y="295275"/>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24" name="object 24"/>
          <p:cNvSpPr/>
          <p:nvPr/>
        </p:nvSpPr>
        <p:spPr>
          <a:xfrm>
            <a:off x="0" y="7115174"/>
            <a:ext cx="12192000" cy="38100"/>
          </a:xfrm>
          <a:custGeom>
            <a:avLst/>
            <a:gdLst/>
            <a:ahLst/>
            <a:cxnLst/>
            <a:rect l="l" t="t" r="r" b="b"/>
            <a:pathLst>
              <a:path w="12192000" h="38100">
                <a:moveTo>
                  <a:pt x="12191999" y="38099"/>
                </a:moveTo>
                <a:lnTo>
                  <a:pt x="0" y="38099"/>
                </a:lnTo>
                <a:lnTo>
                  <a:pt x="0" y="0"/>
                </a:lnTo>
                <a:lnTo>
                  <a:pt x="12191999" y="0"/>
                </a:lnTo>
                <a:lnTo>
                  <a:pt x="12191999" y="38099"/>
                </a:lnTo>
                <a:close/>
              </a:path>
            </a:pathLst>
          </a:custGeom>
          <a:solidFill>
            <a:srgbClr val="000000"/>
          </a:solidFill>
        </p:spPr>
        <p:txBody>
          <a:bodyPr wrap="square" lIns="0" tIns="0" rIns="0" bIns="0" rtlCol="0"/>
          <a:lstStyle/>
          <a:p/>
        </p:txBody>
      </p:sp>
      <p:sp>
        <p:nvSpPr>
          <p:cNvPr id="27" name="object 27"/>
          <p:cNvSpPr txBox="1"/>
          <p:nvPr/>
        </p:nvSpPr>
        <p:spPr>
          <a:xfrm>
            <a:off x="444500" y="6541346"/>
            <a:ext cx="2292985" cy="117340"/>
          </a:xfrm>
          <a:prstGeom prst="rect">
            <a:avLst/>
          </a:prstGeom>
        </p:spPr>
        <p:txBody>
          <a:bodyPr vert="horz" wrap="square" lIns="0" tIns="1905" rIns="0" bIns="0" rtlCol="0">
            <a:spAutoFit/>
          </a:bodyPr>
          <a:lstStyle/>
          <a:p>
            <a:pPr marL="12700">
              <a:spcBef>
                <a:spcPts val="15"/>
              </a:spcBef>
              <a:tabLst>
                <a:tab pos="490855" algn="l"/>
              </a:tabLst>
            </a:pPr>
            <a:r>
              <a:rPr sz="750" u="heavy" dirty="0">
                <a:solidFill>
                  <a:srgbClr val="9CA2AF"/>
                </a:solidFill>
                <a:uFill>
                  <a:solidFill>
                    <a:srgbClr val="E4E7EB"/>
                  </a:solidFill>
                </a:uFill>
                <a:latin typeface="Times New Roman" panose="02020603050405020304"/>
                <a:cs typeface="Times New Roman" panose="02020603050405020304"/>
              </a:rPr>
              <a:t>	</a:t>
            </a:r>
            <a:r>
              <a:rPr sz="750" spc="265" dirty="0">
                <a:solidFill>
                  <a:srgbClr val="9CA2AF"/>
                </a:solidFill>
                <a:latin typeface="Times New Roman" panose="02020603050405020304"/>
                <a:cs typeface="Times New Roman" panose="02020603050405020304"/>
              </a:rPr>
              <a:t> </a:t>
            </a:r>
            <a:r>
              <a:rPr sz="750" spc="-45" dirty="0">
                <a:solidFill>
                  <a:srgbClr val="9CA2AF"/>
                </a:solidFill>
                <a:latin typeface="Courier New" panose="02070309020205020404"/>
                <a:cs typeface="Courier New" panose="02070309020205020404"/>
              </a:rPr>
              <a:t>INTERPRETABILITY</a:t>
            </a:r>
            <a:r>
              <a:rPr sz="750" spc="-50" dirty="0">
                <a:solidFill>
                  <a:srgbClr val="9CA2AF"/>
                </a:solidFill>
                <a:latin typeface="Courier New" panose="02070309020205020404"/>
                <a:cs typeface="Courier New" panose="02070309020205020404"/>
              </a:rPr>
              <a:t> </a:t>
            </a:r>
            <a:r>
              <a:rPr sz="750" spc="-40" dirty="0">
                <a:solidFill>
                  <a:srgbClr val="9CA2AF"/>
                </a:solidFill>
                <a:latin typeface="Courier New" panose="02070309020205020404"/>
                <a:cs typeface="Courier New" panose="02070309020205020404"/>
              </a:rPr>
              <a:t>STUDY</a:t>
            </a:r>
            <a:r>
              <a:rPr sz="750" spc="-50" dirty="0">
                <a:solidFill>
                  <a:srgbClr val="9CA2AF"/>
                </a:solidFill>
                <a:latin typeface="Courier New" panose="02070309020205020404"/>
                <a:cs typeface="Courier New" panose="02070309020205020404"/>
              </a:rPr>
              <a:t> </a:t>
            </a:r>
            <a:r>
              <a:rPr sz="750" dirty="0">
                <a:solidFill>
                  <a:srgbClr val="9CA2AF"/>
                </a:solidFill>
                <a:latin typeface="Courier New" panose="02070309020205020404"/>
                <a:cs typeface="Courier New" panose="02070309020205020404"/>
              </a:rPr>
              <a:t>/</a:t>
            </a:r>
            <a:r>
              <a:rPr sz="750" spc="-50" dirty="0">
                <a:solidFill>
                  <a:srgbClr val="9CA2AF"/>
                </a:solidFill>
                <a:latin typeface="Courier New" panose="02070309020205020404"/>
                <a:cs typeface="Courier New" panose="02070309020205020404"/>
              </a:rPr>
              <a:t> </a:t>
            </a:r>
            <a:r>
              <a:rPr sz="750" spc="-40" dirty="0">
                <a:solidFill>
                  <a:srgbClr val="9CA2AF"/>
                </a:solidFill>
                <a:latin typeface="Courier New" panose="02070309020205020404"/>
                <a:cs typeface="Courier New" panose="02070309020205020404"/>
              </a:rPr>
              <a:t>PHASE</a:t>
            </a:r>
            <a:r>
              <a:rPr sz="750" spc="-50" dirty="0">
                <a:solidFill>
                  <a:srgbClr val="9CA2AF"/>
                </a:solidFill>
                <a:latin typeface="Courier New" panose="02070309020205020404"/>
                <a:cs typeface="Courier New" panose="02070309020205020404"/>
              </a:rPr>
              <a:t> </a:t>
            </a:r>
            <a:r>
              <a:rPr sz="750" dirty="0">
                <a:solidFill>
                  <a:srgbClr val="9CA2AF"/>
                </a:solidFill>
                <a:latin typeface="Courier New" panose="02070309020205020404"/>
                <a:cs typeface="Courier New" panose="02070309020205020404"/>
              </a:rPr>
              <a:t>02</a:t>
            </a:r>
            <a:endParaRPr sz="750">
              <a:latin typeface="Courier New" panose="02070309020205020404"/>
              <a:cs typeface="Courier New" panose="020703090202050204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3900</Words>
  <Application>WPS 演示</Application>
  <PresentationFormat>自定义</PresentationFormat>
  <Paragraphs>312</Paragraphs>
  <Slides>9</Slides>
  <Notes>0</Notes>
  <HiddenSlides>0</HiddenSlides>
  <MMClips>0</MMClips>
  <ScaleCrop>false</ScaleCrop>
  <HeadingPairs>
    <vt:vector size="6" baseType="variant">
      <vt:variant>
        <vt:lpstr>已用的字体</vt:lpstr>
      </vt:variant>
      <vt:variant>
        <vt:i4>18</vt:i4>
      </vt:variant>
      <vt:variant>
        <vt:lpstr>主题</vt:lpstr>
      </vt:variant>
      <vt:variant>
        <vt:i4>5</vt:i4>
      </vt:variant>
      <vt:variant>
        <vt:lpstr>幻灯片标题</vt:lpstr>
      </vt:variant>
      <vt:variant>
        <vt:i4>9</vt:i4>
      </vt:variant>
    </vt:vector>
  </HeadingPairs>
  <TitlesOfParts>
    <vt:vector size="32" baseType="lpstr">
      <vt:lpstr>Arial</vt:lpstr>
      <vt:lpstr>宋体</vt:lpstr>
      <vt:lpstr>Wingdings</vt:lpstr>
      <vt:lpstr>Yu Gothic UI Semibold</vt:lpstr>
      <vt:lpstr>Arial</vt:lpstr>
      <vt:lpstr>Courier New</vt:lpstr>
      <vt:lpstr>Arial Black</vt:lpstr>
      <vt:lpstr>Times New Roman</vt:lpstr>
      <vt:lpstr>微软雅黑</vt:lpstr>
      <vt:lpstr>Verdana</vt:lpstr>
      <vt:lpstr>Trebuchet MS</vt:lpstr>
      <vt:lpstr>Microsoft New Tai Lue</vt:lpstr>
      <vt:lpstr>Georgia</vt:lpstr>
      <vt:lpstr>Cambria</vt:lpstr>
      <vt:lpstr>Calibri</vt:lpstr>
      <vt:lpstr>Microsoft Sans Serif</vt:lpstr>
      <vt:lpstr>Lucida Sans Unicode</vt:lpstr>
      <vt:lpstr>Arial Unicode MS</vt:lpstr>
      <vt:lpstr>Office Theme</vt:lpstr>
      <vt:lpstr>1_Office Theme</vt:lpstr>
      <vt:lpstr>2_Office Theme</vt:lpstr>
      <vt:lpstr>3_Office Theme</vt:lpstr>
      <vt:lpstr>4_Office Theme</vt:lpstr>
      <vt:lpstr>PowerPoint 演示文稿</vt:lpstr>
      <vt:lpstr>引言：现有通道策略的粒度瓶颈与时域耦合</vt:lpstr>
      <vt:lpstr>方法：XCPD整体架构 —— 频域通道-补丁依赖路由</vt:lpstr>
      <vt:lpstr>深度剖析 1：图谱通道-补丁嵌入 (共享傅里叶基)</vt:lpstr>
      <vt:lpstr>深度剖析 2：基于能量保存的频域节点分组</vt:lpstr>
      <vt:lpstr>深度剖析 3：基于 MOE 的频域路由与残差融合</vt:lpstr>
      <vt:lpstr>实验分析：常规长短期预测基准</vt:lpstr>
      <vt:lpstr>实验 1：极高计算效率背后的理论优势</vt:lpstr>
      <vt:lpstr>实验 2：频域过滤的可解释性与定性论证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1，2，3</cp:lastModifiedBy>
  <cp:revision>5</cp:revision>
  <dcterms:created xsi:type="dcterms:W3CDTF">2026-05-13T12:46:00Z</dcterms:created>
  <dcterms:modified xsi:type="dcterms:W3CDTF">2026-05-14T03:47:24Z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A35200EE01A741B8B59421E6CCF60AB2_13</vt:lpwstr>
  </property>
</Properties>
</file>