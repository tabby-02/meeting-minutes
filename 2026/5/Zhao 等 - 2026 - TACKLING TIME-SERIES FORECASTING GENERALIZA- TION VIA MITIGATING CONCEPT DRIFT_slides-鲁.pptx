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老师好，今天我汇报的论文是《通过缓解概念漂移提升时间序列预测泛化能力》，该论文已被 ICLR 2026 接收，由佐治亚理工学院（Georgia Tech）的 Zhiyuan Zhao 团队完成。当前深度学习在时序预测上取得了巨大进展，但动态数据环境带来的“分布偏移”依然是核心难题。本文跳出了既有研究仅关注“时序偏移”的局限，专门针对被忽视的“概念漂移”现象构建了统一框架。接下来的汇报将从宏观逻辑铺开，深入解析其数学表达与架构创新。</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老师请看图1。在标准的时序预测中，输入通常由目标特征Y和外生协变量X组成。传统方法（图a）直接拟合由历史窗口到未来窗口的映射，这在概念漂移场景下是极为脆弱的——因为X和Y之间的相关性是随时间波动的。为了稳定这种条件分布，作者的一个核心洞见是：单纯的历史X是不够的，我们需要把未来窗口的X也纳入进来作为候选池，从中提取出与Y具有强且稳定相关性的“不变模式”，即构建一个更小的代理特征集合 X^{SUR}，让网络基于它来学习。这从根本上改变了预测图景。</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现在我们切入模型架构的核心，图2展示了ShifTS框架的全貌。这是一个Model-Agnostic（即插即用）的框架。从逻辑上，它分为严格的两阶：外部和内部。外部通过数据切片进行实例归一化与反归一化，解决的是均值方差游走的Temporal Shift问题；如果没有这一步，内部去求解稳定的条件概率将是无源之水。内部则是一个两阶段预测过程，核心在于绿色高亮区：通过 SAM 掩码筛选并预测所谓的代理外生特征。这种剥离边缘分布变化，专注条件分布建模的设计，从架构维度非常清晰。</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我们先审视框架的边界模块：标准化处理。作者强调，解决 Temporal shift 是应对 Concept drift 的必需前提。只有当边缘分布被拉平时，即特征方差不再剧烈震荡，算法才有可能锚定条件分布。在这里，作者复用了 RevIN 机制，在网络的前后端完成分布的收缩和释放。这一步数据维度的 shape 没有变化，纯粹是数值重映射。有了平稳的池子，我们就可以在里面去捞取不变规律了。</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那么接下来的问题是，这些所谓的“不变模式”究竟在哪里？单纯基于历史数据容易产生虚假关联。作者提出将历史视窗 X^L 和未来视窗 X^H 拼接在一起，组成长度为 L+H 的长序列。通过一个宽为 H 的滑动窗口进行步长为 1 的切片。这里非常关键的一个张量维度变换是，原本的序列被升维重塑为一个结构为 [H, L加上1, d_X] 的张量。这意味着，我们现在有了 L+1 个等长为 H 的特征子序列池，真正的因果不变量就潜伏在这 L+1 个候选者之中。</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怎么筛选这 L+1 个候选者？作者设计了软注意力掩码 SAM。这里的公式推导非常巧妙：首先，通过学习一个 M 矩阵对候选项做 Softmax。随后，执行极为重要的一步：Sparsity稀疏化操作。利用指示函数，直接将权重低于均值的模式归零。这个非线性截断在物理层面上强制剥离了那些“时有时无”的虚假相关模式（也即概念漂移的来源）。处理后的权重重新标准化，最终把候选片段进行加权求和，得到最终提纯后的代理特征 X^{SUR}。它的时间维度完美适配到了目标预测长度 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这里浮现出一个现实问题：我们在求解最终的 X^{SUR} 时用到了未来的 X，测试阶段这怎么办？作者的解法是代理预测。在训练期，用完整的 X 生成完美的“教师表征” X^{SUR}，并迫使我们骨干网络的侧边分支去拟合它。这就构成了代理损失 L_SUR。最终的全梯度图是一个双头回归，总损失 L 就是代理损失加上预测主任务目标损失。在推断的时候，模型利用被训练好的侧边分支直接前馈预测未来的代理特征走势，再利用一层名为 Agg 的 MLP 网络把它残差补充到主干预测结果中完成收敛。</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理论说完了，我们来看在量化层面框架表现如何。通过表1，我们能在三种不同的骨干Transformer上的测试结果发现，ShifTS实现了跨模型的全面超越。老师请看数据，非常有意思的一个现象是，相对早期的基线（比如Crossformer），施加此框架能削减高达八成的MSE误差，这揭露了不处理概念漂移时很多早期模型事实上学到了错位的相关性。即使是用最前沿的iTransformer，我们在ILI和Exchange这种受外界影响明显的集合上依然能拿到10%到15%的显著增益。</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既然目标是解决分布偏移问题，我们必然需要同类别的先进算法进行PK。表2展示了极具说服力的对比矩阵。对比的集合囊括了像IRM、GroupDRO这种基于不变学习的概念漂移模型，以及复用混合策略的组合模型。可以明显看到，ShifTS 方案具备断层优势，获取了大部分最优值。这是因为通用环境下的泛化算法强依赖外置的“环境标签”，而在纯流动的时间序列图中这是不可切分的，ShifTS的滑动切片SAM完美避开了这一点，真正适配了时空连续特征的形式化边界。</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最后，在这张机制分析图中，我们解释了“它为什么行得通”。左侧点阵描述了我们提取外源变量集未来窗口的信息量(用互信息衡量)与性能差额的关联。这在逻辑上闭环了：一旦X中包含了足量引发目标Y颠簸的核心指标信号，那么框架带来的纠正增益就越陡峭；右边的柱状图是隔离验证——仅靠消解时序偏移(不带CD)或者反向操作，精度均不如完整集。这进一步坐实了理论分析中的基调：处理时序偏移只是地基，抑制概念漂移才是模型获得抗干扰能力的最终拼图。以上就是我的全图解报告内容，谢谢老师！</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050" b="0" i="0">
                <a:solidFill>
                  <a:srgbClr val="111726"/>
                </a:solidFill>
                <a:latin typeface="宋体" panose="02010600030101010101" pitchFamily="2" charset="-122"/>
                <a:cs typeface="宋体" panose="02010600030101010101" pitchFamily="2" charset="-122"/>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pPr marL="12700">
              <a:lnSpc>
                <a:spcPts val="1800"/>
              </a:lnSpc>
            </a:pPr>
            <a:r>
              <a:rPr spc="-45" dirty="0"/>
              <a:t>Powered</a:t>
            </a:r>
            <a:r>
              <a:rPr spc="-70" dirty="0"/>
              <a:t> </a:t>
            </a:r>
            <a:r>
              <a:rPr spc="-130" dirty="0"/>
              <a:t>By</a:t>
            </a:r>
            <a:r>
              <a:rPr spc="-10" dirty="0"/>
              <a:t> </a:t>
            </a:r>
            <a:r>
              <a:rPr spc="-65" dirty="0"/>
              <a:t>Tosea</a:t>
            </a:r>
            <a:r>
              <a:rPr sz="1700" spc="-65" dirty="0">
                <a:latin typeface="Tahoma" panose="020B0604030504040204"/>
                <a:cs typeface="Tahoma" panose="020B0604030504040204"/>
              </a:rPr>
              <a:t>.</a:t>
            </a:r>
            <a:r>
              <a:rPr spc="-65" dirty="0"/>
              <a:t>ai</a:t>
            </a:r>
            <a:endParaRPr sz="1700">
              <a:latin typeface="Tahoma" panose="020B0604030504040204"/>
              <a:cs typeface="Tahoma" panose="020B0604030504040204"/>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FAF9F6"/>
          </a:solidFill>
        </p:spPr>
        <p:txBody>
          <a:bodyPr wrap="square" lIns="0" tIns="0" rIns="0" bIns="0" rtlCol="0"/>
          <a:lstStyle/>
          <a:p/>
        </p:txBody>
      </p:sp>
      <p:sp>
        <p:nvSpPr>
          <p:cNvPr id="17" name="bg object 17"/>
          <p:cNvSpPr/>
          <p:nvPr/>
        </p:nvSpPr>
        <p:spPr>
          <a:xfrm>
            <a:off x="457199" y="1038224"/>
            <a:ext cx="457200" cy="19050"/>
          </a:xfrm>
          <a:custGeom>
            <a:avLst/>
            <a:gdLst/>
            <a:ahLst/>
            <a:cxnLst/>
            <a:rect l="l" t="t" r="r" b="b"/>
            <a:pathLst>
              <a:path w="457200" h="19050">
                <a:moveTo>
                  <a:pt x="457199" y="19049"/>
                </a:moveTo>
                <a:lnTo>
                  <a:pt x="0" y="19049"/>
                </a:lnTo>
                <a:lnTo>
                  <a:pt x="0" y="0"/>
                </a:lnTo>
                <a:lnTo>
                  <a:pt x="457199" y="0"/>
                </a:lnTo>
                <a:lnTo>
                  <a:pt x="457199" y="19049"/>
                </a:lnTo>
                <a:close/>
              </a:path>
            </a:pathLst>
          </a:custGeom>
          <a:solidFill>
            <a:srgbClr val="5B8BA7"/>
          </a:solidFill>
        </p:spPr>
        <p:txBody>
          <a:bodyPr wrap="square" lIns="0" tIns="0" rIns="0" bIns="0" rtlCol="0"/>
          <a:lstStyle/>
          <a:p/>
        </p:txBody>
      </p:sp>
      <p:sp>
        <p:nvSpPr>
          <p:cNvPr id="2" name="Holder 2"/>
          <p:cNvSpPr>
            <a:spLocks noGrp="1"/>
          </p:cNvSpPr>
          <p:nvPr>
            <p:ph type="title"/>
          </p:nvPr>
        </p:nvSpPr>
        <p:spPr/>
        <p:txBody>
          <a:bodyPr lIns="0" tIns="0" rIns="0" bIns="0"/>
          <a:lstStyle>
            <a:lvl1pPr>
              <a:defRPr sz="3050" b="0" i="0">
                <a:solidFill>
                  <a:srgbClr val="111726"/>
                </a:solidFill>
                <a:latin typeface="宋体" panose="02010600030101010101" pitchFamily="2" charset="-122"/>
                <a:cs typeface="宋体" panose="02010600030101010101" pitchFamily="2" charset="-122"/>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pPr marL="12700">
              <a:lnSpc>
                <a:spcPts val="1800"/>
              </a:lnSpc>
            </a:pPr>
            <a:r>
              <a:rPr spc="-45" dirty="0"/>
              <a:t>Powered</a:t>
            </a:r>
            <a:r>
              <a:rPr spc="-70" dirty="0"/>
              <a:t> </a:t>
            </a:r>
            <a:r>
              <a:rPr spc="-130" dirty="0"/>
              <a:t>By</a:t>
            </a:r>
            <a:r>
              <a:rPr spc="-10" dirty="0"/>
              <a:t> </a:t>
            </a:r>
            <a:r>
              <a:rPr spc="-65" dirty="0"/>
              <a:t>Tosea</a:t>
            </a:r>
            <a:r>
              <a:rPr sz="1700" spc="-65" dirty="0">
                <a:latin typeface="Tahoma" panose="020B0604030504040204"/>
                <a:cs typeface="Tahoma" panose="020B0604030504040204"/>
              </a:rPr>
              <a:t>.</a:t>
            </a:r>
            <a:r>
              <a:rPr spc="-65" dirty="0"/>
              <a:t>ai</a:t>
            </a:r>
            <a:endParaRPr sz="1700">
              <a:latin typeface="Tahoma" panose="020B0604030504040204"/>
              <a:cs typeface="Tahoma" panose="020B0604030504040204"/>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0" i="0">
                <a:solidFill>
                  <a:srgbClr val="111726"/>
                </a:solidFill>
                <a:latin typeface="宋体" panose="02010600030101010101" pitchFamily="2" charset="-122"/>
                <a:cs typeface="宋体" panose="02010600030101010101" pitchFamily="2" charset="-122"/>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pPr marL="12700">
              <a:lnSpc>
                <a:spcPts val="1800"/>
              </a:lnSpc>
            </a:pPr>
            <a:r>
              <a:rPr spc="-45" dirty="0"/>
              <a:t>Powered</a:t>
            </a:r>
            <a:r>
              <a:rPr spc="-70" dirty="0"/>
              <a:t> </a:t>
            </a:r>
            <a:r>
              <a:rPr spc="-130" dirty="0"/>
              <a:t>By</a:t>
            </a:r>
            <a:r>
              <a:rPr spc="-10" dirty="0"/>
              <a:t> </a:t>
            </a:r>
            <a:r>
              <a:rPr spc="-65" dirty="0"/>
              <a:t>Tosea</a:t>
            </a:r>
            <a:r>
              <a:rPr sz="1700" spc="-65" dirty="0">
                <a:latin typeface="Tahoma" panose="020B0604030504040204"/>
                <a:cs typeface="Tahoma" panose="020B0604030504040204"/>
              </a:rPr>
              <a:t>.</a:t>
            </a:r>
            <a:r>
              <a:rPr spc="-65" dirty="0"/>
              <a:t>ai</a:t>
            </a:r>
            <a:endParaRPr sz="1700">
              <a:latin typeface="Tahoma" panose="020B0604030504040204"/>
              <a:cs typeface="Tahoma" panose="020B0604030504040204"/>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0" i="0">
                <a:solidFill>
                  <a:srgbClr val="111726"/>
                </a:solidFill>
                <a:latin typeface="宋体" panose="02010600030101010101" pitchFamily="2" charset="-122"/>
                <a:cs typeface="宋体" panose="02010600030101010101" pitchFamily="2" charset="-122"/>
              </a:defRPr>
            </a:lvl1pPr>
          </a:lstStyle>
          <a:p/>
        </p:txBody>
      </p:sp>
      <p:sp>
        <p:nvSpPr>
          <p:cNvPr id="3" name="Holder 3"/>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pPr marL="12700">
              <a:lnSpc>
                <a:spcPts val="1800"/>
              </a:lnSpc>
            </a:pPr>
            <a:r>
              <a:rPr spc="-45" dirty="0"/>
              <a:t>Powered</a:t>
            </a:r>
            <a:r>
              <a:rPr spc="-70" dirty="0"/>
              <a:t> </a:t>
            </a:r>
            <a:r>
              <a:rPr spc="-130" dirty="0"/>
              <a:t>By</a:t>
            </a:r>
            <a:r>
              <a:rPr spc="-10" dirty="0"/>
              <a:t> </a:t>
            </a:r>
            <a:r>
              <a:rPr spc="-65" dirty="0"/>
              <a:t>Tosea</a:t>
            </a:r>
            <a:r>
              <a:rPr sz="1700" spc="-65" dirty="0">
                <a:latin typeface="Tahoma" panose="020B0604030504040204"/>
                <a:cs typeface="Tahoma" panose="020B0604030504040204"/>
              </a:rPr>
              <a:t>.</a:t>
            </a:r>
            <a:r>
              <a:rPr spc="-65" dirty="0"/>
              <a:t>ai</a:t>
            </a:r>
            <a:endParaRPr sz="1700">
              <a:latin typeface="Tahoma" panose="020B0604030504040204"/>
              <a:cs typeface="Tahoma" panose="020B0604030504040204"/>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FAF9F6"/>
          </a:solidFill>
        </p:spPr>
        <p:txBody>
          <a:bodyPr wrap="square" lIns="0" tIns="0" rIns="0" bIns="0" rtlCol="0"/>
          <a:lstStyle/>
          <a:p/>
        </p:txBody>
      </p:sp>
      <p:sp>
        <p:nvSpPr>
          <p:cNvPr id="17" name="bg object 17"/>
          <p:cNvSpPr/>
          <p:nvPr/>
        </p:nvSpPr>
        <p:spPr>
          <a:xfrm>
            <a:off x="457199" y="3124199"/>
            <a:ext cx="914400" cy="28575"/>
          </a:xfrm>
          <a:custGeom>
            <a:avLst/>
            <a:gdLst/>
            <a:ahLst/>
            <a:cxnLst/>
            <a:rect l="l" t="t" r="r" b="b"/>
            <a:pathLst>
              <a:path w="914400" h="28575">
                <a:moveTo>
                  <a:pt x="902006" y="28574"/>
                </a:moveTo>
                <a:lnTo>
                  <a:pt x="12392" y="28574"/>
                </a:lnTo>
                <a:lnTo>
                  <a:pt x="10570" y="28212"/>
                </a:lnTo>
                <a:lnTo>
                  <a:pt x="0" y="16181"/>
                </a:lnTo>
                <a:lnTo>
                  <a:pt x="0" y="14287"/>
                </a:lnTo>
                <a:lnTo>
                  <a:pt x="0" y="12392"/>
                </a:lnTo>
                <a:lnTo>
                  <a:pt x="12392" y="0"/>
                </a:lnTo>
                <a:lnTo>
                  <a:pt x="902006" y="0"/>
                </a:lnTo>
                <a:lnTo>
                  <a:pt x="914399" y="12392"/>
                </a:lnTo>
                <a:lnTo>
                  <a:pt x="914399" y="16181"/>
                </a:lnTo>
                <a:lnTo>
                  <a:pt x="903829" y="28212"/>
                </a:lnTo>
                <a:lnTo>
                  <a:pt x="902006" y="28574"/>
                </a:lnTo>
                <a:close/>
              </a:path>
            </a:pathLst>
          </a:custGeom>
          <a:solidFill>
            <a:srgbClr val="D4A573"/>
          </a:solidFill>
        </p:spPr>
        <p:txBody>
          <a:bodyPr wrap="square" lIns="0" tIns="0" rIns="0" bIns="0" rtlCol="0"/>
          <a:lstStyle/>
          <a:p/>
        </p:txBody>
      </p:sp>
      <p:sp>
        <p:nvSpPr>
          <p:cNvPr id="18" name="bg object 18"/>
          <p:cNvSpPr/>
          <p:nvPr/>
        </p:nvSpPr>
        <p:spPr>
          <a:xfrm>
            <a:off x="457199" y="895349"/>
            <a:ext cx="3895725" cy="285750"/>
          </a:xfrm>
          <a:custGeom>
            <a:avLst/>
            <a:gdLst/>
            <a:ahLst/>
            <a:cxnLst/>
            <a:rect l="l" t="t" r="r" b="b"/>
            <a:pathLst>
              <a:path w="3895725" h="285750">
                <a:moveTo>
                  <a:pt x="3752849" y="285749"/>
                </a:moveTo>
                <a:lnTo>
                  <a:pt x="142874" y="285749"/>
                </a:lnTo>
                <a:lnTo>
                  <a:pt x="128800" y="285070"/>
                </a:lnTo>
                <a:lnTo>
                  <a:pt x="88199" y="274874"/>
                </a:lnTo>
                <a:lnTo>
                  <a:pt x="52279" y="253374"/>
                </a:lnTo>
                <a:lnTo>
                  <a:pt x="24056" y="222266"/>
                </a:lnTo>
                <a:lnTo>
                  <a:pt x="6117" y="184287"/>
                </a:lnTo>
                <a:lnTo>
                  <a:pt x="0" y="142874"/>
                </a:lnTo>
                <a:lnTo>
                  <a:pt x="679" y="128800"/>
                </a:lnTo>
                <a:lnTo>
                  <a:pt x="10875" y="88198"/>
                </a:lnTo>
                <a:lnTo>
                  <a:pt x="32375" y="52279"/>
                </a:lnTo>
                <a:lnTo>
                  <a:pt x="63482" y="24056"/>
                </a:lnTo>
                <a:lnTo>
                  <a:pt x="101462" y="6117"/>
                </a:lnTo>
                <a:lnTo>
                  <a:pt x="142874" y="0"/>
                </a:lnTo>
                <a:lnTo>
                  <a:pt x="3752849" y="0"/>
                </a:lnTo>
                <a:lnTo>
                  <a:pt x="3794261" y="6117"/>
                </a:lnTo>
                <a:lnTo>
                  <a:pt x="3832241" y="24056"/>
                </a:lnTo>
                <a:lnTo>
                  <a:pt x="3863348" y="52279"/>
                </a:lnTo>
                <a:lnTo>
                  <a:pt x="3884848" y="88198"/>
                </a:lnTo>
                <a:lnTo>
                  <a:pt x="3895044" y="128800"/>
                </a:lnTo>
                <a:lnTo>
                  <a:pt x="3895724" y="142874"/>
                </a:lnTo>
                <a:lnTo>
                  <a:pt x="3895044" y="156949"/>
                </a:lnTo>
                <a:lnTo>
                  <a:pt x="3884848" y="197550"/>
                </a:lnTo>
                <a:lnTo>
                  <a:pt x="3863348" y="233469"/>
                </a:lnTo>
                <a:lnTo>
                  <a:pt x="3832241" y="261693"/>
                </a:lnTo>
                <a:lnTo>
                  <a:pt x="3794261" y="279632"/>
                </a:lnTo>
                <a:lnTo>
                  <a:pt x="3752849" y="285749"/>
                </a:lnTo>
                <a:close/>
              </a:path>
            </a:pathLst>
          </a:custGeom>
          <a:solidFill>
            <a:srgbClr val="E7F1F6"/>
          </a:solidFill>
        </p:spPr>
        <p:txBody>
          <a:bodyPr wrap="square" lIns="0" tIns="0" rIns="0" bIns="0" rtlCol="0"/>
          <a:lstStyle/>
          <a:p/>
        </p:txBody>
      </p:sp>
      <p:sp>
        <p:nvSpPr>
          <p:cNvPr id="19" name="bg object 19"/>
          <p:cNvSpPr/>
          <p:nvPr/>
        </p:nvSpPr>
        <p:spPr>
          <a:xfrm>
            <a:off x="457199" y="895350"/>
            <a:ext cx="3895725" cy="285750"/>
          </a:xfrm>
          <a:custGeom>
            <a:avLst/>
            <a:gdLst/>
            <a:ahLst/>
            <a:cxnLst/>
            <a:rect l="l" t="t" r="r" b="b"/>
            <a:pathLst>
              <a:path w="3895725" h="285750">
                <a:moveTo>
                  <a:pt x="3752849" y="285749"/>
                </a:moveTo>
                <a:lnTo>
                  <a:pt x="142874" y="285749"/>
                </a:lnTo>
                <a:lnTo>
                  <a:pt x="128800" y="285070"/>
                </a:lnTo>
                <a:lnTo>
                  <a:pt x="90179" y="275584"/>
                </a:lnTo>
                <a:lnTo>
                  <a:pt x="52279" y="253374"/>
                </a:lnTo>
                <a:lnTo>
                  <a:pt x="24056" y="222266"/>
                </a:lnTo>
                <a:lnTo>
                  <a:pt x="6117" y="184287"/>
                </a:lnTo>
                <a:lnTo>
                  <a:pt x="0" y="142874"/>
                </a:lnTo>
                <a:lnTo>
                  <a:pt x="631" y="129804"/>
                </a:lnTo>
                <a:lnTo>
                  <a:pt x="10875" y="88198"/>
                </a:lnTo>
                <a:lnTo>
                  <a:pt x="32375" y="52279"/>
                </a:lnTo>
                <a:lnTo>
                  <a:pt x="63482" y="24056"/>
                </a:lnTo>
                <a:lnTo>
                  <a:pt x="101462" y="6117"/>
                </a:lnTo>
                <a:lnTo>
                  <a:pt x="142874" y="0"/>
                </a:lnTo>
                <a:lnTo>
                  <a:pt x="3752849" y="0"/>
                </a:lnTo>
                <a:lnTo>
                  <a:pt x="3766924" y="679"/>
                </a:lnTo>
                <a:lnTo>
                  <a:pt x="3780728" y="2718"/>
                </a:lnTo>
                <a:lnTo>
                  <a:pt x="3794262" y="6117"/>
                </a:lnTo>
                <a:lnTo>
                  <a:pt x="3803760" y="9524"/>
                </a:lnTo>
                <a:lnTo>
                  <a:pt x="142874" y="9524"/>
                </a:lnTo>
                <a:lnTo>
                  <a:pt x="136323" y="9685"/>
                </a:lnTo>
                <a:lnTo>
                  <a:pt x="129804" y="10165"/>
                </a:lnTo>
                <a:lnTo>
                  <a:pt x="124050" y="10875"/>
                </a:lnTo>
                <a:lnTo>
                  <a:pt x="123838" y="10875"/>
                </a:lnTo>
                <a:lnTo>
                  <a:pt x="85852" y="22330"/>
                </a:lnTo>
                <a:lnTo>
                  <a:pt x="53327" y="44063"/>
                </a:lnTo>
                <a:lnTo>
                  <a:pt x="28492" y="74325"/>
                </a:lnTo>
                <a:lnTo>
                  <a:pt x="13522" y="110465"/>
                </a:lnTo>
                <a:lnTo>
                  <a:pt x="9524" y="142874"/>
                </a:lnTo>
                <a:lnTo>
                  <a:pt x="9685" y="149426"/>
                </a:lnTo>
                <a:lnTo>
                  <a:pt x="17316" y="187792"/>
                </a:lnTo>
                <a:lnTo>
                  <a:pt x="35735" y="222266"/>
                </a:lnTo>
                <a:lnTo>
                  <a:pt x="63431" y="249978"/>
                </a:lnTo>
                <a:lnTo>
                  <a:pt x="97957" y="268433"/>
                </a:lnTo>
                <a:lnTo>
                  <a:pt x="136323" y="276064"/>
                </a:lnTo>
                <a:lnTo>
                  <a:pt x="142874" y="276224"/>
                </a:lnTo>
                <a:lnTo>
                  <a:pt x="3803760" y="276224"/>
                </a:lnTo>
                <a:lnTo>
                  <a:pt x="3794262" y="279632"/>
                </a:lnTo>
                <a:lnTo>
                  <a:pt x="3780728" y="283031"/>
                </a:lnTo>
                <a:lnTo>
                  <a:pt x="3766924" y="285070"/>
                </a:lnTo>
                <a:lnTo>
                  <a:pt x="3752849" y="285749"/>
                </a:lnTo>
                <a:close/>
              </a:path>
              <a:path w="3895725" h="285750">
                <a:moveTo>
                  <a:pt x="3803760" y="276224"/>
                </a:moveTo>
                <a:lnTo>
                  <a:pt x="3752849" y="276224"/>
                </a:lnTo>
                <a:lnTo>
                  <a:pt x="3759400" y="276064"/>
                </a:lnTo>
                <a:lnTo>
                  <a:pt x="3765920" y="275584"/>
                </a:lnTo>
                <a:lnTo>
                  <a:pt x="3803880" y="266074"/>
                </a:lnTo>
                <a:lnTo>
                  <a:pt x="3837446" y="245957"/>
                </a:lnTo>
                <a:lnTo>
                  <a:pt x="3863725" y="216960"/>
                </a:lnTo>
                <a:lnTo>
                  <a:pt x="3880458" y="181584"/>
                </a:lnTo>
                <a:lnTo>
                  <a:pt x="3885435" y="156949"/>
                </a:lnTo>
                <a:lnTo>
                  <a:pt x="3885559" y="155945"/>
                </a:lnTo>
                <a:lnTo>
                  <a:pt x="3886039" y="149426"/>
                </a:lnTo>
                <a:lnTo>
                  <a:pt x="3886199" y="142874"/>
                </a:lnTo>
                <a:lnTo>
                  <a:pt x="3886039" y="136323"/>
                </a:lnTo>
                <a:lnTo>
                  <a:pt x="3878407" y="97957"/>
                </a:lnTo>
                <a:lnTo>
                  <a:pt x="3859952" y="63431"/>
                </a:lnTo>
                <a:lnTo>
                  <a:pt x="3832292" y="35771"/>
                </a:lnTo>
                <a:lnTo>
                  <a:pt x="3797766" y="17316"/>
                </a:lnTo>
                <a:lnTo>
                  <a:pt x="3771886" y="10875"/>
                </a:lnTo>
                <a:lnTo>
                  <a:pt x="3771673" y="10875"/>
                </a:lnTo>
                <a:lnTo>
                  <a:pt x="3765920" y="10165"/>
                </a:lnTo>
                <a:lnTo>
                  <a:pt x="3759400" y="9685"/>
                </a:lnTo>
                <a:lnTo>
                  <a:pt x="3752849" y="9524"/>
                </a:lnTo>
                <a:lnTo>
                  <a:pt x="3803760" y="9524"/>
                </a:lnTo>
                <a:lnTo>
                  <a:pt x="3843444" y="32375"/>
                </a:lnTo>
                <a:lnTo>
                  <a:pt x="3871630" y="63431"/>
                </a:lnTo>
                <a:lnTo>
                  <a:pt x="3889607" y="101462"/>
                </a:lnTo>
                <a:lnTo>
                  <a:pt x="3895724" y="142874"/>
                </a:lnTo>
                <a:lnTo>
                  <a:pt x="3895093" y="155945"/>
                </a:lnTo>
                <a:lnTo>
                  <a:pt x="3884848" y="197550"/>
                </a:lnTo>
                <a:lnTo>
                  <a:pt x="3863349" y="233469"/>
                </a:lnTo>
                <a:lnTo>
                  <a:pt x="3832241" y="261693"/>
                </a:lnTo>
                <a:lnTo>
                  <a:pt x="3807717" y="274783"/>
                </a:lnTo>
                <a:lnTo>
                  <a:pt x="3803760" y="276224"/>
                </a:lnTo>
                <a:close/>
              </a:path>
            </a:pathLst>
          </a:custGeom>
          <a:solidFill>
            <a:srgbClr val="7DA7C2">
              <a:alpha val="30198"/>
            </a:srgbClr>
          </a:solidFill>
        </p:spPr>
        <p:txBody>
          <a:bodyPr wrap="square" lIns="0" tIns="0" rIns="0" bIns="0" rtlCol="0"/>
          <a:lstStyle/>
          <a:p/>
        </p:txBody>
      </p:sp>
      <p:sp>
        <p:nvSpPr>
          <p:cNvPr id="2" name="Holder 2"/>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pPr marL="12700">
              <a:lnSpc>
                <a:spcPts val="1800"/>
              </a:lnSpc>
            </a:pPr>
            <a:r>
              <a:rPr spc="-45" dirty="0"/>
              <a:t>Powered</a:t>
            </a:r>
            <a:r>
              <a:rPr spc="-70" dirty="0"/>
              <a:t> </a:t>
            </a:r>
            <a:r>
              <a:rPr spc="-130" dirty="0"/>
              <a:t>By</a:t>
            </a:r>
            <a:r>
              <a:rPr spc="-10" dirty="0"/>
              <a:t> </a:t>
            </a:r>
            <a:r>
              <a:rPr spc="-65" dirty="0"/>
              <a:t>Tosea</a:t>
            </a:r>
            <a:r>
              <a:rPr sz="1700" spc="-65" dirty="0">
                <a:latin typeface="Tahoma" panose="020B0604030504040204"/>
                <a:cs typeface="Tahoma" panose="020B0604030504040204"/>
              </a:rPr>
              <a:t>.</a:t>
            </a:r>
            <a:r>
              <a:rPr spc="-65" dirty="0"/>
              <a:t>ai</a:t>
            </a:r>
            <a:endParaRPr sz="1700">
              <a:latin typeface="Tahoma" panose="020B0604030504040204"/>
              <a:cs typeface="Tahoma" panose="020B0604030504040204"/>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FAF9F6"/>
          </a:solidFill>
        </p:spPr>
        <p:txBody>
          <a:bodyPr wrap="square" lIns="0" tIns="0" rIns="0" bIns="0" rtlCol="0"/>
          <a:lstStyle/>
          <a:p/>
        </p:txBody>
      </p:sp>
      <p:sp>
        <p:nvSpPr>
          <p:cNvPr id="2" name="Holder 2"/>
          <p:cNvSpPr>
            <a:spLocks noGrp="1"/>
          </p:cNvSpPr>
          <p:nvPr>
            <p:ph type="title"/>
          </p:nvPr>
        </p:nvSpPr>
        <p:spPr>
          <a:xfrm>
            <a:off x="444500" y="380872"/>
            <a:ext cx="6139815" cy="490855"/>
          </a:xfrm>
          <a:prstGeom prst="rect">
            <a:avLst/>
          </a:prstGeom>
        </p:spPr>
        <p:txBody>
          <a:bodyPr wrap="square" lIns="0" tIns="0" rIns="0" bIns="0">
            <a:spAutoFit/>
          </a:bodyPr>
          <a:lstStyle>
            <a:lvl1pPr>
              <a:defRPr sz="3050" b="0" i="0">
                <a:solidFill>
                  <a:srgbClr val="111726"/>
                </a:solidFill>
                <a:latin typeface="宋体" panose="02010600030101010101" pitchFamily="2" charset="-122"/>
                <a:cs typeface="宋体" panose="02010600030101010101" pitchFamily="2" charset="-122"/>
              </a:defRPr>
            </a:lvl1pPr>
          </a:lstStyle>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9934226" y="6329758"/>
            <a:ext cx="1984375" cy="238125"/>
          </a:xfrm>
          <a:prstGeom prst="rect">
            <a:avLst/>
          </a:prstGeom>
        </p:spPr>
        <p:txBody>
          <a:bodyPr wrap="square" lIns="0" tIns="0" rIns="0" bIns="0">
            <a:spAutoFit/>
          </a:bodyPr>
          <a:lstStyle>
            <a:lvl1pPr>
              <a:defRPr sz="1650" b="1" i="0">
                <a:solidFill>
                  <a:schemeClr val="tx1"/>
                </a:solidFill>
                <a:latin typeface="Arial" panose="020B0604020202020204"/>
                <a:cs typeface="Arial" panose="020B0604020202020204"/>
              </a:defRPr>
            </a:lvl1pPr>
          </a:lstStyle>
          <a:p>
            <a:pPr marL="12700">
              <a:lnSpc>
                <a:spcPts val="1800"/>
              </a:lnSpc>
            </a:pPr>
            <a:r>
              <a:rPr spc="-45" dirty="0"/>
              <a:t>Powered</a:t>
            </a:r>
            <a:r>
              <a:rPr spc="-70" dirty="0"/>
              <a:t> </a:t>
            </a:r>
            <a:r>
              <a:rPr spc="-130" dirty="0"/>
              <a:t>By</a:t>
            </a:r>
            <a:r>
              <a:rPr spc="-10" dirty="0"/>
              <a:t> </a:t>
            </a:r>
            <a:r>
              <a:rPr spc="-65" dirty="0"/>
              <a:t>Tosea</a:t>
            </a:r>
            <a:r>
              <a:rPr sz="1700" spc="-65" dirty="0">
                <a:latin typeface="Tahoma" panose="020B0604030504040204"/>
                <a:cs typeface="Tahoma" panose="020B0604030504040204"/>
              </a:rPr>
              <a:t>.</a:t>
            </a:r>
            <a:r>
              <a:rPr spc="-65" dirty="0"/>
              <a:t>ai</a:t>
            </a:r>
            <a:endParaRPr sz="1700">
              <a:latin typeface="Tahoma" panose="020B0604030504040204"/>
              <a:cs typeface="Tahoma" panose="020B0604030504040204"/>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e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image" Target="../media/image2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23.jpeg"/><Relationship Id="rId1" Type="http://schemas.openxmlformats.org/officeDocument/2006/relationships/image" Target="../media/image22.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24.jpe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7374" y="939800"/>
            <a:ext cx="688975" cy="162560"/>
          </a:xfrm>
          <a:prstGeom prst="rect">
            <a:avLst/>
          </a:prstGeom>
        </p:spPr>
        <p:txBody>
          <a:bodyPr vert="horz" wrap="square" lIns="0" tIns="12700" rIns="0" bIns="0" rtlCol="0">
            <a:spAutoFit/>
          </a:bodyPr>
          <a:lstStyle/>
          <a:p>
            <a:pPr marL="12700">
              <a:lnSpc>
                <a:spcPct val="100000"/>
              </a:lnSpc>
              <a:spcBef>
                <a:spcPts val="100"/>
              </a:spcBef>
            </a:pPr>
            <a:r>
              <a:rPr sz="900" b="1" dirty="0">
                <a:solidFill>
                  <a:srgbClr val="5B8BA7"/>
                </a:solidFill>
                <a:latin typeface="Courier New" panose="02070309020205020404"/>
                <a:cs typeface="Courier New" panose="02070309020205020404"/>
              </a:rPr>
              <a:t>ICLR</a:t>
            </a:r>
            <a:r>
              <a:rPr sz="900" b="1" spc="215" dirty="0">
                <a:solidFill>
                  <a:srgbClr val="5B8BA7"/>
                </a:solidFill>
                <a:latin typeface="Courier New" panose="02070309020205020404"/>
                <a:cs typeface="Courier New" panose="02070309020205020404"/>
              </a:rPr>
              <a:t> </a:t>
            </a:r>
            <a:r>
              <a:rPr sz="900" b="1" spc="-20" dirty="0">
                <a:solidFill>
                  <a:srgbClr val="5B8BA7"/>
                </a:solidFill>
                <a:latin typeface="Courier New" panose="02070309020205020404"/>
                <a:cs typeface="Courier New" panose="02070309020205020404"/>
              </a:rPr>
              <a:t>2026</a:t>
            </a:r>
            <a:endParaRPr sz="900">
              <a:latin typeface="Courier New" panose="02070309020205020404"/>
              <a:cs typeface="Courier New" panose="02070309020205020404"/>
            </a:endParaRPr>
          </a:p>
        </p:txBody>
      </p:sp>
      <p:sp>
        <p:nvSpPr>
          <p:cNvPr id="3" name="object 3"/>
          <p:cNvSpPr/>
          <p:nvPr/>
        </p:nvSpPr>
        <p:spPr>
          <a:xfrm>
            <a:off x="1362074" y="1009649"/>
            <a:ext cx="57150" cy="57150"/>
          </a:xfrm>
          <a:custGeom>
            <a:avLst/>
            <a:gdLst/>
            <a:ahLst/>
            <a:cxnLst/>
            <a:rect l="l" t="t" r="r" b="b"/>
            <a:pathLst>
              <a:path w="57150" h="57150">
                <a:moveTo>
                  <a:pt x="32364" y="57149"/>
                </a:moveTo>
                <a:lnTo>
                  <a:pt x="24785" y="57149"/>
                </a:lnTo>
                <a:lnTo>
                  <a:pt x="21140" y="56424"/>
                </a:lnTo>
                <a:lnTo>
                  <a:pt x="0" y="32364"/>
                </a:lnTo>
                <a:lnTo>
                  <a:pt x="0" y="24785"/>
                </a:lnTo>
                <a:lnTo>
                  <a:pt x="24785" y="0"/>
                </a:lnTo>
                <a:lnTo>
                  <a:pt x="32364" y="0"/>
                </a:lnTo>
                <a:lnTo>
                  <a:pt x="57150" y="28574"/>
                </a:lnTo>
                <a:lnTo>
                  <a:pt x="57149" y="32364"/>
                </a:lnTo>
                <a:lnTo>
                  <a:pt x="32364" y="57149"/>
                </a:lnTo>
                <a:close/>
              </a:path>
            </a:pathLst>
          </a:custGeom>
          <a:solidFill>
            <a:srgbClr val="D4A573"/>
          </a:solidFill>
        </p:spPr>
        <p:txBody>
          <a:bodyPr wrap="square" lIns="0" tIns="0" rIns="0" bIns="0" rtlCol="0"/>
          <a:lstStyle/>
          <a:p/>
        </p:txBody>
      </p:sp>
      <p:sp>
        <p:nvSpPr>
          <p:cNvPr id="4" name="object 4"/>
          <p:cNvSpPr txBox="1"/>
          <p:nvPr/>
        </p:nvSpPr>
        <p:spPr>
          <a:xfrm>
            <a:off x="1503858" y="949325"/>
            <a:ext cx="2720975" cy="162560"/>
          </a:xfrm>
          <a:prstGeom prst="rect">
            <a:avLst/>
          </a:prstGeom>
        </p:spPr>
        <p:txBody>
          <a:bodyPr vert="horz" wrap="square" lIns="0" tIns="12700" rIns="0" bIns="0" rtlCol="0">
            <a:spAutoFit/>
          </a:bodyPr>
          <a:lstStyle/>
          <a:p>
            <a:pPr marL="12700">
              <a:lnSpc>
                <a:spcPct val="100000"/>
              </a:lnSpc>
              <a:spcBef>
                <a:spcPts val="100"/>
              </a:spcBef>
            </a:pPr>
            <a:r>
              <a:rPr sz="900" spc="-80" dirty="0">
                <a:solidFill>
                  <a:srgbClr val="4A4A4A"/>
                </a:solidFill>
                <a:latin typeface="宋体" panose="02010600030101010101" pitchFamily="2" charset="-122"/>
                <a:cs typeface="宋体" panose="02010600030101010101" pitchFamily="2" charset="-122"/>
              </a:rPr>
              <a:t>International</a:t>
            </a:r>
            <a:r>
              <a:rPr sz="900" spc="-114" dirty="0">
                <a:solidFill>
                  <a:srgbClr val="4A4A4A"/>
                </a:solidFill>
                <a:latin typeface="宋体" panose="02010600030101010101" pitchFamily="2" charset="-122"/>
                <a:cs typeface="宋体" panose="02010600030101010101" pitchFamily="2" charset="-122"/>
              </a:rPr>
              <a:t> </a:t>
            </a:r>
            <a:r>
              <a:rPr sz="900" spc="-10" dirty="0">
                <a:solidFill>
                  <a:srgbClr val="4A4A4A"/>
                </a:solidFill>
                <a:latin typeface="宋体" panose="02010600030101010101" pitchFamily="2" charset="-122"/>
                <a:cs typeface="宋体" panose="02010600030101010101" pitchFamily="2" charset="-122"/>
              </a:rPr>
              <a:t>Conference</a:t>
            </a:r>
            <a:r>
              <a:rPr sz="900" spc="-110" dirty="0">
                <a:solidFill>
                  <a:srgbClr val="4A4A4A"/>
                </a:solidFill>
                <a:latin typeface="宋体" panose="02010600030101010101" pitchFamily="2" charset="-122"/>
                <a:cs typeface="宋体" panose="02010600030101010101" pitchFamily="2" charset="-122"/>
              </a:rPr>
              <a:t> </a:t>
            </a:r>
            <a:r>
              <a:rPr sz="900" dirty="0">
                <a:solidFill>
                  <a:srgbClr val="4A4A4A"/>
                </a:solidFill>
                <a:latin typeface="宋体" panose="02010600030101010101" pitchFamily="2" charset="-122"/>
                <a:cs typeface="宋体" panose="02010600030101010101" pitchFamily="2" charset="-122"/>
              </a:rPr>
              <a:t>on</a:t>
            </a:r>
            <a:r>
              <a:rPr sz="900" spc="-110" dirty="0">
                <a:solidFill>
                  <a:srgbClr val="4A4A4A"/>
                </a:solidFill>
                <a:latin typeface="宋体" panose="02010600030101010101" pitchFamily="2" charset="-122"/>
                <a:cs typeface="宋体" panose="02010600030101010101" pitchFamily="2" charset="-122"/>
              </a:rPr>
              <a:t> </a:t>
            </a:r>
            <a:r>
              <a:rPr sz="900" spc="-45" dirty="0">
                <a:solidFill>
                  <a:srgbClr val="4A4A4A"/>
                </a:solidFill>
                <a:latin typeface="宋体" panose="02010600030101010101" pitchFamily="2" charset="-122"/>
                <a:cs typeface="宋体" panose="02010600030101010101" pitchFamily="2" charset="-122"/>
              </a:rPr>
              <a:t>Learning</a:t>
            </a:r>
            <a:r>
              <a:rPr sz="900" spc="-114" dirty="0">
                <a:solidFill>
                  <a:srgbClr val="4A4A4A"/>
                </a:solidFill>
                <a:latin typeface="宋体" panose="02010600030101010101" pitchFamily="2" charset="-122"/>
                <a:cs typeface="宋体" panose="02010600030101010101" pitchFamily="2" charset="-122"/>
              </a:rPr>
              <a:t> </a:t>
            </a:r>
            <a:r>
              <a:rPr sz="900" spc="-20" dirty="0">
                <a:solidFill>
                  <a:srgbClr val="4A4A4A"/>
                </a:solidFill>
                <a:latin typeface="宋体" panose="02010600030101010101" pitchFamily="2" charset="-122"/>
                <a:cs typeface="宋体" panose="02010600030101010101" pitchFamily="2" charset="-122"/>
              </a:rPr>
              <a:t>Representations</a:t>
            </a:r>
            <a:endParaRPr sz="900">
              <a:latin typeface="宋体" panose="02010600030101010101" pitchFamily="2" charset="-122"/>
              <a:cs typeface="宋体" panose="02010600030101010101" pitchFamily="2" charset="-122"/>
            </a:endParaRPr>
          </a:p>
        </p:txBody>
      </p:sp>
      <p:sp>
        <p:nvSpPr>
          <p:cNvPr id="5" name="object 5"/>
          <p:cNvSpPr txBox="1"/>
          <p:nvPr/>
        </p:nvSpPr>
        <p:spPr>
          <a:xfrm>
            <a:off x="444500" y="1305194"/>
            <a:ext cx="5547995" cy="1609090"/>
          </a:xfrm>
          <a:prstGeom prst="rect">
            <a:avLst/>
          </a:prstGeom>
        </p:spPr>
        <p:txBody>
          <a:bodyPr vert="horz" wrap="square" lIns="0" tIns="119380" rIns="0" bIns="0" rtlCol="0">
            <a:spAutoFit/>
          </a:bodyPr>
          <a:lstStyle/>
          <a:p>
            <a:pPr marL="12700" marR="5080">
              <a:lnSpc>
                <a:spcPts val="3600"/>
              </a:lnSpc>
              <a:spcBef>
                <a:spcPts val="940"/>
              </a:spcBef>
            </a:pPr>
            <a:r>
              <a:rPr sz="3700" spc="-140" dirty="0">
                <a:solidFill>
                  <a:srgbClr val="1A1A1A"/>
                </a:solidFill>
                <a:latin typeface="Calibri" panose="020F0502020204030204"/>
                <a:cs typeface="Calibri" panose="020F0502020204030204"/>
              </a:rPr>
              <a:t>Tackling</a:t>
            </a:r>
            <a:r>
              <a:rPr sz="3700" spc="-270" dirty="0">
                <a:solidFill>
                  <a:srgbClr val="1A1A1A"/>
                </a:solidFill>
                <a:latin typeface="Calibri" panose="020F0502020204030204"/>
                <a:cs typeface="Calibri" panose="020F0502020204030204"/>
              </a:rPr>
              <a:t> </a:t>
            </a:r>
            <a:r>
              <a:rPr sz="3700" spc="-130" dirty="0">
                <a:solidFill>
                  <a:srgbClr val="1A1A1A"/>
                </a:solidFill>
                <a:latin typeface="Calibri" panose="020F0502020204030204"/>
                <a:cs typeface="Calibri" panose="020F0502020204030204"/>
              </a:rPr>
              <a:t>Time-</a:t>
            </a:r>
            <a:r>
              <a:rPr sz="3700" spc="-204" dirty="0">
                <a:solidFill>
                  <a:srgbClr val="1A1A1A"/>
                </a:solidFill>
                <a:latin typeface="Calibri" panose="020F0502020204030204"/>
                <a:cs typeface="Calibri" panose="020F0502020204030204"/>
              </a:rPr>
              <a:t>Series</a:t>
            </a:r>
            <a:r>
              <a:rPr sz="3700" spc="-250" dirty="0">
                <a:solidFill>
                  <a:srgbClr val="1A1A1A"/>
                </a:solidFill>
                <a:latin typeface="Calibri" panose="020F0502020204030204"/>
                <a:cs typeface="Calibri" panose="020F0502020204030204"/>
              </a:rPr>
              <a:t> </a:t>
            </a:r>
            <a:r>
              <a:rPr sz="3700" spc="-170" dirty="0">
                <a:solidFill>
                  <a:srgbClr val="1A1A1A"/>
                </a:solidFill>
                <a:latin typeface="Calibri" panose="020F0502020204030204"/>
                <a:cs typeface="Calibri" panose="020F0502020204030204"/>
              </a:rPr>
              <a:t>Forecasting </a:t>
            </a:r>
            <a:r>
              <a:rPr sz="3700" spc="-110" dirty="0">
                <a:solidFill>
                  <a:srgbClr val="1A1A1A"/>
                </a:solidFill>
                <a:latin typeface="Calibri" panose="020F0502020204030204"/>
                <a:cs typeface="Calibri" panose="020F0502020204030204"/>
              </a:rPr>
              <a:t>Generalization</a:t>
            </a:r>
            <a:endParaRPr sz="3700">
              <a:latin typeface="Calibri" panose="020F0502020204030204"/>
              <a:cs typeface="Calibri" panose="020F0502020204030204"/>
            </a:endParaRPr>
          </a:p>
          <a:p>
            <a:pPr marL="12700">
              <a:lnSpc>
                <a:spcPct val="100000"/>
              </a:lnSpc>
              <a:spcBef>
                <a:spcPts val="105"/>
              </a:spcBef>
            </a:pPr>
            <a:r>
              <a:rPr sz="3600" i="1" spc="-75" dirty="0">
                <a:solidFill>
                  <a:srgbClr val="5B8BA7"/>
                </a:solidFill>
                <a:latin typeface="Times New Roman" panose="02020603050405020304"/>
                <a:cs typeface="Times New Roman" panose="02020603050405020304"/>
              </a:rPr>
              <a:t>via</a:t>
            </a:r>
            <a:r>
              <a:rPr sz="3600" i="1" spc="-160" dirty="0">
                <a:solidFill>
                  <a:srgbClr val="5B8BA7"/>
                </a:solidFill>
                <a:latin typeface="Times New Roman" panose="02020603050405020304"/>
                <a:cs typeface="Times New Roman" panose="02020603050405020304"/>
              </a:rPr>
              <a:t> </a:t>
            </a:r>
            <a:r>
              <a:rPr sz="3600" i="1" spc="-85" dirty="0">
                <a:solidFill>
                  <a:srgbClr val="5B8BA7"/>
                </a:solidFill>
                <a:latin typeface="Times New Roman" panose="02020603050405020304"/>
                <a:cs typeface="Times New Roman" panose="02020603050405020304"/>
              </a:rPr>
              <a:t>Mitigating</a:t>
            </a:r>
            <a:r>
              <a:rPr sz="3600" i="1" spc="-160" dirty="0">
                <a:solidFill>
                  <a:srgbClr val="5B8BA7"/>
                </a:solidFill>
                <a:latin typeface="Times New Roman" panose="02020603050405020304"/>
                <a:cs typeface="Times New Roman" panose="02020603050405020304"/>
              </a:rPr>
              <a:t> </a:t>
            </a:r>
            <a:r>
              <a:rPr sz="3600" i="1" spc="-85" dirty="0">
                <a:solidFill>
                  <a:srgbClr val="5B8BA7"/>
                </a:solidFill>
                <a:latin typeface="Times New Roman" panose="02020603050405020304"/>
                <a:cs typeface="Times New Roman" panose="02020603050405020304"/>
              </a:rPr>
              <a:t>Concept</a:t>
            </a:r>
            <a:r>
              <a:rPr sz="3600" i="1" spc="-160" dirty="0">
                <a:solidFill>
                  <a:srgbClr val="5B8BA7"/>
                </a:solidFill>
                <a:latin typeface="Times New Roman" panose="02020603050405020304"/>
                <a:cs typeface="Times New Roman" panose="02020603050405020304"/>
              </a:rPr>
              <a:t> </a:t>
            </a:r>
            <a:r>
              <a:rPr sz="3600" i="1" spc="-10" dirty="0">
                <a:solidFill>
                  <a:srgbClr val="5B8BA7"/>
                </a:solidFill>
                <a:latin typeface="Times New Roman" panose="02020603050405020304"/>
                <a:cs typeface="Times New Roman" panose="02020603050405020304"/>
              </a:rPr>
              <a:t>Drift</a:t>
            </a:r>
            <a:endParaRPr sz="3600">
              <a:latin typeface="Times New Roman" panose="02020603050405020304"/>
              <a:cs typeface="Times New Roman" panose="02020603050405020304"/>
            </a:endParaRPr>
          </a:p>
        </p:txBody>
      </p:sp>
      <p:sp>
        <p:nvSpPr>
          <p:cNvPr id="6" name="object 6"/>
          <p:cNvSpPr/>
          <p:nvPr/>
        </p:nvSpPr>
        <p:spPr>
          <a:xfrm>
            <a:off x="457199" y="5010149"/>
            <a:ext cx="6267450" cy="9525"/>
          </a:xfrm>
          <a:custGeom>
            <a:avLst/>
            <a:gdLst/>
            <a:ahLst/>
            <a:cxnLst/>
            <a:rect l="l" t="t" r="r" b="b"/>
            <a:pathLst>
              <a:path w="6267450" h="9525">
                <a:moveTo>
                  <a:pt x="6267449" y="9524"/>
                </a:moveTo>
                <a:lnTo>
                  <a:pt x="0" y="9524"/>
                </a:lnTo>
                <a:lnTo>
                  <a:pt x="0" y="0"/>
                </a:lnTo>
                <a:lnTo>
                  <a:pt x="6267449" y="0"/>
                </a:lnTo>
                <a:lnTo>
                  <a:pt x="6267449" y="9524"/>
                </a:lnTo>
                <a:close/>
              </a:path>
            </a:pathLst>
          </a:custGeom>
          <a:solidFill>
            <a:srgbClr val="E4E4E4"/>
          </a:solidFill>
        </p:spPr>
        <p:txBody>
          <a:bodyPr wrap="square" lIns="0" tIns="0" rIns="0" bIns="0" rtlCol="0"/>
          <a:lstStyle/>
          <a:p/>
        </p:txBody>
      </p:sp>
      <p:sp>
        <p:nvSpPr>
          <p:cNvPr id="7" name="object 7"/>
          <p:cNvSpPr txBox="1"/>
          <p:nvPr/>
        </p:nvSpPr>
        <p:spPr>
          <a:xfrm>
            <a:off x="444500" y="5197475"/>
            <a:ext cx="2350135" cy="139700"/>
          </a:xfrm>
          <a:prstGeom prst="rect">
            <a:avLst/>
          </a:prstGeom>
        </p:spPr>
        <p:txBody>
          <a:bodyPr vert="horz" wrap="square" lIns="0" tIns="12700" rIns="0" bIns="0" rtlCol="0">
            <a:spAutoFit/>
          </a:bodyPr>
          <a:lstStyle/>
          <a:p>
            <a:pPr marL="12700">
              <a:lnSpc>
                <a:spcPct val="100000"/>
              </a:lnSpc>
              <a:spcBef>
                <a:spcPts val="100"/>
              </a:spcBef>
            </a:pPr>
            <a:r>
              <a:rPr sz="750" spc="60" dirty="0">
                <a:solidFill>
                  <a:srgbClr val="6A6A6A"/>
                </a:solidFill>
                <a:latin typeface="Courier New" panose="02070309020205020404"/>
                <a:cs typeface="Courier New" panose="02070309020205020404"/>
              </a:rPr>
              <a:t>AUTHORS</a:t>
            </a:r>
            <a:r>
              <a:rPr sz="750" spc="165" dirty="0">
                <a:solidFill>
                  <a:srgbClr val="6A6A6A"/>
                </a:solidFill>
                <a:latin typeface="Courier New" panose="02070309020205020404"/>
                <a:cs typeface="Courier New" panose="02070309020205020404"/>
              </a:rPr>
              <a:t> </a:t>
            </a:r>
            <a:r>
              <a:rPr sz="750" dirty="0">
                <a:solidFill>
                  <a:srgbClr val="6A6A6A"/>
                </a:solidFill>
                <a:latin typeface="Courier New" panose="02070309020205020404"/>
                <a:cs typeface="Courier New" panose="02070309020205020404"/>
              </a:rPr>
              <a:t>&amp;</a:t>
            </a:r>
            <a:r>
              <a:rPr sz="750" spc="165" dirty="0">
                <a:solidFill>
                  <a:srgbClr val="6A6A6A"/>
                </a:solidFill>
                <a:latin typeface="Courier New" panose="02070309020205020404"/>
                <a:cs typeface="Courier New" panose="02070309020205020404"/>
              </a:rPr>
              <a:t> </a:t>
            </a:r>
            <a:r>
              <a:rPr sz="750" spc="65" dirty="0">
                <a:solidFill>
                  <a:srgbClr val="6A6A6A"/>
                </a:solidFill>
                <a:latin typeface="Courier New" panose="02070309020205020404"/>
                <a:cs typeface="Courier New" panose="02070309020205020404"/>
              </a:rPr>
              <a:t>AFFILIATION</a:t>
            </a:r>
            <a:r>
              <a:rPr sz="750" spc="110" dirty="0">
                <a:solidFill>
                  <a:srgbClr val="6A6A6A"/>
                </a:solidFill>
                <a:latin typeface="Courier New" panose="02070309020205020404"/>
                <a:cs typeface="Courier New" panose="02070309020205020404"/>
              </a:rPr>
              <a:t> / </a:t>
            </a:r>
            <a:r>
              <a:rPr sz="750" spc="55" dirty="0">
                <a:solidFill>
                  <a:srgbClr val="6A6A6A"/>
                </a:solidFill>
                <a:latin typeface="宋体" panose="02010600030101010101" pitchFamily="2" charset="-122"/>
                <a:cs typeface="宋体" panose="02010600030101010101" pitchFamily="2" charset="-122"/>
              </a:rPr>
              <a:t>作者与机构信息</a:t>
            </a:r>
            <a:endParaRPr sz="750">
              <a:latin typeface="宋体" panose="02010600030101010101" pitchFamily="2" charset="-122"/>
              <a:cs typeface="宋体" panose="02010600030101010101" pitchFamily="2" charset="-122"/>
            </a:endParaRPr>
          </a:p>
        </p:txBody>
      </p:sp>
      <p:pic>
        <p:nvPicPr>
          <p:cNvPr id="8" name="object 8"/>
          <p:cNvPicPr/>
          <p:nvPr/>
        </p:nvPicPr>
        <p:blipFill>
          <a:blip r:embed="rId1" cstate="print"/>
          <a:stretch>
            <a:fillRect/>
          </a:stretch>
        </p:blipFill>
        <p:spPr>
          <a:xfrm>
            <a:off x="476250" y="5805487"/>
            <a:ext cx="114300" cy="123825"/>
          </a:xfrm>
          <a:prstGeom prst="rect">
            <a:avLst/>
          </a:prstGeom>
        </p:spPr>
      </p:pic>
      <p:sp>
        <p:nvSpPr>
          <p:cNvPr id="9" name="object 9"/>
          <p:cNvSpPr txBox="1"/>
          <p:nvPr/>
        </p:nvSpPr>
        <p:spPr>
          <a:xfrm>
            <a:off x="444500" y="5367020"/>
            <a:ext cx="3089275" cy="568325"/>
          </a:xfrm>
          <a:prstGeom prst="rect">
            <a:avLst/>
          </a:prstGeom>
        </p:spPr>
        <p:txBody>
          <a:bodyPr vert="horz" wrap="square" lIns="0" tIns="119380" rIns="0" bIns="0" rtlCol="0">
            <a:spAutoFit/>
          </a:bodyPr>
          <a:lstStyle/>
          <a:p>
            <a:pPr marL="12700">
              <a:lnSpc>
                <a:spcPct val="100000"/>
              </a:lnSpc>
              <a:spcBef>
                <a:spcPts val="940"/>
              </a:spcBef>
            </a:pPr>
            <a:r>
              <a:rPr sz="1200" spc="-30" dirty="0">
                <a:solidFill>
                  <a:srgbClr val="1A1A1A"/>
                </a:solidFill>
                <a:latin typeface="宋体" panose="02010600030101010101" pitchFamily="2" charset="-122"/>
                <a:cs typeface="宋体" panose="02010600030101010101" pitchFamily="2" charset="-122"/>
              </a:rPr>
              <a:t>Zhiyuan</a:t>
            </a:r>
            <a:r>
              <a:rPr sz="1200" spc="-220" dirty="0">
                <a:solidFill>
                  <a:srgbClr val="1A1A1A"/>
                </a:solidFill>
                <a:latin typeface="宋体" panose="02010600030101010101" pitchFamily="2" charset="-122"/>
                <a:cs typeface="宋体" panose="02010600030101010101" pitchFamily="2" charset="-122"/>
              </a:rPr>
              <a:t> </a:t>
            </a:r>
            <a:r>
              <a:rPr sz="1200" spc="-20" dirty="0">
                <a:solidFill>
                  <a:srgbClr val="1A1A1A"/>
                </a:solidFill>
                <a:latin typeface="宋体" panose="02010600030101010101" pitchFamily="2" charset="-122"/>
                <a:cs typeface="宋体" panose="02010600030101010101" pitchFamily="2" charset="-122"/>
              </a:rPr>
              <a:t>Zhao,</a:t>
            </a:r>
            <a:r>
              <a:rPr sz="1200" spc="-215" dirty="0">
                <a:solidFill>
                  <a:srgbClr val="1A1A1A"/>
                </a:solidFill>
                <a:latin typeface="宋体" panose="02010600030101010101" pitchFamily="2" charset="-122"/>
                <a:cs typeface="宋体" panose="02010600030101010101" pitchFamily="2" charset="-122"/>
              </a:rPr>
              <a:t> </a:t>
            </a:r>
            <a:r>
              <a:rPr sz="1200" spc="-20" dirty="0">
                <a:solidFill>
                  <a:srgbClr val="1A1A1A"/>
                </a:solidFill>
                <a:latin typeface="宋体" panose="02010600030101010101" pitchFamily="2" charset="-122"/>
                <a:cs typeface="宋体" panose="02010600030101010101" pitchFamily="2" charset="-122"/>
              </a:rPr>
              <a:t>Haoxin</a:t>
            </a:r>
            <a:r>
              <a:rPr sz="1200" spc="-215" dirty="0">
                <a:solidFill>
                  <a:srgbClr val="1A1A1A"/>
                </a:solidFill>
                <a:latin typeface="宋体" panose="02010600030101010101" pitchFamily="2" charset="-122"/>
                <a:cs typeface="宋体" panose="02010600030101010101" pitchFamily="2" charset="-122"/>
              </a:rPr>
              <a:t> </a:t>
            </a:r>
            <a:r>
              <a:rPr sz="1200" spc="-140" dirty="0">
                <a:solidFill>
                  <a:srgbClr val="1A1A1A"/>
                </a:solidFill>
                <a:latin typeface="宋体" panose="02010600030101010101" pitchFamily="2" charset="-122"/>
                <a:cs typeface="宋体" panose="02010600030101010101" pitchFamily="2" charset="-122"/>
              </a:rPr>
              <a:t>Liu,</a:t>
            </a:r>
            <a:r>
              <a:rPr sz="1200" spc="-215" dirty="0">
                <a:solidFill>
                  <a:srgbClr val="1A1A1A"/>
                </a:solidFill>
                <a:latin typeface="宋体" panose="02010600030101010101" pitchFamily="2" charset="-122"/>
                <a:cs typeface="宋体" panose="02010600030101010101" pitchFamily="2" charset="-122"/>
              </a:rPr>
              <a:t> </a:t>
            </a:r>
            <a:r>
              <a:rPr sz="1200" spc="-60" dirty="0">
                <a:solidFill>
                  <a:srgbClr val="1A1A1A"/>
                </a:solidFill>
                <a:latin typeface="宋体" panose="02010600030101010101" pitchFamily="2" charset="-122"/>
                <a:cs typeface="宋体" panose="02010600030101010101" pitchFamily="2" charset="-122"/>
              </a:rPr>
              <a:t>B.</a:t>
            </a:r>
            <a:r>
              <a:rPr sz="1200" spc="-215" dirty="0">
                <a:solidFill>
                  <a:srgbClr val="1A1A1A"/>
                </a:solidFill>
                <a:latin typeface="宋体" panose="02010600030101010101" pitchFamily="2" charset="-122"/>
                <a:cs typeface="宋体" panose="02010600030101010101" pitchFamily="2" charset="-122"/>
              </a:rPr>
              <a:t> </a:t>
            </a:r>
            <a:r>
              <a:rPr sz="1200" spc="-85" dirty="0">
                <a:solidFill>
                  <a:srgbClr val="1A1A1A"/>
                </a:solidFill>
                <a:latin typeface="宋体" panose="02010600030101010101" pitchFamily="2" charset="-122"/>
                <a:cs typeface="宋体" panose="02010600030101010101" pitchFamily="2" charset="-122"/>
              </a:rPr>
              <a:t>Aditya</a:t>
            </a:r>
            <a:r>
              <a:rPr sz="1200" spc="-220" dirty="0">
                <a:solidFill>
                  <a:srgbClr val="1A1A1A"/>
                </a:solidFill>
                <a:latin typeface="宋体" panose="02010600030101010101" pitchFamily="2" charset="-122"/>
                <a:cs typeface="宋体" panose="02010600030101010101" pitchFamily="2" charset="-122"/>
              </a:rPr>
              <a:t> </a:t>
            </a:r>
            <a:r>
              <a:rPr sz="1200" spc="-10" dirty="0">
                <a:solidFill>
                  <a:srgbClr val="1A1A1A"/>
                </a:solidFill>
                <a:latin typeface="宋体" panose="02010600030101010101" pitchFamily="2" charset="-122"/>
                <a:cs typeface="宋体" panose="02010600030101010101" pitchFamily="2" charset="-122"/>
              </a:rPr>
              <a:t>Prakash</a:t>
            </a:r>
            <a:endParaRPr sz="1200">
              <a:latin typeface="宋体" panose="02010600030101010101" pitchFamily="2" charset="-122"/>
              <a:cs typeface="宋体" panose="02010600030101010101" pitchFamily="2" charset="-122"/>
            </a:endParaRPr>
          </a:p>
          <a:p>
            <a:pPr marL="221615">
              <a:lnSpc>
                <a:spcPct val="100000"/>
              </a:lnSpc>
              <a:spcBef>
                <a:spcPts val="735"/>
              </a:spcBef>
            </a:pPr>
            <a:r>
              <a:rPr sz="1050" spc="-25" dirty="0">
                <a:solidFill>
                  <a:srgbClr val="4A4A4A"/>
                </a:solidFill>
                <a:latin typeface="宋体" panose="02010600030101010101" pitchFamily="2" charset="-122"/>
                <a:cs typeface="宋体" panose="02010600030101010101" pitchFamily="2" charset="-122"/>
              </a:rPr>
              <a:t>佐治亚理工学院 </a:t>
            </a:r>
            <a:r>
              <a:rPr sz="1050" spc="-60" dirty="0">
                <a:solidFill>
                  <a:srgbClr val="4A4A4A"/>
                </a:solidFill>
                <a:latin typeface="宋体" panose="02010600030101010101" pitchFamily="2" charset="-122"/>
                <a:cs typeface="宋体" panose="02010600030101010101" pitchFamily="2" charset="-122"/>
              </a:rPr>
              <a:t>(Georgia</a:t>
            </a:r>
            <a:r>
              <a:rPr sz="1050" spc="-175" dirty="0">
                <a:solidFill>
                  <a:srgbClr val="4A4A4A"/>
                </a:solidFill>
                <a:latin typeface="宋体" panose="02010600030101010101" pitchFamily="2" charset="-122"/>
                <a:cs typeface="宋体" panose="02010600030101010101" pitchFamily="2" charset="-122"/>
              </a:rPr>
              <a:t> </a:t>
            </a:r>
            <a:r>
              <a:rPr sz="1050" spc="-120" dirty="0">
                <a:solidFill>
                  <a:srgbClr val="4A4A4A"/>
                </a:solidFill>
                <a:latin typeface="宋体" panose="02010600030101010101" pitchFamily="2" charset="-122"/>
                <a:cs typeface="宋体" panose="02010600030101010101" pitchFamily="2" charset="-122"/>
              </a:rPr>
              <a:t>Institute</a:t>
            </a:r>
            <a:r>
              <a:rPr sz="1050" spc="-175" dirty="0">
                <a:solidFill>
                  <a:srgbClr val="4A4A4A"/>
                </a:solidFill>
                <a:latin typeface="宋体" panose="02010600030101010101" pitchFamily="2" charset="-122"/>
                <a:cs typeface="宋体" panose="02010600030101010101" pitchFamily="2" charset="-122"/>
              </a:rPr>
              <a:t> </a:t>
            </a:r>
            <a:r>
              <a:rPr sz="1050" spc="-95" dirty="0">
                <a:solidFill>
                  <a:srgbClr val="4A4A4A"/>
                </a:solidFill>
                <a:latin typeface="宋体" panose="02010600030101010101" pitchFamily="2" charset="-122"/>
                <a:cs typeface="宋体" panose="02010600030101010101" pitchFamily="2" charset="-122"/>
              </a:rPr>
              <a:t>of</a:t>
            </a:r>
            <a:r>
              <a:rPr sz="1050" spc="-175" dirty="0">
                <a:solidFill>
                  <a:srgbClr val="4A4A4A"/>
                </a:solidFill>
                <a:latin typeface="宋体" panose="02010600030101010101" pitchFamily="2" charset="-122"/>
                <a:cs typeface="宋体" panose="02010600030101010101" pitchFamily="2" charset="-122"/>
              </a:rPr>
              <a:t> </a:t>
            </a:r>
            <a:r>
              <a:rPr sz="1050" spc="-25" dirty="0">
                <a:solidFill>
                  <a:srgbClr val="4A4A4A"/>
                </a:solidFill>
                <a:latin typeface="宋体" panose="02010600030101010101" pitchFamily="2" charset="-122"/>
                <a:cs typeface="宋体" panose="02010600030101010101" pitchFamily="2" charset="-122"/>
              </a:rPr>
              <a:t>Technology)</a:t>
            </a:r>
            <a:endParaRPr sz="1050">
              <a:latin typeface="宋体" panose="02010600030101010101" pitchFamily="2" charset="-122"/>
              <a:cs typeface="宋体" panose="02010600030101010101" pitchFamily="2" charset="-122"/>
            </a:endParaRPr>
          </a:p>
        </p:txBody>
      </p:sp>
      <p:grpSp>
        <p:nvGrpSpPr>
          <p:cNvPr id="10" name="object 10"/>
          <p:cNvGrpSpPr/>
          <p:nvPr/>
        </p:nvGrpSpPr>
        <p:grpSpPr>
          <a:xfrm>
            <a:off x="7258050" y="1143000"/>
            <a:ext cx="4476750" cy="4572000"/>
            <a:chOff x="7258050" y="1143000"/>
            <a:chExt cx="4476750" cy="4572000"/>
          </a:xfrm>
        </p:grpSpPr>
        <p:sp>
          <p:nvSpPr>
            <p:cNvPr id="11" name="object 11"/>
            <p:cNvSpPr/>
            <p:nvPr/>
          </p:nvSpPr>
          <p:spPr>
            <a:xfrm>
              <a:off x="7262812" y="1147762"/>
              <a:ext cx="4467225" cy="4562475"/>
            </a:xfrm>
            <a:custGeom>
              <a:avLst/>
              <a:gdLst/>
              <a:ahLst/>
              <a:cxnLst/>
              <a:rect l="l" t="t" r="r" b="b"/>
              <a:pathLst>
                <a:path w="4467225" h="4562475">
                  <a:moveTo>
                    <a:pt x="4319587" y="4562474"/>
                  </a:moveTo>
                  <a:lnTo>
                    <a:pt x="147637" y="4562474"/>
                  </a:lnTo>
                  <a:lnTo>
                    <a:pt x="140384" y="4562297"/>
                  </a:lnTo>
                  <a:lnTo>
                    <a:pt x="97907" y="4553847"/>
                  </a:lnTo>
                  <a:lnTo>
                    <a:pt x="59682" y="4533416"/>
                  </a:lnTo>
                  <a:lnTo>
                    <a:pt x="29058" y="4502792"/>
                  </a:lnTo>
                  <a:lnTo>
                    <a:pt x="8626" y="4464566"/>
                  </a:lnTo>
                  <a:lnTo>
                    <a:pt x="177" y="4422090"/>
                  </a:lnTo>
                  <a:lnTo>
                    <a:pt x="0" y="4414837"/>
                  </a:lnTo>
                  <a:lnTo>
                    <a:pt x="0" y="147637"/>
                  </a:lnTo>
                  <a:lnTo>
                    <a:pt x="6355" y="104780"/>
                  </a:lnTo>
                  <a:lnTo>
                    <a:pt x="24881" y="65614"/>
                  </a:lnTo>
                  <a:lnTo>
                    <a:pt x="53976" y="33510"/>
                  </a:lnTo>
                  <a:lnTo>
                    <a:pt x="91139" y="11238"/>
                  </a:lnTo>
                  <a:lnTo>
                    <a:pt x="133166" y="709"/>
                  </a:lnTo>
                  <a:lnTo>
                    <a:pt x="147637" y="0"/>
                  </a:lnTo>
                  <a:lnTo>
                    <a:pt x="4319587" y="0"/>
                  </a:lnTo>
                  <a:lnTo>
                    <a:pt x="4362444" y="6355"/>
                  </a:lnTo>
                  <a:lnTo>
                    <a:pt x="4401609" y="24881"/>
                  </a:lnTo>
                  <a:lnTo>
                    <a:pt x="4433713" y="53976"/>
                  </a:lnTo>
                  <a:lnTo>
                    <a:pt x="4455985" y="91139"/>
                  </a:lnTo>
                  <a:lnTo>
                    <a:pt x="4466515" y="133166"/>
                  </a:lnTo>
                  <a:lnTo>
                    <a:pt x="4467224" y="147637"/>
                  </a:lnTo>
                  <a:lnTo>
                    <a:pt x="4467224" y="4414837"/>
                  </a:lnTo>
                  <a:lnTo>
                    <a:pt x="4460868" y="4457694"/>
                  </a:lnTo>
                  <a:lnTo>
                    <a:pt x="4442342" y="4496860"/>
                  </a:lnTo>
                  <a:lnTo>
                    <a:pt x="4413247" y="4528963"/>
                  </a:lnTo>
                  <a:lnTo>
                    <a:pt x="4376085" y="4551236"/>
                  </a:lnTo>
                  <a:lnTo>
                    <a:pt x="4334058" y="4561765"/>
                  </a:lnTo>
                  <a:lnTo>
                    <a:pt x="4319587" y="4562474"/>
                  </a:lnTo>
                  <a:close/>
                </a:path>
              </a:pathLst>
            </a:custGeom>
            <a:solidFill>
              <a:srgbClr val="FFFFFF"/>
            </a:solidFill>
          </p:spPr>
          <p:txBody>
            <a:bodyPr wrap="square" lIns="0" tIns="0" rIns="0" bIns="0" rtlCol="0"/>
            <a:lstStyle/>
            <a:p/>
          </p:txBody>
        </p:sp>
        <p:sp>
          <p:nvSpPr>
            <p:cNvPr id="12" name="object 12"/>
            <p:cNvSpPr/>
            <p:nvPr/>
          </p:nvSpPr>
          <p:spPr>
            <a:xfrm>
              <a:off x="7262812" y="1147762"/>
              <a:ext cx="4467225" cy="4562475"/>
            </a:xfrm>
            <a:custGeom>
              <a:avLst/>
              <a:gdLst/>
              <a:ahLst/>
              <a:cxnLst/>
              <a:rect l="l" t="t" r="r" b="b"/>
              <a:pathLst>
                <a:path w="4467225" h="4562475">
                  <a:moveTo>
                    <a:pt x="0" y="4414837"/>
                  </a:moveTo>
                  <a:lnTo>
                    <a:pt x="0" y="147637"/>
                  </a:lnTo>
                  <a:lnTo>
                    <a:pt x="177" y="140384"/>
                  </a:lnTo>
                  <a:lnTo>
                    <a:pt x="8626" y="97907"/>
                  </a:lnTo>
                  <a:lnTo>
                    <a:pt x="29058" y="59682"/>
                  </a:lnTo>
                  <a:lnTo>
                    <a:pt x="59682" y="29058"/>
                  </a:lnTo>
                  <a:lnTo>
                    <a:pt x="97907" y="8626"/>
                  </a:lnTo>
                  <a:lnTo>
                    <a:pt x="140384" y="177"/>
                  </a:lnTo>
                  <a:lnTo>
                    <a:pt x="147637" y="0"/>
                  </a:lnTo>
                  <a:lnTo>
                    <a:pt x="4319587" y="0"/>
                  </a:lnTo>
                  <a:lnTo>
                    <a:pt x="4362444" y="6355"/>
                  </a:lnTo>
                  <a:lnTo>
                    <a:pt x="4401609" y="24881"/>
                  </a:lnTo>
                  <a:lnTo>
                    <a:pt x="4433713" y="53976"/>
                  </a:lnTo>
                  <a:lnTo>
                    <a:pt x="4455985" y="91139"/>
                  </a:lnTo>
                  <a:lnTo>
                    <a:pt x="4466515" y="133166"/>
                  </a:lnTo>
                  <a:lnTo>
                    <a:pt x="4467224" y="147637"/>
                  </a:lnTo>
                  <a:lnTo>
                    <a:pt x="4467224" y="4414837"/>
                  </a:lnTo>
                  <a:lnTo>
                    <a:pt x="4460868" y="4457694"/>
                  </a:lnTo>
                  <a:lnTo>
                    <a:pt x="4442342" y="4496860"/>
                  </a:lnTo>
                  <a:lnTo>
                    <a:pt x="4413247" y="4528963"/>
                  </a:lnTo>
                  <a:lnTo>
                    <a:pt x="4376085" y="4551236"/>
                  </a:lnTo>
                  <a:lnTo>
                    <a:pt x="4334058" y="4561765"/>
                  </a:lnTo>
                  <a:lnTo>
                    <a:pt x="4319587" y="4562474"/>
                  </a:lnTo>
                  <a:lnTo>
                    <a:pt x="147637" y="4562474"/>
                  </a:lnTo>
                  <a:lnTo>
                    <a:pt x="104780" y="4556118"/>
                  </a:lnTo>
                  <a:lnTo>
                    <a:pt x="65614" y="4537593"/>
                  </a:lnTo>
                  <a:lnTo>
                    <a:pt x="33510" y="4508498"/>
                  </a:lnTo>
                  <a:lnTo>
                    <a:pt x="11238" y="4471335"/>
                  </a:lnTo>
                  <a:lnTo>
                    <a:pt x="709" y="4429308"/>
                  </a:lnTo>
                  <a:lnTo>
                    <a:pt x="0" y="4414837"/>
                  </a:lnTo>
                  <a:close/>
                </a:path>
              </a:pathLst>
            </a:custGeom>
            <a:ln w="9524">
              <a:solidFill>
                <a:srgbClr val="E4E4E4"/>
              </a:solidFill>
            </a:ln>
          </p:spPr>
          <p:txBody>
            <a:bodyPr wrap="square" lIns="0" tIns="0" rIns="0" bIns="0" rtlCol="0"/>
            <a:lstStyle/>
            <a:p/>
          </p:txBody>
        </p:sp>
        <p:sp>
          <p:nvSpPr>
            <p:cNvPr id="13" name="object 13"/>
            <p:cNvSpPr/>
            <p:nvPr/>
          </p:nvSpPr>
          <p:spPr>
            <a:xfrm>
              <a:off x="7496174" y="1685924"/>
              <a:ext cx="4000500" cy="9525"/>
            </a:xfrm>
            <a:custGeom>
              <a:avLst/>
              <a:gdLst/>
              <a:ahLst/>
              <a:cxnLst/>
              <a:rect l="l" t="t" r="r" b="b"/>
              <a:pathLst>
                <a:path w="4000500" h="9525">
                  <a:moveTo>
                    <a:pt x="4000499" y="9524"/>
                  </a:moveTo>
                  <a:lnTo>
                    <a:pt x="0" y="9524"/>
                  </a:lnTo>
                  <a:lnTo>
                    <a:pt x="0" y="0"/>
                  </a:lnTo>
                  <a:lnTo>
                    <a:pt x="4000499" y="0"/>
                  </a:lnTo>
                  <a:lnTo>
                    <a:pt x="4000499" y="9524"/>
                  </a:lnTo>
                  <a:close/>
                </a:path>
              </a:pathLst>
            </a:custGeom>
            <a:solidFill>
              <a:srgbClr val="EFEFEF"/>
            </a:solidFill>
          </p:spPr>
          <p:txBody>
            <a:bodyPr wrap="square" lIns="0" tIns="0" rIns="0" bIns="0" rtlCol="0"/>
            <a:lstStyle/>
            <a:p/>
          </p:txBody>
        </p:sp>
        <p:pic>
          <p:nvPicPr>
            <p:cNvPr id="14" name="object 14"/>
            <p:cNvPicPr/>
            <p:nvPr/>
          </p:nvPicPr>
          <p:blipFill>
            <a:blip r:embed="rId2" cstate="print"/>
            <a:stretch>
              <a:fillRect/>
            </a:stretch>
          </p:blipFill>
          <p:spPr>
            <a:xfrm>
              <a:off x="7496174" y="1419224"/>
              <a:ext cx="76200" cy="76199"/>
            </a:xfrm>
            <a:prstGeom prst="rect">
              <a:avLst/>
            </a:prstGeom>
          </p:spPr>
        </p:pic>
      </p:grpSp>
      <p:sp>
        <p:nvSpPr>
          <p:cNvPr id="15" name="object 15"/>
          <p:cNvSpPr txBox="1"/>
          <p:nvPr/>
        </p:nvSpPr>
        <p:spPr>
          <a:xfrm>
            <a:off x="7635875" y="1368425"/>
            <a:ext cx="2031364" cy="162560"/>
          </a:xfrm>
          <a:prstGeom prst="rect">
            <a:avLst/>
          </a:prstGeom>
        </p:spPr>
        <p:txBody>
          <a:bodyPr vert="horz" wrap="square" lIns="0" tIns="12700" rIns="0" bIns="0" rtlCol="0">
            <a:spAutoFit/>
          </a:bodyPr>
          <a:lstStyle/>
          <a:p>
            <a:pPr marL="12700">
              <a:lnSpc>
                <a:spcPct val="100000"/>
              </a:lnSpc>
              <a:spcBef>
                <a:spcPts val="100"/>
              </a:spcBef>
            </a:pPr>
            <a:r>
              <a:rPr sz="900" spc="30" dirty="0">
                <a:solidFill>
                  <a:srgbClr val="6A6A6A"/>
                </a:solidFill>
                <a:latin typeface="宋体" panose="02010600030101010101" pitchFamily="2" charset="-122"/>
                <a:cs typeface="宋体" panose="02010600030101010101" pitchFamily="2" charset="-122"/>
              </a:rPr>
              <a:t>核心贡献 / </a:t>
            </a:r>
            <a:r>
              <a:rPr sz="900" spc="165" dirty="0">
                <a:solidFill>
                  <a:srgbClr val="6A6A6A"/>
                </a:solidFill>
                <a:latin typeface="宋体" panose="02010600030101010101" pitchFamily="2" charset="-122"/>
                <a:cs typeface="宋体" panose="02010600030101010101" pitchFamily="2" charset="-122"/>
              </a:rPr>
              <a:t>CORE</a:t>
            </a:r>
            <a:r>
              <a:rPr sz="900" dirty="0">
                <a:solidFill>
                  <a:srgbClr val="6A6A6A"/>
                </a:solidFill>
                <a:latin typeface="宋体" panose="02010600030101010101" pitchFamily="2" charset="-122"/>
                <a:cs typeface="宋体" panose="02010600030101010101" pitchFamily="2" charset="-122"/>
              </a:rPr>
              <a:t> </a:t>
            </a:r>
            <a:r>
              <a:rPr sz="900" spc="120" dirty="0">
                <a:solidFill>
                  <a:srgbClr val="6A6A6A"/>
                </a:solidFill>
                <a:latin typeface="宋体" panose="02010600030101010101" pitchFamily="2" charset="-122"/>
                <a:cs typeface="宋体" panose="02010600030101010101" pitchFamily="2" charset="-122"/>
              </a:rPr>
              <a:t>CONTRIBUTIONS</a:t>
            </a:r>
            <a:endParaRPr sz="900">
              <a:latin typeface="宋体" panose="02010600030101010101" pitchFamily="2" charset="-122"/>
              <a:cs typeface="宋体" panose="02010600030101010101" pitchFamily="2" charset="-122"/>
            </a:endParaRPr>
          </a:p>
        </p:txBody>
      </p:sp>
      <p:grpSp>
        <p:nvGrpSpPr>
          <p:cNvPr id="16" name="object 16"/>
          <p:cNvGrpSpPr/>
          <p:nvPr/>
        </p:nvGrpSpPr>
        <p:grpSpPr>
          <a:xfrm>
            <a:off x="7496175" y="1981199"/>
            <a:ext cx="4000500" cy="3200400"/>
            <a:chOff x="7496175" y="1981199"/>
            <a:chExt cx="4000500" cy="3200400"/>
          </a:xfrm>
        </p:grpSpPr>
        <p:sp>
          <p:nvSpPr>
            <p:cNvPr id="17" name="object 17"/>
            <p:cNvSpPr/>
            <p:nvPr/>
          </p:nvSpPr>
          <p:spPr>
            <a:xfrm>
              <a:off x="7496175" y="5172074"/>
              <a:ext cx="4000500" cy="9525"/>
            </a:xfrm>
            <a:custGeom>
              <a:avLst/>
              <a:gdLst/>
              <a:ahLst/>
              <a:cxnLst/>
              <a:rect l="l" t="t" r="r" b="b"/>
              <a:pathLst>
                <a:path w="4000500" h="9525">
                  <a:moveTo>
                    <a:pt x="4000499" y="9524"/>
                  </a:moveTo>
                  <a:lnTo>
                    <a:pt x="0" y="9524"/>
                  </a:lnTo>
                  <a:lnTo>
                    <a:pt x="0" y="0"/>
                  </a:lnTo>
                  <a:lnTo>
                    <a:pt x="4000499" y="0"/>
                  </a:lnTo>
                  <a:lnTo>
                    <a:pt x="4000499" y="9524"/>
                  </a:lnTo>
                  <a:close/>
                </a:path>
              </a:pathLst>
            </a:custGeom>
            <a:solidFill>
              <a:srgbClr val="EFEFEF"/>
            </a:solidFill>
          </p:spPr>
          <p:txBody>
            <a:bodyPr wrap="square" lIns="0" tIns="0" rIns="0" bIns="0" rtlCol="0"/>
            <a:lstStyle/>
            <a:p/>
          </p:txBody>
        </p:sp>
        <p:pic>
          <p:nvPicPr>
            <p:cNvPr id="18" name="object 18"/>
            <p:cNvPicPr/>
            <p:nvPr/>
          </p:nvPicPr>
          <p:blipFill>
            <a:blip r:embed="rId3" cstate="print"/>
            <a:stretch>
              <a:fillRect/>
            </a:stretch>
          </p:blipFill>
          <p:spPr>
            <a:xfrm>
              <a:off x="7600949" y="2000249"/>
              <a:ext cx="19049" cy="1714499"/>
            </a:xfrm>
            <a:prstGeom prst="rect">
              <a:avLst/>
            </a:prstGeom>
          </p:spPr>
        </p:pic>
        <p:pic>
          <p:nvPicPr>
            <p:cNvPr id="19" name="object 19"/>
            <p:cNvPicPr/>
            <p:nvPr/>
          </p:nvPicPr>
          <p:blipFill>
            <a:blip r:embed="rId4" cstate="print"/>
            <a:stretch>
              <a:fillRect/>
            </a:stretch>
          </p:blipFill>
          <p:spPr>
            <a:xfrm>
              <a:off x="7534274" y="1981199"/>
              <a:ext cx="95250" cy="95249"/>
            </a:xfrm>
            <a:prstGeom prst="rect">
              <a:avLst/>
            </a:prstGeom>
          </p:spPr>
        </p:pic>
        <p:pic>
          <p:nvPicPr>
            <p:cNvPr id="20" name="object 20"/>
            <p:cNvPicPr/>
            <p:nvPr/>
          </p:nvPicPr>
          <p:blipFill>
            <a:blip r:embed="rId5" cstate="print"/>
            <a:stretch>
              <a:fillRect/>
            </a:stretch>
          </p:blipFill>
          <p:spPr>
            <a:xfrm>
              <a:off x="7534274" y="2609849"/>
              <a:ext cx="95250" cy="95249"/>
            </a:xfrm>
            <a:prstGeom prst="rect">
              <a:avLst/>
            </a:prstGeom>
          </p:spPr>
        </p:pic>
        <p:pic>
          <p:nvPicPr>
            <p:cNvPr id="21" name="object 21"/>
            <p:cNvPicPr/>
            <p:nvPr/>
          </p:nvPicPr>
          <p:blipFill>
            <a:blip r:embed="rId6" cstate="print"/>
            <a:stretch>
              <a:fillRect/>
            </a:stretch>
          </p:blipFill>
          <p:spPr>
            <a:xfrm>
              <a:off x="7534274" y="3238499"/>
              <a:ext cx="95250" cy="95249"/>
            </a:xfrm>
            <a:prstGeom prst="rect">
              <a:avLst/>
            </a:prstGeom>
          </p:spPr>
        </p:pic>
      </p:grpSp>
      <p:sp>
        <p:nvSpPr>
          <p:cNvPr id="22" name="object 22"/>
          <p:cNvSpPr txBox="1"/>
          <p:nvPr/>
        </p:nvSpPr>
        <p:spPr>
          <a:xfrm>
            <a:off x="7483475" y="5311775"/>
            <a:ext cx="997585" cy="139700"/>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6A6A6A"/>
                </a:solidFill>
                <a:latin typeface="Courier New" panose="02070309020205020404"/>
                <a:cs typeface="Courier New" panose="02070309020205020404"/>
              </a:rPr>
              <a:t>ICLR 2026 </a:t>
            </a:r>
            <a:r>
              <a:rPr sz="750" spc="-10" dirty="0">
                <a:solidFill>
                  <a:srgbClr val="6A6A6A"/>
                </a:solidFill>
                <a:latin typeface="Courier New" panose="02070309020205020404"/>
                <a:cs typeface="Courier New" panose="02070309020205020404"/>
              </a:rPr>
              <a:t>SESSION</a:t>
            </a:r>
            <a:endParaRPr sz="750">
              <a:latin typeface="Courier New" panose="02070309020205020404"/>
              <a:cs typeface="Courier New" panose="02070309020205020404"/>
            </a:endParaRPr>
          </a:p>
        </p:txBody>
      </p:sp>
      <p:sp>
        <p:nvSpPr>
          <p:cNvPr id="23" name="object 23"/>
          <p:cNvSpPr txBox="1"/>
          <p:nvPr/>
        </p:nvSpPr>
        <p:spPr>
          <a:xfrm>
            <a:off x="10740875" y="5311775"/>
            <a:ext cx="768985" cy="139700"/>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D4A573"/>
                </a:solidFill>
                <a:latin typeface="Courier New" panose="02070309020205020404"/>
                <a:cs typeface="Courier New" panose="02070309020205020404"/>
              </a:rPr>
              <a:t>SLIDE 01 / </a:t>
            </a:r>
            <a:r>
              <a:rPr sz="750" spc="-25" dirty="0">
                <a:solidFill>
                  <a:srgbClr val="D4A573"/>
                </a:solidFill>
                <a:latin typeface="Courier New" panose="02070309020205020404"/>
                <a:cs typeface="Courier New" panose="02070309020205020404"/>
              </a:rPr>
              <a:t>10</a:t>
            </a:r>
            <a:endParaRPr sz="750">
              <a:latin typeface="Courier New" panose="02070309020205020404"/>
              <a:cs typeface="Courier New" panose="02070309020205020404"/>
            </a:endParaRPr>
          </a:p>
        </p:txBody>
      </p:sp>
      <p:sp>
        <p:nvSpPr>
          <p:cNvPr id="24" name="object 24"/>
          <p:cNvSpPr txBox="1"/>
          <p:nvPr/>
        </p:nvSpPr>
        <p:spPr>
          <a:xfrm>
            <a:off x="7712075" y="1855854"/>
            <a:ext cx="3759200" cy="445134"/>
          </a:xfrm>
          <a:prstGeom prst="rect">
            <a:avLst/>
          </a:prstGeom>
        </p:spPr>
        <p:txBody>
          <a:bodyPr vert="horz" wrap="square" lIns="0" tIns="58419" rIns="0" bIns="0" rtlCol="0">
            <a:spAutoFit/>
          </a:bodyPr>
          <a:lstStyle/>
          <a:p>
            <a:pPr marL="12700">
              <a:lnSpc>
                <a:spcPct val="100000"/>
              </a:lnSpc>
              <a:spcBef>
                <a:spcPts val="460"/>
              </a:spcBef>
            </a:pPr>
            <a:r>
              <a:rPr sz="750" b="1" dirty="0">
                <a:solidFill>
                  <a:srgbClr val="5B8BA7"/>
                </a:solidFill>
                <a:latin typeface="Courier New" panose="02070309020205020404"/>
                <a:cs typeface="Courier New" panose="02070309020205020404"/>
              </a:rPr>
              <a:t>01</a:t>
            </a:r>
            <a:r>
              <a:rPr sz="750" b="1" spc="95" dirty="0">
                <a:solidFill>
                  <a:srgbClr val="5B8BA7"/>
                </a:solidFill>
                <a:latin typeface="Courier New" panose="02070309020205020404"/>
                <a:cs typeface="Courier New" panose="02070309020205020404"/>
              </a:rPr>
              <a:t> / </a:t>
            </a:r>
            <a:r>
              <a:rPr sz="750" spc="-15" dirty="0">
                <a:solidFill>
                  <a:srgbClr val="5B8BA7"/>
                </a:solidFill>
                <a:latin typeface="宋体" panose="02010600030101010101" pitchFamily="2" charset="-122"/>
                <a:cs typeface="宋体" panose="02010600030101010101" pitchFamily="2" charset="-122"/>
              </a:rPr>
              <a:t>问题定义</a:t>
            </a:r>
            <a:endParaRPr sz="750">
              <a:latin typeface="宋体" panose="02010600030101010101" pitchFamily="2" charset="-122"/>
              <a:cs typeface="宋体" panose="02010600030101010101" pitchFamily="2" charset="-122"/>
            </a:endParaRPr>
          </a:p>
          <a:p>
            <a:pPr marL="12700">
              <a:lnSpc>
                <a:spcPct val="100000"/>
              </a:lnSpc>
              <a:spcBef>
                <a:spcPts val="600"/>
              </a:spcBef>
            </a:pPr>
            <a:r>
              <a:rPr sz="1150" spc="-110" dirty="0">
                <a:solidFill>
                  <a:srgbClr val="1A1A1A"/>
                </a:solidFill>
                <a:latin typeface="宋体" panose="02010600030101010101" pitchFamily="2" charset="-122"/>
                <a:cs typeface="宋体" panose="02010600030101010101" pitchFamily="2" charset="-122"/>
              </a:rPr>
              <a:t>首次在标准时间序列预测中</a:t>
            </a:r>
            <a:r>
              <a:rPr sz="1150" b="1" spc="-110" dirty="0">
                <a:solidFill>
                  <a:srgbClr val="1A1A1A"/>
                </a:solidFill>
                <a:latin typeface="微软雅黑" panose="020B0503020204020204" charset="-122"/>
                <a:cs typeface="微软雅黑" panose="020B0503020204020204" charset="-122"/>
              </a:rPr>
              <a:t>系统性定义并解决</a:t>
            </a:r>
            <a:r>
              <a:rPr sz="1200" b="1" spc="-90" dirty="0">
                <a:solidFill>
                  <a:srgbClr val="1A1A1A"/>
                </a:solidFill>
                <a:latin typeface="Arial" panose="020B0604020202020204"/>
                <a:cs typeface="Arial" panose="020B0604020202020204"/>
              </a:rPr>
              <a:t>“</a:t>
            </a:r>
            <a:r>
              <a:rPr sz="1150" b="1" spc="-110" dirty="0">
                <a:solidFill>
                  <a:srgbClr val="1A1A1A"/>
                </a:solidFill>
                <a:latin typeface="微软雅黑" panose="020B0503020204020204" charset="-122"/>
                <a:cs typeface="微软雅黑" panose="020B0503020204020204" charset="-122"/>
              </a:rPr>
              <a:t>概念漂移</a:t>
            </a:r>
            <a:r>
              <a:rPr sz="1200" b="1" spc="-90" dirty="0">
                <a:solidFill>
                  <a:srgbClr val="1A1A1A"/>
                </a:solidFill>
                <a:latin typeface="Arial" panose="020B0604020202020204"/>
                <a:cs typeface="Arial" panose="020B0604020202020204"/>
              </a:rPr>
              <a:t>”</a:t>
            </a:r>
            <a:r>
              <a:rPr sz="1150" spc="-90" dirty="0">
                <a:solidFill>
                  <a:srgbClr val="1A1A1A"/>
                </a:solidFill>
                <a:latin typeface="宋体" panose="02010600030101010101" pitchFamily="2" charset="-122"/>
                <a:cs typeface="宋体" panose="02010600030101010101" pitchFamily="2" charset="-122"/>
              </a:rPr>
              <a:t>问题。</a:t>
            </a:r>
            <a:endParaRPr sz="1150">
              <a:latin typeface="宋体" panose="02010600030101010101" pitchFamily="2" charset="-122"/>
              <a:cs typeface="宋体" panose="02010600030101010101" pitchFamily="2" charset="-122"/>
            </a:endParaRPr>
          </a:p>
        </p:txBody>
      </p:sp>
      <p:sp>
        <p:nvSpPr>
          <p:cNvPr id="25" name="object 25"/>
          <p:cNvSpPr txBox="1"/>
          <p:nvPr/>
        </p:nvSpPr>
        <p:spPr>
          <a:xfrm>
            <a:off x="7712075" y="2481224"/>
            <a:ext cx="3663950" cy="448309"/>
          </a:xfrm>
          <a:prstGeom prst="rect">
            <a:avLst/>
          </a:prstGeom>
        </p:spPr>
        <p:txBody>
          <a:bodyPr vert="horz" wrap="square" lIns="0" tIns="61594" rIns="0" bIns="0" rtlCol="0">
            <a:spAutoFit/>
          </a:bodyPr>
          <a:lstStyle/>
          <a:p>
            <a:pPr marL="12700">
              <a:lnSpc>
                <a:spcPct val="100000"/>
              </a:lnSpc>
              <a:spcBef>
                <a:spcPts val="485"/>
              </a:spcBef>
            </a:pPr>
            <a:r>
              <a:rPr sz="750" b="1" dirty="0">
                <a:solidFill>
                  <a:srgbClr val="D4A573"/>
                </a:solidFill>
                <a:latin typeface="Courier New" panose="02070309020205020404"/>
                <a:cs typeface="Courier New" panose="02070309020205020404"/>
              </a:rPr>
              <a:t>02</a:t>
            </a:r>
            <a:r>
              <a:rPr sz="750" b="1" spc="95" dirty="0">
                <a:solidFill>
                  <a:srgbClr val="D4A573"/>
                </a:solidFill>
                <a:latin typeface="Courier New" panose="02070309020205020404"/>
                <a:cs typeface="Courier New" panose="02070309020205020404"/>
              </a:rPr>
              <a:t> / </a:t>
            </a:r>
            <a:r>
              <a:rPr sz="750" spc="-15" dirty="0">
                <a:solidFill>
                  <a:srgbClr val="D4A573"/>
                </a:solidFill>
                <a:latin typeface="宋体" panose="02010600030101010101" pitchFamily="2" charset="-122"/>
                <a:cs typeface="宋体" panose="02010600030101010101" pitchFamily="2" charset="-122"/>
              </a:rPr>
              <a:t>方法创新</a:t>
            </a:r>
            <a:endParaRPr sz="750">
              <a:latin typeface="宋体" panose="02010600030101010101" pitchFamily="2" charset="-122"/>
              <a:cs typeface="宋体" panose="02010600030101010101" pitchFamily="2" charset="-122"/>
            </a:endParaRPr>
          </a:p>
          <a:p>
            <a:pPr marL="12700">
              <a:lnSpc>
                <a:spcPct val="100000"/>
              </a:lnSpc>
              <a:spcBef>
                <a:spcPts val="650"/>
              </a:spcBef>
            </a:pPr>
            <a:r>
              <a:rPr sz="1150" spc="-110" dirty="0">
                <a:solidFill>
                  <a:srgbClr val="1A1A1A"/>
                </a:solidFill>
                <a:latin typeface="宋体" panose="02010600030101010101" pitchFamily="2" charset="-122"/>
                <a:cs typeface="宋体" panose="02010600030101010101" pitchFamily="2" charset="-122"/>
              </a:rPr>
              <a:t>提出</a:t>
            </a:r>
            <a:r>
              <a:rPr sz="1150" b="1" spc="-110" dirty="0">
                <a:solidFill>
                  <a:srgbClr val="1A1A1A"/>
                </a:solidFill>
                <a:latin typeface="微软雅黑" panose="020B0503020204020204" charset="-122"/>
                <a:cs typeface="微软雅黑" panose="020B0503020204020204" charset="-122"/>
              </a:rPr>
              <a:t>软注意力掩码</a:t>
            </a:r>
            <a:r>
              <a:rPr sz="1150" b="1" spc="-85" dirty="0">
                <a:solidFill>
                  <a:srgbClr val="1A1A1A"/>
                </a:solidFill>
                <a:latin typeface="微软雅黑" panose="020B0503020204020204" charset="-122"/>
                <a:cs typeface="微软雅黑" panose="020B0503020204020204" charset="-122"/>
              </a:rPr>
              <a:t>（</a:t>
            </a:r>
            <a:r>
              <a:rPr sz="1150" b="1" spc="-85" dirty="0">
                <a:solidFill>
                  <a:srgbClr val="1A1A1A"/>
                </a:solidFill>
                <a:latin typeface="Arial" panose="020B0604020202020204"/>
                <a:cs typeface="Arial" panose="020B0604020202020204"/>
              </a:rPr>
              <a:t>SAM</a:t>
            </a:r>
            <a:r>
              <a:rPr sz="1150" b="1" spc="-85" dirty="0">
                <a:solidFill>
                  <a:srgbClr val="1A1A1A"/>
                </a:solidFill>
                <a:latin typeface="微软雅黑" panose="020B0503020204020204" charset="-122"/>
                <a:cs typeface="微软雅黑" panose="020B0503020204020204" charset="-122"/>
              </a:rPr>
              <a:t>）</a:t>
            </a:r>
            <a:r>
              <a:rPr sz="1150" spc="-110" dirty="0">
                <a:solidFill>
                  <a:srgbClr val="1A1A1A"/>
                </a:solidFill>
                <a:latin typeface="宋体" panose="02010600030101010101" pitchFamily="2" charset="-122"/>
                <a:cs typeface="宋体" panose="02010600030101010101" pitchFamily="2" charset="-122"/>
              </a:rPr>
              <a:t>提取具有不变性的代理外生特征。</a:t>
            </a:r>
            <a:endParaRPr sz="1150">
              <a:latin typeface="宋体" panose="02010600030101010101" pitchFamily="2" charset="-122"/>
              <a:cs typeface="宋体" panose="02010600030101010101" pitchFamily="2" charset="-122"/>
            </a:endParaRPr>
          </a:p>
        </p:txBody>
      </p:sp>
      <p:sp>
        <p:nvSpPr>
          <p:cNvPr id="26" name="object 26"/>
          <p:cNvSpPr txBox="1"/>
          <p:nvPr/>
        </p:nvSpPr>
        <p:spPr>
          <a:xfrm>
            <a:off x="7712075" y="3109874"/>
            <a:ext cx="3730625" cy="657860"/>
          </a:xfrm>
          <a:prstGeom prst="rect">
            <a:avLst/>
          </a:prstGeom>
        </p:spPr>
        <p:txBody>
          <a:bodyPr vert="horz" wrap="square" lIns="0" tIns="61594" rIns="0" bIns="0" rtlCol="0">
            <a:spAutoFit/>
          </a:bodyPr>
          <a:lstStyle/>
          <a:p>
            <a:pPr marL="12700">
              <a:lnSpc>
                <a:spcPct val="100000"/>
              </a:lnSpc>
              <a:spcBef>
                <a:spcPts val="485"/>
              </a:spcBef>
            </a:pPr>
            <a:r>
              <a:rPr sz="750" b="1" dirty="0">
                <a:solidFill>
                  <a:srgbClr val="6AC3C3"/>
                </a:solidFill>
                <a:latin typeface="Courier New" panose="02070309020205020404"/>
                <a:cs typeface="Courier New" panose="02070309020205020404"/>
              </a:rPr>
              <a:t>03</a:t>
            </a:r>
            <a:r>
              <a:rPr sz="750" b="1" spc="95" dirty="0">
                <a:solidFill>
                  <a:srgbClr val="6AC3C3"/>
                </a:solidFill>
                <a:latin typeface="Courier New" panose="02070309020205020404"/>
                <a:cs typeface="Courier New" panose="02070309020205020404"/>
              </a:rPr>
              <a:t> / </a:t>
            </a:r>
            <a:r>
              <a:rPr sz="750" spc="-15" dirty="0">
                <a:solidFill>
                  <a:srgbClr val="6AC3C3"/>
                </a:solidFill>
                <a:latin typeface="宋体" panose="02010600030101010101" pitchFamily="2" charset="-122"/>
                <a:cs typeface="宋体" panose="02010600030101010101" pitchFamily="2" charset="-122"/>
              </a:rPr>
              <a:t>统一架构</a:t>
            </a:r>
            <a:endParaRPr sz="750">
              <a:latin typeface="宋体" panose="02010600030101010101" pitchFamily="2" charset="-122"/>
              <a:cs typeface="宋体" panose="02010600030101010101" pitchFamily="2" charset="-122"/>
            </a:endParaRPr>
          </a:p>
          <a:p>
            <a:pPr marL="12700" marR="5080">
              <a:lnSpc>
                <a:spcPct val="120000"/>
              </a:lnSpc>
              <a:spcBef>
                <a:spcPts val="380"/>
              </a:spcBef>
            </a:pPr>
            <a:r>
              <a:rPr sz="1150" spc="-130" dirty="0">
                <a:solidFill>
                  <a:srgbClr val="1A1A1A"/>
                </a:solidFill>
                <a:latin typeface="宋体" panose="02010600030101010101" pitchFamily="2" charset="-122"/>
                <a:cs typeface="宋体" panose="02010600030101010101" pitchFamily="2" charset="-122"/>
              </a:rPr>
              <a:t>提出无模型依赖的 </a:t>
            </a:r>
            <a:r>
              <a:rPr sz="1150" b="1" spc="-50" dirty="0">
                <a:solidFill>
                  <a:srgbClr val="1A1A1A"/>
                </a:solidFill>
                <a:latin typeface="Arial" panose="020B0604020202020204"/>
                <a:cs typeface="Arial" panose="020B0604020202020204"/>
              </a:rPr>
              <a:t>ShifTS</a:t>
            </a:r>
            <a:r>
              <a:rPr sz="1150" b="1" spc="-10" dirty="0">
                <a:solidFill>
                  <a:srgbClr val="1A1A1A"/>
                </a:solidFill>
                <a:latin typeface="Arial" panose="020B0604020202020204"/>
                <a:cs typeface="Arial" panose="020B0604020202020204"/>
              </a:rPr>
              <a:t> </a:t>
            </a:r>
            <a:r>
              <a:rPr sz="1150" b="1" spc="-110" dirty="0">
                <a:solidFill>
                  <a:srgbClr val="1A1A1A"/>
                </a:solidFill>
                <a:latin typeface="微软雅黑" panose="020B0503020204020204" charset="-122"/>
                <a:cs typeface="微软雅黑" panose="020B0503020204020204" charset="-122"/>
              </a:rPr>
              <a:t>框架</a:t>
            </a:r>
            <a:r>
              <a:rPr sz="1150" spc="-110" dirty="0">
                <a:solidFill>
                  <a:srgbClr val="1A1A1A"/>
                </a:solidFill>
                <a:latin typeface="宋体" panose="02010600030101010101" pitchFamily="2" charset="-122"/>
                <a:cs typeface="宋体" panose="02010600030101010101" pitchFamily="2" charset="-122"/>
              </a:rPr>
              <a:t>，序列化处理时间偏移与概念漂</a:t>
            </a:r>
            <a:r>
              <a:rPr sz="1150" spc="-80" dirty="0">
                <a:solidFill>
                  <a:srgbClr val="1A1A1A"/>
                </a:solidFill>
                <a:latin typeface="宋体" panose="02010600030101010101" pitchFamily="2" charset="-122"/>
                <a:cs typeface="宋体" panose="02010600030101010101" pitchFamily="2" charset="-122"/>
              </a:rPr>
              <a:t>移。</a:t>
            </a:r>
            <a:endParaRPr sz="1150">
              <a:latin typeface="宋体" panose="02010600030101010101" pitchFamily="2" charset="-122"/>
              <a:cs typeface="宋体" panose="02010600030101010101" pitchFamily="2" charset="-122"/>
            </a:endParaRPr>
          </a:p>
        </p:txBody>
      </p:sp>
      <p:sp>
        <p:nvSpPr>
          <p:cNvPr id="27" name="object 27"/>
          <p:cNvSpPr/>
          <p:nvPr/>
        </p:nvSpPr>
        <p:spPr>
          <a:xfrm>
            <a:off x="0" y="0"/>
            <a:ext cx="12192000" cy="9525"/>
          </a:xfrm>
          <a:custGeom>
            <a:avLst/>
            <a:gdLst/>
            <a:ahLst/>
            <a:cxnLst/>
            <a:rect l="l" t="t" r="r" b="b"/>
            <a:pathLst>
              <a:path w="12192000" h="9525">
                <a:moveTo>
                  <a:pt x="12191999" y="9524"/>
                </a:moveTo>
                <a:lnTo>
                  <a:pt x="0" y="9524"/>
                </a:lnTo>
                <a:lnTo>
                  <a:pt x="0" y="0"/>
                </a:lnTo>
                <a:lnTo>
                  <a:pt x="12191999" y="0"/>
                </a:lnTo>
                <a:lnTo>
                  <a:pt x="12191999" y="9524"/>
                </a:lnTo>
                <a:close/>
              </a:path>
            </a:pathLst>
          </a:custGeom>
          <a:solidFill>
            <a:srgbClr val="E7E4E3"/>
          </a:solidFill>
        </p:spPr>
        <p:txBody>
          <a:bodyPr wrap="square" lIns="0" tIns="0" rIns="0" bIns="0" rtlCol="0"/>
          <a:lstStyle/>
          <a:p/>
        </p:txBody>
      </p:sp>
      <p:sp>
        <p:nvSpPr>
          <p:cNvPr id="28" name="object 28"/>
          <p:cNvSpPr/>
          <p:nvPr/>
        </p:nvSpPr>
        <p:spPr>
          <a:xfrm>
            <a:off x="0" y="6848474"/>
            <a:ext cx="12192000" cy="9525"/>
          </a:xfrm>
          <a:custGeom>
            <a:avLst/>
            <a:gdLst/>
            <a:ahLst/>
            <a:cxnLst/>
            <a:rect l="l" t="t" r="r" b="b"/>
            <a:pathLst>
              <a:path w="12192000" h="9525">
                <a:moveTo>
                  <a:pt x="12191999" y="9524"/>
                </a:moveTo>
                <a:lnTo>
                  <a:pt x="0" y="9524"/>
                </a:lnTo>
                <a:lnTo>
                  <a:pt x="0" y="0"/>
                </a:lnTo>
                <a:lnTo>
                  <a:pt x="12191999" y="0"/>
                </a:lnTo>
                <a:lnTo>
                  <a:pt x="12191999" y="9524"/>
                </a:lnTo>
                <a:close/>
              </a:path>
            </a:pathLst>
          </a:custGeom>
          <a:solidFill>
            <a:srgbClr val="E7E4E3"/>
          </a:solidFill>
        </p:spPr>
        <p:txBody>
          <a:bodyPr wrap="square" lIns="0" tIns="0" rIns="0" bIns="0" rtlCol="0"/>
          <a:lstStyl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FAF9F6"/>
          </a:solidFill>
        </p:spPr>
        <p:txBody>
          <a:bodyPr wrap="square" lIns="0" tIns="0" rIns="0" bIns="0" rtlCol="0"/>
          <a:lstStyle/>
          <a:p/>
        </p:txBody>
      </p:sp>
      <p:sp>
        <p:nvSpPr>
          <p:cNvPr id="3" name="object 3"/>
          <p:cNvSpPr/>
          <p:nvPr/>
        </p:nvSpPr>
        <p:spPr>
          <a:xfrm>
            <a:off x="457199" y="933449"/>
            <a:ext cx="457200" cy="19050"/>
          </a:xfrm>
          <a:custGeom>
            <a:avLst/>
            <a:gdLst/>
            <a:ahLst/>
            <a:cxnLst/>
            <a:rect l="l" t="t" r="r" b="b"/>
            <a:pathLst>
              <a:path w="457200" h="19050">
                <a:moveTo>
                  <a:pt x="457199" y="19049"/>
                </a:moveTo>
                <a:lnTo>
                  <a:pt x="0" y="19049"/>
                </a:lnTo>
                <a:lnTo>
                  <a:pt x="0" y="0"/>
                </a:lnTo>
                <a:lnTo>
                  <a:pt x="457199" y="0"/>
                </a:lnTo>
                <a:lnTo>
                  <a:pt x="457199" y="19049"/>
                </a:lnTo>
                <a:close/>
              </a:path>
            </a:pathLst>
          </a:custGeom>
          <a:solidFill>
            <a:srgbClr val="5B8BA7"/>
          </a:solidFill>
        </p:spPr>
        <p:txBody>
          <a:bodyPr wrap="square" lIns="0" tIns="0" rIns="0" bIns="0" rtlCol="0"/>
          <a:lstStyle/>
          <a:p/>
        </p:txBody>
      </p:sp>
      <p:sp>
        <p:nvSpPr>
          <p:cNvPr id="4" name="object 4"/>
          <p:cNvSpPr txBox="1">
            <a:spLocks noGrp="1"/>
          </p:cNvSpPr>
          <p:nvPr>
            <p:ph type="title"/>
          </p:nvPr>
        </p:nvSpPr>
        <p:spPr>
          <a:xfrm>
            <a:off x="444500" y="397827"/>
            <a:ext cx="6929120" cy="413384"/>
          </a:xfrm>
          <a:prstGeom prst="rect">
            <a:avLst/>
          </a:prstGeom>
        </p:spPr>
        <p:txBody>
          <a:bodyPr vert="horz" wrap="square" lIns="0" tIns="11430" rIns="0" bIns="0" rtlCol="0">
            <a:spAutoFit/>
          </a:bodyPr>
          <a:lstStyle/>
          <a:p>
            <a:pPr marL="12700">
              <a:lnSpc>
                <a:spcPct val="100000"/>
              </a:lnSpc>
              <a:spcBef>
                <a:spcPts val="90"/>
              </a:spcBef>
            </a:pPr>
            <a:r>
              <a:rPr sz="2550" spc="-365" dirty="0"/>
              <a:t>背景：现有研究中被忽视的概念漂移 </a:t>
            </a:r>
            <a:r>
              <a:rPr sz="2200" spc="-10" dirty="0">
                <a:latin typeface="Calibri" panose="020F0502020204030204"/>
                <a:cs typeface="Calibri" panose="020F0502020204030204"/>
              </a:rPr>
              <a:t>(Concept</a:t>
            </a:r>
            <a:r>
              <a:rPr sz="2200" spc="35" dirty="0">
                <a:latin typeface="Calibri" panose="020F0502020204030204"/>
                <a:cs typeface="Calibri" panose="020F0502020204030204"/>
              </a:rPr>
              <a:t> </a:t>
            </a:r>
            <a:r>
              <a:rPr sz="2200" dirty="0">
                <a:latin typeface="Calibri" panose="020F0502020204030204"/>
                <a:cs typeface="Calibri" panose="020F0502020204030204"/>
              </a:rPr>
              <a:t>Drift</a:t>
            </a:r>
            <a:r>
              <a:rPr sz="2200" spc="-15" dirty="0">
                <a:latin typeface="Calibri" panose="020F0502020204030204"/>
                <a:cs typeface="Calibri" panose="020F0502020204030204"/>
              </a:rPr>
              <a:t>) </a:t>
            </a:r>
            <a:r>
              <a:rPr sz="2550" spc="-350" dirty="0"/>
              <a:t>问题</a:t>
            </a:r>
            <a:endParaRPr sz="2550">
              <a:latin typeface="Calibri" panose="020F0502020204030204"/>
              <a:cs typeface="Calibri" panose="020F0502020204030204"/>
            </a:endParaRPr>
          </a:p>
        </p:txBody>
      </p:sp>
      <p:sp>
        <p:nvSpPr>
          <p:cNvPr id="5" name="object 5"/>
          <p:cNvSpPr/>
          <p:nvPr/>
        </p:nvSpPr>
        <p:spPr>
          <a:xfrm>
            <a:off x="457200" y="1200149"/>
            <a:ext cx="57150" cy="114300"/>
          </a:xfrm>
          <a:custGeom>
            <a:avLst/>
            <a:gdLst/>
            <a:ahLst/>
            <a:cxnLst/>
            <a:rect l="l" t="t" r="r" b="b"/>
            <a:pathLst>
              <a:path w="57150" h="114300">
                <a:moveTo>
                  <a:pt x="32364" y="114299"/>
                </a:moveTo>
                <a:lnTo>
                  <a:pt x="24785" y="114299"/>
                </a:lnTo>
                <a:lnTo>
                  <a:pt x="21140" y="113574"/>
                </a:lnTo>
                <a:lnTo>
                  <a:pt x="0" y="89514"/>
                </a:lnTo>
                <a:lnTo>
                  <a:pt x="0" y="85724"/>
                </a:lnTo>
                <a:lnTo>
                  <a:pt x="0" y="24785"/>
                </a:lnTo>
                <a:lnTo>
                  <a:pt x="24785" y="0"/>
                </a:lnTo>
                <a:lnTo>
                  <a:pt x="32364" y="0"/>
                </a:lnTo>
                <a:lnTo>
                  <a:pt x="57149" y="24785"/>
                </a:lnTo>
                <a:lnTo>
                  <a:pt x="57149" y="89514"/>
                </a:lnTo>
                <a:lnTo>
                  <a:pt x="36009" y="113574"/>
                </a:lnTo>
                <a:lnTo>
                  <a:pt x="32364" y="114299"/>
                </a:lnTo>
                <a:close/>
              </a:path>
            </a:pathLst>
          </a:custGeom>
          <a:solidFill>
            <a:srgbClr val="5B8BA7"/>
          </a:solidFill>
        </p:spPr>
        <p:txBody>
          <a:bodyPr wrap="square" lIns="0" tIns="0" rIns="0" bIns="0" rtlCol="0"/>
          <a:lstStyle/>
          <a:p/>
        </p:txBody>
      </p:sp>
      <p:sp>
        <p:nvSpPr>
          <p:cNvPr id="6" name="object 6"/>
          <p:cNvSpPr txBox="1"/>
          <p:nvPr/>
        </p:nvSpPr>
        <p:spPr>
          <a:xfrm>
            <a:off x="577849" y="1168400"/>
            <a:ext cx="4126865"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6A7280"/>
                </a:solidFill>
                <a:latin typeface="宋体" panose="02010600030101010101" pitchFamily="2" charset="-122"/>
                <a:cs typeface="宋体" panose="02010600030101010101" pitchFamily="2" charset="-122"/>
              </a:rPr>
              <a:t>问题：时间序列中的</a:t>
            </a:r>
            <a:r>
              <a:rPr sz="900" spc="-85" dirty="0">
                <a:solidFill>
                  <a:srgbClr val="6A7280"/>
                </a:solidFill>
                <a:latin typeface="宋体" panose="02010600030101010101" pitchFamily="2" charset="-122"/>
                <a:cs typeface="宋体" panose="02010600030101010101" pitchFamily="2" charset="-122"/>
              </a:rPr>
              <a:t>“分布偏移”双重挑战 / </a:t>
            </a:r>
            <a:r>
              <a:rPr sz="900" spc="55" dirty="0">
                <a:solidFill>
                  <a:srgbClr val="6A7280"/>
                </a:solidFill>
                <a:latin typeface="宋体" panose="02010600030101010101" pitchFamily="2" charset="-122"/>
                <a:cs typeface="宋体" panose="02010600030101010101" pitchFamily="2" charset="-122"/>
              </a:rPr>
              <a:t>DISTRIBUTION</a:t>
            </a:r>
            <a:r>
              <a:rPr sz="900" spc="140" dirty="0">
                <a:solidFill>
                  <a:srgbClr val="6A7280"/>
                </a:solidFill>
                <a:latin typeface="宋体" panose="02010600030101010101" pitchFamily="2" charset="-122"/>
                <a:cs typeface="宋体" panose="02010600030101010101" pitchFamily="2" charset="-122"/>
              </a:rPr>
              <a:t> </a:t>
            </a:r>
            <a:r>
              <a:rPr sz="900" dirty="0">
                <a:solidFill>
                  <a:srgbClr val="6A7280"/>
                </a:solidFill>
                <a:latin typeface="宋体" panose="02010600030101010101" pitchFamily="2" charset="-122"/>
                <a:cs typeface="宋体" panose="02010600030101010101" pitchFamily="2" charset="-122"/>
              </a:rPr>
              <a:t>SHIFT</a:t>
            </a:r>
            <a:r>
              <a:rPr sz="900" spc="140" dirty="0">
                <a:solidFill>
                  <a:srgbClr val="6A7280"/>
                </a:solidFill>
                <a:latin typeface="宋体" panose="02010600030101010101" pitchFamily="2" charset="-122"/>
                <a:cs typeface="宋体" panose="02010600030101010101" pitchFamily="2" charset="-122"/>
              </a:rPr>
              <a:t> </a:t>
            </a:r>
            <a:r>
              <a:rPr sz="900" spc="100" dirty="0">
                <a:solidFill>
                  <a:srgbClr val="6A7280"/>
                </a:solidFill>
                <a:latin typeface="宋体" panose="02010600030101010101" pitchFamily="2" charset="-122"/>
                <a:cs typeface="宋体" panose="02010600030101010101" pitchFamily="2" charset="-122"/>
              </a:rPr>
              <a:t>CHALLENGE</a:t>
            </a:r>
            <a:endParaRPr sz="900">
              <a:latin typeface="宋体" panose="02010600030101010101" pitchFamily="2" charset="-122"/>
              <a:cs typeface="宋体" panose="02010600030101010101" pitchFamily="2" charset="-122"/>
            </a:endParaRPr>
          </a:p>
        </p:txBody>
      </p:sp>
      <p:grpSp>
        <p:nvGrpSpPr>
          <p:cNvPr id="7" name="object 7"/>
          <p:cNvGrpSpPr/>
          <p:nvPr/>
        </p:nvGrpSpPr>
        <p:grpSpPr>
          <a:xfrm>
            <a:off x="457200" y="1485899"/>
            <a:ext cx="3257550" cy="1666875"/>
            <a:chOff x="457200" y="1485899"/>
            <a:chExt cx="3257550" cy="1666875"/>
          </a:xfrm>
        </p:grpSpPr>
        <p:sp>
          <p:nvSpPr>
            <p:cNvPr id="8" name="object 8"/>
            <p:cNvSpPr/>
            <p:nvPr/>
          </p:nvSpPr>
          <p:spPr>
            <a:xfrm>
              <a:off x="461962" y="1490662"/>
              <a:ext cx="3248025" cy="1657350"/>
            </a:xfrm>
            <a:custGeom>
              <a:avLst/>
              <a:gdLst/>
              <a:ahLst/>
              <a:cxnLst/>
              <a:rect l="l" t="t" r="r" b="b"/>
              <a:pathLst>
                <a:path w="3248025" h="1657350">
                  <a:moveTo>
                    <a:pt x="3145679" y="1657349"/>
                  </a:moveTo>
                  <a:lnTo>
                    <a:pt x="102345" y="1657349"/>
                  </a:lnTo>
                  <a:lnTo>
                    <a:pt x="95221" y="1656648"/>
                  </a:lnTo>
                  <a:lnTo>
                    <a:pt x="54661" y="1642885"/>
                  </a:lnTo>
                  <a:lnTo>
                    <a:pt x="22456" y="1614648"/>
                  </a:lnTo>
                  <a:lnTo>
                    <a:pt x="3507" y="1576236"/>
                  </a:lnTo>
                  <a:lnTo>
                    <a:pt x="0" y="1555004"/>
                  </a:lnTo>
                  <a:lnTo>
                    <a:pt x="0" y="1547812"/>
                  </a:lnTo>
                  <a:lnTo>
                    <a:pt x="0" y="102345"/>
                  </a:lnTo>
                  <a:lnTo>
                    <a:pt x="11090" y="60974"/>
                  </a:lnTo>
                  <a:lnTo>
                    <a:pt x="37168" y="26997"/>
                  </a:lnTo>
                  <a:lnTo>
                    <a:pt x="74264" y="5585"/>
                  </a:lnTo>
                  <a:lnTo>
                    <a:pt x="102345" y="0"/>
                  </a:lnTo>
                  <a:lnTo>
                    <a:pt x="3145679" y="0"/>
                  </a:lnTo>
                  <a:lnTo>
                    <a:pt x="3187049" y="11090"/>
                  </a:lnTo>
                  <a:lnTo>
                    <a:pt x="3221026" y="37168"/>
                  </a:lnTo>
                  <a:lnTo>
                    <a:pt x="3242438" y="74264"/>
                  </a:lnTo>
                  <a:lnTo>
                    <a:pt x="3248024" y="102345"/>
                  </a:lnTo>
                  <a:lnTo>
                    <a:pt x="3248024" y="1555004"/>
                  </a:lnTo>
                  <a:lnTo>
                    <a:pt x="3236933" y="1596375"/>
                  </a:lnTo>
                  <a:lnTo>
                    <a:pt x="3210855" y="1630352"/>
                  </a:lnTo>
                  <a:lnTo>
                    <a:pt x="3173760" y="1651764"/>
                  </a:lnTo>
                  <a:lnTo>
                    <a:pt x="3152802" y="1656648"/>
                  </a:lnTo>
                  <a:lnTo>
                    <a:pt x="3145679" y="1657349"/>
                  </a:lnTo>
                  <a:close/>
                </a:path>
              </a:pathLst>
            </a:custGeom>
            <a:solidFill>
              <a:srgbClr val="F9FAFA"/>
            </a:solidFill>
          </p:spPr>
          <p:txBody>
            <a:bodyPr wrap="square" lIns="0" tIns="0" rIns="0" bIns="0" rtlCol="0"/>
            <a:lstStyle/>
            <a:p/>
          </p:txBody>
        </p:sp>
        <p:sp>
          <p:nvSpPr>
            <p:cNvPr id="9" name="object 9"/>
            <p:cNvSpPr/>
            <p:nvPr/>
          </p:nvSpPr>
          <p:spPr>
            <a:xfrm>
              <a:off x="461962" y="1490662"/>
              <a:ext cx="3248025" cy="1657350"/>
            </a:xfrm>
            <a:custGeom>
              <a:avLst/>
              <a:gdLst/>
              <a:ahLst/>
              <a:cxnLst/>
              <a:rect l="l" t="t" r="r" b="b"/>
              <a:pathLst>
                <a:path w="3248025" h="1657350">
                  <a:moveTo>
                    <a:pt x="0" y="1547812"/>
                  </a:moveTo>
                  <a:lnTo>
                    <a:pt x="0" y="109537"/>
                  </a:lnTo>
                  <a:lnTo>
                    <a:pt x="0" y="102345"/>
                  </a:lnTo>
                  <a:lnTo>
                    <a:pt x="701" y="95221"/>
                  </a:lnTo>
                  <a:lnTo>
                    <a:pt x="2104" y="88167"/>
                  </a:lnTo>
                  <a:lnTo>
                    <a:pt x="3507" y="81113"/>
                  </a:lnTo>
                  <a:lnTo>
                    <a:pt x="5585" y="74264"/>
                  </a:lnTo>
                  <a:lnTo>
                    <a:pt x="8338" y="67619"/>
                  </a:lnTo>
                  <a:lnTo>
                    <a:pt x="11090" y="60974"/>
                  </a:lnTo>
                  <a:lnTo>
                    <a:pt x="14464" y="54661"/>
                  </a:lnTo>
                  <a:lnTo>
                    <a:pt x="18460" y="48681"/>
                  </a:lnTo>
                  <a:lnTo>
                    <a:pt x="22456" y="42701"/>
                  </a:lnTo>
                  <a:lnTo>
                    <a:pt x="48681" y="18460"/>
                  </a:lnTo>
                  <a:lnTo>
                    <a:pt x="54661" y="14464"/>
                  </a:lnTo>
                  <a:lnTo>
                    <a:pt x="88167" y="2104"/>
                  </a:lnTo>
                  <a:lnTo>
                    <a:pt x="95221" y="701"/>
                  </a:lnTo>
                  <a:lnTo>
                    <a:pt x="102345" y="0"/>
                  </a:lnTo>
                  <a:lnTo>
                    <a:pt x="109537" y="0"/>
                  </a:lnTo>
                  <a:lnTo>
                    <a:pt x="3138487" y="0"/>
                  </a:lnTo>
                  <a:lnTo>
                    <a:pt x="3145679" y="0"/>
                  </a:lnTo>
                  <a:lnTo>
                    <a:pt x="3152802" y="701"/>
                  </a:lnTo>
                  <a:lnTo>
                    <a:pt x="3159856" y="2104"/>
                  </a:lnTo>
                  <a:lnTo>
                    <a:pt x="3166910" y="3507"/>
                  </a:lnTo>
                  <a:lnTo>
                    <a:pt x="3199342" y="18460"/>
                  </a:lnTo>
                  <a:lnTo>
                    <a:pt x="3205322" y="22456"/>
                  </a:lnTo>
                  <a:lnTo>
                    <a:pt x="3233559" y="54661"/>
                  </a:lnTo>
                  <a:lnTo>
                    <a:pt x="3247322" y="95221"/>
                  </a:lnTo>
                  <a:lnTo>
                    <a:pt x="3248024" y="109537"/>
                  </a:lnTo>
                  <a:lnTo>
                    <a:pt x="3248024" y="1547812"/>
                  </a:lnTo>
                  <a:lnTo>
                    <a:pt x="3239686" y="1589730"/>
                  </a:lnTo>
                  <a:lnTo>
                    <a:pt x="3215941" y="1625266"/>
                  </a:lnTo>
                  <a:lnTo>
                    <a:pt x="3180405" y="1649011"/>
                  </a:lnTo>
                  <a:lnTo>
                    <a:pt x="3159856" y="1655245"/>
                  </a:lnTo>
                  <a:lnTo>
                    <a:pt x="3152802" y="1656648"/>
                  </a:lnTo>
                  <a:lnTo>
                    <a:pt x="3145679" y="1657349"/>
                  </a:lnTo>
                  <a:lnTo>
                    <a:pt x="3138487" y="1657349"/>
                  </a:lnTo>
                  <a:lnTo>
                    <a:pt x="109537" y="1657349"/>
                  </a:lnTo>
                  <a:lnTo>
                    <a:pt x="102345" y="1657349"/>
                  </a:lnTo>
                  <a:lnTo>
                    <a:pt x="95221" y="1656648"/>
                  </a:lnTo>
                  <a:lnTo>
                    <a:pt x="88167" y="1655245"/>
                  </a:lnTo>
                  <a:lnTo>
                    <a:pt x="81113" y="1653841"/>
                  </a:lnTo>
                  <a:lnTo>
                    <a:pt x="74264" y="1651764"/>
                  </a:lnTo>
                  <a:lnTo>
                    <a:pt x="67619" y="1649011"/>
                  </a:lnTo>
                  <a:lnTo>
                    <a:pt x="60974" y="1646259"/>
                  </a:lnTo>
                  <a:lnTo>
                    <a:pt x="26997" y="1620181"/>
                  </a:lnTo>
                  <a:lnTo>
                    <a:pt x="18460" y="1608667"/>
                  </a:lnTo>
                  <a:lnTo>
                    <a:pt x="14464" y="1602687"/>
                  </a:lnTo>
                  <a:lnTo>
                    <a:pt x="701" y="1562127"/>
                  </a:lnTo>
                  <a:lnTo>
                    <a:pt x="0" y="1555004"/>
                  </a:lnTo>
                  <a:lnTo>
                    <a:pt x="0" y="1547812"/>
                  </a:lnTo>
                  <a:close/>
                </a:path>
              </a:pathLst>
            </a:custGeom>
            <a:ln w="9524">
              <a:solidFill>
                <a:srgbClr val="F2F4F5"/>
              </a:solidFill>
            </a:ln>
          </p:spPr>
          <p:txBody>
            <a:bodyPr wrap="square" lIns="0" tIns="0" rIns="0" bIns="0" rtlCol="0"/>
            <a:lstStyle/>
            <a:p/>
          </p:txBody>
        </p:sp>
        <p:sp>
          <p:nvSpPr>
            <p:cNvPr id="10" name="object 10"/>
            <p:cNvSpPr/>
            <p:nvPr/>
          </p:nvSpPr>
          <p:spPr>
            <a:xfrm>
              <a:off x="619124" y="2724149"/>
              <a:ext cx="2933700" cy="9525"/>
            </a:xfrm>
            <a:custGeom>
              <a:avLst/>
              <a:gdLst/>
              <a:ahLst/>
              <a:cxnLst/>
              <a:rect l="l" t="t" r="r" b="b"/>
              <a:pathLst>
                <a:path w="2933700" h="9525">
                  <a:moveTo>
                    <a:pt x="2933699" y="9524"/>
                  </a:moveTo>
                  <a:lnTo>
                    <a:pt x="0" y="9524"/>
                  </a:lnTo>
                  <a:lnTo>
                    <a:pt x="0" y="0"/>
                  </a:lnTo>
                  <a:lnTo>
                    <a:pt x="2933699" y="0"/>
                  </a:lnTo>
                  <a:lnTo>
                    <a:pt x="2933699" y="9524"/>
                  </a:lnTo>
                  <a:close/>
                </a:path>
              </a:pathLst>
            </a:custGeom>
            <a:solidFill>
              <a:srgbClr val="E4E7EB">
                <a:alpha val="50199"/>
              </a:srgbClr>
            </a:solidFill>
          </p:spPr>
          <p:txBody>
            <a:bodyPr wrap="square" lIns="0" tIns="0" rIns="0" bIns="0" rtlCol="0"/>
            <a:lstStyle/>
            <a:p/>
          </p:txBody>
        </p:sp>
      </p:grpSp>
      <p:sp>
        <p:nvSpPr>
          <p:cNvPr id="11" name="object 11"/>
          <p:cNvSpPr txBox="1"/>
          <p:nvPr/>
        </p:nvSpPr>
        <p:spPr>
          <a:xfrm>
            <a:off x="606424" y="2825750"/>
            <a:ext cx="887094" cy="139700"/>
          </a:xfrm>
          <a:prstGeom prst="rect">
            <a:avLst/>
          </a:prstGeom>
        </p:spPr>
        <p:txBody>
          <a:bodyPr vert="horz" wrap="square" lIns="0" tIns="12700" rIns="0" bIns="0" rtlCol="0">
            <a:spAutoFit/>
          </a:bodyPr>
          <a:lstStyle/>
          <a:p>
            <a:pPr marL="12700">
              <a:lnSpc>
                <a:spcPct val="100000"/>
              </a:lnSpc>
              <a:spcBef>
                <a:spcPts val="100"/>
              </a:spcBef>
            </a:pPr>
            <a:r>
              <a:rPr sz="750" spc="-35" dirty="0">
                <a:solidFill>
                  <a:srgbClr val="9CA2AF"/>
                </a:solidFill>
                <a:latin typeface="宋体" panose="02010600030101010101" pitchFamily="2" charset="-122"/>
                <a:cs typeface="宋体" panose="02010600030101010101" pitchFamily="2" charset="-122"/>
              </a:rPr>
              <a:t>Marginal</a:t>
            </a:r>
            <a:r>
              <a:rPr sz="750" spc="-85" dirty="0">
                <a:solidFill>
                  <a:srgbClr val="9CA2AF"/>
                </a:solidFill>
                <a:latin typeface="宋体" panose="02010600030101010101" pitchFamily="2" charset="-122"/>
                <a:cs typeface="宋体" panose="02010600030101010101" pitchFamily="2" charset="-122"/>
              </a:rPr>
              <a:t> </a:t>
            </a:r>
            <a:r>
              <a:rPr sz="750" spc="-65" dirty="0">
                <a:solidFill>
                  <a:srgbClr val="9CA2AF"/>
                </a:solidFill>
                <a:latin typeface="宋体" panose="02010600030101010101" pitchFamily="2" charset="-122"/>
                <a:cs typeface="宋体" panose="02010600030101010101" pitchFamily="2" charset="-122"/>
              </a:rPr>
              <a:t>Distribution</a:t>
            </a:r>
            <a:endParaRPr sz="750">
              <a:latin typeface="宋体" panose="02010600030101010101" pitchFamily="2" charset="-122"/>
              <a:cs typeface="宋体" panose="02010600030101010101" pitchFamily="2" charset="-122"/>
            </a:endParaRPr>
          </a:p>
        </p:txBody>
      </p:sp>
      <p:sp>
        <p:nvSpPr>
          <p:cNvPr id="12" name="object 12"/>
          <p:cNvSpPr/>
          <p:nvPr/>
        </p:nvSpPr>
        <p:spPr>
          <a:xfrm>
            <a:off x="2800349" y="2809874"/>
            <a:ext cx="752475" cy="180975"/>
          </a:xfrm>
          <a:custGeom>
            <a:avLst/>
            <a:gdLst/>
            <a:ahLst/>
            <a:cxnLst/>
            <a:rect l="l" t="t" r="r" b="b"/>
            <a:pathLst>
              <a:path w="752475" h="180975">
                <a:moveTo>
                  <a:pt x="719427" y="180974"/>
                </a:moveTo>
                <a:lnTo>
                  <a:pt x="33047" y="180974"/>
                </a:lnTo>
                <a:lnTo>
                  <a:pt x="28187" y="180008"/>
                </a:lnTo>
                <a:lnTo>
                  <a:pt x="966" y="152787"/>
                </a:lnTo>
                <a:lnTo>
                  <a:pt x="0" y="147927"/>
                </a:lnTo>
                <a:lnTo>
                  <a:pt x="0" y="142874"/>
                </a:lnTo>
                <a:lnTo>
                  <a:pt x="0" y="33047"/>
                </a:lnTo>
                <a:lnTo>
                  <a:pt x="28187" y="966"/>
                </a:lnTo>
                <a:lnTo>
                  <a:pt x="33047" y="0"/>
                </a:lnTo>
                <a:lnTo>
                  <a:pt x="719427" y="0"/>
                </a:lnTo>
                <a:lnTo>
                  <a:pt x="751508" y="28187"/>
                </a:lnTo>
                <a:lnTo>
                  <a:pt x="752474" y="33047"/>
                </a:lnTo>
                <a:lnTo>
                  <a:pt x="752474" y="147927"/>
                </a:lnTo>
                <a:lnTo>
                  <a:pt x="724287" y="180008"/>
                </a:lnTo>
                <a:lnTo>
                  <a:pt x="719427" y="180974"/>
                </a:lnTo>
                <a:close/>
              </a:path>
            </a:pathLst>
          </a:custGeom>
          <a:solidFill>
            <a:srgbClr val="E7F1F6"/>
          </a:solidFill>
        </p:spPr>
        <p:txBody>
          <a:bodyPr wrap="square" lIns="0" tIns="0" rIns="0" bIns="0" rtlCol="0"/>
          <a:lstStyle/>
          <a:p/>
        </p:txBody>
      </p:sp>
      <p:sp>
        <p:nvSpPr>
          <p:cNvPr id="13" name="object 13"/>
          <p:cNvSpPr txBox="1"/>
          <p:nvPr/>
        </p:nvSpPr>
        <p:spPr>
          <a:xfrm>
            <a:off x="2843758" y="2825750"/>
            <a:ext cx="668655" cy="139700"/>
          </a:xfrm>
          <a:prstGeom prst="rect">
            <a:avLst/>
          </a:prstGeom>
        </p:spPr>
        <p:txBody>
          <a:bodyPr vert="horz" wrap="square" lIns="0" tIns="12700" rIns="0" bIns="0" rtlCol="0">
            <a:spAutoFit/>
          </a:bodyPr>
          <a:lstStyle/>
          <a:p>
            <a:pPr marL="12700">
              <a:lnSpc>
                <a:spcPct val="100000"/>
              </a:lnSpc>
              <a:spcBef>
                <a:spcPts val="100"/>
              </a:spcBef>
            </a:pPr>
            <a:r>
              <a:rPr sz="750" spc="-40" dirty="0">
                <a:solidFill>
                  <a:srgbClr val="5B8BA7"/>
                </a:solidFill>
                <a:latin typeface="宋体" panose="02010600030101010101" pitchFamily="2" charset="-122"/>
                <a:cs typeface="宋体" panose="02010600030101010101" pitchFamily="2" charset="-122"/>
              </a:rPr>
              <a:t>Well</a:t>
            </a:r>
            <a:r>
              <a:rPr sz="750" spc="-130" dirty="0">
                <a:solidFill>
                  <a:srgbClr val="5B8BA7"/>
                </a:solidFill>
                <a:latin typeface="宋体" panose="02010600030101010101" pitchFamily="2" charset="-122"/>
                <a:cs typeface="宋体" panose="02010600030101010101" pitchFamily="2" charset="-122"/>
              </a:rPr>
              <a:t> </a:t>
            </a:r>
            <a:r>
              <a:rPr sz="750" spc="-10" dirty="0">
                <a:solidFill>
                  <a:srgbClr val="5B8BA7"/>
                </a:solidFill>
                <a:latin typeface="宋体" panose="02010600030101010101" pitchFamily="2" charset="-122"/>
                <a:cs typeface="宋体" panose="02010600030101010101" pitchFamily="2" charset="-122"/>
              </a:rPr>
              <a:t>Addressed</a:t>
            </a:r>
            <a:endParaRPr sz="750">
              <a:latin typeface="宋体" panose="02010600030101010101" pitchFamily="2" charset="-122"/>
              <a:cs typeface="宋体" panose="02010600030101010101" pitchFamily="2" charset="-122"/>
            </a:endParaRPr>
          </a:p>
        </p:txBody>
      </p:sp>
      <p:grpSp>
        <p:nvGrpSpPr>
          <p:cNvPr id="14" name="object 14"/>
          <p:cNvGrpSpPr/>
          <p:nvPr/>
        </p:nvGrpSpPr>
        <p:grpSpPr>
          <a:xfrm>
            <a:off x="3867149" y="1485899"/>
            <a:ext cx="3267075" cy="1666875"/>
            <a:chOff x="3867149" y="1485899"/>
            <a:chExt cx="3267075" cy="1666875"/>
          </a:xfrm>
        </p:grpSpPr>
        <p:sp>
          <p:nvSpPr>
            <p:cNvPr id="15" name="object 15"/>
            <p:cNvSpPr/>
            <p:nvPr/>
          </p:nvSpPr>
          <p:spPr>
            <a:xfrm>
              <a:off x="3867149" y="1485899"/>
              <a:ext cx="3267075" cy="1666875"/>
            </a:xfrm>
            <a:custGeom>
              <a:avLst/>
              <a:gdLst/>
              <a:ahLst/>
              <a:cxnLst/>
              <a:rect l="l" t="t" r="r" b="b"/>
              <a:pathLst>
                <a:path w="3267074" h="1666875">
                  <a:moveTo>
                    <a:pt x="3152774" y="1666874"/>
                  </a:moveTo>
                  <a:lnTo>
                    <a:pt x="114299" y="1666874"/>
                  </a:lnTo>
                  <a:lnTo>
                    <a:pt x="103039" y="1666330"/>
                  </a:lnTo>
                  <a:lnTo>
                    <a:pt x="60364" y="1653362"/>
                  </a:lnTo>
                  <a:lnTo>
                    <a:pt x="25900" y="1625050"/>
                  </a:lnTo>
                  <a:lnTo>
                    <a:pt x="4893" y="1585704"/>
                  </a:lnTo>
                  <a:lnTo>
                    <a:pt x="0" y="1552574"/>
                  </a:lnTo>
                  <a:lnTo>
                    <a:pt x="0" y="114299"/>
                  </a:lnTo>
                  <a:lnTo>
                    <a:pt x="8700" y="70559"/>
                  </a:lnTo>
                  <a:lnTo>
                    <a:pt x="33477" y="33477"/>
                  </a:lnTo>
                  <a:lnTo>
                    <a:pt x="70558" y="8700"/>
                  </a:lnTo>
                  <a:lnTo>
                    <a:pt x="114299" y="0"/>
                  </a:lnTo>
                  <a:lnTo>
                    <a:pt x="3152774" y="0"/>
                  </a:lnTo>
                  <a:lnTo>
                    <a:pt x="3196514" y="8700"/>
                  </a:lnTo>
                  <a:lnTo>
                    <a:pt x="3233596" y="33477"/>
                  </a:lnTo>
                  <a:lnTo>
                    <a:pt x="3258372" y="70559"/>
                  </a:lnTo>
                  <a:lnTo>
                    <a:pt x="3267074" y="114299"/>
                  </a:lnTo>
                  <a:lnTo>
                    <a:pt x="3267074" y="1552574"/>
                  </a:lnTo>
                  <a:lnTo>
                    <a:pt x="3258372" y="1596315"/>
                  </a:lnTo>
                  <a:lnTo>
                    <a:pt x="3233596" y="1633396"/>
                  </a:lnTo>
                  <a:lnTo>
                    <a:pt x="3196514" y="1658173"/>
                  </a:lnTo>
                  <a:lnTo>
                    <a:pt x="3152774" y="1666874"/>
                  </a:lnTo>
                  <a:close/>
                </a:path>
              </a:pathLst>
            </a:custGeom>
            <a:solidFill>
              <a:srgbClr val="FFF5E7">
                <a:alpha val="59999"/>
              </a:srgbClr>
            </a:solidFill>
          </p:spPr>
          <p:txBody>
            <a:bodyPr wrap="square" lIns="0" tIns="0" rIns="0" bIns="0" rtlCol="0"/>
            <a:lstStyle/>
            <a:p/>
          </p:txBody>
        </p:sp>
        <p:sp>
          <p:nvSpPr>
            <p:cNvPr id="16" name="object 16"/>
            <p:cNvSpPr/>
            <p:nvPr/>
          </p:nvSpPr>
          <p:spPr>
            <a:xfrm>
              <a:off x="3867149" y="1485900"/>
              <a:ext cx="3267075" cy="1666875"/>
            </a:xfrm>
            <a:custGeom>
              <a:avLst/>
              <a:gdLst/>
              <a:ahLst/>
              <a:cxnLst/>
              <a:rect l="l" t="t" r="r" b="b"/>
              <a:pathLst>
                <a:path w="3267075" h="1666875">
                  <a:moveTo>
                    <a:pt x="3152774" y="1666874"/>
                  </a:moveTo>
                  <a:lnTo>
                    <a:pt x="114299" y="1666874"/>
                  </a:lnTo>
                  <a:lnTo>
                    <a:pt x="103039" y="1666330"/>
                  </a:lnTo>
                  <a:lnTo>
                    <a:pt x="60364" y="1653362"/>
                  </a:lnTo>
                  <a:lnTo>
                    <a:pt x="25900" y="1625050"/>
                  </a:lnTo>
                  <a:lnTo>
                    <a:pt x="4893" y="1585704"/>
                  </a:lnTo>
                  <a:lnTo>
                    <a:pt x="0" y="1552574"/>
                  </a:lnTo>
                  <a:lnTo>
                    <a:pt x="0" y="114299"/>
                  </a:lnTo>
                  <a:lnTo>
                    <a:pt x="8700" y="70559"/>
                  </a:lnTo>
                  <a:lnTo>
                    <a:pt x="33477" y="33477"/>
                  </a:lnTo>
                  <a:lnTo>
                    <a:pt x="70558" y="8700"/>
                  </a:lnTo>
                  <a:lnTo>
                    <a:pt x="114299" y="0"/>
                  </a:lnTo>
                  <a:lnTo>
                    <a:pt x="3152774" y="0"/>
                  </a:lnTo>
                  <a:lnTo>
                    <a:pt x="3196514" y="8700"/>
                  </a:lnTo>
                  <a:lnTo>
                    <a:pt x="3198261" y="9524"/>
                  </a:lnTo>
                  <a:lnTo>
                    <a:pt x="107420" y="9524"/>
                  </a:lnTo>
                  <a:lnTo>
                    <a:pt x="100606" y="10196"/>
                  </a:lnTo>
                  <a:lnTo>
                    <a:pt x="61810" y="23360"/>
                  </a:lnTo>
                  <a:lnTo>
                    <a:pt x="31004" y="50369"/>
                  </a:lnTo>
                  <a:lnTo>
                    <a:pt x="12880" y="87111"/>
                  </a:lnTo>
                  <a:lnTo>
                    <a:pt x="9524" y="107420"/>
                  </a:lnTo>
                  <a:lnTo>
                    <a:pt x="9524" y="1559454"/>
                  </a:lnTo>
                  <a:lnTo>
                    <a:pt x="20133" y="1599026"/>
                  </a:lnTo>
                  <a:lnTo>
                    <a:pt x="45077" y="1631526"/>
                  </a:lnTo>
                  <a:lnTo>
                    <a:pt x="80560" y="1652006"/>
                  </a:lnTo>
                  <a:lnTo>
                    <a:pt x="107420" y="1657349"/>
                  </a:lnTo>
                  <a:lnTo>
                    <a:pt x="3198260" y="1657349"/>
                  </a:lnTo>
                  <a:lnTo>
                    <a:pt x="3196514" y="1658173"/>
                  </a:lnTo>
                  <a:lnTo>
                    <a:pt x="3185904" y="1661980"/>
                  </a:lnTo>
                  <a:lnTo>
                    <a:pt x="3175077" y="1664699"/>
                  </a:lnTo>
                  <a:lnTo>
                    <a:pt x="3164034" y="1666330"/>
                  </a:lnTo>
                  <a:lnTo>
                    <a:pt x="3152774" y="1666874"/>
                  </a:lnTo>
                  <a:close/>
                </a:path>
                <a:path w="3267075" h="1666875">
                  <a:moveTo>
                    <a:pt x="3198260" y="1657349"/>
                  </a:moveTo>
                  <a:lnTo>
                    <a:pt x="3159654" y="1657349"/>
                  </a:lnTo>
                  <a:lnTo>
                    <a:pt x="3166467" y="1656678"/>
                  </a:lnTo>
                  <a:lnTo>
                    <a:pt x="3179962" y="1653994"/>
                  </a:lnTo>
                  <a:lnTo>
                    <a:pt x="3216704" y="1635869"/>
                  </a:lnTo>
                  <a:lnTo>
                    <a:pt x="3243713" y="1605064"/>
                  </a:lnTo>
                  <a:lnTo>
                    <a:pt x="3256878" y="1566268"/>
                  </a:lnTo>
                  <a:lnTo>
                    <a:pt x="3257549" y="1559454"/>
                  </a:lnTo>
                  <a:lnTo>
                    <a:pt x="3257549" y="107420"/>
                  </a:lnTo>
                  <a:lnTo>
                    <a:pt x="3246940" y="67848"/>
                  </a:lnTo>
                  <a:lnTo>
                    <a:pt x="3221997" y="35348"/>
                  </a:lnTo>
                  <a:lnTo>
                    <a:pt x="3186514" y="14867"/>
                  </a:lnTo>
                  <a:lnTo>
                    <a:pt x="3159654" y="9524"/>
                  </a:lnTo>
                  <a:lnTo>
                    <a:pt x="3198261" y="9524"/>
                  </a:lnTo>
                  <a:lnTo>
                    <a:pt x="3233596" y="33477"/>
                  </a:lnTo>
                  <a:lnTo>
                    <a:pt x="3258372" y="70559"/>
                  </a:lnTo>
                  <a:lnTo>
                    <a:pt x="3267074" y="114299"/>
                  </a:lnTo>
                  <a:lnTo>
                    <a:pt x="3267074" y="1552574"/>
                  </a:lnTo>
                  <a:lnTo>
                    <a:pt x="3266530" y="1563834"/>
                  </a:lnTo>
                  <a:lnTo>
                    <a:pt x="3253561" y="1606509"/>
                  </a:lnTo>
                  <a:lnTo>
                    <a:pt x="3225250" y="1640974"/>
                  </a:lnTo>
                  <a:lnTo>
                    <a:pt x="3206709" y="1653362"/>
                  </a:lnTo>
                  <a:lnTo>
                    <a:pt x="3198260" y="1657349"/>
                  </a:lnTo>
                  <a:close/>
                </a:path>
              </a:pathLst>
            </a:custGeom>
            <a:solidFill>
              <a:srgbClr val="D4A573">
                <a:alpha val="19999"/>
              </a:srgbClr>
            </a:solidFill>
          </p:spPr>
          <p:txBody>
            <a:bodyPr wrap="square" lIns="0" tIns="0" rIns="0" bIns="0" rtlCol="0"/>
            <a:lstStyle/>
            <a:p/>
          </p:txBody>
        </p:sp>
      </p:grpSp>
      <p:sp>
        <p:nvSpPr>
          <p:cNvPr id="17" name="object 17"/>
          <p:cNvSpPr txBox="1"/>
          <p:nvPr/>
        </p:nvSpPr>
        <p:spPr>
          <a:xfrm>
            <a:off x="4020095" y="1661114"/>
            <a:ext cx="2311400" cy="692150"/>
          </a:xfrm>
          <a:prstGeom prst="rect">
            <a:avLst/>
          </a:prstGeom>
        </p:spPr>
        <p:txBody>
          <a:bodyPr vert="horz" wrap="square" lIns="0" tIns="66040" rIns="0" bIns="0" rtlCol="0">
            <a:spAutoFit/>
          </a:bodyPr>
          <a:lstStyle/>
          <a:p>
            <a:pPr marL="12700">
              <a:lnSpc>
                <a:spcPct val="100000"/>
              </a:lnSpc>
              <a:spcBef>
                <a:spcPts val="520"/>
              </a:spcBef>
            </a:pPr>
            <a:r>
              <a:rPr sz="650" spc="95" dirty="0">
                <a:solidFill>
                  <a:srgbClr val="D4A573"/>
                </a:solidFill>
                <a:latin typeface="宋体" panose="02010600030101010101" pitchFamily="2" charset="-122"/>
                <a:cs typeface="宋体" panose="02010600030101010101" pitchFamily="2" charset="-122"/>
              </a:rPr>
              <a:t>CHALLENGE</a:t>
            </a:r>
            <a:r>
              <a:rPr sz="650" spc="-55" dirty="0">
                <a:solidFill>
                  <a:srgbClr val="D4A573"/>
                </a:solidFill>
                <a:latin typeface="宋体" panose="02010600030101010101" pitchFamily="2" charset="-122"/>
                <a:cs typeface="宋体" panose="02010600030101010101" pitchFamily="2" charset="-122"/>
              </a:rPr>
              <a:t> </a:t>
            </a:r>
            <a:r>
              <a:rPr sz="650" spc="90" dirty="0">
                <a:solidFill>
                  <a:srgbClr val="D4A573"/>
                </a:solidFill>
                <a:latin typeface="宋体" panose="02010600030101010101" pitchFamily="2" charset="-122"/>
                <a:cs typeface="宋体" panose="02010600030101010101" pitchFamily="2" charset="-122"/>
              </a:rPr>
              <a:t>02</a:t>
            </a:r>
            <a:r>
              <a:rPr sz="650" spc="-55" dirty="0">
                <a:solidFill>
                  <a:srgbClr val="D4A573"/>
                </a:solidFill>
                <a:latin typeface="宋体" panose="02010600030101010101" pitchFamily="2" charset="-122"/>
                <a:cs typeface="宋体" panose="02010600030101010101" pitchFamily="2" charset="-122"/>
              </a:rPr>
              <a:t> </a:t>
            </a:r>
            <a:r>
              <a:rPr sz="650" b="1" dirty="0">
                <a:solidFill>
                  <a:srgbClr val="D4A573"/>
                </a:solidFill>
                <a:latin typeface="Arial" panose="020B0604020202020204"/>
                <a:cs typeface="Arial" panose="020B0604020202020204"/>
              </a:rPr>
              <a:t>•</a:t>
            </a:r>
            <a:r>
              <a:rPr sz="650" b="1" spc="90" dirty="0">
                <a:solidFill>
                  <a:srgbClr val="D4A573"/>
                </a:solidFill>
                <a:latin typeface="Arial" panose="020B0604020202020204"/>
                <a:cs typeface="Arial" panose="020B0604020202020204"/>
              </a:rPr>
              <a:t> </a:t>
            </a:r>
            <a:r>
              <a:rPr sz="650" spc="95" dirty="0">
                <a:solidFill>
                  <a:srgbClr val="D4A573"/>
                </a:solidFill>
                <a:latin typeface="宋体" panose="02010600030101010101" pitchFamily="2" charset="-122"/>
                <a:cs typeface="宋体" panose="02010600030101010101" pitchFamily="2" charset="-122"/>
              </a:rPr>
              <a:t>OVERLOOKED</a:t>
            </a:r>
            <a:endParaRPr sz="650">
              <a:latin typeface="宋体" panose="02010600030101010101" pitchFamily="2" charset="-122"/>
              <a:cs typeface="宋体" panose="02010600030101010101" pitchFamily="2" charset="-122"/>
            </a:endParaRPr>
          </a:p>
          <a:p>
            <a:pPr marL="12700">
              <a:lnSpc>
                <a:spcPct val="100000"/>
              </a:lnSpc>
              <a:spcBef>
                <a:spcPts val="620"/>
              </a:spcBef>
            </a:pPr>
            <a:r>
              <a:rPr sz="1050" spc="-65" dirty="0">
                <a:solidFill>
                  <a:srgbClr val="111726"/>
                </a:solidFill>
                <a:latin typeface="宋体" panose="02010600030101010101" pitchFamily="2" charset="-122"/>
                <a:cs typeface="宋体" panose="02010600030101010101" pitchFamily="2" charset="-122"/>
              </a:rPr>
              <a:t>概念漂移 (</a:t>
            </a:r>
            <a:r>
              <a:rPr sz="1050" spc="-50" dirty="0">
                <a:solidFill>
                  <a:srgbClr val="111726"/>
                </a:solidFill>
                <a:latin typeface="宋体" panose="02010600030101010101" pitchFamily="2" charset="-122"/>
                <a:cs typeface="宋体" panose="02010600030101010101" pitchFamily="2" charset="-122"/>
              </a:rPr>
              <a:t>Concept</a:t>
            </a:r>
            <a:r>
              <a:rPr sz="1050" spc="-225" dirty="0">
                <a:solidFill>
                  <a:srgbClr val="111726"/>
                </a:solidFill>
                <a:latin typeface="宋体" panose="02010600030101010101" pitchFamily="2" charset="-122"/>
                <a:cs typeface="宋体" panose="02010600030101010101" pitchFamily="2" charset="-122"/>
              </a:rPr>
              <a:t> </a:t>
            </a:r>
            <a:r>
              <a:rPr sz="1050" spc="-10" dirty="0">
                <a:solidFill>
                  <a:srgbClr val="111726"/>
                </a:solidFill>
                <a:latin typeface="宋体" panose="02010600030101010101" pitchFamily="2" charset="-122"/>
                <a:cs typeface="宋体" panose="02010600030101010101" pitchFamily="2" charset="-122"/>
              </a:rPr>
              <a:t>Drift)</a:t>
            </a:r>
            <a:endParaRPr sz="1050">
              <a:latin typeface="宋体" panose="02010600030101010101" pitchFamily="2" charset="-122"/>
              <a:cs typeface="宋体" panose="02010600030101010101" pitchFamily="2" charset="-122"/>
            </a:endParaRPr>
          </a:p>
          <a:p>
            <a:pPr marL="12700">
              <a:lnSpc>
                <a:spcPct val="100000"/>
              </a:lnSpc>
              <a:spcBef>
                <a:spcPts val="965"/>
              </a:spcBef>
            </a:pPr>
            <a:r>
              <a:rPr sz="1000" spc="-100" dirty="0">
                <a:solidFill>
                  <a:srgbClr val="374050"/>
                </a:solidFill>
                <a:latin typeface="宋体" panose="02010600030101010101" pitchFamily="2" charset="-122"/>
                <a:cs typeface="宋体" panose="02010600030101010101" pitchFamily="2" charset="-122"/>
              </a:rPr>
              <a:t>协变量与目标变量的</a:t>
            </a:r>
            <a:r>
              <a:rPr sz="1000" b="1" spc="-100" dirty="0">
                <a:solidFill>
                  <a:srgbClr val="111726"/>
                </a:solidFill>
                <a:latin typeface="微软雅黑" panose="020B0503020204020204" charset="-122"/>
                <a:cs typeface="微软雅黑" panose="020B0503020204020204" charset="-122"/>
              </a:rPr>
              <a:t>条件分布</a:t>
            </a:r>
            <a:r>
              <a:rPr sz="1000" spc="-100" dirty="0">
                <a:solidFill>
                  <a:srgbClr val="374050"/>
                </a:solidFill>
                <a:latin typeface="宋体" panose="02010600030101010101" pitchFamily="2" charset="-122"/>
                <a:cs typeface="宋体" panose="02010600030101010101" pitchFamily="2" charset="-122"/>
              </a:rPr>
              <a:t>随时间变化（</a:t>
            </a:r>
            <a:r>
              <a:rPr sz="1000" spc="-50" dirty="0">
                <a:solidFill>
                  <a:srgbClr val="374050"/>
                </a:solidFill>
                <a:latin typeface="宋体" panose="02010600030101010101" pitchFamily="2" charset="-122"/>
                <a:cs typeface="宋体" panose="02010600030101010101" pitchFamily="2" charset="-122"/>
              </a:rPr>
              <a:t>即</a:t>
            </a:r>
            <a:endParaRPr sz="1000">
              <a:latin typeface="宋体" panose="02010600030101010101" pitchFamily="2" charset="-122"/>
              <a:cs typeface="宋体" panose="02010600030101010101" pitchFamily="2" charset="-122"/>
            </a:endParaRPr>
          </a:p>
        </p:txBody>
      </p:sp>
      <p:grpSp>
        <p:nvGrpSpPr>
          <p:cNvPr id="18" name="object 18"/>
          <p:cNvGrpSpPr/>
          <p:nvPr/>
        </p:nvGrpSpPr>
        <p:grpSpPr>
          <a:xfrm>
            <a:off x="4029074" y="2705099"/>
            <a:ext cx="2943225" cy="285750"/>
            <a:chOff x="4029074" y="2705099"/>
            <a:chExt cx="2943225" cy="285750"/>
          </a:xfrm>
        </p:grpSpPr>
        <p:sp>
          <p:nvSpPr>
            <p:cNvPr id="19" name="object 19"/>
            <p:cNvSpPr/>
            <p:nvPr/>
          </p:nvSpPr>
          <p:spPr>
            <a:xfrm>
              <a:off x="4029074" y="2705099"/>
              <a:ext cx="2943225" cy="9525"/>
            </a:xfrm>
            <a:custGeom>
              <a:avLst/>
              <a:gdLst/>
              <a:ahLst/>
              <a:cxnLst/>
              <a:rect l="l" t="t" r="r" b="b"/>
              <a:pathLst>
                <a:path w="2943225" h="9525">
                  <a:moveTo>
                    <a:pt x="2943224" y="9524"/>
                  </a:moveTo>
                  <a:lnTo>
                    <a:pt x="0" y="9524"/>
                  </a:lnTo>
                  <a:lnTo>
                    <a:pt x="0" y="0"/>
                  </a:lnTo>
                  <a:lnTo>
                    <a:pt x="2943224" y="0"/>
                  </a:lnTo>
                  <a:lnTo>
                    <a:pt x="2943224" y="9524"/>
                  </a:lnTo>
                  <a:close/>
                </a:path>
              </a:pathLst>
            </a:custGeom>
            <a:solidFill>
              <a:srgbClr val="D4A573">
                <a:alpha val="14898"/>
              </a:srgbClr>
            </a:solidFill>
          </p:spPr>
          <p:txBody>
            <a:bodyPr wrap="square" lIns="0" tIns="0" rIns="0" bIns="0" rtlCol="0"/>
            <a:lstStyle/>
            <a:p/>
          </p:txBody>
        </p:sp>
        <p:sp>
          <p:nvSpPr>
            <p:cNvPr id="20" name="object 20"/>
            <p:cNvSpPr/>
            <p:nvPr/>
          </p:nvSpPr>
          <p:spPr>
            <a:xfrm>
              <a:off x="6172199" y="2790824"/>
              <a:ext cx="800100" cy="200025"/>
            </a:xfrm>
            <a:custGeom>
              <a:avLst/>
              <a:gdLst/>
              <a:ahLst/>
              <a:cxnLst/>
              <a:rect l="l" t="t" r="r" b="b"/>
              <a:pathLst>
                <a:path w="800100" h="200025">
                  <a:moveTo>
                    <a:pt x="761999" y="200024"/>
                  </a:moveTo>
                  <a:lnTo>
                    <a:pt x="38099" y="200024"/>
                  </a:lnTo>
                  <a:lnTo>
                    <a:pt x="30497" y="199327"/>
                  </a:lnTo>
                  <a:lnTo>
                    <a:pt x="697" y="169526"/>
                  </a:lnTo>
                  <a:lnTo>
                    <a:pt x="0" y="161924"/>
                  </a:lnTo>
                  <a:lnTo>
                    <a:pt x="0" y="38099"/>
                  </a:lnTo>
                  <a:lnTo>
                    <a:pt x="23473" y="2789"/>
                  </a:lnTo>
                  <a:lnTo>
                    <a:pt x="38099" y="0"/>
                  </a:lnTo>
                  <a:lnTo>
                    <a:pt x="761999" y="0"/>
                  </a:lnTo>
                  <a:lnTo>
                    <a:pt x="797309" y="23473"/>
                  </a:lnTo>
                  <a:lnTo>
                    <a:pt x="800099" y="38099"/>
                  </a:lnTo>
                  <a:lnTo>
                    <a:pt x="800099" y="161924"/>
                  </a:lnTo>
                  <a:lnTo>
                    <a:pt x="776625" y="197234"/>
                  </a:lnTo>
                  <a:lnTo>
                    <a:pt x="761999" y="200024"/>
                  </a:lnTo>
                  <a:close/>
                </a:path>
              </a:pathLst>
            </a:custGeom>
            <a:solidFill>
              <a:srgbClr val="FFF5E7"/>
            </a:solidFill>
          </p:spPr>
          <p:txBody>
            <a:bodyPr wrap="square" lIns="0" tIns="0" rIns="0" bIns="0" rtlCol="0"/>
            <a:lstStyle/>
            <a:p/>
          </p:txBody>
        </p:sp>
        <p:sp>
          <p:nvSpPr>
            <p:cNvPr id="21" name="object 21"/>
            <p:cNvSpPr/>
            <p:nvPr/>
          </p:nvSpPr>
          <p:spPr>
            <a:xfrm>
              <a:off x="6172199" y="2790824"/>
              <a:ext cx="800100" cy="200025"/>
            </a:xfrm>
            <a:custGeom>
              <a:avLst/>
              <a:gdLst/>
              <a:ahLst/>
              <a:cxnLst/>
              <a:rect l="l" t="t" r="r" b="b"/>
              <a:pathLst>
                <a:path w="800100" h="200025">
                  <a:moveTo>
                    <a:pt x="761999" y="200024"/>
                  </a:moveTo>
                  <a:lnTo>
                    <a:pt x="38099" y="200024"/>
                  </a:lnTo>
                  <a:lnTo>
                    <a:pt x="30497" y="199327"/>
                  </a:lnTo>
                  <a:lnTo>
                    <a:pt x="697" y="169526"/>
                  </a:lnTo>
                  <a:lnTo>
                    <a:pt x="0" y="161924"/>
                  </a:lnTo>
                  <a:lnTo>
                    <a:pt x="0" y="38099"/>
                  </a:lnTo>
                  <a:lnTo>
                    <a:pt x="681" y="30665"/>
                  </a:lnTo>
                  <a:lnTo>
                    <a:pt x="697" y="30498"/>
                  </a:lnTo>
                  <a:lnTo>
                    <a:pt x="30497" y="697"/>
                  </a:lnTo>
                  <a:lnTo>
                    <a:pt x="38099" y="0"/>
                  </a:lnTo>
                  <a:lnTo>
                    <a:pt x="761999" y="0"/>
                  </a:lnTo>
                  <a:lnTo>
                    <a:pt x="769601" y="697"/>
                  </a:lnTo>
                  <a:lnTo>
                    <a:pt x="776625" y="2789"/>
                  </a:lnTo>
                  <a:lnTo>
                    <a:pt x="783071" y="6276"/>
                  </a:lnTo>
                  <a:lnTo>
                    <a:pt x="786975" y="9524"/>
                  </a:lnTo>
                  <a:lnTo>
                    <a:pt x="34310" y="9524"/>
                  </a:lnTo>
                  <a:lnTo>
                    <a:pt x="30665" y="10249"/>
                  </a:lnTo>
                  <a:lnTo>
                    <a:pt x="9524" y="34310"/>
                  </a:lnTo>
                  <a:lnTo>
                    <a:pt x="9524" y="165714"/>
                  </a:lnTo>
                  <a:lnTo>
                    <a:pt x="34310" y="190499"/>
                  </a:lnTo>
                  <a:lnTo>
                    <a:pt x="786975" y="190499"/>
                  </a:lnTo>
                  <a:lnTo>
                    <a:pt x="783071" y="193747"/>
                  </a:lnTo>
                  <a:lnTo>
                    <a:pt x="776625" y="197235"/>
                  </a:lnTo>
                  <a:lnTo>
                    <a:pt x="769601" y="199327"/>
                  </a:lnTo>
                  <a:lnTo>
                    <a:pt x="761999" y="200024"/>
                  </a:lnTo>
                  <a:close/>
                </a:path>
                <a:path w="800100" h="200025">
                  <a:moveTo>
                    <a:pt x="786975" y="190499"/>
                  </a:moveTo>
                  <a:lnTo>
                    <a:pt x="765789" y="190499"/>
                  </a:lnTo>
                  <a:lnTo>
                    <a:pt x="769434" y="189774"/>
                  </a:lnTo>
                  <a:lnTo>
                    <a:pt x="776435" y="186874"/>
                  </a:lnTo>
                  <a:lnTo>
                    <a:pt x="779525" y="184809"/>
                  </a:lnTo>
                  <a:lnTo>
                    <a:pt x="784884" y="179451"/>
                  </a:lnTo>
                  <a:lnTo>
                    <a:pt x="786822" y="176550"/>
                  </a:lnTo>
                  <a:lnTo>
                    <a:pt x="786949" y="176360"/>
                  </a:lnTo>
                  <a:lnTo>
                    <a:pt x="789780" y="169526"/>
                  </a:lnTo>
                  <a:lnTo>
                    <a:pt x="789849" y="169359"/>
                  </a:lnTo>
                  <a:lnTo>
                    <a:pt x="790574" y="165714"/>
                  </a:lnTo>
                  <a:lnTo>
                    <a:pt x="790574" y="34310"/>
                  </a:lnTo>
                  <a:lnTo>
                    <a:pt x="789849" y="30665"/>
                  </a:lnTo>
                  <a:lnTo>
                    <a:pt x="765789" y="9524"/>
                  </a:lnTo>
                  <a:lnTo>
                    <a:pt x="786975" y="9524"/>
                  </a:lnTo>
                  <a:lnTo>
                    <a:pt x="800099" y="161924"/>
                  </a:lnTo>
                  <a:lnTo>
                    <a:pt x="799417" y="169359"/>
                  </a:lnTo>
                  <a:lnTo>
                    <a:pt x="788940" y="188865"/>
                  </a:lnTo>
                  <a:lnTo>
                    <a:pt x="786975" y="190499"/>
                  </a:lnTo>
                  <a:close/>
                </a:path>
              </a:pathLst>
            </a:custGeom>
            <a:solidFill>
              <a:srgbClr val="D4A573">
                <a:alpha val="19999"/>
              </a:srgbClr>
            </a:solidFill>
          </p:spPr>
          <p:txBody>
            <a:bodyPr wrap="square" lIns="0" tIns="0" rIns="0" bIns="0" rtlCol="0"/>
            <a:lstStyle/>
            <a:p/>
          </p:txBody>
        </p:sp>
      </p:grpSp>
      <p:sp>
        <p:nvSpPr>
          <p:cNvPr id="22" name="object 22"/>
          <p:cNvSpPr txBox="1"/>
          <p:nvPr/>
        </p:nvSpPr>
        <p:spPr>
          <a:xfrm>
            <a:off x="4020095" y="2816225"/>
            <a:ext cx="997585" cy="139700"/>
          </a:xfrm>
          <a:prstGeom prst="rect">
            <a:avLst/>
          </a:prstGeom>
        </p:spPr>
        <p:txBody>
          <a:bodyPr vert="horz" wrap="square" lIns="0" tIns="12700" rIns="0" bIns="0" rtlCol="0">
            <a:spAutoFit/>
          </a:bodyPr>
          <a:lstStyle/>
          <a:p>
            <a:pPr marL="12700">
              <a:lnSpc>
                <a:spcPct val="100000"/>
              </a:lnSpc>
              <a:spcBef>
                <a:spcPts val="100"/>
              </a:spcBef>
            </a:pPr>
            <a:r>
              <a:rPr sz="750" spc="-45" dirty="0">
                <a:solidFill>
                  <a:srgbClr val="6A7280"/>
                </a:solidFill>
                <a:latin typeface="宋体" panose="02010600030101010101" pitchFamily="2" charset="-122"/>
                <a:cs typeface="宋体" panose="02010600030101010101" pitchFamily="2" charset="-122"/>
              </a:rPr>
              <a:t>Conditional</a:t>
            </a:r>
            <a:r>
              <a:rPr sz="750" spc="-155" dirty="0">
                <a:solidFill>
                  <a:srgbClr val="6A7280"/>
                </a:solidFill>
                <a:latin typeface="宋体" panose="02010600030101010101" pitchFamily="2" charset="-122"/>
                <a:cs typeface="宋体" panose="02010600030101010101" pitchFamily="2" charset="-122"/>
              </a:rPr>
              <a:t> </a:t>
            </a:r>
            <a:r>
              <a:rPr sz="750" spc="-60" dirty="0">
                <a:solidFill>
                  <a:srgbClr val="6A7280"/>
                </a:solidFill>
                <a:latin typeface="宋体" panose="02010600030101010101" pitchFamily="2" charset="-122"/>
                <a:cs typeface="宋体" panose="02010600030101010101" pitchFamily="2" charset="-122"/>
              </a:rPr>
              <a:t>Distribution</a:t>
            </a:r>
            <a:endParaRPr sz="750">
              <a:latin typeface="宋体" panose="02010600030101010101" pitchFamily="2" charset="-122"/>
              <a:cs typeface="宋体" panose="02010600030101010101" pitchFamily="2" charset="-122"/>
            </a:endParaRPr>
          </a:p>
        </p:txBody>
      </p:sp>
      <p:sp>
        <p:nvSpPr>
          <p:cNvPr id="23" name="object 23"/>
          <p:cNvSpPr txBox="1"/>
          <p:nvPr/>
        </p:nvSpPr>
        <p:spPr>
          <a:xfrm>
            <a:off x="6229002" y="2816225"/>
            <a:ext cx="687705" cy="139700"/>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D4A573"/>
                </a:solidFill>
                <a:latin typeface="宋体" panose="02010600030101010101" pitchFamily="2" charset="-122"/>
                <a:cs typeface="宋体" panose="02010600030101010101" pitchFamily="2" charset="-122"/>
              </a:rPr>
              <a:t>Core</a:t>
            </a:r>
            <a:r>
              <a:rPr sz="750" spc="-155" dirty="0">
                <a:solidFill>
                  <a:srgbClr val="D4A573"/>
                </a:solidFill>
                <a:latin typeface="宋体" panose="02010600030101010101" pitchFamily="2" charset="-122"/>
                <a:cs typeface="宋体" panose="02010600030101010101" pitchFamily="2" charset="-122"/>
              </a:rPr>
              <a:t> </a:t>
            </a:r>
            <a:r>
              <a:rPr sz="750" spc="-30" dirty="0">
                <a:solidFill>
                  <a:srgbClr val="D4A573"/>
                </a:solidFill>
                <a:latin typeface="宋体" panose="02010600030101010101" pitchFamily="2" charset="-122"/>
                <a:cs typeface="宋体" panose="02010600030101010101" pitchFamily="2" charset="-122"/>
              </a:rPr>
              <a:t>Bottleneck</a:t>
            </a:r>
            <a:endParaRPr sz="750">
              <a:latin typeface="宋体" panose="02010600030101010101" pitchFamily="2" charset="-122"/>
              <a:cs typeface="宋体" panose="02010600030101010101" pitchFamily="2" charset="-122"/>
            </a:endParaRPr>
          </a:p>
        </p:txBody>
      </p:sp>
      <p:sp>
        <p:nvSpPr>
          <p:cNvPr id="24" name="object 24"/>
          <p:cNvSpPr txBox="1"/>
          <p:nvPr/>
        </p:nvSpPr>
        <p:spPr>
          <a:xfrm>
            <a:off x="581024" y="1661114"/>
            <a:ext cx="2957830" cy="873760"/>
          </a:xfrm>
          <a:prstGeom prst="rect">
            <a:avLst/>
          </a:prstGeom>
        </p:spPr>
        <p:txBody>
          <a:bodyPr vert="horz" wrap="square" lIns="0" tIns="66040" rIns="0" bIns="0" rtlCol="0">
            <a:spAutoFit/>
          </a:bodyPr>
          <a:lstStyle/>
          <a:p>
            <a:pPr marL="38100">
              <a:lnSpc>
                <a:spcPct val="100000"/>
              </a:lnSpc>
              <a:spcBef>
                <a:spcPts val="520"/>
              </a:spcBef>
            </a:pPr>
            <a:r>
              <a:rPr sz="650" spc="95" dirty="0">
                <a:solidFill>
                  <a:srgbClr val="9CA2AF"/>
                </a:solidFill>
                <a:latin typeface="宋体" panose="02010600030101010101" pitchFamily="2" charset="-122"/>
                <a:cs typeface="宋体" panose="02010600030101010101" pitchFamily="2" charset="-122"/>
              </a:rPr>
              <a:t>CHALLENGE</a:t>
            </a:r>
            <a:r>
              <a:rPr sz="650" spc="-60" dirty="0">
                <a:solidFill>
                  <a:srgbClr val="9CA2AF"/>
                </a:solidFill>
                <a:latin typeface="宋体" panose="02010600030101010101" pitchFamily="2" charset="-122"/>
                <a:cs typeface="宋体" panose="02010600030101010101" pitchFamily="2" charset="-122"/>
              </a:rPr>
              <a:t> </a:t>
            </a:r>
            <a:r>
              <a:rPr sz="650" spc="65" dirty="0">
                <a:solidFill>
                  <a:srgbClr val="9CA2AF"/>
                </a:solidFill>
                <a:latin typeface="宋体" panose="02010600030101010101" pitchFamily="2" charset="-122"/>
                <a:cs typeface="宋体" panose="02010600030101010101" pitchFamily="2" charset="-122"/>
              </a:rPr>
              <a:t>01</a:t>
            </a:r>
            <a:endParaRPr sz="650">
              <a:latin typeface="宋体" panose="02010600030101010101" pitchFamily="2" charset="-122"/>
              <a:cs typeface="宋体" panose="02010600030101010101" pitchFamily="2" charset="-122"/>
            </a:endParaRPr>
          </a:p>
          <a:p>
            <a:pPr marL="38100">
              <a:lnSpc>
                <a:spcPct val="100000"/>
              </a:lnSpc>
              <a:spcBef>
                <a:spcPts val="620"/>
              </a:spcBef>
            </a:pPr>
            <a:r>
              <a:rPr sz="1050" spc="-60" dirty="0">
                <a:solidFill>
                  <a:srgbClr val="1F2937"/>
                </a:solidFill>
                <a:latin typeface="宋体" panose="02010600030101010101" pitchFamily="2" charset="-122"/>
                <a:cs typeface="宋体" panose="02010600030101010101" pitchFamily="2" charset="-122"/>
              </a:rPr>
              <a:t>时间偏移 (</a:t>
            </a:r>
            <a:r>
              <a:rPr sz="1050" spc="-55" dirty="0">
                <a:solidFill>
                  <a:srgbClr val="1F2937"/>
                </a:solidFill>
                <a:latin typeface="宋体" panose="02010600030101010101" pitchFamily="2" charset="-122"/>
                <a:cs typeface="宋体" panose="02010600030101010101" pitchFamily="2" charset="-122"/>
              </a:rPr>
              <a:t>Temporal</a:t>
            </a:r>
            <a:r>
              <a:rPr sz="1050" spc="-210" dirty="0">
                <a:solidFill>
                  <a:srgbClr val="1F2937"/>
                </a:solidFill>
                <a:latin typeface="宋体" panose="02010600030101010101" pitchFamily="2" charset="-122"/>
                <a:cs typeface="宋体" panose="02010600030101010101" pitchFamily="2" charset="-122"/>
              </a:rPr>
              <a:t> </a:t>
            </a:r>
            <a:r>
              <a:rPr sz="1050" spc="-10" dirty="0">
                <a:solidFill>
                  <a:srgbClr val="1F2937"/>
                </a:solidFill>
                <a:latin typeface="宋体" panose="02010600030101010101" pitchFamily="2" charset="-122"/>
                <a:cs typeface="宋体" panose="02010600030101010101" pitchFamily="2" charset="-122"/>
              </a:rPr>
              <a:t>Shift)</a:t>
            </a:r>
            <a:endParaRPr sz="1050">
              <a:latin typeface="宋体" panose="02010600030101010101" pitchFamily="2" charset="-122"/>
              <a:cs typeface="宋体" panose="02010600030101010101" pitchFamily="2" charset="-122"/>
            </a:endParaRPr>
          </a:p>
          <a:p>
            <a:pPr marL="38100" marR="30480">
              <a:lnSpc>
                <a:spcPct val="115000"/>
              </a:lnSpc>
              <a:spcBef>
                <a:spcPts val="790"/>
              </a:spcBef>
            </a:pPr>
            <a:r>
              <a:rPr sz="1000" spc="-100" dirty="0">
                <a:solidFill>
                  <a:srgbClr val="6A7280"/>
                </a:solidFill>
                <a:latin typeface="宋体" panose="02010600030101010101" pitchFamily="2" charset="-122"/>
                <a:cs typeface="宋体" panose="02010600030101010101" pitchFamily="2" charset="-122"/>
              </a:rPr>
              <a:t>数据的</a:t>
            </a:r>
            <a:r>
              <a:rPr sz="1000" b="1" spc="-100" dirty="0">
                <a:solidFill>
                  <a:srgbClr val="111726"/>
                </a:solidFill>
                <a:latin typeface="微软雅黑" panose="020B0503020204020204" charset="-122"/>
                <a:cs typeface="微软雅黑" panose="020B0503020204020204" charset="-122"/>
              </a:rPr>
              <a:t>边缘</a:t>
            </a:r>
            <a:r>
              <a:rPr sz="1000" b="1" spc="-100" dirty="0">
                <a:solidFill>
                  <a:srgbClr val="111726"/>
                </a:solidFill>
                <a:latin typeface="Yu Gothic UI Semibold" panose="020B0700000000000000" charset="-128"/>
                <a:cs typeface="Yu Gothic UI Semibold" panose="020B0700000000000000" charset="-128"/>
              </a:rPr>
              <a:t>分布</a:t>
            </a:r>
            <a:r>
              <a:rPr sz="1000" spc="-100" dirty="0">
                <a:solidFill>
                  <a:srgbClr val="6A7280"/>
                </a:solidFill>
                <a:latin typeface="宋体" panose="02010600030101010101" pitchFamily="2" charset="-122"/>
                <a:cs typeface="宋体" panose="02010600030101010101" pitchFamily="2" charset="-122"/>
              </a:rPr>
              <a:t>随时间变化（</a:t>
            </a:r>
            <a:r>
              <a:rPr sz="1000" spc="-190" dirty="0">
                <a:solidFill>
                  <a:srgbClr val="6A7280"/>
                </a:solidFill>
                <a:latin typeface="宋体" panose="02010600030101010101" pitchFamily="2" charset="-122"/>
                <a:cs typeface="宋体" panose="02010600030101010101" pitchFamily="2" charset="-122"/>
              </a:rPr>
              <a:t>即 </a:t>
            </a:r>
            <a:r>
              <a:rPr sz="900" i="1" spc="110" dirty="0">
                <a:solidFill>
                  <a:srgbClr val="1A1A1A"/>
                </a:solidFill>
                <a:latin typeface="Calibri" panose="020F0502020204030204"/>
                <a:cs typeface="Calibri" panose="020F0502020204030204"/>
              </a:rPr>
              <a:t>P</a:t>
            </a:r>
            <a:r>
              <a:rPr sz="900" i="1" spc="-60" dirty="0">
                <a:solidFill>
                  <a:srgbClr val="1A1A1A"/>
                </a:solidFill>
                <a:latin typeface="Calibri" panose="020F0502020204030204"/>
                <a:cs typeface="Calibri" panose="020F0502020204030204"/>
              </a:rPr>
              <a:t> </a:t>
            </a:r>
            <a:r>
              <a:rPr sz="900" spc="95" dirty="0">
                <a:solidFill>
                  <a:srgbClr val="1A1A1A"/>
                </a:solidFill>
                <a:latin typeface="Cambria" panose="02040503050406030204"/>
                <a:cs typeface="Cambria" panose="02040503050406030204"/>
              </a:rPr>
              <a:t>(</a:t>
            </a:r>
            <a:r>
              <a:rPr sz="900" b="1" spc="95" dirty="0">
                <a:solidFill>
                  <a:srgbClr val="1A1A1A"/>
                </a:solidFill>
                <a:latin typeface="Georgia" panose="02040502050405020303"/>
                <a:cs typeface="Georgia" panose="02040502050405020303"/>
              </a:rPr>
              <a:t>Y</a:t>
            </a:r>
            <a:r>
              <a:rPr sz="900" i="1" spc="142" baseline="32000" dirty="0">
                <a:solidFill>
                  <a:srgbClr val="1A1A1A"/>
                </a:solidFill>
                <a:latin typeface="Calibri" panose="020F0502020204030204"/>
                <a:cs typeface="Calibri" panose="020F0502020204030204"/>
              </a:rPr>
              <a:t>H</a:t>
            </a:r>
            <a:r>
              <a:rPr sz="900" i="1" spc="-60" baseline="32000" dirty="0">
                <a:solidFill>
                  <a:srgbClr val="1A1A1A"/>
                </a:solidFill>
                <a:latin typeface="Calibri" panose="020F0502020204030204"/>
                <a:cs typeface="Calibri" panose="020F0502020204030204"/>
              </a:rPr>
              <a:t> </a:t>
            </a:r>
            <a:r>
              <a:rPr sz="900" spc="35" dirty="0">
                <a:solidFill>
                  <a:srgbClr val="1A1A1A"/>
                </a:solidFill>
                <a:latin typeface="Cambria" panose="02040503050406030204"/>
                <a:cs typeface="Cambria" panose="02040503050406030204"/>
              </a:rPr>
              <a:t>) </a:t>
            </a:r>
            <a:r>
              <a:rPr sz="900" spc="-175" dirty="0">
                <a:solidFill>
                  <a:srgbClr val="1A1A1A"/>
                </a:solidFill>
                <a:latin typeface="Cambria" panose="02040503050406030204"/>
                <a:cs typeface="Cambria" panose="02040503050406030204"/>
              </a:rPr>
              <a:t></a:t>
            </a:r>
            <a:r>
              <a:rPr sz="900" spc="-75" dirty="0">
                <a:solidFill>
                  <a:srgbClr val="1A1A1A"/>
                </a:solidFill>
                <a:latin typeface="Cambria" panose="02040503050406030204"/>
                <a:cs typeface="Cambria" panose="02040503050406030204"/>
              </a:rPr>
              <a:t>= </a:t>
            </a:r>
            <a:r>
              <a:rPr sz="900" i="1" spc="110" dirty="0">
                <a:solidFill>
                  <a:srgbClr val="1A1A1A"/>
                </a:solidFill>
                <a:latin typeface="Calibri" panose="020F0502020204030204"/>
                <a:cs typeface="Calibri" panose="020F0502020204030204"/>
              </a:rPr>
              <a:t>P</a:t>
            </a:r>
            <a:r>
              <a:rPr sz="900" i="1" spc="-60" dirty="0">
                <a:solidFill>
                  <a:srgbClr val="1A1A1A"/>
                </a:solidFill>
                <a:latin typeface="Calibri" panose="020F0502020204030204"/>
                <a:cs typeface="Calibri" panose="020F0502020204030204"/>
              </a:rPr>
              <a:t> </a:t>
            </a:r>
            <a:r>
              <a:rPr sz="900" spc="65" dirty="0">
                <a:solidFill>
                  <a:srgbClr val="1A1A1A"/>
                </a:solidFill>
                <a:latin typeface="Cambria" panose="02040503050406030204"/>
                <a:cs typeface="Cambria" panose="02040503050406030204"/>
              </a:rPr>
              <a:t>(</a:t>
            </a:r>
            <a:r>
              <a:rPr sz="900" b="1" spc="35" dirty="0">
                <a:solidFill>
                  <a:srgbClr val="1A1A1A"/>
                </a:solidFill>
                <a:latin typeface="Georgia" panose="02040502050405020303"/>
                <a:cs typeface="Georgia" panose="02040502050405020303"/>
              </a:rPr>
              <a:t>Y</a:t>
            </a:r>
            <a:r>
              <a:rPr sz="900" i="1" spc="52" baseline="32000" dirty="0">
                <a:solidFill>
                  <a:srgbClr val="1A1A1A"/>
                </a:solidFill>
                <a:latin typeface="Calibri" panose="020F0502020204030204"/>
                <a:cs typeface="Calibri" panose="020F0502020204030204"/>
              </a:rPr>
              <a:t>L</a:t>
            </a:r>
            <a:r>
              <a:rPr sz="900" spc="65" dirty="0">
                <a:solidFill>
                  <a:srgbClr val="1A1A1A"/>
                </a:solidFill>
                <a:latin typeface="Cambria" panose="02040503050406030204"/>
                <a:cs typeface="Cambria" panose="02040503050406030204"/>
              </a:rPr>
              <a:t>)</a:t>
            </a:r>
            <a:r>
              <a:rPr sz="1000" spc="-455" dirty="0">
                <a:solidFill>
                  <a:srgbClr val="6A7280"/>
                </a:solidFill>
                <a:latin typeface="宋体" panose="02010600030101010101" pitchFamily="2" charset="-122"/>
                <a:cs typeface="宋体" panose="02010600030101010101" pitchFamily="2" charset="-122"/>
              </a:rPr>
              <a:t>）</a:t>
            </a:r>
            <a:r>
              <a:rPr sz="1000" spc="-245" dirty="0">
                <a:solidFill>
                  <a:srgbClr val="6A7280"/>
                </a:solidFill>
                <a:latin typeface="宋体" panose="02010600030101010101" pitchFamily="2" charset="-122"/>
                <a:cs typeface="宋体" panose="02010600030101010101" pitchFamily="2" charset="-122"/>
              </a:rPr>
              <a:t>。当前</a:t>
            </a:r>
            <a:r>
              <a:rPr sz="1000" spc="-100" dirty="0">
                <a:solidFill>
                  <a:srgbClr val="6A7280"/>
                </a:solidFill>
                <a:latin typeface="宋体" panose="02010600030101010101" pitchFamily="2" charset="-122"/>
                <a:cs typeface="宋体" panose="02010600030101010101" pitchFamily="2" charset="-122"/>
              </a:rPr>
              <a:t>研究（如</a:t>
            </a:r>
            <a:r>
              <a:rPr sz="950" spc="-35" dirty="0">
                <a:solidFill>
                  <a:srgbClr val="6A7280"/>
                </a:solidFill>
                <a:latin typeface="Microsoft Sans Serif" panose="020B0604020202020204"/>
                <a:cs typeface="Microsoft Sans Serif" panose="020B0604020202020204"/>
              </a:rPr>
              <a:t>RevIN</a:t>
            </a:r>
            <a:r>
              <a:rPr sz="1050" spc="-20" dirty="0">
                <a:solidFill>
                  <a:srgbClr val="6A7280"/>
                </a:solidFill>
                <a:latin typeface="Javanese Text" panose="02000000000000000000"/>
                <a:cs typeface="Javanese Text" panose="02000000000000000000"/>
              </a:rPr>
              <a:t>, </a:t>
            </a:r>
            <a:r>
              <a:rPr sz="950" spc="-55" dirty="0">
                <a:solidFill>
                  <a:srgbClr val="6A7280"/>
                </a:solidFill>
                <a:latin typeface="Microsoft Sans Serif" panose="020B0604020202020204"/>
                <a:cs typeface="Microsoft Sans Serif" panose="020B0604020202020204"/>
              </a:rPr>
              <a:t>SAN</a:t>
            </a:r>
            <a:r>
              <a:rPr sz="1000" spc="-55" dirty="0">
                <a:solidFill>
                  <a:srgbClr val="6A7280"/>
                </a:solidFill>
                <a:latin typeface="宋体" panose="02010600030101010101" pitchFamily="2" charset="-122"/>
                <a:cs typeface="宋体" panose="02010600030101010101" pitchFamily="2" charset="-122"/>
              </a:rPr>
              <a:t>）</a:t>
            </a:r>
            <a:r>
              <a:rPr sz="1000" spc="-95" dirty="0">
                <a:solidFill>
                  <a:srgbClr val="6A7280"/>
                </a:solidFill>
                <a:latin typeface="宋体" panose="02010600030101010101" pitchFamily="2" charset="-122"/>
                <a:cs typeface="宋体" panose="02010600030101010101" pitchFamily="2" charset="-122"/>
              </a:rPr>
              <a:t>对其关注充分。</a:t>
            </a:r>
            <a:endParaRPr sz="1000">
              <a:latin typeface="宋体" panose="02010600030101010101" pitchFamily="2" charset="-122"/>
              <a:cs typeface="宋体" panose="02010600030101010101" pitchFamily="2" charset="-122"/>
            </a:endParaRPr>
          </a:p>
        </p:txBody>
      </p:sp>
      <p:sp>
        <p:nvSpPr>
          <p:cNvPr id="25" name="object 25"/>
          <p:cNvSpPr txBox="1"/>
          <p:nvPr/>
        </p:nvSpPr>
        <p:spPr>
          <a:xfrm>
            <a:off x="3981995" y="2353691"/>
            <a:ext cx="2991485" cy="199390"/>
          </a:xfrm>
          <a:prstGeom prst="rect">
            <a:avLst/>
          </a:prstGeom>
        </p:spPr>
        <p:txBody>
          <a:bodyPr vert="horz" wrap="square" lIns="0" tIns="14604" rIns="0" bIns="0" rtlCol="0">
            <a:spAutoFit/>
          </a:bodyPr>
          <a:lstStyle/>
          <a:p>
            <a:pPr marL="50800">
              <a:lnSpc>
                <a:spcPts val="915"/>
              </a:lnSpc>
              <a:spcBef>
                <a:spcPts val="115"/>
              </a:spcBef>
            </a:pPr>
            <a:r>
              <a:rPr sz="900" i="1" spc="110" dirty="0">
                <a:solidFill>
                  <a:srgbClr val="1A1A1A"/>
                </a:solidFill>
                <a:latin typeface="Calibri" panose="020F0502020204030204"/>
                <a:cs typeface="Calibri" panose="020F0502020204030204"/>
              </a:rPr>
              <a:t>P</a:t>
            </a:r>
            <a:r>
              <a:rPr sz="900" i="1" spc="-35" dirty="0">
                <a:solidFill>
                  <a:srgbClr val="1A1A1A"/>
                </a:solidFill>
                <a:latin typeface="Calibri" panose="020F0502020204030204"/>
                <a:cs typeface="Calibri" panose="020F0502020204030204"/>
              </a:rPr>
              <a:t> </a:t>
            </a:r>
            <a:r>
              <a:rPr sz="900" spc="95" dirty="0">
                <a:solidFill>
                  <a:srgbClr val="1A1A1A"/>
                </a:solidFill>
                <a:latin typeface="Cambria" panose="02040503050406030204"/>
                <a:cs typeface="Cambria" panose="02040503050406030204"/>
              </a:rPr>
              <a:t>(</a:t>
            </a:r>
            <a:r>
              <a:rPr sz="900" b="1" spc="95" dirty="0">
                <a:solidFill>
                  <a:srgbClr val="1A1A1A"/>
                </a:solidFill>
                <a:latin typeface="Georgia" panose="02040502050405020303"/>
                <a:cs typeface="Georgia" panose="02040502050405020303"/>
              </a:rPr>
              <a:t>Y</a:t>
            </a:r>
            <a:r>
              <a:rPr sz="900" i="1" spc="142" baseline="28000" dirty="0">
                <a:solidFill>
                  <a:srgbClr val="1A1A1A"/>
                </a:solidFill>
                <a:latin typeface="Calibri" panose="020F0502020204030204"/>
                <a:cs typeface="Calibri" panose="020F0502020204030204"/>
              </a:rPr>
              <a:t>H</a:t>
            </a:r>
            <a:r>
              <a:rPr sz="900" i="1" spc="-30" baseline="28000" dirty="0">
                <a:solidFill>
                  <a:srgbClr val="1A1A1A"/>
                </a:solidFill>
                <a:latin typeface="Calibri" panose="020F0502020204030204"/>
                <a:cs typeface="Calibri" panose="020F0502020204030204"/>
              </a:rPr>
              <a:t> </a:t>
            </a:r>
            <a:r>
              <a:rPr sz="900" dirty="0">
                <a:solidFill>
                  <a:srgbClr val="1A1A1A"/>
                </a:solidFill>
                <a:latin typeface="Cambria" panose="02040503050406030204"/>
                <a:cs typeface="Cambria" panose="02040503050406030204"/>
              </a:rPr>
              <a:t>∣</a:t>
            </a:r>
            <a:r>
              <a:rPr sz="900" b="1" dirty="0">
                <a:solidFill>
                  <a:srgbClr val="1A1A1A"/>
                </a:solidFill>
                <a:latin typeface="Georgia" panose="02040502050405020303"/>
                <a:cs typeface="Georgia" panose="02040502050405020303"/>
              </a:rPr>
              <a:t>X</a:t>
            </a:r>
            <a:r>
              <a:rPr sz="900" i="1" baseline="28000" dirty="0">
                <a:solidFill>
                  <a:srgbClr val="1A1A1A"/>
                </a:solidFill>
                <a:latin typeface="Calibri" panose="020F0502020204030204"/>
                <a:cs typeface="Calibri" panose="020F0502020204030204"/>
              </a:rPr>
              <a:t>L</a:t>
            </a:r>
            <a:r>
              <a:rPr sz="900" spc="-15" dirty="0">
                <a:solidFill>
                  <a:srgbClr val="1A1A1A"/>
                </a:solidFill>
                <a:latin typeface="Cambria" panose="02040503050406030204"/>
                <a:cs typeface="Cambria" panose="02040503050406030204"/>
              </a:rPr>
              <a:t>) =</a:t>
            </a:r>
            <a:r>
              <a:rPr sz="900" spc="-170" dirty="0">
                <a:solidFill>
                  <a:srgbClr val="1A1A1A"/>
                </a:solidFill>
                <a:latin typeface="Cambria" panose="02040503050406030204"/>
                <a:cs typeface="Cambria" panose="02040503050406030204"/>
              </a:rPr>
              <a:t></a:t>
            </a:r>
            <a:r>
              <a:rPr sz="900" spc="70" dirty="0">
                <a:solidFill>
                  <a:srgbClr val="1A1A1A"/>
                </a:solidFill>
                <a:latin typeface="Cambria" panose="02040503050406030204"/>
                <a:cs typeface="Cambria" panose="02040503050406030204"/>
              </a:rPr>
              <a:t> </a:t>
            </a:r>
            <a:r>
              <a:rPr sz="900" i="1" spc="110" dirty="0">
                <a:solidFill>
                  <a:srgbClr val="1A1A1A"/>
                </a:solidFill>
                <a:latin typeface="Calibri" panose="020F0502020204030204"/>
                <a:cs typeface="Calibri" panose="020F0502020204030204"/>
              </a:rPr>
              <a:t>P</a:t>
            </a:r>
            <a:r>
              <a:rPr sz="900" i="1" spc="-30" dirty="0">
                <a:solidFill>
                  <a:srgbClr val="1A1A1A"/>
                </a:solidFill>
                <a:latin typeface="Calibri" panose="020F0502020204030204"/>
                <a:cs typeface="Calibri" panose="020F0502020204030204"/>
              </a:rPr>
              <a:t> </a:t>
            </a:r>
            <a:r>
              <a:rPr sz="900" spc="95" dirty="0">
                <a:solidFill>
                  <a:srgbClr val="1A1A1A"/>
                </a:solidFill>
                <a:latin typeface="Cambria" panose="02040503050406030204"/>
                <a:cs typeface="Cambria" panose="02040503050406030204"/>
              </a:rPr>
              <a:t>(</a:t>
            </a:r>
            <a:r>
              <a:rPr sz="900" b="1" spc="95" dirty="0">
                <a:solidFill>
                  <a:srgbClr val="1A1A1A"/>
                </a:solidFill>
                <a:latin typeface="Georgia" panose="02040502050405020303"/>
                <a:cs typeface="Georgia" panose="02040502050405020303"/>
              </a:rPr>
              <a:t>Y</a:t>
            </a:r>
            <a:r>
              <a:rPr sz="900" i="1" spc="142" baseline="28000" dirty="0">
                <a:solidFill>
                  <a:srgbClr val="1A1A1A"/>
                </a:solidFill>
                <a:latin typeface="Calibri" panose="020F0502020204030204"/>
                <a:cs typeface="Calibri" panose="020F0502020204030204"/>
              </a:rPr>
              <a:t>H</a:t>
            </a:r>
            <a:r>
              <a:rPr sz="900" i="1" spc="-37" baseline="28000" dirty="0">
                <a:solidFill>
                  <a:srgbClr val="1A1A1A"/>
                </a:solidFill>
                <a:latin typeface="Calibri" panose="020F0502020204030204"/>
                <a:cs typeface="Calibri" panose="020F0502020204030204"/>
              </a:rPr>
              <a:t> </a:t>
            </a:r>
            <a:r>
              <a:rPr sz="900" spc="-5" dirty="0">
                <a:solidFill>
                  <a:srgbClr val="1A1A1A"/>
                </a:solidFill>
                <a:latin typeface="Cambria" panose="02040503050406030204"/>
                <a:cs typeface="Cambria" panose="02040503050406030204"/>
              </a:rPr>
              <a:t>∣</a:t>
            </a:r>
            <a:r>
              <a:rPr sz="900" b="1" spc="-5" dirty="0">
                <a:solidFill>
                  <a:srgbClr val="1A1A1A"/>
                </a:solidFill>
                <a:latin typeface="Georgia" panose="02040502050405020303"/>
                <a:cs typeface="Georgia" panose="02040502050405020303"/>
              </a:rPr>
              <a:t>X</a:t>
            </a:r>
            <a:r>
              <a:rPr sz="900" i="1" spc="30" baseline="28000" dirty="0">
                <a:solidFill>
                  <a:srgbClr val="1A1A1A"/>
                </a:solidFill>
                <a:latin typeface="Calibri" panose="020F0502020204030204"/>
                <a:cs typeface="Calibri" panose="020F0502020204030204"/>
              </a:rPr>
              <a:t>L</a:t>
            </a:r>
            <a:r>
              <a:rPr sz="900" spc="50" dirty="0">
                <a:solidFill>
                  <a:srgbClr val="1A1A1A"/>
                </a:solidFill>
                <a:latin typeface="Cambria" panose="02040503050406030204"/>
                <a:cs typeface="Cambria" panose="02040503050406030204"/>
              </a:rPr>
              <a:t>)</a:t>
            </a:r>
            <a:r>
              <a:rPr sz="1000" spc="-470" dirty="0">
                <a:solidFill>
                  <a:srgbClr val="374050"/>
                </a:solidFill>
                <a:latin typeface="宋体" panose="02010600030101010101" pitchFamily="2" charset="-122"/>
                <a:cs typeface="宋体" panose="02010600030101010101" pitchFamily="2" charset="-122"/>
              </a:rPr>
              <a:t>）</a:t>
            </a:r>
            <a:r>
              <a:rPr sz="1000" spc="-100" dirty="0">
                <a:solidFill>
                  <a:srgbClr val="374050"/>
                </a:solidFill>
                <a:latin typeface="宋体" panose="02010600030101010101" pitchFamily="2" charset="-122"/>
                <a:cs typeface="宋体" panose="02010600030101010101" pitchFamily="2" charset="-122"/>
              </a:rPr>
              <a:t>。是模型泛化崩溃的核心隐患。</a:t>
            </a:r>
            <a:endParaRPr sz="1000">
              <a:latin typeface="宋体" panose="02010600030101010101" pitchFamily="2" charset="-122"/>
              <a:cs typeface="宋体" panose="02010600030101010101" pitchFamily="2" charset="-122"/>
            </a:endParaRPr>
          </a:p>
          <a:p>
            <a:pPr marL="285115">
              <a:lnSpc>
                <a:spcPts val="430"/>
              </a:lnSpc>
              <a:tabLst>
                <a:tab pos="490855" algn="l"/>
                <a:tab pos="975360" algn="l"/>
                <a:tab pos="1181735" algn="l"/>
              </a:tabLst>
            </a:pPr>
            <a:r>
              <a:rPr sz="600" i="1" spc="25" dirty="0">
                <a:solidFill>
                  <a:srgbClr val="1A1A1A"/>
                </a:solidFill>
                <a:latin typeface="Calibri" panose="020F0502020204030204"/>
                <a:cs typeface="Calibri" panose="020F0502020204030204"/>
              </a:rPr>
              <a:t>i</a:t>
            </a:r>
            <a:r>
              <a:rPr sz="600" i="1" dirty="0">
                <a:solidFill>
                  <a:srgbClr val="1A1A1A"/>
                </a:solidFill>
                <a:latin typeface="Calibri" panose="020F0502020204030204"/>
                <a:cs typeface="Calibri" panose="020F0502020204030204"/>
              </a:rPr>
              <a:t>	</a:t>
            </a:r>
            <a:r>
              <a:rPr sz="600" i="1" spc="25" dirty="0">
                <a:solidFill>
                  <a:srgbClr val="1A1A1A"/>
                </a:solidFill>
                <a:latin typeface="Calibri" panose="020F0502020204030204"/>
                <a:cs typeface="Calibri" panose="020F0502020204030204"/>
              </a:rPr>
              <a:t>i</a:t>
            </a:r>
            <a:r>
              <a:rPr sz="600" i="1" dirty="0">
                <a:solidFill>
                  <a:srgbClr val="1A1A1A"/>
                </a:solidFill>
                <a:latin typeface="Calibri" panose="020F0502020204030204"/>
                <a:cs typeface="Calibri" panose="020F0502020204030204"/>
              </a:rPr>
              <a:t>	</a:t>
            </a:r>
            <a:r>
              <a:rPr sz="600" i="1" spc="60" dirty="0">
                <a:solidFill>
                  <a:srgbClr val="1A1A1A"/>
                </a:solidFill>
                <a:latin typeface="Calibri" panose="020F0502020204030204"/>
                <a:cs typeface="Calibri" panose="020F0502020204030204"/>
              </a:rPr>
              <a:t>j</a:t>
            </a:r>
            <a:r>
              <a:rPr sz="600" i="1" dirty="0">
                <a:solidFill>
                  <a:srgbClr val="1A1A1A"/>
                </a:solidFill>
                <a:latin typeface="Calibri" panose="020F0502020204030204"/>
                <a:cs typeface="Calibri" panose="020F0502020204030204"/>
              </a:rPr>
              <a:t>	</a:t>
            </a:r>
            <a:r>
              <a:rPr sz="600" i="1" spc="70" dirty="0">
                <a:solidFill>
                  <a:srgbClr val="1A1A1A"/>
                </a:solidFill>
                <a:latin typeface="Calibri" panose="020F0502020204030204"/>
                <a:cs typeface="Calibri" panose="020F0502020204030204"/>
              </a:rPr>
              <a:t>j</a:t>
            </a:r>
            <a:endParaRPr sz="600">
              <a:latin typeface="Calibri" panose="020F0502020204030204"/>
              <a:cs typeface="Calibri" panose="020F0502020204030204"/>
            </a:endParaRPr>
          </a:p>
        </p:txBody>
      </p:sp>
      <p:grpSp>
        <p:nvGrpSpPr>
          <p:cNvPr id="26" name="object 26"/>
          <p:cNvGrpSpPr/>
          <p:nvPr/>
        </p:nvGrpSpPr>
        <p:grpSpPr>
          <a:xfrm>
            <a:off x="457199" y="5238750"/>
            <a:ext cx="6677025" cy="1162050"/>
            <a:chOff x="457199" y="5238750"/>
            <a:chExt cx="6677025" cy="1162050"/>
          </a:xfrm>
        </p:grpSpPr>
        <p:pic>
          <p:nvPicPr>
            <p:cNvPr id="27" name="object 27"/>
            <p:cNvPicPr/>
            <p:nvPr/>
          </p:nvPicPr>
          <p:blipFill>
            <a:blip r:embed="rId1" cstate="print"/>
            <a:stretch>
              <a:fillRect/>
            </a:stretch>
          </p:blipFill>
          <p:spPr>
            <a:xfrm>
              <a:off x="457199" y="5238750"/>
              <a:ext cx="6677024" cy="1162049"/>
            </a:xfrm>
            <a:prstGeom prst="rect">
              <a:avLst/>
            </a:prstGeom>
          </p:spPr>
        </p:pic>
        <p:sp>
          <p:nvSpPr>
            <p:cNvPr id="28" name="object 28"/>
            <p:cNvSpPr/>
            <p:nvPr/>
          </p:nvSpPr>
          <p:spPr>
            <a:xfrm>
              <a:off x="457199" y="5238750"/>
              <a:ext cx="6677025" cy="1162050"/>
            </a:xfrm>
            <a:custGeom>
              <a:avLst/>
              <a:gdLst/>
              <a:ahLst/>
              <a:cxnLst/>
              <a:rect l="l" t="t" r="r" b="b"/>
              <a:pathLst>
                <a:path w="6677025" h="1162050">
                  <a:moveTo>
                    <a:pt x="6562724" y="1162049"/>
                  </a:moveTo>
                  <a:lnTo>
                    <a:pt x="114299" y="1162049"/>
                  </a:lnTo>
                  <a:lnTo>
                    <a:pt x="103040" y="1161505"/>
                  </a:lnTo>
                  <a:lnTo>
                    <a:pt x="60364" y="1148537"/>
                  </a:lnTo>
                  <a:lnTo>
                    <a:pt x="25900" y="1120225"/>
                  </a:lnTo>
                  <a:lnTo>
                    <a:pt x="4894" y="1080879"/>
                  </a:lnTo>
                  <a:lnTo>
                    <a:pt x="0" y="1047749"/>
                  </a:lnTo>
                  <a:lnTo>
                    <a:pt x="0" y="114299"/>
                  </a:lnTo>
                  <a:lnTo>
                    <a:pt x="8700" y="70559"/>
                  </a:lnTo>
                  <a:lnTo>
                    <a:pt x="33477" y="33477"/>
                  </a:lnTo>
                  <a:lnTo>
                    <a:pt x="70559" y="8700"/>
                  </a:lnTo>
                  <a:lnTo>
                    <a:pt x="114299" y="0"/>
                  </a:lnTo>
                  <a:lnTo>
                    <a:pt x="6562724" y="0"/>
                  </a:lnTo>
                  <a:lnTo>
                    <a:pt x="6606464" y="8700"/>
                  </a:lnTo>
                  <a:lnTo>
                    <a:pt x="6608212" y="9524"/>
                  </a:lnTo>
                  <a:lnTo>
                    <a:pt x="107420" y="9524"/>
                  </a:lnTo>
                  <a:lnTo>
                    <a:pt x="100606" y="10195"/>
                  </a:lnTo>
                  <a:lnTo>
                    <a:pt x="61810" y="23360"/>
                  </a:lnTo>
                  <a:lnTo>
                    <a:pt x="31004" y="50369"/>
                  </a:lnTo>
                  <a:lnTo>
                    <a:pt x="12880" y="87111"/>
                  </a:lnTo>
                  <a:lnTo>
                    <a:pt x="9524" y="107420"/>
                  </a:lnTo>
                  <a:lnTo>
                    <a:pt x="9524" y="1054629"/>
                  </a:lnTo>
                  <a:lnTo>
                    <a:pt x="20133" y="1094201"/>
                  </a:lnTo>
                  <a:lnTo>
                    <a:pt x="45077" y="1126701"/>
                  </a:lnTo>
                  <a:lnTo>
                    <a:pt x="80560" y="1147181"/>
                  </a:lnTo>
                  <a:lnTo>
                    <a:pt x="107420" y="1152524"/>
                  </a:lnTo>
                  <a:lnTo>
                    <a:pt x="6608210" y="1152524"/>
                  </a:lnTo>
                  <a:lnTo>
                    <a:pt x="6606464" y="1153348"/>
                  </a:lnTo>
                  <a:lnTo>
                    <a:pt x="6595854" y="1157155"/>
                  </a:lnTo>
                  <a:lnTo>
                    <a:pt x="6585027" y="1159874"/>
                  </a:lnTo>
                  <a:lnTo>
                    <a:pt x="6573984" y="1161505"/>
                  </a:lnTo>
                  <a:lnTo>
                    <a:pt x="6562724" y="1162049"/>
                  </a:lnTo>
                  <a:close/>
                </a:path>
                <a:path w="6677025" h="1162050">
                  <a:moveTo>
                    <a:pt x="6608210" y="1152524"/>
                  </a:moveTo>
                  <a:lnTo>
                    <a:pt x="6569604" y="1152524"/>
                  </a:lnTo>
                  <a:lnTo>
                    <a:pt x="6576417" y="1151853"/>
                  </a:lnTo>
                  <a:lnTo>
                    <a:pt x="6589912" y="1149169"/>
                  </a:lnTo>
                  <a:lnTo>
                    <a:pt x="6626653" y="1131044"/>
                  </a:lnTo>
                  <a:lnTo>
                    <a:pt x="6653663" y="1100239"/>
                  </a:lnTo>
                  <a:lnTo>
                    <a:pt x="6666828" y="1061442"/>
                  </a:lnTo>
                  <a:lnTo>
                    <a:pt x="6667499" y="1054629"/>
                  </a:lnTo>
                  <a:lnTo>
                    <a:pt x="6667499" y="107420"/>
                  </a:lnTo>
                  <a:lnTo>
                    <a:pt x="6656890" y="67848"/>
                  </a:lnTo>
                  <a:lnTo>
                    <a:pt x="6631946" y="35348"/>
                  </a:lnTo>
                  <a:lnTo>
                    <a:pt x="6596464" y="14867"/>
                  </a:lnTo>
                  <a:lnTo>
                    <a:pt x="6569604" y="9524"/>
                  </a:lnTo>
                  <a:lnTo>
                    <a:pt x="6608212" y="9524"/>
                  </a:lnTo>
                  <a:lnTo>
                    <a:pt x="6643546" y="33477"/>
                  </a:lnTo>
                  <a:lnTo>
                    <a:pt x="6668322" y="70559"/>
                  </a:lnTo>
                  <a:lnTo>
                    <a:pt x="6677024" y="114299"/>
                  </a:lnTo>
                  <a:lnTo>
                    <a:pt x="6677024" y="1047749"/>
                  </a:lnTo>
                  <a:lnTo>
                    <a:pt x="6676480" y="1059009"/>
                  </a:lnTo>
                  <a:lnTo>
                    <a:pt x="6663511" y="1101684"/>
                  </a:lnTo>
                  <a:lnTo>
                    <a:pt x="6635200" y="1136149"/>
                  </a:lnTo>
                  <a:lnTo>
                    <a:pt x="6616659" y="1148537"/>
                  </a:lnTo>
                  <a:lnTo>
                    <a:pt x="6608210" y="1152524"/>
                  </a:lnTo>
                  <a:close/>
                </a:path>
              </a:pathLst>
            </a:custGeom>
            <a:solidFill>
              <a:srgbClr val="5B8BA7">
                <a:alpha val="14898"/>
              </a:srgbClr>
            </a:solidFill>
          </p:spPr>
          <p:txBody>
            <a:bodyPr wrap="square" lIns="0" tIns="0" rIns="0" bIns="0" rtlCol="0"/>
            <a:lstStyle/>
            <a:p/>
          </p:txBody>
        </p:sp>
        <p:sp>
          <p:nvSpPr>
            <p:cNvPr id="29" name="object 29"/>
            <p:cNvSpPr/>
            <p:nvPr/>
          </p:nvSpPr>
          <p:spPr>
            <a:xfrm>
              <a:off x="619124" y="5400674"/>
              <a:ext cx="485775" cy="161925"/>
            </a:xfrm>
            <a:custGeom>
              <a:avLst/>
              <a:gdLst/>
              <a:ahLst/>
              <a:cxnLst/>
              <a:rect l="l" t="t" r="r" b="b"/>
              <a:pathLst>
                <a:path w="485775" h="161925">
                  <a:moveTo>
                    <a:pt x="452727" y="161924"/>
                  </a:moveTo>
                  <a:lnTo>
                    <a:pt x="33047" y="161924"/>
                  </a:lnTo>
                  <a:lnTo>
                    <a:pt x="28187" y="160958"/>
                  </a:lnTo>
                  <a:lnTo>
                    <a:pt x="966" y="133737"/>
                  </a:lnTo>
                  <a:lnTo>
                    <a:pt x="0" y="128877"/>
                  </a:lnTo>
                  <a:lnTo>
                    <a:pt x="0" y="123824"/>
                  </a:lnTo>
                  <a:lnTo>
                    <a:pt x="0" y="33047"/>
                  </a:lnTo>
                  <a:lnTo>
                    <a:pt x="28187" y="966"/>
                  </a:lnTo>
                  <a:lnTo>
                    <a:pt x="33047" y="0"/>
                  </a:lnTo>
                  <a:lnTo>
                    <a:pt x="452727" y="0"/>
                  </a:lnTo>
                  <a:lnTo>
                    <a:pt x="484808" y="28187"/>
                  </a:lnTo>
                  <a:lnTo>
                    <a:pt x="485774" y="33047"/>
                  </a:lnTo>
                  <a:lnTo>
                    <a:pt x="485774" y="128877"/>
                  </a:lnTo>
                  <a:lnTo>
                    <a:pt x="457587" y="160958"/>
                  </a:lnTo>
                  <a:lnTo>
                    <a:pt x="452727" y="161924"/>
                  </a:lnTo>
                  <a:close/>
                </a:path>
              </a:pathLst>
            </a:custGeom>
            <a:solidFill>
              <a:srgbClr val="5B8BA7"/>
            </a:solidFill>
          </p:spPr>
          <p:txBody>
            <a:bodyPr wrap="square" lIns="0" tIns="0" rIns="0" bIns="0" rtlCol="0"/>
            <a:lstStyle/>
            <a:p/>
          </p:txBody>
        </p:sp>
      </p:grpSp>
      <p:sp>
        <p:nvSpPr>
          <p:cNvPr id="30" name="object 30"/>
          <p:cNvSpPr txBox="1"/>
          <p:nvPr/>
        </p:nvSpPr>
        <p:spPr>
          <a:xfrm>
            <a:off x="663574" y="5407025"/>
            <a:ext cx="387350" cy="128270"/>
          </a:xfrm>
          <a:prstGeom prst="rect">
            <a:avLst/>
          </a:prstGeom>
        </p:spPr>
        <p:txBody>
          <a:bodyPr vert="horz" wrap="square" lIns="0" tIns="15875" rIns="0" bIns="0" rtlCol="0">
            <a:spAutoFit/>
          </a:bodyPr>
          <a:lstStyle/>
          <a:p>
            <a:pPr marL="12700">
              <a:lnSpc>
                <a:spcPct val="100000"/>
              </a:lnSpc>
              <a:spcBef>
                <a:spcPts val="125"/>
              </a:spcBef>
            </a:pPr>
            <a:r>
              <a:rPr sz="650" spc="65" dirty="0">
                <a:solidFill>
                  <a:srgbClr val="FFFFFF"/>
                </a:solidFill>
                <a:latin typeface="宋体" panose="02010600030101010101" pitchFamily="2" charset="-122"/>
                <a:cs typeface="宋体" panose="02010600030101010101" pitchFamily="2" charset="-122"/>
              </a:rPr>
              <a:t>INSIGHT</a:t>
            </a:r>
            <a:endParaRPr sz="650">
              <a:latin typeface="宋体" panose="02010600030101010101" pitchFamily="2" charset="-122"/>
              <a:cs typeface="宋体" panose="02010600030101010101" pitchFamily="2" charset="-122"/>
            </a:endParaRPr>
          </a:p>
        </p:txBody>
      </p:sp>
      <p:sp>
        <p:nvSpPr>
          <p:cNvPr id="31" name="object 31"/>
          <p:cNvSpPr txBox="1"/>
          <p:nvPr/>
        </p:nvSpPr>
        <p:spPr>
          <a:xfrm>
            <a:off x="1167060" y="5387975"/>
            <a:ext cx="406781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4A5462"/>
                </a:solidFill>
                <a:latin typeface="宋体" panose="02010600030101010101" pitchFamily="2" charset="-122"/>
                <a:cs typeface="宋体" panose="02010600030101010101" pitchFamily="2" charset="-122"/>
              </a:rPr>
              <a:t>核心洞见：跳出单靠历史视窗的局限 / </a:t>
            </a:r>
            <a:r>
              <a:rPr sz="900" spc="114" dirty="0">
                <a:solidFill>
                  <a:srgbClr val="4A5462"/>
                </a:solidFill>
                <a:latin typeface="宋体" panose="02010600030101010101" pitchFamily="2" charset="-122"/>
                <a:cs typeface="宋体" panose="02010600030101010101" pitchFamily="2" charset="-122"/>
              </a:rPr>
              <a:t>TRANSCENDING</a:t>
            </a:r>
            <a:r>
              <a:rPr sz="900" spc="75" dirty="0">
                <a:solidFill>
                  <a:srgbClr val="4A5462"/>
                </a:solidFill>
                <a:latin typeface="宋体" panose="02010600030101010101" pitchFamily="2" charset="-122"/>
                <a:cs typeface="宋体" panose="02010600030101010101" pitchFamily="2" charset="-122"/>
              </a:rPr>
              <a:t> </a:t>
            </a:r>
            <a:r>
              <a:rPr sz="900" spc="60" dirty="0">
                <a:solidFill>
                  <a:srgbClr val="4A5462"/>
                </a:solidFill>
                <a:latin typeface="宋体" panose="02010600030101010101" pitchFamily="2" charset="-122"/>
                <a:cs typeface="宋体" panose="02010600030101010101" pitchFamily="2" charset="-122"/>
              </a:rPr>
              <a:t>HISTORICAL</a:t>
            </a:r>
            <a:r>
              <a:rPr sz="900" spc="80" dirty="0">
                <a:solidFill>
                  <a:srgbClr val="4A5462"/>
                </a:solidFill>
                <a:latin typeface="宋体" panose="02010600030101010101" pitchFamily="2" charset="-122"/>
                <a:cs typeface="宋体" panose="02010600030101010101" pitchFamily="2" charset="-122"/>
              </a:rPr>
              <a:t> </a:t>
            </a:r>
            <a:r>
              <a:rPr sz="900" spc="-10" dirty="0">
                <a:solidFill>
                  <a:srgbClr val="4A5462"/>
                </a:solidFill>
                <a:latin typeface="宋体" panose="02010600030101010101" pitchFamily="2" charset="-122"/>
                <a:cs typeface="宋体" panose="02010600030101010101" pitchFamily="2" charset="-122"/>
              </a:rPr>
              <a:t>LIMITS</a:t>
            </a:r>
            <a:endParaRPr sz="900">
              <a:latin typeface="宋体" panose="02010600030101010101" pitchFamily="2" charset="-122"/>
              <a:cs typeface="宋体" panose="02010600030101010101" pitchFamily="2" charset="-122"/>
            </a:endParaRPr>
          </a:p>
        </p:txBody>
      </p:sp>
      <p:grpSp>
        <p:nvGrpSpPr>
          <p:cNvPr id="32" name="object 32"/>
          <p:cNvGrpSpPr/>
          <p:nvPr/>
        </p:nvGrpSpPr>
        <p:grpSpPr>
          <a:xfrm>
            <a:off x="619124" y="5676899"/>
            <a:ext cx="3467100" cy="561975"/>
            <a:chOff x="619124" y="5676899"/>
            <a:chExt cx="3467100" cy="561975"/>
          </a:xfrm>
        </p:grpSpPr>
        <p:sp>
          <p:nvSpPr>
            <p:cNvPr id="33" name="object 33"/>
            <p:cNvSpPr/>
            <p:nvPr/>
          </p:nvSpPr>
          <p:spPr>
            <a:xfrm>
              <a:off x="619124" y="5724524"/>
              <a:ext cx="57150" cy="57150"/>
            </a:xfrm>
            <a:custGeom>
              <a:avLst/>
              <a:gdLst/>
              <a:ahLst/>
              <a:cxnLst/>
              <a:rect l="l" t="t" r="r" b="b"/>
              <a:pathLst>
                <a:path w="57150" h="57150">
                  <a:moveTo>
                    <a:pt x="32364" y="57149"/>
                  </a:moveTo>
                  <a:lnTo>
                    <a:pt x="24785" y="57149"/>
                  </a:lnTo>
                  <a:lnTo>
                    <a:pt x="21140" y="56424"/>
                  </a:lnTo>
                  <a:lnTo>
                    <a:pt x="0" y="32364"/>
                  </a:lnTo>
                  <a:lnTo>
                    <a:pt x="0" y="24785"/>
                  </a:lnTo>
                  <a:lnTo>
                    <a:pt x="24785" y="0"/>
                  </a:lnTo>
                  <a:lnTo>
                    <a:pt x="32364" y="0"/>
                  </a:lnTo>
                  <a:lnTo>
                    <a:pt x="57150" y="28574"/>
                  </a:lnTo>
                  <a:lnTo>
                    <a:pt x="57149" y="32364"/>
                  </a:lnTo>
                  <a:lnTo>
                    <a:pt x="32364" y="57149"/>
                  </a:lnTo>
                  <a:close/>
                </a:path>
              </a:pathLst>
            </a:custGeom>
            <a:solidFill>
              <a:srgbClr val="9CA2AF"/>
            </a:solidFill>
          </p:spPr>
          <p:txBody>
            <a:bodyPr wrap="square" lIns="0" tIns="0" rIns="0" bIns="0" rtlCol="0"/>
            <a:lstStyle/>
            <a:p/>
          </p:txBody>
        </p:sp>
        <p:sp>
          <p:nvSpPr>
            <p:cNvPr id="34" name="object 34"/>
            <p:cNvSpPr/>
            <p:nvPr/>
          </p:nvSpPr>
          <p:spPr>
            <a:xfrm>
              <a:off x="3867149" y="5676899"/>
              <a:ext cx="9525" cy="561975"/>
            </a:xfrm>
            <a:custGeom>
              <a:avLst/>
              <a:gdLst/>
              <a:ahLst/>
              <a:cxnLst/>
              <a:rect l="l" t="t" r="r" b="b"/>
              <a:pathLst>
                <a:path w="9525" h="561975">
                  <a:moveTo>
                    <a:pt x="9524" y="561974"/>
                  </a:moveTo>
                  <a:lnTo>
                    <a:pt x="0" y="561974"/>
                  </a:lnTo>
                  <a:lnTo>
                    <a:pt x="0" y="0"/>
                  </a:lnTo>
                  <a:lnTo>
                    <a:pt x="9524" y="0"/>
                  </a:lnTo>
                  <a:lnTo>
                    <a:pt x="9524" y="561974"/>
                  </a:lnTo>
                  <a:close/>
                </a:path>
              </a:pathLst>
            </a:custGeom>
            <a:solidFill>
              <a:srgbClr val="E4E7EB"/>
            </a:solidFill>
          </p:spPr>
          <p:txBody>
            <a:bodyPr wrap="square" lIns="0" tIns="0" rIns="0" bIns="0" rtlCol="0"/>
            <a:lstStyle/>
            <a:p/>
          </p:txBody>
        </p:sp>
        <p:sp>
          <p:nvSpPr>
            <p:cNvPr id="35" name="object 35"/>
            <p:cNvSpPr/>
            <p:nvPr/>
          </p:nvSpPr>
          <p:spPr>
            <a:xfrm>
              <a:off x="4029074" y="5724524"/>
              <a:ext cx="57150" cy="57150"/>
            </a:xfrm>
            <a:custGeom>
              <a:avLst/>
              <a:gdLst/>
              <a:ahLst/>
              <a:cxnLst/>
              <a:rect l="l" t="t" r="r" b="b"/>
              <a:pathLst>
                <a:path w="57150" h="57150">
                  <a:moveTo>
                    <a:pt x="32364" y="57149"/>
                  </a:moveTo>
                  <a:lnTo>
                    <a:pt x="24785" y="57149"/>
                  </a:lnTo>
                  <a:lnTo>
                    <a:pt x="21140" y="56424"/>
                  </a:lnTo>
                  <a:lnTo>
                    <a:pt x="0" y="32364"/>
                  </a:lnTo>
                  <a:lnTo>
                    <a:pt x="0" y="24785"/>
                  </a:lnTo>
                  <a:lnTo>
                    <a:pt x="24785" y="0"/>
                  </a:lnTo>
                  <a:lnTo>
                    <a:pt x="32364" y="0"/>
                  </a:lnTo>
                  <a:lnTo>
                    <a:pt x="57150" y="28574"/>
                  </a:lnTo>
                  <a:lnTo>
                    <a:pt x="57149" y="32364"/>
                  </a:lnTo>
                  <a:lnTo>
                    <a:pt x="32364" y="57149"/>
                  </a:lnTo>
                  <a:close/>
                </a:path>
              </a:pathLst>
            </a:custGeom>
            <a:solidFill>
              <a:srgbClr val="5B8BA7"/>
            </a:solidFill>
          </p:spPr>
          <p:txBody>
            <a:bodyPr wrap="square" lIns="0" tIns="0" rIns="0" bIns="0" rtlCol="0"/>
            <a:lstStyle/>
            <a:p/>
          </p:txBody>
        </p:sp>
      </p:grpSp>
      <p:sp>
        <p:nvSpPr>
          <p:cNvPr id="36" name="object 36"/>
          <p:cNvSpPr txBox="1"/>
          <p:nvPr/>
        </p:nvSpPr>
        <p:spPr>
          <a:xfrm>
            <a:off x="695324" y="5613287"/>
            <a:ext cx="3046730" cy="616585"/>
          </a:xfrm>
          <a:prstGeom prst="rect">
            <a:avLst/>
          </a:prstGeom>
        </p:spPr>
        <p:txBody>
          <a:bodyPr vert="horz" wrap="square" lIns="0" tIns="63500" rIns="0" bIns="0" rtlCol="0">
            <a:spAutoFit/>
          </a:bodyPr>
          <a:lstStyle/>
          <a:p>
            <a:pPr marL="38100">
              <a:lnSpc>
                <a:spcPct val="100000"/>
              </a:lnSpc>
              <a:spcBef>
                <a:spcPts val="500"/>
              </a:spcBef>
            </a:pPr>
            <a:r>
              <a:rPr sz="900" spc="-65" dirty="0">
                <a:solidFill>
                  <a:srgbClr val="374050"/>
                </a:solidFill>
                <a:latin typeface="宋体" panose="02010600030101010101" pitchFamily="2" charset="-122"/>
                <a:cs typeface="宋体" panose="02010600030101010101" pitchFamily="2" charset="-122"/>
              </a:rPr>
              <a:t>传统 </a:t>
            </a:r>
            <a:r>
              <a:rPr sz="900" spc="145" dirty="0">
                <a:solidFill>
                  <a:srgbClr val="374050"/>
                </a:solidFill>
                <a:latin typeface="宋体" panose="02010600030101010101" pitchFamily="2" charset="-122"/>
                <a:cs typeface="宋体" panose="02010600030101010101" pitchFamily="2" charset="-122"/>
              </a:rPr>
              <a:t>ERM</a:t>
            </a:r>
            <a:r>
              <a:rPr sz="900" spc="-50" dirty="0">
                <a:solidFill>
                  <a:srgbClr val="374050"/>
                </a:solidFill>
                <a:latin typeface="宋体" panose="02010600030101010101" pitchFamily="2" charset="-122"/>
                <a:cs typeface="宋体" panose="02010600030101010101" pitchFamily="2" charset="-122"/>
              </a:rPr>
              <a:t> 建模局限</a:t>
            </a:r>
            <a:endParaRPr sz="900">
              <a:latin typeface="宋体" panose="02010600030101010101" pitchFamily="2" charset="-122"/>
              <a:cs typeface="宋体" panose="02010600030101010101" pitchFamily="2" charset="-122"/>
            </a:endParaRPr>
          </a:p>
          <a:p>
            <a:pPr marL="38100" marR="30480">
              <a:lnSpc>
                <a:spcPct val="125000"/>
              </a:lnSpc>
              <a:spcBef>
                <a:spcPts val="170"/>
              </a:spcBef>
            </a:pPr>
            <a:r>
              <a:rPr sz="1000" spc="-125" dirty="0">
                <a:solidFill>
                  <a:srgbClr val="6A7280"/>
                </a:solidFill>
                <a:latin typeface="宋体" panose="02010600030101010101" pitchFamily="2" charset="-122"/>
                <a:cs typeface="宋体" panose="02010600030101010101" pitchFamily="2" charset="-122"/>
              </a:rPr>
              <a:t>仅依赖历史输入 </a:t>
            </a:r>
            <a:r>
              <a:rPr sz="900" i="1" spc="110" dirty="0">
                <a:solidFill>
                  <a:srgbClr val="1A1A1A"/>
                </a:solidFill>
                <a:latin typeface="Calibri" panose="020F0502020204030204"/>
                <a:cs typeface="Calibri" panose="020F0502020204030204"/>
              </a:rPr>
              <a:t>P</a:t>
            </a:r>
            <a:r>
              <a:rPr sz="900" i="1" spc="-60" dirty="0">
                <a:solidFill>
                  <a:srgbClr val="1A1A1A"/>
                </a:solidFill>
                <a:latin typeface="Calibri" panose="020F0502020204030204"/>
                <a:cs typeface="Calibri" panose="020F0502020204030204"/>
              </a:rPr>
              <a:t> </a:t>
            </a:r>
            <a:r>
              <a:rPr sz="900" spc="95" dirty="0">
                <a:solidFill>
                  <a:srgbClr val="1A1A1A"/>
                </a:solidFill>
                <a:latin typeface="Cambria" panose="02040503050406030204"/>
                <a:cs typeface="Cambria" panose="02040503050406030204"/>
              </a:rPr>
              <a:t>(</a:t>
            </a:r>
            <a:r>
              <a:rPr sz="900" b="1" spc="95" dirty="0">
                <a:solidFill>
                  <a:srgbClr val="1A1A1A"/>
                </a:solidFill>
                <a:latin typeface="Georgia" panose="02040502050405020303"/>
                <a:cs typeface="Georgia" panose="02040502050405020303"/>
              </a:rPr>
              <a:t>Y</a:t>
            </a:r>
            <a:r>
              <a:rPr sz="900" i="1" spc="142" baseline="28000" dirty="0">
                <a:solidFill>
                  <a:srgbClr val="1A1A1A"/>
                </a:solidFill>
                <a:latin typeface="Calibri" panose="020F0502020204030204"/>
                <a:cs typeface="Calibri" panose="020F0502020204030204"/>
              </a:rPr>
              <a:t>H</a:t>
            </a:r>
            <a:r>
              <a:rPr sz="900" i="1" spc="-60" baseline="28000" dirty="0">
                <a:solidFill>
                  <a:srgbClr val="1A1A1A"/>
                </a:solidFill>
                <a:latin typeface="Calibri" panose="020F0502020204030204"/>
                <a:cs typeface="Calibri" panose="020F0502020204030204"/>
              </a:rPr>
              <a:t> </a:t>
            </a:r>
            <a:r>
              <a:rPr sz="900" dirty="0">
                <a:solidFill>
                  <a:srgbClr val="1A1A1A"/>
                </a:solidFill>
                <a:latin typeface="Cambria" panose="02040503050406030204"/>
                <a:cs typeface="Cambria" panose="02040503050406030204"/>
              </a:rPr>
              <a:t>∣</a:t>
            </a:r>
            <a:r>
              <a:rPr sz="900" b="1" dirty="0">
                <a:solidFill>
                  <a:srgbClr val="1A1A1A"/>
                </a:solidFill>
                <a:latin typeface="Georgia" panose="02040502050405020303"/>
                <a:cs typeface="Georgia" panose="02040502050405020303"/>
              </a:rPr>
              <a:t>X</a:t>
            </a:r>
            <a:r>
              <a:rPr sz="900" i="1" baseline="28000" dirty="0">
                <a:solidFill>
                  <a:srgbClr val="1A1A1A"/>
                </a:solidFill>
                <a:latin typeface="Calibri" panose="020F0502020204030204"/>
                <a:cs typeface="Calibri" panose="020F0502020204030204"/>
              </a:rPr>
              <a:t>L</a:t>
            </a:r>
            <a:r>
              <a:rPr sz="900" dirty="0">
                <a:solidFill>
                  <a:srgbClr val="1A1A1A"/>
                </a:solidFill>
                <a:latin typeface="Cambria" panose="02040503050406030204"/>
                <a:cs typeface="Cambria" panose="02040503050406030204"/>
              </a:rPr>
              <a:t>)</a:t>
            </a:r>
            <a:r>
              <a:rPr sz="1000" spc="-100" dirty="0">
                <a:solidFill>
                  <a:srgbClr val="6A7280"/>
                </a:solidFill>
                <a:latin typeface="宋体" panose="02010600030101010101" pitchFamily="2" charset="-122"/>
                <a:cs typeface="宋体" panose="02010600030101010101" pitchFamily="2" charset="-122"/>
              </a:rPr>
              <a:t>，在发生条件变迁时难以提供充</a:t>
            </a:r>
            <a:r>
              <a:rPr sz="1000" spc="-95" dirty="0">
                <a:solidFill>
                  <a:srgbClr val="6A7280"/>
                </a:solidFill>
                <a:latin typeface="宋体" panose="02010600030101010101" pitchFamily="2" charset="-122"/>
                <a:cs typeface="宋体" panose="02010600030101010101" pitchFamily="2" charset="-122"/>
              </a:rPr>
              <a:t>分因果信息。</a:t>
            </a:r>
            <a:endParaRPr sz="1000">
              <a:latin typeface="宋体" panose="02010600030101010101" pitchFamily="2" charset="-122"/>
              <a:cs typeface="宋体" panose="02010600030101010101" pitchFamily="2" charset="-122"/>
            </a:endParaRPr>
          </a:p>
        </p:txBody>
      </p:sp>
      <p:sp>
        <p:nvSpPr>
          <p:cNvPr id="37" name="object 37"/>
          <p:cNvSpPr txBox="1"/>
          <p:nvPr/>
        </p:nvSpPr>
        <p:spPr>
          <a:xfrm>
            <a:off x="4108995" y="5613287"/>
            <a:ext cx="2819400" cy="616585"/>
          </a:xfrm>
          <a:prstGeom prst="rect">
            <a:avLst/>
          </a:prstGeom>
        </p:spPr>
        <p:txBody>
          <a:bodyPr vert="horz" wrap="square" lIns="0" tIns="63500" rIns="0" bIns="0" rtlCol="0">
            <a:spAutoFit/>
          </a:bodyPr>
          <a:lstStyle/>
          <a:p>
            <a:pPr marL="38100">
              <a:lnSpc>
                <a:spcPct val="100000"/>
              </a:lnSpc>
              <a:spcBef>
                <a:spcPts val="500"/>
              </a:spcBef>
            </a:pPr>
            <a:r>
              <a:rPr sz="900" spc="-25" dirty="0">
                <a:solidFill>
                  <a:srgbClr val="5B8BA7"/>
                </a:solidFill>
                <a:latin typeface="宋体" panose="02010600030101010101" pitchFamily="2" charset="-122"/>
                <a:cs typeface="宋体" panose="02010600030101010101" pitchFamily="2" charset="-122"/>
              </a:rPr>
              <a:t>联合未来视窗 </a:t>
            </a:r>
            <a:r>
              <a:rPr sz="900" spc="-60" dirty="0">
                <a:solidFill>
                  <a:srgbClr val="5B8BA7"/>
                </a:solidFill>
                <a:latin typeface="宋体" panose="02010600030101010101" pitchFamily="2" charset="-122"/>
                <a:cs typeface="宋体" panose="02010600030101010101" pitchFamily="2" charset="-122"/>
              </a:rPr>
              <a:t>(Horizon</a:t>
            </a:r>
            <a:r>
              <a:rPr sz="900" spc="-160" dirty="0">
                <a:solidFill>
                  <a:srgbClr val="5B8BA7"/>
                </a:solidFill>
                <a:latin typeface="宋体" panose="02010600030101010101" pitchFamily="2" charset="-122"/>
                <a:cs typeface="宋体" panose="02010600030101010101" pitchFamily="2" charset="-122"/>
              </a:rPr>
              <a:t> </a:t>
            </a:r>
            <a:r>
              <a:rPr sz="900" spc="-10" dirty="0">
                <a:solidFill>
                  <a:srgbClr val="5B8BA7"/>
                </a:solidFill>
                <a:latin typeface="宋体" panose="02010600030101010101" pitchFamily="2" charset="-122"/>
                <a:cs typeface="宋体" panose="02010600030101010101" pitchFamily="2" charset="-122"/>
              </a:rPr>
              <a:t>Patterns)</a:t>
            </a:r>
            <a:endParaRPr sz="900">
              <a:latin typeface="宋体" panose="02010600030101010101" pitchFamily="2" charset="-122"/>
              <a:cs typeface="宋体" panose="02010600030101010101" pitchFamily="2" charset="-122"/>
            </a:endParaRPr>
          </a:p>
          <a:p>
            <a:pPr marL="38100">
              <a:lnSpc>
                <a:spcPct val="100000"/>
              </a:lnSpc>
              <a:spcBef>
                <a:spcPts val="470"/>
              </a:spcBef>
            </a:pPr>
            <a:r>
              <a:rPr sz="1000" spc="-100" dirty="0">
                <a:solidFill>
                  <a:srgbClr val="374050"/>
                </a:solidFill>
                <a:latin typeface="宋体" panose="02010600030101010101" pitchFamily="2" charset="-122"/>
                <a:cs typeface="宋体" panose="02010600030101010101" pitchFamily="2" charset="-122"/>
              </a:rPr>
              <a:t>利用未来模式构建稳定的条件分布，引入代理外生特征</a:t>
            </a:r>
            <a:endParaRPr sz="1000">
              <a:latin typeface="宋体" panose="02010600030101010101" pitchFamily="2" charset="-122"/>
              <a:cs typeface="宋体" panose="02010600030101010101" pitchFamily="2" charset="-122"/>
            </a:endParaRPr>
          </a:p>
          <a:p>
            <a:pPr marL="38100">
              <a:lnSpc>
                <a:spcPct val="100000"/>
              </a:lnSpc>
              <a:spcBef>
                <a:spcPts val="300"/>
              </a:spcBef>
            </a:pPr>
            <a:r>
              <a:rPr sz="900" i="1" spc="110" dirty="0">
                <a:solidFill>
                  <a:srgbClr val="1A1A1A"/>
                </a:solidFill>
                <a:latin typeface="Calibri" panose="020F0502020204030204"/>
                <a:cs typeface="Calibri" panose="020F0502020204030204"/>
              </a:rPr>
              <a:t>P</a:t>
            </a:r>
            <a:r>
              <a:rPr sz="900" i="1" spc="-50" dirty="0">
                <a:solidFill>
                  <a:srgbClr val="1A1A1A"/>
                </a:solidFill>
                <a:latin typeface="Calibri" panose="020F0502020204030204"/>
                <a:cs typeface="Calibri" panose="020F0502020204030204"/>
              </a:rPr>
              <a:t> </a:t>
            </a:r>
            <a:r>
              <a:rPr sz="900" spc="95" dirty="0">
                <a:solidFill>
                  <a:srgbClr val="1A1A1A"/>
                </a:solidFill>
                <a:latin typeface="Cambria" panose="02040503050406030204"/>
                <a:cs typeface="Cambria" panose="02040503050406030204"/>
              </a:rPr>
              <a:t>(</a:t>
            </a:r>
            <a:r>
              <a:rPr sz="900" b="1" spc="95" dirty="0">
                <a:solidFill>
                  <a:srgbClr val="1A1A1A"/>
                </a:solidFill>
                <a:latin typeface="Georgia" panose="02040502050405020303"/>
                <a:cs typeface="Georgia" panose="02040502050405020303"/>
              </a:rPr>
              <a:t>Y</a:t>
            </a:r>
            <a:r>
              <a:rPr sz="900" i="1" spc="142" baseline="32000" dirty="0">
                <a:solidFill>
                  <a:srgbClr val="1A1A1A"/>
                </a:solidFill>
                <a:latin typeface="Calibri" panose="020F0502020204030204"/>
                <a:cs typeface="Calibri" panose="020F0502020204030204"/>
              </a:rPr>
              <a:t>H</a:t>
            </a:r>
            <a:r>
              <a:rPr sz="900" i="1" spc="-44" baseline="32000" dirty="0">
                <a:solidFill>
                  <a:srgbClr val="1A1A1A"/>
                </a:solidFill>
                <a:latin typeface="Calibri" panose="020F0502020204030204"/>
                <a:cs typeface="Calibri" panose="020F0502020204030204"/>
              </a:rPr>
              <a:t> </a:t>
            </a:r>
            <a:r>
              <a:rPr sz="900" spc="55" dirty="0">
                <a:solidFill>
                  <a:srgbClr val="1A1A1A"/>
                </a:solidFill>
                <a:latin typeface="Cambria" panose="02040503050406030204"/>
                <a:cs typeface="Cambria" panose="02040503050406030204"/>
              </a:rPr>
              <a:t>∣</a:t>
            </a:r>
            <a:r>
              <a:rPr sz="900" b="1" spc="55" dirty="0">
                <a:solidFill>
                  <a:srgbClr val="1A1A1A"/>
                </a:solidFill>
                <a:latin typeface="Georgia" panose="02040502050405020303"/>
                <a:cs typeface="Georgia" panose="02040502050405020303"/>
              </a:rPr>
              <a:t>X</a:t>
            </a:r>
            <a:r>
              <a:rPr sz="900" i="1" spc="82" baseline="32000" dirty="0">
                <a:solidFill>
                  <a:srgbClr val="1A1A1A"/>
                </a:solidFill>
                <a:latin typeface="Calibri" panose="020F0502020204030204"/>
                <a:cs typeface="Calibri" panose="020F0502020204030204"/>
              </a:rPr>
              <a:t>SUR</a:t>
            </a:r>
            <a:r>
              <a:rPr sz="900" spc="55" dirty="0">
                <a:solidFill>
                  <a:srgbClr val="1A1A1A"/>
                </a:solidFill>
                <a:latin typeface="Cambria" panose="02040503050406030204"/>
                <a:cs typeface="Cambria" panose="02040503050406030204"/>
              </a:rPr>
              <a:t>)</a:t>
            </a:r>
            <a:r>
              <a:rPr sz="1000" spc="-50" dirty="0">
                <a:solidFill>
                  <a:srgbClr val="374050"/>
                </a:solidFill>
                <a:latin typeface="宋体" panose="02010600030101010101" pitchFamily="2" charset="-122"/>
                <a:cs typeface="宋体" panose="02010600030101010101" pitchFamily="2" charset="-122"/>
              </a:rPr>
              <a:t>。</a:t>
            </a:r>
            <a:endParaRPr sz="1000">
              <a:latin typeface="宋体" panose="02010600030101010101" pitchFamily="2" charset="-122"/>
              <a:cs typeface="宋体" panose="02010600030101010101" pitchFamily="2" charset="-122"/>
            </a:endParaRPr>
          </a:p>
        </p:txBody>
      </p:sp>
      <p:grpSp>
        <p:nvGrpSpPr>
          <p:cNvPr id="38" name="object 38"/>
          <p:cNvGrpSpPr/>
          <p:nvPr/>
        </p:nvGrpSpPr>
        <p:grpSpPr>
          <a:xfrm>
            <a:off x="7362824" y="1181099"/>
            <a:ext cx="4371975" cy="5219700"/>
            <a:chOff x="7362824" y="1181099"/>
            <a:chExt cx="4371975" cy="5219700"/>
          </a:xfrm>
        </p:grpSpPr>
        <p:sp>
          <p:nvSpPr>
            <p:cNvPr id="39" name="object 39"/>
            <p:cNvSpPr/>
            <p:nvPr/>
          </p:nvSpPr>
          <p:spPr>
            <a:xfrm>
              <a:off x="7362824" y="1181099"/>
              <a:ext cx="4371975" cy="5219700"/>
            </a:xfrm>
            <a:custGeom>
              <a:avLst/>
              <a:gdLst/>
              <a:ahLst/>
              <a:cxnLst/>
              <a:rect l="l" t="t" r="r" b="b"/>
              <a:pathLst>
                <a:path w="4371975" h="5219700">
                  <a:moveTo>
                    <a:pt x="4257674" y="5219699"/>
                  </a:moveTo>
                  <a:lnTo>
                    <a:pt x="114299" y="5219699"/>
                  </a:lnTo>
                  <a:lnTo>
                    <a:pt x="103039" y="5219155"/>
                  </a:lnTo>
                  <a:lnTo>
                    <a:pt x="60363" y="5206187"/>
                  </a:lnTo>
                  <a:lnTo>
                    <a:pt x="25899" y="5177875"/>
                  </a:lnTo>
                  <a:lnTo>
                    <a:pt x="4892" y="5138528"/>
                  </a:lnTo>
                  <a:lnTo>
                    <a:pt x="0" y="5105399"/>
                  </a:lnTo>
                  <a:lnTo>
                    <a:pt x="0" y="114299"/>
                  </a:lnTo>
                  <a:lnTo>
                    <a:pt x="8698" y="70559"/>
                  </a:lnTo>
                  <a:lnTo>
                    <a:pt x="33476" y="33477"/>
                  </a:lnTo>
                  <a:lnTo>
                    <a:pt x="70557" y="8700"/>
                  </a:lnTo>
                  <a:lnTo>
                    <a:pt x="114299" y="0"/>
                  </a:lnTo>
                  <a:lnTo>
                    <a:pt x="4257674" y="0"/>
                  </a:lnTo>
                  <a:lnTo>
                    <a:pt x="4301414" y="8700"/>
                  </a:lnTo>
                  <a:lnTo>
                    <a:pt x="4338496" y="33477"/>
                  </a:lnTo>
                  <a:lnTo>
                    <a:pt x="4363272" y="70559"/>
                  </a:lnTo>
                  <a:lnTo>
                    <a:pt x="4371974" y="114299"/>
                  </a:lnTo>
                  <a:lnTo>
                    <a:pt x="4371974" y="5105399"/>
                  </a:lnTo>
                  <a:lnTo>
                    <a:pt x="4363273" y="5149139"/>
                  </a:lnTo>
                  <a:lnTo>
                    <a:pt x="4338496" y="5186221"/>
                  </a:lnTo>
                  <a:lnTo>
                    <a:pt x="4301413" y="5210998"/>
                  </a:lnTo>
                  <a:lnTo>
                    <a:pt x="4257674" y="5219699"/>
                  </a:lnTo>
                  <a:close/>
                </a:path>
              </a:pathLst>
            </a:custGeom>
            <a:solidFill>
              <a:srgbClr val="FFFFFF"/>
            </a:solidFill>
          </p:spPr>
          <p:txBody>
            <a:bodyPr wrap="square" lIns="0" tIns="0" rIns="0" bIns="0" rtlCol="0"/>
            <a:lstStyle/>
            <a:p/>
          </p:txBody>
        </p:sp>
        <p:sp>
          <p:nvSpPr>
            <p:cNvPr id="40" name="object 40"/>
            <p:cNvSpPr/>
            <p:nvPr/>
          </p:nvSpPr>
          <p:spPr>
            <a:xfrm>
              <a:off x="7362824" y="1181100"/>
              <a:ext cx="4371975" cy="5219700"/>
            </a:xfrm>
            <a:custGeom>
              <a:avLst/>
              <a:gdLst/>
              <a:ahLst/>
              <a:cxnLst/>
              <a:rect l="l" t="t" r="r" b="b"/>
              <a:pathLst>
                <a:path w="4371975" h="5219700">
                  <a:moveTo>
                    <a:pt x="4257674" y="5219699"/>
                  </a:moveTo>
                  <a:lnTo>
                    <a:pt x="114299" y="5219699"/>
                  </a:lnTo>
                  <a:lnTo>
                    <a:pt x="103039" y="5219155"/>
                  </a:lnTo>
                  <a:lnTo>
                    <a:pt x="60363" y="5206187"/>
                  </a:lnTo>
                  <a:lnTo>
                    <a:pt x="25899" y="5177875"/>
                  </a:lnTo>
                  <a:lnTo>
                    <a:pt x="4892" y="5138529"/>
                  </a:lnTo>
                  <a:lnTo>
                    <a:pt x="0" y="5105399"/>
                  </a:lnTo>
                  <a:lnTo>
                    <a:pt x="0" y="114299"/>
                  </a:lnTo>
                  <a:lnTo>
                    <a:pt x="8698" y="70559"/>
                  </a:lnTo>
                  <a:lnTo>
                    <a:pt x="33476" y="33477"/>
                  </a:lnTo>
                  <a:lnTo>
                    <a:pt x="70557" y="8700"/>
                  </a:lnTo>
                  <a:lnTo>
                    <a:pt x="114299" y="0"/>
                  </a:lnTo>
                  <a:lnTo>
                    <a:pt x="4257674" y="0"/>
                  </a:lnTo>
                  <a:lnTo>
                    <a:pt x="4301414" y="8700"/>
                  </a:lnTo>
                  <a:lnTo>
                    <a:pt x="4303161" y="9524"/>
                  </a:lnTo>
                  <a:lnTo>
                    <a:pt x="107420" y="9524"/>
                  </a:lnTo>
                  <a:lnTo>
                    <a:pt x="100606" y="10196"/>
                  </a:lnTo>
                  <a:lnTo>
                    <a:pt x="61810" y="23360"/>
                  </a:lnTo>
                  <a:lnTo>
                    <a:pt x="31004" y="50369"/>
                  </a:lnTo>
                  <a:lnTo>
                    <a:pt x="12880" y="87111"/>
                  </a:lnTo>
                  <a:lnTo>
                    <a:pt x="9524" y="107420"/>
                  </a:lnTo>
                  <a:lnTo>
                    <a:pt x="9524" y="5112279"/>
                  </a:lnTo>
                  <a:lnTo>
                    <a:pt x="20133" y="5151850"/>
                  </a:lnTo>
                  <a:lnTo>
                    <a:pt x="45077" y="5184350"/>
                  </a:lnTo>
                  <a:lnTo>
                    <a:pt x="80560" y="5204831"/>
                  </a:lnTo>
                  <a:lnTo>
                    <a:pt x="107420" y="5210174"/>
                  </a:lnTo>
                  <a:lnTo>
                    <a:pt x="4303160" y="5210174"/>
                  </a:lnTo>
                  <a:lnTo>
                    <a:pt x="4301413" y="5210998"/>
                  </a:lnTo>
                  <a:lnTo>
                    <a:pt x="4290803" y="5214805"/>
                  </a:lnTo>
                  <a:lnTo>
                    <a:pt x="4279977" y="5217524"/>
                  </a:lnTo>
                  <a:lnTo>
                    <a:pt x="4268934" y="5219155"/>
                  </a:lnTo>
                  <a:lnTo>
                    <a:pt x="4257674" y="5219699"/>
                  </a:lnTo>
                  <a:close/>
                </a:path>
                <a:path w="4371975" h="5219700">
                  <a:moveTo>
                    <a:pt x="4303160" y="5210174"/>
                  </a:moveTo>
                  <a:lnTo>
                    <a:pt x="4264553" y="5210174"/>
                  </a:lnTo>
                  <a:lnTo>
                    <a:pt x="4271367" y="5209503"/>
                  </a:lnTo>
                  <a:lnTo>
                    <a:pt x="4284862" y="5206818"/>
                  </a:lnTo>
                  <a:lnTo>
                    <a:pt x="4321604" y="5188694"/>
                  </a:lnTo>
                  <a:lnTo>
                    <a:pt x="4348613" y="5157888"/>
                  </a:lnTo>
                  <a:lnTo>
                    <a:pt x="4361778" y="5119092"/>
                  </a:lnTo>
                  <a:lnTo>
                    <a:pt x="4362449" y="5112279"/>
                  </a:lnTo>
                  <a:lnTo>
                    <a:pt x="4362449" y="107420"/>
                  </a:lnTo>
                  <a:lnTo>
                    <a:pt x="4351840" y="67848"/>
                  </a:lnTo>
                  <a:lnTo>
                    <a:pt x="4326896" y="35348"/>
                  </a:lnTo>
                  <a:lnTo>
                    <a:pt x="4291414" y="14867"/>
                  </a:lnTo>
                  <a:lnTo>
                    <a:pt x="4264553" y="9524"/>
                  </a:lnTo>
                  <a:lnTo>
                    <a:pt x="4303161" y="9524"/>
                  </a:lnTo>
                  <a:lnTo>
                    <a:pt x="4338496" y="33477"/>
                  </a:lnTo>
                  <a:lnTo>
                    <a:pt x="4363272" y="70559"/>
                  </a:lnTo>
                  <a:lnTo>
                    <a:pt x="4371974" y="114299"/>
                  </a:lnTo>
                  <a:lnTo>
                    <a:pt x="4371974" y="5105399"/>
                  </a:lnTo>
                  <a:lnTo>
                    <a:pt x="4371430" y="5116659"/>
                  </a:lnTo>
                  <a:lnTo>
                    <a:pt x="4358462" y="5159334"/>
                  </a:lnTo>
                  <a:lnTo>
                    <a:pt x="4330150" y="5193799"/>
                  </a:lnTo>
                  <a:lnTo>
                    <a:pt x="4311608" y="5206187"/>
                  </a:lnTo>
                  <a:lnTo>
                    <a:pt x="4303160" y="5210174"/>
                  </a:lnTo>
                  <a:close/>
                </a:path>
              </a:pathLst>
            </a:custGeom>
            <a:solidFill>
              <a:srgbClr val="E4E7EB">
                <a:alpha val="79998"/>
              </a:srgbClr>
            </a:solidFill>
          </p:spPr>
          <p:txBody>
            <a:bodyPr wrap="square" lIns="0" tIns="0" rIns="0" bIns="0" rtlCol="0"/>
            <a:lstStyle/>
            <a:p/>
          </p:txBody>
        </p:sp>
        <p:sp>
          <p:nvSpPr>
            <p:cNvPr id="41" name="object 41"/>
            <p:cNvSpPr/>
            <p:nvPr/>
          </p:nvSpPr>
          <p:spPr>
            <a:xfrm>
              <a:off x="7524749" y="1581149"/>
              <a:ext cx="4048125" cy="9525"/>
            </a:xfrm>
            <a:custGeom>
              <a:avLst/>
              <a:gdLst/>
              <a:ahLst/>
              <a:cxnLst/>
              <a:rect l="l" t="t" r="r" b="b"/>
              <a:pathLst>
                <a:path w="4048125" h="9525">
                  <a:moveTo>
                    <a:pt x="4048124" y="9524"/>
                  </a:moveTo>
                  <a:lnTo>
                    <a:pt x="0" y="9524"/>
                  </a:lnTo>
                  <a:lnTo>
                    <a:pt x="0" y="0"/>
                  </a:lnTo>
                  <a:lnTo>
                    <a:pt x="4048124" y="0"/>
                  </a:lnTo>
                  <a:lnTo>
                    <a:pt x="4048124" y="9524"/>
                  </a:lnTo>
                  <a:close/>
                </a:path>
              </a:pathLst>
            </a:custGeom>
            <a:solidFill>
              <a:srgbClr val="F2F4F5"/>
            </a:solidFill>
          </p:spPr>
          <p:txBody>
            <a:bodyPr wrap="square" lIns="0" tIns="0" rIns="0" bIns="0" rtlCol="0"/>
            <a:lstStyle/>
            <a:p/>
          </p:txBody>
        </p:sp>
      </p:grpSp>
      <p:sp>
        <p:nvSpPr>
          <p:cNvPr id="42" name="object 42"/>
          <p:cNvSpPr txBox="1"/>
          <p:nvPr/>
        </p:nvSpPr>
        <p:spPr>
          <a:xfrm>
            <a:off x="7510115" y="1330325"/>
            <a:ext cx="257556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374050"/>
                </a:solidFill>
                <a:latin typeface="宋体" panose="02010600030101010101" pitchFamily="2" charset="-122"/>
                <a:cs typeface="宋体" panose="02010600030101010101" pitchFamily="2" charset="-122"/>
              </a:rPr>
              <a:t>理论方法架构对比图 / </a:t>
            </a:r>
            <a:r>
              <a:rPr sz="900" spc="135" dirty="0">
                <a:solidFill>
                  <a:srgbClr val="374050"/>
                </a:solidFill>
                <a:latin typeface="宋体" panose="02010600030101010101" pitchFamily="2" charset="-122"/>
                <a:cs typeface="宋体" panose="02010600030101010101" pitchFamily="2" charset="-122"/>
              </a:rPr>
              <a:t>SYSTEM</a:t>
            </a:r>
            <a:r>
              <a:rPr sz="900" spc="30" dirty="0">
                <a:solidFill>
                  <a:srgbClr val="374050"/>
                </a:solidFill>
                <a:latin typeface="宋体" panose="02010600030101010101" pitchFamily="2" charset="-122"/>
                <a:cs typeface="宋体" panose="02010600030101010101" pitchFamily="2" charset="-122"/>
              </a:rPr>
              <a:t> </a:t>
            </a:r>
            <a:r>
              <a:rPr sz="900" spc="80" dirty="0">
                <a:solidFill>
                  <a:srgbClr val="374050"/>
                </a:solidFill>
                <a:latin typeface="宋体" panose="02010600030101010101" pitchFamily="2" charset="-122"/>
                <a:cs typeface="宋体" panose="02010600030101010101" pitchFamily="2" charset="-122"/>
              </a:rPr>
              <a:t>ARCHITECTURE</a:t>
            </a:r>
            <a:endParaRPr sz="900">
              <a:latin typeface="宋体" panose="02010600030101010101" pitchFamily="2" charset="-122"/>
              <a:cs typeface="宋体" panose="02010600030101010101" pitchFamily="2" charset="-122"/>
            </a:endParaRPr>
          </a:p>
        </p:txBody>
      </p:sp>
      <p:sp>
        <p:nvSpPr>
          <p:cNvPr id="43" name="object 43"/>
          <p:cNvSpPr/>
          <p:nvPr/>
        </p:nvSpPr>
        <p:spPr>
          <a:xfrm>
            <a:off x="11153774" y="1343024"/>
            <a:ext cx="419100" cy="161925"/>
          </a:xfrm>
          <a:custGeom>
            <a:avLst/>
            <a:gdLst/>
            <a:ahLst/>
            <a:cxnLst/>
            <a:rect l="l" t="t" r="r" b="b"/>
            <a:pathLst>
              <a:path w="419100" h="161925">
                <a:moveTo>
                  <a:pt x="386052" y="161924"/>
                </a:moveTo>
                <a:lnTo>
                  <a:pt x="33047" y="161924"/>
                </a:lnTo>
                <a:lnTo>
                  <a:pt x="28187" y="160958"/>
                </a:lnTo>
                <a:lnTo>
                  <a:pt x="966" y="133737"/>
                </a:lnTo>
                <a:lnTo>
                  <a:pt x="0" y="128877"/>
                </a:lnTo>
                <a:lnTo>
                  <a:pt x="0" y="123824"/>
                </a:lnTo>
                <a:lnTo>
                  <a:pt x="0" y="33047"/>
                </a:lnTo>
                <a:lnTo>
                  <a:pt x="28187" y="966"/>
                </a:lnTo>
                <a:lnTo>
                  <a:pt x="33047" y="0"/>
                </a:lnTo>
                <a:lnTo>
                  <a:pt x="386052" y="0"/>
                </a:lnTo>
                <a:lnTo>
                  <a:pt x="418132" y="28187"/>
                </a:lnTo>
                <a:lnTo>
                  <a:pt x="419099" y="33047"/>
                </a:lnTo>
                <a:lnTo>
                  <a:pt x="419099" y="128877"/>
                </a:lnTo>
                <a:lnTo>
                  <a:pt x="390912" y="160958"/>
                </a:lnTo>
                <a:lnTo>
                  <a:pt x="386052" y="161924"/>
                </a:lnTo>
                <a:close/>
              </a:path>
            </a:pathLst>
          </a:custGeom>
          <a:solidFill>
            <a:srgbClr val="F2F4F5"/>
          </a:solidFill>
        </p:spPr>
        <p:txBody>
          <a:bodyPr wrap="square" lIns="0" tIns="0" rIns="0" bIns="0" rtlCol="0"/>
          <a:lstStyle/>
          <a:p/>
        </p:txBody>
      </p:sp>
      <p:sp>
        <p:nvSpPr>
          <p:cNvPr id="44" name="object 44"/>
          <p:cNvSpPr txBox="1"/>
          <p:nvPr/>
        </p:nvSpPr>
        <p:spPr>
          <a:xfrm>
            <a:off x="11194354" y="1339850"/>
            <a:ext cx="334645" cy="128270"/>
          </a:xfrm>
          <a:prstGeom prst="rect">
            <a:avLst/>
          </a:prstGeom>
        </p:spPr>
        <p:txBody>
          <a:bodyPr vert="horz" wrap="square" lIns="0" tIns="15875" rIns="0" bIns="0" rtlCol="0">
            <a:spAutoFit/>
          </a:bodyPr>
          <a:lstStyle/>
          <a:p>
            <a:pPr marL="12700">
              <a:lnSpc>
                <a:spcPct val="100000"/>
              </a:lnSpc>
              <a:spcBef>
                <a:spcPts val="125"/>
              </a:spcBef>
            </a:pPr>
            <a:r>
              <a:rPr sz="650" dirty="0">
                <a:solidFill>
                  <a:srgbClr val="6A7280"/>
                </a:solidFill>
                <a:latin typeface="Courier New" panose="02070309020205020404"/>
                <a:cs typeface="Courier New" panose="02070309020205020404"/>
              </a:rPr>
              <a:t>Fig.</a:t>
            </a:r>
            <a:r>
              <a:rPr sz="650" spc="75" dirty="0">
                <a:solidFill>
                  <a:srgbClr val="6A7280"/>
                </a:solidFill>
                <a:latin typeface="Courier New" panose="02070309020205020404"/>
                <a:cs typeface="Courier New" panose="02070309020205020404"/>
              </a:rPr>
              <a:t> </a:t>
            </a:r>
            <a:r>
              <a:rPr sz="650" spc="-50" dirty="0">
                <a:solidFill>
                  <a:srgbClr val="6A7280"/>
                </a:solidFill>
                <a:latin typeface="Courier New" panose="02070309020205020404"/>
                <a:cs typeface="Courier New" panose="02070309020205020404"/>
              </a:rPr>
              <a:t>1</a:t>
            </a:r>
            <a:endParaRPr sz="650">
              <a:latin typeface="Courier New" panose="02070309020205020404"/>
              <a:cs typeface="Courier New" panose="02070309020205020404"/>
            </a:endParaRPr>
          </a:p>
        </p:txBody>
      </p:sp>
      <p:grpSp>
        <p:nvGrpSpPr>
          <p:cNvPr id="45" name="object 45"/>
          <p:cNvGrpSpPr/>
          <p:nvPr/>
        </p:nvGrpSpPr>
        <p:grpSpPr>
          <a:xfrm>
            <a:off x="7524750" y="1704975"/>
            <a:ext cx="4048125" cy="4114800"/>
            <a:chOff x="7524750" y="1704975"/>
            <a:chExt cx="4048125" cy="4114800"/>
          </a:xfrm>
        </p:grpSpPr>
        <p:sp>
          <p:nvSpPr>
            <p:cNvPr id="46" name="object 46"/>
            <p:cNvSpPr/>
            <p:nvPr/>
          </p:nvSpPr>
          <p:spPr>
            <a:xfrm>
              <a:off x="7524750" y="1704975"/>
              <a:ext cx="4048125" cy="4114800"/>
            </a:xfrm>
            <a:custGeom>
              <a:avLst/>
              <a:gdLst/>
              <a:ahLst/>
              <a:cxnLst/>
              <a:rect l="l" t="t" r="r" b="b"/>
              <a:pathLst>
                <a:path w="4048125" h="4114800">
                  <a:moveTo>
                    <a:pt x="3976927" y="4114799"/>
                  </a:moveTo>
                  <a:lnTo>
                    <a:pt x="71196" y="4114799"/>
                  </a:lnTo>
                  <a:lnTo>
                    <a:pt x="66241" y="4114311"/>
                  </a:lnTo>
                  <a:lnTo>
                    <a:pt x="29705" y="4099177"/>
                  </a:lnTo>
                  <a:lnTo>
                    <a:pt x="3885" y="4063136"/>
                  </a:lnTo>
                  <a:lnTo>
                    <a:pt x="0" y="4043602"/>
                  </a:lnTo>
                  <a:lnTo>
                    <a:pt x="0" y="4038599"/>
                  </a:lnTo>
                  <a:lnTo>
                    <a:pt x="0" y="71196"/>
                  </a:lnTo>
                  <a:lnTo>
                    <a:pt x="15621" y="29705"/>
                  </a:lnTo>
                  <a:lnTo>
                    <a:pt x="51662" y="3885"/>
                  </a:lnTo>
                  <a:lnTo>
                    <a:pt x="71196" y="0"/>
                  </a:lnTo>
                  <a:lnTo>
                    <a:pt x="3976927" y="0"/>
                  </a:lnTo>
                  <a:lnTo>
                    <a:pt x="4018418" y="15621"/>
                  </a:lnTo>
                  <a:lnTo>
                    <a:pt x="4044238" y="51661"/>
                  </a:lnTo>
                  <a:lnTo>
                    <a:pt x="4048124" y="71196"/>
                  </a:lnTo>
                  <a:lnTo>
                    <a:pt x="4048124" y="4043602"/>
                  </a:lnTo>
                  <a:lnTo>
                    <a:pt x="4032502" y="4085093"/>
                  </a:lnTo>
                  <a:lnTo>
                    <a:pt x="3996462" y="4110913"/>
                  </a:lnTo>
                  <a:lnTo>
                    <a:pt x="3981883" y="4114311"/>
                  </a:lnTo>
                  <a:lnTo>
                    <a:pt x="3976927" y="4114799"/>
                  </a:lnTo>
                  <a:close/>
                </a:path>
              </a:pathLst>
            </a:custGeom>
            <a:solidFill>
              <a:srgbClr val="F9FAFA"/>
            </a:solidFill>
          </p:spPr>
          <p:txBody>
            <a:bodyPr wrap="square" lIns="0" tIns="0" rIns="0" bIns="0" rtlCol="0"/>
            <a:lstStyle/>
            <a:p/>
          </p:txBody>
        </p:sp>
        <p:pic>
          <p:nvPicPr>
            <p:cNvPr id="47" name="object 47"/>
            <p:cNvPicPr/>
            <p:nvPr/>
          </p:nvPicPr>
          <p:blipFill>
            <a:blip r:embed="rId2" cstate="print"/>
            <a:stretch>
              <a:fillRect/>
            </a:stretch>
          </p:blipFill>
          <p:spPr>
            <a:xfrm>
              <a:off x="7677150" y="2771775"/>
              <a:ext cx="3743324" cy="1981199"/>
            </a:xfrm>
            <a:prstGeom prst="rect">
              <a:avLst/>
            </a:prstGeom>
          </p:spPr>
        </p:pic>
      </p:grpSp>
      <p:sp>
        <p:nvSpPr>
          <p:cNvPr id="48" name="object 48"/>
          <p:cNvSpPr txBox="1"/>
          <p:nvPr/>
        </p:nvSpPr>
        <p:spPr>
          <a:xfrm>
            <a:off x="7520433" y="5893386"/>
            <a:ext cx="4055110" cy="330200"/>
          </a:xfrm>
          <a:prstGeom prst="rect">
            <a:avLst/>
          </a:prstGeom>
        </p:spPr>
        <p:txBody>
          <a:bodyPr vert="horz" wrap="square" lIns="0" tIns="12065" rIns="0" bIns="0" rtlCol="0">
            <a:spAutoFit/>
          </a:bodyPr>
          <a:lstStyle/>
          <a:p>
            <a:pPr marL="1788795" marR="30480" indent="-1751330">
              <a:lnSpc>
                <a:spcPct val="133000"/>
              </a:lnSpc>
              <a:spcBef>
                <a:spcPts val="95"/>
              </a:spcBef>
            </a:pPr>
            <a:r>
              <a:rPr sz="750" i="1" dirty="0">
                <a:solidFill>
                  <a:srgbClr val="6A7280"/>
                </a:solidFill>
                <a:latin typeface="宋体" panose="02010600030101010101" pitchFamily="2" charset="-122"/>
                <a:cs typeface="宋体" panose="02010600030101010101" pitchFamily="2" charset="-122"/>
              </a:rPr>
              <a:t>传统时序图景与本文宏观逻辑对比。利用未来特征提取不变模式（</a:t>
            </a:r>
            <a:r>
              <a:rPr sz="750" i="1" spc="-30" dirty="0">
                <a:solidFill>
                  <a:srgbClr val="6A7280"/>
                </a:solidFill>
                <a:latin typeface="宋体" panose="02010600030101010101" pitchFamily="2" charset="-122"/>
                <a:cs typeface="宋体" panose="02010600030101010101" pitchFamily="2" charset="-122"/>
              </a:rPr>
              <a:t>代理特征 </a:t>
            </a:r>
            <a:r>
              <a:rPr sz="750" b="1" spc="65" dirty="0">
                <a:solidFill>
                  <a:srgbClr val="1A1A1A"/>
                </a:solidFill>
                <a:latin typeface="Georgia" panose="02040502050405020303"/>
                <a:cs typeface="Georgia" panose="02040502050405020303"/>
              </a:rPr>
              <a:t>X</a:t>
            </a:r>
            <a:r>
              <a:rPr sz="750" i="1" spc="97" baseline="33000" dirty="0">
                <a:solidFill>
                  <a:srgbClr val="1A1A1A"/>
                </a:solidFill>
                <a:latin typeface="Calibri" panose="020F0502020204030204"/>
                <a:cs typeface="Calibri" panose="020F0502020204030204"/>
              </a:rPr>
              <a:t>SUR</a:t>
            </a:r>
            <a:r>
              <a:rPr sz="750" i="1" spc="65" dirty="0">
                <a:solidFill>
                  <a:srgbClr val="6A7280"/>
                </a:solidFill>
                <a:latin typeface="宋体" panose="02010600030101010101" pitchFamily="2" charset="-122"/>
                <a:cs typeface="宋体" panose="02010600030101010101" pitchFamily="2" charset="-122"/>
              </a:rPr>
              <a:t>），</a:t>
            </a:r>
            <a:r>
              <a:rPr sz="750" i="1" spc="-15" dirty="0">
                <a:solidFill>
                  <a:srgbClr val="6A7280"/>
                </a:solidFill>
                <a:latin typeface="宋体" panose="02010600030101010101" pitchFamily="2" charset="-122"/>
                <a:cs typeface="宋体" panose="02010600030101010101" pitchFamily="2" charset="-122"/>
              </a:rPr>
              <a:t>获得稳定</a:t>
            </a:r>
            <a:r>
              <a:rPr sz="750" i="1" spc="-10" dirty="0">
                <a:solidFill>
                  <a:srgbClr val="6A7280"/>
                </a:solidFill>
                <a:latin typeface="宋体" panose="02010600030101010101" pitchFamily="2" charset="-122"/>
                <a:cs typeface="宋体" panose="02010600030101010101" pitchFamily="2" charset="-122"/>
              </a:rPr>
              <a:t>条件分布。</a:t>
            </a:r>
            <a:endParaRPr sz="750">
              <a:latin typeface="宋体" panose="02010600030101010101" pitchFamily="2" charset="-122"/>
              <a:cs typeface="宋体" panose="02010600030101010101" pitchFamily="2" charset="-122"/>
            </a:endParaRPr>
          </a:p>
        </p:txBody>
      </p:sp>
      <p:sp>
        <p:nvSpPr>
          <p:cNvPr id="49" name="object 49"/>
          <p:cNvSpPr/>
          <p:nvPr/>
        </p:nvSpPr>
        <p:spPr>
          <a:xfrm>
            <a:off x="0" y="0"/>
            <a:ext cx="12192000" cy="9525"/>
          </a:xfrm>
          <a:custGeom>
            <a:avLst/>
            <a:gdLst/>
            <a:ahLst/>
            <a:cxnLst/>
            <a:rect l="l" t="t" r="r" b="b"/>
            <a:pathLst>
              <a:path w="12192000" h="9525">
                <a:moveTo>
                  <a:pt x="12191999" y="9524"/>
                </a:moveTo>
                <a:lnTo>
                  <a:pt x="0" y="9524"/>
                </a:lnTo>
                <a:lnTo>
                  <a:pt x="0" y="0"/>
                </a:lnTo>
                <a:lnTo>
                  <a:pt x="12191999" y="0"/>
                </a:lnTo>
                <a:lnTo>
                  <a:pt x="12191999" y="9524"/>
                </a:lnTo>
                <a:close/>
              </a:path>
            </a:pathLst>
          </a:custGeom>
          <a:solidFill>
            <a:srgbClr val="E7E4E3"/>
          </a:solidFill>
        </p:spPr>
        <p:txBody>
          <a:bodyPr wrap="square" lIns="0" tIns="0" rIns="0" bIns="0" rtlCol="0"/>
          <a:lstStyle/>
          <a:p/>
        </p:txBody>
      </p:sp>
      <p:sp>
        <p:nvSpPr>
          <p:cNvPr id="50" name="object 50"/>
          <p:cNvSpPr/>
          <p:nvPr/>
        </p:nvSpPr>
        <p:spPr>
          <a:xfrm>
            <a:off x="0" y="6848474"/>
            <a:ext cx="12192000" cy="9525"/>
          </a:xfrm>
          <a:custGeom>
            <a:avLst/>
            <a:gdLst/>
            <a:ahLst/>
            <a:cxnLst/>
            <a:rect l="l" t="t" r="r" b="b"/>
            <a:pathLst>
              <a:path w="12192000" h="9525">
                <a:moveTo>
                  <a:pt x="12191999" y="9524"/>
                </a:moveTo>
                <a:lnTo>
                  <a:pt x="0" y="9524"/>
                </a:lnTo>
                <a:lnTo>
                  <a:pt x="0" y="0"/>
                </a:lnTo>
                <a:lnTo>
                  <a:pt x="12191999" y="0"/>
                </a:lnTo>
                <a:lnTo>
                  <a:pt x="12191999" y="9524"/>
                </a:lnTo>
                <a:close/>
              </a:path>
            </a:pathLst>
          </a:custGeom>
          <a:solidFill>
            <a:srgbClr val="E7E4E3"/>
          </a:solidFill>
        </p:spPr>
        <p:txBody>
          <a:bodyPr wrap="square" lIns="0" tIns="0" rIns="0" bIns="0" rtlCol="0"/>
          <a:lstStyl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380872"/>
            <a:ext cx="7315834" cy="490855"/>
          </a:xfrm>
          <a:prstGeom prst="rect">
            <a:avLst/>
          </a:prstGeom>
        </p:spPr>
        <p:txBody>
          <a:bodyPr vert="horz" wrap="square" lIns="0" tIns="12700" rIns="0" bIns="0" rtlCol="0">
            <a:spAutoFit/>
          </a:bodyPr>
          <a:lstStyle/>
          <a:p>
            <a:pPr marL="12700">
              <a:lnSpc>
                <a:spcPct val="100000"/>
              </a:lnSpc>
              <a:spcBef>
                <a:spcPts val="100"/>
              </a:spcBef>
            </a:pPr>
            <a:r>
              <a:rPr spc="-290" dirty="0"/>
              <a:t>方法：</a:t>
            </a:r>
            <a:r>
              <a:rPr sz="2750" spc="-70" dirty="0">
                <a:latin typeface="Calibri" panose="020F0502020204030204"/>
                <a:cs typeface="Calibri" panose="020F0502020204030204"/>
              </a:rPr>
              <a:t>ShifTS—</a:t>
            </a:r>
            <a:r>
              <a:rPr spc="-405" dirty="0"/>
              <a:t>处理双重分布偏移的统一代理框架</a:t>
            </a:r>
            <a:endParaRPr sz="2750">
              <a:latin typeface="Calibri" panose="020F0502020204030204"/>
              <a:cs typeface="Calibri" panose="020F0502020204030204"/>
            </a:endParaRPr>
          </a:p>
        </p:txBody>
      </p:sp>
      <p:grpSp>
        <p:nvGrpSpPr>
          <p:cNvPr id="3" name="object 3"/>
          <p:cNvGrpSpPr/>
          <p:nvPr/>
        </p:nvGrpSpPr>
        <p:grpSpPr>
          <a:xfrm>
            <a:off x="457200" y="1285874"/>
            <a:ext cx="4371975" cy="3438525"/>
            <a:chOff x="457200" y="1285874"/>
            <a:chExt cx="4371975" cy="3438525"/>
          </a:xfrm>
        </p:grpSpPr>
        <p:sp>
          <p:nvSpPr>
            <p:cNvPr id="4" name="object 4"/>
            <p:cNvSpPr/>
            <p:nvPr/>
          </p:nvSpPr>
          <p:spPr>
            <a:xfrm>
              <a:off x="461962" y="1290637"/>
              <a:ext cx="4362450" cy="3429000"/>
            </a:xfrm>
            <a:custGeom>
              <a:avLst/>
              <a:gdLst/>
              <a:ahLst/>
              <a:cxnLst/>
              <a:rect l="l" t="t" r="r" b="b"/>
              <a:pathLst>
                <a:path w="4362450" h="3429000">
                  <a:moveTo>
                    <a:pt x="4260104" y="3428999"/>
                  </a:moveTo>
                  <a:lnTo>
                    <a:pt x="102345" y="3428999"/>
                  </a:lnTo>
                  <a:lnTo>
                    <a:pt x="95221" y="3428298"/>
                  </a:lnTo>
                  <a:lnTo>
                    <a:pt x="54661" y="3414535"/>
                  </a:lnTo>
                  <a:lnTo>
                    <a:pt x="22456" y="3386298"/>
                  </a:lnTo>
                  <a:lnTo>
                    <a:pt x="3507" y="3347885"/>
                  </a:lnTo>
                  <a:lnTo>
                    <a:pt x="0" y="3326654"/>
                  </a:lnTo>
                  <a:lnTo>
                    <a:pt x="0" y="3319462"/>
                  </a:lnTo>
                  <a:lnTo>
                    <a:pt x="0" y="102345"/>
                  </a:lnTo>
                  <a:lnTo>
                    <a:pt x="11090" y="60974"/>
                  </a:lnTo>
                  <a:lnTo>
                    <a:pt x="37168" y="26997"/>
                  </a:lnTo>
                  <a:lnTo>
                    <a:pt x="74264" y="5585"/>
                  </a:lnTo>
                  <a:lnTo>
                    <a:pt x="102345" y="0"/>
                  </a:lnTo>
                  <a:lnTo>
                    <a:pt x="4260104" y="0"/>
                  </a:lnTo>
                  <a:lnTo>
                    <a:pt x="4301474" y="11090"/>
                  </a:lnTo>
                  <a:lnTo>
                    <a:pt x="4335452" y="37168"/>
                  </a:lnTo>
                  <a:lnTo>
                    <a:pt x="4356863" y="74264"/>
                  </a:lnTo>
                  <a:lnTo>
                    <a:pt x="4362449" y="102345"/>
                  </a:lnTo>
                  <a:lnTo>
                    <a:pt x="4362449" y="3326654"/>
                  </a:lnTo>
                  <a:lnTo>
                    <a:pt x="4351358" y="3368024"/>
                  </a:lnTo>
                  <a:lnTo>
                    <a:pt x="4325280" y="3402002"/>
                  </a:lnTo>
                  <a:lnTo>
                    <a:pt x="4288185" y="3423413"/>
                  </a:lnTo>
                  <a:lnTo>
                    <a:pt x="4267227" y="3428298"/>
                  </a:lnTo>
                  <a:lnTo>
                    <a:pt x="4260104" y="3428999"/>
                  </a:lnTo>
                  <a:close/>
                </a:path>
              </a:pathLst>
            </a:custGeom>
            <a:solidFill>
              <a:srgbClr val="FAFAFA"/>
            </a:solidFill>
          </p:spPr>
          <p:txBody>
            <a:bodyPr wrap="square" lIns="0" tIns="0" rIns="0" bIns="0" rtlCol="0"/>
            <a:lstStyle/>
            <a:p/>
          </p:txBody>
        </p:sp>
        <p:sp>
          <p:nvSpPr>
            <p:cNvPr id="5" name="object 5"/>
            <p:cNvSpPr/>
            <p:nvPr/>
          </p:nvSpPr>
          <p:spPr>
            <a:xfrm>
              <a:off x="461962" y="1290637"/>
              <a:ext cx="4362450" cy="3429000"/>
            </a:xfrm>
            <a:custGeom>
              <a:avLst/>
              <a:gdLst/>
              <a:ahLst/>
              <a:cxnLst/>
              <a:rect l="l" t="t" r="r" b="b"/>
              <a:pathLst>
                <a:path w="4362450" h="3429000">
                  <a:moveTo>
                    <a:pt x="0" y="331946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4252912" y="0"/>
                  </a:lnTo>
                  <a:lnTo>
                    <a:pt x="4260104" y="0"/>
                  </a:lnTo>
                  <a:lnTo>
                    <a:pt x="4267227" y="701"/>
                  </a:lnTo>
                  <a:lnTo>
                    <a:pt x="4307787" y="14464"/>
                  </a:lnTo>
                  <a:lnTo>
                    <a:pt x="4339993" y="42701"/>
                  </a:lnTo>
                  <a:lnTo>
                    <a:pt x="4343988" y="48681"/>
                  </a:lnTo>
                  <a:lnTo>
                    <a:pt x="4347984" y="54661"/>
                  </a:lnTo>
                  <a:lnTo>
                    <a:pt x="4351359" y="60974"/>
                  </a:lnTo>
                  <a:lnTo>
                    <a:pt x="4354111" y="67619"/>
                  </a:lnTo>
                  <a:lnTo>
                    <a:pt x="4356863" y="74264"/>
                  </a:lnTo>
                  <a:lnTo>
                    <a:pt x="4358941" y="81113"/>
                  </a:lnTo>
                  <a:lnTo>
                    <a:pt x="4360344" y="88167"/>
                  </a:lnTo>
                  <a:lnTo>
                    <a:pt x="4361747" y="95221"/>
                  </a:lnTo>
                  <a:lnTo>
                    <a:pt x="4362449" y="102345"/>
                  </a:lnTo>
                  <a:lnTo>
                    <a:pt x="4362449" y="109537"/>
                  </a:lnTo>
                  <a:lnTo>
                    <a:pt x="4362449" y="3319462"/>
                  </a:lnTo>
                  <a:lnTo>
                    <a:pt x="4362449" y="3326654"/>
                  </a:lnTo>
                  <a:lnTo>
                    <a:pt x="4361747" y="3333777"/>
                  </a:lnTo>
                  <a:lnTo>
                    <a:pt x="4360344" y="3340831"/>
                  </a:lnTo>
                  <a:lnTo>
                    <a:pt x="4358941" y="3347885"/>
                  </a:lnTo>
                  <a:lnTo>
                    <a:pt x="4356863" y="3354735"/>
                  </a:lnTo>
                  <a:lnTo>
                    <a:pt x="4354111" y="3361380"/>
                  </a:lnTo>
                  <a:lnTo>
                    <a:pt x="4351358" y="3368024"/>
                  </a:lnTo>
                  <a:lnTo>
                    <a:pt x="4325280" y="3402002"/>
                  </a:lnTo>
                  <a:lnTo>
                    <a:pt x="4288185" y="3423413"/>
                  </a:lnTo>
                  <a:lnTo>
                    <a:pt x="4260104" y="3428999"/>
                  </a:lnTo>
                  <a:lnTo>
                    <a:pt x="4252912" y="3428999"/>
                  </a:lnTo>
                  <a:lnTo>
                    <a:pt x="109537" y="3428999"/>
                  </a:lnTo>
                  <a:lnTo>
                    <a:pt x="102345" y="3428999"/>
                  </a:lnTo>
                  <a:lnTo>
                    <a:pt x="95221" y="3428298"/>
                  </a:lnTo>
                  <a:lnTo>
                    <a:pt x="88167" y="3426895"/>
                  </a:lnTo>
                  <a:lnTo>
                    <a:pt x="81113" y="3425491"/>
                  </a:lnTo>
                  <a:lnTo>
                    <a:pt x="74264" y="3423413"/>
                  </a:lnTo>
                  <a:lnTo>
                    <a:pt x="67619" y="3420661"/>
                  </a:lnTo>
                  <a:lnTo>
                    <a:pt x="60974" y="3417909"/>
                  </a:lnTo>
                  <a:lnTo>
                    <a:pt x="32082" y="3396916"/>
                  </a:lnTo>
                  <a:lnTo>
                    <a:pt x="26997" y="3391831"/>
                  </a:lnTo>
                  <a:lnTo>
                    <a:pt x="22456" y="3386298"/>
                  </a:lnTo>
                  <a:lnTo>
                    <a:pt x="18460" y="3380317"/>
                  </a:lnTo>
                  <a:lnTo>
                    <a:pt x="14464" y="3374337"/>
                  </a:lnTo>
                  <a:lnTo>
                    <a:pt x="11090" y="3368024"/>
                  </a:lnTo>
                  <a:lnTo>
                    <a:pt x="8338" y="3361380"/>
                  </a:lnTo>
                  <a:lnTo>
                    <a:pt x="5585" y="3354735"/>
                  </a:lnTo>
                  <a:lnTo>
                    <a:pt x="3507" y="3347885"/>
                  </a:lnTo>
                  <a:lnTo>
                    <a:pt x="2104" y="3340831"/>
                  </a:lnTo>
                  <a:lnTo>
                    <a:pt x="701" y="3333777"/>
                  </a:lnTo>
                  <a:lnTo>
                    <a:pt x="0" y="3326654"/>
                  </a:lnTo>
                  <a:lnTo>
                    <a:pt x="0" y="3319462"/>
                  </a:lnTo>
                  <a:close/>
                </a:path>
              </a:pathLst>
            </a:custGeom>
            <a:ln w="9524">
              <a:solidFill>
                <a:srgbClr val="E4E4E4"/>
              </a:solidFill>
            </a:ln>
          </p:spPr>
          <p:txBody>
            <a:bodyPr wrap="square" lIns="0" tIns="0" rIns="0" bIns="0" rtlCol="0"/>
            <a:lstStyle/>
            <a:p/>
          </p:txBody>
        </p:sp>
        <p:pic>
          <p:nvPicPr>
            <p:cNvPr id="6" name="object 6"/>
            <p:cNvPicPr/>
            <p:nvPr/>
          </p:nvPicPr>
          <p:blipFill>
            <a:blip r:embed="rId1" cstate="print"/>
            <a:stretch>
              <a:fillRect/>
            </a:stretch>
          </p:blipFill>
          <p:spPr>
            <a:xfrm>
              <a:off x="657224" y="1581149"/>
              <a:ext cx="76200" cy="76199"/>
            </a:xfrm>
            <a:prstGeom prst="rect">
              <a:avLst/>
            </a:prstGeom>
          </p:spPr>
        </p:pic>
      </p:grpSp>
      <p:sp>
        <p:nvSpPr>
          <p:cNvPr id="7" name="object 7"/>
          <p:cNvSpPr txBox="1"/>
          <p:nvPr/>
        </p:nvSpPr>
        <p:spPr>
          <a:xfrm>
            <a:off x="796924" y="1469961"/>
            <a:ext cx="1894205" cy="258445"/>
          </a:xfrm>
          <a:prstGeom prst="rect">
            <a:avLst/>
          </a:prstGeom>
        </p:spPr>
        <p:txBody>
          <a:bodyPr vert="horz" wrap="square" lIns="0" tIns="15875" rIns="0" bIns="0" rtlCol="0">
            <a:spAutoFit/>
          </a:bodyPr>
          <a:lstStyle/>
          <a:p>
            <a:pPr marL="12700">
              <a:lnSpc>
                <a:spcPct val="100000"/>
              </a:lnSpc>
              <a:spcBef>
                <a:spcPts val="125"/>
              </a:spcBef>
            </a:pPr>
            <a:r>
              <a:rPr sz="1500" spc="-170" dirty="0">
                <a:solidFill>
                  <a:srgbClr val="111726"/>
                </a:solidFill>
                <a:latin typeface="宋体" panose="02010600030101010101" pitchFamily="2" charset="-122"/>
                <a:cs typeface="宋体" panose="02010600030101010101" pitchFamily="2" charset="-122"/>
              </a:rPr>
              <a:t>宏观架构：解耦双重偏移</a:t>
            </a:r>
            <a:endParaRPr sz="1500">
              <a:latin typeface="宋体" panose="02010600030101010101" pitchFamily="2" charset="-122"/>
              <a:cs typeface="宋体" panose="02010600030101010101" pitchFamily="2" charset="-122"/>
            </a:endParaRPr>
          </a:p>
        </p:txBody>
      </p:sp>
      <p:sp>
        <p:nvSpPr>
          <p:cNvPr id="8" name="object 8"/>
          <p:cNvSpPr txBox="1"/>
          <p:nvPr/>
        </p:nvSpPr>
        <p:spPr>
          <a:xfrm>
            <a:off x="644524" y="1882775"/>
            <a:ext cx="163195" cy="162560"/>
          </a:xfrm>
          <a:prstGeom prst="rect">
            <a:avLst/>
          </a:prstGeom>
        </p:spPr>
        <p:txBody>
          <a:bodyPr vert="horz" wrap="square" lIns="0" tIns="12700" rIns="0" bIns="0" rtlCol="0">
            <a:spAutoFit/>
          </a:bodyPr>
          <a:lstStyle/>
          <a:p>
            <a:pPr marL="12700">
              <a:lnSpc>
                <a:spcPct val="100000"/>
              </a:lnSpc>
              <a:spcBef>
                <a:spcPts val="100"/>
              </a:spcBef>
            </a:pPr>
            <a:r>
              <a:rPr sz="900" b="1" spc="-25" dirty="0">
                <a:solidFill>
                  <a:srgbClr val="D4A573"/>
                </a:solidFill>
                <a:latin typeface="Courier New" panose="02070309020205020404"/>
                <a:cs typeface="Courier New" panose="02070309020205020404"/>
              </a:rPr>
              <a:t>01</a:t>
            </a:r>
            <a:endParaRPr sz="900">
              <a:latin typeface="Courier New" panose="02070309020205020404"/>
              <a:cs typeface="Courier New" panose="02070309020205020404"/>
            </a:endParaRPr>
          </a:p>
        </p:txBody>
      </p:sp>
      <p:sp>
        <p:nvSpPr>
          <p:cNvPr id="9" name="object 9"/>
          <p:cNvSpPr txBox="1"/>
          <p:nvPr/>
        </p:nvSpPr>
        <p:spPr>
          <a:xfrm>
            <a:off x="644524" y="2578100"/>
            <a:ext cx="163195" cy="162560"/>
          </a:xfrm>
          <a:prstGeom prst="rect">
            <a:avLst/>
          </a:prstGeom>
        </p:spPr>
        <p:txBody>
          <a:bodyPr vert="horz" wrap="square" lIns="0" tIns="12700" rIns="0" bIns="0" rtlCol="0">
            <a:spAutoFit/>
          </a:bodyPr>
          <a:lstStyle/>
          <a:p>
            <a:pPr marL="12700">
              <a:lnSpc>
                <a:spcPct val="100000"/>
              </a:lnSpc>
              <a:spcBef>
                <a:spcPts val="100"/>
              </a:spcBef>
            </a:pPr>
            <a:r>
              <a:rPr sz="900" b="1" spc="-25" dirty="0">
                <a:solidFill>
                  <a:srgbClr val="6AC3C3"/>
                </a:solidFill>
                <a:latin typeface="Courier New" panose="02070309020205020404"/>
                <a:cs typeface="Courier New" panose="02070309020205020404"/>
              </a:rPr>
              <a:t>02</a:t>
            </a:r>
            <a:endParaRPr sz="900">
              <a:latin typeface="Courier New" panose="02070309020205020404"/>
              <a:cs typeface="Courier New" panose="02070309020205020404"/>
            </a:endParaRPr>
          </a:p>
        </p:txBody>
      </p:sp>
      <p:sp>
        <p:nvSpPr>
          <p:cNvPr id="10" name="object 10"/>
          <p:cNvSpPr txBox="1"/>
          <p:nvPr/>
        </p:nvSpPr>
        <p:spPr>
          <a:xfrm>
            <a:off x="644524" y="3082925"/>
            <a:ext cx="163195" cy="162560"/>
          </a:xfrm>
          <a:prstGeom prst="rect">
            <a:avLst/>
          </a:prstGeom>
        </p:spPr>
        <p:txBody>
          <a:bodyPr vert="horz" wrap="square" lIns="0" tIns="12700" rIns="0" bIns="0" rtlCol="0">
            <a:spAutoFit/>
          </a:bodyPr>
          <a:lstStyle/>
          <a:p>
            <a:pPr marL="12700">
              <a:lnSpc>
                <a:spcPct val="100000"/>
              </a:lnSpc>
              <a:spcBef>
                <a:spcPts val="100"/>
              </a:spcBef>
            </a:pPr>
            <a:r>
              <a:rPr sz="900" b="1" spc="-25" dirty="0">
                <a:solidFill>
                  <a:srgbClr val="5B8BA7"/>
                </a:solidFill>
                <a:latin typeface="Courier New" panose="02070309020205020404"/>
                <a:cs typeface="Courier New" panose="02070309020205020404"/>
              </a:rPr>
              <a:t>03</a:t>
            </a:r>
            <a:endParaRPr sz="900">
              <a:latin typeface="Courier New" panose="02070309020205020404"/>
              <a:cs typeface="Courier New" panose="02070309020205020404"/>
            </a:endParaRPr>
          </a:p>
        </p:txBody>
      </p:sp>
      <p:sp>
        <p:nvSpPr>
          <p:cNvPr id="11" name="object 11"/>
          <p:cNvSpPr txBox="1"/>
          <p:nvPr/>
        </p:nvSpPr>
        <p:spPr>
          <a:xfrm>
            <a:off x="876994" y="3020060"/>
            <a:ext cx="3716654" cy="387350"/>
          </a:xfrm>
          <a:prstGeom prst="rect">
            <a:avLst/>
          </a:prstGeom>
        </p:spPr>
        <p:txBody>
          <a:bodyPr vert="horz" wrap="square" lIns="0" tIns="12700" rIns="0" bIns="0" rtlCol="0">
            <a:spAutoFit/>
          </a:bodyPr>
          <a:lstStyle/>
          <a:p>
            <a:pPr marL="12700" marR="5080">
              <a:lnSpc>
                <a:spcPct val="132000"/>
              </a:lnSpc>
              <a:spcBef>
                <a:spcPts val="100"/>
              </a:spcBef>
            </a:pPr>
            <a:r>
              <a:rPr sz="900" spc="-40" dirty="0">
                <a:solidFill>
                  <a:srgbClr val="111726"/>
                </a:solidFill>
                <a:latin typeface="宋体" panose="02010600030101010101" pitchFamily="2" charset="-122"/>
                <a:cs typeface="宋体" panose="02010600030101010101" pitchFamily="2" charset="-122"/>
              </a:rPr>
              <a:t>聚合预测 </a:t>
            </a:r>
            <a:r>
              <a:rPr sz="900" spc="-75" dirty="0">
                <a:solidFill>
                  <a:srgbClr val="111726"/>
                </a:solidFill>
                <a:latin typeface="宋体" panose="02010600030101010101" pitchFamily="2" charset="-122"/>
                <a:cs typeface="宋体" panose="02010600030101010101" pitchFamily="2" charset="-122"/>
              </a:rPr>
              <a:t>(Features):</a:t>
            </a:r>
            <a:r>
              <a:rPr sz="900" spc="-180" dirty="0">
                <a:solidFill>
                  <a:srgbClr val="111726"/>
                </a:solidFill>
                <a:latin typeface="宋体" panose="02010600030101010101" pitchFamily="2" charset="-122"/>
                <a:cs typeface="宋体" panose="02010600030101010101" pitchFamily="2" charset="-122"/>
              </a:rPr>
              <a:t> </a:t>
            </a:r>
            <a:r>
              <a:rPr sz="900" spc="-5" dirty="0">
                <a:solidFill>
                  <a:srgbClr val="374050"/>
                </a:solidFill>
                <a:latin typeface="宋体" panose="02010600030101010101" pitchFamily="2" charset="-122"/>
                <a:cs typeface="宋体" panose="02010600030101010101" pitchFamily="2" charset="-122"/>
              </a:rPr>
              <a:t>融合预测所得的代理特征并将其与目标基础预测进行</a:t>
            </a:r>
            <a:r>
              <a:rPr sz="900" spc="-10" dirty="0">
                <a:solidFill>
                  <a:srgbClr val="374050"/>
                </a:solidFill>
                <a:latin typeface="宋体" panose="02010600030101010101" pitchFamily="2" charset="-122"/>
                <a:cs typeface="宋体" panose="02010600030101010101" pitchFamily="2" charset="-122"/>
              </a:rPr>
              <a:t>线性相加。</a:t>
            </a:r>
            <a:endParaRPr sz="900">
              <a:latin typeface="宋体" panose="02010600030101010101" pitchFamily="2" charset="-122"/>
              <a:cs typeface="宋体" panose="02010600030101010101" pitchFamily="2" charset="-122"/>
            </a:endParaRPr>
          </a:p>
        </p:txBody>
      </p:sp>
      <p:grpSp>
        <p:nvGrpSpPr>
          <p:cNvPr id="12" name="object 12"/>
          <p:cNvGrpSpPr/>
          <p:nvPr/>
        </p:nvGrpSpPr>
        <p:grpSpPr>
          <a:xfrm>
            <a:off x="457200" y="4876799"/>
            <a:ext cx="4371975" cy="1524000"/>
            <a:chOff x="457200" y="4876799"/>
            <a:chExt cx="4371975" cy="1524000"/>
          </a:xfrm>
        </p:grpSpPr>
        <p:sp>
          <p:nvSpPr>
            <p:cNvPr id="13" name="object 13"/>
            <p:cNvSpPr/>
            <p:nvPr/>
          </p:nvSpPr>
          <p:spPr>
            <a:xfrm>
              <a:off x="461962" y="4881562"/>
              <a:ext cx="4362450" cy="1514475"/>
            </a:xfrm>
            <a:custGeom>
              <a:avLst/>
              <a:gdLst/>
              <a:ahLst/>
              <a:cxnLst/>
              <a:rect l="l" t="t" r="r" b="b"/>
              <a:pathLst>
                <a:path w="4362450" h="1514475">
                  <a:moveTo>
                    <a:pt x="4260104" y="1514474"/>
                  </a:moveTo>
                  <a:lnTo>
                    <a:pt x="102345" y="1514474"/>
                  </a:lnTo>
                  <a:lnTo>
                    <a:pt x="95221" y="1513773"/>
                  </a:lnTo>
                  <a:lnTo>
                    <a:pt x="54661" y="1500010"/>
                  </a:lnTo>
                  <a:lnTo>
                    <a:pt x="22456" y="1471772"/>
                  </a:lnTo>
                  <a:lnTo>
                    <a:pt x="3507" y="1433361"/>
                  </a:lnTo>
                  <a:lnTo>
                    <a:pt x="0" y="1412129"/>
                  </a:lnTo>
                  <a:lnTo>
                    <a:pt x="0" y="1404937"/>
                  </a:lnTo>
                  <a:lnTo>
                    <a:pt x="0" y="102344"/>
                  </a:lnTo>
                  <a:lnTo>
                    <a:pt x="11090" y="60973"/>
                  </a:lnTo>
                  <a:lnTo>
                    <a:pt x="37168" y="26996"/>
                  </a:lnTo>
                  <a:lnTo>
                    <a:pt x="74264" y="5585"/>
                  </a:lnTo>
                  <a:lnTo>
                    <a:pt x="102345" y="0"/>
                  </a:lnTo>
                  <a:lnTo>
                    <a:pt x="4260104" y="0"/>
                  </a:lnTo>
                  <a:lnTo>
                    <a:pt x="4301474" y="11090"/>
                  </a:lnTo>
                  <a:lnTo>
                    <a:pt x="4335452" y="37168"/>
                  </a:lnTo>
                  <a:lnTo>
                    <a:pt x="4356863" y="74263"/>
                  </a:lnTo>
                  <a:lnTo>
                    <a:pt x="4362449" y="102344"/>
                  </a:lnTo>
                  <a:lnTo>
                    <a:pt x="4362449" y="1412129"/>
                  </a:lnTo>
                  <a:lnTo>
                    <a:pt x="4351358" y="1453500"/>
                  </a:lnTo>
                  <a:lnTo>
                    <a:pt x="4325280" y="1487478"/>
                  </a:lnTo>
                  <a:lnTo>
                    <a:pt x="4288185" y="1508889"/>
                  </a:lnTo>
                  <a:lnTo>
                    <a:pt x="4267227" y="1513773"/>
                  </a:lnTo>
                  <a:lnTo>
                    <a:pt x="4260104" y="1514474"/>
                  </a:lnTo>
                  <a:close/>
                </a:path>
              </a:pathLst>
            </a:custGeom>
            <a:solidFill>
              <a:srgbClr val="FFF7F0"/>
            </a:solidFill>
          </p:spPr>
          <p:txBody>
            <a:bodyPr wrap="square" lIns="0" tIns="0" rIns="0" bIns="0" rtlCol="0"/>
            <a:lstStyle/>
            <a:p/>
          </p:txBody>
        </p:sp>
        <p:sp>
          <p:nvSpPr>
            <p:cNvPr id="14" name="object 14"/>
            <p:cNvSpPr/>
            <p:nvPr/>
          </p:nvSpPr>
          <p:spPr>
            <a:xfrm>
              <a:off x="461962" y="4881562"/>
              <a:ext cx="4362450" cy="1514475"/>
            </a:xfrm>
            <a:custGeom>
              <a:avLst/>
              <a:gdLst/>
              <a:ahLst/>
              <a:cxnLst/>
              <a:rect l="l" t="t" r="r" b="b"/>
              <a:pathLst>
                <a:path w="4362450" h="1514475">
                  <a:moveTo>
                    <a:pt x="0" y="1404937"/>
                  </a:moveTo>
                  <a:lnTo>
                    <a:pt x="0" y="109537"/>
                  </a:lnTo>
                  <a:lnTo>
                    <a:pt x="0" y="102344"/>
                  </a:lnTo>
                  <a:lnTo>
                    <a:pt x="701" y="95221"/>
                  </a:lnTo>
                  <a:lnTo>
                    <a:pt x="2104" y="88167"/>
                  </a:lnTo>
                  <a:lnTo>
                    <a:pt x="3507" y="81113"/>
                  </a:lnTo>
                  <a:lnTo>
                    <a:pt x="5585" y="74263"/>
                  </a:lnTo>
                  <a:lnTo>
                    <a:pt x="8338" y="67619"/>
                  </a:lnTo>
                  <a:lnTo>
                    <a:pt x="11090" y="60973"/>
                  </a:lnTo>
                  <a:lnTo>
                    <a:pt x="14464" y="54661"/>
                  </a:lnTo>
                  <a:lnTo>
                    <a:pt x="18460" y="48681"/>
                  </a:lnTo>
                  <a:lnTo>
                    <a:pt x="22456" y="42701"/>
                  </a:lnTo>
                  <a:lnTo>
                    <a:pt x="26997" y="37168"/>
                  </a:lnTo>
                  <a:lnTo>
                    <a:pt x="32082" y="32082"/>
                  </a:lnTo>
                  <a:lnTo>
                    <a:pt x="37168" y="26996"/>
                  </a:lnTo>
                  <a:lnTo>
                    <a:pt x="42701" y="22455"/>
                  </a:lnTo>
                  <a:lnTo>
                    <a:pt x="48681" y="18460"/>
                  </a:lnTo>
                  <a:lnTo>
                    <a:pt x="54661" y="14464"/>
                  </a:lnTo>
                  <a:lnTo>
                    <a:pt x="60974" y="11090"/>
                  </a:lnTo>
                  <a:lnTo>
                    <a:pt x="67619" y="8337"/>
                  </a:lnTo>
                  <a:lnTo>
                    <a:pt x="74264" y="5585"/>
                  </a:lnTo>
                  <a:lnTo>
                    <a:pt x="81113" y="3507"/>
                  </a:lnTo>
                  <a:lnTo>
                    <a:pt x="88167" y="2104"/>
                  </a:lnTo>
                  <a:lnTo>
                    <a:pt x="95221" y="701"/>
                  </a:lnTo>
                  <a:lnTo>
                    <a:pt x="102345" y="0"/>
                  </a:lnTo>
                  <a:lnTo>
                    <a:pt x="109537" y="0"/>
                  </a:lnTo>
                  <a:lnTo>
                    <a:pt x="4252912" y="0"/>
                  </a:lnTo>
                  <a:lnTo>
                    <a:pt x="4260104" y="0"/>
                  </a:lnTo>
                  <a:lnTo>
                    <a:pt x="4267227" y="701"/>
                  </a:lnTo>
                  <a:lnTo>
                    <a:pt x="4307787" y="14464"/>
                  </a:lnTo>
                  <a:lnTo>
                    <a:pt x="4313767" y="18460"/>
                  </a:lnTo>
                  <a:lnTo>
                    <a:pt x="4319747" y="22455"/>
                  </a:lnTo>
                  <a:lnTo>
                    <a:pt x="4325280" y="26996"/>
                  </a:lnTo>
                  <a:lnTo>
                    <a:pt x="4330366" y="32082"/>
                  </a:lnTo>
                  <a:lnTo>
                    <a:pt x="4335452" y="37168"/>
                  </a:lnTo>
                  <a:lnTo>
                    <a:pt x="4339993" y="42701"/>
                  </a:lnTo>
                  <a:lnTo>
                    <a:pt x="4343988" y="48681"/>
                  </a:lnTo>
                  <a:lnTo>
                    <a:pt x="4347984" y="54661"/>
                  </a:lnTo>
                  <a:lnTo>
                    <a:pt x="4351359" y="60973"/>
                  </a:lnTo>
                  <a:lnTo>
                    <a:pt x="4354111" y="67618"/>
                  </a:lnTo>
                  <a:lnTo>
                    <a:pt x="4356863" y="74263"/>
                  </a:lnTo>
                  <a:lnTo>
                    <a:pt x="4358941" y="81113"/>
                  </a:lnTo>
                  <a:lnTo>
                    <a:pt x="4360344" y="88167"/>
                  </a:lnTo>
                  <a:lnTo>
                    <a:pt x="4361747" y="95221"/>
                  </a:lnTo>
                  <a:lnTo>
                    <a:pt x="4362449" y="102344"/>
                  </a:lnTo>
                  <a:lnTo>
                    <a:pt x="4362449" y="109537"/>
                  </a:lnTo>
                  <a:lnTo>
                    <a:pt x="4362449" y="1404937"/>
                  </a:lnTo>
                  <a:lnTo>
                    <a:pt x="4362449" y="1412129"/>
                  </a:lnTo>
                  <a:lnTo>
                    <a:pt x="4361747" y="1419252"/>
                  </a:lnTo>
                  <a:lnTo>
                    <a:pt x="4360344" y="1426307"/>
                  </a:lnTo>
                  <a:lnTo>
                    <a:pt x="4358941" y="1433361"/>
                  </a:lnTo>
                  <a:lnTo>
                    <a:pt x="4356863" y="1440210"/>
                  </a:lnTo>
                  <a:lnTo>
                    <a:pt x="4354111" y="1446855"/>
                  </a:lnTo>
                  <a:lnTo>
                    <a:pt x="4351358" y="1453500"/>
                  </a:lnTo>
                  <a:lnTo>
                    <a:pt x="4325280" y="1487478"/>
                  </a:lnTo>
                  <a:lnTo>
                    <a:pt x="4294830" y="1506136"/>
                  </a:lnTo>
                  <a:lnTo>
                    <a:pt x="4288185" y="1508889"/>
                  </a:lnTo>
                  <a:lnTo>
                    <a:pt x="4281335" y="1510966"/>
                  </a:lnTo>
                  <a:lnTo>
                    <a:pt x="4274281" y="1512369"/>
                  </a:lnTo>
                  <a:lnTo>
                    <a:pt x="4267227" y="1513773"/>
                  </a:lnTo>
                  <a:lnTo>
                    <a:pt x="4260104" y="1514474"/>
                  </a:lnTo>
                  <a:lnTo>
                    <a:pt x="4252912" y="1514474"/>
                  </a:lnTo>
                  <a:lnTo>
                    <a:pt x="109537" y="1514474"/>
                  </a:lnTo>
                  <a:lnTo>
                    <a:pt x="102345" y="1514474"/>
                  </a:lnTo>
                  <a:lnTo>
                    <a:pt x="95221" y="1513773"/>
                  </a:lnTo>
                  <a:lnTo>
                    <a:pt x="88167" y="1512369"/>
                  </a:lnTo>
                  <a:lnTo>
                    <a:pt x="81113" y="1510966"/>
                  </a:lnTo>
                  <a:lnTo>
                    <a:pt x="74264" y="1508889"/>
                  </a:lnTo>
                  <a:lnTo>
                    <a:pt x="67619" y="1506136"/>
                  </a:lnTo>
                  <a:lnTo>
                    <a:pt x="60974" y="1503384"/>
                  </a:lnTo>
                  <a:lnTo>
                    <a:pt x="32082" y="1482391"/>
                  </a:lnTo>
                  <a:lnTo>
                    <a:pt x="26997" y="1477305"/>
                  </a:lnTo>
                  <a:lnTo>
                    <a:pt x="22456" y="1471772"/>
                  </a:lnTo>
                  <a:lnTo>
                    <a:pt x="18460" y="1465792"/>
                  </a:lnTo>
                  <a:lnTo>
                    <a:pt x="14464" y="1459811"/>
                  </a:lnTo>
                  <a:lnTo>
                    <a:pt x="11090" y="1453499"/>
                  </a:lnTo>
                  <a:lnTo>
                    <a:pt x="8338" y="1446854"/>
                  </a:lnTo>
                  <a:lnTo>
                    <a:pt x="5585" y="1440210"/>
                  </a:lnTo>
                  <a:lnTo>
                    <a:pt x="3507" y="1433361"/>
                  </a:lnTo>
                  <a:lnTo>
                    <a:pt x="2104" y="1426307"/>
                  </a:lnTo>
                  <a:lnTo>
                    <a:pt x="701" y="1419252"/>
                  </a:lnTo>
                  <a:lnTo>
                    <a:pt x="0" y="1412129"/>
                  </a:lnTo>
                  <a:lnTo>
                    <a:pt x="0" y="1404937"/>
                  </a:lnTo>
                  <a:close/>
                </a:path>
              </a:pathLst>
            </a:custGeom>
            <a:ln w="9524">
              <a:solidFill>
                <a:srgbClr val="EFEFEF"/>
              </a:solidFill>
            </a:ln>
          </p:spPr>
          <p:txBody>
            <a:bodyPr wrap="square" lIns="0" tIns="0" rIns="0" bIns="0" rtlCol="0"/>
            <a:lstStyle/>
            <a:p/>
          </p:txBody>
        </p:sp>
        <p:pic>
          <p:nvPicPr>
            <p:cNvPr id="15" name="object 15"/>
            <p:cNvPicPr/>
            <p:nvPr/>
          </p:nvPicPr>
          <p:blipFill>
            <a:blip r:embed="rId2" cstate="print"/>
            <a:stretch>
              <a:fillRect/>
            </a:stretch>
          </p:blipFill>
          <p:spPr>
            <a:xfrm>
              <a:off x="657224" y="5172074"/>
              <a:ext cx="76200" cy="76199"/>
            </a:xfrm>
            <a:prstGeom prst="rect">
              <a:avLst/>
            </a:prstGeom>
          </p:spPr>
        </p:pic>
      </p:grpSp>
      <p:sp>
        <p:nvSpPr>
          <p:cNvPr id="16" name="object 16"/>
          <p:cNvSpPr txBox="1"/>
          <p:nvPr/>
        </p:nvSpPr>
        <p:spPr>
          <a:xfrm>
            <a:off x="796924" y="5060886"/>
            <a:ext cx="1555115" cy="258445"/>
          </a:xfrm>
          <a:prstGeom prst="rect">
            <a:avLst/>
          </a:prstGeom>
        </p:spPr>
        <p:txBody>
          <a:bodyPr vert="horz" wrap="square" lIns="0" tIns="15875" rIns="0" bIns="0" rtlCol="0">
            <a:spAutoFit/>
          </a:bodyPr>
          <a:lstStyle/>
          <a:p>
            <a:pPr marL="12700">
              <a:lnSpc>
                <a:spcPct val="100000"/>
              </a:lnSpc>
              <a:spcBef>
                <a:spcPts val="125"/>
              </a:spcBef>
            </a:pPr>
            <a:r>
              <a:rPr sz="1500" spc="-160" dirty="0">
                <a:solidFill>
                  <a:srgbClr val="111726"/>
                </a:solidFill>
                <a:latin typeface="宋体" panose="02010600030101010101" pitchFamily="2" charset="-122"/>
                <a:cs typeface="宋体" panose="02010600030101010101" pitchFamily="2" charset="-122"/>
              </a:rPr>
              <a:t>数据流转与维度变换</a:t>
            </a:r>
            <a:endParaRPr sz="1500">
              <a:latin typeface="宋体" panose="02010600030101010101" pitchFamily="2" charset="-122"/>
              <a:cs typeface="宋体" panose="02010600030101010101" pitchFamily="2" charset="-122"/>
            </a:endParaRPr>
          </a:p>
        </p:txBody>
      </p:sp>
      <p:grpSp>
        <p:nvGrpSpPr>
          <p:cNvPr id="17" name="object 17"/>
          <p:cNvGrpSpPr/>
          <p:nvPr/>
        </p:nvGrpSpPr>
        <p:grpSpPr>
          <a:xfrm>
            <a:off x="657224" y="5419724"/>
            <a:ext cx="1247775" cy="590550"/>
            <a:chOff x="657224" y="5419724"/>
            <a:chExt cx="1247775" cy="590550"/>
          </a:xfrm>
        </p:grpSpPr>
        <p:sp>
          <p:nvSpPr>
            <p:cNvPr id="18" name="object 18"/>
            <p:cNvSpPr/>
            <p:nvPr/>
          </p:nvSpPr>
          <p:spPr>
            <a:xfrm>
              <a:off x="661987" y="5424487"/>
              <a:ext cx="1238250" cy="581025"/>
            </a:xfrm>
            <a:custGeom>
              <a:avLst/>
              <a:gdLst/>
              <a:ahLst/>
              <a:cxnLst/>
              <a:rect l="l" t="t" r="r" b="b"/>
              <a:pathLst>
                <a:path w="1238250" h="581025">
                  <a:moveTo>
                    <a:pt x="1209333" y="581024"/>
                  </a:moveTo>
                  <a:lnTo>
                    <a:pt x="28916" y="581024"/>
                  </a:lnTo>
                  <a:lnTo>
                    <a:pt x="24664" y="580178"/>
                  </a:lnTo>
                  <a:lnTo>
                    <a:pt x="0" y="552107"/>
                  </a:lnTo>
                  <a:lnTo>
                    <a:pt x="0" y="547687"/>
                  </a:lnTo>
                  <a:lnTo>
                    <a:pt x="0" y="28916"/>
                  </a:lnTo>
                  <a:lnTo>
                    <a:pt x="28916" y="0"/>
                  </a:lnTo>
                  <a:lnTo>
                    <a:pt x="1209333" y="0"/>
                  </a:lnTo>
                  <a:lnTo>
                    <a:pt x="1238249" y="28916"/>
                  </a:lnTo>
                  <a:lnTo>
                    <a:pt x="1238249" y="552107"/>
                  </a:lnTo>
                  <a:lnTo>
                    <a:pt x="1213585" y="580178"/>
                  </a:lnTo>
                  <a:lnTo>
                    <a:pt x="1209333" y="581024"/>
                  </a:lnTo>
                  <a:close/>
                </a:path>
              </a:pathLst>
            </a:custGeom>
            <a:solidFill>
              <a:srgbClr val="FFFFFF"/>
            </a:solidFill>
          </p:spPr>
          <p:txBody>
            <a:bodyPr wrap="square" lIns="0" tIns="0" rIns="0" bIns="0" rtlCol="0"/>
            <a:lstStyle/>
            <a:p/>
          </p:txBody>
        </p:sp>
        <p:sp>
          <p:nvSpPr>
            <p:cNvPr id="19" name="object 19"/>
            <p:cNvSpPr/>
            <p:nvPr/>
          </p:nvSpPr>
          <p:spPr>
            <a:xfrm>
              <a:off x="661987" y="5424487"/>
              <a:ext cx="1238250" cy="581025"/>
            </a:xfrm>
            <a:custGeom>
              <a:avLst/>
              <a:gdLst/>
              <a:ahLst/>
              <a:cxnLst/>
              <a:rect l="l" t="t" r="r" b="b"/>
              <a:pathLst>
                <a:path w="1238250" h="581025">
                  <a:moveTo>
                    <a:pt x="0" y="547687"/>
                  </a:moveTo>
                  <a:lnTo>
                    <a:pt x="0" y="33337"/>
                  </a:lnTo>
                  <a:lnTo>
                    <a:pt x="0" y="28916"/>
                  </a:lnTo>
                  <a:lnTo>
                    <a:pt x="845" y="24663"/>
                  </a:lnTo>
                  <a:lnTo>
                    <a:pt x="2537" y="20579"/>
                  </a:lnTo>
                  <a:lnTo>
                    <a:pt x="4229" y="16494"/>
                  </a:lnTo>
                  <a:lnTo>
                    <a:pt x="6638" y="12889"/>
                  </a:lnTo>
                  <a:lnTo>
                    <a:pt x="9764" y="9764"/>
                  </a:lnTo>
                  <a:lnTo>
                    <a:pt x="12890" y="6637"/>
                  </a:lnTo>
                  <a:lnTo>
                    <a:pt x="16495" y="4229"/>
                  </a:lnTo>
                  <a:lnTo>
                    <a:pt x="20579" y="2537"/>
                  </a:lnTo>
                  <a:lnTo>
                    <a:pt x="24664" y="845"/>
                  </a:lnTo>
                  <a:lnTo>
                    <a:pt x="28916" y="0"/>
                  </a:lnTo>
                  <a:lnTo>
                    <a:pt x="33337" y="0"/>
                  </a:lnTo>
                  <a:lnTo>
                    <a:pt x="1204912" y="0"/>
                  </a:lnTo>
                  <a:lnTo>
                    <a:pt x="1209333" y="0"/>
                  </a:lnTo>
                  <a:lnTo>
                    <a:pt x="1213585" y="845"/>
                  </a:lnTo>
                  <a:lnTo>
                    <a:pt x="1217670" y="2537"/>
                  </a:lnTo>
                  <a:lnTo>
                    <a:pt x="1221754" y="4229"/>
                  </a:lnTo>
                  <a:lnTo>
                    <a:pt x="1225359" y="6637"/>
                  </a:lnTo>
                  <a:lnTo>
                    <a:pt x="1228485" y="9764"/>
                  </a:lnTo>
                  <a:lnTo>
                    <a:pt x="1231611" y="12889"/>
                  </a:lnTo>
                  <a:lnTo>
                    <a:pt x="1234020" y="16494"/>
                  </a:lnTo>
                  <a:lnTo>
                    <a:pt x="1235711" y="20579"/>
                  </a:lnTo>
                  <a:lnTo>
                    <a:pt x="1237403" y="24663"/>
                  </a:lnTo>
                  <a:lnTo>
                    <a:pt x="1238249" y="28916"/>
                  </a:lnTo>
                  <a:lnTo>
                    <a:pt x="1238249" y="33337"/>
                  </a:lnTo>
                  <a:lnTo>
                    <a:pt x="1238249" y="547687"/>
                  </a:lnTo>
                  <a:lnTo>
                    <a:pt x="1238249" y="552107"/>
                  </a:lnTo>
                  <a:lnTo>
                    <a:pt x="1237403" y="556360"/>
                  </a:lnTo>
                  <a:lnTo>
                    <a:pt x="1235711" y="560444"/>
                  </a:lnTo>
                  <a:lnTo>
                    <a:pt x="1234020" y="564528"/>
                  </a:lnTo>
                  <a:lnTo>
                    <a:pt x="1204912" y="581024"/>
                  </a:lnTo>
                  <a:lnTo>
                    <a:pt x="33337" y="581024"/>
                  </a:lnTo>
                  <a:lnTo>
                    <a:pt x="2537" y="560444"/>
                  </a:lnTo>
                  <a:lnTo>
                    <a:pt x="845" y="556360"/>
                  </a:lnTo>
                  <a:lnTo>
                    <a:pt x="0" y="552107"/>
                  </a:lnTo>
                  <a:lnTo>
                    <a:pt x="0" y="547687"/>
                  </a:lnTo>
                  <a:close/>
                </a:path>
              </a:pathLst>
            </a:custGeom>
            <a:ln w="9524">
              <a:solidFill>
                <a:srgbClr val="F2F4F5"/>
              </a:solidFill>
            </a:ln>
          </p:spPr>
          <p:txBody>
            <a:bodyPr wrap="square" lIns="0" tIns="0" rIns="0" bIns="0" rtlCol="0"/>
            <a:lstStyle/>
            <a:p/>
          </p:txBody>
        </p:sp>
      </p:grpSp>
      <p:sp>
        <p:nvSpPr>
          <p:cNvPr id="20" name="object 20"/>
          <p:cNvSpPr txBox="1"/>
          <p:nvPr/>
        </p:nvSpPr>
        <p:spPr>
          <a:xfrm>
            <a:off x="730249" y="5502275"/>
            <a:ext cx="527685" cy="139700"/>
          </a:xfrm>
          <a:prstGeom prst="rect">
            <a:avLst/>
          </a:prstGeom>
        </p:spPr>
        <p:txBody>
          <a:bodyPr vert="horz" wrap="square" lIns="0" tIns="12700" rIns="0" bIns="0" rtlCol="0">
            <a:spAutoFit/>
          </a:bodyPr>
          <a:lstStyle/>
          <a:p>
            <a:pPr marL="12700">
              <a:lnSpc>
                <a:spcPct val="100000"/>
              </a:lnSpc>
              <a:spcBef>
                <a:spcPts val="100"/>
              </a:spcBef>
            </a:pPr>
            <a:r>
              <a:rPr sz="750" spc="-20" dirty="0">
                <a:solidFill>
                  <a:srgbClr val="9CA2AF"/>
                </a:solidFill>
                <a:latin typeface="宋体" panose="02010600030101010101" pitchFamily="2" charset="-122"/>
                <a:cs typeface="宋体" panose="02010600030101010101" pitchFamily="2" charset="-122"/>
              </a:rPr>
              <a:t>输入 </a:t>
            </a:r>
            <a:r>
              <a:rPr sz="750" spc="-10" dirty="0">
                <a:solidFill>
                  <a:srgbClr val="9CA2AF"/>
                </a:solidFill>
                <a:latin typeface="宋体" panose="02010600030101010101" pitchFamily="2" charset="-122"/>
                <a:cs typeface="宋体" panose="02010600030101010101" pitchFamily="2" charset="-122"/>
              </a:rPr>
              <a:t>INPUT</a:t>
            </a:r>
            <a:endParaRPr sz="750">
              <a:latin typeface="宋体" panose="02010600030101010101" pitchFamily="2" charset="-122"/>
              <a:cs typeface="宋体" panose="02010600030101010101" pitchFamily="2" charset="-122"/>
            </a:endParaRPr>
          </a:p>
        </p:txBody>
      </p:sp>
      <p:grpSp>
        <p:nvGrpSpPr>
          <p:cNvPr id="21" name="object 21"/>
          <p:cNvGrpSpPr/>
          <p:nvPr/>
        </p:nvGrpSpPr>
        <p:grpSpPr>
          <a:xfrm>
            <a:off x="2019299" y="5419724"/>
            <a:ext cx="1247775" cy="590550"/>
            <a:chOff x="2019299" y="5419724"/>
            <a:chExt cx="1247775" cy="590550"/>
          </a:xfrm>
        </p:grpSpPr>
        <p:sp>
          <p:nvSpPr>
            <p:cNvPr id="22" name="object 22"/>
            <p:cNvSpPr/>
            <p:nvPr/>
          </p:nvSpPr>
          <p:spPr>
            <a:xfrm>
              <a:off x="2024062" y="5424487"/>
              <a:ext cx="1238250" cy="581025"/>
            </a:xfrm>
            <a:custGeom>
              <a:avLst/>
              <a:gdLst/>
              <a:ahLst/>
              <a:cxnLst/>
              <a:rect l="l" t="t" r="r" b="b"/>
              <a:pathLst>
                <a:path w="1238250" h="581025">
                  <a:moveTo>
                    <a:pt x="1209333" y="581024"/>
                  </a:moveTo>
                  <a:lnTo>
                    <a:pt x="28916" y="581024"/>
                  </a:lnTo>
                  <a:lnTo>
                    <a:pt x="24664" y="580178"/>
                  </a:lnTo>
                  <a:lnTo>
                    <a:pt x="0" y="552107"/>
                  </a:lnTo>
                  <a:lnTo>
                    <a:pt x="0" y="547687"/>
                  </a:lnTo>
                  <a:lnTo>
                    <a:pt x="0" y="28916"/>
                  </a:lnTo>
                  <a:lnTo>
                    <a:pt x="28916" y="0"/>
                  </a:lnTo>
                  <a:lnTo>
                    <a:pt x="1209333" y="0"/>
                  </a:lnTo>
                  <a:lnTo>
                    <a:pt x="1238249" y="28916"/>
                  </a:lnTo>
                  <a:lnTo>
                    <a:pt x="1238249" y="552107"/>
                  </a:lnTo>
                  <a:lnTo>
                    <a:pt x="1213585" y="580178"/>
                  </a:lnTo>
                  <a:lnTo>
                    <a:pt x="1209333" y="581024"/>
                  </a:lnTo>
                  <a:close/>
                </a:path>
              </a:pathLst>
            </a:custGeom>
            <a:solidFill>
              <a:srgbClr val="FFFFFF"/>
            </a:solidFill>
          </p:spPr>
          <p:txBody>
            <a:bodyPr wrap="square" lIns="0" tIns="0" rIns="0" bIns="0" rtlCol="0"/>
            <a:lstStyle/>
            <a:p/>
          </p:txBody>
        </p:sp>
        <p:sp>
          <p:nvSpPr>
            <p:cNvPr id="23" name="object 23"/>
            <p:cNvSpPr/>
            <p:nvPr/>
          </p:nvSpPr>
          <p:spPr>
            <a:xfrm>
              <a:off x="2024062" y="5424487"/>
              <a:ext cx="1238250" cy="581025"/>
            </a:xfrm>
            <a:custGeom>
              <a:avLst/>
              <a:gdLst/>
              <a:ahLst/>
              <a:cxnLst/>
              <a:rect l="l" t="t" r="r" b="b"/>
              <a:pathLst>
                <a:path w="1238250" h="581025">
                  <a:moveTo>
                    <a:pt x="0" y="547687"/>
                  </a:moveTo>
                  <a:lnTo>
                    <a:pt x="0" y="33337"/>
                  </a:lnTo>
                  <a:lnTo>
                    <a:pt x="0" y="28916"/>
                  </a:lnTo>
                  <a:lnTo>
                    <a:pt x="845" y="24663"/>
                  </a:lnTo>
                  <a:lnTo>
                    <a:pt x="2537" y="20579"/>
                  </a:lnTo>
                  <a:lnTo>
                    <a:pt x="4229" y="16494"/>
                  </a:lnTo>
                  <a:lnTo>
                    <a:pt x="6638" y="12889"/>
                  </a:lnTo>
                  <a:lnTo>
                    <a:pt x="9764" y="9764"/>
                  </a:lnTo>
                  <a:lnTo>
                    <a:pt x="12890" y="6637"/>
                  </a:lnTo>
                  <a:lnTo>
                    <a:pt x="16495" y="4229"/>
                  </a:lnTo>
                  <a:lnTo>
                    <a:pt x="20579" y="2537"/>
                  </a:lnTo>
                  <a:lnTo>
                    <a:pt x="24664" y="845"/>
                  </a:lnTo>
                  <a:lnTo>
                    <a:pt x="28916" y="0"/>
                  </a:lnTo>
                  <a:lnTo>
                    <a:pt x="33337" y="0"/>
                  </a:lnTo>
                  <a:lnTo>
                    <a:pt x="1204912" y="0"/>
                  </a:lnTo>
                  <a:lnTo>
                    <a:pt x="1209333" y="0"/>
                  </a:lnTo>
                  <a:lnTo>
                    <a:pt x="1213585" y="845"/>
                  </a:lnTo>
                  <a:lnTo>
                    <a:pt x="1217670" y="2537"/>
                  </a:lnTo>
                  <a:lnTo>
                    <a:pt x="1221754" y="4229"/>
                  </a:lnTo>
                  <a:lnTo>
                    <a:pt x="1225359" y="6637"/>
                  </a:lnTo>
                  <a:lnTo>
                    <a:pt x="1228485" y="9764"/>
                  </a:lnTo>
                  <a:lnTo>
                    <a:pt x="1231611" y="12889"/>
                  </a:lnTo>
                  <a:lnTo>
                    <a:pt x="1238250" y="33337"/>
                  </a:lnTo>
                  <a:lnTo>
                    <a:pt x="1238250" y="547687"/>
                  </a:lnTo>
                  <a:lnTo>
                    <a:pt x="1238249" y="552107"/>
                  </a:lnTo>
                  <a:lnTo>
                    <a:pt x="1237403" y="556360"/>
                  </a:lnTo>
                  <a:lnTo>
                    <a:pt x="1235712" y="560444"/>
                  </a:lnTo>
                  <a:lnTo>
                    <a:pt x="1234020" y="564528"/>
                  </a:lnTo>
                  <a:lnTo>
                    <a:pt x="1204912" y="581024"/>
                  </a:lnTo>
                  <a:lnTo>
                    <a:pt x="33337" y="581024"/>
                  </a:lnTo>
                  <a:lnTo>
                    <a:pt x="845" y="556360"/>
                  </a:lnTo>
                  <a:lnTo>
                    <a:pt x="0" y="552107"/>
                  </a:lnTo>
                  <a:lnTo>
                    <a:pt x="0" y="547687"/>
                  </a:lnTo>
                  <a:close/>
                </a:path>
              </a:pathLst>
            </a:custGeom>
            <a:ln w="9524">
              <a:solidFill>
                <a:srgbClr val="F2F4F5"/>
              </a:solidFill>
            </a:ln>
          </p:spPr>
          <p:txBody>
            <a:bodyPr wrap="square" lIns="0" tIns="0" rIns="0" bIns="0" rtlCol="0"/>
            <a:lstStyle/>
            <a:p/>
          </p:txBody>
        </p:sp>
      </p:grpSp>
      <p:sp>
        <p:nvSpPr>
          <p:cNvPr id="24" name="object 24"/>
          <p:cNvSpPr txBox="1"/>
          <p:nvPr/>
        </p:nvSpPr>
        <p:spPr>
          <a:xfrm>
            <a:off x="2092920" y="5454649"/>
            <a:ext cx="1035050" cy="473075"/>
          </a:xfrm>
          <a:prstGeom prst="rect">
            <a:avLst/>
          </a:prstGeom>
        </p:spPr>
        <p:txBody>
          <a:bodyPr vert="horz" wrap="square" lIns="0" tIns="60325" rIns="0" bIns="0" rtlCol="0">
            <a:spAutoFit/>
          </a:bodyPr>
          <a:lstStyle/>
          <a:p>
            <a:pPr marL="12700">
              <a:lnSpc>
                <a:spcPct val="100000"/>
              </a:lnSpc>
              <a:spcBef>
                <a:spcPts val="475"/>
              </a:spcBef>
            </a:pPr>
            <a:r>
              <a:rPr sz="750" spc="-20" dirty="0">
                <a:solidFill>
                  <a:srgbClr val="9CA2AF"/>
                </a:solidFill>
                <a:latin typeface="宋体" panose="02010600030101010101" pitchFamily="2" charset="-122"/>
                <a:cs typeface="宋体" panose="02010600030101010101" pitchFamily="2" charset="-122"/>
              </a:rPr>
              <a:t>分路 </a:t>
            </a:r>
            <a:r>
              <a:rPr sz="750" spc="80" dirty="0">
                <a:solidFill>
                  <a:srgbClr val="9CA2AF"/>
                </a:solidFill>
                <a:latin typeface="宋体" panose="02010600030101010101" pitchFamily="2" charset="-122"/>
                <a:cs typeface="宋体" panose="02010600030101010101" pitchFamily="2" charset="-122"/>
              </a:rPr>
              <a:t>PROCESSING</a:t>
            </a:r>
            <a:endParaRPr sz="750">
              <a:latin typeface="宋体" panose="02010600030101010101" pitchFamily="2" charset="-122"/>
              <a:cs typeface="宋体" panose="02010600030101010101" pitchFamily="2" charset="-122"/>
            </a:endParaRPr>
          </a:p>
          <a:p>
            <a:pPr marL="12700" marR="5080">
              <a:lnSpc>
                <a:spcPct val="108000"/>
              </a:lnSpc>
              <a:spcBef>
                <a:spcPts val="300"/>
              </a:spcBef>
            </a:pPr>
            <a:r>
              <a:rPr sz="750" spc="-40" dirty="0">
                <a:solidFill>
                  <a:srgbClr val="4A5462"/>
                </a:solidFill>
                <a:latin typeface="宋体" panose="02010600030101010101" pitchFamily="2" charset="-122"/>
                <a:cs typeface="宋体" panose="02010600030101010101" pitchFamily="2" charset="-122"/>
              </a:rPr>
              <a:t>主干与 </a:t>
            </a:r>
            <a:r>
              <a:rPr sz="750" spc="120" dirty="0">
                <a:solidFill>
                  <a:srgbClr val="4A5462"/>
                </a:solidFill>
                <a:latin typeface="宋体" panose="02010600030101010101" pitchFamily="2" charset="-122"/>
                <a:cs typeface="宋体" panose="02010600030101010101" pitchFamily="2" charset="-122"/>
              </a:rPr>
              <a:t>SAM</a:t>
            </a:r>
            <a:r>
              <a:rPr sz="750" spc="-45" dirty="0">
                <a:solidFill>
                  <a:srgbClr val="4A5462"/>
                </a:solidFill>
                <a:latin typeface="宋体" panose="02010600030101010101" pitchFamily="2" charset="-122"/>
                <a:cs typeface="宋体" panose="02010600030101010101" pitchFamily="2" charset="-122"/>
              </a:rPr>
              <a:t> 模块并行评</a:t>
            </a:r>
            <a:r>
              <a:rPr sz="750" spc="-50" dirty="0">
                <a:solidFill>
                  <a:srgbClr val="4A5462"/>
                </a:solidFill>
                <a:latin typeface="宋体" panose="02010600030101010101" pitchFamily="2" charset="-122"/>
                <a:cs typeface="宋体" panose="02010600030101010101" pitchFamily="2" charset="-122"/>
              </a:rPr>
              <a:t>估</a:t>
            </a:r>
            <a:endParaRPr sz="750">
              <a:latin typeface="宋体" panose="02010600030101010101" pitchFamily="2" charset="-122"/>
              <a:cs typeface="宋体" panose="02010600030101010101" pitchFamily="2" charset="-122"/>
            </a:endParaRPr>
          </a:p>
        </p:txBody>
      </p:sp>
      <p:grpSp>
        <p:nvGrpSpPr>
          <p:cNvPr id="25" name="object 25"/>
          <p:cNvGrpSpPr/>
          <p:nvPr/>
        </p:nvGrpSpPr>
        <p:grpSpPr>
          <a:xfrm>
            <a:off x="3381374" y="5419724"/>
            <a:ext cx="1247775" cy="590550"/>
            <a:chOff x="3381374" y="5419724"/>
            <a:chExt cx="1247775" cy="590550"/>
          </a:xfrm>
        </p:grpSpPr>
        <p:sp>
          <p:nvSpPr>
            <p:cNvPr id="26" name="object 26"/>
            <p:cNvSpPr/>
            <p:nvPr/>
          </p:nvSpPr>
          <p:spPr>
            <a:xfrm>
              <a:off x="3386137" y="5424487"/>
              <a:ext cx="1238250" cy="581025"/>
            </a:xfrm>
            <a:custGeom>
              <a:avLst/>
              <a:gdLst/>
              <a:ahLst/>
              <a:cxnLst/>
              <a:rect l="l" t="t" r="r" b="b"/>
              <a:pathLst>
                <a:path w="1238250" h="581025">
                  <a:moveTo>
                    <a:pt x="1209333" y="581024"/>
                  </a:moveTo>
                  <a:lnTo>
                    <a:pt x="28916" y="581024"/>
                  </a:lnTo>
                  <a:lnTo>
                    <a:pt x="24663" y="580178"/>
                  </a:lnTo>
                  <a:lnTo>
                    <a:pt x="0" y="552107"/>
                  </a:lnTo>
                  <a:lnTo>
                    <a:pt x="0" y="547687"/>
                  </a:lnTo>
                  <a:lnTo>
                    <a:pt x="0" y="28916"/>
                  </a:lnTo>
                  <a:lnTo>
                    <a:pt x="28916" y="0"/>
                  </a:lnTo>
                  <a:lnTo>
                    <a:pt x="1209333" y="0"/>
                  </a:lnTo>
                  <a:lnTo>
                    <a:pt x="1238249" y="28916"/>
                  </a:lnTo>
                  <a:lnTo>
                    <a:pt x="1238249" y="552107"/>
                  </a:lnTo>
                  <a:lnTo>
                    <a:pt x="1213585" y="580178"/>
                  </a:lnTo>
                  <a:lnTo>
                    <a:pt x="1209333" y="581024"/>
                  </a:lnTo>
                  <a:close/>
                </a:path>
              </a:pathLst>
            </a:custGeom>
            <a:solidFill>
              <a:srgbClr val="FFFFFF"/>
            </a:solidFill>
          </p:spPr>
          <p:txBody>
            <a:bodyPr wrap="square" lIns="0" tIns="0" rIns="0" bIns="0" rtlCol="0"/>
            <a:lstStyle/>
            <a:p/>
          </p:txBody>
        </p:sp>
        <p:sp>
          <p:nvSpPr>
            <p:cNvPr id="27" name="object 27"/>
            <p:cNvSpPr/>
            <p:nvPr/>
          </p:nvSpPr>
          <p:spPr>
            <a:xfrm>
              <a:off x="3386137" y="5424487"/>
              <a:ext cx="1238250" cy="581025"/>
            </a:xfrm>
            <a:custGeom>
              <a:avLst/>
              <a:gdLst/>
              <a:ahLst/>
              <a:cxnLst/>
              <a:rect l="l" t="t" r="r" b="b"/>
              <a:pathLst>
                <a:path w="1238250" h="581025">
                  <a:moveTo>
                    <a:pt x="0" y="547687"/>
                  </a:moveTo>
                  <a:lnTo>
                    <a:pt x="0" y="33337"/>
                  </a:lnTo>
                  <a:lnTo>
                    <a:pt x="0" y="28916"/>
                  </a:lnTo>
                  <a:lnTo>
                    <a:pt x="845" y="24663"/>
                  </a:lnTo>
                  <a:lnTo>
                    <a:pt x="2537" y="20579"/>
                  </a:lnTo>
                  <a:lnTo>
                    <a:pt x="4229" y="16494"/>
                  </a:lnTo>
                  <a:lnTo>
                    <a:pt x="6638" y="12889"/>
                  </a:lnTo>
                  <a:lnTo>
                    <a:pt x="9764" y="9764"/>
                  </a:lnTo>
                  <a:lnTo>
                    <a:pt x="12890" y="6637"/>
                  </a:lnTo>
                  <a:lnTo>
                    <a:pt x="16495" y="4229"/>
                  </a:lnTo>
                  <a:lnTo>
                    <a:pt x="20579" y="2537"/>
                  </a:lnTo>
                  <a:lnTo>
                    <a:pt x="24663" y="845"/>
                  </a:lnTo>
                  <a:lnTo>
                    <a:pt x="28916" y="0"/>
                  </a:lnTo>
                  <a:lnTo>
                    <a:pt x="33337" y="0"/>
                  </a:lnTo>
                  <a:lnTo>
                    <a:pt x="1204912" y="0"/>
                  </a:lnTo>
                  <a:lnTo>
                    <a:pt x="1209333" y="0"/>
                  </a:lnTo>
                  <a:lnTo>
                    <a:pt x="1213585" y="845"/>
                  </a:lnTo>
                  <a:lnTo>
                    <a:pt x="1217670" y="2537"/>
                  </a:lnTo>
                  <a:lnTo>
                    <a:pt x="1221754" y="4229"/>
                  </a:lnTo>
                  <a:lnTo>
                    <a:pt x="1225359" y="6637"/>
                  </a:lnTo>
                  <a:lnTo>
                    <a:pt x="1228485" y="9764"/>
                  </a:lnTo>
                  <a:lnTo>
                    <a:pt x="1231611" y="12889"/>
                  </a:lnTo>
                  <a:lnTo>
                    <a:pt x="1238250" y="33337"/>
                  </a:lnTo>
                  <a:lnTo>
                    <a:pt x="1238250" y="547687"/>
                  </a:lnTo>
                  <a:lnTo>
                    <a:pt x="1238249" y="552107"/>
                  </a:lnTo>
                  <a:lnTo>
                    <a:pt x="1237403" y="556360"/>
                  </a:lnTo>
                  <a:lnTo>
                    <a:pt x="1235711" y="560444"/>
                  </a:lnTo>
                  <a:lnTo>
                    <a:pt x="1234020" y="564528"/>
                  </a:lnTo>
                  <a:lnTo>
                    <a:pt x="1204912" y="581024"/>
                  </a:lnTo>
                  <a:lnTo>
                    <a:pt x="33337" y="581024"/>
                  </a:lnTo>
                  <a:lnTo>
                    <a:pt x="845" y="556360"/>
                  </a:lnTo>
                  <a:lnTo>
                    <a:pt x="0" y="552107"/>
                  </a:lnTo>
                  <a:lnTo>
                    <a:pt x="0" y="547687"/>
                  </a:lnTo>
                  <a:close/>
                </a:path>
              </a:pathLst>
            </a:custGeom>
            <a:ln w="9524">
              <a:solidFill>
                <a:srgbClr val="F2F4F5"/>
              </a:solidFill>
            </a:ln>
          </p:spPr>
          <p:txBody>
            <a:bodyPr wrap="square" lIns="0" tIns="0" rIns="0" bIns="0" rtlCol="0"/>
            <a:lstStyle/>
            <a:p/>
          </p:txBody>
        </p:sp>
      </p:grpSp>
      <p:sp>
        <p:nvSpPr>
          <p:cNvPr id="28" name="object 28"/>
          <p:cNvSpPr txBox="1"/>
          <p:nvPr/>
        </p:nvSpPr>
        <p:spPr>
          <a:xfrm>
            <a:off x="851594" y="1810385"/>
            <a:ext cx="3660140" cy="587375"/>
          </a:xfrm>
          <a:prstGeom prst="rect">
            <a:avLst/>
          </a:prstGeom>
        </p:spPr>
        <p:txBody>
          <a:bodyPr vert="horz" wrap="square" lIns="0" tIns="17145" rIns="0" bIns="0" rtlCol="0">
            <a:spAutoFit/>
          </a:bodyPr>
          <a:lstStyle/>
          <a:p>
            <a:pPr marL="38100" marR="30480">
              <a:lnSpc>
                <a:spcPct val="135000"/>
              </a:lnSpc>
              <a:spcBef>
                <a:spcPts val="135"/>
              </a:spcBef>
            </a:pPr>
            <a:r>
              <a:rPr sz="900" spc="-30" dirty="0">
                <a:solidFill>
                  <a:srgbClr val="111726"/>
                </a:solidFill>
                <a:latin typeface="宋体" panose="02010600030101010101" pitchFamily="2" charset="-122"/>
                <a:cs typeface="宋体" panose="02010600030101010101" pitchFamily="2" charset="-122"/>
              </a:rPr>
              <a:t>先决条件 </a:t>
            </a:r>
            <a:r>
              <a:rPr sz="900" spc="-25" dirty="0">
                <a:solidFill>
                  <a:srgbClr val="111726"/>
                </a:solidFill>
                <a:latin typeface="宋体" panose="02010600030101010101" pitchFamily="2" charset="-122"/>
                <a:cs typeface="宋体" panose="02010600030101010101" pitchFamily="2" charset="-122"/>
              </a:rPr>
              <a:t>(Temporal</a:t>
            </a:r>
            <a:r>
              <a:rPr sz="900" spc="-135" dirty="0">
                <a:solidFill>
                  <a:srgbClr val="111726"/>
                </a:solidFill>
                <a:latin typeface="宋体" panose="02010600030101010101" pitchFamily="2" charset="-122"/>
                <a:cs typeface="宋体" panose="02010600030101010101" pitchFamily="2" charset="-122"/>
              </a:rPr>
              <a:t> </a:t>
            </a:r>
            <a:r>
              <a:rPr sz="900" spc="-125" dirty="0">
                <a:solidFill>
                  <a:srgbClr val="111726"/>
                </a:solidFill>
                <a:latin typeface="宋体" panose="02010600030101010101" pitchFamily="2" charset="-122"/>
                <a:cs typeface="宋体" panose="02010600030101010101" pitchFamily="2" charset="-122"/>
              </a:rPr>
              <a:t>Shift): </a:t>
            </a:r>
            <a:r>
              <a:rPr sz="900" spc="-10" dirty="0">
                <a:solidFill>
                  <a:srgbClr val="374050"/>
                </a:solidFill>
                <a:latin typeface="宋体" panose="02010600030101010101" pitchFamily="2" charset="-122"/>
                <a:cs typeface="宋体" panose="02010600030101010101" pitchFamily="2" charset="-122"/>
              </a:rPr>
              <a:t>Through</a:t>
            </a:r>
            <a:r>
              <a:rPr sz="900" spc="-135" dirty="0">
                <a:solidFill>
                  <a:srgbClr val="374050"/>
                </a:solidFill>
                <a:latin typeface="宋体" panose="02010600030101010101" pitchFamily="2" charset="-122"/>
                <a:cs typeface="宋体" panose="02010600030101010101" pitchFamily="2" charset="-122"/>
              </a:rPr>
              <a:t> </a:t>
            </a:r>
            <a:r>
              <a:rPr sz="900" spc="-80" dirty="0">
                <a:solidFill>
                  <a:srgbClr val="374050"/>
                </a:solidFill>
                <a:latin typeface="宋体" panose="02010600030101010101" pitchFamily="2" charset="-122"/>
                <a:cs typeface="宋体" panose="02010600030101010101" pitchFamily="2" charset="-122"/>
              </a:rPr>
              <a:t>reversible</a:t>
            </a:r>
            <a:r>
              <a:rPr sz="900" spc="-135" dirty="0">
                <a:solidFill>
                  <a:srgbClr val="374050"/>
                </a:solidFill>
                <a:latin typeface="宋体" panose="02010600030101010101" pitchFamily="2" charset="-122"/>
                <a:cs typeface="宋体" panose="02010600030101010101" pitchFamily="2" charset="-122"/>
              </a:rPr>
              <a:t> </a:t>
            </a:r>
            <a:r>
              <a:rPr sz="900" spc="-45" dirty="0">
                <a:solidFill>
                  <a:srgbClr val="374050"/>
                </a:solidFill>
                <a:latin typeface="宋体" panose="02010600030101010101" pitchFamily="2" charset="-122"/>
                <a:cs typeface="宋体" panose="02010600030101010101" pitchFamily="2" charset="-122"/>
              </a:rPr>
              <a:t>instance</a:t>
            </a:r>
            <a:r>
              <a:rPr sz="900" spc="-135" dirty="0">
                <a:solidFill>
                  <a:srgbClr val="374050"/>
                </a:solidFill>
                <a:latin typeface="宋体" panose="02010600030101010101" pitchFamily="2" charset="-122"/>
                <a:cs typeface="宋体" panose="02010600030101010101" pitchFamily="2" charset="-122"/>
              </a:rPr>
              <a:t> </a:t>
            </a:r>
            <a:r>
              <a:rPr sz="900" spc="-10" dirty="0">
                <a:solidFill>
                  <a:srgbClr val="374050"/>
                </a:solidFill>
                <a:latin typeface="宋体" panose="02010600030101010101" pitchFamily="2" charset="-122"/>
                <a:cs typeface="宋体" panose="02010600030101010101" pitchFamily="2" charset="-122"/>
              </a:rPr>
              <a:t>normalization </a:t>
            </a:r>
            <a:r>
              <a:rPr sz="900" dirty="0">
                <a:solidFill>
                  <a:srgbClr val="374050"/>
                </a:solidFill>
                <a:latin typeface="宋体" panose="02010600030101010101" pitchFamily="2" charset="-122"/>
                <a:cs typeface="宋体" panose="02010600030101010101" pitchFamily="2" charset="-122"/>
              </a:rPr>
              <a:t>(Norm</a:t>
            </a:r>
            <a:r>
              <a:rPr sz="900" spc="-70" dirty="0">
                <a:solidFill>
                  <a:srgbClr val="374050"/>
                </a:solidFill>
                <a:latin typeface="宋体" panose="02010600030101010101" pitchFamily="2" charset="-122"/>
                <a:cs typeface="宋体" panose="02010600030101010101" pitchFamily="2" charset="-122"/>
              </a:rPr>
              <a:t> / </a:t>
            </a:r>
            <a:r>
              <a:rPr sz="900" dirty="0">
                <a:solidFill>
                  <a:srgbClr val="374050"/>
                </a:solidFill>
                <a:latin typeface="宋体" panose="02010600030101010101" pitchFamily="2" charset="-122"/>
                <a:cs typeface="宋体" panose="02010600030101010101" pitchFamily="2" charset="-122"/>
              </a:rPr>
              <a:t>Denorm)</a:t>
            </a:r>
            <a:r>
              <a:rPr sz="900" spc="-100" dirty="0">
                <a:solidFill>
                  <a:srgbClr val="374050"/>
                </a:solidFill>
                <a:latin typeface="宋体" panose="02010600030101010101" pitchFamily="2" charset="-122"/>
                <a:cs typeface="宋体" panose="02010600030101010101" pitchFamily="2" charset="-122"/>
              </a:rPr>
              <a:t> </a:t>
            </a:r>
            <a:r>
              <a:rPr sz="900" spc="-75" dirty="0">
                <a:solidFill>
                  <a:srgbClr val="374050"/>
                </a:solidFill>
                <a:latin typeface="宋体" panose="02010600030101010101" pitchFamily="2" charset="-122"/>
                <a:cs typeface="宋体" panose="02010600030101010101" pitchFamily="2" charset="-122"/>
              </a:rPr>
              <a:t>to</a:t>
            </a:r>
            <a:r>
              <a:rPr sz="900" spc="-100" dirty="0">
                <a:solidFill>
                  <a:srgbClr val="374050"/>
                </a:solidFill>
                <a:latin typeface="宋体" panose="02010600030101010101" pitchFamily="2" charset="-122"/>
                <a:cs typeface="宋体" panose="02010600030101010101" pitchFamily="2" charset="-122"/>
              </a:rPr>
              <a:t> </a:t>
            </a:r>
            <a:r>
              <a:rPr sz="900" spc="-65" dirty="0">
                <a:solidFill>
                  <a:srgbClr val="374050"/>
                </a:solidFill>
                <a:latin typeface="宋体" panose="02010600030101010101" pitchFamily="2" charset="-122"/>
                <a:cs typeface="宋体" panose="02010600030101010101" pitchFamily="2" charset="-122"/>
              </a:rPr>
              <a:t>mitigate</a:t>
            </a:r>
            <a:r>
              <a:rPr sz="900" spc="-100" dirty="0">
                <a:solidFill>
                  <a:srgbClr val="374050"/>
                </a:solidFill>
                <a:latin typeface="宋体" panose="02010600030101010101" pitchFamily="2" charset="-122"/>
                <a:cs typeface="宋体" panose="02010600030101010101" pitchFamily="2" charset="-122"/>
              </a:rPr>
              <a:t> </a:t>
            </a:r>
            <a:r>
              <a:rPr sz="900" spc="-40" dirty="0">
                <a:solidFill>
                  <a:srgbClr val="374050"/>
                </a:solidFill>
                <a:latin typeface="宋体" panose="02010600030101010101" pitchFamily="2" charset="-122"/>
                <a:cs typeface="宋体" panose="02010600030101010101" pitchFamily="2" charset="-122"/>
              </a:rPr>
              <a:t>marginal</a:t>
            </a:r>
            <a:r>
              <a:rPr sz="900" spc="-100" dirty="0">
                <a:solidFill>
                  <a:srgbClr val="374050"/>
                </a:solidFill>
                <a:latin typeface="宋体" panose="02010600030101010101" pitchFamily="2" charset="-122"/>
                <a:cs typeface="宋体" panose="02010600030101010101" pitchFamily="2" charset="-122"/>
              </a:rPr>
              <a:t> </a:t>
            </a:r>
            <a:r>
              <a:rPr sz="900" spc="-95" dirty="0">
                <a:solidFill>
                  <a:srgbClr val="374050"/>
                </a:solidFill>
                <a:latin typeface="宋体" panose="02010600030101010101" pitchFamily="2" charset="-122"/>
                <a:cs typeface="宋体" panose="02010600030101010101" pitchFamily="2" charset="-122"/>
              </a:rPr>
              <a:t>distribution</a:t>
            </a:r>
            <a:r>
              <a:rPr sz="900" spc="-100" dirty="0">
                <a:solidFill>
                  <a:srgbClr val="374050"/>
                </a:solidFill>
                <a:latin typeface="宋体" panose="02010600030101010101" pitchFamily="2" charset="-122"/>
                <a:cs typeface="宋体" panose="02010600030101010101" pitchFamily="2" charset="-122"/>
              </a:rPr>
              <a:t> </a:t>
            </a:r>
            <a:r>
              <a:rPr sz="900" spc="-85" dirty="0">
                <a:solidFill>
                  <a:srgbClr val="374050"/>
                </a:solidFill>
                <a:latin typeface="宋体" panose="02010600030101010101" pitchFamily="2" charset="-122"/>
                <a:cs typeface="宋体" panose="02010600030101010101" pitchFamily="2" charset="-122"/>
              </a:rPr>
              <a:t>fluctuations,</a:t>
            </a:r>
            <a:r>
              <a:rPr sz="900" spc="-105" dirty="0">
                <a:solidFill>
                  <a:srgbClr val="374050"/>
                </a:solidFill>
                <a:latin typeface="宋体" panose="02010600030101010101" pitchFamily="2" charset="-122"/>
                <a:cs typeface="宋体" panose="02010600030101010101" pitchFamily="2" charset="-122"/>
              </a:rPr>
              <a:t> </a:t>
            </a:r>
            <a:r>
              <a:rPr sz="900" spc="-30" dirty="0">
                <a:solidFill>
                  <a:srgbClr val="374050"/>
                </a:solidFill>
                <a:latin typeface="宋体" panose="02010600030101010101" pitchFamily="2" charset="-122"/>
                <a:cs typeface="宋体" panose="02010600030101010101" pitchFamily="2" charset="-122"/>
              </a:rPr>
              <a:t>securing </a:t>
            </a:r>
            <a:r>
              <a:rPr sz="900" spc="-55" dirty="0">
                <a:solidFill>
                  <a:srgbClr val="374050"/>
                </a:solidFill>
                <a:latin typeface="宋体" panose="02010600030101010101" pitchFamily="2" charset="-122"/>
                <a:cs typeface="宋体" panose="02010600030101010101" pitchFamily="2" charset="-122"/>
              </a:rPr>
              <a:t>stable</a:t>
            </a:r>
            <a:r>
              <a:rPr sz="900" spc="-175" dirty="0">
                <a:solidFill>
                  <a:srgbClr val="374050"/>
                </a:solidFill>
                <a:latin typeface="宋体" panose="02010600030101010101" pitchFamily="2" charset="-122"/>
                <a:cs typeface="宋体" panose="02010600030101010101" pitchFamily="2" charset="-122"/>
              </a:rPr>
              <a:t> </a:t>
            </a:r>
            <a:r>
              <a:rPr sz="900" spc="-45" dirty="0">
                <a:solidFill>
                  <a:srgbClr val="374050"/>
                </a:solidFill>
                <a:latin typeface="宋体" panose="02010600030101010101" pitchFamily="2" charset="-122"/>
                <a:cs typeface="宋体" panose="02010600030101010101" pitchFamily="2" charset="-122"/>
              </a:rPr>
              <a:t>variance</a:t>
            </a:r>
            <a:r>
              <a:rPr sz="900" spc="-175" dirty="0">
                <a:solidFill>
                  <a:srgbClr val="374050"/>
                </a:solidFill>
                <a:latin typeface="宋体" panose="02010600030101010101" pitchFamily="2" charset="-122"/>
                <a:cs typeface="宋体" panose="02010600030101010101" pitchFamily="2" charset="-122"/>
              </a:rPr>
              <a:t> </a:t>
            </a:r>
            <a:r>
              <a:rPr sz="900" spc="-110" dirty="0">
                <a:solidFill>
                  <a:srgbClr val="374050"/>
                </a:solidFill>
                <a:latin typeface="宋体" panose="02010600030101010101" pitchFamily="2" charset="-122"/>
                <a:cs typeface="宋体" panose="02010600030101010101" pitchFamily="2" charset="-122"/>
              </a:rPr>
              <a:t>for</a:t>
            </a:r>
            <a:r>
              <a:rPr sz="900" spc="-175" dirty="0">
                <a:solidFill>
                  <a:srgbClr val="374050"/>
                </a:solidFill>
                <a:latin typeface="宋体" panose="02010600030101010101" pitchFamily="2" charset="-122"/>
                <a:cs typeface="宋体" panose="02010600030101010101" pitchFamily="2" charset="-122"/>
              </a:rPr>
              <a:t> </a:t>
            </a:r>
            <a:r>
              <a:rPr sz="900" dirty="0">
                <a:solidFill>
                  <a:srgbClr val="374050"/>
                </a:solidFill>
                <a:latin typeface="宋体" panose="02010600030101010101" pitchFamily="2" charset="-122"/>
                <a:cs typeface="宋体" panose="02010600030101010101" pitchFamily="2" charset="-122"/>
              </a:rPr>
              <a:t>both</a:t>
            </a:r>
            <a:r>
              <a:rPr sz="900" spc="60" dirty="0">
                <a:solidFill>
                  <a:srgbClr val="374050"/>
                </a:solidFill>
                <a:latin typeface="宋体" panose="02010600030101010101" pitchFamily="2" charset="-122"/>
                <a:cs typeface="宋体" panose="02010600030101010101" pitchFamily="2" charset="-122"/>
              </a:rPr>
              <a:t> </a:t>
            </a:r>
            <a:r>
              <a:rPr sz="900" i="1" spc="110" dirty="0">
                <a:solidFill>
                  <a:srgbClr val="1A1A1A"/>
                </a:solidFill>
                <a:latin typeface="Calibri" panose="020F0502020204030204"/>
                <a:cs typeface="Calibri" panose="020F0502020204030204"/>
              </a:rPr>
              <a:t>P</a:t>
            </a:r>
            <a:r>
              <a:rPr sz="900" i="1" spc="-55" dirty="0">
                <a:solidFill>
                  <a:srgbClr val="1A1A1A"/>
                </a:solidFill>
                <a:latin typeface="Calibri" panose="020F0502020204030204"/>
                <a:cs typeface="Calibri" panose="020F0502020204030204"/>
              </a:rPr>
              <a:t> </a:t>
            </a:r>
            <a:r>
              <a:rPr sz="900" spc="50" dirty="0">
                <a:solidFill>
                  <a:srgbClr val="1A1A1A"/>
                </a:solidFill>
                <a:latin typeface="Cambria" panose="02040503050406030204"/>
                <a:cs typeface="Cambria" panose="02040503050406030204"/>
              </a:rPr>
              <a:t>(</a:t>
            </a:r>
            <a:r>
              <a:rPr sz="900" b="1" spc="50" dirty="0">
                <a:solidFill>
                  <a:srgbClr val="1A1A1A"/>
                </a:solidFill>
                <a:latin typeface="Georgia" panose="02040502050405020303"/>
                <a:cs typeface="Georgia" panose="02040502050405020303"/>
              </a:rPr>
              <a:t>X</a:t>
            </a:r>
            <a:r>
              <a:rPr sz="900" i="1" spc="75" baseline="-14000" dirty="0">
                <a:solidFill>
                  <a:srgbClr val="1A1A1A"/>
                </a:solidFill>
                <a:latin typeface="Calibri" panose="020F0502020204030204"/>
                <a:cs typeface="Calibri" panose="020F0502020204030204"/>
              </a:rPr>
              <a:t>Norm</a:t>
            </a:r>
            <a:r>
              <a:rPr sz="900" spc="195" dirty="0">
                <a:solidFill>
                  <a:srgbClr val="1A1A1A"/>
                </a:solidFill>
                <a:latin typeface="Cambria" panose="02040503050406030204"/>
                <a:cs typeface="Cambria" panose="02040503050406030204"/>
              </a:rPr>
              <a:t>) </a:t>
            </a:r>
            <a:r>
              <a:rPr sz="900" dirty="0">
                <a:solidFill>
                  <a:srgbClr val="374050"/>
                </a:solidFill>
                <a:latin typeface="宋体" panose="02010600030101010101" pitchFamily="2" charset="-122"/>
                <a:cs typeface="宋体" panose="02010600030101010101" pitchFamily="2" charset="-122"/>
              </a:rPr>
              <a:t>and</a:t>
            </a:r>
            <a:r>
              <a:rPr sz="900" spc="65" dirty="0">
                <a:solidFill>
                  <a:srgbClr val="374050"/>
                </a:solidFill>
                <a:latin typeface="宋体" panose="02010600030101010101" pitchFamily="2" charset="-122"/>
                <a:cs typeface="宋体" panose="02010600030101010101" pitchFamily="2" charset="-122"/>
              </a:rPr>
              <a:t> </a:t>
            </a:r>
            <a:r>
              <a:rPr sz="900" i="1" spc="110" dirty="0">
                <a:solidFill>
                  <a:srgbClr val="1A1A1A"/>
                </a:solidFill>
                <a:latin typeface="Calibri" panose="020F0502020204030204"/>
                <a:cs typeface="Calibri" panose="020F0502020204030204"/>
              </a:rPr>
              <a:t>P</a:t>
            </a:r>
            <a:r>
              <a:rPr sz="900" i="1" spc="-55" dirty="0">
                <a:solidFill>
                  <a:srgbClr val="1A1A1A"/>
                </a:solidFill>
                <a:latin typeface="Calibri" panose="020F0502020204030204"/>
                <a:cs typeface="Calibri" panose="020F0502020204030204"/>
              </a:rPr>
              <a:t> </a:t>
            </a:r>
            <a:r>
              <a:rPr sz="900" spc="60" dirty="0">
                <a:solidFill>
                  <a:srgbClr val="1A1A1A"/>
                </a:solidFill>
                <a:latin typeface="Cambria" panose="02040503050406030204"/>
                <a:cs typeface="Cambria" panose="02040503050406030204"/>
              </a:rPr>
              <a:t>(</a:t>
            </a:r>
            <a:r>
              <a:rPr sz="900" b="1" spc="60" dirty="0">
                <a:solidFill>
                  <a:srgbClr val="1A1A1A"/>
                </a:solidFill>
                <a:latin typeface="Georgia" panose="02040502050405020303"/>
                <a:cs typeface="Georgia" panose="02040502050405020303"/>
              </a:rPr>
              <a:t>Y</a:t>
            </a:r>
            <a:r>
              <a:rPr sz="900" i="1" spc="89" baseline="-14000" dirty="0">
                <a:solidFill>
                  <a:srgbClr val="1A1A1A"/>
                </a:solidFill>
                <a:latin typeface="Calibri" panose="020F0502020204030204"/>
                <a:cs typeface="Calibri" panose="020F0502020204030204"/>
              </a:rPr>
              <a:t>Norm</a:t>
            </a:r>
            <a:r>
              <a:rPr sz="900" spc="60" dirty="0">
                <a:solidFill>
                  <a:srgbClr val="1A1A1A"/>
                </a:solidFill>
                <a:latin typeface="Cambria" panose="02040503050406030204"/>
                <a:cs typeface="Cambria" panose="02040503050406030204"/>
              </a:rPr>
              <a:t>) </a:t>
            </a:r>
            <a:r>
              <a:rPr sz="900" spc="-50" dirty="0">
                <a:solidFill>
                  <a:srgbClr val="374050"/>
                </a:solidFill>
                <a:latin typeface="宋体" panose="02010600030101010101" pitchFamily="2" charset="-122"/>
                <a:cs typeface="宋体" panose="02010600030101010101" pitchFamily="2" charset="-122"/>
              </a:rPr>
              <a:t>.</a:t>
            </a:r>
            <a:endParaRPr sz="900">
              <a:latin typeface="宋体" panose="02010600030101010101" pitchFamily="2" charset="-122"/>
              <a:cs typeface="宋体" panose="02010600030101010101" pitchFamily="2" charset="-122"/>
            </a:endParaRPr>
          </a:p>
        </p:txBody>
      </p:sp>
      <p:sp>
        <p:nvSpPr>
          <p:cNvPr id="29" name="object 29"/>
          <p:cNvSpPr txBox="1"/>
          <p:nvPr/>
        </p:nvSpPr>
        <p:spPr>
          <a:xfrm>
            <a:off x="851594" y="2515235"/>
            <a:ext cx="3415029" cy="387350"/>
          </a:xfrm>
          <a:prstGeom prst="rect">
            <a:avLst/>
          </a:prstGeom>
        </p:spPr>
        <p:txBody>
          <a:bodyPr vert="horz" wrap="square" lIns="0" tIns="56515" rIns="0" bIns="0" rtlCol="0">
            <a:spAutoFit/>
          </a:bodyPr>
          <a:lstStyle/>
          <a:p>
            <a:pPr marL="38100">
              <a:lnSpc>
                <a:spcPct val="100000"/>
              </a:lnSpc>
              <a:spcBef>
                <a:spcPts val="445"/>
              </a:spcBef>
            </a:pPr>
            <a:r>
              <a:rPr sz="900" spc="-35" dirty="0">
                <a:solidFill>
                  <a:srgbClr val="111726"/>
                </a:solidFill>
                <a:latin typeface="宋体" panose="02010600030101010101" pitchFamily="2" charset="-122"/>
                <a:cs typeface="宋体" panose="02010600030101010101" pitchFamily="2" charset="-122"/>
              </a:rPr>
              <a:t>核心干预 </a:t>
            </a:r>
            <a:r>
              <a:rPr sz="900" spc="-25" dirty="0">
                <a:solidFill>
                  <a:srgbClr val="111726"/>
                </a:solidFill>
                <a:latin typeface="宋体" panose="02010600030101010101" pitchFamily="2" charset="-122"/>
                <a:cs typeface="宋体" panose="02010600030101010101" pitchFamily="2" charset="-122"/>
              </a:rPr>
              <a:t>(Concept</a:t>
            </a:r>
            <a:r>
              <a:rPr sz="900" spc="-155" dirty="0">
                <a:solidFill>
                  <a:srgbClr val="111726"/>
                </a:solidFill>
                <a:latin typeface="宋体" panose="02010600030101010101" pitchFamily="2" charset="-122"/>
                <a:cs typeface="宋体" panose="02010600030101010101" pitchFamily="2" charset="-122"/>
              </a:rPr>
              <a:t> </a:t>
            </a:r>
            <a:r>
              <a:rPr sz="900" spc="-145" dirty="0">
                <a:solidFill>
                  <a:srgbClr val="111726"/>
                </a:solidFill>
                <a:latin typeface="宋体" panose="02010600030101010101" pitchFamily="2" charset="-122"/>
                <a:cs typeface="宋体" panose="02010600030101010101" pitchFamily="2" charset="-122"/>
              </a:rPr>
              <a:t>Drift):</a:t>
            </a:r>
            <a:r>
              <a:rPr sz="900" spc="-155" dirty="0">
                <a:solidFill>
                  <a:srgbClr val="111726"/>
                </a:solidFill>
                <a:latin typeface="宋体" panose="02010600030101010101" pitchFamily="2" charset="-122"/>
                <a:cs typeface="宋体" panose="02010600030101010101" pitchFamily="2" charset="-122"/>
              </a:rPr>
              <a:t> </a:t>
            </a:r>
            <a:r>
              <a:rPr sz="900" dirty="0">
                <a:solidFill>
                  <a:srgbClr val="374050"/>
                </a:solidFill>
                <a:latin typeface="宋体" panose="02010600030101010101" pitchFamily="2" charset="-122"/>
                <a:cs typeface="宋体" panose="02010600030101010101" pitchFamily="2" charset="-122"/>
              </a:rPr>
              <a:t>绿色模块（如图所示）</a:t>
            </a:r>
            <a:r>
              <a:rPr sz="900" spc="-10" dirty="0">
                <a:solidFill>
                  <a:srgbClr val="374050"/>
                </a:solidFill>
                <a:latin typeface="宋体" panose="02010600030101010101" pitchFamily="2" charset="-122"/>
                <a:cs typeface="宋体" panose="02010600030101010101" pitchFamily="2" charset="-122"/>
              </a:rPr>
              <a:t>采用软注意力掩码</a:t>
            </a:r>
            <a:endParaRPr sz="900">
              <a:latin typeface="宋体" panose="02010600030101010101" pitchFamily="2" charset="-122"/>
              <a:cs typeface="宋体" panose="02010600030101010101" pitchFamily="2" charset="-122"/>
            </a:endParaRPr>
          </a:p>
          <a:p>
            <a:pPr marL="38100">
              <a:lnSpc>
                <a:spcPct val="100000"/>
              </a:lnSpc>
              <a:spcBef>
                <a:spcPts val="345"/>
              </a:spcBef>
            </a:pPr>
            <a:r>
              <a:rPr sz="900" dirty="0">
                <a:solidFill>
                  <a:srgbClr val="374050"/>
                </a:solidFill>
                <a:latin typeface="宋体" panose="02010600030101010101" pitchFamily="2" charset="-122"/>
                <a:cs typeface="宋体" panose="02010600030101010101" pitchFamily="2" charset="-122"/>
              </a:rPr>
              <a:t>（SAM）</a:t>
            </a:r>
            <a:r>
              <a:rPr sz="900" spc="15" dirty="0">
                <a:solidFill>
                  <a:srgbClr val="374050"/>
                </a:solidFill>
                <a:latin typeface="宋体" panose="02010600030101010101" pitchFamily="2" charset="-122"/>
                <a:cs typeface="宋体" panose="02010600030101010101" pitchFamily="2" charset="-122"/>
              </a:rPr>
              <a:t>搜寻不变模式并预测代理特征 </a:t>
            </a:r>
            <a:r>
              <a:rPr sz="900" b="1" spc="-455" dirty="0">
                <a:solidFill>
                  <a:srgbClr val="1A1A1A"/>
                </a:solidFill>
                <a:latin typeface="Georgia" panose="02040502050405020303"/>
                <a:cs typeface="Georgia" panose="02040502050405020303"/>
              </a:rPr>
              <a:t>X</a:t>
            </a:r>
            <a:r>
              <a:rPr sz="1350" spc="217" baseline="12000" dirty="0">
                <a:solidFill>
                  <a:srgbClr val="1A1A1A"/>
                </a:solidFill>
                <a:latin typeface="Cambria" panose="02040503050406030204"/>
                <a:cs typeface="Cambria" panose="02040503050406030204"/>
              </a:rPr>
              <a:t>^</a:t>
            </a:r>
            <a:r>
              <a:rPr sz="900" i="1" spc="135" baseline="28000" dirty="0">
                <a:solidFill>
                  <a:srgbClr val="1A1A1A"/>
                </a:solidFill>
                <a:latin typeface="Calibri" panose="020F0502020204030204"/>
                <a:cs typeface="Calibri" panose="020F0502020204030204"/>
              </a:rPr>
              <a:t>S</a:t>
            </a:r>
            <a:r>
              <a:rPr sz="900" i="1" spc="120" baseline="28000" dirty="0">
                <a:solidFill>
                  <a:srgbClr val="1A1A1A"/>
                </a:solidFill>
                <a:latin typeface="Calibri" panose="020F0502020204030204"/>
                <a:cs typeface="Calibri" panose="020F0502020204030204"/>
              </a:rPr>
              <a:t>U</a:t>
            </a:r>
            <a:r>
              <a:rPr sz="900" i="1" spc="104" baseline="28000" dirty="0">
                <a:solidFill>
                  <a:srgbClr val="1A1A1A"/>
                </a:solidFill>
                <a:latin typeface="Calibri" panose="020F0502020204030204"/>
                <a:cs typeface="Calibri" panose="020F0502020204030204"/>
              </a:rPr>
              <a:t>R</a:t>
            </a:r>
            <a:r>
              <a:rPr sz="900" i="1" spc="345" baseline="28000" dirty="0">
                <a:solidFill>
                  <a:srgbClr val="1A1A1A"/>
                </a:solidFill>
                <a:latin typeface="Calibri" panose="020F0502020204030204"/>
                <a:cs typeface="Calibri" panose="020F0502020204030204"/>
              </a:rPr>
              <a:t> </a:t>
            </a:r>
            <a:r>
              <a:rPr sz="900" spc="-50" dirty="0">
                <a:solidFill>
                  <a:srgbClr val="374050"/>
                </a:solidFill>
                <a:latin typeface="宋体" panose="02010600030101010101" pitchFamily="2" charset="-122"/>
                <a:cs typeface="宋体" panose="02010600030101010101" pitchFamily="2" charset="-122"/>
              </a:rPr>
              <a:t>。</a:t>
            </a:r>
            <a:endParaRPr sz="900">
              <a:latin typeface="宋体" panose="02010600030101010101" pitchFamily="2" charset="-122"/>
              <a:cs typeface="宋体" panose="02010600030101010101" pitchFamily="2" charset="-122"/>
            </a:endParaRPr>
          </a:p>
        </p:txBody>
      </p:sp>
      <p:sp>
        <p:nvSpPr>
          <p:cNvPr id="30" name="object 30"/>
          <p:cNvSpPr txBox="1"/>
          <p:nvPr/>
        </p:nvSpPr>
        <p:spPr>
          <a:xfrm>
            <a:off x="704849" y="5749924"/>
            <a:ext cx="484505" cy="162560"/>
          </a:xfrm>
          <a:prstGeom prst="rect">
            <a:avLst/>
          </a:prstGeom>
        </p:spPr>
        <p:txBody>
          <a:bodyPr vert="horz" wrap="square" lIns="0" tIns="12700" rIns="0" bIns="0" rtlCol="0">
            <a:spAutoFit/>
          </a:bodyPr>
          <a:lstStyle/>
          <a:p>
            <a:pPr marL="38100">
              <a:lnSpc>
                <a:spcPct val="100000"/>
              </a:lnSpc>
              <a:spcBef>
                <a:spcPts val="100"/>
              </a:spcBef>
            </a:pPr>
            <a:r>
              <a:rPr sz="900" spc="10" dirty="0">
                <a:solidFill>
                  <a:srgbClr val="1A1A1A"/>
                </a:solidFill>
                <a:latin typeface="Cambria" panose="02040503050406030204"/>
                <a:cs typeface="Cambria" panose="02040503050406030204"/>
              </a:rPr>
              <a:t>[</a:t>
            </a:r>
            <a:r>
              <a:rPr sz="900" b="1" spc="10" dirty="0">
                <a:solidFill>
                  <a:srgbClr val="1A1A1A"/>
                </a:solidFill>
                <a:latin typeface="Georgia" panose="02040502050405020303"/>
                <a:cs typeface="Georgia" panose="02040502050405020303"/>
              </a:rPr>
              <a:t>X</a:t>
            </a:r>
            <a:r>
              <a:rPr sz="900" i="1" spc="15" baseline="28000" dirty="0">
                <a:solidFill>
                  <a:srgbClr val="1A1A1A"/>
                </a:solidFill>
                <a:latin typeface="Calibri" panose="020F0502020204030204"/>
                <a:cs typeface="Calibri" panose="020F0502020204030204"/>
              </a:rPr>
              <a:t>L</a:t>
            </a:r>
            <a:r>
              <a:rPr sz="900" spc="10" dirty="0">
                <a:solidFill>
                  <a:srgbClr val="1A1A1A"/>
                </a:solidFill>
                <a:latin typeface="Cambria" panose="02040503050406030204"/>
                <a:cs typeface="Cambria" panose="02040503050406030204"/>
              </a:rPr>
              <a:t>,</a:t>
            </a:r>
            <a:r>
              <a:rPr sz="900" spc="35" dirty="0">
                <a:solidFill>
                  <a:srgbClr val="1A1A1A"/>
                </a:solidFill>
                <a:latin typeface="Cambria" panose="02040503050406030204"/>
                <a:cs typeface="Cambria" panose="02040503050406030204"/>
              </a:rPr>
              <a:t> </a:t>
            </a:r>
            <a:r>
              <a:rPr sz="900" b="1" spc="45" dirty="0">
                <a:solidFill>
                  <a:srgbClr val="1A1A1A"/>
                </a:solidFill>
                <a:latin typeface="Georgia" panose="02040502050405020303"/>
                <a:cs typeface="Georgia" panose="02040502050405020303"/>
              </a:rPr>
              <a:t>Y</a:t>
            </a:r>
            <a:r>
              <a:rPr sz="900" i="1" spc="67" baseline="28000" dirty="0">
                <a:solidFill>
                  <a:srgbClr val="1A1A1A"/>
                </a:solidFill>
                <a:latin typeface="Calibri" panose="020F0502020204030204"/>
                <a:cs typeface="Calibri" panose="020F0502020204030204"/>
              </a:rPr>
              <a:t>L</a:t>
            </a:r>
            <a:r>
              <a:rPr sz="900" spc="45" dirty="0">
                <a:solidFill>
                  <a:srgbClr val="1A1A1A"/>
                </a:solidFill>
                <a:latin typeface="Cambria" panose="02040503050406030204"/>
                <a:cs typeface="Cambria" panose="02040503050406030204"/>
              </a:rPr>
              <a:t>]</a:t>
            </a:r>
            <a:endParaRPr sz="900">
              <a:latin typeface="Cambria" panose="02040503050406030204"/>
              <a:cs typeface="Cambria" panose="02040503050406030204"/>
            </a:endParaRPr>
          </a:p>
        </p:txBody>
      </p:sp>
      <p:sp>
        <p:nvSpPr>
          <p:cNvPr id="31" name="object 31"/>
          <p:cNvSpPr txBox="1"/>
          <p:nvPr/>
        </p:nvSpPr>
        <p:spPr>
          <a:xfrm>
            <a:off x="3430190" y="5502275"/>
            <a:ext cx="666750" cy="381635"/>
          </a:xfrm>
          <a:prstGeom prst="rect">
            <a:avLst/>
          </a:prstGeom>
        </p:spPr>
        <p:txBody>
          <a:bodyPr vert="horz" wrap="square" lIns="0" tIns="12700" rIns="0" bIns="0" rtlCol="0">
            <a:spAutoFit/>
          </a:bodyPr>
          <a:lstStyle/>
          <a:p>
            <a:pPr marL="38100">
              <a:lnSpc>
                <a:spcPct val="100000"/>
              </a:lnSpc>
              <a:spcBef>
                <a:spcPts val="100"/>
              </a:spcBef>
            </a:pPr>
            <a:r>
              <a:rPr sz="750" spc="-20" dirty="0">
                <a:solidFill>
                  <a:srgbClr val="9CA2AF"/>
                </a:solidFill>
                <a:latin typeface="宋体" panose="02010600030101010101" pitchFamily="2" charset="-122"/>
                <a:cs typeface="宋体" panose="02010600030101010101" pitchFamily="2" charset="-122"/>
              </a:rPr>
              <a:t>输出 </a:t>
            </a:r>
            <a:r>
              <a:rPr sz="750" spc="75" dirty="0">
                <a:solidFill>
                  <a:srgbClr val="9CA2AF"/>
                </a:solidFill>
                <a:latin typeface="宋体" panose="02010600030101010101" pitchFamily="2" charset="-122"/>
                <a:cs typeface="宋体" panose="02010600030101010101" pitchFamily="2" charset="-122"/>
              </a:rPr>
              <a:t>OUTPUT</a:t>
            </a:r>
            <a:endParaRPr sz="750">
              <a:latin typeface="宋体" panose="02010600030101010101" pitchFamily="2" charset="-122"/>
              <a:cs typeface="宋体" panose="02010600030101010101" pitchFamily="2" charset="-122"/>
            </a:endParaRPr>
          </a:p>
          <a:p>
            <a:pPr marL="38100">
              <a:lnSpc>
                <a:spcPct val="100000"/>
              </a:lnSpc>
              <a:spcBef>
                <a:spcPts val="825"/>
              </a:spcBef>
            </a:pPr>
            <a:r>
              <a:rPr sz="1350" b="1" spc="-817" baseline="-15000" dirty="0">
                <a:solidFill>
                  <a:srgbClr val="1A1A1A"/>
                </a:solidFill>
                <a:latin typeface="Georgia" panose="02040502050405020303"/>
                <a:cs typeface="Georgia" panose="02040502050405020303"/>
              </a:rPr>
              <a:t>Y</a:t>
            </a:r>
            <a:r>
              <a:rPr sz="900" spc="-15" dirty="0">
                <a:solidFill>
                  <a:srgbClr val="1A1A1A"/>
                </a:solidFill>
                <a:latin typeface="Cambria" panose="02040503050406030204"/>
                <a:cs typeface="Cambria" panose="02040503050406030204"/>
              </a:rPr>
              <a:t>^</a:t>
            </a:r>
            <a:r>
              <a:rPr sz="900" spc="-35" dirty="0">
                <a:solidFill>
                  <a:srgbClr val="1A1A1A"/>
                </a:solidFill>
                <a:latin typeface="Cambria" panose="02040503050406030204"/>
                <a:cs typeface="Cambria" panose="02040503050406030204"/>
              </a:rPr>
              <a:t> </a:t>
            </a:r>
            <a:r>
              <a:rPr sz="900" i="1" spc="142" baseline="5000" dirty="0">
                <a:solidFill>
                  <a:srgbClr val="1A1A1A"/>
                </a:solidFill>
                <a:latin typeface="Calibri" panose="020F0502020204030204"/>
                <a:cs typeface="Calibri" panose="020F0502020204030204"/>
              </a:rPr>
              <a:t>H</a:t>
            </a:r>
            <a:endParaRPr sz="900" baseline="5000">
              <a:latin typeface="Calibri" panose="020F0502020204030204"/>
              <a:cs typeface="Calibri" panose="020F0502020204030204"/>
            </a:endParaRPr>
          </a:p>
        </p:txBody>
      </p:sp>
      <p:grpSp>
        <p:nvGrpSpPr>
          <p:cNvPr id="32" name="object 32"/>
          <p:cNvGrpSpPr/>
          <p:nvPr/>
        </p:nvGrpSpPr>
        <p:grpSpPr>
          <a:xfrm>
            <a:off x="5057774" y="1285874"/>
            <a:ext cx="6677025" cy="5114925"/>
            <a:chOff x="5057774" y="1285874"/>
            <a:chExt cx="6677025" cy="5114925"/>
          </a:xfrm>
        </p:grpSpPr>
        <p:sp>
          <p:nvSpPr>
            <p:cNvPr id="33" name="object 33"/>
            <p:cNvSpPr/>
            <p:nvPr/>
          </p:nvSpPr>
          <p:spPr>
            <a:xfrm>
              <a:off x="5062537" y="1290637"/>
              <a:ext cx="6667500" cy="5105400"/>
            </a:xfrm>
            <a:custGeom>
              <a:avLst/>
              <a:gdLst/>
              <a:ahLst/>
              <a:cxnLst/>
              <a:rect l="l" t="t" r="r" b="b"/>
              <a:pathLst>
                <a:path w="6667500" h="5105400">
                  <a:moveTo>
                    <a:pt x="6565154" y="5105399"/>
                  </a:moveTo>
                  <a:lnTo>
                    <a:pt x="102345" y="5105399"/>
                  </a:lnTo>
                  <a:lnTo>
                    <a:pt x="95221" y="5104697"/>
                  </a:lnTo>
                  <a:lnTo>
                    <a:pt x="54661" y="5090934"/>
                  </a:lnTo>
                  <a:lnTo>
                    <a:pt x="22456" y="5062697"/>
                  </a:lnTo>
                  <a:lnTo>
                    <a:pt x="3507" y="5024285"/>
                  </a:lnTo>
                  <a:lnTo>
                    <a:pt x="0" y="5003054"/>
                  </a:lnTo>
                  <a:lnTo>
                    <a:pt x="0" y="4995862"/>
                  </a:lnTo>
                  <a:lnTo>
                    <a:pt x="0" y="102345"/>
                  </a:lnTo>
                  <a:lnTo>
                    <a:pt x="11090" y="60974"/>
                  </a:lnTo>
                  <a:lnTo>
                    <a:pt x="37168" y="26997"/>
                  </a:lnTo>
                  <a:lnTo>
                    <a:pt x="74264" y="5585"/>
                  </a:lnTo>
                  <a:lnTo>
                    <a:pt x="102345" y="0"/>
                  </a:lnTo>
                  <a:lnTo>
                    <a:pt x="6565154" y="0"/>
                  </a:lnTo>
                  <a:lnTo>
                    <a:pt x="6606524" y="11090"/>
                  </a:lnTo>
                  <a:lnTo>
                    <a:pt x="6640501" y="37168"/>
                  </a:lnTo>
                  <a:lnTo>
                    <a:pt x="6661913" y="74264"/>
                  </a:lnTo>
                  <a:lnTo>
                    <a:pt x="6667498" y="102345"/>
                  </a:lnTo>
                  <a:lnTo>
                    <a:pt x="6667498" y="5003054"/>
                  </a:lnTo>
                  <a:lnTo>
                    <a:pt x="6656407" y="5044424"/>
                  </a:lnTo>
                  <a:lnTo>
                    <a:pt x="6630330" y="5078402"/>
                  </a:lnTo>
                  <a:lnTo>
                    <a:pt x="6593234" y="5099813"/>
                  </a:lnTo>
                  <a:lnTo>
                    <a:pt x="6572276" y="5104697"/>
                  </a:lnTo>
                  <a:lnTo>
                    <a:pt x="6565154" y="5105399"/>
                  </a:lnTo>
                  <a:close/>
                </a:path>
              </a:pathLst>
            </a:custGeom>
            <a:solidFill>
              <a:srgbClr val="FAFAFA"/>
            </a:solidFill>
          </p:spPr>
          <p:txBody>
            <a:bodyPr wrap="square" lIns="0" tIns="0" rIns="0" bIns="0" rtlCol="0"/>
            <a:lstStyle/>
            <a:p/>
          </p:txBody>
        </p:sp>
        <p:sp>
          <p:nvSpPr>
            <p:cNvPr id="34" name="object 34"/>
            <p:cNvSpPr/>
            <p:nvPr/>
          </p:nvSpPr>
          <p:spPr>
            <a:xfrm>
              <a:off x="5062537" y="1290637"/>
              <a:ext cx="6667500" cy="5105400"/>
            </a:xfrm>
            <a:custGeom>
              <a:avLst/>
              <a:gdLst/>
              <a:ahLst/>
              <a:cxnLst/>
              <a:rect l="l" t="t" r="r" b="b"/>
              <a:pathLst>
                <a:path w="6667500" h="5105400">
                  <a:moveTo>
                    <a:pt x="0" y="499586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6557961" y="0"/>
                  </a:lnTo>
                  <a:lnTo>
                    <a:pt x="6565154" y="0"/>
                  </a:lnTo>
                  <a:lnTo>
                    <a:pt x="6572276" y="701"/>
                  </a:lnTo>
                  <a:lnTo>
                    <a:pt x="6579330" y="2104"/>
                  </a:lnTo>
                  <a:lnTo>
                    <a:pt x="6586384" y="3507"/>
                  </a:lnTo>
                  <a:lnTo>
                    <a:pt x="6593234" y="5585"/>
                  </a:lnTo>
                  <a:lnTo>
                    <a:pt x="6599879" y="8338"/>
                  </a:lnTo>
                  <a:lnTo>
                    <a:pt x="6606524" y="11090"/>
                  </a:lnTo>
                  <a:lnTo>
                    <a:pt x="6612836" y="14464"/>
                  </a:lnTo>
                  <a:lnTo>
                    <a:pt x="6618816" y="18460"/>
                  </a:lnTo>
                  <a:lnTo>
                    <a:pt x="6624796" y="22456"/>
                  </a:lnTo>
                  <a:lnTo>
                    <a:pt x="6653033" y="54661"/>
                  </a:lnTo>
                  <a:lnTo>
                    <a:pt x="6659160" y="67619"/>
                  </a:lnTo>
                  <a:lnTo>
                    <a:pt x="6661913" y="74264"/>
                  </a:lnTo>
                  <a:lnTo>
                    <a:pt x="6667499" y="109537"/>
                  </a:lnTo>
                  <a:lnTo>
                    <a:pt x="6667499" y="4995862"/>
                  </a:lnTo>
                  <a:lnTo>
                    <a:pt x="6659160" y="5037779"/>
                  </a:lnTo>
                  <a:lnTo>
                    <a:pt x="6656407" y="5044424"/>
                  </a:lnTo>
                  <a:lnTo>
                    <a:pt x="6630330" y="5078402"/>
                  </a:lnTo>
                  <a:lnTo>
                    <a:pt x="6618817" y="5086939"/>
                  </a:lnTo>
                  <a:lnTo>
                    <a:pt x="6612836" y="5090934"/>
                  </a:lnTo>
                  <a:lnTo>
                    <a:pt x="6606524" y="5094308"/>
                  </a:lnTo>
                  <a:lnTo>
                    <a:pt x="6599879" y="5097061"/>
                  </a:lnTo>
                  <a:lnTo>
                    <a:pt x="6593234" y="5099813"/>
                  </a:lnTo>
                  <a:lnTo>
                    <a:pt x="6586384" y="5101891"/>
                  </a:lnTo>
                  <a:lnTo>
                    <a:pt x="6579330" y="5103294"/>
                  </a:lnTo>
                  <a:lnTo>
                    <a:pt x="6572276" y="5104697"/>
                  </a:lnTo>
                  <a:lnTo>
                    <a:pt x="6565154" y="5105399"/>
                  </a:lnTo>
                  <a:lnTo>
                    <a:pt x="6557961" y="5105399"/>
                  </a:lnTo>
                  <a:lnTo>
                    <a:pt x="109537" y="5105399"/>
                  </a:lnTo>
                  <a:lnTo>
                    <a:pt x="102345" y="5105399"/>
                  </a:lnTo>
                  <a:lnTo>
                    <a:pt x="95221" y="5104697"/>
                  </a:lnTo>
                  <a:lnTo>
                    <a:pt x="88167" y="5103294"/>
                  </a:lnTo>
                  <a:lnTo>
                    <a:pt x="81113" y="5101891"/>
                  </a:lnTo>
                  <a:lnTo>
                    <a:pt x="74264" y="5099813"/>
                  </a:lnTo>
                  <a:lnTo>
                    <a:pt x="67619" y="5097061"/>
                  </a:lnTo>
                  <a:lnTo>
                    <a:pt x="60974" y="5094308"/>
                  </a:lnTo>
                  <a:lnTo>
                    <a:pt x="32082" y="5073316"/>
                  </a:lnTo>
                  <a:lnTo>
                    <a:pt x="26997" y="5068230"/>
                  </a:lnTo>
                  <a:lnTo>
                    <a:pt x="22456" y="5062697"/>
                  </a:lnTo>
                  <a:lnTo>
                    <a:pt x="18460" y="5056717"/>
                  </a:lnTo>
                  <a:lnTo>
                    <a:pt x="14464" y="5050736"/>
                  </a:lnTo>
                  <a:lnTo>
                    <a:pt x="11090" y="5044424"/>
                  </a:lnTo>
                  <a:lnTo>
                    <a:pt x="8338" y="5037779"/>
                  </a:lnTo>
                  <a:lnTo>
                    <a:pt x="5585" y="5031134"/>
                  </a:lnTo>
                  <a:lnTo>
                    <a:pt x="3507" y="5024285"/>
                  </a:lnTo>
                  <a:lnTo>
                    <a:pt x="2104" y="5017231"/>
                  </a:lnTo>
                  <a:lnTo>
                    <a:pt x="701" y="5010177"/>
                  </a:lnTo>
                  <a:lnTo>
                    <a:pt x="0" y="5003054"/>
                  </a:lnTo>
                  <a:lnTo>
                    <a:pt x="0" y="4995862"/>
                  </a:lnTo>
                  <a:close/>
                </a:path>
              </a:pathLst>
            </a:custGeom>
            <a:ln w="9524">
              <a:solidFill>
                <a:srgbClr val="E4E4E4"/>
              </a:solidFill>
            </a:ln>
          </p:spPr>
          <p:txBody>
            <a:bodyPr wrap="square" lIns="0" tIns="0" rIns="0" bIns="0" rtlCol="0"/>
            <a:lstStyle/>
            <a:p/>
          </p:txBody>
        </p:sp>
      </p:grpSp>
      <p:sp>
        <p:nvSpPr>
          <p:cNvPr id="35" name="object 35"/>
          <p:cNvSpPr txBox="1"/>
          <p:nvPr/>
        </p:nvSpPr>
        <p:spPr>
          <a:xfrm>
            <a:off x="5246885" y="1469961"/>
            <a:ext cx="1486535" cy="258445"/>
          </a:xfrm>
          <a:prstGeom prst="rect">
            <a:avLst/>
          </a:prstGeom>
        </p:spPr>
        <p:txBody>
          <a:bodyPr vert="horz" wrap="square" lIns="0" tIns="15875" rIns="0" bIns="0" rtlCol="0">
            <a:spAutoFit/>
          </a:bodyPr>
          <a:lstStyle/>
          <a:p>
            <a:pPr marL="12700">
              <a:lnSpc>
                <a:spcPct val="100000"/>
              </a:lnSpc>
              <a:spcBef>
                <a:spcPts val="125"/>
              </a:spcBef>
            </a:pPr>
            <a:r>
              <a:rPr sz="1400" spc="-20" dirty="0">
                <a:solidFill>
                  <a:srgbClr val="111726"/>
                </a:solidFill>
                <a:latin typeface="Calibri" panose="020F0502020204030204"/>
                <a:cs typeface="Calibri" panose="020F0502020204030204"/>
              </a:rPr>
              <a:t>ShifTS</a:t>
            </a:r>
            <a:r>
              <a:rPr sz="1400" spc="-114" dirty="0">
                <a:solidFill>
                  <a:srgbClr val="111726"/>
                </a:solidFill>
                <a:latin typeface="Calibri" panose="020F0502020204030204"/>
                <a:cs typeface="Calibri" panose="020F0502020204030204"/>
              </a:rPr>
              <a:t> </a:t>
            </a:r>
            <a:r>
              <a:rPr sz="1500" spc="-195" dirty="0">
                <a:solidFill>
                  <a:srgbClr val="111726"/>
                </a:solidFill>
                <a:latin typeface="宋体" panose="02010600030101010101" pitchFamily="2" charset="-122"/>
                <a:cs typeface="宋体" panose="02010600030101010101" pitchFamily="2" charset="-122"/>
              </a:rPr>
              <a:t>代理流转拓扑</a:t>
            </a:r>
            <a:endParaRPr sz="1500">
              <a:latin typeface="宋体" panose="02010600030101010101" pitchFamily="2" charset="-122"/>
              <a:cs typeface="宋体" panose="02010600030101010101" pitchFamily="2" charset="-122"/>
            </a:endParaRPr>
          </a:p>
        </p:txBody>
      </p:sp>
      <p:grpSp>
        <p:nvGrpSpPr>
          <p:cNvPr id="36" name="object 36"/>
          <p:cNvGrpSpPr/>
          <p:nvPr/>
        </p:nvGrpSpPr>
        <p:grpSpPr>
          <a:xfrm>
            <a:off x="5257799" y="1581149"/>
            <a:ext cx="6276975" cy="5086350"/>
            <a:chOff x="5257799" y="1581149"/>
            <a:chExt cx="6276975" cy="5086350"/>
          </a:xfrm>
        </p:grpSpPr>
        <p:pic>
          <p:nvPicPr>
            <p:cNvPr id="37" name="object 37"/>
            <p:cNvPicPr/>
            <p:nvPr/>
          </p:nvPicPr>
          <p:blipFill>
            <a:blip r:embed="rId1" cstate="print"/>
            <a:stretch>
              <a:fillRect/>
            </a:stretch>
          </p:blipFill>
          <p:spPr>
            <a:xfrm>
              <a:off x="11191873" y="1581149"/>
              <a:ext cx="76200" cy="76199"/>
            </a:xfrm>
            <a:prstGeom prst="rect">
              <a:avLst/>
            </a:prstGeom>
          </p:spPr>
        </p:pic>
        <p:pic>
          <p:nvPicPr>
            <p:cNvPr id="38" name="object 38"/>
            <p:cNvPicPr/>
            <p:nvPr/>
          </p:nvPicPr>
          <p:blipFill>
            <a:blip r:embed="rId2" cstate="print"/>
            <a:stretch>
              <a:fillRect/>
            </a:stretch>
          </p:blipFill>
          <p:spPr>
            <a:xfrm>
              <a:off x="11325223" y="1581149"/>
              <a:ext cx="76200" cy="76199"/>
            </a:xfrm>
            <a:prstGeom prst="rect">
              <a:avLst/>
            </a:prstGeom>
          </p:spPr>
        </p:pic>
        <p:pic>
          <p:nvPicPr>
            <p:cNvPr id="39" name="object 39"/>
            <p:cNvPicPr/>
            <p:nvPr/>
          </p:nvPicPr>
          <p:blipFill>
            <a:blip r:embed="rId3" cstate="print"/>
            <a:stretch>
              <a:fillRect/>
            </a:stretch>
          </p:blipFill>
          <p:spPr>
            <a:xfrm>
              <a:off x="11458573" y="1581149"/>
              <a:ext cx="76200" cy="76199"/>
            </a:xfrm>
            <a:prstGeom prst="rect">
              <a:avLst/>
            </a:prstGeom>
          </p:spPr>
        </p:pic>
        <p:sp>
          <p:nvSpPr>
            <p:cNvPr id="40" name="object 40"/>
            <p:cNvSpPr/>
            <p:nvPr/>
          </p:nvSpPr>
          <p:spPr>
            <a:xfrm>
              <a:off x="5262562" y="1871662"/>
              <a:ext cx="6267450" cy="3838575"/>
            </a:xfrm>
            <a:custGeom>
              <a:avLst/>
              <a:gdLst/>
              <a:ahLst/>
              <a:cxnLst/>
              <a:rect l="l" t="t" r="r" b="b"/>
              <a:pathLst>
                <a:path w="6267450" h="3838575">
                  <a:moveTo>
                    <a:pt x="6200702" y="3838574"/>
                  </a:moveTo>
                  <a:lnTo>
                    <a:pt x="66746" y="3838574"/>
                  </a:lnTo>
                  <a:lnTo>
                    <a:pt x="62101" y="3838116"/>
                  </a:lnTo>
                  <a:lnTo>
                    <a:pt x="24240" y="3820967"/>
                  </a:lnTo>
                  <a:lnTo>
                    <a:pt x="2287" y="3785673"/>
                  </a:lnTo>
                  <a:lnTo>
                    <a:pt x="0" y="3771827"/>
                  </a:lnTo>
                  <a:lnTo>
                    <a:pt x="0" y="3767137"/>
                  </a:lnTo>
                  <a:lnTo>
                    <a:pt x="0" y="66746"/>
                  </a:lnTo>
                  <a:lnTo>
                    <a:pt x="14645" y="27848"/>
                  </a:lnTo>
                  <a:lnTo>
                    <a:pt x="48433" y="3642"/>
                  </a:lnTo>
                  <a:lnTo>
                    <a:pt x="66746" y="0"/>
                  </a:lnTo>
                  <a:lnTo>
                    <a:pt x="6200702" y="0"/>
                  </a:lnTo>
                  <a:lnTo>
                    <a:pt x="6239599" y="14645"/>
                  </a:lnTo>
                  <a:lnTo>
                    <a:pt x="6263805" y="48433"/>
                  </a:lnTo>
                  <a:lnTo>
                    <a:pt x="6267449" y="66746"/>
                  </a:lnTo>
                  <a:lnTo>
                    <a:pt x="6267449" y="3771827"/>
                  </a:lnTo>
                  <a:lnTo>
                    <a:pt x="6252803" y="3810725"/>
                  </a:lnTo>
                  <a:lnTo>
                    <a:pt x="6219015" y="3834931"/>
                  </a:lnTo>
                  <a:lnTo>
                    <a:pt x="6205348" y="3838116"/>
                  </a:lnTo>
                  <a:lnTo>
                    <a:pt x="6200702" y="3838574"/>
                  </a:lnTo>
                  <a:close/>
                </a:path>
              </a:pathLst>
            </a:custGeom>
            <a:solidFill>
              <a:srgbClr val="FFFFFF"/>
            </a:solidFill>
          </p:spPr>
          <p:txBody>
            <a:bodyPr wrap="square" lIns="0" tIns="0" rIns="0" bIns="0" rtlCol="0"/>
            <a:lstStyle/>
            <a:p/>
          </p:txBody>
        </p:sp>
        <p:sp>
          <p:nvSpPr>
            <p:cNvPr id="41" name="object 41"/>
            <p:cNvSpPr/>
            <p:nvPr/>
          </p:nvSpPr>
          <p:spPr>
            <a:xfrm>
              <a:off x="5262562" y="1871662"/>
              <a:ext cx="6267450" cy="3838575"/>
            </a:xfrm>
            <a:custGeom>
              <a:avLst/>
              <a:gdLst/>
              <a:ahLst/>
              <a:cxnLst/>
              <a:rect l="l" t="t" r="r" b="b"/>
              <a:pathLst>
                <a:path w="6267450" h="3838575">
                  <a:moveTo>
                    <a:pt x="0" y="3767137"/>
                  </a:moveTo>
                  <a:lnTo>
                    <a:pt x="0" y="71437"/>
                  </a:lnTo>
                  <a:lnTo>
                    <a:pt x="0" y="66746"/>
                  </a:lnTo>
                  <a:lnTo>
                    <a:pt x="457" y="62101"/>
                  </a:lnTo>
                  <a:lnTo>
                    <a:pt x="12039" y="31748"/>
                  </a:lnTo>
                  <a:lnTo>
                    <a:pt x="14645" y="27848"/>
                  </a:lnTo>
                  <a:lnTo>
                    <a:pt x="17606" y="24240"/>
                  </a:lnTo>
                  <a:lnTo>
                    <a:pt x="20923" y="20923"/>
                  </a:lnTo>
                  <a:lnTo>
                    <a:pt x="24240" y="17606"/>
                  </a:lnTo>
                  <a:lnTo>
                    <a:pt x="44099" y="5437"/>
                  </a:lnTo>
                  <a:lnTo>
                    <a:pt x="48433" y="3642"/>
                  </a:lnTo>
                  <a:lnTo>
                    <a:pt x="52900" y="2287"/>
                  </a:lnTo>
                  <a:lnTo>
                    <a:pt x="57500" y="1372"/>
                  </a:lnTo>
                  <a:lnTo>
                    <a:pt x="62101" y="457"/>
                  </a:lnTo>
                  <a:lnTo>
                    <a:pt x="66746" y="0"/>
                  </a:lnTo>
                  <a:lnTo>
                    <a:pt x="71437" y="0"/>
                  </a:lnTo>
                  <a:lnTo>
                    <a:pt x="6196012" y="0"/>
                  </a:lnTo>
                  <a:lnTo>
                    <a:pt x="6200702" y="0"/>
                  </a:lnTo>
                  <a:lnTo>
                    <a:pt x="6205348" y="457"/>
                  </a:lnTo>
                  <a:lnTo>
                    <a:pt x="6209948" y="1372"/>
                  </a:lnTo>
                  <a:lnTo>
                    <a:pt x="6214548" y="2287"/>
                  </a:lnTo>
                  <a:lnTo>
                    <a:pt x="6246525" y="20923"/>
                  </a:lnTo>
                  <a:lnTo>
                    <a:pt x="6249841" y="24240"/>
                  </a:lnTo>
                  <a:lnTo>
                    <a:pt x="6266076" y="57500"/>
                  </a:lnTo>
                  <a:lnTo>
                    <a:pt x="6266992" y="62101"/>
                  </a:lnTo>
                  <a:lnTo>
                    <a:pt x="6267449" y="66746"/>
                  </a:lnTo>
                  <a:lnTo>
                    <a:pt x="6267449" y="71437"/>
                  </a:lnTo>
                  <a:lnTo>
                    <a:pt x="6267449" y="3767137"/>
                  </a:lnTo>
                  <a:lnTo>
                    <a:pt x="6267449" y="3771827"/>
                  </a:lnTo>
                  <a:lnTo>
                    <a:pt x="6266992" y="3776472"/>
                  </a:lnTo>
                  <a:lnTo>
                    <a:pt x="6266076" y="3781073"/>
                  </a:lnTo>
                  <a:lnTo>
                    <a:pt x="6265160" y="3785673"/>
                  </a:lnTo>
                  <a:lnTo>
                    <a:pt x="6243208" y="3820967"/>
                  </a:lnTo>
                  <a:lnTo>
                    <a:pt x="6209948" y="3837201"/>
                  </a:lnTo>
                  <a:lnTo>
                    <a:pt x="6205348" y="3838116"/>
                  </a:lnTo>
                  <a:lnTo>
                    <a:pt x="6200702" y="3838574"/>
                  </a:lnTo>
                  <a:lnTo>
                    <a:pt x="6196012" y="3838574"/>
                  </a:lnTo>
                  <a:lnTo>
                    <a:pt x="71437" y="3838574"/>
                  </a:lnTo>
                  <a:lnTo>
                    <a:pt x="66746" y="3838574"/>
                  </a:lnTo>
                  <a:lnTo>
                    <a:pt x="62101" y="3838116"/>
                  </a:lnTo>
                  <a:lnTo>
                    <a:pt x="57500" y="3837201"/>
                  </a:lnTo>
                  <a:lnTo>
                    <a:pt x="52900" y="3836285"/>
                  </a:lnTo>
                  <a:lnTo>
                    <a:pt x="17606" y="3814333"/>
                  </a:lnTo>
                  <a:lnTo>
                    <a:pt x="1372" y="3781073"/>
                  </a:lnTo>
                  <a:lnTo>
                    <a:pt x="457" y="3776472"/>
                  </a:lnTo>
                  <a:lnTo>
                    <a:pt x="0" y="3771827"/>
                  </a:lnTo>
                  <a:lnTo>
                    <a:pt x="0" y="3767137"/>
                  </a:lnTo>
                  <a:close/>
                </a:path>
              </a:pathLst>
            </a:custGeom>
            <a:ln w="9524">
              <a:solidFill>
                <a:srgbClr val="EFEFEF"/>
              </a:solidFill>
            </a:ln>
          </p:spPr>
          <p:txBody>
            <a:bodyPr wrap="square" lIns="0" tIns="0" rIns="0" bIns="0" rtlCol="0"/>
            <a:lstStyle/>
            <a:p/>
          </p:txBody>
        </p:sp>
        <p:pic>
          <p:nvPicPr>
            <p:cNvPr id="42" name="object 42"/>
            <p:cNvPicPr/>
            <p:nvPr/>
          </p:nvPicPr>
          <p:blipFill>
            <a:blip r:embed="rId4" cstate="print"/>
            <a:stretch>
              <a:fillRect/>
            </a:stretch>
          </p:blipFill>
          <p:spPr>
            <a:xfrm>
              <a:off x="5419724" y="2962274"/>
              <a:ext cx="5953125" cy="1657349"/>
            </a:xfrm>
            <a:prstGeom prst="rect">
              <a:avLst/>
            </a:prstGeom>
          </p:spPr>
        </p:pic>
        <p:pic>
          <p:nvPicPr>
            <p:cNvPr id="43" name="object 43"/>
            <p:cNvPicPr/>
            <p:nvPr/>
          </p:nvPicPr>
          <p:blipFill>
            <a:blip r:embed="rId5" cstate="print"/>
            <a:stretch>
              <a:fillRect/>
            </a:stretch>
          </p:blipFill>
          <p:spPr>
            <a:xfrm>
              <a:off x="9382124" y="6229349"/>
              <a:ext cx="438149" cy="438149"/>
            </a:xfrm>
            <a:prstGeom prst="rect">
              <a:avLst/>
            </a:prstGeom>
          </p:spPr>
        </p:pic>
      </p:grpSp>
      <p:sp>
        <p:nvSpPr>
          <p:cNvPr id="44" name="object 44"/>
          <p:cNvSpPr txBox="1"/>
          <p:nvPr/>
        </p:nvSpPr>
        <p:spPr>
          <a:xfrm>
            <a:off x="5618955" y="5772838"/>
            <a:ext cx="5556885" cy="407670"/>
          </a:xfrm>
          <a:prstGeom prst="rect">
            <a:avLst/>
          </a:prstGeom>
        </p:spPr>
        <p:txBody>
          <a:bodyPr vert="horz" wrap="square" lIns="0" tIns="12700" rIns="0" bIns="0" rtlCol="0">
            <a:spAutoFit/>
          </a:bodyPr>
          <a:lstStyle/>
          <a:p>
            <a:pPr marL="2114550" marR="5080" indent="-2102485">
              <a:lnSpc>
                <a:spcPct val="139000"/>
              </a:lnSpc>
              <a:spcBef>
                <a:spcPts val="100"/>
              </a:spcBef>
            </a:pPr>
            <a:r>
              <a:rPr sz="900" dirty="0">
                <a:solidFill>
                  <a:srgbClr val="111726"/>
                </a:solidFill>
                <a:latin typeface="Calibri" panose="020F0502020204030204"/>
                <a:cs typeface="Calibri" panose="020F0502020204030204"/>
              </a:rPr>
              <a:t>Fig</a:t>
            </a:r>
            <a:r>
              <a:rPr sz="900" spc="-25" dirty="0">
                <a:solidFill>
                  <a:srgbClr val="111726"/>
                </a:solidFill>
                <a:latin typeface="Calibri" panose="020F0502020204030204"/>
                <a:cs typeface="Calibri" panose="020F0502020204030204"/>
              </a:rPr>
              <a:t>. </a:t>
            </a:r>
            <a:r>
              <a:rPr sz="900" dirty="0">
                <a:solidFill>
                  <a:srgbClr val="111726"/>
                </a:solidFill>
                <a:latin typeface="Calibri" panose="020F0502020204030204"/>
                <a:cs typeface="Calibri" panose="020F0502020204030204"/>
              </a:rPr>
              <a:t>2</a:t>
            </a:r>
            <a:r>
              <a:rPr sz="900" spc="45" dirty="0">
                <a:solidFill>
                  <a:srgbClr val="111726"/>
                </a:solidFill>
                <a:latin typeface="Calibri" panose="020F0502020204030204"/>
                <a:cs typeface="Calibri" panose="020F0502020204030204"/>
              </a:rPr>
              <a:t>: </a:t>
            </a:r>
            <a:r>
              <a:rPr sz="900" i="1" spc="-40" dirty="0">
                <a:solidFill>
                  <a:srgbClr val="6A6A6A"/>
                </a:solidFill>
                <a:latin typeface="宋体" panose="02010600030101010101" pitchFamily="2" charset="-122"/>
                <a:cs typeface="宋体" panose="02010600030101010101" pitchFamily="2" charset="-122"/>
              </a:rPr>
              <a:t>ShifTS 整体方法框架。展示了包含前后置归一化 </a:t>
            </a:r>
            <a:r>
              <a:rPr sz="900" i="1" spc="-25" dirty="0">
                <a:solidFill>
                  <a:srgbClr val="6A6A6A"/>
                </a:solidFill>
                <a:latin typeface="宋体" panose="02010600030101010101" pitchFamily="2" charset="-122"/>
                <a:cs typeface="宋体" panose="02010600030101010101" pitchFamily="2" charset="-122"/>
              </a:rPr>
              <a:t>(Temporal</a:t>
            </a:r>
            <a:r>
              <a:rPr sz="900" i="1" spc="-170" dirty="0">
                <a:solidFill>
                  <a:srgbClr val="6A6A6A"/>
                </a:solidFill>
                <a:latin typeface="宋体" panose="02010600030101010101" pitchFamily="2" charset="-122"/>
                <a:cs typeface="宋体" panose="02010600030101010101" pitchFamily="2" charset="-122"/>
              </a:rPr>
              <a:t> </a:t>
            </a:r>
            <a:r>
              <a:rPr sz="900" i="1" spc="-110" dirty="0">
                <a:solidFill>
                  <a:srgbClr val="6A6A6A"/>
                </a:solidFill>
                <a:latin typeface="宋体" panose="02010600030101010101" pitchFamily="2" charset="-122"/>
                <a:cs typeface="宋体" panose="02010600030101010101" pitchFamily="2" charset="-122"/>
              </a:rPr>
              <a:t>Shift)</a:t>
            </a:r>
            <a:r>
              <a:rPr sz="900" i="1" spc="-70" dirty="0">
                <a:solidFill>
                  <a:srgbClr val="6A6A6A"/>
                </a:solidFill>
                <a:latin typeface="宋体" panose="02010600030101010101" pitchFamily="2" charset="-122"/>
                <a:cs typeface="宋体" panose="02010600030101010101" pitchFamily="2" charset="-122"/>
              </a:rPr>
              <a:t> 与内部 </a:t>
            </a:r>
            <a:r>
              <a:rPr sz="900" i="1" spc="145" dirty="0">
                <a:solidFill>
                  <a:srgbClr val="6A6A6A"/>
                </a:solidFill>
                <a:latin typeface="宋体" panose="02010600030101010101" pitchFamily="2" charset="-122"/>
                <a:cs typeface="宋体" panose="02010600030101010101" pitchFamily="2" charset="-122"/>
              </a:rPr>
              <a:t>SAM</a:t>
            </a:r>
            <a:r>
              <a:rPr sz="900" i="1" spc="-55" dirty="0">
                <a:solidFill>
                  <a:srgbClr val="6A6A6A"/>
                </a:solidFill>
                <a:latin typeface="宋体" panose="02010600030101010101" pitchFamily="2" charset="-122"/>
                <a:cs typeface="宋体" panose="02010600030101010101" pitchFamily="2" charset="-122"/>
              </a:rPr>
              <a:t> 代理预测及 </a:t>
            </a:r>
            <a:r>
              <a:rPr sz="900" i="1" spc="110" dirty="0">
                <a:solidFill>
                  <a:srgbClr val="6A6A6A"/>
                </a:solidFill>
                <a:latin typeface="宋体" panose="02010600030101010101" pitchFamily="2" charset="-122"/>
                <a:cs typeface="宋体" panose="02010600030101010101" pitchFamily="2" charset="-122"/>
              </a:rPr>
              <a:t>MLP</a:t>
            </a:r>
            <a:r>
              <a:rPr sz="900" i="1" spc="-50" dirty="0">
                <a:solidFill>
                  <a:srgbClr val="6A6A6A"/>
                </a:solidFill>
                <a:latin typeface="宋体" panose="02010600030101010101" pitchFamily="2" charset="-122"/>
                <a:cs typeface="宋体" panose="02010600030101010101" pitchFamily="2" charset="-122"/>
              </a:rPr>
              <a:t> 聚合模块 </a:t>
            </a:r>
            <a:r>
              <a:rPr sz="900" i="1" spc="-25" dirty="0">
                <a:solidFill>
                  <a:srgbClr val="6A6A6A"/>
                </a:solidFill>
                <a:latin typeface="宋体" panose="02010600030101010101" pitchFamily="2" charset="-122"/>
                <a:cs typeface="宋体" panose="02010600030101010101" pitchFamily="2" charset="-122"/>
              </a:rPr>
              <a:t>(Concept</a:t>
            </a:r>
            <a:r>
              <a:rPr sz="900" i="1" spc="-130" dirty="0">
                <a:solidFill>
                  <a:srgbClr val="6A6A6A"/>
                </a:solidFill>
                <a:latin typeface="宋体" panose="02010600030101010101" pitchFamily="2" charset="-122"/>
                <a:cs typeface="宋体" panose="02010600030101010101" pitchFamily="2" charset="-122"/>
              </a:rPr>
              <a:t> </a:t>
            </a:r>
            <a:r>
              <a:rPr sz="900" i="1" spc="-140" dirty="0">
                <a:solidFill>
                  <a:srgbClr val="6A6A6A"/>
                </a:solidFill>
                <a:latin typeface="宋体" panose="02010600030101010101" pitchFamily="2" charset="-122"/>
                <a:cs typeface="宋体" panose="02010600030101010101" pitchFamily="2" charset="-122"/>
              </a:rPr>
              <a:t>Drift)</a:t>
            </a:r>
            <a:r>
              <a:rPr sz="900" i="1" spc="-35" dirty="0">
                <a:solidFill>
                  <a:srgbClr val="6A6A6A"/>
                </a:solidFill>
                <a:latin typeface="宋体" panose="02010600030101010101" pitchFamily="2" charset="-122"/>
                <a:cs typeface="宋体" panose="02010600030101010101" pitchFamily="2" charset="-122"/>
              </a:rPr>
              <a:t> 的数据流。</a:t>
            </a:r>
            <a:endParaRPr sz="900">
              <a:latin typeface="宋体" panose="02010600030101010101" pitchFamily="2" charset="-122"/>
              <a:cs typeface="宋体" panose="02010600030101010101" pitchFamily="2" charset="-122"/>
            </a:endParaRPr>
          </a:p>
        </p:txBody>
      </p:sp>
      <p:sp>
        <p:nvSpPr>
          <p:cNvPr id="45" name="object 45"/>
          <p:cNvSpPr/>
          <p:nvPr/>
        </p:nvSpPr>
        <p:spPr>
          <a:xfrm>
            <a:off x="0" y="0"/>
            <a:ext cx="12192000" cy="9525"/>
          </a:xfrm>
          <a:custGeom>
            <a:avLst/>
            <a:gdLst/>
            <a:ahLst/>
            <a:cxnLst/>
            <a:rect l="l" t="t" r="r" b="b"/>
            <a:pathLst>
              <a:path w="12192000" h="9525">
                <a:moveTo>
                  <a:pt x="12191999" y="9524"/>
                </a:moveTo>
                <a:lnTo>
                  <a:pt x="0" y="9524"/>
                </a:lnTo>
                <a:lnTo>
                  <a:pt x="0" y="0"/>
                </a:lnTo>
                <a:lnTo>
                  <a:pt x="12191999" y="0"/>
                </a:lnTo>
                <a:lnTo>
                  <a:pt x="12191999" y="9524"/>
                </a:lnTo>
                <a:close/>
              </a:path>
            </a:pathLst>
          </a:custGeom>
          <a:solidFill>
            <a:srgbClr val="E7E4E3"/>
          </a:solidFill>
        </p:spPr>
        <p:txBody>
          <a:bodyPr wrap="square" lIns="0" tIns="0" rIns="0" bIns="0" rtlCol="0"/>
          <a:lstStyle/>
          <a:p/>
        </p:txBody>
      </p:sp>
      <p:sp>
        <p:nvSpPr>
          <p:cNvPr id="46" name="object 46"/>
          <p:cNvSpPr/>
          <p:nvPr/>
        </p:nvSpPr>
        <p:spPr>
          <a:xfrm>
            <a:off x="0" y="6848474"/>
            <a:ext cx="12192000" cy="9525"/>
          </a:xfrm>
          <a:custGeom>
            <a:avLst/>
            <a:gdLst/>
            <a:ahLst/>
            <a:cxnLst/>
            <a:rect l="l" t="t" r="r" b="b"/>
            <a:pathLst>
              <a:path w="12192000" h="9525">
                <a:moveTo>
                  <a:pt x="12191999" y="9524"/>
                </a:moveTo>
                <a:lnTo>
                  <a:pt x="0" y="9524"/>
                </a:lnTo>
                <a:lnTo>
                  <a:pt x="0" y="0"/>
                </a:lnTo>
                <a:lnTo>
                  <a:pt x="12191999" y="0"/>
                </a:lnTo>
                <a:lnTo>
                  <a:pt x="12191999" y="9524"/>
                </a:lnTo>
                <a:close/>
              </a:path>
            </a:pathLst>
          </a:custGeom>
          <a:solidFill>
            <a:srgbClr val="E7E4E3"/>
          </a:solidFill>
        </p:spPr>
        <p:txBody>
          <a:bodyPr wrap="square" lIns="0" tIns="0" rIns="0" bIns="0" rtlCol="0"/>
          <a:lstStyle/>
          <a:p/>
        </p:txBody>
      </p:sp>
      <p:sp>
        <p:nvSpPr>
          <p:cNvPr id="47" name="object 47"/>
          <p:cNvSpPr txBox="1">
            <a:spLocks noGrp="1"/>
          </p:cNvSpPr>
          <p:nvPr>
            <p:ph type="ftr" sz="quarter" idx="5"/>
          </p:nvPr>
        </p:nvSpPr>
        <p:spPr>
          <a:prstGeom prst="rect">
            <a:avLst/>
          </a:prstGeom>
        </p:spPr>
        <p:txBody>
          <a:bodyPr vert="horz" wrap="square" lIns="0" tIns="0" rIns="0" bIns="0" rtlCol="0">
            <a:spAutoFit/>
          </a:bodyPr>
          <a:lstStyle/>
          <a:p>
            <a:pPr marL="12700">
              <a:lnSpc>
                <a:spcPts val="1800"/>
              </a:lnSpc>
            </a:pPr>
            <a:r>
              <a:rPr spc="-45" dirty="0"/>
              <a:t>Powered</a:t>
            </a:r>
            <a:r>
              <a:rPr spc="-70" dirty="0"/>
              <a:t> </a:t>
            </a:r>
            <a:r>
              <a:rPr spc="-130" dirty="0"/>
              <a:t>By</a:t>
            </a:r>
            <a:r>
              <a:rPr spc="-10" dirty="0"/>
              <a:t> </a:t>
            </a:r>
            <a:r>
              <a:rPr spc="-65" dirty="0"/>
              <a:t>Tosea</a:t>
            </a:r>
            <a:r>
              <a:rPr sz="1700" spc="-65" dirty="0">
                <a:latin typeface="Tahoma" panose="020B0604030504040204"/>
                <a:cs typeface="Tahoma" panose="020B0604030504040204"/>
              </a:rPr>
              <a:t>.</a:t>
            </a:r>
            <a:r>
              <a:rPr spc="-65" dirty="0"/>
              <a:t>ai</a:t>
            </a:r>
            <a:endParaRPr sz="1700">
              <a:latin typeface="Tahoma" panose="020B0604030504040204"/>
              <a:cs typeface="Tahoma" panose="020B060403050404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1120120" cy="6854190"/>
          </a:xfrm>
          <a:custGeom>
            <a:avLst/>
            <a:gdLst/>
            <a:ahLst/>
            <a:cxnLst/>
            <a:rect l="l" t="t" r="r" b="b"/>
            <a:pathLst>
              <a:path w="11120120" h="6854190">
                <a:moveTo>
                  <a:pt x="11119578" y="6854177"/>
                </a:moveTo>
                <a:lnTo>
                  <a:pt x="0" y="6854177"/>
                </a:lnTo>
                <a:lnTo>
                  <a:pt x="0" y="0"/>
                </a:lnTo>
                <a:lnTo>
                  <a:pt x="11119578" y="0"/>
                </a:lnTo>
                <a:lnTo>
                  <a:pt x="11119578" y="6854177"/>
                </a:lnTo>
                <a:close/>
              </a:path>
            </a:pathLst>
          </a:custGeom>
          <a:solidFill>
            <a:srgbClr val="FAF9F6"/>
          </a:solidFill>
        </p:spPr>
        <p:txBody>
          <a:bodyPr wrap="square" lIns="0" tIns="0" rIns="0" bIns="0" rtlCol="0"/>
          <a:lstStyle/>
          <a:p/>
        </p:txBody>
      </p:sp>
      <p:sp>
        <p:nvSpPr>
          <p:cNvPr id="3" name="object 3"/>
          <p:cNvSpPr/>
          <p:nvPr/>
        </p:nvSpPr>
        <p:spPr>
          <a:xfrm>
            <a:off x="416984" y="946901"/>
            <a:ext cx="417195" cy="17780"/>
          </a:xfrm>
          <a:custGeom>
            <a:avLst/>
            <a:gdLst/>
            <a:ahLst/>
            <a:cxnLst/>
            <a:rect l="l" t="t" r="r" b="b"/>
            <a:pathLst>
              <a:path w="417194" h="17780">
                <a:moveTo>
                  <a:pt x="416984" y="17374"/>
                </a:moveTo>
                <a:lnTo>
                  <a:pt x="0" y="17374"/>
                </a:lnTo>
                <a:lnTo>
                  <a:pt x="0" y="0"/>
                </a:lnTo>
                <a:lnTo>
                  <a:pt x="416984" y="0"/>
                </a:lnTo>
                <a:lnTo>
                  <a:pt x="416984" y="17374"/>
                </a:lnTo>
                <a:close/>
              </a:path>
            </a:pathLst>
          </a:custGeom>
          <a:solidFill>
            <a:srgbClr val="5B8BA7"/>
          </a:solidFill>
        </p:spPr>
        <p:txBody>
          <a:bodyPr wrap="square" lIns="0" tIns="0" rIns="0" bIns="0" rtlCol="0"/>
          <a:lstStyle/>
          <a:p/>
        </p:txBody>
      </p:sp>
      <p:sp>
        <p:nvSpPr>
          <p:cNvPr id="4" name="object 4"/>
          <p:cNvSpPr txBox="1">
            <a:spLocks noGrp="1"/>
          </p:cNvSpPr>
          <p:nvPr>
            <p:ph type="title"/>
          </p:nvPr>
        </p:nvSpPr>
        <p:spPr>
          <a:xfrm>
            <a:off x="404284" y="346253"/>
            <a:ext cx="5911215" cy="449580"/>
          </a:xfrm>
          <a:prstGeom prst="rect">
            <a:avLst/>
          </a:prstGeom>
        </p:spPr>
        <p:txBody>
          <a:bodyPr vert="horz" wrap="square" lIns="0" tIns="16510" rIns="0" bIns="0" rtlCol="0">
            <a:spAutoFit/>
          </a:bodyPr>
          <a:lstStyle/>
          <a:p>
            <a:pPr marL="12700">
              <a:lnSpc>
                <a:spcPct val="100000"/>
              </a:lnSpc>
              <a:spcBef>
                <a:spcPts val="130"/>
              </a:spcBef>
            </a:pPr>
            <a:r>
              <a:rPr sz="2750" spc="-345" dirty="0">
                <a:solidFill>
                  <a:srgbClr val="1A1A1A"/>
                </a:solidFill>
              </a:rPr>
              <a:t>处理时间偏移：边缘分布的标准化数学机制</a:t>
            </a:r>
            <a:endParaRPr sz="2750"/>
          </a:p>
        </p:txBody>
      </p:sp>
      <p:grpSp>
        <p:nvGrpSpPr>
          <p:cNvPr id="5" name="object 5"/>
          <p:cNvGrpSpPr/>
          <p:nvPr/>
        </p:nvGrpSpPr>
        <p:grpSpPr>
          <a:xfrm>
            <a:off x="416882" y="1172666"/>
            <a:ext cx="4161790" cy="5264785"/>
            <a:chOff x="416882" y="1172666"/>
            <a:chExt cx="4161790" cy="5264785"/>
          </a:xfrm>
        </p:grpSpPr>
        <p:sp>
          <p:nvSpPr>
            <p:cNvPr id="6" name="object 6"/>
            <p:cNvSpPr/>
            <p:nvPr/>
          </p:nvSpPr>
          <p:spPr>
            <a:xfrm>
              <a:off x="421327" y="1177111"/>
              <a:ext cx="4152900" cy="5255895"/>
            </a:xfrm>
            <a:custGeom>
              <a:avLst/>
              <a:gdLst/>
              <a:ahLst/>
              <a:cxnLst/>
              <a:rect l="l" t="t" r="r" b="b"/>
              <a:pathLst>
                <a:path w="4152900" h="5255895">
                  <a:moveTo>
                    <a:pt x="4059124" y="5255737"/>
                  </a:moveTo>
                  <a:lnTo>
                    <a:pt x="93342" y="5255737"/>
                  </a:lnTo>
                  <a:lnTo>
                    <a:pt x="86846" y="5255097"/>
                  </a:lnTo>
                  <a:lnTo>
                    <a:pt x="49853" y="5242545"/>
                  </a:lnTo>
                  <a:lnTo>
                    <a:pt x="20480" y="5216791"/>
                  </a:lnTo>
                  <a:lnTo>
                    <a:pt x="3199" y="5181758"/>
                  </a:lnTo>
                  <a:lnTo>
                    <a:pt x="0" y="5162395"/>
                  </a:lnTo>
                  <a:lnTo>
                    <a:pt x="0" y="5155835"/>
                  </a:lnTo>
                  <a:lnTo>
                    <a:pt x="0" y="93342"/>
                  </a:lnTo>
                  <a:lnTo>
                    <a:pt x="10114" y="55611"/>
                  </a:lnTo>
                  <a:lnTo>
                    <a:pt x="33899" y="24622"/>
                  </a:lnTo>
                  <a:lnTo>
                    <a:pt x="67731" y="5094"/>
                  </a:lnTo>
                  <a:lnTo>
                    <a:pt x="93342" y="0"/>
                  </a:lnTo>
                  <a:lnTo>
                    <a:pt x="4059124" y="0"/>
                  </a:lnTo>
                  <a:lnTo>
                    <a:pt x="4096855" y="10114"/>
                  </a:lnTo>
                  <a:lnTo>
                    <a:pt x="4127844" y="33899"/>
                  </a:lnTo>
                  <a:lnTo>
                    <a:pt x="4147372" y="67731"/>
                  </a:lnTo>
                  <a:lnTo>
                    <a:pt x="4152467" y="93342"/>
                  </a:lnTo>
                  <a:lnTo>
                    <a:pt x="4152467" y="5162395"/>
                  </a:lnTo>
                  <a:lnTo>
                    <a:pt x="4142352" y="5200126"/>
                  </a:lnTo>
                  <a:lnTo>
                    <a:pt x="4118567" y="5231115"/>
                  </a:lnTo>
                  <a:lnTo>
                    <a:pt x="4084735" y="5250642"/>
                  </a:lnTo>
                  <a:lnTo>
                    <a:pt x="4065621" y="5255097"/>
                  </a:lnTo>
                  <a:lnTo>
                    <a:pt x="4059124" y="5255737"/>
                  </a:lnTo>
                  <a:close/>
                </a:path>
              </a:pathLst>
            </a:custGeom>
            <a:solidFill>
              <a:srgbClr val="FFFFFF"/>
            </a:solidFill>
          </p:spPr>
          <p:txBody>
            <a:bodyPr wrap="square" lIns="0" tIns="0" rIns="0" bIns="0" rtlCol="0"/>
            <a:lstStyle/>
            <a:p/>
          </p:txBody>
        </p:sp>
        <p:sp>
          <p:nvSpPr>
            <p:cNvPr id="7" name="object 7"/>
            <p:cNvSpPr/>
            <p:nvPr/>
          </p:nvSpPr>
          <p:spPr>
            <a:xfrm>
              <a:off x="421327" y="1177111"/>
              <a:ext cx="4152900" cy="5255895"/>
            </a:xfrm>
            <a:custGeom>
              <a:avLst/>
              <a:gdLst/>
              <a:ahLst/>
              <a:cxnLst/>
              <a:rect l="l" t="t" r="r" b="b"/>
              <a:pathLst>
                <a:path w="4152900" h="5255895">
                  <a:moveTo>
                    <a:pt x="0" y="5155835"/>
                  </a:moveTo>
                  <a:lnTo>
                    <a:pt x="0" y="99902"/>
                  </a:lnTo>
                  <a:lnTo>
                    <a:pt x="0" y="93342"/>
                  </a:lnTo>
                  <a:lnTo>
                    <a:pt x="639" y="86846"/>
                  </a:lnTo>
                  <a:lnTo>
                    <a:pt x="13192" y="49853"/>
                  </a:lnTo>
                  <a:lnTo>
                    <a:pt x="16836" y="44399"/>
                  </a:lnTo>
                  <a:lnTo>
                    <a:pt x="20480" y="38945"/>
                  </a:lnTo>
                  <a:lnTo>
                    <a:pt x="44399" y="16836"/>
                  </a:lnTo>
                  <a:lnTo>
                    <a:pt x="49853" y="13192"/>
                  </a:lnTo>
                  <a:lnTo>
                    <a:pt x="86846" y="639"/>
                  </a:lnTo>
                  <a:lnTo>
                    <a:pt x="93342" y="0"/>
                  </a:lnTo>
                  <a:lnTo>
                    <a:pt x="99902" y="0"/>
                  </a:lnTo>
                  <a:lnTo>
                    <a:pt x="4052564" y="0"/>
                  </a:lnTo>
                  <a:lnTo>
                    <a:pt x="4059124" y="0"/>
                  </a:lnTo>
                  <a:lnTo>
                    <a:pt x="4065621" y="639"/>
                  </a:lnTo>
                  <a:lnTo>
                    <a:pt x="4102613" y="13192"/>
                  </a:lnTo>
                  <a:lnTo>
                    <a:pt x="4108067" y="16836"/>
                  </a:lnTo>
                  <a:lnTo>
                    <a:pt x="4113521" y="20480"/>
                  </a:lnTo>
                  <a:lnTo>
                    <a:pt x="4139274" y="49853"/>
                  </a:lnTo>
                  <a:lnTo>
                    <a:pt x="4144862" y="61671"/>
                  </a:lnTo>
                  <a:lnTo>
                    <a:pt x="4147372" y="67731"/>
                  </a:lnTo>
                  <a:lnTo>
                    <a:pt x="4149267" y="73978"/>
                  </a:lnTo>
                  <a:lnTo>
                    <a:pt x="4150547" y="80412"/>
                  </a:lnTo>
                  <a:lnTo>
                    <a:pt x="4151827" y="86846"/>
                  </a:lnTo>
                  <a:lnTo>
                    <a:pt x="4152467" y="93342"/>
                  </a:lnTo>
                  <a:lnTo>
                    <a:pt x="4152467" y="99902"/>
                  </a:lnTo>
                  <a:lnTo>
                    <a:pt x="4152467" y="5155835"/>
                  </a:lnTo>
                  <a:lnTo>
                    <a:pt x="4152467" y="5162395"/>
                  </a:lnTo>
                  <a:lnTo>
                    <a:pt x="4151827" y="5168891"/>
                  </a:lnTo>
                  <a:lnTo>
                    <a:pt x="4150547" y="5175325"/>
                  </a:lnTo>
                  <a:lnTo>
                    <a:pt x="4149267" y="5181758"/>
                  </a:lnTo>
                  <a:lnTo>
                    <a:pt x="4147372" y="5188005"/>
                  </a:lnTo>
                  <a:lnTo>
                    <a:pt x="4144862" y="5194065"/>
                  </a:lnTo>
                  <a:lnTo>
                    <a:pt x="4142352" y="5200126"/>
                  </a:lnTo>
                  <a:lnTo>
                    <a:pt x="4118567" y="5231115"/>
                  </a:lnTo>
                  <a:lnTo>
                    <a:pt x="4084735" y="5250642"/>
                  </a:lnTo>
                  <a:lnTo>
                    <a:pt x="4072054" y="5253817"/>
                  </a:lnTo>
                  <a:lnTo>
                    <a:pt x="4065621" y="5255097"/>
                  </a:lnTo>
                  <a:lnTo>
                    <a:pt x="4059124" y="5255737"/>
                  </a:lnTo>
                  <a:lnTo>
                    <a:pt x="4052564" y="5255738"/>
                  </a:lnTo>
                  <a:lnTo>
                    <a:pt x="99902" y="5255738"/>
                  </a:lnTo>
                  <a:lnTo>
                    <a:pt x="93342" y="5255737"/>
                  </a:lnTo>
                  <a:lnTo>
                    <a:pt x="86846" y="5255097"/>
                  </a:lnTo>
                  <a:lnTo>
                    <a:pt x="80412" y="5253817"/>
                  </a:lnTo>
                  <a:lnTo>
                    <a:pt x="73978" y="5252537"/>
                  </a:lnTo>
                  <a:lnTo>
                    <a:pt x="38945" y="5235256"/>
                  </a:lnTo>
                  <a:lnTo>
                    <a:pt x="13192" y="5205883"/>
                  </a:lnTo>
                  <a:lnTo>
                    <a:pt x="7604" y="5194065"/>
                  </a:lnTo>
                  <a:lnTo>
                    <a:pt x="5094" y="5188005"/>
                  </a:lnTo>
                  <a:lnTo>
                    <a:pt x="3199" y="5181758"/>
                  </a:lnTo>
                  <a:lnTo>
                    <a:pt x="1919" y="5175325"/>
                  </a:lnTo>
                  <a:lnTo>
                    <a:pt x="639" y="5168891"/>
                  </a:lnTo>
                  <a:lnTo>
                    <a:pt x="0" y="5162395"/>
                  </a:lnTo>
                  <a:lnTo>
                    <a:pt x="0" y="5155835"/>
                  </a:lnTo>
                  <a:close/>
                </a:path>
              </a:pathLst>
            </a:custGeom>
            <a:ln w="8687">
              <a:solidFill>
                <a:srgbClr val="E4E4E4"/>
              </a:solidFill>
            </a:ln>
          </p:spPr>
          <p:txBody>
            <a:bodyPr wrap="square" lIns="0" tIns="0" rIns="0" bIns="0" rtlCol="0"/>
            <a:lstStyle/>
            <a:p/>
          </p:txBody>
        </p:sp>
      </p:grpSp>
      <p:sp>
        <p:nvSpPr>
          <p:cNvPr id="8" name="object 8"/>
          <p:cNvSpPr txBox="1"/>
          <p:nvPr/>
        </p:nvSpPr>
        <p:spPr>
          <a:xfrm>
            <a:off x="621463" y="1377247"/>
            <a:ext cx="1127760" cy="150495"/>
          </a:xfrm>
          <a:prstGeom prst="rect">
            <a:avLst/>
          </a:prstGeom>
        </p:spPr>
        <p:txBody>
          <a:bodyPr vert="horz" wrap="square" lIns="0" tIns="15240" rIns="0" bIns="0" rtlCol="0">
            <a:spAutoFit/>
          </a:bodyPr>
          <a:lstStyle/>
          <a:p>
            <a:pPr marL="12700">
              <a:lnSpc>
                <a:spcPct val="100000"/>
              </a:lnSpc>
              <a:spcBef>
                <a:spcPts val="120"/>
              </a:spcBef>
            </a:pPr>
            <a:r>
              <a:rPr sz="800" spc="114" dirty="0">
                <a:solidFill>
                  <a:srgbClr val="D4A573"/>
                </a:solidFill>
                <a:latin typeface="宋体" panose="02010600030101010101" pitchFamily="2" charset="-122"/>
                <a:cs typeface="宋体" panose="02010600030101010101" pitchFamily="2" charset="-122"/>
              </a:rPr>
              <a:t>THEORETICAL</a:t>
            </a:r>
            <a:r>
              <a:rPr sz="800" spc="45" dirty="0">
                <a:solidFill>
                  <a:srgbClr val="D4A573"/>
                </a:solidFill>
                <a:latin typeface="宋体" panose="02010600030101010101" pitchFamily="2" charset="-122"/>
                <a:cs typeface="宋体" panose="02010600030101010101" pitchFamily="2" charset="-122"/>
              </a:rPr>
              <a:t> </a:t>
            </a:r>
            <a:r>
              <a:rPr sz="800" spc="80" dirty="0">
                <a:solidFill>
                  <a:srgbClr val="D4A573"/>
                </a:solidFill>
                <a:latin typeface="宋体" panose="02010600030101010101" pitchFamily="2" charset="-122"/>
                <a:cs typeface="宋体" panose="02010600030101010101" pitchFamily="2" charset="-122"/>
              </a:rPr>
              <a:t>BASIS</a:t>
            </a:r>
            <a:endParaRPr sz="800">
              <a:latin typeface="宋体" panose="02010600030101010101" pitchFamily="2" charset="-122"/>
              <a:cs typeface="宋体" panose="02010600030101010101" pitchFamily="2" charset="-122"/>
            </a:endParaRPr>
          </a:p>
        </p:txBody>
      </p:sp>
      <p:sp>
        <p:nvSpPr>
          <p:cNvPr id="9" name="object 9"/>
          <p:cNvSpPr txBox="1"/>
          <p:nvPr/>
        </p:nvSpPr>
        <p:spPr>
          <a:xfrm>
            <a:off x="3621251" y="1368560"/>
            <a:ext cx="755650" cy="150495"/>
          </a:xfrm>
          <a:prstGeom prst="rect">
            <a:avLst/>
          </a:prstGeom>
        </p:spPr>
        <p:txBody>
          <a:bodyPr vert="horz" wrap="square" lIns="0" tIns="15240" rIns="0" bIns="0" rtlCol="0">
            <a:spAutoFit/>
          </a:bodyPr>
          <a:lstStyle/>
          <a:p>
            <a:pPr marL="12700">
              <a:lnSpc>
                <a:spcPct val="100000"/>
              </a:lnSpc>
              <a:spcBef>
                <a:spcPts val="120"/>
              </a:spcBef>
            </a:pPr>
            <a:r>
              <a:rPr sz="800" dirty="0">
                <a:solidFill>
                  <a:srgbClr val="6A6A6A"/>
                </a:solidFill>
                <a:latin typeface="Courier New" panose="02070309020205020404"/>
                <a:cs typeface="Courier New" panose="02070309020205020404"/>
              </a:rPr>
              <a:t>01</a:t>
            </a:r>
            <a:r>
              <a:rPr sz="800" spc="35" dirty="0">
                <a:solidFill>
                  <a:srgbClr val="6A6A6A"/>
                </a:solidFill>
                <a:latin typeface="Courier New" panose="02070309020205020404"/>
                <a:cs typeface="Courier New" panose="02070309020205020404"/>
              </a:rPr>
              <a:t> / </a:t>
            </a:r>
            <a:r>
              <a:rPr sz="800" spc="-15" dirty="0">
                <a:solidFill>
                  <a:srgbClr val="6A6A6A"/>
                </a:solidFill>
                <a:latin typeface="宋体" panose="02010600030101010101" pitchFamily="2" charset="-122"/>
                <a:cs typeface="宋体" panose="02010600030101010101" pitchFamily="2" charset="-122"/>
              </a:rPr>
              <a:t>理论依据</a:t>
            </a:r>
            <a:endParaRPr sz="800">
              <a:latin typeface="宋体" panose="02010600030101010101" pitchFamily="2" charset="-122"/>
              <a:cs typeface="宋体" panose="02010600030101010101" pitchFamily="2" charset="-122"/>
            </a:endParaRPr>
          </a:p>
        </p:txBody>
      </p:sp>
      <p:sp>
        <p:nvSpPr>
          <p:cNvPr id="10" name="object 10"/>
          <p:cNvSpPr txBox="1"/>
          <p:nvPr/>
        </p:nvSpPr>
        <p:spPr>
          <a:xfrm>
            <a:off x="621463" y="2249438"/>
            <a:ext cx="1747520" cy="261620"/>
          </a:xfrm>
          <a:prstGeom prst="rect">
            <a:avLst/>
          </a:prstGeom>
        </p:spPr>
        <p:txBody>
          <a:bodyPr vert="horz" wrap="square" lIns="0" tIns="12065" rIns="0" bIns="0" rtlCol="0">
            <a:spAutoFit/>
          </a:bodyPr>
          <a:lstStyle/>
          <a:p>
            <a:pPr marL="12700">
              <a:lnSpc>
                <a:spcPct val="100000"/>
              </a:lnSpc>
              <a:spcBef>
                <a:spcPts val="95"/>
              </a:spcBef>
            </a:pPr>
            <a:r>
              <a:rPr sz="1550" spc="-200" dirty="0">
                <a:solidFill>
                  <a:srgbClr val="1A1A1A"/>
                </a:solidFill>
                <a:latin typeface="宋体" panose="02010600030101010101" pitchFamily="2" charset="-122"/>
                <a:cs typeface="宋体" panose="02010600030101010101" pitchFamily="2" charset="-122"/>
              </a:rPr>
              <a:t>边缘分布在时间轴对齐</a:t>
            </a:r>
            <a:endParaRPr sz="1550">
              <a:latin typeface="宋体" panose="02010600030101010101" pitchFamily="2" charset="-122"/>
              <a:cs typeface="宋体" panose="02010600030101010101" pitchFamily="2" charset="-122"/>
            </a:endParaRPr>
          </a:p>
        </p:txBody>
      </p:sp>
      <p:sp>
        <p:nvSpPr>
          <p:cNvPr id="11" name="object 11"/>
          <p:cNvSpPr txBox="1"/>
          <p:nvPr/>
        </p:nvSpPr>
        <p:spPr>
          <a:xfrm>
            <a:off x="621463" y="2620937"/>
            <a:ext cx="3674110" cy="425450"/>
          </a:xfrm>
          <a:prstGeom prst="rect">
            <a:avLst/>
          </a:prstGeom>
        </p:spPr>
        <p:txBody>
          <a:bodyPr vert="horz" wrap="square" lIns="0" tIns="11430" rIns="0" bIns="0" rtlCol="0">
            <a:spAutoFit/>
          </a:bodyPr>
          <a:lstStyle/>
          <a:p>
            <a:pPr marL="12700" marR="5080">
              <a:lnSpc>
                <a:spcPct val="125000"/>
              </a:lnSpc>
              <a:spcBef>
                <a:spcPts val="90"/>
              </a:spcBef>
            </a:pPr>
            <a:r>
              <a:rPr sz="1050" spc="-100" dirty="0">
                <a:solidFill>
                  <a:srgbClr val="4A4A4A"/>
                </a:solidFill>
                <a:latin typeface="宋体" panose="02010600030101010101" pitchFamily="2" charset="-122"/>
                <a:cs typeface="宋体" panose="02010600030101010101" pitchFamily="2" charset="-122"/>
              </a:rPr>
              <a:t>研究中的概念漂移依赖于稳定的联合边缘分布。若时间尺度上的边缘</a:t>
            </a:r>
            <a:r>
              <a:rPr sz="1050" spc="-95" dirty="0">
                <a:solidFill>
                  <a:srgbClr val="4A4A4A"/>
                </a:solidFill>
                <a:latin typeface="宋体" panose="02010600030101010101" pitchFamily="2" charset="-122"/>
                <a:cs typeface="宋体" panose="02010600030101010101" pitchFamily="2" charset="-122"/>
              </a:rPr>
              <a:t>分布产生剧烈波动：</a:t>
            </a:r>
            <a:endParaRPr sz="1050">
              <a:latin typeface="宋体" panose="02010600030101010101" pitchFamily="2" charset="-122"/>
              <a:cs typeface="宋体" panose="02010600030101010101" pitchFamily="2" charset="-122"/>
            </a:endParaRPr>
          </a:p>
        </p:txBody>
      </p:sp>
      <p:grpSp>
        <p:nvGrpSpPr>
          <p:cNvPr id="12" name="object 12"/>
          <p:cNvGrpSpPr/>
          <p:nvPr/>
        </p:nvGrpSpPr>
        <p:grpSpPr>
          <a:xfrm>
            <a:off x="634163" y="3891852"/>
            <a:ext cx="3726815" cy="2328545"/>
            <a:chOff x="634163" y="3891852"/>
            <a:chExt cx="3726815" cy="2328545"/>
          </a:xfrm>
        </p:grpSpPr>
        <p:sp>
          <p:nvSpPr>
            <p:cNvPr id="13" name="object 13"/>
            <p:cNvSpPr/>
            <p:nvPr/>
          </p:nvSpPr>
          <p:spPr>
            <a:xfrm>
              <a:off x="1628844" y="3896195"/>
              <a:ext cx="1737995" cy="860425"/>
            </a:xfrm>
            <a:custGeom>
              <a:avLst/>
              <a:gdLst/>
              <a:ahLst/>
              <a:cxnLst/>
              <a:rect l="l" t="t" r="r" b="b"/>
              <a:pathLst>
                <a:path w="1737995" h="860425">
                  <a:moveTo>
                    <a:pt x="1676558" y="860029"/>
                  </a:moveTo>
                  <a:lnTo>
                    <a:pt x="60875" y="860029"/>
                  </a:lnTo>
                  <a:lnTo>
                    <a:pt x="56638" y="859612"/>
                  </a:lnTo>
                  <a:lnTo>
                    <a:pt x="16058" y="837921"/>
                  </a:lnTo>
                  <a:lnTo>
                    <a:pt x="0" y="799153"/>
                  </a:lnTo>
                  <a:lnTo>
                    <a:pt x="0" y="794876"/>
                  </a:lnTo>
                  <a:lnTo>
                    <a:pt x="0" y="60875"/>
                  </a:lnTo>
                  <a:lnTo>
                    <a:pt x="16058" y="22107"/>
                  </a:lnTo>
                  <a:lnTo>
                    <a:pt x="56638" y="417"/>
                  </a:lnTo>
                  <a:lnTo>
                    <a:pt x="60875" y="0"/>
                  </a:lnTo>
                  <a:lnTo>
                    <a:pt x="1676558" y="0"/>
                  </a:lnTo>
                  <a:lnTo>
                    <a:pt x="1715325" y="16057"/>
                  </a:lnTo>
                  <a:lnTo>
                    <a:pt x="1737016" y="56638"/>
                  </a:lnTo>
                  <a:lnTo>
                    <a:pt x="1737433" y="60875"/>
                  </a:lnTo>
                  <a:lnTo>
                    <a:pt x="1737433" y="799153"/>
                  </a:lnTo>
                  <a:lnTo>
                    <a:pt x="1721375" y="837921"/>
                  </a:lnTo>
                  <a:lnTo>
                    <a:pt x="1680795" y="859612"/>
                  </a:lnTo>
                  <a:lnTo>
                    <a:pt x="1676558" y="860029"/>
                  </a:lnTo>
                  <a:close/>
                </a:path>
              </a:pathLst>
            </a:custGeom>
            <a:solidFill>
              <a:srgbClr val="FFF5E7"/>
            </a:solidFill>
          </p:spPr>
          <p:txBody>
            <a:bodyPr wrap="square" lIns="0" tIns="0" rIns="0" bIns="0" rtlCol="0"/>
            <a:lstStyle/>
            <a:p/>
          </p:txBody>
        </p:sp>
        <p:sp>
          <p:nvSpPr>
            <p:cNvPr id="14" name="object 14"/>
            <p:cNvSpPr/>
            <p:nvPr/>
          </p:nvSpPr>
          <p:spPr>
            <a:xfrm>
              <a:off x="1628844" y="3896195"/>
              <a:ext cx="1737995" cy="860425"/>
            </a:xfrm>
            <a:custGeom>
              <a:avLst/>
              <a:gdLst/>
              <a:ahLst/>
              <a:cxnLst/>
              <a:rect l="l" t="t" r="r" b="b"/>
              <a:pathLst>
                <a:path w="1737995" h="860425">
                  <a:moveTo>
                    <a:pt x="0" y="794876"/>
                  </a:moveTo>
                  <a:lnTo>
                    <a:pt x="0" y="65153"/>
                  </a:lnTo>
                  <a:lnTo>
                    <a:pt x="0" y="60875"/>
                  </a:lnTo>
                  <a:lnTo>
                    <a:pt x="417" y="56638"/>
                  </a:lnTo>
                  <a:lnTo>
                    <a:pt x="1251" y="52442"/>
                  </a:lnTo>
                  <a:lnTo>
                    <a:pt x="2086" y="48246"/>
                  </a:lnTo>
                  <a:lnTo>
                    <a:pt x="3322" y="44172"/>
                  </a:lnTo>
                  <a:lnTo>
                    <a:pt x="4959" y="40220"/>
                  </a:lnTo>
                  <a:lnTo>
                    <a:pt x="6596" y="36267"/>
                  </a:lnTo>
                  <a:lnTo>
                    <a:pt x="8603" y="32512"/>
                  </a:lnTo>
                  <a:lnTo>
                    <a:pt x="10980" y="28955"/>
                  </a:lnTo>
                  <a:lnTo>
                    <a:pt x="13357" y="25398"/>
                  </a:lnTo>
                  <a:lnTo>
                    <a:pt x="16058" y="22107"/>
                  </a:lnTo>
                  <a:lnTo>
                    <a:pt x="19083" y="19083"/>
                  </a:lnTo>
                  <a:lnTo>
                    <a:pt x="22108" y="16057"/>
                  </a:lnTo>
                  <a:lnTo>
                    <a:pt x="25399" y="13356"/>
                  </a:lnTo>
                  <a:lnTo>
                    <a:pt x="60875" y="0"/>
                  </a:lnTo>
                  <a:lnTo>
                    <a:pt x="65153" y="0"/>
                  </a:lnTo>
                  <a:lnTo>
                    <a:pt x="1672280" y="0"/>
                  </a:lnTo>
                  <a:lnTo>
                    <a:pt x="1676558" y="0"/>
                  </a:lnTo>
                  <a:lnTo>
                    <a:pt x="1680795" y="417"/>
                  </a:lnTo>
                  <a:lnTo>
                    <a:pt x="1718350" y="19083"/>
                  </a:lnTo>
                  <a:lnTo>
                    <a:pt x="1721375" y="22107"/>
                  </a:lnTo>
                  <a:lnTo>
                    <a:pt x="1724076" y="25398"/>
                  </a:lnTo>
                  <a:lnTo>
                    <a:pt x="1726453" y="28955"/>
                  </a:lnTo>
                  <a:lnTo>
                    <a:pt x="1728829" y="32512"/>
                  </a:lnTo>
                  <a:lnTo>
                    <a:pt x="1737434" y="65153"/>
                  </a:lnTo>
                  <a:lnTo>
                    <a:pt x="1737434" y="794876"/>
                  </a:lnTo>
                  <a:lnTo>
                    <a:pt x="1724076" y="834630"/>
                  </a:lnTo>
                  <a:lnTo>
                    <a:pt x="1697213" y="855069"/>
                  </a:lnTo>
                  <a:lnTo>
                    <a:pt x="1693261" y="856706"/>
                  </a:lnTo>
                  <a:lnTo>
                    <a:pt x="1689187" y="857942"/>
                  </a:lnTo>
                  <a:lnTo>
                    <a:pt x="1684991" y="858777"/>
                  </a:lnTo>
                  <a:lnTo>
                    <a:pt x="1680795" y="859612"/>
                  </a:lnTo>
                  <a:lnTo>
                    <a:pt x="1676558" y="860029"/>
                  </a:lnTo>
                  <a:lnTo>
                    <a:pt x="1672280" y="860029"/>
                  </a:lnTo>
                  <a:lnTo>
                    <a:pt x="65153" y="860029"/>
                  </a:lnTo>
                  <a:lnTo>
                    <a:pt x="60875" y="860029"/>
                  </a:lnTo>
                  <a:lnTo>
                    <a:pt x="56638" y="859612"/>
                  </a:lnTo>
                  <a:lnTo>
                    <a:pt x="52442" y="858777"/>
                  </a:lnTo>
                  <a:lnTo>
                    <a:pt x="48247" y="857942"/>
                  </a:lnTo>
                  <a:lnTo>
                    <a:pt x="44172" y="856706"/>
                  </a:lnTo>
                  <a:lnTo>
                    <a:pt x="40220" y="855069"/>
                  </a:lnTo>
                  <a:lnTo>
                    <a:pt x="36268" y="853432"/>
                  </a:lnTo>
                  <a:lnTo>
                    <a:pt x="32513" y="851425"/>
                  </a:lnTo>
                  <a:lnTo>
                    <a:pt x="28956" y="849048"/>
                  </a:lnTo>
                  <a:lnTo>
                    <a:pt x="25399" y="846672"/>
                  </a:lnTo>
                  <a:lnTo>
                    <a:pt x="10980" y="831073"/>
                  </a:lnTo>
                  <a:lnTo>
                    <a:pt x="8603" y="827516"/>
                  </a:lnTo>
                  <a:lnTo>
                    <a:pt x="6596" y="823761"/>
                  </a:lnTo>
                  <a:lnTo>
                    <a:pt x="4959" y="819808"/>
                  </a:lnTo>
                  <a:lnTo>
                    <a:pt x="3322" y="815856"/>
                  </a:lnTo>
                  <a:lnTo>
                    <a:pt x="2086" y="811782"/>
                  </a:lnTo>
                  <a:lnTo>
                    <a:pt x="1251" y="807586"/>
                  </a:lnTo>
                  <a:lnTo>
                    <a:pt x="417" y="803390"/>
                  </a:lnTo>
                  <a:lnTo>
                    <a:pt x="0" y="799153"/>
                  </a:lnTo>
                  <a:lnTo>
                    <a:pt x="0" y="794876"/>
                  </a:lnTo>
                  <a:close/>
                </a:path>
              </a:pathLst>
            </a:custGeom>
            <a:ln w="8687">
              <a:solidFill>
                <a:srgbClr val="FFF0DE"/>
              </a:solidFill>
            </a:ln>
          </p:spPr>
          <p:txBody>
            <a:bodyPr wrap="square" lIns="0" tIns="0" rIns="0" bIns="0" rtlCol="0"/>
            <a:lstStyle/>
            <a:p/>
          </p:txBody>
        </p:sp>
        <p:sp>
          <p:nvSpPr>
            <p:cNvPr id="15" name="object 15"/>
            <p:cNvSpPr/>
            <p:nvPr/>
          </p:nvSpPr>
          <p:spPr>
            <a:xfrm>
              <a:off x="638507" y="5590194"/>
              <a:ext cx="3718560" cy="625475"/>
            </a:xfrm>
            <a:custGeom>
              <a:avLst/>
              <a:gdLst/>
              <a:ahLst/>
              <a:cxnLst/>
              <a:rect l="l" t="t" r="r" b="b"/>
              <a:pathLst>
                <a:path w="3718560" h="625475">
                  <a:moveTo>
                    <a:pt x="3657233" y="625476"/>
                  </a:moveTo>
                  <a:lnTo>
                    <a:pt x="60875" y="625476"/>
                  </a:lnTo>
                  <a:lnTo>
                    <a:pt x="56638" y="625058"/>
                  </a:lnTo>
                  <a:lnTo>
                    <a:pt x="16058" y="603367"/>
                  </a:lnTo>
                  <a:lnTo>
                    <a:pt x="0" y="564600"/>
                  </a:lnTo>
                  <a:lnTo>
                    <a:pt x="0" y="560322"/>
                  </a:lnTo>
                  <a:lnTo>
                    <a:pt x="0" y="60875"/>
                  </a:lnTo>
                  <a:lnTo>
                    <a:pt x="16058" y="22107"/>
                  </a:lnTo>
                  <a:lnTo>
                    <a:pt x="56638" y="417"/>
                  </a:lnTo>
                  <a:lnTo>
                    <a:pt x="60875" y="0"/>
                  </a:lnTo>
                  <a:lnTo>
                    <a:pt x="3657233" y="0"/>
                  </a:lnTo>
                  <a:lnTo>
                    <a:pt x="3696000" y="16057"/>
                  </a:lnTo>
                  <a:lnTo>
                    <a:pt x="3717691" y="56638"/>
                  </a:lnTo>
                  <a:lnTo>
                    <a:pt x="3718108" y="60875"/>
                  </a:lnTo>
                  <a:lnTo>
                    <a:pt x="3718108" y="564600"/>
                  </a:lnTo>
                  <a:lnTo>
                    <a:pt x="3702050" y="603367"/>
                  </a:lnTo>
                  <a:lnTo>
                    <a:pt x="3661469" y="625058"/>
                  </a:lnTo>
                  <a:lnTo>
                    <a:pt x="3657233" y="625476"/>
                  </a:lnTo>
                  <a:close/>
                </a:path>
              </a:pathLst>
            </a:custGeom>
            <a:solidFill>
              <a:srgbClr val="FAFAFA"/>
            </a:solidFill>
          </p:spPr>
          <p:txBody>
            <a:bodyPr wrap="square" lIns="0" tIns="0" rIns="0" bIns="0" rtlCol="0"/>
            <a:lstStyle/>
            <a:p/>
          </p:txBody>
        </p:sp>
        <p:sp>
          <p:nvSpPr>
            <p:cNvPr id="16" name="object 16"/>
            <p:cNvSpPr/>
            <p:nvPr/>
          </p:nvSpPr>
          <p:spPr>
            <a:xfrm>
              <a:off x="638507" y="5590194"/>
              <a:ext cx="3718560" cy="625475"/>
            </a:xfrm>
            <a:custGeom>
              <a:avLst/>
              <a:gdLst/>
              <a:ahLst/>
              <a:cxnLst/>
              <a:rect l="l" t="t" r="r" b="b"/>
              <a:pathLst>
                <a:path w="3718560" h="625475">
                  <a:moveTo>
                    <a:pt x="0" y="560322"/>
                  </a:moveTo>
                  <a:lnTo>
                    <a:pt x="0" y="65153"/>
                  </a:lnTo>
                  <a:lnTo>
                    <a:pt x="0" y="60875"/>
                  </a:lnTo>
                  <a:lnTo>
                    <a:pt x="417" y="56638"/>
                  </a:lnTo>
                  <a:lnTo>
                    <a:pt x="1251" y="52442"/>
                  </a:lnTo>
                  <a:lnTo>
                    <a:pt x="2086" y="48246"/>
                  </a:lnTo>
                  <a:lnTo>
                    <a:pt x="3322" y="44172"/>
                  </a:lnTo>
                  <a:lnTo>
                    <a:pt x="4959" y="40220"/>
                  </a:lnTo>
                  <a:lnTo>
                    <a:pt x="6596" y="36267"/>
                  </a:lnTo>
                  <a:lnTo>
                    <a:pt x="8603" y="32512"/>
                  </a:lnTo>
                  <a:lnTo>
                    <a:pt x="10980" y="28955"/>
                  </a:lnTo>
                  <a:lnTo>
                    <a:pt x="13357" y="25398"/>
                  </a:lnTo>
                  <a:lnTo>
                    <a:pt x="16058" y="22107"/>
                  </a:lnTo>
                  <a:lnTo>
                    <a:pt x="19083" y="19082"/>
                  </a:lnTo>
                  <a:lnTo>
                    <a:pt x="22108" y="16057"/>
                  </a:lnTo>
                  <a:lnTo>
                    <a:pt x="60875" y="0"/>
                  </a:lnTo>
                  <a:lnTo>
                    <a:pt x="65153" y="0"/>
                  </a:lnTo>
                  <a:lnTo>
                    <a:pt x="3652955" y="0"/>
                  </a:lnTo>
                  <a:lnTo>
                    <a:pt x="3692709" y="13356"/>
                  </a:lnTo>
                  <a:lnTo>
                    <a:pt x="3699025" y="19082"/>
                  </a:lnTo>
                  <a:lnTo>
                    <a:pt x="3702050" y="22107"/>
                  </a:lnTo>
                  <a:lnTo>
                    <a:pt x="3716856" y="52442"/>
                  </a:lnTo>
                  <a:lnTo>
                    <a:pt x="3717691" y="56638"/>
                  </a:lnTo>
                  <a:lnTo>
                    <a:pt x="3718108" y="60875"/>
                  </a:lnTo>
                  <a:lnTo>
                    <a:pt x="3718108" y="65153"/>
                  </a:lnTo>
                  <a:lnTo>
                    <a:pt x="3718108" y="560322"/>
                  </a:lnTo>
                  <a:lnTo>
                    <a:pt x="3718108" y="564600"/>
                  </a:lnTo>
                  <a:lnTo>
                    <a:pt x="3717691" y="568837"/>
                  </a:lnTo>
                  <a:lnTo>
                    <a:pt x="3716856" y="573032"/>
                  </a:lnTo>
                  <a:lnTo>
                    <a:pt x="3716021" y="577228"/>
                  </a:lnTo>
                  <a:lnTo>
                    <a:pt x="3699025" y="606392"/>
                  </a:lnTo>
                  <a:lnTo>
                    <a:pt x="3696000" y="609417"/>
                  </a:lnTo>
                  <a:lnTo>
                    <a:pt x="3665665" y="624223"/>
                  </a:lnTo>
                  <a:lnTo>
                    <a:pt x="3661469" y="625059"/>
                  </a:lnTo>
                  <a:lnTo>
                    <a:pt x="3657233" y="625476"/>
                  </a:lnTo>
                  <a:lnTo>
                    <a:pt x="3652955" y="625476"/>
                  </a:lnTo>
                  <a:lnTo>
                    <a:pt x="65153" y="625476"/>
                  </a:lnTo>
                  <a:lnTo>
                    <a:pt x="60875" y="625476"/>
                  </a:lnTo>
                  <a:lnTo>
                    <a:pt x="56638" y="625059"/>
                  </a:lnTo>
                  <a:lnTo>
                    <a:pt x="52442" y="624223"/>
                  </a:lnTo>
                  <a:lnTo>
                    <a:pt x="48247" y="623389"/>
                  </a:lnTo>
                  <a:lnTo>
                    <a:pt x="19083" y="606392"/>
                  </a:lnTo>
                  <a:lnTo>
                    <a:pt x="16058" y="603367"/>
                  </a:lnTo>
                  <a:lnTo>
                    <a:pt x="0" y="564600"/>
                  </a:lnTo>
                  <a:lnTo>
                    <a:pt x="0" y="560322"/>
                  </a:lnTo>
                  <a:close/>
                </a:path>
              </a:pathLst>
            </a:custGeom>
            <a:ln w="8687">
              <a:solidFill>
                <a:srgbClr val="EFEFEF"/>
              </a:solidFill>
            </a:ln>
          </p:spPr>
          <p:txBody>
            <a:bodyPr wrap="square" lIns="0" tIns="0" rIns="0" bIns="0" rtlCol="0"/>
            <a:lstStyle/>
            <a:p/>
          </p:txBody>
        </p:sp>
        <p:pic>
          <p:nvPicPr>
            <p:cNvPr id="17" name="object 17"/>
            <p:cNvPicPr/>
            <p:nvPr/>
          </p:nvPicPr>
          <p:blipFill>
            <a:blip r:embed="rId1" cstate="print"/>
            <a:stretch>
              <a:fillRect/>
            </a:stretch>
          </p:blipFill>
          <p:spPr>
            <a:xfrm>
              <a:off x="795744" y="5764806"/>
              <a:ext cx="111195" cy="111195"/>
            </a:xfrm>
            <a:prstGeom prst="rect">
              <a:avLst/>
            </a:prstGeom>
          </p:spPr>
        </p:pic>
      </p:grpSp>
      <p:sp>
        <p:nvSpPr>
          <p:cNvPr id="18" name="object 18"/>
          <p:cNvSpPr txBox="1"/>
          <p:nvPr/>
        </p:nvSpPr>
        <p:spPr>
          <a:xfrm>
            <a:off x="1012386" y="5692268"/>
            <a:ext cx="3152775" cy="373380"/>
          </a:xfrm>
          <a:prstGeom prst="rect">
            <a:avLst/>
          </a:prstGeom>
        </p:spPr>
        <p:txBody>
          <a:bodyPr vert="horz" wrap="square" lIns="0" tIns="12065" rIns="0" bIns="0" rtlCol="0">
            <a:spAutoFit/>
          </a:bodyPr>
          <a:lstStyle/>
          <a:p>
            <a:pPr marL="12700" marR="5080">
              <a:lnSpc>
                <a:spcPct val="127000"/>
              </a:lnSpc>
              <a:spcBef>
                <a:spcPts val="95"/>
              </a:spcBef>
            </a:pPr>
            <a:r>
              <a:rPr sz="900" spc="-90" dirty="0">
                <a:solidFill>
                  <a:srgbClr val="6A6A6A"/>
                </a:solidFill>
                <a:latin typeface="宋体" panose="02010600030101010101" pitchFamily="2" charset="-122"/>
                <a:cs typeface="宋体" panose="02010600030101010101" pitchFamily="2" charset="-122"/>
              </a:rPr>
              <a:t>由于边缘分布不一致，先前提取出的关联与因果机制将无法在新特征域内实现可靠的特征泛化。</a:t>
            </a:r>
            <a:endParaRPr sz="900">
              <a:latin typeface="宋体" panose="02010600030101010101" pitchFamily="2" charset="-122"/>
              <a:cs typeface="宋体" panose="02010600030101010101" pitchFamily="2" charset="-122"/>
            </a:endParaRPr>
          </a:p>
        </p:txBody>
      </p:sp>
      <p:sp>
        <p:nvSpPr>
          <p:cNvPr id="19" name="object 19"/>
          <p:cNvSpPr txBox="1"/>
          <p:nvPr/>
        </p:nvSpPr>
        <p:spPr>
          <a:xfrm>
            <a:off x="1805480" y="4191890"/>
            <a:ext cx="1385570" cy="234315"/>
          </a:xfrm>
          <a:prstGeom prst="rect">
            <a:avLst/>
          </a:prstGeom>
        </p:spPr>
        <p:txBody>
          <a:bodyPr vert="horz" wrap="square" lIns="0" tIns="14604" rIns="0" bIns="0" rtlCol="0">
            <a:spAutoFit/>
          </a:bodyPr>
          <a:lstStyle/>
          <a:p>
            <a:pPr marL="38100">
              <a:lnSpc>
                <a:spcPct val="100000"/>
              </a:lnSpc>
              <a:spcBef>
                <a:spcPts val="115"/>
              </a:spcBef>
            </a:pPr>
            <a:r>
              <a:rPr sz="1350" i="1" spc="175" dirty="0">
                <a:solidFill>
                  <a:srgbClr val="1A1A1A"/>
                </a:solidFill>
                <a:latin typeface="Calibri" panose="020F0502020204030204"/>
                <a:cs typeface="Calibri" panose="020F0502020204030204"/>
              </a:rPr>
              <a:t>P</a:t>
            </a:r>
            <a:r>
              <a:rPr sz="1350" i="1" spc="-105" dirty="0">
                <a:solidFill>
                  <a:srgbClr val="1A1A1A"/>
                </a:solidFill>
                <a:latin typeface="Calibri" panose="020F0502020204030204"/>
                <a:cs typeface="Calibri" panose="020F0502020204030204"/>
              </a:rPr>
              <a:t> </a:t>
            </a:r>
            <a:r>
              <a:rPr sz="1350" spc="145" dirty="0">
                <a:solidFill>
                  <a:srgbClr val="1A1A1A"/>
                </a:solidFill>
                <a:latin typeface="Cambria" panose="02040503050406030204"/>
                <a:cs typeface="Cambria" panose="02040503050406030204"/>
              </a:rPr>
              <a:t>(</a:t>
            </a:r>
            <a:r>
              <a:rPr sz="1350" b="1" spc="145" dirty="0">
                <a:solidFill>
                  <a:srgbClr val="1A1A1A"/>
                </a:solidFill>
                <a:latin typeface="Georgia" panose="02040502050405020303"/>
                <a:cs typeface="Georgia" panose="02040502050405020303"/>
              </a:rPr>
              <a:t>Y</a:t>
            </a:r>
            <a:r>
              <a:rPr sz="1425" i="1" spc="217" baseline="32000" dirty="0">
                <a:solidFill>
                  <a:srgbClr val="1A1A1A"/>
                </a:solidFill>
                <a:latin typeface="Calibri" panose="020F0502020204030204"/>
                <a:cs typeface="Calibri" panose="020F0502020204030204"/>
              </a:rPr>
              <a:t>H</a:t>
            </a:r>
            <a:r>
              <a:rPr sz="1425" i="1" spc="-60" baseline="32000" dirty="0">
                <a:solidFill>
                  <a:srgbClr val="1A1A1A"/>
                </a:solidFill>
                <a:latin typeface="Calibri" panose="020F0502020204030204"/>
                <a:cs typeface="Calibri" panose="020F0502020204030204"/>
              </a:rPr>
              <a:t> </a:t>
            </a:r>
            <a:r>
              <a:rPr sz="1350" dirty="0">
                <a:solidFill>
                  <a:srgbClr val="1A1A1A"/>
                </a:solidFill>
                <a:latin typeface="Cambria" panose="02040503050406030204"/>
                <a:cs typeface="Cambria" panose="02040503050406030204"/>
              </a:rPr>
              <a:t>)</a:t>
            </a:r>
            <a:r>
              <a:rPr sz="1350" spc="105" dirty="0">
                <a:solidFill>
                  <a:srgbClr val="1A1A1A"/>
                </a:solidFill>
                <a:latin typeface="Cambria" panose="02040503050406030204"/>
                <a:cs typeface="Cambria" panose="02040503050406030204"/>
              </a:rPr>
              <a:t> </a:t>
            </a:r>
            <a:r>
              <a:rPr sz="1350" spc="-254" dirty="0">
                <a:solidFill>
                  <a:srgbClr val="1A1A1A"/>
                </a:solidFill>
                <a:latin typeface="Cambria" panose="02040503050406030204"/>
                <a:cs typeface="Cambria" panose="02040503050406030204"/>
              </a:rPr>
              <a:t>=</a:t>
            </a:r>
            <a:r>
              <a:rPr sz="1350" spc="120" dirty="0">
                <a:solidFill>
                  <a:srgbClr val="1A1A1A"/>
                </a:solidFill>
                <a:latin typeface="Cambria" panose="02040503050406030204"/>
                <a:cs typeface="Cambria" panose="02040503050406030204"/>
              </a:rPr>
              <a:t> </a:t>
            </a:r>
            <a:r>
              <a:rPr sz="1350" i="1" spc="175" dirty="0">
                <a:solidFill>
                  <a:srgbClr val="1A1A1A"/>
                </a:solidFill>
                <a:latin typeface="Calibri" panose="020F0502020204030204"/>
                <a:cs typeface="Calibri" panose="020F0502020204030204"/>
              </a:rPr>
              <a:t>P</a:t>
            </a:r>
            <a:r>
              <a:rPr sz="1350" i="1" spc="-105" dirty="0">
                <a:solidFill>
                  <a:srgbClr val="1A1A1A"/>
                </a:solidFill>
                <a:latin typeface="Calibri" panose="020F0502020204030204"/>
                <a:cs typeface="Calibri" panose="020F0502020204030204"/>
              </a:rPr>
              <a:t> </a:t>
            </a:r>
            <a:r>
              <a:rPr sz="1350" spc="160" dirty="0">
                <a:solidFill>
                  <a:srgbClr val="1A1A1A"/>
                </a:solidFill>
                <a:latin typeface="Cambria" panose="02040503050406030204"/>
                <a:cs typeface="Cambria" panose="02040503050406030204"/>
              </a:rPr>
              <a:t>(</a:t>
            </a:r>
            <a:r>
              <a:rPr sz="1350" b="1" spc="160" dirty="0">
                <a:solidFill>
                  <a:srgbClr val="1A1A1A"/>
                </a:solidFill>
                <a:latin typeface="Georgia" panose="02040502050405020303"/>
                <a:cs typeface="Georgia" panose="02040502050405020303"/>
              </a:rPr>
              <a:t>Y</a:t>
            </a:r>
            <a:r>
              <a:rPr sz="1425" i="1" spc="240" baseline="32000" dirty="0">
                <a:solidFill>
                  <a:srgbClr val="1A1A1A"/>
                </a:solidFill>
                <a:latin typeface="Calibri" panose="020F0502020204030204"/>
                <a:cs typeface="Calibri" panose="020F0502020204030204"/>
              </a:rPr>
              <a:t>L</a:t>
            </a:r>
            <a:r>
              <a:rPr sz="1425" i="1" spc="-165" baseline="32000" dirty="0">
                <a:solidFill>
                  <a:srgbClr val="1A1A1A"/>
                </a:solidFill>
                <a:latin typeface="Calibri" panose="020F0502020204030204"/>
                <a:cs typeface="Calibri" panose="020F0502020204030204"/>
              </a:rPr>
              <a:t> </a:t>
            </a:r>
            <a:r>
              <a:rPr sz="1350" spc="-310" dirty="0">
                <a:solidFill>
                  <a:srgbClr val="1A1A1A"/>
                </a:solidFill>
                <a:latin typeface="Cambria" panose="02040503050406030204"/>
                <a:cs typeface="Cambria" panose="02040503050406030204"/>
              </a:rPr>
              <a:t>)</a:t>
            </a:r>
            <a:endParaRPr sz="1350">
              <a:latin typeface="Cambria" panose="02040503050406030204"/>
              <a:cs typeface="Cambria" panose="02040503050406030204"/>
            </a:endParaRPr>
          </a:p>
        </p:txBody>
      </p:sp>
      <p:grpSp>
        <p:nvGrpSpPr>
          <p:cNvPr id="20" name="object 20"/>
          <p:cNvGrpSpPr/>
          <p:nvPr/>
        </p:nvGrpSpPr>
        <p:grpSpPr>
          <a:xfrm>
            <a:off x="4786529" y="1172666"/>
            <a:ext cx="5916295" cy="5264785"/>
            <a:chOff x="4786529" y="1172666"/>
            <a:chExt cx="5916295" cy="5264785"/>
          </a:xfrm>
        </p:grpSpPr>
        <p:sp>
          <p:nvSpPr>
            <p:cNvPr id="21" name="object 21"/>
            <p:cNvSpPr/>
            <p:nvPr/>
          </p:nvSpPr>
          <p:spPr>
            <a:xfrm>
              <a:off x="4790974" y="1177111"/>
              <a:ext cx="5907405" cy="5255895"/>
            </a:xfrm>
            <a:custGeom>
              <a:avLst/>
              <a:gdLst/>
              <a:ahLst/>
              <a:cxnLst/>
              <a:rect l="l" t="t" r="r" b="b"/>
              <a:pathLst>
                <a:path w="5907405" h="5255895">
                  <a:moveTo>
                    <a:pt x="5813932" y="5255737"/>
                  </a:moveTo>
                  <a:lnTo>
                    <a:pt x="93342" y="5255737"/>
                  </a:lnTo>
                  <a:lnTo>
                    <a:pt x="86846" y="5255097"/>
                  </a:lnTo>
                  <a:lnTo>
                    <a:pt x="49853" y="5242545"/>
                  </a:lnTo>
                  <a:lnTo>
                    <a:pt x="20480" y="5216791"/>
                  </a:lnTo>
                  <a:lnTo>
                    <a:pt x="3199" y="5181758"/>
                  </a:lnTo>
                  <a:lnTo>
                    <a:pt x="0" y="5162395"/>
                  </a:lnTo>
                  <a:lnTo>
                    <a:pt x="0" y="5155835"/>
                  </a:lnTo>
                  <a:lnTo>
                    <a:pt x="0" y="93342"/>
                  </a:lnTo>
                  <a:lnTo>
                    <a:pt x="10114" y="55611"/>
                  </a:lnTo>
                  <a:lnTo>
                    <a:pt x="33899" y="24622"/>
                  </a:lnTo>
                  <a:lnTo>
                    <a:pt x="67731" y="5094"/>
                  </a:lnTo>
                  <a:lnTo>
                    <a:pt x="93342" y="0"/>
                  </a:lnTo>
                  <a:lnTo>
                    <a:pt x="5813932" y="0"/>
                  </a:lnTo>
                  <a:lnTo>
                    <a:pt x="5851663" y="10114"/>
                  </a:lnTo>
                  <a:lnTo>
                    <a:pt x="5882652" y="33899"/>
                  </a:lnTo>
                  <a:lnTo>
                    <a:pt x="5902180" y="67731"/>
                  </a:lnTo>
                  <a:lnTo>
                    <a:pt x="5907275" y="93342"/>
                  </a:lnTo>
                  <a:lnTo>
                    <a:pt x="5907275" y="5162395"/>
                  </a:lnTo>
                  <a:lnTo>
                    <a:pt x="5897160" y="5200126"/>
                  </a:lnTo>
                  <a:lnTo>
                    <a:pt x="5873376" y="5231115"/>
                  </a:lnTo>
                  <a:lnTo>
                    <a:pt x="5839544" y="5250642"/>
                  </a:lnTo>
                  <a:lnTo>
                    <a:pt x="5820429" y="5255097"/>
                  </a:lnTo>
                  <a:lnTo>
                    <a:pt x="5813932" y="5255737"/>
                  </a:lnTo>
                  <a:close/>
                </a:path>
              </a:pathLst>
            </a:custGeom>
            <a:solidFill>
              <a:srgbClr val="FAFAFA"/>
            </a:solidFill>
          </p:spPr>
          <p:txBody>
            <a:bodyPr wrap="square" lIns="0" tIns="0" rIns="0" bIns="0" rtlCol="0"/>
            <a:lstStyle/>
            <a:p/>
          </p:txBody>
        </p:sp>
        <p:sp>
          <p:nvSpPr>
            <p:cNvPr id="22" name="object 22"/>
            <p:cNvSpPr/>
            <p:nvPr/>
          </p:nvSpPr>
          <p:spPr>
            <a:xfrm>
              <a:off x="4790974" y="1177111"/>
              <a:ext cx="5907405" cy="5255895"/>
            </a:xfrm>
            <a:custGeom>
              <a:avLst/>
              <a:gdLst/>
              <a:ahLst/>
              <a:cxnLst/>
              <a:rect l="l" t="t" r="r" b="b"/>
              <a:pathLst>
                <a:path w="5907405" h="5255895">
                  <a:moveTo>
                    <a:pt x="0" y="5155835"/>
                  </a:moveTo>
                  <a:lnTo>
                    <a:pt x="0" y="99902"/>
                  </a:lnTo>
                  <a:lnTo>
                    <a:pt x="0" y="93342"/>
                  </a:lnTo>
                  <a:lnTo>
                    <a:pt x="639" y="86846"/>
                  </a:lnTo>
                  <a:lnTo>
                    <a:pt x="13192" y="49853"/>
                  </a:lnTo>
                  <a:lnTo>
                    <a:pt x="16836" y="44399"/>
                  </a:lnTo>
                  <a:lnTo>
                    <a:pt x="20480" y="38945"/>
                  </a:lnTo>
                  <a:lnTo>
                    <a:pt x="44399" y="16836"/>
                  </a:lnTo>
                  <a:lnTo>
                    <a:pt x="49853" y="13192"/>
                  </a:lnTo>
                  <a:lnTo>
                    <a:pt x="86846" y="639"/>
                  </a:lnTo>
                  <a:lnTo>
                    <a:pt x="93342" y="0"/>
                  </a:lnTo>
                  <a:lnTo>
                    <a:pt x="99902" y="0"/>
                  </a:lnTo>
                  <a:lnTo>
                    <a:pt x="5807373" y="0"/>
                  </a:lnTo>
                  <a:lnTo>
                    <a:pt x="5813932" y="0"/>
                  </a:lnTo>
                  <a:lnTo>
                    <a:pt x="5820429" y="639"/>
                  </a:lnTo>
                  <a:lnTo>
                    <a:pt x="5826863" y="1919"/>
                  </a:lnTo>
                  <a:lnTo>
                    <a:pt x="5833297" y="3199"/>
                  </a:lnTo>
                  <a:lnTo>
                    <a:pt x="5839544" y="5094"/>
                  </a:lnTo>
                  <a:lnTo>
                    <a:pt x="5845604" y="7604"/>
                  </a:lnTo>
                  <a:lnTo>
                    <a:pt x="5851663" y="10114"/>
                  </a:lnTo>
                  <a:lnTo>
                    <a:pt x="5857421" y="13192"/>
                  </a:lnTo>
                  <a:lnTo>
                    <a:pt x="5862875" y="16836"/>
                  </a:lnTo>
                  <a:lnTo>
                    <a:pt x="5868329" y="20480"/>
                  </a:lnTo>
                  <a:lnTo>
                    <a:pt x="5873376" y="24622"/>
                  </a:lnTo>
                  <a:lnTo>
                    <a:pt x="5878014" y="29260"/>
                  </a:lnTo>
                  <a:lnTo>
                    <a:pt x="5882652" y="33899"/>
                  </a:lnTo>
                  <a:lnTo>
                    <a:pt x="5902180" y="67731"/>
                  </a:lnTo>
                  <a:lnTo>
                    <a:pt x="5905355" y="80412"/>
                  </a:lnTo>
                  <a:lnTo>
                    <a:pt x="5906635" y="86846"/>
                  </a:lnTo>
                  <a:lnTo>
                    <a:pt x="5907275" y="93342"/>
                  </a:lnTo>
                  <a:lnTo>
                    <a:pt x="5907275" y="99902"/>
                  </a:lnTo>
                  <a:lnTo>
                    <a:pt x="5907275" y="5155835"/>
                  </a:lnTo>
                  <a:lnTo>
                    <a:pt x="5907275" y="5162395"/>
                  </a:lnTo>
                  <a:lnTo>
                    <a:pt x="5906635" y="5168891"/>
                  </a:lnTo>
                  <a:lnTo>
                    <a:pt x="5905355" y="5175325"/>
                  </a:lnTo>
                  <a:lnTo>
                    <a:pt x="5904075" y="5181758"/>
                  </a:lnTo>
                  <a:lnTo>
                    <a:pt x="5890438" y="5211337"/>
                  </a:lnTo>
                  <a:lnTo>
                    <a:pt x="5886794" y="5216791"/>
                  </a:lnTo>
                  <a:lnTo>
                    <a:pt x="5857421" y="5242545"/>
                  </a:lnTo>
                  <a:lnTo>
                    <a:pt x="5826863" y="5253817"/>
                  </a:lnTo>
                  <a:lnTo>
                    <a:pt x="5820429" y="5255097"/>
                  </a:lnTo>
                  <a:lnTo>
                    <a:pt x="5813932" y="5255737"/>
                  </a:lnTo>
                  <a:lnTo>
                    <a:pt x="5807373" y="5255738"/>
                  </a:lnTo>
                  <a:lnTo>
                    <a:pt x="99902" y="5255738"/>
                  </a:lnTo>
                  <a:lnTo>
                    <a:pt x="93342" y="5255737"/>
                  </a:lnTo>
                  <a:lnTo>
                    <a:pt x="86846" y="5255097"/>
                  </a:lnTo>
                  <a:lnTo>
                    <a:pt x="80412" y="5253817"/>
                  </a:lnTo>
                  <a:lnTo>
                    <a:pt x="73978" y="5252537"/>
                  </a:lnTo>
                  <a:lnTo>
                    <a:pt x="38945" y="5235256"/>
                  </a:lnTo>
                  <a:lnTo>
                    <a:pt x="13192" y="5205883"/>
                  </a:lnTo>
                  <a:lnTo>
                    <a:pt x="7604" y="5194065"/>
                  </a:lnTo>
                  <a:lnTo>
                    <a:pt x="5094" y="5188005"/>
                  </a:lnTo>
                  <a:lnTo>
                    <a:pt x="3199" y="5181758"/>
                  </a:lnTo>
                  <a:lnTo>
                    <a:pt x="1919" y="5175325"/>
                  </a:lnTo>
                  <a:lnTo>
                    <a:pt x="639" y="5168891"/>
                  </a:lnTo>
                  <a:lnTo>
                    <a:pt x="0" y="5162395"/>
                  </a:lnTo>
                  <a:lnTo>
                    <a:pt x="0" y="5155835"/>
                  </a:lnTo>
                  <a:close/>
                </a:path>
              </a:pathLst>
            </a:custGeom>
            <a:ln w="8687">
              <a:solidFill>
                <a:srgbClr val="E4E4E4"/>
              </a:solidFill>
            </a:ln>
          </p:spPr>
          <p:txBody>
            <a:bodyPr wrap="square" lIns="0" tIns="0" rIns="0" bIns="0" rtlCol="0"/>
            <a:lstStyle/>
            <a:p/>
          </p:txBody>
        </p:sp>
      </p:grpSp>
      <p:sp>
        <p:nvSpPr>
          <p:cNvPr id="23" name="object 23"/>
          <p:cNvSpPr txBox="1"/>
          <p:nvPr/>
        </p:nvSpPr>
        <p:spPr>
          <a:xfrm>
            <a:off x="4993960" y="1377247"/>
            <a:ext cx="1537970" cy="150495"/>
          </a:xfrm>
          <a:prstGeom prst="rect">
            <a:avLst/>
          </a:prstGeom>
        </p:spPr>
        <p:txBody>
          <a:bodyPr vert="horz" wrap="square" lIns="0" tIns="15240" rIns="0" bIns="0" rtlCol="0">
            <a:spAutoFit/>
          </a:bodyPr>
          <a:lstStyle/>
          <a:p>
            <a:pPr marL="12700">
              <a:lnSpc>
                <a:spcPct val="100000"/>
              </a:lnSpc>
              <a:spcBef>
                <a:spcPts val="120"/>
              </a:spcBef>
            </a:pPr>
            <a:r>
              <a:rPr sz="800" spc="95" dirty="0">
                <a:solidFill>
                  <a:srgbClr val="5B8BA7"/>
                </a:solidFill>
                <a:latin typeface="宋体" panose="02010600030101010101" pitchFamily="2" charset="-122"/>
                <a:cs typeface="宋体" panose="02010600030101010101" pitchFamily="2" charset="-122"/>
              </a:rPr>
              <a:t>REVIN</a:t>
            </a:r>
            <a:r>
              <a:rPr sz="800" spc="30" dirty="0">
                <a:solidFill>
                  <a:srgbClr val="5B8BA7"/>
                </a:solidFill>
                <a:latin typeface="宋体" panose="02010600030101010101" pitchFamily="2" charset="-122"/>
                <a:cs typeface="宋体" panose="02010600030101010101" pitchFamily="2" charset="-122"/>
              </a:rPr>
              <a:t> </a:t>
            </a:r>
            <a:r>
              <a:rPr sz="800" spc="125" dirty="0">
                <a:solidFill>
                  <a:srgbClr val="5B8BA7"/>
                </a:solidFill>
                <a:latin typeface="宋体" panose="02010600030101010101" pitchFamily="2" charset="-122"/>
                <a:cs typeface="宋体" panose="02010600030101010101" pitchFamily="2" charset="-122"/>
              </a:rPr>
              <a:t>OPERATING</a:t>
            </a:r>
            <a:r>
              <a:rPr sz="800" spc="35" dirty="0">
                <a:solidFill>
                  <a:srgbClr val="5B8BA7"/>
                </a:solidFill>
                <a:latin typeface="宋体" panose="02010600030101010101" pitchFamily="2" charset="-122"/>
                <a:cs typeface="宋体" panose="02010600030101010101" pitchFamily="2" charset="-122"/>
              </a:rPr>
              <a:t> </a:t>
            </a:r>
            <a:r>
              <a:rPr sz="800" spc="55" dirty="0">
                <a:solidFill>
                  <a:srgbClr val="5B8BA7"/>
                </a:solidFill>
                <a:latin typeface="宋体" panose="02010600030101010101" pitchFamily="2" charset="-122"/>
                <a:cs typeface="宋体" panose="02010600030101010101" pitchFamily="2" charset="-122"/>
              </a:rPr>
              <a:t>PIPELINE</a:t>
            </a:r>
            <a:endParaRPr sz="800">
              <a:latin typeface="宋体" panose="02010600030101010101" pitchFamily="2" charset="-122"/>
              <a:cs typeface="宋体" panose="02010600030101010101" pitchFamily="2" charset="-122"/>
            </a:endParaRPr>
          </a:p>
        </p:txBody>
      </p:sp>
      <p:sp>
        <p:nvSpPr>
          <p:cNvPr id="24" name="object 24"/>
          <p:cNvSpPr txBox="1"/>
          <p:nvPr/>
        </p:nvSpPr>
        <p:spPr>
          <a:xfrm>
            <a:off x="9742720" y="1368560"/>
            <a:ext cx="755650" cy="150495"/>
          </a:xfrm>
          <a:prstGeom prst="rect">
            <a:avLst/>
          </a:prstGeom>
        </p:spPr>
        <p:txBody>
          <a:bodyPr vert="horz" wrap="square" lIns="0" tIns="15240" rIns="0" bIns="0" rtlCol="0">
            <a:spAutoFit/>
          </a:bodyPr>
          <a:lstStyle/>
          <a:p>
            <a:pPr marL="12700">
              <a:lnSpc>
                <a:spcPct val="100000"/>
              </a:lnSpc>
              <a:spcBef>
                <a:spcPts val="120"/>
              </a:spcBef>
            </a:pPr>
            <a:r>
              <a:rPr sz="800" dirty="0">
                <a:solidFill>
                  <a:srgbClr val="6A6A6A"/>
                </a:solidFill>
                <a:latin typeface="Courier New" panose="02070309020205020404"/>
                <a:cs typeface="Courier New" panose="02070309020205020404"/>
              </a:rPr>
              <a:t>02</a:t>
            </a:r>
            <a:r>
              <a:rPr sz="800" spc="35" dirty="0">
                <a:solidFill>
                  <a:srgbClr val="6A6A6A"/>
                </a:solidFill>
                <a:latin typeface="Courier New" panose="02070309020205020404"/>
                <a:cs typeface="Courier New" panose="02070309020205020404"/>
              </a:rPr>
              <a:t> / </a:t>
            </a:r>
            <a:r>
              <a:rPr sz="800" spc="-15" dirty="0">
                <a:solidFill>
                  <a:srgbClr val="6A6A6A"/>
                </a:solidFill>
                <a:latin typeface="宋体" panose="02010600030101010101" pitchFamily="2" charset="-122"/>
                <a:cs typeface="宋体" panose="02010600030101010101" pitchFamily="2" charset="-122"/>
              </a:rPr>
              <a:t>操作流程</a:t>
            </a:r>
            <a:endParaRPr sz="800">
              <a:latin typeface="宋体" panose="02010600030101010101" pitchFamily="2" charset="-122"/>
              <a:cs typeface="宋体" panose="02010600030101010101" pitchFamily="2" charset="-122"/>
            </a:endParaRPr>
          </a:p>
        </p:txBody>
      </p:sp>
      <p:grpSp>
        <p:nvGrpSpPr>
          <p:cNvPr id="25" name="object 25"/>
          <p:cNvGrpSpPr/>
          <p:nvPr/>
        </p:nvGrpSpPr>
        <p:grpSpPr>
          <a:xfrm>
            <a:off x="5003708" y="1667835"/>
            <a:ext cx="5481955" cy="1955164"/>
            <a:chOff x="5003708" y="1667835"/>
            <a:chExt cx="5481955" cy="1955164"/>
          </a:xfrm>
        </p:grpSpPr>
        <p:sp>
          <p:nvSpPr>
            <p:cNvPr id="26" name="object 26"/>
            <p:cNvSpPr/>
            <p:nvPr/>
          </p:nvSpPr>
          <p:spPr>
            <a:xfrm>
              <a:off x="5008153" y="1672280"/>
              <a:ext cx="5473065" cy="1946275"/>
            </a:xfrm>
            <a:custGeom>
              <a:avLst/>
              <a:gdLst/>
              <a:ahLst/>
              <a:cxnLst/>
              <a:rect l="l" t="t" r="r" b="b"/>
              <a:pathLst>
                <a:path w="5473065" h="1946275">
                  <a:moveTo>
                    <a:pt x="5412041" y="1945926"/>
                  </a:moveTo>
                  <a:lnTo>
                    <a:pt x="60875" y="1945926"/>
                  </a:lnTo>
                  <a:lnTo>
                    <a:pt x="56638" y="1945508"/>
                  </a:lnTo>
                  <a:lnTo>
                    <a:pt x="16058" y="1923817"/>
                  </a:lnTo>
                  <a:lnTo>
                    <a:pt x="0" y="1885050"/>
                  </a:lnTo>
                  <a:lnTo>
                    <a:pt x="0" y="1880772"/>
                  </a:lnTo>
                  <a:lnTo>
                    <a:pt x="0" y="60875"/>
                  </a:lnTo>
                  <a:lnTo>
                    <a:pt x="16058" y="22108"/>
                  </a:lnTo>
                  <a:lnTo>
                    <a:pt x="56638" y="417"/>
                  </a:lnTo>
                  <a:lnTo>
                    <a:pt x="60875" y="0"/>
                  </a:lnTo>
                  <a:lnTo>
                    <a:pt x="5412041" y="0"/>
                  </a:lnTo>
                  <a:lnTo>
                    <a:pt x="5450808" y="16057"/>
                  </a:lnTo>
                  <a:lnTo>
                    <a:pt x="5472500" y="56638"/>
                  </a:lnTo>
                  <a:lnTo>
                    <a:pt x="5472917" y="60875"/>
                  </a:lnTo>
                  <a:lnTo>
                    <a:pt x="5472917" y="1885050"/>
                  </a:lnTo>
                  <a:lnTo>
                    <a:pt x="5456859" y="1923817"/>
                  </a:lnTo>
                  <a:lnTo>
                    <a:pt x="5416278" y="1945508"/>
                  </a:lnTo>
                  <a:lnTo>
                    <a:pt x="5412041" y="1945926"/>
                  </a:lnTo>
                  <a:close/>
                </a:path>
              </a:pathLst>
            </a:custGeom>
            <a:solidFill>
              <a:srgbClr val="FFFFFF"/>
            </a:solidFill>
          </p:spPr>
          <p:txBody>
            <a:bodyPr wrap="square" lIns="0" tIns="0" rIns="0" bIns="0" rtlCol="0"/>
            <a:lstStyle/>
            <a:p/>
          </p:txBody>
        </p:sp>
        <p:sp>
          <p:nvSpPr>
            <p:cNvPr id="27" name="object 27"/>
            <p:cNvSpPr/>
            <p:nvPr/>
          </p:nvSpPr>
          <p:spPr>
            <a:xfrm>
              <a:off x="5008153" y="1672280"/>
              <a:ext cx="5473065" cy="1946275"/>
            </a:xfrm>
            <a:custGeom>
              <a:avLst/>
              <a:gdLst/>
              <a:ahLst/>
              <a:cxnLst/>
              <a:rect l="l" t="t" r="r" b="b"/>
              <a:pathLst>
                <a:path w="5473065" h="1946275">
                  <a:moveTo>
                    <a:pt x="0" y="1880772"/>
                  </a:moveTo>
                  <a:lnTo>
                    <a:pt x="0" y="65153"/>
                  </a:lnTo>
                  <a:lnTo>
                    <a:pt x="0" y="60875"/>
                  </a:lnTo>
                  <a:lnTo>
                    <a:pt x="417" y="56638"/>
                  </a:lnTo>
                  <a:lnTo>
                    <a:pt x="1251" y="52442"/>
                  </a:lnTo>
                  <a:lnTo>
                    <a:pt x="2086" y="48246"/>
                  </a:lnTo>
                  <a:lnTo>
                    <a:pt x="3322" y="44172"/>
                  </a:lnTo>
                  <a:lnTo>
                    <a:pt x="4959" y="40220"/>
                  </a:lnTo>
                  <a:lnTo>
                    <a:pt x="6596" y="36268"/>
                  </a:lnTo>
                  <a:lnTo>
                    <a:pt x="8603" y="32513"/>
                  </a:lnTo>
                  <a:lnTo>
                    <a:pt x="10980" y="28956"/>
                  </a:lnTo>
                  <a:lnTo>
                    <a:pt x="13357" y="25399"/>
                  </a:lnTo>
                  <a:lnTo>
                    <a:pt x="16058" y="22108"/>
                  </a:lnTo>
                  <a:lnTo>
                    <a:pt x="19083" y="19083"/>
                  </a:lnTo>
                  <a:lnTo>
                    <a:pt x="22108" y="16057"/>
                  </a:lnTo>
                  <a:lnTo>
                    <a:pt x="25399" y="13357"/>
                  </a:lnTo>
                  <a:lnTo>
                    <a:pt x="60875" y="0"/>
                  </a:lnTo>
                  <a:lnTo>
                    <a:pt x="65153" y="0"/>
                  </a:lnTo>
                  <a:lnTo>
                    <a:pt x="5407763" y="0"/>
                  </a:lnTo>
                  <a:lnTo>
                    <a:pt x="5412041" y="0"/>
                  </a:lnTo>
                  <a:lnTo>
                    <a:pt x="5416278" y="417"/>
                  </a:lnTo>
                  <a:lnTo>
                    <a:pt x="5420474" y="1251"/>
                  </a:lnTo>
                  <a:lnTo>
                    <a:pt x="5424669" y="2086"/>
                  </a:lnTo>
                  <a:lnTo>
                    <a:pt x="5428743" y="3322"/>
                  </a:lnTo>
                  <a:lnTo>
                    <a:pt x="5432696" y="4959"/>
                  </a:lnTo>
                  <a:lnTo>
                    <a:pt x="5436648" y="6596"/>
                  </a:lnTo>
                  <a:lnTo>
                    <a:pt x="5440403" y="8603"/>
                  </a:lnTo>
                  <a:lnTo>
                    <a:pt x="5443960" y="10980"/>
                  </a:lnTo>
                  <a:lnTo>
                    <a:pt x="5447517" y="13357"/>
                  </a:lnTo>
                  <a:lnTo>
                    <a:pt x="5461935" y="28956"/>
                  </a:lnTo>
                  <a:lnTo>
                    <a:pt x="5464312" y="32513"/>
                  </a:lnTo>
                  <a:lnTo>
                    <a:pt x="5466320" y="36268"/>
                  </a:lnTo>
                  <a:lnTo>
                    <a:pt x="5467957" y="40220"/>
                  </a:lnTo>
                  <a:lnTo>
                    <a:pt x="5469594" y="44172"/>
                  </a:lnTo>
                  <a:lnTo>
                    <a:pt x="5470830" y="48246"/>
                  </a:lnTo>
                  <a:lnTo>
                    <a:pt x="5471664" y="52442"/>
                  </a:lnTo>
                  <a:lnTo>
                    <a:pt x="5472500" y="56638"/>
                  </a:lnTo>
                  <a:lnTo>
                    <a:pt x="5472917" y="60875"/>
                  </a:lnTo>
                  <a:lnTo>
                    <a:pt x="5472917" y="65153"/>
                  </a:lnTo>
                  <a:lnTo>
                    <a:pt x="5472917" y="1880772"/>
                  </a:lnTo>
                  <a:lnTo>
                    <a:pt x="5472917" y="1885050"/>
                  </a:lnTo>
                  <a:lnTo>
                    <a:pt x="5472500" y="1889286"/>
                  </a:lnTo>
                  <a:lnTo>
                    <a:pt x="5471664" y="1893482"/>
                  </a:lnTo>
                  <a:lnTo>
                    <a:pt x="5470830" y="1897678"/>
                  </a:lnTo>
                  <a:lnTo>
                    <a:pt x="5469594" y="1901752"/>
                  </a:lnTo>
                  <a:lnTo>
                    <a:pt x="5467957" y="1905705"/>
                  </a:lnTo>
                  <a:lnTo>
                    <a:pt x="5466320" y="1909657"/>
                  </a:lnTo>
                  <a:lnTo>
                    <a:pt x="5464312" y="1913412"/>
                  </a:lnTo>
                  <a:lnTo>
                    <a:pt x="5461935" y="1916969"/>
                  </a:lnTo>
                  <a:lnTo>
                    <a:pt x="5459559" y="1920526"/>
                  </a:lnTo>
                  <a:lnTo>
                    <a:pt x="5443960" y="1934945"/>
                  </a:lnTo>
                  <a:lnTo>
                    <a:pt x="5440403" y="1937322"/>
                  </a:lnTo>
                  <a:lnTo>
                    <a:pt x="5436648" y="1939329"/>
                  </a:lnTo>
                  <a:lnTo>
                    <a:pt x="5432696" y="1940966"/>
                  </a:lnTo>
                  <a:lnTo>
                    <a:pt x="5428743" y="1942603"/>
                  </a:lnTo>
                  <a:lnTo>
                    <a:pt x="5424669" y="1943839"/>
                  </a:lnTo>
                  <a:lnTo>
                    <a:pt x="5420474" y="1944674"/>
                  </a:lnTo>
                  <a:lnTo>
                    <a:pt x="5416278" y="1945508"/>
                  </a:lnTo>
                  <a:lnTo>
                    <a:pt x="5412041" y="1945926"/>
                  </a:lnTo>
                  <a:lnTo>
                    <a:pt x="5407763" y="1945926"/>
                  </a:lnTo>
                  <a:lnTo>
                    <a:pt x="65153" y="1945926"/>
                  </a:lnTo>
                  <a:lnTo>
                    <a:pt x="60875" y="1945926"/>
                  </a:lnTo>
                  <a:lnTo>
                    <a:pt x="56638" y="1945508"/>
                  </a:lnTo>
                  <a:lnTo>
                    <a:pt x="52442" y="1944674"/>
                  </a:lnTo>
                  <a:lnTo>
                    <a:pt x="48247" y="1943839"/>
                  </a:lnTo>
                  <a:lnTo>
                    <a:pt x="13357" y="1920526"/>
                  </a:lnTo>
                  <a:lnTo>
                    <a:pt x="0" y="1885050"/>
                  </a:lnTo>
                  <a:lnTo>
                    <a:pt x="0" y="1880772"/>
                  </a:lnTo>
                  <a:close/>
                </a:path>
              </a:pathLst>
            </a:custGeom>
            <a:ln w="8687">
              <a:solidFill>
                <a:srgbClr val="EFEFEF"/>
              </a:solidFill>
            </a:ln>
          </p:spPr>
          <p:txBody>
            <a:bodyPr wrap="square" lIns="0" tIns="0" rIns="0" bIns="0" rtlCol="0"/>
            <a:lstStyle/>
            <a:p/>
          </p:txBody>
        </p:sp>
        <p:sp>
          <p:nvSpPr>
            <p:cNvPr id="28" name="object 28"/>
            <p:cNvSpPr/>
            <p:nvPr/>
          </p:nvSpPr>
          <p:spPr>
            <a:xfrm>
              <a:off x="5186240" y="2102295"/>
              <a:ext cx="5116830" cy="8890"/>
            </a:xfrm>
            <a:custGeom>
              <a:avLst/>
              <a:gdLst/>
              <a:ahLst/>
              <a:cxnLst/>
              <a:rect l="l" t="t" r="r" b="b"/>
              <a:pathLst>
                <a:path w="5116830" h="8889">
                  <a:moveTo>
                    <a:pt x="5116743" y="8687"/>
                  </a:moveTo>
                  <a:lnTo>
                    <a:pt x="0" y="8687"/>
                  </a:lnTo>
                  <a:lnTo>
                    <a:pt x="0" y="0"/>
                  </a:lnTo>
                  <a:lnTo>
                    <a:pt x="5116743" y="0"/>
                  </a:lnTo>
                  <a:lnTo>
                    <a:pt x="5116743" y="8687"/>
                  </a:lnTo>
                  <a:close/>
                </a:path>
              </a:pathLst>
            </a:custGeom>
            <a:solidFill>
              <a:srgbClr val="F5F5F5"/>
            </a:solidFill>
          </p:spPr>
          <p:txBody>
            <a:bodyPr wrap="square" lIns="0" tIns="0" rIns="0" bIns="0" rtlCol="0"/>
            <a:lstStyle/>
            <a:p/>
          </p:txBody>
        </p:sp>
      </p:grpSp>
      <p:sp>
        <p:nvSpPr>
          <p:cNvPr id="29" name="object 29"/>
          <p:cNvSpPr txBox="1"/>
          <p:nvPr/>
        </p:nvSpPr>
        <p:spPr>
          <a:xfrm>
            <a:off x="5176391" y="1855041"/>
            <a:ext cx="1363345" cy="150495"/>
          </a:xfrm>
          <a:prstGeom prst="rect">
            <a:avLst/>
          </a:prstGeom>
        </p:spPr>
        <p:txBody>
          <a:bodyPr vert="horz" wrap="square" lIns="0" tIns="15240" rIns="0" bIns="0" rtlCol="0">
            <a:spAutoFit/>
          </a:bodyPr>
          <a:lstStyle/>
          <a:p>
            <a:pPr marL="12700">
              <a:lnSpc>
                <a:spcPct val="100000"/>
              </a:lnSpc>
              <a:spcBef>
                <a:spcPts val="120"/>
              </a:spcBef>
            </a:pPr>
            <a:r>
              <a:rPr sz="800" spc="70" dirty="0">
                <a:solidFill>
                  <a:srgbClr val="5B8BA7"/>
                </a:solidFill>
                <a:latin typeface="宋体" panose="02010600030101010101" pitchFamily="2" charset="-122"/>
                <a:cs typeface="宋体" panose="02010600030101010101" pitchFamily="2" charset="-122"/>
              </a:rPr>
              <a:t>STEP</a:t>
            </a:r>
            <a:r>
              <a:rPr sz="800" spc="-60" dirty="0">
                <a:solidFill>
                  <a:srgbClr val="5B8BA7"/>
                </a:solidFill>
                <a:latin typeface="宋体" panose="02010600030101010101" pitchFamily="2" charset="-122"/>
                <a:cs typeface="宋体" panose="02010600030101010101" pitchFamily="2" charset="-122"/>
              </a:rPr>
              <a:t> </a:t>
            </a:r>
            <a:r>
              <a:rPr sz="800" spc="-40" dirty="0">
                <a:solidFill>
                  <a:srgbClr val="5B8BA7"/>
                </a:solidFill>
                <a:latin typeface="宋体" panose="02010600030101010101" pitchFamily="2" charset="-122"/>
                <a:cs typeface="宋体" panose="02010600030101010101" pitchFamily="2" charset="-122"/>
              </a:rPr>
              <a:t>A</a:t>
            </a:r>
            <a:r>
              <a:rPr sz="800" spc="-20" dirty="0">
                <a:solidFill>
                  <a:srgbClr val="5B8BA7"/>
                </a:solidFill>
                <a:latin typeface="宋体" panose="02010600030101010101" pitchFamily="2" charset="-122"/>
                <a:cs typeface="宋体" panose="02010600030101010101" pitchFamily="2" charset="-122"/>
              </a:rPr>
              <a:t>. 前置归一化 (</a:t>
            </a:r>
            <a:r>
              <a:rPr sz="800" spc="60" dirty="0">
                <a:solidFill>
                  <a:srgbClr val="5B8BA7"/>
                </a:solidFill>
                <a:latin typeface="宋体" panose="02010600030101010101" pitchFamily="2" charset="-122"/>
                <a:cs typeface="宋体" panose="02010600030101010101" pitchFamily="2" charset="-122"/>
              </a:rPr>
              <a:t>NORM)</a:t>
            </a:r>
            <a:endParaRPr sz="800">
              <a:latin typeface="宋体" panose="02010600030101010101" pitchFamily="2" charset="-122"/>
              <a:cs typeface="宋体" panose="02010600030101010101" pitchFamily="2" charset="-122"/>
            </a:endParaRPr>
          </a:p>
        </p:txBody>
      </p:sp>
      <p:sp>
        <p:nvSpPr>
          <p:cNvPr id="30" name="object 30"/>
          <p:cNvSpPr/>
          <p:nvPr/>
        </p:nvSpPr>
        <p:spPr>
          <a:xfrm>
            <a:off x="9130215" y="1850367"/>
            <a:ext cx="1172845" cy="182880"/>
          </a:xfrm>
          <a:custGeom>
            <a:avLst/>
            <a:gdLst/>
            <a:ahLst/>
            <a:cxnLst/>
            <a:rect l="l" t="t" r="r" b="b"/>
            <a:pathLst>
              <a:path w="1172845" h="182880">
                <a:moveTo>
                  <a:pt x="1142628" y="182430"/>
                </a:moveTo>
                <a:lnTo>
                  <a:pt x="30140" y="182430"/>
                </a:lnTo>
                <a:lnTo>
                  <a:pt x="25708" y="181548"/>
                </a:lnTo>
                <a:lnTo>
                  <a:pt x="0" y="152289"/>
                </a:lnTo>
                <a:lnTo>
                  <a:pt x="0" y="147681"/>
                </a:lnTo>
                <a:lnTo>
                  <a:pt x="0" y="30140"/>
                </a:lnTo>
                <a:lnTo>
                  <a:pt x="25708" y="881"/>
                </a:lnTo>
                <a:lnTo>
                  <a:pt x="30140" y="0"/>
                </a:lnTo>
                <a:lnTo>
                  <a:pt x="1142628" y="0"/>
                </a:lnTo>
                <a:lnTo>
                  <a:pt x="1171886" y="25708"/>
                </a:lnTo>
                <a:lnTo>
                  <a:pt x="1172767" y="30140"/>
                </a:lnTo>
                <a:lnTo>
                  <a:pt x="1172767" y="152289"/>
                </a:lnTo>
                <a:lnTo>
                  <a:pt x="1147060" y="181548"/>
                </a:lnTo>
                <a:lnTo>
                  <a:pt x="1142628" y="182430"/>
                </a:lnTo>
                <a:close/>
              </a:path>
            </a:pathLst>
          </a:custGeom>
          <a:solidFill>
            <a:srgbClr val="E7F1F6"/>
          </a:solidFill>
        </p:spPr>
        <p:txBody>
          <a:bodyPr wrap="square" lIns="0" tIns="0" rIns="0" bIns="0" rtlCol="0"/>
          <a:lstStyle/>
          <a:p/>
        </p:txBody>
      </p:sp>
      <p:sp>
        <p:nvSpPr>
          <p:cNvPr id="31" name="object 31"/>
          <p:cNvSpPr txBox="1"/>
          <p:nvPr/>
        </p:nvSpPr>
        <p:spPr>
          <a:xfrm>
            <a:off x="9188370" y="1846354"/>
            <a:ext cx="1057910" cy="140335"/>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5B8BA7"/>
                </a:solidFill>
                <a:latin typeface="Courier New" panose="02070309020205020404"/>
                <a:cs typeface="Courier New" panose="02070309020205020404"/>
              </a:rPr>
              <a:t>Framework </a:t>
            </a:r>
            <a:r>
              <a:rPr sz="750" spc="-10" dirty="0">
                <a:solidFill>
                  <a:srgbClr val="5B8BA7"/>
                </a:solidFill>
                <a:latin typeface="Courier New" panose="02070309020205020404"/>
                <a:cs typeface="Courier New" panose="02070309020205020404"/>
              </a:rPr>
              <a:t>Entrance</a:t>
            </a:r>
            <a:endParaRPr sz="750">
              <a:latin typeface="Courier New" panose="02070309020205020404"/>
              <a:cs typeface="Courier New" panose="02070309020205020404"/>
            </a:endParaRPr>
          </a:p>
        </p:txBody>
      </p:sp>
      <p:grpSp>
        <p:nvGrpSpPr>
          <p:cNvPr id="32" name="object 32"/>
          <p:cNvGrpSpPr/>
          <p:nvPr/>
        </p:nvGrpSpPr>
        <p:grpSpPr>
          <a:xfrm>
            <a:off x="5003810" y="3327186"/>
            <a:ext cx="4065904" cy="765175"/>
            <a:chOff x="5003810" y="3327186"/>
            <a:chExt cx="4065904" cy="765175"/>
          </a:xfrm>
        </p:grpSpPr>
        <p:sp>
          <p:nvSpPr>
            <p:cNvPr id="33" name="object 33"/>
            <p:cNvSpPr/>
            <p:nvPr/>
          </p:nvSpPr>
          <p:spPr>
            <a:xfrm>
              <a:off x="5186240" y="3327186"/>
              <a:ext cx="52705" cy="52705"/>
            </a:xfrm>
            <a:custGeom>
              <a:avLst/>
              <a:gdLst/>
              <a:ahLst/>
              <a:cxnLst/>
              <a:rect l="l" t="t" r="r" b="b"/>
              <a:pathLst>
                <a:path w="52704" h="52704">
                  <a:moveTo>
                    <a:pt x="29517" y="52122"/>
                  </a:moveTo>
                  <a:lnTo>
                    <a:pt x="22605" y="52122"/>
                  </a:lnTo>
                  <a:lnTo>
                    <a:pt x="19281" y="51461"/>
                  </a:lnTo>
                  <a:lnTo>
                    <a:pt x="0" y="29517"/>
                  </a:lnTo>
                  <a:lnTo>
                    <a:pt x="0" y="22605"/>
                  </a:lnTo>
                  <a:lnTo>
                    <a:pt x="22605" y="0"/>
                  </a:lnTo>
                  <a:lnTo>
                    <a:pt x="29517" y="0"/>
                  </a:lnTo>
                  <a:lnTo>
                    <a:pt x="52123" y="26061"/>
                  </a:lnTo>
                  <a:lnTo>
                    <a:pt x="52123" y="29517"/>
                  </a:lnTo>
                  <a:lnTo>
                    <a:pt x="29517" y="52122"/>
                  </a:lnTo>
                  <a:close/>
                </a:path>
              </a:pathLst>
            </a:custGeom>
            <a:solidFill>
              <a:srgbClr val="5B8BA7"/>
            </a:solidFill>
          </p:spPr>
          <p:txBody>
            <a:bodyPr wrap="square" lIns="0" tIns="0" rIns="0" bIns="0" rtlCol="0"/>
            <a:lstStyle/>
            <a:p/>
          </p:txBody>
        </p:sp>
        <p:pic>
          <p:nvPicPr>
            <p:cNvPr id="34" name="object 34"/>
            <p:cNvPicPr/>
            <p:nvPr/>
          </p:nvPicPr>
          <p:blipFill>
            <a:blip r:embed="rId2" cstate="print"/>
            <a:stretch>
              <a:fillRect/>
            </a:stretch>
          </p:blipFill>
          <p:spPr>
            <a:xfrm>
              <a:off x="5003810" y="3935287"/>
              <a:ext cx="1346511" cy="8687"/>
            </a:xfrm>
            <a:prstGeom prst="rect">
              <a:avLst/>
            </a:prstGeom>
          </p:spPr>
        </p:pic>
        <p:sp>
          <p:nvSpPr>
            <p:cNvPr id="35" name="object 35"/>
            <p:cNvSpPr/>
            <p:nvPr/>
          </p:nvSpPr>
          <p:spPr>
            <a:xfrm>
              <a:off x="6424162" y="3800636"/>
              <a:ext cx="2640965" cy="287020"/>
            </a:xfrm>
            <a:custGeom>
              <a:avLst/>
              <a:gdLst/>
              <a:ahLst/>
              <a:cxnLst/>
              <a:rect l="l" t="t" r="r" b="b"/>
              <a:pathLst>
                <a:path w="2640965" h="287020">
                  <a:moveTo>
                    <a:pt x="2497561" y="286676"/>
                  </a:moveTo>
                  <a:lnTo>
                    <a:pt x="143338" y="286676"/>
                  </a:lnTo>
                  <a:lnTo>
                    <a:pt x="136296" y="286504"/>
                  </a:lnTo>
                  <a:lnTo>
                    <a:pt x="95056" y="278300"/>
                  </a:lnTo>
                  <a:lnTo>
                    <a:pt x="57944" y="258463"/>
                  </a:lnTo>
                  <a:lnTo>
                    <a:pt x="28211" y="228731"/>
                  </a:lnTo>
                  <a:lnTo>
                    <a:pt x="8375" y="191619"/>
                  </a:lnTo>
                  <a:lnTo>
                    <a:pt x="172" y="150380"/>
                  </a:lnTo>
                  <a:lnTo>
                    <a:pt x="0" y="143338"/>
                  </a:lnTo>
                  <a:lnTo>
                    <a:pt x="172" y="136296"/>
                  </a:lnTo>
                  <a:lnTo>
                    <a:pt x="8375" y="95056"/>
                  </a:lnTo>
                  <a:lnTo>
                    <a:pt x="28211" y="57944"/>
                  </a:lnTo>
                  <a:lnTo>
                    <a:pt x="57944" y="28211"/>
                  </a:lnTo>
                  <a:lnTo>
                    <a:pt x="95056" y="8374"/>
                  </a:lnTo>
                  <a:lnTo>
                    <a:pt x="136296" y="172"/>
                  </a:lnTo>
                  <a:lnTo>
                    <a:pt x="143338" y="0"/>
                  </a:lnTo>
                  <a:lnTo>
                    <a:pt x="2497561" y="0"/>
                  </a:lnTo>
                  <a:lnTo>
                    <a:pt x="2539170" y="6170"/>
                  </a:lnTo>
                  <a:lnTo>
                    <a:pt x="2577195" y="24156"/>
                  </a:lnTo>
                  <a:lnTo>
                    <a:pt x="2608364" y="52404"/>
                  </a:lnTo>
                  <a:lnTo>
                    <a:pt x="2629988" y="88484"/>
                  </a:lnTo>
                  <a:lnTo>
                    <a:pt x="2640211" y="129288"/>
                  </a:lnTo>
                  <a:lnTo>
                    <a:pt x="2640899" y="143338"/>
                  </a:lnTo>
                  <a:lnTo>
                    <a:pt x="2640727" y="150380"/>
                  </a:lnTo>
                  <a:lnTo>
                    <a:pt x="2632524" y="191619"/>
                  </a:lnTo>
                  <a:lnTo>
                    <a:pt x="2612687" y="228731"/>
                  </a:lnTo>
                  <a:lnTo>
                    <a:pt x="2582954" y="258463"/>
                  </a:lnTo>
                  <a:lnTo>
                    <a:pt x="2545842" y="278300"/>
                  </a:lnTo>
                  <a:lnTo>
                    <a:pt x="2504603" y="286504"/>
                  </a:lnTo>
                  <a:lnTo>
                    <a:pt x="2497561" y="286676"/>
                  </a:lnTo>
                  <a:close/>
                </a:path>
              </a:pathLst>
            </a:custGeom>
            <a:solidFill>
              <a:srgbClr val="E7F1F6"/>
            </a:solidFill>
          </p:spPr>
          <p:txBody>
            <a:bodyPr wrap="square" lIns="0" tIns="0" rIns="0" bIns="0" rtlCol="0"/>
            <a:lstStyle/>
            <a:p/>
          </p:txBody>
        </p:sp>
        <p:sp>
          <p:nvSpPr>
            <p:cNvPr id="36" name="object 36"/>
            <p:cNvSpPr/>
            <p:nvPr/>
          </p:nvSpPr>
          <p:spPr>
            <a:xfrm>
              <a:off x="6424162" y="3800636"/>
              <a:ext cx="2640965" cy="287020"/>
            </a:xfrm>
            <a:custGeom>
              <a:avLst/>
              <a:gdLst/>
              <a:ahLst/>
              <a:cxnLst/>
              <a:rect l="l" t="t" r="r" b="b"/>
              <a:pathLst>
                <a:path w="2640965" h="287020">
                  <a:moveTo>
                    <a:pt x="0" y="143338"/>
                  </a:moveTo>
                  <a:lnTo>
                    <a:pt x="6170" y="101728"/>
                  </a:lnTo>
                  <a:lnTo>
                    <a:pt x="24156" y="63703"/>
                  </a:lnTo>
                  <a:lnTo>
                    <a:pt x="52404" y="32534"/>
                  </a:lnTo>
                  <a:lnTo>
                    <a:pt x="88484" y="10910"/>
                  </a:lnTo>
                  <a:lnTo>
                    <a:pt x="129288" y="688"/>
                  </a:lnTo>
                  <a:lnTo>
                    <a:pt x="143338" y="0"/>
                  </a:lnTo>
                  <a:lnTo>
                    <a:pt x="2497561" y="0"/>
                  </a:lnTo>
                  <a:lnTo>
                    <a:pt x="2539170" y="6170"/>
                  </a:lnTo>
                  <a:lnTo>
                    <a:pt x="2577195" y="24156"/>
                  </a:lnTo>
                  <a:lnTo>
                    <a:pt x="2608364" y="52404"/>
                  </a:lnTo>
                  <a:lnTo>
                    <a:pt x="2629988" y="88484"/>
                  </a:lnTo>
                  <a:lnTo>
                    <a:pt x="2640211" y="129288"/>
                  </a:lnTo>
                  <a:lnTo>
                    <a:pt x="2640899" y="143338"/>
                  </a:lnTo>
                  <a:lnTo>
                    <a:pt x="2640727" y="150380"/>
                  </a:lnTo>
                  <a:lnTo>
                    <a:pt x="2632524" y="191619"/>
                  </a:lnTo>
                  <a:lnTo>
                    <a:pt x="2612687" y="228731"/>
                  </a:lnTo>
                  <a:lnTo>
                    <a:pt x="2582954" y="258463"/>
                  </a:lnTo>
                  <a:lnTo>
                    <a:pt x="2545842" y="278300"/>
                  </a:lnTo>
                  <a:lnTo>
                    <a:pt x="2504603" y="286504"/>
                  </a:lnTo>
                  <a:lnTo>
                    <a:pt x="2497561" y="286676"/>
                  </a:lnTo>
                  <a:lnTo>
                    <a:pt x="143338" y="286676"/>
                  </a:lnTo>
                  <a:lnTo>
                    <a:pt x="101728" y="280505"/>
                  </a:lnTo>
                  <a:lnTo>
                    <a:pt x="63703" y="262519"/>
                  </a:lnTo>
                  <a:lnTo>
                    <a:pt x="32534" y="234271"/>
                  </a:lnTo>
                  <a:lnTo>
                    <a:pt x="10910" y="198191"/>
                  </a:lnTo>
                  <a:lnTo>
                    <a:pt x="688" y="157388"/>
                  </a:lnTo>
                  <a:lnTo>
                    <a:pt x="0" y="143338"/>
                  </a:lnTo>
                  <a:close/>
                </a:path>
              </a:pathLst>
            </a:custGeom>
            <a:ln w="8687">
              <a:solidFill>
                <a:srgbClr val="CBDBE6"/>
              </a:solidFill>
            </a:ln>
          </p:spPr>
          <p:txBody>
            <a:bodyPr wrap="square" lIns="0" tIns="0" rIns="0" bIns="0" rtlCol="0"/>
            <a:lstStyle/>
            <a:p/>
          </p:txBody>
        </p:sp>
      </p:grpSp>
      <p:sp>
        <p:nvSpPr>
          <p:cNvPr id="37" name="object 37"/>
          <p:cNvSpPr txBox="1"/>
          <p:nvPr/>
        </p:nvSpPr>
        <p:spPr>
          <a:xfrm>
            <a:off x="5298011" y="3257498"/>
            <a:ext cx="4369435" cy="167005"/>
          </a:xfrm>
          <a:prstGeom prst="rect">
            <a:avLst/>
          </a:prstGeom>
        </p:spPr>
        <p:txBody>
          <a:bodyPr vert="horz" wrap="square" lIns="0" tIns="15875" rIns="0" bIns="0" rtlCol="0">
            <a:spAutoFit/>
          </a:bodyPr>
          <a:lstStyle/>
          <a:p>
            <a:pPr marL="12700">
              <a:lnSpc>
                <a:spcPct val="100000"/>
              </a:lnSpc>
              <a:spcBef>
                <a:spcPts val="125"/>
              </a:spcBef>
            </a:pPr>
            <a:r>
              <a:rPr sz="900" b="1" spc="-90" dirty="0">
                <a:solidFill>
                  <a:srgbClr val="4A4A4A"/>
                </a:solidFill>
                <a:latin typeface="微软雅黑" panose="020B0503020204020204" charset="-122"/>
                <a:cs typeface="微软雅黑" panose="020B0503020204020204" charset="-122"/>
              </a:rPr>
              <a:t>物理意义</a:t>
            </a:r>
            <a:r>
              <a:rPr sz="900" b="1" spc="100" dirty="0">
                <a:solidFill>
                  <a:srgbClr val="4A4A4A"/>
                </a:solidFill>
                <a:latin typeface="Microsoft New Tai Lue" panose="020B0502040204020203"/>
                <a:cs typeface="Microsoft New Tai Lue" panose="020B0502040204020203"/>
              </a:rPr>
              <a:t>：  </a:t>
            </a:r>
            <a:r>
              <a:rPr sz="900" spc="-90" dirty="0">
                <a:solidFill>
                  <a:srgbClr val="4A4A4A"/>
                </a:solidFill>
                <a:latin typeface="宋体" panose="02010600030101010101" pitchFamily="2" charset="-122"/>
                <a:cs typeface="宋体" panose="02010600030101010101" pitchFamily="2" charset="-122"/>
              </a:rPr>
              <a:t>在数据入口处，拉伸特征为标准高斯分布，抹除时间轴上的均值漂移与幅值抖动。</a:t>
            </a:r>
            <a:endParaRPr sz="900">
              <a:latin typeface="宋体" panose="02010600030101010101" pitchFamily="2" charset="-122"/>
              <a:cs typeface="宋体" panose="02010600030101010101" pitchFamily="2" charset="-122"/>
            </a:endParaRPr>
          </a:p>
        </p:txBody>
      </p:sp>
      <p:sp>
        <p:nvSpPr>
          <p:cNvPr id="38" name="object 38"/>
          <p:cNvSpPr txBox="1"/>
          <p:nvPr/>
        </p:nvSpPr>
        <p:spPr>
          <a:xfrm>
            <a:off x="6555071" y="3887839"/>
            <a:ext cx="2372995" cy="130175"/>
          </a:xfrm>
          <a:prstGeom prst="rect">
            <a:avLst/>
          </a:prstGeom>
        </p:spPr>
        <p:txBody>
          <a:bodyPr vert="horz" wrap="square" lIns="0" tIns="17145" rIns="0" bIns="0" rtlCol="0">
            <a:spAutoFit/>
          </a:bodyPr>
          <a:lstStyle/>
          <a:p>
            <a:pPr marL="12700">
              <a:lnSpc>
                <a:spcPct val="100000"/>
              </a:lnSpc>
              <a:spcBef>
                <a:spcPts val="135"/>
              </a:spcBef>
            </a:pPr>
            <a:r>
              <a:rPr sz="650" spc="160" dirty="0">
                <a:solidFill>
                  <a:srgbClr val="5B8BA7"/>
                </a:solidFill>
                <a:latin typeface="宋体" panose="02010600030101010101" pitchFamily="2" charset="-122"/>
                <a:cs typeface="宋体" panose="02010600030101010101" pitchFamily="2" charset="-122"/>
              </a:rPr>
              <a:t>MODEL</a:t>
            </a:r>
            <a:r>
              <a:rPr sz="650" spc="45" dirty="0">
                <a:solidFill>
                  <a:srgbClr val="5B8BA7"/>
                </a:solidFill>
                <a:latin typeface="宋体" panose="02010600030101010101" pitchFamily="2" charset="-122"/>
                <a:cs typeface="宋体" panose="02010600030101010101" pitchFamily="2" charset="-122"/>
              </a:rPr>
              <a:t> </a:t>
            </a:r>
            <a:r>
              <a:rPr sz="650" spc="100" dirty="0">
                <a:solidFill>
                  <a:srgbClr val="5B8BA7"/>
                </a:solidFill>
                <a:latin typeface="宋体" panose="02010600030101010101" pitchFamily="2" charset="-122"/>
                <a:cs typeface="宋体" panose="02010600030101010101" pitchFamily="2" charset="-122"/>
              </a:rPr>
              <a:t>GENERALIZATION</a:t>
            </a:r>
            <a:r>
              <a:rPr sz="650" spc="50" dirty="0">
                <a:solidFill>
                  <a:srgbClr val="5B8BA7"/>
                </a:solidFill>
                <a:latin typeface="宋体" panose="02010600030101010101" pitchFamily="2" charset="-122"/>
                <a:cs typeface="宋体" panose="02010600030101010101" pitchFamily="2" charset="-122"/>
              </a:rPr>
              <a:t> </a:t>
            </a:r>
            <a:r>
              <a:rPr sz="650" spc="105" dirty="0">
                <a:solidFill>
                  <a:srgbClr val="5B8BA7"/>
                </a:solidFill>
                <a:latin typeface="宋体" panose="02010600030101010101" pitchFamily="2" charset="-122"/>
                <a:cs typeface="宋体" panose="02010600030101010101" pitchFamily="2" charset="-122"/>
              </a:rPr>
              <a:t>INFERENCE</a:t>
            </a:r>
            <a:r>
              <a:rPr sz="650" spc="5" dirty="0">
                <a:solidFill>
                  <a:srgbClr val="5B8BA7"/>
                </a:solidFill>
                <a:latin typeface="宋体" panose="02010600030101010101" pitchFamily="2" charset="-122"/>
                <a:cs typeface="宋体" panose="02010600030101010101" pitchFamily="2" charset="-122"/>
              </a:rPr>
              <a:t> ( 模型因果提取)</a:t>
            </a:r>
            <a:endParaRPr sz="650">
              <a:latin typeface="宋体" panose="02010600030101010101" pitchFamily="2" charset="-122"/>
              <a:cs typeface="宋体" panose="02010600030101010101" pitchFamily="2" charset="-122"/>
            </a:endParaRPr>
          </a:p>
        </p:txBody>
      </p:sp>
      <p:grpSp>
        <p:nvGrpSpPr>
          <p:cNvPr id="39" name="object 39"/>
          <p:cNvGrpSpPr/>
          <p:nvPr/>
        </p:nvGrpSpPr>
        <p:grpSpPr>
          <a:xfrm>
            <a:off x="5003708" y="3935288"/>
            <a:ext cx="5481955" cy="2285365"/>
            <a:chOff x="5003708" y="3935288"/>
            <a:chExt cx="5481955" cy="2285365"/>
          </a:xfrm>
        </p:grpSpPr>
        <p:pic>
          <p:nvPicPr>
            <p:cNvPr id="40" name="object 40"/>
            <p:cNvPicPr/>
            <p:nvPr/>
          </p:nvPicPr>
          <p:blipFill>
            <a:blip r:embed="rId3" cstate="print"/>
            <a:stretch>
              <a:fillRect/>
            </a:stretch>
          </p:blipFill>
          <p:spPr>
            <a:xfrm>
              <a:off x="9138903" y="3935288"/>
              <a:ext cx="1346511" cy="8687"/>
            </a:xfrm>
            <a:prstGeom prst="rect">
              <a:avLst/>
            </a:prstGeom>
          </p:spPr>
        </p:pic>
        <p:sp>
          <p:nvSpPr>
            <p:cNvPr id="41" name="object 41"/>
            <p:cNvSpPr/>
            <p:nvPr/>
          </p:nvSpPr>
          <p:spPr>
            <a:xfrm>
              <a:off x="5008153" y="4269744"/>
              <a:ext cx="5473065" cy="1946275"/>
            </a:xfrm>
            <a:custGeom>
              <a:avLst/>
              <a:gdLst/>
              <a:ahLst/>
              <a:cxnLst/>
              <a:rect l="l" t="t" r="r" b="b"/>
              <a:pathLst>
                <a:path w="5473065" h="1946275">
                  <a:moveTo>
                    <a:pt x="5412041" y="1945926"/>
                  </a:moveTo>
                  <a:lnTo>
                    <a:pt x="60875" y="1945926"/>
                  </a:lnTo>
                  <a:lnTo>
                    <a:pt x="56638" y="1945508"/>
                  </a:lnTo>
                  <a:lnTo>
                    <a:pt x="16058" y="1923817"/>
                  </a:lnTo>
                  <a:lnTo>
                    <a:pt x="0" y="1885050"/>
                  </a:lnTo>
                  <a:lnTo>
                    <a:pt x="0" y="1880772"/>
                  </a:lnTo>
                  <a:lnTo>
                    <a:pt x="0" y="60875"/>
                  </a:lnTo>
                  <a:lnTo>
                    <a:pt x="16058" y="22107"/>
                  </a:lnTo>
                  <a:lnTo>
                    <a:pt x="56638" y="417"/>
                  </a:lnTo>
                  <a:lnTo>
                    <a:pt x="60875" y="0"/>
                  </a:lnTo>
                  <a:lnTo>
                    <a:pt x="5412041" y="0"/>
                  </a:lnTo>
                  <a:lnTo>
                    <a:pt x="5450808" y="16057"/>
                  </a:lnTo>
                  <a:lnTo>
                    <a:pt x="5472500" y="56638"/>
                  </a:lnTo>
                  <a:lnTo>
                    <a:pt x="5472917" y="60875"/>
                  </a:lnTo>
                  <a:lnTo>
                    <a:pt x="5472917" y="1885050"/>
                  </a:lnTo>
                  <a:lnTo>
                    <a:pt x="5456859" y="1923817"/>
                  </a:lnTo>
                  <a:lnTo>
                    <a:pt x="5416278" y="1945508"/>
                  </a:lnTo>
                  <a:lnTo>
                    <a:pt x="5412041" y="1945926"/>
                  </a:lnTo>
                  <a:close/>
                </a:path>
              </a:pathLst>
            </a:custGeom>
            <a:solidFill>
              <a:srgbClr val="FFFFFF"/>
            </a:solidFill>
          </p:spPr>
          <p:txBody>
            <a:bodyPr wrap="square" lIns="0" tIns="0" rIns="0" bIns="0" rtlCol="0"/>
            <a:lstStyle/>
            <a:p/>
          </p:txBody>
        </p:sp>
        <p:sp>
          <p:nvSpPr>
            <p:cNvPr id="42" name="object 42"/>
            <p:cNvSpPr/>
            <p:nvPr/>
          </p:nvSpPr>
          <p:spPr>
            <a:xfrm>
              <a:off x="5008153" y="4269744"/>
              <a:ext cx="5473065" cy="1946275"/>
            </a:xfrm>
            <a:custGeom>
              <a:avLst/>
              <a:gdLst/>
              <a:ahLst/>
              <a:cxnLst/>
              <a:rect l="l" t="t" r="r" b="b"/>
              <a:pathLst>
                <a:path w="5473065" h="1946275">
                  <a:moveTo>
                    <a:pt x="0" y="1880772"/>
                  </a:moveTo>
                  <a:lnTo>
                    <a:pt x="0" y="65153"/>
                  </a:lnTo>
                  <a:lnTo>
                    <a:pt x="0" y="60875"/>
                  </a:lnTo>
                  <a:lnTo>
                    <a:pt x="417" y="56638"/>
                  </a:lnTo>
                  <a:lnTo>
                    <a:pt x="19083" y="19083"/>
                  </a:lnTo>
                  <a:lnTo>
                    <a:pt x="22108" y="16057"/>
                  </a:lnTo>
                  <a:lnTo>
                    <a:pt x="60875" y="0"/>
                  </a:lnTo>
                  <a:lnTo>
                    <a:pt x="65153" y="0"/>
                  </a:lnTo>
                  <a:lnTo>
                    <a:pt x="5407763" y="0"/>
                  </a:lnTo>
                  <a:lnTo>
                    <a:pt x="5412041" y="0"/>
                  </a:lnTo>
                  <a:lnTo>
                    <a:pt x="5416278" y="417"/>
                  </a:lnTo>
                  <a:lnTo>
                    <a:pt x="5420474" y="1251"/>
                  </a:lnTo>
                  <a:lnTo>
                    <a:pt x="5424669" y="2086"/>
                  </a:lnTo>
                  <a:lnTo>
                    <a:pt x="5428743" y="3322"/>
                  </a:lnTo>
                  <a:lnTo>
                    <a:pt x="5432696" y="4959"/>
                  </a:lnTo>
                  <a:lnTo>
                    <a:pt x="5436648" y="6596"/>
                  </a:lnTo>
                  <a:lnTo>
                    <a:pt x="5440403" y="8603"/>
                  </a:lnTo>
                  <a:lnTo>
                    <a:pt x="5443960" y="10980"/>
                  </a:lnTo>
                  <a:lnTo>
                    <a:pt x="5447517" y="13356"/>
                  </a:lnTo>
                  <a:lnTo>
                    <a:pt x="5461935" y="28955"/>
                  </a:lnTo>
                  <a:lnTo>
                    <a:pt x="5464312" y="32513"/>
                  </a:lnTo>
                  <a:lnTo>
                    <a:pt x="5466320" y="36267"/>
                  </a:lnTo>
                  <a:lnTo>
                    <a:pt x="5467957" y="40220"/>
                  </a:lnTo>
                  <a:lnTo>
                    <a:pt x="5469594" y="44172"/>
                  </a:lnTo>
                  <a:lnTo>
                    <a:pt x="5470830" y="48246"/>
                  </a:lnTo>
                  <a:lnTo>
                    <a:pt x="5471664" y="52442"/>
                  </a:lnTo>
                  <a:lnTo>
                    <a:pt x="5472500" y="56638"/>
                  </a:lnTo>
                  <a:lnTo>
                    <a:pt x="5472917" y="60875"/>
                  </a:lnTo>
                  <a:lnTo>
                    <a:pt x="5472917" y="65153"/>
                  </a:lnTo>
                  <a:lnTo>
                    <a:pt x="5472917" y="1880772"/>
                  </a:lnTo>
                  <a:lnTo>
                    <a:pt x="5472917" y="1885050"/>
                  </a:lnTo>
                  <a:lnTo>
                    <a:pt x="5472500" y="1889287"/>
                  </a:lnTo>
                  <a:lnTo>
                    <a:pt x="5471664" y="1893482"/>
                  </a:lnTo>
                  <a:lnTo>
                    <a:pt x="5470830" y="1897678"/>
                  </a:lnTo>
                  <a:lnTo>
                    <a:pt x="5469594" y="1901752"/>
                  </a:lnTo>
                  <a:lnTo>
                    <a:pt x="5467957" y="1905705"/>
                  </a:lnTo>
                  <a:lnTo>
                    <a:pt x="5466320" y="1909657"/>
                  </a:lnTo>
                  <a:lnTo>
                    <a:pt x="5464312" y="1913412"/>
                  </a:lnTo>
                  <a:lnTo>
                    <a:pt x="5461935" y="1916969"/>
                  </a:lnTo>
                  <a:lnTo>
                    <a:pt x="5459559" y="1920526"/>
                  </a:lnTo>
                  <a:lnTo>
                    <a:pt x="5432696" y="1940965"/>
                  </a:lnTo>
                  <a:lnTo>
                    <a:pt x="5428743" y="1942603"/>
                  </a:lnTo>
                  <a:lnTo>
                    <a:pt x="5424669" y="1943839"/>
                  </a:lnTo>
                  <a:lnTo>
                    <a:pt x="5420474" y="1944673"/>
                  </a:lnTo>
                  <a:lnTo>
                    <a:pt x="5416278" y="1945508"/>
                  </a:lnTo>
                  <a:lnTo>
                    <a:pt x="5412041" y="1945926"/>
                  </a:lnTo>
                  <a:lnTo>
                    <a:pt x="5407763" y="1945926"/>
                  </a:lnTo>
                  <a:lnTo>
                    <a:pt x="65153" y="1945926"/>
                  </a:lnTo>
                  <a:lnTo>
                    <a:pt x="60875" y="1945926"/>
                  </a:lnTo>
                  <a:lnTo>
                    <a:pt x="56638" y="1945508"/>
                  </a:lnTo>
                  <a:lnTo>
                    <a:pt x="52442" y="1944673"/>
                  </a:lnTo>
                  <a:lnTo>
                    <a:pt x="48247" y="1943839"/>
                  </a:lnTo>
                  <a:lnTo>
                    <a:pt x="19083" y="1926842"/>
                  </a:lnTo>
                  <a:lnTo>
                    <a:pt x="16058" y="1923817"/>
                  </a:lnTo>
                  <a:lnTo>
                    <a:pt x="0" y="1885050"/>
                  </a:lnTo>
                  <a:lnTo>
                    <a:pt x="0" y="1880772"/>
                  </a:lnTo>
                  <a:close/>
                </a:path>
              </a:pathLst>
            </a:custGeom>
            <a:ln w="8687">
              <a:solidFill>
                <a:srgbClr val="EFEFEF"/>
              </a:solidFill>
            </a:ln>
          </p:spPr>
          <p:txBody>
            <a:bodyPr wrap="square" lIns="0" tIns="0" rIns="0" bIns="0" rtlCol="0"/>
            <a:lstStyle/>
            <a:p/>
          </p:txBody>
        </p:sp>
        <p:sp>
          <p:nvSpPr>
            <p:cNvPr id="43" name="object 43"/>
            <p:cNvSpPr/>
            <p:nvPr/>
          </p:nvSpPr>
          <p:spPr>
            <a:xfrm>
              <a:off x="5186240" y="4691071"/>
              <a:ext cx="5116830" cy="8890"/>
            </a:xfrm>
            <a:custGeom>
              <a:avLst/>
              <a:gdLst/>
              <a:ahLst/>
              <a:cxnLst/>
              <a:rect l="l" t="t" r="r" b="b"/>
              <a:pathLst>
                <a:path w="5116830" h="8889">
                  <a:moveTo>
                    <a:pt x="5116743" y="8687"/>
                  </a:moveTo>
                  <a:lnTo>
                    <a:pt x="0" y="8687"/>
                  </a:lnTo>
                  <a:lnTo>
                    <a:pt x="0" y="0"/>
                  </a:lnTo>
                  <a:lnTo>
                    <a:pt x="5116743" y="0"/>
                  </a:lnTo>
                  <a:lnTo>
                    <a:pt x="5116743" y="8687"/>
                  </a:lnTo>
                  <a:close/>
                </a:path>
              </a:pathLst>
            </a:custGeom>
            <a:solidFill>
              <a:srgbClr val="F5F5F5"/>
            </a:solidFill>
          </p:spPr>
          <p:txBody>
            <a:bodyPr wrap="square" lIns="0" tIns="0" rIns="0" bIns="0" rtlCol="0"/>
            <a:lstStyle/>
            <a:p/>
          </p:txBody>
        </p:sp>
      </p:grpSp>
      <p:sp>
        <p:nvSpPr>
          <p:cNvPr id="44" name="object 44"/>
          <p:cNvSpPr txBox="1"/>
          <p:nvPr/>
        </p:nvSpPr>
        <p:spPr>
          <a:xfrm>
            <a:off x="5176391" y="4452505"/>
            <a:ext cx="1608455" cy="150495"/>
          </a:xfrm>
          <a:prstGeom prst="rect">
            <a:avLst/>
          </a:prstGeom>
        </p:spPr>
        <p:txBody>
          <a:bodyPr vert="horz" wrap="square" lIns="0" tIns="15240" rIns="0" bIns="0" rtlCol="0">
            <a:spAutoFit/>
          </a:bodyPr>
          <a:lstStyle/>
          <a:p>
            <a:pPr marL="12700">
              <a:lnSpc>
                <a:spcPct val="100000"/>
              </a:lnSpc>
              <a:spcBef>
                <a:spcPts val="120"/>
              </a:spcBef>
            </a:pPr>
            <a:r>
              <a:rPr sz="800" spc="70" dirty="0">
                <a:solidFill>
                  <a:srgbClr val="D4A573"/>
                </a:solidFill>
                <a:latin typeface="宋体" panose="02010600030101010101" pitchFamily="2" charset="-122"/>
                <a:cs typeface="宋体" panose="02010600030101010101" pitchFamily="2" charset="-122"/>
              </a:rPr>
              <a:t>STEP</a:t>
            </a:r>
            <a:r>
              <a:rPr sz="800" spc="-45" dirty="0">
                <a:solidFill>
                  <a:srgbClr val="D4A573"/>
                </a:solidFill>
                <a:latin typeface="宋体" panose="02010600030101010101" pitchFamily="2" charset="-122"/>
                <a:cs typeface="宋体" panose="02010600030101010101" pitchFamily="2" charset="-122"/>
              </a:rPr>
              <a:t> </a:t>
            </a:r>
            <a:r>
              <a:rPr sz="800" spc="-20" dirty="0">
                <a:solidFill>
                  <a:srgbClr val="D4A573"/>
                </a:solidFill>
                <a:latin typeface="宋体" panose="02010600030101010101" pitchFamily="2" charset="-122"/>
                <a:cs typeface="宋体" panose="02010600030101010101" pitchFamily="2" charset="-122"/>
              </a:rPr>
              <a:t>B</a:t>
            </a:r>
            <a:r>
              <a:rPr sz="800" spc="-15" dirty="0">
                <a:solidFill>
                  <a:srgbClr val="D4A573"/>
                </a:solidFill>
                <a:latin typeface="宋体" panose="02010600030101010101" pitchFamily="2" charset="-122"/>
                <a:cs typeface="宋体" panose="02010600030101010101" pitchFamily="2" charset="-122"/>
              </a:rPr>
              <a:t>. 后置反归一化 (</a:t>
            </a:r>
            <a:r>
              <a:rPr sz="800" spc="75" dirty="0">
                <a:solidFill>
                  <a:srgbClr val="D4A573"/>
                </a:solidFill>
                <a:latin typeface="宋体" panose="02010600030101010101" pitchFamily="2" charset="-122"/>
                <a:cs typeface="宋体" panose="02010600030101010101" pitchFamily="2" charset="-122"/>
              </a:rPr>
              <a:t>DENORM)</a:t>
            </a:r>
            <a:endParaRPr sz="800">
              <a:latin typeface="宋体" panose="02010600030101010101" pitchFamily="2" charset="-122"/>
              <a:cs typeface="宋体" panose="02010600030101010101" pitchFamily="2" charset="-122"/>
            </a:endParaRPr>
          </a:p>
        </p:txBody>
      </p:sp>
      <p:sp>
        <p:nvSpPr>
          <p:cNvPr id="45" name="object 45"/>
          <p:cNvSpPr/>
          <p:nvPr/>
        </p:nvSpPr>
        <p:spPr>
          <a:xfrm>
            <a:off x="9303958" y="4447831"/>
            <a:ext cx="999490" cy="173990"/>
          </a:xfrm>
          <a:custGeom>
            <a:avLst/>
            <a:gdLst/>
            <a:ahLst/>
            <a:cxnLst/>
            <a:rect l="l" t="t" r="r" b="b"/>
            <a:pathLst>
              <a:path w="999490" h="173989">
                <a:moveTo>
                  <a:pt x="968884" y="173743"/>
                </a:moveTo>
                <a:lnTo>
                  <a:pt x="30141" y="173743"/>
                </a:lnTo>
                <a:lnTo>
                  <a:pt x="25708" y="172861"/>
                </a:lnTo>
                <a:lnTo>
                  <a:pt x="0" y="143602"/>
                </a:lnTo>
                <a:lnTo>
                  <a:pt x="0" y="138994"/>
                </a:lnTo>
                <a:lnTo>
                  <a:pt x="0" y="30140"/>
                </a:lnTo>
                <a:lnTo>
                  <a:pt x="25708" y="881"/>
                </a:lnTo>
                <a:lnTo>
                  <a:pt x="30141" y="0"/>
                </a:lnTo>
                <a:lnTo>
                  <a:pt x="968884" y="0"/>
                </a:lnTo>
                <a:lnTo>
                  <a:pt x="998142" y="25707"/>
                </a:lnTo>
                <a:lnTo>
                  <a:pt x="999024" y="30140"/>
                </a:lnTo>
                <a:lnTo>
                  <a:pt x="999024" y="143602"/>
                </a:lnTo>
                <a:lnTo>
                  <a:pt x="973316" y="172861"/>
                </a:lnTo>
                <a:lnTo>
                  <a:pt x="968884" y="173743"/>
                </a:lnTo>
                <a:close/>
              </a:path>
            </a:pathLst>
          </a:custGeom>
          <a:solidFill>
            <a:srgbClr val="FFF5E7"/>
          </a:solidFill>
        </p:spPr>
        <p:txBody>
          <a:bodyPr wrap="square" lIns="0" tIns="0" rIns="0" bIns="0" rtlCol="0"/>
          <a:lstStyle/>
          <a:p/>
        </p:txBody>
      </p:sp>
      <p:sp>
        <p:nvSpPr>
          <p:cNvPr id="46" name="object 46"/>
          <p:cNvSpPr txBox="1"/>
          <p:nvPr/>
        </p:nvSpPr>
        <p:spPr>
          <a:xfrm>
            <a:off x="9360349" y="4443818"/>
            <a:ext cx="885825" cy="140335"/>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D4A573"/>
                </a:solidFill>
                <a:latin typeface="Courier New" panose="02070309020205020404"/>
                <a:cs typeface="Courier New" panose="02070309020205020404"/>
              </a:rPr>
              <a:t>Prediction </a:t>
            </a:r>
            <a:r>
              <a:rPr sz="750" spc="-20" dirty="0">
                <a:solidFill>
                  <a:srgbClr val="D4A573"/>
                </a:solidFill>
                <a:latin typeface="Courier New" panose="02070309020205020404"/>
                <a:cs typeface="Courier New" panose="02070309020205020404"/>
              </a:rPr>
              <a:t>Exit</a:t>
            </a:r>
            <a:endParaRPr sz="750">
              <a:latin typeface="Courier New" panose="02070309020205020404"/>
              <a:cs typeface="Courier New" panose="02070309020205020404"/>
            </a:endParaRPr>
          </a:p>
        </p:txBody>
      </p:sp>
      <p:sp>
        <p:nvSpPr>
          <p:cNvPr id="48" name="object 48"/>
          <p:cNvSpPr/>
          <p:nvPr/>
        </p:nvSpPr>
        <p:spPr>
          <a:xfrm>
            <a:off x="5186045" y="5933440"/>
            <a:ext cx="52705" cy="52705"/>
          </a:xfrm>
          <a:custGeom>
            <a:avLst/>
            <a:gdLst/>
            <a:ahLst/>
            <a:cxnLst/>
            <a:rect l="l" t="t" r="r" b="b"/>
            <a:pathLst>
              <a:path w="52704" h="52704">
                <a:moveTo>
                  <a:pt x="29517" y="52123"/>
                </a:moveTo>
                <a:lnTo>
                  <a:pt x="22605" y="52123"/>
                </a:lnTo>
                <a:lnTo>
                  <a:pt x="19281" y="51461"/>
                </a:lnTo>
                <a:lnTo>
                  <a:pt x="0" y="29517"/>
                </a:lnTo>
                <a:lnTo>
                  <a:pt x="0" y="22604"/>
                </a:lnTo>
                <a:lnTo>
                  <a:pt x="22605" y="0"/>
                </a:lnTo>
                <a:lnTo>
                  <a:pt x="29517" y="0"/>
                </a:lnTo>
                <a:lnTo>
                  <a:pt x="52123" y="26061"/>
                </a:lnTo>
                <a:lnTo>
                  <a:pt x="52123" y="29517"/>
                </a:lnTo>
                <a:lnTo>
                  <a:pt x="29517" y="52123"/>
                </a:lnTo>
                <a:close/>
              </a:path>
            </a:pathLst>
          </a:custGeom>
          <a:solidFill>
            <a:srgbClr val="D4A573"/>
          </a:solidFill>
        </p:spPr>
        <p:txBody>
          <a:bodyPr wrap="square" lIns="0" tIns="0" rIns="0" bIns="0" rtlCol="0"/>
          <a:lstStyle/>
          <a:p/>
        </p:txBody>
      </p:sp>
      <p:sp>
        <p:nvSpPr>
          <p:cNvPr id="50" name="object 50"/>
          <p:cNvSpPr txBox="1"/>
          <p:nvPr/>
        </p:nvSpPr>
        <p:spPr>
          <a:xfrm>
            <a:off x="5298011" y="5863649"/>
            <a:ext cx="4369435" cy="167005"/>
          </a:xfrm>
          <a:prstGeom prst="rect">
            <a:avLst/>
          </a:prstGeom>
        </p:spPr>
        <p:txBody>
          <a:bodyPr vert="horz" wrap="square" lIns="0" tIns="15875" rIns="0" bIns="0" rtlCol="0">
            <a:spAutoFit/>
          </a:bodyPr>
          <a:lstStyle/>
          <a:p>
            <a:pPr marL="12700">
              <a:lnSpc>
                <a:spcPct val="100000"/>
              </a:lnSpc>
              <a:spcBef>
                <a:spcPts val="125"/>
              </a:spcBef>
            </a:pPr>
            <a:r>
              <a:rPr sz="900" b="1" spc="-90" dirty="0">
                <a:solidFill>
                  <a:srgbClr val="4A4A4A"/>
                </a:solidFill>
                <a:latin typeface="微软雅黑" panose="020B0503020204020204" charset="-122"/>
                <a:cs typeface="微软雅黑" panose="020B0503020204020204" charset="-122"/>
              </a:rPr>
              <a:t>物理意义</a:t>
            </a:r>
            <a:r>
              <a:rPr sz="900" b="1" spc="100" dirty="0">
                <a:solidFill>
                  <a:srgbClr val="4A4A4A"/>
                </a:solidFill>
                <a:latin typeface="Microsoft New Tai Lue" panose="020B0502040204020203"/>
                <a:cs typeface="Microsoft New Tai Lue" panose="020B0502040204020203"/>
              </a:rPr>
              <a:t>：  </a:t>
            </a:r>
            <a:r>
              <a:rPr sz="900" spc="-90" dirty="0">
                <a:solidFill>
                  <a:srgbClr val="4A4A4A"/>
                </a:solidFill>
                <a:latin typeface="宋体" panose="02010600030101010101" pitchFamily="2" charset="-122"/>
                <a:cs typeface="宋体" panose="02010600030101010101" pitchFamily="2" charset="-122"/>
              </a:rPr>
              <a:t>预测完毕后，将高斯分布下的泛化预测结果完美还原并映射回原物理空间的值域。</a:t>
            </a:r>
            <a:endParaRPr sz="900">
              <a:latin typeface="宋体" panose="02010600030101010101" pitchFamily="2" charset="-122"/>
              <a:cs typeface="宋体" panose="02010600030101010101" pitchFamily="2" charset="-122"/>
            </a:endParaRPr>
          </a:p>
        </p:txBody>
      </p:sp>
      <p:sp>
        <p:nvSpPr>
          <p:cNvPr id="51" name="object 51"/>
          <p:cNvSpPr txBox="1"/>
          <p:nvPr/>
        </p:nvSpPr>
        <p:spPr>
          <a:xfrm>
            <a:off x="6490155" y="2567660"/>
            <a:ext cx="1104265" cy="238760"/>
          </a:xfrm>
          <a:prstGeom prst="rect">
            <a:avLst/>
          </a:prstGeom>
        </p:spPr>
        <p:txBody>
          <a:bodyPr vert="horz" wrap="square" lIns="0" tIns="16510" rIns="0" bIns="0" rtlCol="0">
            <a:spAutoFit/>
          </a:bodyPr>
          <a:lstStyle/>
          <a:p>
            <a:pPr marL="63500">
              <a:lnSpc>
                <a:spcPts val="1030"/>
              </a:lnSpc>
              <a:spcBef>
                <a:spcPts val="130"/>
              </a:spcBef>
              <a:tabLst>
                <a:tab pos="554990" algn="l"/>
              </a:tabLst>
            </a:pPr>
            <a:r>
              <a:rPr sz="1200" spc="50" dirty="0">
                <a:solidFill>
                  <a:srgbClr val="1A1A1A"/>
                </a:solidFill>
                <a:latin typeface="Cambria" panose="02040503050406030204"/>
                <a:cs typeface="Cambria" panose="02040503050406030204"/>
              </a:rPr>
              <a:t>[</a:t>
            </a:r>
            <a:r>
              <a:rPr sz="1200" b="1" spc="50" dirty="0">
                <a:solidFill>
                  <a:srgbClr val="1A1A1A"/>
                </a:solidFill>
                <a:latin typeface="Georgia" panose="02040502050405020303"/>
                <a:cs typeface="Georgia" panose="02040502050405020303"/>
              </a:rPr>
              <a:t>X</a:t>
            </a:r>
            <a:r>
              <a:rPr sz="1275" i="1" spc="75" baseline="36000" dirty="0">
                <a:solidFill>
                  <a:srgbClr val="1A1A1A"/>
                </a:solidFill>
                <a:latin typeface="Calibri" panose="020F0502020204030204"/>
                <a:cs typeface="Calibri" panose="020F0502020204030204"/>
              </a:rPr>
              <a:t>L</a:t>
            </a:r>
            <a:r>
              <a:rPr sz="1275" i="1" baseline="36000" dirty="0">
                <a:solidFill>
                  <a:srgbClr val="1A1A1A"/>
                </a:solidFill>
                <a:latin typeface="Calibri" panose="020F0502020204030204"/>
                <a:cs typeface="Calibri" panose="020F0502020204030204"/>
              </a:rPr>
              <a:t>	</a:t>
            </a:r>
            <a:r>
              <a:rPr sz="1200" spc="90" dirty="0">
                <a:solidFill>
                  <a:srgbClr val="1A1A1A"/>
                </a:solidFill>
                <a:latin typeface="Cambria" panose="02040503050406030204"/>
                <a:cs typeface="Cambria" panose="02040503050406030204"/>
              </a:rPr>
              <a:t>,</a:t>
            </a:r>
            <a:r>
              <a:rPr sz="1200" spc="-70" dirty="0">
                <a:solidFill>
                  <a:srgbClr val="1A1A1A"/>
                </a:solidFill>
                <a:latin typeface="Cambria" panose="02040503050406030204"/>
                <a:cs typeface="Cambria" panose="02040503050406030204"/>
              </a:rPr>
              <a:t> </a:t>
            </a:r>
            <a:r>
              <a:rPr sz="1200" b="1" spc="204" dirty="0">
                <a:solidFill>
                  <a:srgbClr val="1A1A1A"/>
                </a:solidFill>
                <a:latin typeface="Georgia" panose="02040502050405020303"/>
                <a:cs typeface="Georgia" panose="02040502050405020303"/>
              </a:rPr>
              <a:t>Y</a:t>
            </a:r>
            <a:r>
              <a:rPr sz="1275" i="1" spc="307" baseline="36000" dirty="0">
                <a:solidFill>
                  <a:srgbClr val="1A1A1A"/>
                </a:solidFill>
                <a:latin typeface="Calibri" panose="020F0502020204030204"/>
                <a:cs typeface="Calibri" panose="020F0502020204030204"/>
              </a:rPr>
              <a:t>L</a:t>
            </a:r>
            <a:endParaRPr sz="1275" baseline="36000">
              <a:latin typeface="Calibri" panose="020F0502020204030204"/>
              <a:cs typeface="Calibri" panose="020F0502020204030204"/>
            </a:endParaRPr>
          </a:p>
          <a:p>
            <a:pPr marL="245745">
              <a:lnSpc>
                <a:spcPts val="610"/>
              </a:lnSpc>
              <a:tabLst>
                <a:tab pos="763270" algn="l"/>
              </a:tabLst>
            </a:pPr>
            <a:r>
              <a:rPr sz="850" i="1" spc="80" dirty="0">
                <a:solidFill>
                  <a:srgbClr val="1A1A1A"/>
                </a:solidFill>
                <a:latin typeface="Calibri" panose="020F0502020204030204"/>
                <a:cs typeface="Calibri" panose="020F0502020204030204"/>
              </a:rPr>
              <a:t>Norm</a:t>
            </a:r>
            <a:r>
              <a:rPr sz="850" i="1" dirty="0">
                <a:solidFill>
                  <a:srgbClr val="1A1A1A"/>
                </a:solidFill>
                <a:latin typeface="Calibri" panose="020F0502020204030204"/>
                <a:cs typeface="Calibri" panose="020F0502020204030204"/>
              </a:rPr>
              <a:t>	</a:t>
            </a:r>
            <a:r>
              <a:rPr sz="850" i="1" spc="80" dirty="0">
                <a:solidFill>
                  <a:srgbClr val="1A1A1A"/>
                </a:solidFill>
                <a:latin typeface="Calibri" panose="020F0502020204030204"/>
                <a:cs typeface="Calibri" panose="020F0502020204030204"/>
              </a:rPr>
              <a:t>Norm</a:t>
            </a:r>
            <a:endParaRPr sz="850">
              <a:latin typeface="Calibri" panose="020F0502020204030204"/>
              <a:cs typeface="Calibri" panose="020F0502020204030204"/>
            </a:endParaRPr>
          </a:p>
        </p:txBody>
      </p:sp>
      <p:sp>
        <p:nvSpPr>
          <p:cNvPr id="52" name="object 52"/>
          <p:cNvSpPr txBox="1"/>
          <p:nvPr/>
        </p:nvSpPr>
        <p:spPr>
          <a:xfrm>
            <a:off x="7524895" y="2567660"/>
            <a:ext cx="1451610" cy="213360"/>
          </a:xfrm>
          <a:prstGeom prst="rect">
            <a:avLst/>
          </a:prstGeom>
        </p:spPr>
        <p:txBody>
          <a:bodyPr vert="horz" wrap="square" lIns="0" tIns="16510" rIns="0" bIns="0" rtlCol="0">
            <a:spAutoFit/>
          </a:bodyPr>
          <a:lstStyle/>
          <a:p>
            <a:pPr marL="38100">
              <a:lnSpc>
                <a:spcPct val="100000"/>
              </a:lnSpc>
              <a:spcBef>
                <a:spcPts val="130"/>
              </a:spcBef>
            </a:pPr>
            <a:r>
              <a:rPr sz="1200" spc="30" dirty="0">
                <a:solidFill>
                  <a:srgbClr val="1A1A1A"/>
                </a:solidFill>
                <a:latin typeface="Cambria" panose="02040503050406030204"/>
                <a:cs typeface="Cambria" panose="02040503050406030204"/>
              </a:rPr>
              <a:t>] </a:t>
            </a:r>
            <a:r>
              <a:rPr sz="1200" spc="290" dirty="0">
                <a:solidFill>
                  <a:srgbClr val="1A1A1A"/>
                </a:solidFill>
                <a:latin typeface="Cambria" panose="02040503050406030204"/>
                <a:cs typeface="Cambria" panose="02040503050406030204"/>
              </a:rPr>
              <a:t>=</a:t>
            </a:r>
            <a:r>
              <a:rPr sz="1200" spc="50" dirty="0">
                <a:solidFill>
                  <a:srgbClr val="1A1A1A"/>
                </a:solidFill>
                <a:latin typeface="Cambria" panose="02040503050406030204"/>
                <a:cs typeface="Cambria" panose="02040503050406030204"/>
              </a:rPr>
              <a:t> </a:t>
            </a:r>
            <a:r>
              <a:rPr sz="1200" spc="40" dirty="0">
                <a:solidFill>
                  <a:srgbClr val="1A1A1A"/>
                </a:solidFill>
                <a:latin typeface="Cambria" panose="02040503050406030204"/>
                <a:cs typeface="Cambria" panose="02040503050406030204"/>
              </a:rPr>
              <a:t>Norm([</a:t>
            </a:r>
            <a:r>
              <a:rPr sz="1200" b="1" spc="40" dirty="0">
                <a:solidFill>
                  <a:srgbClr val="1A1A1A"/>
                </a:solidFill>
                <a:latin typeface="Georgia" panose="02040502050405020303"/>
                <a:cs typeface="Georgia" panose="02040502050405020303"/>
              </a:rPr>
              <a:t>X</a:t>
            </a:r>
            <a:r>
              <a:rPr sz="1275" i="1" spc="60" baseline="36000" dirty="0">
                <a:solidFill>
                  <a:srgbClr val="1A1A1A"/>
                </a:solidFill>
                <a:latin typeface="Calibri" panose="020F0502020204030204"/>
                <a:cs typeface="Calibri" panose="020F0502020204030204"/>
              </a:rPr>
              <a:t>L</a:t>
            </a:r>
            <a:r>
              <a:rPr sz="1275" i="1" spc="-157" baseline="36000" dirty="0">
                <a:solidFill>
                  <a:srgbClr val="1A1A1A"/>
                </a:solidFill>
                <a:latin typeface="Calibri" panose="020F0502020204030204"/>
                <a:cs typeface="Calibri" panose="020F0502020204030204"/>
              </a:rPr>
              <a:t> </a:t>
            </a:r>
            <a:r>
              <a:rPr sz="1200" spc="90" dirty="0">
                <a:solidFill>
                  <a:srgbClr val="1A1A1A"/>
                </a:solidFill>
                <a:latin typeface="Cambria" panose="02040503050406030204"/>
                <a:cs typeface="Cambria" panose="02040503050406030204"/>
              </a:rPr>
              <a:t>,</a:t>
            </a:r>
            <a:r>
              <a:rPr sz="1200" spc="-65" dirty="0">
                <a:solidFill>
                  <a:srgbClr val="1A1A1A"/>
                </a:solidFill>
                <a:latin typeface="Cambria" panose="02040503050406030204"/>
                <a:cs typeface="Cambria" panose="02040503050406030204"/>
              </a:rPr>
              <a:t> </a:t>
            </a:r>
            <a:r>
              <a:rPr sz="1200" b="1" spc="229" dirty="0">
                <a:solidFill>
                  <a:srgbClr val="1A1A1A"/>
                </a:solidFill>
                <a:latin typeface="Georgia" panose="02040502050405020303"/>
                <a:cs typeface="Georgia" panose="02040502050405020303"/>
              </a:rPr>
              <a:t>Y</a:t>
            </a:r>
            <a:r>
              <a:rPr sz="1275" i="1" spc="345" baseline="36000" dirty="0">
                <a:solidFill>
                  <a:srgbClr val="1A1A1A"/>
                </a:solidFill>
                <a:latin typeface="Calibri" panose="020F0502020204030204"/>
                <a:cs typeface="Calibri" panose="020F0502020204030204"/>
              </a:rPr>
              <a:t>L</a:t>
            </a:r>
            <a:r>
              <a:rPr sz="1275" i="1" spc="-157" baseline="36000" dirty="0">
                <a:solidFill>
                  <a:srgbClr val="1A1A1A"/>
                </a:solidFill>
                <a:latin typeface="Calibri" panose="020F0502020204030204"/>
                <a:cs typeface="Calibri" panose="020F0502020204030204"/>
              </a:rPr>
              <a:t> </a:t>
            </a:r>
            <a:r>
              <a:rPr sz="1200" spc="-25" dirty="0">
                <a:solidFill>
                  <a:srgbClr val="1A1A1A"/>
                </a:solidFill>
                <a:latin typeface="Cambria" panose="02040503050406030204"/>
                <a:cs typeface="Cambria" panose="02040503050406030204"/>
              </a:rPr>
              <a:t>])</a:t>
            </a:r>
            <a:endParaRPr sz="1200">
              <a:latin typeface="Cambria" panose="02040503050406030204"/>
              <a:cs typeface="Cambria" panose="02040503050406030204"/>
            </a:endParaRPr>
          </a:p>
        </p:txBody>
      </p:sp>
      <p:sp>
        <p:nvSpPr>
          <p:cNvPr id="53" name="object 53"/>
          <p:cNvSpPr txBox="1"/>
          <p:nvPr/>
        </p:nvSpPr>
        <p:spPr>
          <a:xfrm>
            <a:off x="6362053" y="5165531"/>
            <a:ext cx="192405" cy="213360"/>
          </a:xfrm>
          <a:prstGeom prst="rect">
            <a:avLst/>
          </a:prstGeom>
        </p:spPr>
        <p:txBody>
          <a:bodyPr vert="horz" wrap="square" lIns="0" tIns="16510" rIns="0" bIns="0" rtlCol="0">
            <a:spAutoFit/>
          </a:bodyPr>
          <a:lstStyle/>
          <a:p>
            <a:pPr marL="12700">
              <a:lnSpc>
                <a:spcPct val="100000"/>
              </a:lnSpc>
              <a:spcBef>
                <a:spcPts val="130"/>
              </a:spcBef>
            </a:pPr>
            <a:r>
              <a:rPr sz="1200" spc="-65" dirty="0">
                <a:solidFill>
                  <a:srgbClr val="1A1A1A"/>
                </a:solidFill>
                <a:latin typeface="Cambria" panose="02040503050406030204"/>
                <a:cs typeface="Cambria" panose="02040503050406030204"/>
              </a:rPr>
              <a:t>[</a:t>
            </a:r>
            <a:r>
              <a:rPr sz="1200" b="1" spc="-725" dirty="0">
                <a:solidFill>
                  <a:srgbClr val="1A1A1A"/>
                </a:solidFill>
                <a:latin typeface="Georgia" panose="02040502050405020303"/>
                <a:cs typeface="Georgia" panose="02040502050405020303"/>
              </a:rPr>
              <a:t>X</a:t>
            </a:r>
            <a:endParaRPr sz="1200">
              <a:latin typeface="Georgia" panose="02040502050405020303"/>
              <a:cs typeface="Georgia" panose="02040502050405020303"/>
            </a:endParaRPr>
          </a:p>
        </p:txBody>
      </p:sp>
      <p:sp>
        <p:nvSpPr>
          <p:cNvPr id="54" name="object 54"/>
          <p:cNvSpPr txBox="1"/>
          <p:nvPr/>
        </p:nvSpPr>
        <p:spPr>
          <a:xfrm>
            <a:off x="6448925" y="5130104"/>
            <a:ext cx="104139" cy="213360"/>
          </a:xfrm>
          <a:prstGeom prst="rect">
            <a:avLst/>
          </a:prstGeom>
        </p:spPr>
        <p:txBody>
          <a:bodyPr vert="horz" wrap="square" lIns="0" tIns="16510" rIns="0" bIns="0" rtlCol="0">
            <a:spAutoFit/>
          </a:bodyPr>
          <a:lstStyle/>
          <a:p>
            <a:pPr marL="12700">
              <a:lnSpc>
                <a:spcPct val="100000"/>
              </a:lnSpc>
              <a:spcBef>
                <a:spcPts val="130"/>
              </a:spcBef>
            </a:pPr>
            <a:r>
              <a:rPr sz="1200" spc="-50" dirty="0">
                <a:solidFill>
                  <a:srgbClr val="1A1A1A"/>
                </a:solidFill>
                <a:latin typeface="Cambria" panose="02040503050406030204"/>
                <a:cs typeface="Cambria" panose="02040503050406030204"/>
              </a:rPr>
              <a:t>^</a:t>
            </a:r>
            <a:endParaRPr sz="1200">
              <a:latin typeface="Cambria" panose="02040503050406030204"/>
              <a:cs typeface="Cambria" panose="02040503050406030204"/>
            </a:endParaRPr>
          </a:p>
        </p:txBody>
      </p:sp>
      <p:sp>
        <p:nvSpPr>
          <p:cNvPr id="55" name="object 55"/>
          <p:cNvSpPr txBox="1"/>
          <p:nvPr/>
        </p:nvSpPr>
        <p:spPr>
          <a:xfrm>
            <a:off x="6544484" y="5150953"/>
            <a:ext cx="590550" cy="156845"/>
          </a:xfrm>
          <a:prstGeom prst="rect">
            <a:avLst/>
          </a:prstGeom>
        </p:spPr>
        <p:txBody>
          <a:bodyPr vert="horz" wrap="square" lIns="0" tIns="13970" rIns="0" bIns="0" rtlCol="0">
            <a:spAutoFit/>
          </a:bodyPr>
          <a:lstStyle/>
          <a:p>
            <a:pPr marL="12700">
              <a:lnSpc>
                <a:spcPct val="100000"/>
              </a:lnSpc>
              <a:spcBef>
                <a:spcPts val="110"/>
              </a:spcBef>
              <a:tabLst>
                <a:tab pos="485775" algn="l"/>
              </a:tabLst>
            </a:pPr>
            <a:r>
              <a:rPr sz="850" i="1" spc="155" dirty="0">
                <a:solidFill>
                  <a:srgbClr val="1A1A1A"/>
                </a:solidFill>
                <a:latin typeface="Calibri" panose="020F0502020204030204"/>
                <a:cs typeface="Calibri" panose="020F0502020204030204"/>
              </a:rPr>
              <a:t>SUR</a:t>
            </a:r>
            <a:r>
              <a:rPr sz="850" i="1" dirty="0">
                <a:solidFill>
                  <a:srgbClr val="1A1A1A"/>
                </a:solidFill>
                <a:latin typeface="Calibri" panose="020F0502020204030204"/>
                <a:cs typeface="Calibri" panose="020F0502020204030204"/>
              </a:rPr>
              <a:t>	</a:t>
            </a:r>
            <a:r>
              <a:rPr sz="850" i="1" spc="135" dirty="0">
                <a:solidFill>
                  <a:srgbClr val="1A1A1A"/>
                </a:solidFill>
                <a:latin typeface="Calibri" panose="020F0502020204030204"/>
                <a:cs typeface="Calibri" panose="020F0502020204030204"/>
              </a:rPr>
              <a:t>H</a:t>
            </a:r>
            <a:endParaRPr sz="850">
              <a:latin typeface="Calibri" panose="020F0502020204030204"/>
              <a:cs typeface="Calibri" panose="020F0502020204030204"/>
            </a:endParaRPr>
          </a:p>
        </p:txBody>
      </p:sp>
      <p:sp>
        <p:nvSpPr>
          <p:cNvPr id="56" name="object 56"/>
          <p:cNvSpPr txBox="1"/>
          <p:nvPr/>
        </p:nvSpPr>
        <p:spPr>
          <a:xfrm>
            <a:off x="9000103" y="5165531"/>
            <a:ext cx="130175" cy="213360"/>
          </a:xfrm>
          <a:prstGeom prst="rect">
            <a:avLst/>
          </a:prstGeom>
        </p:spPr>
        <p:txBody>
          <a:bodyPr vert="horz" wrap="square" lIns="0" tIns="16510" rIns="0" bIns="0" rtlCol="0">
            <a:spAutoFit/>
          </a:bodyPr>
          <a:lstStyle/>
          <a:p>
            <a:pPr marL="12700">
              <a:lnSpc>
                <a:spcPct val="100000"/>
              </a:lnSpc>
              <a:spcBef>
                <a:spcPts val="130"/>
              </a:spcBef>
            </a:pPr>
            <a:r>
              <a:rPr sz="1200" spc="-25" dirty="0">
                <a:solidFill>
                  <a:srgbClr val="1A1A1A"/>
                </a:solidFill>
                <a:latin typeface="Cambria" panose="02040503050406030204"/>
                <a:cs typeface="Cambria" panose="02040503050406030204"/>
              </a:rPr>
              <a:t>])</a:t>
            </a:r>
            <a:endParaRPr sz="1200">
              <a:latin typeface="Cambria" panose="02040503050406030204"/>
              <a:cs typeface="Cambria" panose="02040503050406030204"/>
            </a:endParaRPr>
          </a:p>
        </p:txBody>
      </p:sp>
      <p:sp>
        <p:nvSpPr>
          <p:cNvPr id="57" name="object 57"/>
          <p:cNvSpPr txBox="1"/>
          <p:nvPr/>
        </p:nvSpPr>
        <p:spPr>
          <a:xfrm>
            <a:off x="6805642" y="5165531"/>
            <a:ext cx="1377315" cy="213360"/>
          </a:xfrm>
          <a:prstGeom prst="rect">
            <a:avLst/>
          </a:prstGeom>
        </p:spPr>
        <p:txBody>
          <a:bodyPr vert="horz" wrap="square" lIns="0" tIns="16510" rIns="0" bIns="0" rtlCol="0">
            <a:spAutoFit/>
          </a:bodyPr>
          <a:lstStyle/>
          <a:p>
            <a:pPr marL="12700">
              <a:lnSpc>
                <a:spcPct val="100000"/>
              </a:lnSpc>
              <a:spcBef>
                <a:spcPts val="130"/>
              </a:spcBef>
            </a:pPr>
            <a:r>
              <a:rPr sz="1200" spc="90" dirty="0">
                <a:solidFill>
                  <a:srgbClr val="1A1A1A"/>
                </a:solidFill>
                <a:latin typeface="Cambria" panose="02040503050406030204"/>
                <a:cs typeface="Cambria" panose="02040503050406030204"/>
              </a:rPr>
              <a:t>,</a:t>
            </a:r>
            <a:r>
              <a:rPr sz="1200" spc="-70" dirty="0">
                <a:solidFill>
                  <a:srgbClr val="1A1A1A"/>
                </a:solidFill>
                <a:latin typeface="Cambria" panose="02040503050406030204"/>
                <a:cs typeface="Cambria" panose="02040503050406030204"/>
              </a:rPr>
              <a:t> </a:t>
            </a:r>
            <a:r>
              <a:rPr sz="1200" b="1" spc="190" dirty="0">
                <a:solidFill>
                  <a:srgbClr val="1A1A1A"/>
                </a:solidFill>
                <a:latin typeface="Georgia" panose="02040502050405020303"/>
                <a:cs typeface="Georgia" panose="02040502050405020303"/>
              </a:rPr>
              <a:t>Y</a:t>
            </a:r>
            <a:r>
              <a:rPr sz="1200" b="1" spc="140" dirty="0">
                <a:solidFill>
                  <a:srgbClr val="1A1A1A"/>
                </a:solidFill>
                <a:latin typeface="Georgia" panose="02040502050405020303"/>
                <a:cs typeface="Georgia" panose="02040502050405020303"/>
              </a:rPr>
              <a:t>  </a:t>
            </a:r>
            <a:r>
              <a:rPr sz="1200" dirty="0">
                <a:solidFill>
                  <a:srgbClr val="1A1A1A"/>
                </a:solidFill>
                <a:latin typeface="Cambria" panose="02040503050406030204"/>
                <a:cs typeface="Cambria" panose="02040503050406030204"/>
              </a:rPr>
              <a:t>]</a:t>
            </a:r>
            <a:r>
              <a:rPr sz="1200" spc="60" dirty="0">
                <a:solidFill>
                  <a:srgbClr val="1A1A1A"/>
                </a:solidFill>
                <a:latin typeface="Cambria" panose="02040503050406030204"/>
                <a:cs typeface="Cambria" panose="02040503050406030204"/>
              </a:rPr>
              <a:t> </a:t>
            </a:r>
            <a:r>
              <a:rPr sz="1200" spc="290" dirty="0">
                <a:solidFill>
                  <a:srgbClr val="1A1A1A"/>
                </a:solidFill>
                <a:latin typeface="Cambria" panose="02040503050406030204"/>
                <a:cs typeface="Cambria" panose="02040503050406030204"/>
              </a:rPr>
              <a:t>=</a:t>
            </a:r>
            <a:r>
              <a:rPr sz="1200" spc="60" dirty="0">
                <a:solidFill>
                  <a:srgbClr val="1A1A1A"/>
                </a:solidFill>
                <a:latin typeface="Cambria" panose="02040503050406030204"/>
                <a:cs typeface="Cambria" panose="02040503050406030204"/>
              </a:rPr>
              <a:t> </a:t>
            </a:r>
            <a:r>
              <a:rPr sz="1200" spc="80" dirty="0">
                <a:solidFill>
                  <a:srgbClr val="1A1A1A"/>
                </a:solidFill>
                <a:latin typeface="Cambria" panose="02040503050406030204"/>
                <a:cs typeface="Cambria" panose="02040503050406030204"/>
              </a:rPr>
              <a:t>D</a:t>
            </a:r>
            <a:r>
              <a:rPr sz="1200" spc="65" dirty="0">
                <a:solidFill>
                  <a:srgbClr val="1A1A1A"/>
                </a:solidFill>
                <a:latin typeface="Cambria" panose="02040503050406030204"/>
                <a:cs typeface="Cambria" panose="02040503050406030204"/>
              </a:rPr>
              <a:t>e</a:t>
            </a:r>
            <a:r>
              <a:rPr sz="1200" spc="60" dirty="0">
                <a:solidFill>
                  <a:srgbClr val="1A1A1A"/>
                </a:solidFill>
                <a:latin typeface="Cambria" panose="02040503050406030204"/>
                <a:cs typeface="Cambria" panose="02040503050406030204"/>
              </a:rPr>
              <a:t>n</a:t>
            </a:r>
            <a:r>
              <a:rPr sz="1200" spc="65" dirty="0">
                <a:solidFill>
                  <a:srgbClr val="1A1A1A"/>
                </a:solidFill>
                <a:latin typeface="Cambria" panose="02040503050406030204"/>
                <a:cs typeface="Cambria" panose="02040503050406030204"/>
              </a:rPr>
              <a:t>o</a:t>
            </a:r>
            <a:r>
              <a:rPr sz="1200" spc="55" dirty="0">
                <a:solidFill>
                  <a:srgbClr val="1A1A1A"/>
                </a:solidFill>
                <a:latin typeface="Cambria" panose="02040503050406030204"/>
                <a:cs typeface="Cambria" panose="02040503050406030204"/>
              </a:rPr>
              <a:t>r</a:t>
            </a:r>
            <a:r>
              <a:rPr sz="1200" spc="65" dirty="0">
                <a:solidFill>
                  <a:srgbClr val="1A1A1A"/>
                </a:solidFill>
                <a:latin typeface="Cambria" panose="02040503050406030204"/>
                <a:cs typeface="Cambria" panose="02040503050406030204"/>
              </a:rPr>
              <a:t>m</a:t>
            </a:r>
            <a:r>
              <a:rPr sz="1200" spc="60" dirty="0">
                <a:solidFill>
                  <a:srgbClr val="1A1A1A"/>
                </a:solidFill>
                <a:latin typeface="Cambria" panose="02040503050406030204"/>
                <a:cs typeface="Cambria" panose="02040503050406030204"/>
              </a:rPr>
              <a:t>(</a:t>
            </a:r>
            <a:r>
              <a:rPr sz="1200" spc="55" dirty="0">
                <a:solidFill>
                  <a:srgbClr val="1A1A1A"/>
                </a:solidFill>
                <a:latin typeface="Cambria" panose="02040503050406030204"/>
                <a:cs typeface="Cambria" panose="02040503050406030204"/>
              </a:rPr>
              <a:t>[</a:t>
            </a:r>
            <a:r>
              <a:rPr sz="1200" b="1" spc="-605" dirty="0">
                <a:solidFill>
                  <a:srgbClr val="1A1A1A"/>
                </a:solidFill>
                <a:latin typeface="Georgia" panose="02040502050405020303"/>
                <a:cs typeface="Georgia" panose="02040502050405020303"/>
              </a:rPr>
              <a:t>X</a:t>
            </a:r>
            <a:endParaRPr sz="1200">
              <a:latin typeface="Georgia" panose="02040502050405020303"/>
              <a:cs typeface="Georgia" panose="02040502050405020303"/>
            </a:endParaRPr>
          </a:p>
        </p:txBody>
      </p:sp>
      <p:sp>
        <p:nvSpPr>
          <p:cNvPr id="58" name="object 58"/>
          <p:cNvSpPr txBox="1"/>
          <p:nvPr/>
        </p:nvSpPr>
        <p:spPr>
          <a:xfrm>
            <a:off x="6907717" y="5130104"/>
            <a:ext cx="1273810" cy="213360"/>
          </a:xfrm>
          <a:prstGeom prst="rect">
            <a:avLst/>
          </a:prstGeom>
        </p:spPr>
        <p:txBody>
          <a:bodyPr vert="horz" wrap="square" lIns="0" tIns="16510" rIns="0" bIns="0" rtlCol="0">
            <a:spAutoFit/>
          </a:bodyPr>
          <a:lstStyle/>
          <a:p>
            <a:pPr marL="12700">
              <a:lnSpc>
                <a:spcPct val="100000"/>
              </a:lnSpc>
              <a:spcBef>
                <a:spcPts val="130"/>
              </a:spcBef>
              <a:tabLst>
                <a:tab pos="1182370" algn="l"/>
              </a:tabLst>
            </a:pPr>
            <a:r>
              <a:rPr sz="1200" spc="-50" dirty="0">
                <a:solidFill>
                  <a:srgbClr val="1A1A1A"/>
                </a:solidFill>
                <a:latin typeface="Cambria" panose="02040503050406030204"/>
                <a:cs typeface="Cambria" panose="02040503050406030204"/>
              </a:rPr>
              <a:t>^</a:t>
            </a:r>
            <a:r>
              <a:rPr sz="1200" dirty="0">
                <a:solidFill>
                  <a:srgbClr val="1A1A1A"/>
                </a:solidFill>
                <a:latin typeface="Cambria" panose="02040503050406030204"/>
                <a:cs typeface="Cambria" panose="02040503050406030204"/>
              </a:rPr>
              <a:t>	</a:t>
            </a:r>
            <a:r>
              <a:rPr sz="1200" spc="-50" dirty="0">
                <a:solidFill>
                  <a:srgbClr val="1A1A1A"/>
                </a:solidFill>
                <a:latin typeface="Cambria" panose="02040503050406030204"/>
                <a:cs typeface="Cambria" panose="02040503050406030204"/>
              </a:rPr>
              <a:t>^</a:t>
            </a:r>
            <a:endParaRPr sz="1200">
              <a:latin typeface="Cambria" panose="02040503050406030204"/>
              <a:cs typeface="Cambria" panose="02040503050406030204"/>
            </a:endParaRPr>
          </a:p>
        </p:txBody>
      </p:sp>
      <p:sp>
        <p:nvSpPr>
          <p:cNvPr id="59" name="object 59"/>
          <p:cNvSpPr txBox="1"/>
          <p:nvPr/>
        </p:nvSpPr>
        <p:spPr>
          <a:xfrm>
            <a:off x="8482402" y="5165531"/>
            <a:ext cx="218440" cy="213360"/>
          </a:xfrm>
          <a:prstGeom prst="rect">
            <a:avLst/>
          </a:prstGeom>
        </p:spPr>
        <p:txBody>
          <a:bodyPr vert="horz" wrap="square" lIns="0" tIns="16510" rIns="0" bIns="0" rtlCol="0">
            <a:spAutoFit/>
          </a:bodyPr>
          <a:lstStyle/>
          <a:p>
            <a:pPr marL="12700">
              <a:lnSpc>
                <a:spcPct val="100000"/>
              </a:lnSpc>
              <a:spcBef>
                <a:spcPts val="130"/>
              </a:spcBef>
            </a:pPr>
            <a:r>
              <a:rPr sz="1200" spc="90" dirty="0">
                <a:solidFill>
                  <a:srgbClr val="1A1A1A"/>
                </a:solidFill>
                <a:latin typeface="Cambria" panose="02040503050406030204"/>
                <a:cs typeface="Cambria" panose="02040503050406030204"/>
              </a:rPr>
              <a:t>,</a:t>
            </a:r>
            <a:r>
              <a:rPr sz="1200" spc="-60" dirty="0">
                <a:solidFill>
                  <a:srgbClr val="1A1A1A"/>
                </a:solidFill>
                <a:latin typeface="Cambria" panose="02040503050406030204"/>
                <a:cs typeface="Cambria" panose="02040503050406030204"/>
              </a:rPr>
              <a:t> </a:t>
            </a:r>
            <a:r>
              <a:rPr sz="1200" b="1" spc="-675" dirty="0">
                <a:solidFill>
                  <a:srgbClr val="1A1A1A"/>
                </a:solidFill>
                <a:latin typeface="Georgia" panose="02040502050405020303"/>
                <a:cs typeface="Georgia" panose="02040502050405020303"/>
              </a:rPr>
              <a:t>Y</a:t>
            </a:r>
            <a:endParaRPr sz="1200">
              <a:latin typeface="Georgia" panose="02040502050405020303"/>
              <a:cs typeface="Georgia" panose="02040502050405020303"/>
            </a:endParaRPr>
          </a:p>
        </p:txBody>
      </p:sp>
      <p:sp>
        <p:nvSpPr>
          <p:cNvPr id="60" name="object 60"/>
          <p:cNvSpPr txBox="1"/>
          <p:nvPr/>
        </p:nvSpPr>
        <p:spPr>
          <a:xfrm>
            <a:off x="8584476" y="5130104"/>
            <a:ext cx="104139" cy="213360"/>
          </a:xfrm>
          <a:prstGeom prst="rect">
            <a:avLst/>
          </a:prstGeom>
        </p:spPr>
        <p:txBody>
          <a:bodyPr vert="horz" wrap="square" lIns="0" tIns="16510" rIns="0" bIns="0" rtlCol="0">
            <a:spAutoFit/>
          </a:bodyPr>
          <a:lstStyle/>
          <a:p>
            <a:pPr marL="12700">
              <a:lnSpc>
                <a:spcPct val="100000"/>
              </a:lnSpc>
              <a:spcBef>
                <a:spcPts val="130"/>
              </a:spcBef>
            </a:pPr>
            <a:r>
              <a:rPr sz="1200" spc="-50" dirty="0">
                <a:solidFill>
                  <a:srgbClr val="1A1A1A"/>
                </a:solidFill>
                <a:latin typeface="Cambria" panose="02040503050406030204"/>
                <a:cs typeface="Cambria" panose="02040503050406030204"/>
              </a:rPr>
              <a:t>^</a:t>
            </a:r>
            <a:endParaRPr sz="1200">
              <a:latin typeface="Cambria" panose="02040503050406030204"/>
              <a:cs typeface="Cambria" panose="02040503050406030204"/>
            </a:endParaRPr>
          </a:p>
        </p:txBody>
      </p:sp>
      <p:sp>
        <p:nvSpPr>
          <p:cNvPr id="61" name="object 61"/>
          <p:cNvSpPr txBox="1"/>
          <p:nvPr/>
        </p:nvSpPr>
        <p:spPr>
          <a:xfrm>
            <a:off x="8173193" y="5255199"/>
            <a:ext cx="845185" cy="156845"/>
          </a:xfrm>
          <a:prstGeom prst="rect">
            <a:avLst/>
          </a:prstGeom>
        </p:spPr>
        <p:txBody>
          <a:bodyPr vert="horz" wrap="square" lIns="0" tIns="13970" rIns="0" bIns="0" rtlCol="0">
            <a:spAutoFit/>
          </a:bodyPr>
          <a:lstStyle/>
          <a:p>
            <a:pPr marL="12700">
              <a:lnSpc>
                <a:spcPct val="100000"/>
              </a:lnSpc>
              <a:spcBef>
                <a:spcPts val="110"/>
              </a:spcBef>
              <a:tabLst>
                <a:tab pos="530225" algn="l"/>
              </a:tabLst>
            </a:pPr>
            <a:r>
              <a:rPr sz="850" i="1" spc="80" dirty="0">
                <a:solidFill>
                  <a:srgbClr val="1A1A1A"/>
                </a:solidFill>
                <a:latin typeface="Calibri" panose="020F0502020204030204"/>
                <a:cs typeface="Calibri" panose="020F0502020204030204"/>
              </a:rPr>
              <a:t>Norm</a:t>
            </a:r>
            <a:r>
              <a:rPr sz="850" i="1" dirty="0">
                <a:solidFill>
                  <a:srgbClr val="1A1A1A"/>
                </a:solidFill>
                <a:latin typeface="Calibri" panose="020F0502020204030204"/>
                <a:cs typeface="Calibri" panose="020F0502020204030204"/>
              </a:rPr>
              <a:t>	</a:t>
            </a:r>
            <a:r>
              <a:rPr sz="850" i="1" spc="80" dirty="0">
                <a:solidFill>
                  <a:srgbClr val="1A1A1A"/>
                </a:solidFill>
                <a:latin typeface="Calibri" panose="020F0502020204030204"/>
                <a:cs typeface="Calibri" panose="020F0502020204030204"/>
              </a:rPr>
              <a:t>Norm</a:t>
            </a:r>
            <a:endParaRPr sz="850">
              <a:latin typeface="Calibri" panose="020F0502020204030204"/>
              <a:cs typeface="Calibri" panose="020F0502020204030204"/>
            </a:endParaRPr>
          </a:p>
        </p:txBody>
      </p:sp>
      <p:sp>
        <p:nvSpPr>
          <p:cNvPr id="62" name="object 62"/>
          <p:cNvSpPr txBox="1"/>
          <p:nvPr/>
        </p:nvSpPr>
        <p:spPr>
          <a:xfrm>
            <a:off x="8173193" y="5150953"/>
            <a:ext cx="638810" cy="156845"/>
          </a:xfrm>
          <a:prstGeom prst="rect">
            <a:avLst/>
          </a:prstGeom>
        </p:spPr>
        <p:txBody>
          <a:bodyPr vert="horz" wrap="square" lIns="0" tIns="13970" rIns="0" bIns="0" rtlCol="0">
            <a:spAutoFit/>
          </a:bodyPr>
          <a:lstStyle/>
          <a:p>
            <a:pPr marL="12700">
              <a:lnSpc>
                <a:spcPct val="100000"/>
              </a:lnSpc>
              <a:spcBef>
                <a:spcPts val="110"/>
              </a:spcBef>
              <a:tabLst>
                <a:tab pos="534670" algn="l"/>
              </a:tabLst>
            </a:pPr>
            <a:r>
              <a:rPr sz="850" i="1" spc="155" dirty="0">
                <a:solidFill>
                  <a:srgbClr val="1A1A1A"/>
                </a:solidFill>
                <a:latin typeface="Calibri" panose="020F0502020204030204"/>
                <a:cs typeface="Calibri" panose="020F0502020204030204"/>
              </a:rPr>
              <a:t>SUR</a:t>
            </a:r>
            <a:r>
              <a:rPr sz="850" i="1" dirty="0">
                <a:solidFill>
                  <a:srgbClr val="1A1A1A"/>
                </a:solidFill>
                <a:latin typeface="Calibri" panose="020F0502020204030204"/>
                <a:cs typeface="Calibri" panose="020F0502020204030204"/>
              </a:rPr>
              <a:t>	</a:t>
            </a:r>
            <a:r>
              <a:rPr sz="850" i="1" spc="135" dirty="0">
                <a:solidFill>
                  <a:srgbClr val="1A1A1A"/>
                </a:solidFill>
                <a:latin typeface="Calibri" panose="020F0502020204030204"/>
                <a:cs typeface="Calibri" panose="020F0502020204030204"/>
              </a:rPr>
              <a:t>H</a:t>
            </a:r>
            <a:endParaRPr sz="850">
              <a:latin typeface="Calibri" panose="020F0502020204030204"/>
              <a:cs typeface="Calibri" panose="020F0502020204030204"/>
            </a:endParaRPr>
          </a:p>
        </p:txBody>
      </p:sp>
      <p:sp>
        <p:nvSpPr>
          <p:cNvPr id="63" name="object 63"/>
          <p:cNvSpPr/>
          <p:nvPr/>
        </p:nvSpPr>
        <p:spPr>
          <a:xfrm>
            <a:off x="0" y="0"/>
            <a:ext cx="11120120" cy="8890"/>
          </a:xfrm>
          <a:custGeom>
            <a:avLst/>
            <a:gdLst/>
            <a:ahLst/>
            <a:cxnLst/>
            <a:rect l="l" t="t" r="r" b="b"/>
            <a:pathLst>
              <a:path w="11120120" h="8890">
                <a:moveTo>
                  <a:pt x="11119578" y="8687"/>
                </a:moveTo>
                <a:lnTo>
                  <a:pt x="0" y="8687"/>
                </a:lnTo>
                <a:lnTo>
                  <a:pt x="0" y="0"/>
                </a:lnTo>
                <a:lnTo>
                  <a:pt x="11119578" y="0"/>
                </a:lnTo>
                <a:lnTo>
                  <a:pt x="11119578" y="8687"/>
                </a:lnTo>
                <a:close/>
              </a:path>
            </a:pathLst>
          </a:custGeom>
          <a:solidFill>
            <a:srgbClr val="E7E4E3"/>
          </a:solidFill>
        </p:spPr>
        <p:txBody>
          <a:bodyPr wrap="square" lIns="0" tIns="0" rIns="0" bIns="0" rtlCol="0"/>
          <a:lstStyle/>
          <a:p/>
        </p:txBody>
      </p:sp>
      <p:sp>
        <p:nvSpPr>
          <p:cNvPr id="64" name="object 64"/>
          <p:cNvSpPr/>
          <p:nvPr/>
        </p:nvSpPr>
        <p:spPr>
          <a:xfrm>
            <a:off x="0" y="6845489"/>
            <a:ext cx="11120120" cy="8890"/>
          </a:xfrm>
          <a:custGeom>
            <a:avLst/>
            <a:gdLst/>
            <a:ahLst/>
            <a:cxnLst/>
            <a:rect l="l" t="t" r="r" b="b"/>
            <a:pathLst>
              <a:path w="11120120" h="8890">
                <a:moveTo>
                  <a:pt x="11119578" y="8687"/>
                </a:moveTo>
                <a:lnTo>
                  <a:pt x="0" y="8687"/>
                </a:lnTo>
                <a:lnTo>
                  <a:pt x="0" y="0"/>
                </a:lnTo>
                <a:lnTo>
                  <a:pt x="11119578" y="0"/>
                </a:lnTo>
                <a:lnTo>
                  <a:pt x="11119578" y="8687"/>
                </a:lnTo>
                <a:close/>
              </a:path>
            </a:pathLst>
          </a:custGeom>
          <a:solidFill>
            <a:srgbClr val="E7E4E3"/>
          </a:solidFill>
        </p:spPr>
        <p:txBody>
          <a:bodyPr wrap="square" lIns="0" tIns="0" rIns="0" bIns="0" rtlCol="0"/>
          <a:lstStyl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380872"/>
            <a:ext cx="7157720" cy="490855"/>
          </a:xfrm>
          <a:prstGeom prst="rect">
            <a:avLst/>
          </a:prstGeom>
        </p:spPr>
        <p:txBody>
          <a:bodyPr vert="horz" wrap="square" lIns="0" tIns="12700" rIns="0" bIns="0" rtlCol="0">
            <a:spAutoFit/>
          </a:bodyPr>
          <a:lstStyle/>
          <a:p>
            <a:pPr marL="12700">
              <a:lnSpc>
                <a:spcPct val="100000"/>
              </a:lnSpc>
              <a:spcBef>
                <a:spcPts val="100"/>
              </a:spcBef>
            </a:pPr>
            <a:r>
              <a:rPr spc="-405" dirty="0"/>
              <a:t>捕捉不变模式：基于未来与历史视窗的联合切片</a:t>
            </a:r>
            <a:endParaRPr spc="-405" dirty="0"/>
          </a:p>
        </p:txBody>
      </p:sp>
      <p:grpSp>
        <p:nvGrpSpPr>
          <p:cNvPr id="3" name="object 3"/>
          <p:cNvGrpSpPr/>
          <p:nvPr/>
        </p:nvGrpSpPr>
        <p:grpSpPr>
          <a:xfrm>
            <a:off x="457200" y="1362074"/>
            <a:ext cx="4524375" cy="5038725"/>
            <a:chOff x="457200" y="1362074"/>
            <a:chExt cx="4524375" cy="5038725"/>
          </a:xfrm>
        </p:grpSpPr>
        <p:sp>
          <p:nvSpPr>
            <p:cNvPr id="4" name="object 4"/>
            <p:cNvSpPr/>
            <p:nvPr/>
          </p:nvSpPr>
          <p:spPr>
            <a:xfrm>
              <a:off x="461962" y="1366837"/>
              <a:ext cx="4514850" cy="5029200"/>
            </a:xfrm>
            <a:custGeom>
              <a:avLst/>
              <a:gdLst/>
              <a:ahLst/>
              <a:cxnLst/>
              <a:rect l="l" t="t" r="r" b="b"/>
              <a:pathLst>
                <a:path w="4514850" h="5029200">
                  <a:moveTo>
                    <a:pt x="4412504" y="5029199"/>
                  </a:moveTo>
                  <a:lnTo>
                    <a:pt x="102345" y="5029199"/>
                  </a:lnTo>
                  <a:lnTo>
                    <a:pt x="95221" y="5028497"/>
                  </a:lnTo>
                  <a:lnTo>
                    <a:pt x="54661" y="5014733"/>
                  </a:lnTo>
                  <a:lnTo>
                    <a:pt x="22456" y="4986497"/>
                  </a:lnTo>
                  <a:lnTo>
                    <a:pt x="3507" y="4948085"/>
                  </a:lnTo>
                  <a:lnTo>
                    <a:pt x="0" y="4926854"/>
                  </a:lnTo>
                  <a:lnTo>
                    <a:pt x="0" y="4919662"/>
                  </a:lnTo>
                  <a:lnTo>
                    <a:pt x="0" y="102345"/>
                  </a:lnTo>
                  <a:lnTo>
                    <a:pt x="11090" y="60974"/>
                  </a:lnTo>
                  <a:lnTo>
                    <a:pt x="37168" y="26997"/>
                  </a:lnTo>
                  <a:lnTo>
                    <a:pt x="74264" y="5585"/>
                  </a:lnTo>
                  <a:lnTo>
                    <a:pt x="102345" y="0"/>
                  </a:lnTo>
                  <a:lnTo>
                    <a:pt x="4412504" y="0"/>
                  </a:lnTo>
                  <a:lnTo>
                    <a:pt x="4453874" y="11090"/>
                  </a:lnTo>
                  <a:lnTo>
                    <a:pt x="4487852" y="37168"/>
                  </a:lnTo>
                  <a:lnTo>
                    <a:pt x="4509263" y="74264"/>
                  </a:lnTo>
                  <a:lnTo>
                    <a:pt x="4514849" y="102345"/>
                  </a:lnTo>
                  <a:lnTo>
                    <a:pt x="4514849" y="4926854"/>
                  </a:lnTo>
                  <a:lnTo>
                    <a:pt x="4503758" y="4968224"/>
                  </a:lnTo>
                  <a:lnTo>
                    <a:pt x="4477680" y="5002201"/>
                  </a:lnTo>
                  <a:lnTo>
                    <a:pt x="4440585" y="5023613"/>
                  </a:lnTo>
                  <a:lnTo>
                    <a:pt x="4419627" y="5028497"/>
                  </a:lnTo>
                  <a:lnTo>
                    <a:pt x="4412504" y="5029199"/>
                  </a:lnTo>
                  <a:close/>
                </a:path>
              </a:pathLst>
            </a:custGeom>
            <a:solidFill>
              <a:srgbClr val="FFFFFF"/>
            </a:solidFill>
          </p:spPr>
          <p:txBody>
            <a:bodyPr wrap="square" lIns="0" tIns="0" rIns="0" bIns="0" rtlCol="0"/>
            <a:lstStyle/>
            <a:p/>
          </p:txBody>
        </p:sp>
        <p:sp>
          <p:nvSpPr>
            <p:cNvPr id="5" name="object 5"/>
            <p:cNvSpPr/>
            <p:nvPr/>
          </p:nvSpPr>
          <p:spPr>
            <a:xfrm>
              <a:off x="461962" y="1366837"/>
              <a:ext cx="4514850" cy="5029200"/>
            </a:xfrm>
            <a:custGeom>
              <a:avLst/>
              <a:gdLst/>
              <a:ahLst/>
              <a:cxnLst/>
              <a:rect l="l" t="t" r="r" b="b"/>
              <a:pathLst>
                <a:path w="4514850" h="5029200">
                  <a:moveTo>
                    <a:pt x="0" y="491966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4405312" y="0"/>
                  </a:lnTo>
                  <a:lnTo>
                    <a:pt x="4412504" y="0"/>
                  </a:lnTo>
                  <a:lnTo>
                    <a:pt x="4419627" y="701"/>
                  </a:lnTo>
                  <a:lnTo>
                    <a:pt x="4426681" y="2104"/>
                  </a:lnTo>
                  <a:lnTo>
                    <a:pt x="4433735" y="3507"/>
                  </a:lnTo>
                  <a:lnTo>
                    <a:pt x="4466167" y="18460"/>
                  </a:lnTo>
                  <a:lnTo>
                    <a:pt x="4472147" y="22456"/>
                  </a:lnTo>
                  <a:lnTo>
                    <a:pt x="4500384" y="54661"/>
                  </a:lnTo>
                  <a:lnTo>
                    <a:pt x="4506510" y="67619"/>
                  </a:lnTo>
                  <a:lnTo>
                    <a:pt x="4509263" y="74264"/>
                  </a:lnTo>
                  <a:lnTo>
                    <a:pt x="4514849" y="109537"/>
                  </a:lnTo>
                  <a:lnTo>
                    <a:pt x="4514849" y="4919662"/>
                  </a:lnTo>
                  <a:lnTo>
                    <a:pt x="4514849" y="4926854"/>
                  </a:lnTo>
                  <a:lnTo>
                    <a:pt x="4514147" y="4933977"/>
                  </a:lnTo>
                  <a:lnTo>
                    <a:pt x="4512744" y="4941031"/>
                  </a:lnTo>
                  <a:lnTo>
                    <a:pt x="4511341" y="4948085"/>
                  </a:lnTo>
                  <a:lnTo>
                    <a:pt x="4496388" y="4980517"/>
                  </a:lnTo>
                  <a:lnTo>
                    <a:pt x="4492392" y="4986497"/>
                  </a:lnTo>
                  <a:lnTo>
                    <a:pt x="4460187" y="5014734"/>
                  </a:lnTo>
                  <a:lnTo>
                    <a:pt x="4419627" y="5028497"/>
                  </a:lnTo>
                  <a:lnTo>
                    <a:pt x="4405312" y="5029199"/>
                  </a:lnTo>
                  <a:lnTo>
                    <a:pt x="109537" y="5029199"/>
                  </a:lnTo>
                  <a:lnTo>
                    <a:pt x="67619" y="5020860"/>
                  </a:lnTo>
                  <a:lnTo>
                    <a:pt x="60974" y="5018107"/>
                  </a:lnTo>
                  <a:lnTo>
                    <a:pt x="26997" y="4992030"/>
                  </a:lnTo>
                  <a:lnTo>
                    <a:pt x="8338" y="4961579"/>
                  </a:lnTo>
                  <a:lnTo>
                    <a:pt x="5585" y="4954934"/>
                  </a:lnTo>
                  <a:lnTo>
                    <a:pt x="3507" y="4948085"/>
                  </a:lnTo>
                  <a:lnTo>
                    <a:pt x="2104" y="4941031"/>
                  </a:lnTo>
                  <a:lnTo>
                    <a:pt x="701" y="4933977"/>
                  </a:lnTo>
                  <a:lnTo>
                    <a:pt x="0" y="4926854"/>
                  </a:lnTo>
                  <a:lnTo>
                    <a:pt x="0" y="4919662"/>
                  </a:lnTo>
                  <a:close/>
                </a:path>
              </a:pathLst>
            </a:custGeom>
            <a:ln w="9524">
              <a:solidFill>
                <a:srgbClr val="E4E4E4"/>
              </a:solidFill>
            </a:ln>
          </p:spPr>
          <p:txBody>
            <a:bodyPr wrap="square" lIns="0" tIns="0" rIns="0" bIns="0" rtlCol="0"/>
            <a:lstStyle/>
            <a:p/>
          </p:txBody>
        </p:sp>
        <p:sp>
          <p:nvSpPr>
            <p:cNvPr id="6" name="object 6"/>
            <p:cNvSpPr/>
            <p:nvPr/>
          </p:nvSpPr>
          <p:spPr>
            <a:xfrm>
              <a:off x="700087" y="2747962"/>
              <a:ext cx="4038600" cy="885825"/>
            </a:xfrm>
            <a:custGeom>
              <a:avLst/>
              <a:gdLst/>
              <a:ahLst/>
              <a:cxnLst/>
              <a:rect l="l" t="t" r="r" b="b"/>
              <a:pathLst>
                <a:path w="4038600" h="885825">
                  <a:moveTo>
                    <a:pt x="3971852" y="885824"/>
                  </a:moveTo>
                  <a:lnTo>
                    <a:pt x="66746" y="885824"/>
                  </a:lnTo>
                  <a:lnTo>
                    <a:pt x="62101" y="885367"/>
                  </a:lnTo>
                  <a:lnTo>
                    <a:pt x="24240" y="868217"/>
                  </a:lnTo>
                  <a:lnTo>
                    <a:pt x="2287" y="832924"/>
                  </a:lnTo>
                  <a:lnTo>
                    <a:pt x="0" y="819077"/>
                  </a:lnTo>
                  <a:lnTo>
                    <a:pt x="0" y="814387"/>
                  </a:lnTo>
                  <a:lnTo>
                    <a:pt x="0" y="66746"/>
                  </a:lnTo>
                  <a:lnTo>
                    <a:pt x="14645" y="27848"/>
                  </a:lnTo>
                  <a:lnTo>
                    <a:pt x="48433" y="3642"/>
                  </a:lnTo>
                  <a:lnTo>
                    <a:pt x="66746" y="0"/>
                  </a:lnTo>
                  <a:lnTo>
                    <a:pt x="3971852" y="0"/>
                  </a:lnTo>
                  <a:lnTo>
                    <a:pt x="4010750" y="14645"/>
                  </a:lnTo>
                  <a:lnTo>
                    <a:pt x="4034956" y="48432"/>
                  </a:lnTo>
                  <a:lnTo>
                    <a:pt x="4038599" y="66746"/>
                  </a:lnTo>
                  <a:lnTo>
                    <a:pt x="4038599" y="819077"/>
                  </a:lnTo>
                  <a:lnTo>
                    <a:pt x="4023953" y="857975"/>
                  </a:lnTo>
                  <a:lnTo>
                    <a:pt x="3990166" y="882181"/>
                  </a:lnTo>
                  <a:lnTo>
                    <a:pt x="3976497" y="885367"/>
                  </a:lnTo>
                  <a:lnTo>
                    <a:pt x="3971852" y="885824"/>
                  </a:lnTo>
                  <a:close/>
                </a:path>
              </a:pathLst>
            </a:custGeom>
            <a:solidFill>
              <a:srgbClr val="F5F5F5"/>
            </a:solidFill>
          </p:spPr>
          <p:txBody>
            <a:bodyPr wrap="square" lIns="0" tIns="0" rIns="0" bIns="0" rtlCol="0"/>
            <a:lstStyle/>
            <a:p/>
          </p:txBody>
        </p:sp>
        <p:sp>
          <p:nvSpPr>
            <p:cNvPr id="7" name="object 7"/>
            <p:cNvSpPr/>
            <p:nvPr/>
          </p:nvSpPr>
          <p:spPr>
            <a:xfrm>
              <a:off x="700087" y="2747962"/>
              <a:ext cx="4038600" cy="885825"/>
            </a:xfrm>
            <a:custGeom>
              <a:avLst/>
              <a:gdLst/>
              <a:ahLst/>
              <a:cxnLst/>
              <a:rect l="l" t="t" r="r" b="b"/>
              <a:pathLst>
                <a:path w="4038600" h="885825">
                  <a:moveTo>
                    <a:pt x="0" y="814387"/>
                  </a:moveTo>
                  <a:lnTo>
                    <a:pt x="0" y="71437"/>
                  </a:lnTo>
                  <a:lnTo>
                    <a:pt x="0" y="66746"/>
                  </a:lnTo>
                  <a:lnTo>
                    <a:pt x="457" y="62101"/>
                  </a:lnTo>
                  <a:lnTo>
                    <a:pt x="1372" y="57500"/>
                  </a:lnTo>
                  <a:lnTo>
                    <a:pt x="2287" y="52899"/>
                  </a:lnTo>
                  <a:lnTo>
                    <a:pt x="3642" y="48432"/>
                  </a:lnTo>
                  <a:lnTo>
                    <a:pt x="5437" y="44099"/>
                  </a:lnTo>
                  <a:lnTo>
                    <a:pt x="7232" y="39765"/>
                  </a:lnTo>
                  <a:lnTo>
                    <a:pt x="9433" y="35648"/>
                  </a:lnTo>
                  <a:lnTo>
                    <a:pt x="12039" y="31748"/>
                  </a:lnTo>
                  <a:lnTo>
                    <a:pt x="14645" y="27848"/>
                  </a:lnTo>
                  <a:lnTo>
                    <a:pt x="17606" y="24240"/>
                  </a:lnTo>
                  <a:lnTo>
                    <a:pt x="20923" y="20923"/>
                  </a:lnTo>
                  <a:lnTo>
                    <a:pt x="24240" y="17606"/>
                  </a:lnTo>
                  <a:lnTo>
                    <a:pt x="27848" y="14645"/>
                  </a:lnTo>
                  <a:lnTo>
                    <a:pt x="66746" y="0"/>
                  </a:lnTo>
                  <a:lnTo>
                    <a:pt x="71437" y="0"/>
                  </a:lnTo>
                  <a:lnTo>
                    <a:pt x="3967162" y="0"/>
                  </a:lnTo>
                  <a:lnTo>
                    <a:pt x="4006849" y="12039"/>
                  </a:lnTo>
                  <a:lnTo>
                    <a:pt x="4033161" y="44099"/>
                  </a:lnTo>
                  <a:lnTo>
                    <a:pt x="4037226" y="57500"/>
                  </a:lnTo>
                  <a:lnTo>
                    <a:pt x="4038141" y="62101"/>
                  </a:lnTo>
                  <a:lnTo>
                    <a:pt x="4038599" y="66746"/>
                  </a:lnTo>
                  <a:lnTo>
                    <a:pt x="4038599" y="71437"/>
                  </a:lnTo>
                  <a:lnTo>
                    <a:pt x="4038599" y="814387"/>
                  </a:lnTo>
                  <a:lnTo>
                    <a:pt x="4038599" y="819078"/>
                  </a:lnTo>
                  <a:lnTo>
                    <a:pt x="4038141" y="823723"/>
                  </a:lnTo>
                  <a:lnTo>
                    <a:pt x="4037226" y="828324"/>
                  </a:lnTo>
                  <a:lnTo>
                    <a:pt x="4036311" y="832924"/>
                  </a:lnTo>
                  <a:lnTo>
                    <a:pt x="4034956" y="837391"/>
                  </a:lnTo>
                  <a:lnTo>
                    <a:pt x="4033161" y="841725"/>
                  </a:lnTo>
                  <a:lnTo>
                    <a:pt x="4031366" y="846058"/>
                  </a:lnTo>
                  <a:lnTo>
                    <a:pt x="4029165" y="850175"/>
                  </a:lnTo>
                  <a:lnTo>
                    <a:pt x="4026559" y="854075"/>
                  </a:lnTo>
                  <a:lnTo>
                    <a:pt x="4023953" y="857975"/>
                  </a:lnTo>
                  <a:lnTo>
                    <a:pt x="3990166" y="882181"/>
                  </a:lnTo>
                  <a:lnTo>
                    <a:pt x="3971852" y="885824"/>
                  </a:lnTo>
                  <a:lnTo>
                    <a:pt x="3967162" y="885824"/>
                  </a:lnTo>
                  <a:lnTo>
                    <a:pt x="71437" y="885824"/>
                  </a:lnTo>
                  <a:lnTo>
                    <a:pt x="66746" y="885824"/>
                  </a:lnTo>
                  <a:lnTo>
                    <a:pt x="62101" y="885367"/>
                  </a:lnTo>
                  <a:lnTo>
                    <a:pt x="57500" y="884452"/>
                  </a:lnTo>
                  <a:lnTo>
                    <a:pt x="52900" y="883537"/>
                  </a:lnTo>
                  <a:lnTo>
                    <a:pt x="48433" y="882181"/>
                  </a:lnTo>
                  <a:lnTo>
                    <a:pt x="44099" y="880386"/>
                  </a:lnTo>
                  <a:lnTo>
                    <a:pt x="39765" y="878591"/>
                  </a:lnTo>
                  <a:lnTo>
                    <a:pt x="35649" y="876391"/>
                  </a:lnTo>
                  <a:lnTo>
                    <a:pt x="31748" y="873785"/>
                  </a:lnTo>
                  <a:lnTo>
                    <a:pt x="27848" y="871179"/>
                  </a:lnTo>
                  <a:lnTo>
                    <a:pt x="24240" y="868217"/>
                  </a:lnTo>
                  <a:lnTo>
                    <a:pt x="20923" y="864901"/>
                  </a:lnTo>
                  <a:lnTo>
                    <a:pt x="17606" y="861584"/>
                  </a:lnTo>
                  <a:lnTo>
                    <a:pt x="14645" y="857975"/>
                  </a:lnTo>
                  <a:lnTo>
                    <a:pt x="12039" y="854075"/>
                  </a:lnTo>
                  <a:lnTo>
                    <a:pt x="9433" y="850175"/>
                  </a:lnTo>
                  <a:lnTo>
                    <a:pt x="0" y="819078"/>
                  </a:lnTo>
                  <a:lnTo>
                    <a:pt x="0" y="814387"/>
                  </a:lnTo>
                  <a:close/>
                </a:path>
              </a:pathLst>
            </a:custGeom>
            <a:ln w="9524">
              <a:solidFill>
                <a:srgbClr val="EFEFEF"/>
              </a:solidFill>
            </a:ln>
          </p:spPr>
          <p:txBody>
            <a:bodyPr wrap="square" lIns="0" tIns="0" rIns="0" bIns="0" rtlCol="0"/>
            <a:lstStyle/>
            <a:p/>
          </p:txBody>
        </p:sp>
        <p:sp>
          <p:nvSpPr>
            <p:cNvPr id="8" name="object 8"/>
            <p:cNvSpPr/>
            <p:nvPr/>
          </p:nvSpPr>
          <p:spPr>
            <a:xfrm>
              <a:off x="700087" y="1614487"/>
              <a:ext cx="1209675" cy="238125"/>
            </a:xfrm>
            <a:custGeom>
              <a:avLst/>
              <a:gdLst/>
              <a:ahLst/>
              <a:cxnLst/>
              <a:rect l="l" t="t" r="r" b="b"/>
              <a:pathLst>
                <a:path w="1209675" h="238125">
                  <a:moveTo>
                    <a:pt x="1098430" y="238124"/>
                  </a:moveTo>
                  <a:lnTo>
                    <a:pt x="111244" y="238124"/>
                  </a:lnTo>
                  <a:lnTo>
                    <a:pt x="103502" y="237362"/>
                  </a:lnTo>
                  <a:lnTo>
                    <a:pt x="66276" y="226070"/>
                  </a:lnTo>
                  <a:lnTo>
                    <a:pt x="29344" y="197724"/>
                  </a:lnTo>
                  <a:lnTo>
                    <a:pt x="6071" y="157403"/>
                  </a:lnTo>
                  <a:lnTo>
                    <a:pt x="0" y="126880"/>
                  </a:lnTo>
                  <a:lnTo>
                    <a:pt x="0" y="119062"/>
                  </a:lnTo>
                  <a:lnTo>
                    <a:pt x="0" y="111244"/>
                  </a:lnTo>
                  <a:lnTo>
                    <a:pt x="12054" y="66276"/>
                  </a:lnTo>
                  <a:lnTo>
                    <a:pt x="40400" y="29344"/>
                  </a:lnTo>
                  <a:lnTo>
                    <a:pt x="80721" y="6071"/>
                  </a:lnTo>
                  <a:lnTo>
                    <a:pt x="111244" y="0"/>
                  </a:lnTo>
                  <a:lnTo>
                    <a:pt x="1098430" y="0"/>
                  </a:lnTo>
                  <a:lnTo>
                    <a:pt x="1143398" y="12054"/>
                  </a:lnTo>
                  <a:lnTo>
                    <a:pt x="1180330" y="40400"/>
                  </a:lnTo>
                  <a:lnTo>
                    <a:pt x="1203603" y="80721"/>
                  </a:lnTo>
                  <a:lnTo>
                    <a:pt x="1209674" y="111244"/>
                  </a:lnTo>
                  <a:lnTo>
                    <a:pt x="1209674" y="126880"/>
                  </a:lnTo>
                  <a:lnTo>
                    <a:pt x="1197619" y="171848"/>
                  </a:lnTo>
                  <a:lnTo>
                    <a:pt x="1169274" y="208780"/>
                  </a:lnTo>
                  <a:lnTo>
                    <a:pt x="1128952" y="232053"/>
                  </a:lnTo>
                  <a:lnTo>
                    <a:pt x="1106172" y="237362"/>
                  </a:lnTo>
                  <a:lnTo>
                    <a:pt x="1098430" y="238124"/>
                  </a:lnTo>
                  <a:close/>
                </a:path>
              </a:pathLst>
            </a:custGeom>
            <a:solidFill>
              <a:srgbClr val="FFF5E7"/>
            </a:solidFill>
          </p:spPr>
          <p:txBody>
            <a:bodyPr wrap="square" lIns="0" tIns="0" rIns="0" bIns="0" rtlCol="0"/>
            <a:lstStyle/>
            <a:p/>
          </p:txBody>
        </p:sp>
        <p:sp>
          <p:nvSpPr>
            <p:cNvPr id="9" name="object 9"/>
            <p:cNvSpPr/>
            <p:nvPr/>
          </p:nvSpPr>
          <p:spPr>
            <a:xfrm>
              <a:off x="700087" y="1614487"/>
              <a:ext cx="1209675" cy="238125"/>
            </a:xfrm>
            <a:custGeom>
              <a:avLst/>
              <a:gdLst/>
              <a:ahLst/>
              <a:cxnLst/>
              <a:rect l="l" t="t" r="r" b="b"/>
              <a:pathLst>
                <a:path w="1209675" h="238125">
                  <a:moveTo>
                    <a:pt x="0" y="119062"/>
                  </a:moveTo>
                  <a:lnTo>
                    <a:pt x="0" y="111244"/>
                  </a:lnTo>
                  <a:lnTo>
                    <a:pt x="762" y="103502"/>
                  </a:lnTo>
                  <a:lnTo>
                    <a:pt x="2287" y="95834"/>
                  </a:lnTo>
                  <a:lnTo>
                    <a:pt x="3812" y="88166"/>
                  </a:lnTo>
                  <a:lnTo>
                    <a:pt x="6071" y="80721"/>
                  </a:lnTo>
                  <a:lnTo>
                    <a:pt x="9063" y="73499"/>
                  </a:lnTo>
                  <a:lnTo>
                    <a:pt x="12054" y="66276"/>
                  </a:lnTo>
                  <a:lnTo>
                    <a:pt x="34872" y="34872"/>
                  </a:lnTo>
                  <a:lnTo>
                    <a:pt x="66276" y="12054"/>
                  </a:lnTo>
                  <a:lnTo>
                    <a:pt x="73499" y="9063"/>
                  </a:lnTo>
                  <a:lnTo>
                    <a:pt x="80721" y="6071"/>
                  </a:lnTo>
                  <a:lnTo>
                    <a:pt x="88166" y="3812"/>
                  </a:lnTo>
                  <a:lnTo>
                    <a:pt x="95834" y="2287"/>
                  </a:lnTo>
                  <a:lnTo>
                    <a:pt x="103502" y="762"/>
                  </a:lnTo>
                  <a:lnTo>
                    <a:pt x="111244" y="0"/>
                  </a:lnTo>
                  <a:lnTo>
                    <a:pt x="119062" y="0"/>
                  </a:lnTo>
                  <a:lnTo>
                    <a:pt x="1090612" y="0"/>
                  </a:lnTo>
                  <a:lnTo>
                    <a:pt x="1098430" y="0"/>
                  </a:lnTo>
                  <a:lnTo>
                    <a:pt x="1106172" y="762"/>
                  </a:lnTo>
                  <a:lnTo>
                    <a:pt x="1113840" y="2287"/>
                  </a:lnTo>
                  <a:lnTo>
                    <a:pt x="1121507" y="3812"/>
                  </a:lnTo>
                  <a:lnTo>
                    <a:pt x="1128952" y="6071"/>
                  </a:lnTo>
                  <a:lnTo>
                    <a:pt x="1136175" y="9063"/>
                  </a:lnTo>
                  <a:lnTo>
                    <a:pt x="1143398" y="12054"/>
                  </a:lnTo>
                  <a:lnTo>
                    <a:pt x="1150259" y="15722"/>
                  </a:lnTo>
                  <a:lnTo>
                    <a:pt x="1156759" y="20065"/>
                  </a:lnTo>
                  <a:lnTo>
                    <a:pt x="1163260" y="24408"/>
                  </a:lnTo>
                  <a:lnTo>
                    <a:pt x="1189609" y="52914"/>
                  </a:lnTo>
                  <a:lnTo>
                    <a:pt x="1200611" y="73499"/>
                  </a:lnTo>
                  <a:lnTo>
                    <a:pt x="1203603" y="80721"/>
                  </a:lnTo>
                  <a:lnTo>
                    <a:pt x="1205861" y="88166"/>
                  </a:lnTo>
                  <a:lnTo>
                    <a:pt x="1207387" y="95834"/>
                  </a:lnTo>
                  <a:lnTo>
                    <a:pt x="1208912" y="103502"/>
                  </a:lnTo>
                  <a:lnTo>
                    <a:pt x="1209674" y="111244"/>
                  </a:lnTo>
                  <a:lnTo>
                    <a:pt x="1209674" y="119062"/>
                  </a:lnTo>
                  <a:lnTo>
                    <a:pt x="1209674" y="126880"/>
                  </a:lnTo>
                  <a:lnTo>
                    <a:pt x="1208912" y="134622"/>
                  </a:lnTo>
                  <a:lnTo>
                    <a:pt x="1207387" y="142290"/>
                  </a:lnTo>
                  <a:lnTo>
                    <a:pt x="1205861" y="149957"/>
                  </a:lnTo>
                  <a:lnTo>
                    <a:pt x="1203603" y="157403"/>
                  </a:lnTo>
                  <a:lnTo>
                    <a:pt x="1200611" y="164625"/>
                  </a:lnTo>
                  <a:lnTo>
                    <a:pt x="1197619" y="171848"/>
                  </a:lnTo>
                  <a:lnTo>
                    <a:pt x="1174802" y="203252"/>
                  </a:lnTo>
                  <a:lnTo>
                    <a:pt x="1156759" y="218059"/>
                  </a:lnTo>
                  <a:lnTo>
                    <a:pt x="1150259" y="222402"/>
                  </a:lnTo>
                  <a:lnTo>
                    <a:pt x="1113840" y="235837"/>
                  </a:lnTo>
                  <a:lnTo>
                    <a:pt x="1090612" y="238124"/>
                  </a:lnTo>
                  <a:lnTo>
                    <a:pt x="119062" y="238124"/>
                  </a:lnTo>
                  <a:lnTo>
                    <a:pt x="111244" y="238124"/>
                  </a:lnTo>
                  <a:lnTo>
                    <a:pt x="103502" y="237362"/>
                  </a:lnTo>
                  <a:lnTo>
                    <a:pt x="95834" y="235837"/>
                  </a:lnTo>
                  <a:lnTo>
                    <a:pt x="88166" y="234312"/>
                  </a:lnTo>
                  <a:lnTo>
                    <a:pt x="52914" y="218059"/>
                  </a:lnTo>
                  <a:lnTo>
                    <a:pt x="24408" y="191710"/>
                  </a:lnTo>
                  <a:lnTo>
                    <a:pt x="9063" y="164625"/>
                  </a:lnTo>
                  <a:lnTo>
                    <a:pt x="6071" y="157403"/>
                  </a:lnTo>
                  <a:lnTo>
                    <a:pt x="3812" y="149957"/>
                  </a:lnTo>
                  <a:lnTo>
                    <a:pt x="2287" y="142290"/>
                  </a:lnTo>
                  <a:lnTo>
                    <a:pt x="762" y="134622"/>
                  </a:lnTo>
                  <a:lnTo>
                    <a:pt x="0" y="126880"/>
                  </a:lnTo>
                  <a:lnTo>
                    <a:pt x="0" y="119062"/>
                  </a:lnTo>
                  <a:close/>
                </a:path>
              </a:pathLst>
            </a:custGeom>
            <a:ln w="9524">
              <a:solidFill>
                <a:srgbClr val="FFF0D0"/>
              </a:solidFill>
            </a:ln>
          </p:spPr>
          <p:txBody>
            <a:bodyPr wrap="square" lIns="0" tIns="0" rIns="0" bIns="0" rtlCol="0"/>
            <a:lstStyle/>
            <a:p/>
          </p:txBody>
        </p:sp>
        <p:sp>
          <p:nvSpPr>
            <p:cNvPr id="10" name="object 10"/>
            <p:cNvSpPr/>
            <p:nvPr/>
          </p:nvSpPr>
          <p:spPr>
            <a:xfrm>
              <a:off x="819149" y="1704974"/>
              <a:ext cx="57150" cy="57150"/>
            </a:xfrm>
            <a:custGeom>
              <a:avLst/>
              <a:gdLst/>
              <a:ahLst/>
              <a:cxnLst/>
              <a:rect l="l" t="t" r="r" b="b"/>
              <a:pathLst>
                <a:path w="57150" h="57150">
                  <a:moveTo>
                    <a:pt x="32364" y="57149"/>
                  </a:moveTo>
                  <a:lnTo>
                    <a:pt x="24785" y="57149"/>
                  </a:lnTo>
                  <a:lnTo>
                    <a:pt x="21140" y="56424"/>
                  </a:lnTo>
                  <a:lnTo>
                    <a:pt x="0" y="32364"/>
                  </a:lnTo>
                  <a:lnTo>
                    <a:pt x="0" y="24785"/>
                  </a:lnTo>
                  <a:lnTo>
                    <a:pt x="24785" y="0"/>
                  </a:lnTo>
                  <a:lnTo>
                    <a:pt x="32364" y="0"/>
                  </a:lnTo>
                  <a:lnTo>
                    <a:pt x="57150" y="28574"/>
                  </a:lnTo>
                  <a:lnTo>
                    <a:pt x="57149" y="32364"/>
                  </a:lnTo>
                  <a:lnTo>
                    <a:pt x="32364" y="57149"/>
                  </a:lnTo>
                  <a:close/>
                </a:path>
              </a:pathLst>
            </a:custGeom>
            <a:solidFill>
              <a:srgbClr val="D4A573"/>
            </a:solidFill>
          </p:spPr>
          <p:txBody>
            <a:bodyPr wrap="square" lIns="0" tIns="0" rIns="0" bIns="0" rtlCol="0"/>
            <a:lstStyle/>
            <a:p/>
          </p:txBody>
        </p:sp>
      </p:grpSp>
      <p:sp>
        <p:nvSpPr>
          <p:cNvPr id="11" name="object 11"/>
          <p:cNvSpPr txBox="1"/>
          <p:nvPr/>
        </p:nvSpPr>
        <p:spPr>
          <a:xfrm>
            <a:off x="939800" y="1644650"/>
            <a:ext cx="85979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D4A573"/>
                </a:solidFill>
                <a:latin typeface="宋体" panose="02010600030101010101" pitchFamily="2" charset="-122"/>
                <a:cs typeface="宋体" panose="02010600030101010101" pitchFamily="2" charset="-122"/>
              </a:rPr>
              <a:t>因果不变性假说</a:t>
            </a:r>
            <a:endParaRPr sz="900">
              <a:latin typeface="宋体" panose="02010600030101010101" pitchFamily="2" charset="-122"/>
              <a:cs typeface="宋体" panose="02010600030101010101" pitchFamily="2" charset="-122"/>
            </a:endParaRPr>
          </a:p>
        </p:txBody>
      </p:sp>
      <p:sp>
        <p:nvSpPr>
          <p:cNvPr id="12" name="object 12"/>
          <p:cNvSpPr txBox="1"/>
          <p:nvPr/>
        </p:nvSpPr>
        <p:spPr>
          <a:xfrm>
            <a:off x="682624" y="1976754"/>
            <a:ext cx="2768600" cy="538480"/>
          </a:xfrm>
          <a:prstGeom prst="rect">
            <a:avLst/>
          </a:prstGeom>
        </p:spPr>
        <p:txBody>
          <a:bodyPr vert="horz" wrap="square" lIns="0" tIns="74295" rIns="0" bIns="0" rtlCol="0">
            <a:spAutoFit/>
          </a:bodyPr>
          <a:lstStyle/>
          <a:p>
            <a:pPr marL="12700">
              <a:lnSpc>
                <a:spcPct val="100000"/>
              </a:lnSpc>
              <a:spcBef>
                <a:spcPts val="585"/>
              </a:spcBef>
            </a:pPr>
            <a:r>
              <a:rPr sz="1700" b="1" spc="-225" dirty="0">
                <a:solidFill>
                  <a:srgbClr val="111726"/>
                </a:solidFill>
                <a:latin typeface="微软雅黑" panose="020B0503020204020204" charset="-122"/>
                <a:cs typeface="微软雅黑" panose="020B0503020204020204" charset="-122"/>
              </a:rPr>
              <a:t>方法论难</a:t>
            </a:r>
            <a:r>
              <a:rPr sz="1700" b="1" spc="-375" dirty="0">
                <a:solidFill>
                  <a:srgbClr val="111726"/>
                </a:solidFill>
                <a:latin typeface="Yu Gothic UI Semibold" panose="020B0700000000000000" charset="-128"/>
                <a:cs typeface="Yu Gothic UI Semibold" panose="020B0700000000000000" charset="-128"/>
              </a:rPr>
              <a:t>点</a:t>
            </a:r>
            <a:endParaRPr sz="1700">
              <a:latin typeface="Yu Gothic UI Semibold" panose="020B0700000000000000" charset="-128"/>
              <a:cs typeface="Yu Gothic UI Semibold" panose="020B0700000000000000" charset="-128"/>
            </a:endParaRPr>
          </a:p>
          <a:p>
            <a:pPr marL="12700">
              <a:lnSpc>
                <a:spcPct val="100000"/>
              </a:lnSpc>
              <a:spcBef>
                <a:spcPts val="310"/>
              </a:spcBef>
            </a:pPr>
            <a:r>
              <a:rPr sz="1000" spc="-100" dirty="0">
                <a:solidFill>
                  <a:srgbClr val="6A7280"/>
                </a:solidFill>
                <a:latin typeface="宋体" panose="02010600030101010101" pitchFamily="2" charset="-122"/>
                <a:cs typeface="宋体" panose="02010600030101010101" pitchFamily="2" charset="-122"/>
              </a:rPr>
              <a:t>在大规模时序建模中，寻找并构建如下稳定条件分布：</a:t>
            </a:r>
            <a:endParaRPr sz="1000">
              <a:latin typeface="宋体" panose="02010600030101010101" pitchFamily="2" charset="-122"/>
              <a:cs typeface="宋体" panose="02010600030101010101" pitchFamily="2" charset="-122"/>
            </a:endParaRPr>
          </a:p>
        </p:txBody>
      </p:sp>
      <p:grpSp>
        <p:nvGrpSpPr>
          <p:cNvPr id="13" name="object 13"/>
          <p:cNvGrpSpPr/>
          <p:nvPr/>
        </p:nvGrpSpPr>
        <p:grpSpPr>
          <a:xfrm>
            <a:off x="695324" y="3924299"/>
            <a:ext cx="4048125" cy="1933575"/>
            <a:chOff x="695324" y="3924299"/>
            <a:chExt cx="4048125" cy="1933575"/>
          </a:xfrm>
        </p:grpSpPr>
        <p:sp>
          <p:nvSpPr>
            <p:cNvPr id="14" name="object 14"/>
            <p:cNvSpPr/>
            <p:nvPr/>
          </p:nvSpPr>
          <p:spPr>
            <a:xfrm>
              <a:off x="695324" y="3924299"/>
              <a:ext cx="38100" cy="114300"/>
            </a:xfrm>
            <a:custGeom>
              <a:avLst/>
              <a:gdLst/>
              <a:ahLst/>
              <a:cxnLst/>
              <a:rect l="l" t="t" r="r" b="b"/>
              <a:pathLst>
                <a:path w="38100" h="114300">
                  <a:moveTo>
                    <a:pt x="38099" y="114299"/>
                  </a:moveTo>
                  <a:lnTo>
                    <a:pt x="0" y="114299"/>
                  </a:lnTo>
                  <a:lnTo>
                    <a:pt x="0" y="0"/>
                  </a:lnTo>
                  <a:lnTo>
                    <a:pt x="38099" y="0"/>
                  </a:lnTo>
                  <a:lnTo>
                    <a:pt x="38099" y="114299"/>
                  </a:lnTo>
                  <a:close/>
                </a:path>
              </a:pathLst>
            </a:custGeom>
            <a:solidFill>
              <a:srgbClr val="D4A573"/>
            </a:solidFill>
          </p:spPr>
          <p:txBody>
            <a:bodyPr wrap="square" lIns="0" tIns="0" rIns="0" bIns="0" rtlCol="0"/>
            <a:lstStyle/>
            <a:p/>
          </p:txBody>
        </p:sp>
        <p:sp>
          <p:nvSpPr>
            <p:cNvPr id="15" name="object 15"/>
            <p:cNvSpPr/>
            <p:nvPr/>
          </p:nvSpPr>
          <p:spPr>
            <a:xfrm>
              <a:off x="695324" y="5848349"/>
              <a:ext cx="4048125" cy="9525"/>
            </a:xfrm>
            <a:custGeom>
              <a:avLst/>
              <a:gdLst/>
              <a:ahLst/>
              <a:cxnLst/>
              <a:rect l="l" t="t" r="r" b="b"/>
              <a:pathLst>
                <a:path w="4048125" h="9525">
                  <a:moveTo>
                    <a:pt x="4048124" y="9524"/>
                  </a:moveTo>
                  <a:lnTo>
                    <a:pt x="0" y="9524"/>
                  </a:lnTo>
                  <a:lnTo>
                    <a:pt x="0" y="0"/>
                  </a:lnTo>
                  <a:lnTo>
                    <a:pt x="4048124" y="0"/>
                  </a:lnTo>
                  <a:lnTo>
                    <a:pt x="4048124" y="9524"/>
                  </a:lnTo>
                  <a:close/>
                </a:path>
              </a:pathLst>
            </a:custGeom>
            <a:solidFill>
              <a:srgbClr val="EFEFEF"/>
            </a:solidFill>
          </p:spPr>
          <p:txBody>
            <a:bodyPr wrap="square" lIns="0" tIns="0" rIns="0" bIns="0" rtlCol="0"/>
            <a:lstStyle/>
            <a:p/>
          </p:txBody>
        </p:sp>
      </p:grpSp>
      <p:sp>
        <p:nvSpPr>
          <p:cNvPr id="16" name="object 16"/>
          <p:cNvSpPr txBox="1"/>
          <p:nvPr/>
        </p:nvSpPr>
        <p:spPr>
          <a:xfrm>
            <a:off x="835025" y="3854450"/>
            <a:ext cx="1440180" cy="162560"/>
          </a:xfrm>
          <a:prstGeom prst="rect">
            <a:avLst/>
          </a:prstGeom>
        </p:spPr>
        <p:txBody>
          <a:bodyPr vert="horz" wrap="square" lIns="0" tIns="12700" rIns="0" bIns="0" rtlCol="0">
            <a:spAutoFit/>
          </a:bodyPr>
          <a:lstStyle/>
          <a:p>
            <a:pPr marL="12700">
              <a:lnSpc>
                <a:spcPct val="100000"/>
              </a:lnSpc>
              <a:spcBef>
                <a:spcPts val="100"/>
              </a:spcBef>
            </a:pPr>
            <a:r>
              <a:rPr sz="900" spc="30" dirty="0">
                <a:solidFill>
                  <a:srgbClr val="D4A573"/>
                </a:solidFill>
                <a:latin typeface="宋体" panose="02010600030101010101" pitchFamily="2" charset="-122"/>
                <a:cs typeface="宋体" panose="02010600030101010101" pitchFamily="2" charset="-122"/>
              </a:rPr>
              <a:t>理论假设 / </a:t>
            </a:r>
            <a:r>
              <a:rPr sz="900" spc="125" dirty="0">
                <a:solidFill>
                  <a:srgbClr val="D4A573"/>
                </a:solidFill>
                <a:latin typeface="宋体" panose="02010600030101010101" pitchFamily="2" charset="-122"/>
                <a:cs typeface="宋体" panose="02010600030101010101" pitchFamily="2" charset="-122"/>
              </a:rPr>
              <a:t>HYPOTHESIS</a:t>
            </a:r>
            <a:endParaRPr sz="900">
              <a:latin typeface="宋体" panose="02010600030101010101" pitchFamily="2" charset="-122"/>
              <a:cs typeface="宋体" panose="02010600030101010101" pitchFamily="2" charset="-122"/>
            </a:endParaRPr>
          </a:p>
        </p:txBody>
      </p:sp>
      <p:sp>
        <p:nvSpPr>
          <p:cNvPr id="17" name="object 17"/>
          <p:cNvSpPr txBox="1"/>
          <p:nvPr/>
        </p:nvSpPr>
        <p:spPr>
          <a:xfrm>
            <a:off x="682624" y="5988049"/>
            <a:ext cx="1397635"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9CA2AF"/>
                </a:solidFill>
                <a:latin typeface="Courier New" panose="02070309020205020404"/>
                <a:cs typeface="Courier New" panose="02070309020205020404"/>
              </a:rPr>
              <a:t>INVARIANT </a:t>
            </a:r>
            <a:r>
              <a:rPr sz="900" spc="-10" dirty="0">
                <a:solidFill>
                  <a:srgbClr val="9CA2AF"/>
                </a:solidFill>
                <a:latin typeface="Courier New" panose="02070309020205020404"/>
                <a:cs typeface="Courier New" panose="02070309020205020404"/>
              </a:rPr>
              <a:t>REGULARITY</a:t>
            </a:r>
            <a:endParaRPr sz="900">
              <a:latin typeface="Courier New" panose="02070309020205020404"/>
              <a:cs typeface="Courier New" panose="02070309020205020404"/>
            </a:endParaRPr>
          </a:p>
        </p:txBody>
      </p:sp>
      <p:sp>
        <p:nvSpPr>
          <p:cNvPr id="18" name="object 18"/>
          <p:cNvSpPr txBox="1"/>
          <p:nvPr/>
        </p:nvSpPr>
        <p:spPr>
          <a:xfrm>
            <a:off x="3835697" y="5988049"/>
            <a:ext cx="917575"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9CA2AF"/>
                </a:solidFill>
                <a:latin typeface="Courier New" panose="02070309020205020404"/>
                <a:cs typeface="Courier New" panose="02070309020205020404"/>
              </a:rPr>
              <a:t>SYSTEM </a:t>
            </a:r>
            <a:r>
              <a:rPr sz="900" spc="-10" dirty="0">
                <a:solidFill>
                  <a:srgbClr val="9CA2AF"/>
                </a:solidFill>
                <a:latin typeface="Courier New" panose="02070309020205020404"/>
                <a:cs typeface="Courier New" panose="02070309020205020404"/>
              </a:rPr>
              <a:t>THEORY</a:t>
            </a:r>
            <a:endParaRPr sz="900">
              <a:latin typeface="Courier New" panose="02070309020205020404"/>
              <a:cs typeface="Courier New" panose="02070309020205020404"/>
            </a:endParaRPr>
          </a:p>
        </p:txBody>
      </p:sp>
      <p:sp>
        <p:nvSpPr>
          <p:cNvPr id="19" name="object 19"/>
          <p:cNvSpPr txBox="1"/>
          <p:nvPr/>
        </p:nvSpPr>
        <p:spPr>
          <a:xfrm>
            <a:off x="2050851" y="2898139"/>
            <a:ext cx="1334135" cy="473075"/>
          </a:xfrm>
          <a:prstGeom prst="rect">
            <a:avLst/>
          </a:prstGeom>
        </p:spPr>
        <p:txBody>
          <a:bodyPr vert="horz" wrap="square" lIns="0" tIns="54610" rIns="0" bIns="0" rtlCol="0">
            <a:spAutoFit/>
          </a:bodyPr>
          <a:lstStyle/>
          <a:p>
            <a:pPr algn="ctr">
              <a:lnSpc>
                <a:spcPct val="100000"/>
              </a:lnSpc>
              <a:spcBef>
                <a:spcPts val="430"/>
              </a:spcBef>
            </a:pPr>
            <a:r>
              <a:rPr sz="900" spc="10" dirty="0">
                <a:solidFill>
                  <a:srgbClr val="9CA2AF"/>
                </a:solidFill>
                <a:latin typeface="宋体" panose="02010600030101010101" pitchFamily="2" charset="-122"/>
                <a:cs typeface="宋体" panose="02010600030101010101" pitchFamily="2" charset="-122"/>
              </a:rPr>
              <a:t>因果条件分布模型 </a:t>
            </a:r>
            <a:r>
              <a:rPr sz="900" spc="-20" dirty="0">
                <a:solidFill>
                  <a:srgbClr val="9CA2AF"/>
                </a:solidFill>
                <a:latin typeface="Courier New" panose="02070309020205020404"/>
                <a:cs typeface="Courier New" panose="02070309020205020404"/>
              </a:rPr>
              <a:t>Goal</a:t>
            </a:r>
            <a:endParaRPr sz="900">
              <a:latin typeface="Courier New" panose="02070309020205020404"/>
              <a:cs typeface="Courier New" panose="02070309020205020404"/>
            </a:endParaRPr>
          </a:p>
          <a:p>
            <a:pPr algn="ctr">
              <a:lnSpc>
                <a:spcPct val="100000"/>
              </a:lnSpc>
              <a:spcBef>
                <a:spcPts val="495"/>
              </a:spcBef>
            </a:pPr>
            <a:r>
              <a:rPr sz="1350" i="1" spc="160" dirty="0">
                <a:solidFill>
                  <a:srgbClr val="1A1A1A"/>
                </a:solidFill>
                <a:latin typeface="Calibri" panose="020F0502020204030204"/>
                <a:cs typeface="Calibri" panose="020F0502020204030204"/>
              </a:rPr>
              <a:t>P</a:t>
            </a:r>
            <a:r>
              <a:rPr sz="1350" i="1" spc="-85" dirty="0">
                <a:solidFill>
                  <a:srgbClr val="1A1A1A"/>
                </a:solidFill>
                <a:latin typeface="Calibri" panose="020F0502020204030204"/>
                <a:cs typeface="Calibri" panose="020F0502020204030204"/>
              </a:rPr>
              <a:t> </a:t>
            </a:r>
            <a:r>
              <a:rPr sz="1350" spc="145" dirty="0">
                <a:solidFill>
                  <a:srgbClr val="1A1A1A"/>
                </a:solidFill>
                <a:latin typeface="Cambria" panose="02040503050406030204"/>
                <a:cs typeface="Cambria" panose="02040503050406030204"/>
              </a:rPr>
              <a:t>(</a:t>
            </a:r>
            <a:r>
              <a:rPr sz="1350" b="1" spc="145" dirty="0">
                <a:solidFill>
                  <a:srgbClr val="1A1A1A"/>
                </a:solidFill>
                <a:latin typeface="Georgia" panose="02040502050405020303"/>
                <a:cs typeface="Georgia" panose="02040502050405020303"/>
              </a:rPr>
              <a:t>Y</a:t>
            </a:r>
            <a:r>
              <a:rPr sz="1425" i="1" spc="217" baseline="29000" dirty="0">
                <a:solidFill>
                  <a:srgbClr val="1A1A1A"/>
                </a:solidFill>
                <a:latin typeface="Calibri" panose="020F0502020204030204"/>
                <a:cs typeface="Calibri" panose="020F0502020204030204"/>
              </a:rPr>
              <a:t>H</a:t>
            </a:r>
            <a:r>
              <a:rPr sz="1425" i="1" spc="-44" baseline="29000" dirty="0">
                <a:solidFill>
                  <a:srgbClr val="1A1A1A"/>
                </a:solidFill>
                <a:latin typeface="Calibri" panose="020F0502020204030204"/>
                <a:cs typeface="Calibri" panose="020F0502020204030204"/>
              </a:rPr>
              <a:t> </a:t>
            </a:r>
            <a:r>
              <a:rPr sz="1350" spc="130" dirty="0">
                <a:solidFill>
                  <a:srgbClr val="1A1A1A"/>
                </a:solidFill>
                <a:latin typeface="Cambria" panose="02040503050406030204"/>
                <a:cs typeface="Cambria" panose="02040503050406030204"/>
              </a:rPr>
              <a:t>∣</a:t>
            </a:r>
            <a:r>
              <a:rPr sz="1350" b="1" spc="130" dirty="0">
                <a:solidFill>
                  <a:srgbClr val="1A1A1A"/>
                </a:solidFill>
                <a:latin typeface="Georgia" panose="02040502050405020303"/>
                <a:cs typeface="Georgia" panose="02040502050405020303"/>
              </a:rPr>
              <a:t>X</a:t>
            </a:r>
            <a:r>
              <a:rPr sz="1425" i="1" spc="195" baseline="29000" dirty="0">
                <a:solidFill>
                  <a:srgbClr val="1A1A1A"/>
                </a:solidFill>
                <a:latin typeface="Calibri" panose="020F0502020204030204"/>
                <a:cs typeface="Calibri" panose="020F0502020204030204"/>
              </a:rPr>
              <a:t>SUR</a:t>
            </a:r>
            <a:r>
              <a:rPr sz="1425" i="1" spc="-165" baseline="29000" dirty="0">
                <a:solidFill>
                  <a:srgbClr val="1A1A1A"/>
                </a:solidFill>
                <a:latin typeface="Calibri" panose="020F0502020204030204"/>
                <a:cs typeface="Calibri" panose="020F0502020204030204"/>
              </a:rPr>
              <a:t> </a:t>
            </a:r>
            <a:r>
              <a:rPr sz="1350" spc="-50" dirty="0">
                <a:solidFill>
                  <a:srgbClr val="1A1A1A"/>
                </a:solidFill>
                <a:latin typeface="Cambria" panose="02040503050406030204"/>
                <a:cs typeface="Cambria" panose="02040503050406030204"/>
              </a:rPr>
              <a:t>)</a:t>
            </a:r>
            <a:endParaRPr sz="1350">
              <a:latin typeface="Cambria" panose="02040503050406030204"/>
              <a:cs typeface="Cambria" panose="02040503050406030204"/>
            </a:endParaRPr>
          </a:p>
        </p:txBody>
      </p:sp>
      <p:sp>
        <p:nvSpPr>
          <p:cNvPr id="20" name="object 20"/>
          <p:cNvSpPr txBox="1"/>
          <p:nvPr/>
        </p:nvSpPr>
        <p:spPr>
          <a:xfrm>
            <a:off x="835025" y="4004739"/>
            <a:ext cx="3820160" cy="467359"/>
          </a:xfrm>
          <a:prstGeom prst="rect">
            <a:avLst/>
          </a:prstGeom>
        </p:spPr>
        <p:txBody>
          <a:bodyPr vert="horz" wrap="square" lIns="0" tIns="10160" rIns="0" bIns="0" rtlCol="0">
            <a:spAutoFit/>
          </a:bodyPr>
          <a:lstStyle/>
          <a:p>
            <a:pPr marL="12700" marR="5080">
              <a:lnSpc>
                <a:spcPct val="123000"/>
              </a:lnSpc>
              <a:spcBef>
                <a:spcPts val="80"/>
              </a:spcBef>
            </a:pPr>
            <a:r>
              <a:rPr sz="1150" spc="-170" dirty="0">
                <a:solidFill>
                  <a:srgbClr val="374050"/>
                </a:solidFill>
                <a:latin typeface="宋体" panose="02010600030101010101" pitchFamily="2" charset="-122"/>
                <a:cs typeface="宋体" panose="02010600030101010101" pitchFamily="2" charset="-122"/>
              </a:rPr>
              <a:t>序列 </a:t>
            </a:r>
            <a:r>
              <a:rPr sz="1050" b="1" spc="55" dirty="0">
                <a:solidFill>
                  <a:srgbClr val="1A1A1A"/>
                </a:solidFill>
                <a:latin typeface="Georgia" panose="02040502050405020303"/>
                <a:cs typeface="Georgia" panose="02040502050405020303"/>
              </a:rPr>
              <a:t>X</a:t>
            </a:r>
            <a:r>
              <a:rPr sz="1050" b="1" spc="20" dirty="0">
                <a:solidFill>
                  <a:srgbClr val="1A1A1A"/>
                </a:solidFill>
                <a:latin typeface="Georgia" panose="02040502050405020303"/>
                <a:cs typeface="Georgia" panose="02040502050405020303"/>
              </a:rPr>
              <a:t> </a:t>
            </a:r>
            <a:r>
              <a:rPr sz="1150" spc="-155" dirty="0">
                <a:solidFill>
                  <a:srgbClr val="374050"/>
                </a:solidFill>
                <a:latin typeface="宋体" panose="02010600030101010101" pitchFamily="2" charset="-122"/>
                <a:cs typeface="宋体" panose="02010600030101010101" pitchFamily="2" charset="-122"/>
              </a:rPr>
              <a:t>中只有 </a:t>
            </a:r>
            <a:r>
              <a:rPr sz="1200" spc="120" dirty="0">
                <a:solidFill>
                  <a:srgbClr val="111726"/>
                </a:solidFill>
                <a:latin typeface="Microsoft Sans Serif" panose="020B0604020202020204"/>
                <a:cs typeface="Microsoft Sans Serif" panose="020B0604020202020204"/>
              </a:rPr>
              <a:t>“</a:t>
            </a:r>
            <a:r>
              <a:rPr sz="1150" spc="-110" dirty="0">
                <a:solidFill>
                  <a:srgbClr val="111726"/>
                </a:solidFill>
                <a:latin typeface="宋体" panose="02010600030101010101" pitchFamily="2" charset="-122"/>
                <a:cs typeface="宋体" panose="02010600030101010101" pitchFamily="2" charset="-122"/>
              </a:rPr>
              <a:t>一部分局部模式</a:t>
            </a:r>
            <a:r>
              <a:rPr sz="1200" spc="50" dirty="0">
                <a:solidFill>
                  <a:srgbClr val="111726"/>
                </a:solidFill>
                <a:latin typeface="Microsoft Sans Serif" panose="020B0604020202020204"/>
                <a:cs typeface="Microsoft Sans Serif" panose="020B0604020202020204"/>
              </a:rPr>
              <a:t>” </a:t>
            </a:r>
            <a:r>
              <a:rPr sz="1150" spc="-125" dirty="0">
                <a:solidFill>
                  <a:srgbClr val="374050"/>
                </a:solidFill>
                <a:latin typeface="宋体" panose="02010600030101010101" pitchFamily="2" charset="-122"/>
                <a:cs typeface="宋体" panose="02010600030101010101" pitchFamily="2" charset="-122"/>
              </a:rPr>
              <a:t>在全时间段内对目标变量 </a:t>
            </a:r>
            <a:r>
              <a:rPr sz="1050" b="1" spc="140" dirty="0">
                <a:solidFill>
                  <a:srgbClr val="1A1A1A"/>
                </a:solidFill>
                <a:latin typeface="Georgia" panose="02040502050405020303"/>
                <a:cs typeface="Georgia" panose="02040502050405020303"/>
              </a:rPr>
              <a:t>Y</a:t>
            </a:r>
            <a:r>
              <a:rPr sz="1050" b="1" spc="50" dirty="0">
                <a:solidFill>
                  <a:srgbClr val="1A1A1A"/>
                </a:solidFill>
                <a:latin typeface="Georgia" panose="02040502050405020303"/>
                <a:cs typeface="Georgia" panose="02040502050405020303"/>
              </a:rPr>
              <a:t> </a:t>
            </a:r>
            <a:r>
              <a:rPr sz="1150" spc="-50" dirty="0">
                <a:solidFill>
                  <a:srgbClr val="374050"/>
                </a:solidFill>
                <a:latin typeface="宋体" panose="02010600030101010101" pitchFamily="2" charset="-122"/>
                <a:cs typeface="宋体" panose="02010600030101010101" pitchFamily="2" charset="-122"/>
              </a:rPr>
              <a:t>保</a:t>
            </a:r>
            <a:r>
              <a:rPr sz="1150" spc="-105" dirty="0">
                <a:solidFill>
                  <a:srgbClr val="374050"/>
                </a:solidFill>
                <a:latin typeface="宋体" panose="02010600030101010101" pitchFamily="2" charset="-122"/>
                <a:cs typeface="宋体" panose="02010600030101010101" pitchFamily="2" charset="-122"/>
              </a:rPr>
              <a:t>持恒定的因果影响。</a:t>
            </a:r>
            <a:endParaRPr sz="1150">
              <a:latin typeface="宋体" panose="02010600030101010101" pitchFamily="2" charset="-122"/>
              <a:cs typeface="宋体" panose="02010600030101010101" pitchFamily="2" charset="-122"/>
            </a:endParaRPr>
          </a:p>
        </p:txBody>
      </p:sp>
      <p:grpSp>
        <p:nvGrpSpPr>
          <p:cNvPr id="21" name="object 21"/>
          <p:cNvGrpSpPr/>
          <p:nvPr/>
        </p:nvGrpSpPr>
        <p:grpSpPr>
          <a:xfrm>
            <a:off x="5286374" y="1362074"/>
            <a:ext cx="6448425" cy="5038725"/>
            <a:chOff x="5286374" y="1362074"/>
            <a:chExt cx="6448425" cy="5038725"/>
          </a:xfrm>
        </p:grpSpPr>
        <p:sp>
          <p:nvSpPr>
            <p:cNvPr id="22" name="object 22"/>
            <p:cNvSpPr/>
            <p:nvPr/>
          </p:nvSpPr>
          <p:spPr>
            <a:xfrm>
              <a:off x="5291137" y="1366837"/>
              <a:ext cx="6438900" cy="5029200"/>
            </a:xfrm>
            <a:custGeom>
              <a:avLst/>
              <a:gdLst/>
              <a:ahLst/>
              <a:cxnLst/>
              <a:rect l="l" t="t" r="r" b="b"/>
              <a:pathLst>
                <a:path w="6438900" h="5029200">
                  <a:moveTo>
                    <a:pt x="6336554" y="5029199"/>
                  </a:moveTo>
                  <a:lnTo>
                    <a:pt x="102345" y="5029199"/>
                  </a:lnTo>
                  <a:lnTo>
                    <a:pt x="95221" y="5028497"/>
                  </a:lnTo>
                  <a:lnTo>
                    <a:pt x="54661" y="5014733"/>
                  </a:lnTo>
                  <a:lnTo>
                    <a:pt x="22456" y="4986497"/>
                  </a:lnTo>
                  <a:lnTo>
                    <a:pt x="3507" y="4948085"/>
                  </a:lnTo>
                  <a:lnTo>
                    <a:pt x="0" y="4926854"/>
                  </a:lnTo>
                  <a:lnTo>
                    <a:pt x="0" y="4919662"/>
                  </a:lnTo>
                  <a:lnTo>
                    <a:pt x="0" y="102345"/>
                  </a:lnTo>
                  <a:lnTo>
                    <a:pt x="11090" y="60974"/>
                  </a:lnTo>
                  <a:lnTo>
                    <a:pt x="37168" y="26997"/>
                  </a:lnTo>
                  <a:lnTo>
                    <a:pt x="74264" y="5585"/>
                  </a:lnTo>
                  <a:lnTo>
                    <a:pt x="102345" y="0"/>
                  </a:lnTo>
                  <a:lnTo>
                    <a:pt x="6336554" y="0"/>
                  </a:lnTo>
                  <a:lnTo>
                    <a:pt x="6377924" y="11090"/>
                  </a:lnTo>
                  <a:lnTo>
                    <a:pt x="6411901" y="37168"/>
                  </a:lnTo>
                  <a:lnTo>
                    <a:pt x="6433313" y="74264"/>
                  </a:lnTo>
                  <a:lnTo>
                    <a:pt x="6438899" y="102345"/>
                  </a:lnTo>
                  <a:lnTo>
                    <a:pt x="6438899" y="4926854"/>
                  </a:lnTo>
                  <a:lnTo>
                    <a:pt x="6427807" y="4968224"/>
                  </a:lnTo>
                  <a:lnTo>
                    <a:pt x="6401729" y="5002201"/>
                  </a:lnTo>
                  <a:lnTo>
                    <a:pt x="6364634" y="5023613"/>
                  </a:lnTo>
                  <a:lnTo>
                    <a:pt x="6343677" y="5028497"/>
                  </a:lnTo>
                  <a:lnTo>
                    <a:pt x="6336554" y="5029199"/>
                  </a:lnTo>
                  <a:close/>
                </a:path>
              </a:pathLst>
            </a:custGeom>
            <a:solidFill>
              <a:srgbClr val="FAFAFA"/>
            </a:solidFill>
          </p:spPr>
          <p:txBody>
            <a:bodyPr wrap="square" lIns="0" tIns="0" rIns="0" bIns="0" rtlCol="0"/>
            <a:lstStyle/>
            <a:p/>
          </p:txBody>
        </p:sp>
        <p:sp>
          <p:nvSpPr>
            <p:cNvPr id="23" name="object 23"/>
            <p:cNvSpPr/>
            <p:nvPr/>
          </p:nvSpPr>
          <p:spPr>
            <a:xfrm>
              <a:off x="5291137" y="1366837"/>
              <a:ext cx="6438900" cy="5029200"/>
            </a:xfrm>
            <a:custGeom>
              <a:avLst/>
              <a:gdLst/>
              <a:ahLst/>
              <a:cxnLst/>
              <a:rect l="l" t="t" r="r" b="b"/>
              <a:pathLst>
                <a:path w="6438900" h="5029200">
                  <a:moveTo>
                    <a:pt x="0" y="491966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6329361" y="0"/>
                  </a:lnTo>
                  <a:lnTo>
                    <a:pt x="6336554" y="0"/>
                  </a:lnTo>
                  <a:lnTo>
                    <a:pt x="6343677" y="701"/>
                  </a:lnTo>
                  <a:lnTo>
                    <a:pt x="6384236" y="14464"/>
                  </a:lnTo>
                  <a:lnTo>
                    <a:pt x="6390216" y="18460"/>
                  </a:lnTo>
                  <a:lnTo>
                    <a:pt x="6396196" y="22456"/>
                  </a:lnTo>
                  <a:lnTo>
                    <a:pt x="6424434" y="54661"/>
                  </a:lnTo>
                  <a:lnTo>
                    <a:pt x="6430560" y="67619"/>
                  </a:lnTo>
                  <a:lnTo>
                    <a:pt x="6433313" y="74264"/>
                  </a:lnTo>
                  <a:lnTo>
                    <a:pt x="6435390" y="81113"/>
                  </a:lnTo>
                  <a:lnTo>
                    <a:pt x="6436794" y="88167"/>
                  </a:lnTo>
                  <a:lnTo>
                    <a:pt x="6438197" y="95221"/>
                  </a:lnTo>
                  <a:lnTo>
                    <a:pt x="6438899" y="102345"/>
                  </a:lnTo>
                  <a:lnTo>
                    <a:pt x="6438899" y="109537"/>
                  </a:lnTo>
                  <a:lnTo>
                    <a:pt x="6438899" y="4919662"/>
                  </a:lnTo>
                  <a:lnTo>
                    <a:pt x="6438899" y="4926854"/>
                  </a:lnTo>
                  <a:lnTo>
                    <a:pt x="6438197" y="4933977"/>
                  </a:lnTo>
                  <a:lnTo>
                    <a:pt x="6436794" y="4941031"/>
                  </a:lnTo>
                  <a:lnTo>
                    <a:pt x="6435390" y="4948085"/>
                  </a:lnTo>
                  <a:lnTo>
                    <a:pt x="6433313" y="4954934"/>
                  </a:lnTo>
                  <a:lnTo>
                    <a:pt x="6430560" y="4961579"/>
                  </a:lnTo>
                  <a:lnTo>
                    <a:pt x="6427807" y="4968224"/>
                  </a:lnTo>
                  <a:lnTo>
                    <a:pt x="6401729" y="5002201"/>
                  </a:lnTo>
                  <a:lnTo>
                    <a:pt x="6364634" y="5023613"/>
                  </a:lnTo>
                  <a:lnTo>
                    <a:pt x="6329361" y="5029199"/>
                  </a:lnTo>
                  <a:lnTo>
                    <a:pt x="109537" y="5029199"/>
                  </a:lnTo>
                  <a:lnTo>
                    <a:pt x="67619" y="5020860"/>
                  </a:lnTo>
                  <a:lnTo>
                    <a:pt x="60974" y="5018107"/>
                  </a:lnTo>
                  <a:lnTo>
                    <a:pt x="26997" y="4992030"/>
                  </a:lnTo>
                  <a:lnTo>
                    <a:pt x="8338" y="4961579"/>
                  </a:lnTo>
                  <a:lnTo>
                    <a:pt x="5585" y="4954934"/>
                  </a:lnTo>
                  <a:lnTo>
                    <a:pt x="3507" y="4948085"/>
                  </a:lnTo>
                  <a:lnTo>
                    <a:pt x="2104" y="4941031"/>
                  </a:lnTo>
                  <a:lnTo>
                    <a:pt x="701" y="4933977"/>
                  </a:lnTo>
                  <a:lnTo>
                    <a:pt x="0" y="4926854"/>
                  </a:lnTo>
                  <a:lnTo>
                    <a:pt x="0" y="4919662"/>
                  </a:lnTo>
                  <a:close/>
                </a:path>
              </a:pathLst>
            </a:custGeom>
            <a:ln w="9524">
              <a:solidFill>
                <a:srgbClr val="E4E4E4"/>
              </a:solidFill>
            </a:ln>
          </p:spPr>
          <p:txBody>
            <a:bodyPr wrap="square" lIns="0" tIns="0" rIns="0" bIns="0" rtlCol="0"/>
            <a:lstStyle/>
            <a:p/>
          </p:txBody>
        </p:sp>
      </p:grpSp>
      <p:sp>
        <p:nvSpPr>
          <p:cNvPr id="24" name="object 24"/>
          <p:cNvSpPr txBox="1"/>
          <p:nvPr/>
        </p:nvSpPr>
        <p:spPr>
          <a:xfrm>
            <a:off x="5508525" y="1612029"/>
            <a:ext cx="2432685" cy="548005"/>
          </a:xfrm>
          <a:prstGeom prst="rect">
            <a:avLst/>
          </a:prstGeom>
        </p:spPr>
        <p:txBody>
          <a:bodyPr vert="horz" wrap="square" lIns="0" tIns="35560" rIns="0" bIns="0" rtlCol="0">
            <a:spAutoFit/>
          </a:bodyPr>
          <a:lstStyle/>
          <a:p>
            <a:pPr marL="12700">
              <a:lnSpc>
                <a:spcPct val="100000"/>
              </a:lnSpc>
              <a:spcBef>
                <a:spcPts val="280"/>
              </a:spcBef>
            </a:pPr>
            <a:r>
              <a:rPr sz="900" spc="70" dirty="0">
                <a:solidFill>
                  <a:srgbClr val="5B8BA7"/>
                </a:solidFill>
                <a:latin typeface="宋体" panose="02010600030101010101" pitchFamily="2" charset="-122"/>
                <a:cs typeface="宋体" panose="02010600030101010101" pitchFamily="2" charset="-122"/>
              </a:rPr>
              <a:t>数据流与维度构建</a:t>
            </a:r>
            <a:endParaRPr sz="900">
              <a:latin typeface="宋体" panose="02010600030101010101" pitchFamily="2" charset="-122"/>
              <a:cs typeface="宋体" panose="02010600030101010101" pitchFamily="2" charset="-122"/>
            </a:endParaRPr>
          </a:p>
          <a:p>
            <a:pPr marL="12700">
              <a:lnSpc>
                <a:spcPct val="100000"/>
              </a:lnSpc>
              <a:spcBef>
                <a:spcPts val="445"/>
              </a:spcBef>
            </a:pPr>
            <a:r>
              <a:rPr sz="2000" spc="-175" dirty="0">
                <a:solidFill>
                  <a:srgbClr val="111726"/>
                </a:solidFill>
                <a:latin typeface="宋体" panose="02010600030101010101" pitchFamily="2" charset="-122"/>
                <a:cs typeface="宋体" panose="02010600030101010101" pitchFamily="2" charset="-122"/>
              </a:rPr>
              <a:t>滑动切片操作</a:t>
            </a:r>
            <a:r>
              <a:rPr sz="1850" spc="-45" dirty="0">
                <a:solidFill>
                  <a:srgbClr val="111726"/>
                </a:solidFill>
                <a:latin typeface="Calibri" panose="020F0502020204030204"/>
                <a:cs typeface="Calibri" panose="020F0502020204030204"/>
              </a:rPr>
              <a:t>(Joint</a:t>
            </a:r>
            <a:r>
              <a:rPr sz="1850" spc="-105" dirty="0">
                <a:solidFill>
                  <a:srgbClr val="111726"/>
                </a:solidFill>
                <a:latin typeface="Calibri" panose="020F0502020204030204"/>
                <a:cs typeface="Calibri" panose="020F0502020204030204"/>
              </a:rPr>
              <a:t> </a:t>
            </a:r>
            <a:r>
              <a:rPr sz="1850" spc="-25" dirty="0">
                <a:solidFill>
                  <a:srgbClr val="111726"/>
                </a:solidFill>
                <a:latin typeface="Calibri" panose="020F0502020204030204"/>
                <a:cs typeface="Calibri" panose="020F0502020204030204"/>
              </a:rPr>
              <a:t>Slice)</a:t>
            </a:r>
            <a:endParaRPr sz="1850">
              <a:latin typeface="Calibri" panose="020F0502020204030204"/>
              <a:cs typeface="Calibri" panose="020F0502020204030204"/>
            </a:endParaRPr>
          </a:p>
        </p:txBody>
      </p:sp>
      <p:grpSp>
        <p:nvGrpSpPr>
          <p:cNvPr id="25" name="object 25"/>
          <p:cNvGrpSpPr/>
          <p:nvPr/>
        </p:nvGrpSpPr>
        <p:grpSpPr>
          <a:xfrm>
            <a:off x="5524499" y="2724149"/>
            <a:ext cx="5972175" cy="2133600"/>
            <a:chOff x="5524499" y="2724149"/>
            <a:chExt cx="5972175" cy="2133600"/>
          </a:xfrm>
        </p:grpSpPr>
        <p:sp>
          <p:nvSpPr>
            <p:cNvPr id="26" name="object 26"/>
            <p:cNvSpPr/>
            <p:nvPr/>
          </p:nvSpPr>
          <p:spPr>
            <a:xfrm>
              <a:off x="5529262" y="2728912"/>
              <a:ext cx="5962650" cy="219075"/>
            </a:xfrm>
            <a:custGeom>
              <a:avLst/>
              <a:gdLst/>
              <a:ahLst/>
              <a:cxnLst/>
              <a:rect l="l" t="t" r="r" b="b"/>
              <a:pathLst>
                <a:path w="5962650" h="219075">
                  <a:moveTo>
                    <a:pt x="0" y="166687"/>
                  </a:moveTo>
                  <a:lnTo>
                    <a:pt x="0" y="52387"/>
                  </a:lnTo>
                  <a:lnTo>
                    <a:pt x="0" y="48947"/>
                  </a:lnTo>
                  <a:lnTo>
                    <a:pt x="335" y="45540"/>
                  </a:lnTo>
                  <a:lnTo>
                    <a:pt x="1006" y="42167"/>
                  </a:lnTo>
                  <a:lnTo>
                    <a:pt x="1677" y="38793"/>
                  </a:lnTo>
                  <a:lnTo>
                    <a:pt x="2671" y="35517"/>
                  </a:lnTo>
                  <a:lnTo>
                    <a:pt x="3987" y="32339"/>
                  </a:lnTo>
                  <a:lnTo>
                    <a:pt x="5304" y="29161"/>
                  </a:lnTo>
                  <a:lnTo>
                    <a:pt x="6917" y="26142"/>
                  </a:lnTo>
                  <a:lnTo>
                    <a:pt x="38793" y="1677"/>
                  </a:lnTo>
                  <a:lnTo>
                    <a:pt x="48947" y="0"/>
                  </a:lnTo>
                  <a:lnTo>
                    <a:pt x="52387" y="0"/>
                  </a:lnTo>
                  <a:lnTo>
                    <a:pt x="5910262" y="0"/>
                  </a:lnTo>
                  <a:lnTo>
                    <a:pt x="5913701" y="0"/>
                  </a:lnTo>
                  <a:lnTo>
                    <a:pt x="5917108" y="335"/>
                  </a:lnTo>
                  <a:lnTo>
                    <a:pt x="5939366" y="8828"/>
                  </a:lnTo>
                  <a:lnTo>
                    <a:pt x="5942226" y="10739"/>
                  </a:lnTo>
                  <a:lnTo>
                    <a:pt x="5944873" y="12911"/>
                  </a:lnTo>
                  <a:lnTo>
                    <a:pt x="5947305" y="15343"/>
                  </a:lnTo>
                  <a:lnTo>
                    <a:pt x="5949736" y="17776"/>
                  </a:lnTo>
                  <a:lnTo>
                    <a:pt x="5962649" y="52387"/>
                  </a:lnTo>
                  <a:lnTo>
                    <a:pt x="5962649" y="166687"/>
                  </a:lnTo>
                  <a:lnTo>
                    <a:pt x="5958661" y="186735"/>
                  </a:lnTo>
                  <a:lnTo>
                    <a:pt x="5957345" y="189912"/>
                  </a:lnTo>
                  <a:lnTo>
                    <a:pt x="5939366" y="210245"/>
                  </a:lnTo>
                  <a:lnTo>
                    <a:pt x="5936506" y="212156"/>
                  </a:lnTo>
                  <a:lnTo>
                    <a:pt x="5910262" y="219074"/>
                  </a:lnTo>
                  <a:lnTo>
                    <a:pt x="52387" y="219074"/>
                  </a:lnTo>
                  <a:lnTo>
                    <a:pt x="48947" y="219074"/>
                  </a:lnTo>
                  <a:lnTo>
                    <a:pt x="45540" y="218739"/>
                  </a:lnTo>
                  <a:lnTo>
                    <a:pt x="42167" y="218068"/>
                  </a:lnTo>
                  <a:lnTo>
                    <a:pt x="38793" y="217397"/>
                  </a:lnTo>
                  <a:lnTo>
                    <a:pt x="23282" y="210245"/>
                  </a:lnTo>
                  <a:lnTo>
                    <a:pt x="20422" y="208334"/>
                  </a:lnTo>
                  <a:lnTo>
                    <a:pt x="8828" y="195792"/>
                  </a:lnTo>
                  <a:lnTo>
                    <a:pt x="6917" y="192932"/>
                  </a:lnTo>
                  <a:lnTo>
                    <a:pt x="5304" y="189912"/>
                  </a:lnTo>
                  <a:lnTo>
                    <a:pt x="3987" y="186735"/>
                  </a:lnTo>
                  <a:lnTo>
                    <a:pt x="2671" y="183557"/>
                  </a:lnTo>
                  <a:lnTo>
                    <a:pt x="1677" y="180281"/>
                  </a:lnTo>
                  <a:lnTo>
                    <a:pt x="1006" y="176907"/>
                  </a:lnTo>
                  <a:lnTo>
                    <a:pt x="335" y="173534"/>
                  </a:lnTo>
                  <a:lnTo>
                    <a:pt x="0" y="170127"/>
                  </a:lnTo>
                  <a:lnTo>
                    <a:pt x="0" y="166687"/>
                  </a:lnTo>
                  <a:close/>
                </a:path>
              </a:pathLst>
            </a:custGeom>
            <a:ln w="9524">
              <a:solidFill>
                <a:srgbClr val="E4E7EB"/>
              </a:solidFill>
            </a:ln>
          </p:spPr>
          <p:txBody>
            <a:bodyPr wrap="square" lIns="0" tIns="0" rIns="0" bIns="0" rtlCol="0"/>
            <a:lstStyle/>
            <a:p/>
          </p:txBody>
        </p:sp>
        <p:sp>
          <p:nvSpPr>
            <p:cNvPr id="27" name="object 27"/>
            <p:cNvSpPr/>
            <p:nvPr/>
          </p:nvSpPr>
          <p:spPr>
            <a:xfrm>
              <a:off x="5534025" y="2733674"/>
              <a:ext cx="3571875" cy="209550"/>
            </a:xfrm>
            <a:custGeom>
              <a:avLst/>
              <a:gdLst/>
              <a:ahLst/>
              <a:cxnLst/>
              <a:rect l="l" t="t" r="r" b="b"/>
              <a:pathLst>
                <a:path w="3571875" h="209550">
                  <a:moveTo>
                    <a:pt x="3571874" y="209549"/>
                  </a:moveTo>
                  <a:lnTo>
                    <a:pt x="47625" y="209549"/>
                  </a:lnTo>
                  <a:lnTo>
                    <a:pt x="38122" y="208678"/>
                  </a:lnTo>
                  <a:lnTo>
                    <a:pt x="3487" y="180207"/>
                  </a:lnTo>
                  <a:lnTo>
                    <a:pt x="0" y="161925"/>
                  </a:lnTo>
                  <a:lnTo>
                    <a:pt x="0" y="47625"/>
                  </a:lnTo>
                  <a:lnTo>
                    <a:pt x="21284" y="7846"/>
                  </a:lnTo>
                  <a:lnTo>
                    <a:pt x="47625" y="0"/>
                  </a:lnTo>
                  <a:lnTo>
                    <a:pt x="3571874" y="0"/>
                  </a:lnTo>
                  <a:lnTo>
                    <a:pt x="3571874" y="209549"/>
                  </a:lnTo>
                  <a:close/>
                </a:path>
              </a:pathLst>
            </a:custGeom>
            <a:solidFill>
              <a:srgbClr val="E7F1F6"/>
            </a:solidFill>
          </p:spPr>
          <p:txBody>
            <a:bodyPr wrap="square" lIns="0" tIns="0" rIns="0" bIns="0" rtlCol="0"/>
            <a:lstStyle/>
            <a:p/>
          </p:txBody>
        </p:sp>
        <p:sp>
          <p:nvSpPr>
            <p:cNvPr id="28" name="object 28"/>
            <p:cNvSpPr/>
            <p:nvPr/>
          </p:nvSpPr>
          <p:spPr>
            <a:xfrm>
              <a:off x="9096374" y="2733674"/>
              <a:ext cx="9525" cy="209550"/>
            </a:xfrm>
            <a:custGeom>
              <a:avLst/>
              <a:gdLst/>
              <a:ahLst/>
              <a:cxnLst/>
              <a:rect l="l" t="t" r="r" b="b"/>
              <a:pathLst>
                <a:path w="9525" h="209550">
                  <a:moveTo>
                    <a:pt x="9524" y="209549"/>
                  </a:moveTo>
                  <a:lnTo>
                    <a:pt x="0" y="209549"/>
                  </a:lnTo>
                  <a:lnTo>
                    <a:pt x="0" y="0"/>
                  </a:lnTo>
                  <a:lnTo>
                    <a:pt x="9524" y="0"/>
                  </a:lnTo>
                  <a:lnTo>
                    <a:pt x="9524" y="209549"/>
                  </a:lnTo>
                  <a:close/>
                </a:path>
              </a:pathLst>
            </a:custGeom>
            <a:solidFill>
              <a:srgbClr val="D1E3EF"/>
            </a:solidFill>
          </p:spPr>
          <p:txBody>
            <a:bodyPr wrap="square" lIns="0" tIns="0" rIns="0" bIns="0" rtlCol="0"/>
            <a:lstStyle/>
            <a:p/>
          </p:txBody>
        </p:sp>
        <p:sp>
          <p:nvSpPr>
            <p:cNvPr id="29" name="object 29"/>
            <p:cNvSpPr/>
            <p:nvPr/>
          </p:nvSpPr>
          <p:spPr>
            <a:xfrm>
              <a:off x="9105899" y="2733674"/>
              <a:ext cx="2381250" cy="209550"/>
            </a:xfrm>
            <a:custGeom>
              <a:avLst/>
              <a:gdLst/>
              <a:ahLst/>
              <a:cxnLst/>
              <a:rect l="l" t="t" r="r" b="b"/>
              <a:pathLst>
                <a:path w="2381250" h="209550">
                  <a:moveTo>
                    <a:pt x="2333625" y="209549"/>
                  </a:moveTo>
                  <a:lnTo>
                    <a:pt x="0" y="209549"/>
                  </a:lnTo>
                  <a:lnTo>
                    <a:pt x="0" y="0"/>
                  </a:lnTo>
                  <a:lnTo>
                    <a:pt x="2333625" y="0"/>
                  </a:lnTo>
                  <a:lnTo>
                    <a:pt x="2343127" y="871"/>
                  </a:lnTo>
                  <a:lnTo>
                    <a:pt x="2377762" y="29342"/>
                  </a:lnTo>
                  <a:lnTo>
                    <a:pt x="2381249" y="47625"/>
                  </a:lnTo>
                  <a:lnTo>
                    <a:pt x="2381249" y="161925"/>
                  </a:lnTo>
                  <a:lnTo>
                    <a:pt x="2359964" y="201703"/>
                  </a:lnTo>
                  <a:lnTo>
                    <a:pt x="2333625" y="209549"/>
                  </a:lnTo>
                  <a:close/>
                </a:path>
              </a:pathLst>
            </a:custGeom>
            <a:solidFill>
              <a:srgbClr val="E6F6F6"/>
            </a:solidFill>
          </p:spPr>
          <p:txBody>
            <a:bodyPr wrap="square" lIns="0" tIns="0" rIns="0" bIns="0" rtlCol="0"/>
            <a:lstStyle/>
            <a:p/>
          </p:txBody>
        </p:sp>
        <p:sp>
          <p:nvSpPr>
            <p:cNvPr id="30" name="object 30"/>
            <p:cNvSpPr/>
            <p:nvPr/>
          </p:nvSpPr>
          <p:spPr>
            <a:xfrm>
              <a:off x="5556249" y="3187699"/>
              <a:ext cx="88900" cy="82550"/>
            </a:xfrm>
            <a:custGeom>
              <a:avLst/>
              <a:gdLst/>
              <a:ahLst/>
              <a:cxnLst/>
              <a:rect l="l" t="t" r="r" b="b"/>
              <a:pathLst>
                <a:path w="88900" h="82550">
                  <a:moveTo>
                    <a:pt x="88900" y="38100"/>
                  </a:moveTo>
                  <a:lnTo>
                    <a:pt x="44450" y="82550"/>
                  </a:lnTo>
                  <a:lnTo>
                    <a:pt x="0" y="38100"/>
                  </a:lnTo>
                </a:path>
                <a:path w="88900" h="82550">
                  <a:moveTo>
                    <a:pt x="88900" y="0"/>
                  </a:moveTo>
                  <a:lnTo>
                    <a:pt x="44450" y="44450"/>
                  </a:lnTo>
                  <a:lnTo>
                    <a:pt x="0" y="0"/>
                  </a:lnTo>
                </a:path>
              </a:pathLst>
            </a:custGeom>
            <a:ln w="12700">
              <a:solidFill>
                <a:srgbClr val="D4A573"/>
              </a:solidFill>
            </a:ln>
          </p:spPr>
          <p:txBody>
            <a:bodyPr wrap="square" lIns="0" tIns="0" rIns="0" bIns="0" rtlCol="0"/>
            <a:lstStyle/>
            <a:p/>
          </p:txBody>
        </p:sp>
        <p:sp>
          <p:nvSpPr>
            <p:cNvPr id="31" name="object 31"/>
            <p:cNvSpPr/>
            <p:nvPr/>
          </p:nvSpPr>
          <p:spPr>
            <a:xfrm>
              <a:off x="5529262" y="3490912"/>
              <a:ext cx="5962650" cy="1362075"/>
            </a:xfrm>
            <a:custGeom>
              <a:avLst/>
              <a:gdLst/>
              <a:ahLst/>
              <a:cxnLst/>
              <a:rect l="l" t="t" r="r" b="b"/>
              <a:pathLst>
                <a:path w="5962650" h="1362075">
                  <a:moveTo>
                    <a:pt x="5895902" y="1362074"/>
                  </a:moveTo>
                  <a:lnTo>
                    <a:pt x="66746" y="1362074"/>
                  </a:lnTo>
                  <a:lnTo>
                    <a:pt x="62101" y="1361617"/>
                  </a:lnTo>
                  <a:lnTo>
                    <a:pt x="24240" y="1344468"/>
                  </a:lnTo>
                  <a:lnTo>
                    <a:pt x="2287" y="1309174"/>
                  </a:lnTo>
                  <a:lnTo>
                    <a:pt x="0" y="1295328"/>
                  </a:lnTo>
                  <a:lnTo>
                    <a:pt x="0" y="1290637"/>
                  </a:lnTo>
                  <a:lnTo>
                    <a:pt x="0" y="66746"/>
                  </a:lnTo>
                  <a:lnTo>
                    <a:pt x="14645" y="27848"/>
                  </a:lnTo>
                  <a:lnTo>
                    <a:pt x="48433" y="3642"/>
                  </a:lnTo>
                  <a:lnTo>
                    <a:pt x="66746" y="0"/>
                  </a:lnTo>
                  <a:lnTo>
                    <a:pt x="5895902" y="0"/>
                  </a:lnTo>
                  <a:lnTo>
                    <a:pt x="5934800" y="14645"/>
                  </a:lnTo>
                  <a:lnTo>
                    <a:pt x="5959006" y="48432"/>
                  </a:lnTo>
                  <a:lnTo>
                    <a:pt x="5962648" y="66746"/>
                  </a:lnTo>
                  <a:lnTo>
                    <a:pt x="5962648" y="1295328"/>
                  </a:lnTo>
                  <a:lnTo>
                    <a:pt x="5948003" y="1334225"/>
                  </a:lnTo>
                  <a:lnTo>
                    <a:pt x="5914215" y="1358431"/>
                  </a:lnTo>
                  <a:lnTo>
                    <a:pt x="5900547" y="1361617"/>
                  </a:lnTo>
                  <a:lnTo>
                    <a:pt x="5895902" y="1362074"/>
                  </a:lnTo>
                  <a:close/>
                </a:path>
              </a:pathLst>
            </a:custGeom>
            <a:solidFill>
              <a:srgbClr val="FFFFFF"/>
            </a:solidFill>
          </p:spPr>
          <p:txBody>
            <a:bodyPr wrap="square" lIns="0" tIns="0" rIns="0" bIns="0" rtlCol="0"/>
            <a:lstStyle/>
            <a:p/>
          </p:txBody>
        </p:sp>
        <p:sp>
          <p:nvSpPr>
            <p:cNvPr id="32" name="object 32"/>
            <p:cNvSpPr/>
            <p:nvPr/>
          </p:nvSpPr>
          <p:spPr>
            <a:xfrm>
              <a:off x="5529262" y="3490912"/>
              <a:ext cx="5962650" cy="1362075"/>
            </a:xfrm>
            <a:custGeom>
              <a:avLst/>
              <a:gdLst/>
              <a:ahLst/>
              <a:cxnLst/>
              <a:rect l="l" t="t" r="r" b="b"/>
              <a:pathLst>
                <a:path w="5962650" h="1362075">
                  <a:moveTo>
                    <a:pt x="0" y="1290637"/>
                  </a:moveTo>
                  <a:lnTo>
                    <a:pt x="0" y="71437"/>
                  </a:lnTo>
                  <a:lnTo>
                    <a:pt x="0" y="66746"/>
                  </a:lnTo>
                  <a:lnTo>
                    <a:pt x="457" y="62101"/>
                  </a:lnTo>
                  <a:lnTo>
                    <a:pt x="1372" y="57500"/>
                  </a:lnTo>
                  <a:lnTo>
                    <a:pt x="2287" y="52899"/>
                  </a:lnTo>
                  <a:lnTo>
                    <a:pt x="3642" y="48432"/>
                  </a:lnTo>
                  <a:lnTo>
                    <a:pt x="5437" y="44099"/>
                  </a:lnTo>
                  <a:lnTo>
                    <a:pt x="7232" y="39765"/>
                  </a:lnTo>
                  <a:lnTo>
                    <a:pt x="20923" y="20923"/>
                  </a:lnTo>
                  <a:lnTo>
                    <a:pt x="24240" y="17606"/>
                  </a:lnTo>
                  <a:lnTo>
                    <a:pt x="62101" y="457"/>
                  </a:lnTo>
                  <a:lnTo>
                    <a:pt x="66746" y="0"/>
                  </a:lnTo>
                  <a:lnTo>
                    <a:pt x="71437" y="0"/>
                  </a:lnTo>
                  <a:lnTo>
                    <a:pt x="5891212" y="0"/>
                  </a:lnTo>
                  <a:lnTo>
                    <a:pt x="5895902" y="0"/>
                  </a:lnTo>
                  <a:lnTo>
                    <a:pt x="5900547" y="457"/>
                  </a:lnTo>
                  <a:lnTo>
                    <a:pt x="5938408" y="17606"/>
                  </a:lnTo>
                  <a:lnTo>
                    <a:pt x="5950608" y="31748"/>
                  </a:lnTo>
                  <a:lnTo>
                    <a:pt x="5953215" y="35648"/>
                  </a:lnTo>
                  <a:lnTo>
                    <a:pt x="5955416" y="39765"/>
                  </a:lnTo>
                  <a:lnTo>
                    <a:pt x="5957210" y="44099"/>
                  </a:lnTo>
                  <a:lnTo>
                    <a:pt x="5959006" y="48432"/>
                  </a:lnTo>
                  <a:lnTo>
                    <a:pt x="5960361" y="52899"/>
                  </a:lnTo>
                  <a:lnTo>
                    <a:pt x="5961276" y="57500"/>
                  </a:lnTo>
                  <a:lnTo>
                    <a:pt x="5962191" y="62101"/>
                  </a:lnTo>
                  <a:lnTo>
                    <a:pt x="5962648" y="66746"/>
                  </a:lnTo>
                  <a:lnTo>
                    <a:pt x="5962649" y="71437"/>
                  </a:lnTo>
                  <a:lnTo>
                    <a:pt x="5962649" y="1290637"/>
                  </a:lnTo>
                  <a:lnTo>
                    <a:pt x="5962648" y="1295328"/>
                  </a:lnTo>
                  <a:lnTo>
                    <a:pt x="5962191" y="1299973"/>
                  </a:lnTo>
                  <a:lnTo>
                    <a:pt x="5961276" y="1304574"/>
                  </a:lnTo>
                  <a:lnTo>
                    <a:pt x="5960361" y="1309174"/>
                  </a:lnTo>
                  <a:lnTo>
                    <a:pt x="5959006" y="1313641"/>
                  </a:lnTo>
                  <a:lnTo>
                    <a:pt x="5957210" y="1317974"/>
                  </a:lnTo>
                  <a:lnTo>
                    <a:pt x="5955416" y="1322308"/>
                  </a:lnTo>
                  <a:lnTo>
                    <a:pt x="5953215" y="1326425"/>
                  </a:lnTo>
                  <a:lnTo>
                    <a:pt x="5950608" y="1330325"/>
                  </a:lnTo>
                  <a:lnTo>
                    <a:pt x="5948003" y="1334225"/>
                  </a:lnTo>
                  <a:lnTo>
                    <a:pt x="5914215" y="1358431"/>
                  </a:lnTo>
                  <a:lnTo>
                    <a:pt x="5891212" y="1362074"/>
                  </a:lnTo>
                  <a:lnTo>
                    <a:pt x="71437" y="1362074"/>
                  </a:lnTo>
                  <a:lnTo>
                    <a:pt x="31748" y="1350035"/>
                  </a:lnTo>
                  <a:lnTo>
                    <a:pt x="20923" y="1341151"/>
                  </a:lnTo>
                  <a:lnTo>
                    <a:pt x="17606" y="1337834"/>
                  </a:lnTo>
                  <a:lnTo>
                    <a:pt x="5437" y="1317975"/>
                  </a:lnTo>
                  <a:lnTo>
                    <a:pt x="3642" y="1313641"/>
                  </a:lnTo>
                  <a:lnTo>
                    <a:pt x="2287" y="1309174"/>
                  </a:lnTo>
                  <a:lnTo>
                    <a:pt x="1372" y="1304574"/>
                  </a:lnTo>
                  <a:lnTo>
                    <a:pt x="457" y="1299973"/>
                  </a:lnTo>
                  <a:lnTo>
                    <a:pt x="0" y="1295328"/>
                  </a:lnTo>
                  <a:lnTo>
                    <a:pt x="0" y="1290637"/>
                  </a:lnTo>
                  <a:close/>
                </a:path>
              </a:pathLst>
            </a:custGeom>
            <a:ln w="9524">
              <a:solidFill>
                <a:srgbClr val="E4E4E4"/>
              </a:solidFill>
            </a:ln>
          </p:spPr>
          <p:txBody>
            <a:bodyPr wrap="square" lIns="0" tIns="0" rIns="0" bIns="0" rtlCol="0"/>
            <a:lstStyle/>
            <a:p/>
          </p:txBody>
        </p:sp>
      </p:grpSp>
      <p:sp>
        <p:nvSpPr>
          <p:cNvPr id="33" name="object 33"/>
          <p:cNvSpPr txBox="1"/>
          <p:nvPr/>
        </p:nvSpPr>
        <p:spPr>
          <a:xfrm>
            <a:off x="5632350" y="3597275"/>
            <a:ext cx="2091689" cy="162560"/>
          </a:xfrm>
          <a:prstGeom prst="rect">
            <a:avLst/>
          </a:prstGeom>
        </p:spPr>
        <p:txBody>
          <a:bodyPr vert="horz" wrap="square" lIns="0" tIns="12700" rIns="0" bIns="0" rtlCol="0">
            <a:spAutoFit/>
          </a:bodyPr>
          <a:lstStyle/>
          <a:p>
            <a:pPr marL="12700">
              <a:lnSpc>
                <a:spcPct val="100000"/>
              </a:lnSpc>
              <a:spcBef>
                <a:spcPts val="100"/>
              </a:spcBef>
            </a:pPr>
            <a:r>
              <a:rPr sz="900" spc="-20" dirty="0">
                <a:solidFill>
                  <a:srgbClr val="9CA2AF"/>
                </a:solidFill>
                <a:latin typeface="宋体" panose="02010600030101010101" pitchFamily="2" charset="-122"/>
                <a:cs typeface="宋体" panose="02010600030101010101" pitchFamily="2" charset="-122"/>
              </a:rPr>
              <a:t>维度变换核心操作 / </a:t>
            </a:r>
            <a:r>
              <a:rPr sz="900" spc="55" dirty="0">
                <a:solidFill>
                  <a:srgbClr val="9CA2AF"/>
                </a:solidFill>
                <a:latin typeface="宋体" panose="02010600030101010101" pitchFamily="2" charset="-122"/>
                <a:cs typeface="宋体" panose="02010600030101010101" pitchFamily="2" charset="-122"/>
              </a:rPr>
              <a:t>MATRIX</a:t>
            </a:r>
            <a:r>
              <a:rPr sz="900" spc="-80" dirty="0">
                <a:solidFill>
                  <a:srgbClr val="9CA2AF"/>
                </a:solidFill>
                <a:latin typeface="宋体" panose="02010600030101010101" pitchFamily="2" charset="-122"/>
                <a:cs typeface="宋体" panose="02010600030101010101" pitchFamily="2" charset="-122"/>
              </a:rPr>
              <a:t> </a:t>
            </a:r>
            <a:r>
              <a:rPr sz="900" spc="85" dirty="0">
                <a:solidFill>
                  <a:srgbClr val="9CA2AF"/>
                </a:solidFill>
                <a:latin typeface="宋体" panose="02010600030101010101" pitchFamily="2" charset="-122"/>
                <a:cs typeface="宋体" panose="02010600030101010101" pitchFamily="2" charset="-122"/>
              </a:rPr>
              <a:t>OPERATOR</a:t>
            </a:r>
            <a:endParaRPr sz="900">
              <a:latin typeface="宋体" panose="02010600030101010101" pitchFamily="2" charset="-122"/>
              <a:cs typeface="宋体" panose="02010600030101010101" pitchFamily="2" charset="-122"/>
            </a:endParaRPr>
          </a:p>
        </p:txBody>
      </p:sp>
      <p:sp>
        <p:nvSpPr>
          <p:cNvPr id="34" name="object 34"/>
          <p:cNvSpPr txBox="1"/>
          <p:nvPr/>
        </p:nvSpPr>
        <p:spPr>
          <a:xfrm>
            <a:off x="5508525" y="5163184"/>
            <a:ext cx="2574290" cy="387350"/>
          </a:xfrm>
          <a:prstGeom prst="rect">
            <a:avLst/>
          </a:prstGeom>
        </p:spPr>
        <p:txBody>
          <a:bodyPr vert="horz" wrap="square" lIns="0" tIns="12700" rIns="0" bIns="0" rtlCol="0">
            <a:spAutoFit/>
          </a:bodyPr>
          <a:lstStyle/>
          <a:p>
            <a:pPr marL="12700" marR="5080">
              <a:lnSpc>
                <a:spcPct val="132000"/>
              </a:lnSpc>
              <a:spcBef>
                <a:spcPts val="100"/>
              </a:spcBef>
            </a:pPr>
            <a:r>
              <a:rPr sz="900" spc="-50" dirty="0">
                <a:solidFill>
                  <a:srgbClr val="1F2937"/>
                </a:solidFill>
                <a:latin typeface="宋体" panose="02010600030101010101" pitchFamily="2" charset="-122"/>
                <a:cs typeface="宋体" panose="02010600030101010101" pitchFamily="2" charset="-122"/>
              </a:rPr>
              <a:t>释义： </a:t>
            </a:r>
            <a:r>
              <a:rPr sz="900" spc="-5" dirty="0">
                <a:solidFill>
                  <a:srgbClr val="6A7280"/>
                </a:solidFill>
                <a:latin typeface="宋体" panose="02010600030101010101" pitchFamily="2" charset="-122"/>
                <a:cs typeface="宋体" panose="02010600030101010101" pitchFamily="2" charset="-122"/>
              </a:rPr>
              <a:t>最终得到对齐后的局部切片矩阵，这些片段</a:t>
            </a:r>
            <a:r>
              <a:rPr sz="900" spc="-95" dirty="0">
                <a:solidFill>
                  <a:srgbClr val="6A7280"/>
                </a:solidFill>
                <a:latin typeface="宋体" panose="02010600030101010101" pitchFamily="2" charset="-122"/>
                <a:cs typeface="宋体" panose="02010600030101010101" pitchFamily="2" charset="-122"/>
              </a:rPr>
              <a:t>直接充当下游 “自注意力机制” 的高维特征实体集。</a:t>
            </a:r>
            <a:endParaRPr sz="900">
              <a:latin typeface="宋体" panose="02010600030101010101" pitchFamily="2" charset="-122"/>
              <a:cs typeface="宋体" panose="02010600030101010101" pitchFamily="2" charset="-122"/>
            </a:endParaRPr>
          </a:p>
        </p:txBody>
      </p:sp>
      <p:grpSp>
        <p:nvGrpSpPr>
          <p:cNvPr id="35" name="object 35"/>
          <p:cNvGrpSpPr/>
          <p:nvPr/>
        </p:nvGrpSpPr>
        <p:grpSpPr>
          <a:xfrm>
            <a:off x="5524499" y="5238749"/>
            <a:ext cx="5972175" cy="657225"/>
            <a:chOff x="5524499" y="5238749"/>
            <a:chExt cx="5972175" cy="657225"/>
          </a:xfrm>
        </p:grpSpPr>
        <p:sp>
          <p:nvSpPr>
            <p:cNvPr id="36" name="object 36"/>
            <p:cNvSpPr/>
            <p:nvPr/>
          </p:nvSpPr>
          <p:spPr>
            <a:xfrm>
              <a:off x="5524499" y="5886449"/>
              <a:ext cx="5972175" cy="9525"/>
            </a:xfrm>
            <a:custGeom>
              <a:avLst/>
              <a:gdLst/>
              <a:ahLst/>
              <a:cxnLst/>
              <a:rect l="l" t="t" r="r" b="b"/>
              <a:pathLst>
                <a:path w="5972175" h="9525">
                  <a:moveTo>
                    <a:pt x="5972174" y="9524"/>
                  </a:moveTo>
                  <a:lnTo>
                    <a:pt x="0" y="9524"/>
                  </a:lnTo>
                  <a:lnTo>
                    <a:pt x="0" y="0"/>
                  </a:lnTo>
                  <a:lnTo>
                    <a:pt x="5972174" y="0"/>
                  </a:lnTo>
                  <a:lnTo>
                    <a:pt x="5972174" y="9524"/>
                  </a:lnTo>
                  <a:close/>
                </a:path>
              </a:pathLst>
            </a:custGeom>
            <a:solidFill>
              <a:srgbClr val="E4E4E4"/>
            </a:solidFill>
          </p:spPr>
          <p:txBody>
            <a:bodyPr wrap="square" lIns="0" tIns="0" rIns="0" bIns="0" rtlCol="0"/>
            <a:lstStyle/>
            <a:p/>
          </p:txBody>
        </p:sp>
        <p:sp>
          <p:nvSpPr>
            <p:cNvPr id="37" name="object 37"/>
            <p:cNvSpPr/>
            <p:nvPr/>
          </p:nvSpPr>
          <p:spPr>
            <a:xfrm>
              <a:off x="10358436" y="5395912"/>
              <a:ext cx="1057275" cy="295275"/>
            </a:xfrm>
            <a:custGeom>
              <a:avLst/>
              <a:gdLst/>
              <a:ahLst/>
              <a:cxnLst/>
              <a:rect l="l" t="t" r="r" b="b"/>
              <a:pathLst>
                <a:path w="1057275" h="295275">
                  <a:moveTo>
                    <a:pt x="1028358" y="295274"/>
                  </a:moveTo>
                  <a:lnTo>
                    <a:pt x="28916" y="295274"/>
                  </a:lnTo>
                  <a:lnTo>
                    <a:pt x="24664" y="294428"/>
                  </a:lnTo>
                  <a:lnTo>
                    <a:pt x="0" y="266357"/>
                  </a:lnTo>
                  <a:lnTo>
                    <a:pt x="0" y="261937"/>
                  </a:lnTo>
                  <a:lnTo>
                    <a:pt x="0" y="28916"/>
                  </a:lnTo>
                  <a:lnTo>
                    <a:pt x="28916" y="0"/>
                  </a:lnTo>
                  <a:lnTo>
                    <a:pt x="1028358" y="0"/>
                  </a:lnTo>
                  <a:lnTo>
                    <a:pt x="1057274" y="28916"/>
                  </a:lnTo>
                  <a:lnTo>
                    <a:pt x="1057274" y="266357"/>
                  </a:lnTo>
                  <a:lnTo>
                    <a:pt x="1032610" y="294428"/>
                  </a:lnTo>
                  <a:lnTo>
                    <a:pt x="1028358" y="295274"/>
                  </a:lnTo>
                  <a:close/>
                </a:path>
              </a:pathLst>
            </a:custGeom>
            <a:solidFill>
              <a:srgbClr val="F9FAFA">
                <a:alpha val="50000"/>
              </a:srgbClr>
            </a:solidFill>
          </p:spPr>
          <p:txBody>
            <a:bodyPr wrap="square" lIns="0" tIns="0" rIns="0" bIns="0" rtlCol="0"/>
            <a:lstStyle/>
            <a:p/>
          </p:txBody>
        </p:sp>
        <p:sp>
          <p:nvSpPr>
            <p:cNvPr id="38" name="object 38"/>
            <p:cNvSpPr/>
            <p:nvPr/>
          </p:nvSpPr>
          <p:spPr>
            <a:xfrm>
              <a:off x="10358436" y="5395912"/>
              <a:ext cx="1057275" cy="295275"/>
            </a:xfrm>
            <a:custGeom>
              <a:avLst/>
              <a:gdLst/>
              <a:ahLst/>
              <a:cxnLst/>
              <a:rect l="l" t="t" r="r" b="b"/>
              <a:pathLst>
                <a:path w="1057275" h="295275">
                  <a:moveTo>
                    <a:pt x="0" y="261937"/>
                  </a:moveTo>
                  <a:lnTo>
                    <a:pt x="0" y="33337"/>
                  </a:lnTo>
                  <a:lnTo>
                    <a:pt x="0" y="28916"/>
                  </a:lnTo>
                  <a:lnTo>
                    <a:pt x="845" y="24663"/>
                  </a:lnTo>
                  <a:lnTo>
                    <a:pt x="2537" y="20579"/>
                  </a:lnTo>
                  <a:lnTo>
                    <a:pt x="4229" y="16494"/>
                  </a:lnTo>
                  <a:lnTo>
                    <a:pt x="6638" y="12889"/>
                  </a:lnTo>
                  <a:lnTo>
                    <a:pt x="9764" y="9763"/>
                  </a:lnTo>
                  <a:lnTo>
                    <a:pt x="12890" y="6637"/>
                  </a:lnTo>
                  <a:lnTo>
                    <a:pt x="16495" y="4229"/>
                  </a:lnTo>
                  <a:lnTo>
                    <a:pt x="20579" y="2537"/>
                  </a:lnTo>
                  <a:lnTo>
                    <a:pt x="24664" y="845"/>
                  </a:lnTo>
                  <a:lnTo>
                    <a:pt x="28916" y="0"/>
                  </a:lnTo>
                  <a:lnTo>
                    <a:pt x="33338" y="0"/>
                  </a:lnTo>
                  <a:lnTo>
                    <a:pt x="1023937" y="0"/>
                  </a:lnTo>
                  <a:lnTo>
                    <a:pt x="1028358" y="0"/>
                  </a:lnTo>
                  <a:lnTo>
                    <a:pt x="1032610" y="845"/>
                  </a:lnTo>
                  <a:lnTo>
                    <a:pt x="1036694" y="2537"/>
                  </a:lnTo>
                  <a:lnTo>
                    <a:pt x="1040778" y="4229"/>
                  </a:lnTo>
                  <a:lnTo>
                    <a:pt x="1044384" y="6637"/>
                  </a:lnTo>
                  <a:lnTo>
                    <a:pt x="1047510" y="9763"/>
                  </a:lnTo>
                  <a:lnTo>
                    <a:pt x="1050636" y="12889"/>
                  </a:lnTo>
                  <a:lnTo>
                    <a:pt x="1057275" y="33337"/>
                  </a:lnTo>
                  <a:lnTo>
                    <a:pt x="1057275" y="261937"/>
                  </a:lnTo>
                  <a:lnTo>
                    <a:pt x="1057274" y="266357"/>
                  </a:lnTo>
                  <a:lnTo>
                    <a:pt x="1056428" y="270610"/>
                  </a:lnTo>
                  <a:lnTo>
                    <a:pt x="1054736" y="274694"/>
                  </a:lnTo>
                  <a:lnTo>
                    <a:pt x="1053044" y="278778"/>
                  </a:lnTo>
                  <a:lnTo>
                    <a:pt x="1023937" y="295274"/>
                  </a:lnTo>
                  <a:lnTo>
                    <a:pt x="33338" y="295274"/>
                  </a:lnTo>
                  <a:lnTo>
                    <a:pt x="2537" y="274694"/>
                  </a:lnTo>
                  <a:lnTo>
                    <a:pt x="845" y="270610"/>
                  </a:lnTo>
                  <a:lnTo>
                    <a:pt x="0" y="266357"/>
                  </a:lnTo>
                  <a:lnTo>
                    <a:pt x="0" y="261937"/>
                  </a:lnTo>
                  <a:close/>
                </a:path>
              </a:pathLst>
            </a:custGeom>
            <a:ln w="9524">
              <a:solidFill>
                <a:srgbClr val="E4E7EB"/>
              </a:solidFill>
            </a:ln>
          </p:spPr>
          <p:txBody>
            <a:bodyPr wrap="square" lIns="0" tIns="0" rIns="0" bIns="0" rtlCol="0"/>
            <a:lstStyle/>
            <a:p/>
          </p:txBody>
        </p:sp>
        <p:sp>
          <p:nvSpPr>
            <p:cNvPr id="39" name="object 39"/>
            <p:cNvSpPr/>
            <p:nvPr/>
          </p:nvSpPr>
          <p:spPr>
            <a:xfrm>
              <a:off x="10282236" y="5319712"/>
              <a:ext cx="1057275" cy="295275"/>
            </a:xfrm>
            <a:custGeom>
              <a:avLst/>
              <a:gdLst/>
              <a:ahLst/>
              <a:cxnLst/>
              <a:rect l="l" t="t" r="r" b="b"/>
              <a:pathLst>
                <a:path w="1057275" h="295275">
                  <a:moveTo>
                    <a:pt x="1028358" y="295274"/>
                  </a:moveTo>
                  <a:lnTo>
                    <a:pt x="28916" y="295274"/>
                  </a:lnTo>
                  <a:lnTo>
                    <a:pt x="24664" y="294428"/>
                  </a:lnTo>
                  <a:lnTo>
                    <a:pt x="0" y="266358"/>
                  </a:lnTo>
                  <a:lnTo>
                    <a:pt x="0" y="261937"/>
                  </a:lnTo>
                  <a:lnTo>
                    <a:pt x="0" y="28916"/>
                  </a:lnTo>
                  <a:lnTo>
                    <a:pt x="28916" y="0"/>
                  </a:lnTo>
                  <a:lnTo>
                    <a:pt x="1028358" y="0"/>
                  </a:lnTo>
                  <a:lnTo>
                    <a:pt x="1057274" y="28916"/>
                  </a:lnTo>
                  <a:lnTo>
                    <a:pt x="1057274" y="266358"/>
                  </a:lnTo>
                  <a:lnTo>
                    <a:pt x="1032610" y="294428"/>
                  </a:lnTo>
                  <a:lnTo>
                    <a:pt x="1028358" y="295274"/>
                  </a:lnTo>
                  <a:close/>
                </a:path>
              </a:pathLst>
            </a:custGeom>
            <a:solidFill>
              <a:srgbClr val="F5FAFD">
                <a:alpha val="79998"/>
              </a:srgbClr>
            </a:solidFill>
          </p:spPr>
          <p:txBody>
            <a:bodyPr wrap="square" lIns="0" tIns="0" rIns="0" bIns="0" rtlCol="0"/>
            <a:lstStyle/>
            <a:p/>
          </p:txBody>
        </p:sp>
        <p:sp>
          <p:nvSpPr>
            <p:cNvPr id="40" name="object 40"/>
            <p:cNvSpPr/>
            <p:nvPr/>
          </p:nvSpPr>
          <p:spPr>
            <a:xfrm>
              <a:off x="10282236" y="5319712"/>
              <a:ext cx="1057275" cy="295275"/>
            </a:xfrm>
            <a:custGeom>
              <a:avLst/>
              <a:gdLst/>
              <a:ahLst/>
              <a:cxnLst/>
              <a:rect l="l" t="t" r="r" b="b"/>
              <a:pathLst>
                <a:path w="1057275" h="295275">
                  <a:moveTo>
                    <a:pt x="0" y="261937"/>
                  </a:moveTo>
                  <a:lnTo>
                    <a:pt x="0" y="33337"/>
                  </a:lnTo>
                  <a:lnTo>
                    <a:pt x="0" y="28916"/>
                  </a:lnTo>
                  <a:lnTo>
                    <a:pt x="845" y="24663"/>
                  </a:lnTo>
                  <a:lnTo>
                    <a:pt x="2537" y="20579"/>
                  </a:lnTo>
                  <a:lnTo>
                    <a:pt x="4229" y="16494"/>
                  </a:lnTo>
                  <a:lnTo>
                    <a:pt x="6638" y="12889"/>
                  </a:lnTo>
                  <a:lnTo>
                    <a:pt x="9764" y="9763"/>
                  </a:lnTo>
                  <a:lnTo>
                    <a:pt x="12890" y="6637"/>
                  </a:lnTo>
                  <a:lnTo>
                    <a:pt x="16495" y="4228"/>
                  </a:lnTo>
                  <a:lnTo>
                    <a:pt x="20580" y="2537"/>
                  </a:lnTo>
                  <a:lnTo>
                    <a:pt x="24664" y="845"/>
                  </a:lnTo>
                  <a:lnTo>
                    <a:pt x="28916" y="0"/>
                  </a:lnTo>
                  <a:lnTo>
                    <a:pt x="33338" y="0"/>
                  </a:lnTo>
                  <a:lnTo>
                    <a:pt x="1023937" y="0"/>
                  </a:lnTo>
                  <a:lnTo>
                    <a:pt x="1028358" y="0"/>
                  </a:lnTo>
                  <a:lnTo>
                    <a:pt x="1032610" y="845"/>
                  </a:lnTo>
                  <a:lnTo>
                    <a:pt x="1036694" y="2537"/>
                  </a:lnTo>
                  <a:lnTo>
                    <a:pt x="1040778" y="4228"/>
                  </a:lnTo>
                  <a:lnTo>
                    <a:pt x="1044384" y="6637"/>
                  </a:lnTo>
                  <a:lnTo>
                    <a:pt x="1047510" y="9763"/>
                  </a:lnTo>
                  <a:lnTo>
                    <a:pt x="1050636" y="12889"/>
                  </a:lnTo>
                  <a:lnTo>
                    <a:pt x="1053044" y="16494"/>
                  </a:lnTo>
                  <a:lnTo>
                    <a:pt x="1054736" y="20579"/>
                  </a:lnTo>
                  <a:lnTo>
                    <a:pt x="1056429" y="24663"/>
                  </a:lnTo>
                  <a:lnTo>
                    <a:pt x="1057274" y="28916"/>
                  </a:lnTo>
                  <a:lnTo>
                    <a:pt x="1057275" y="33337"/>
                  </a:lnTo>
                  <a:lnTo>
                    <a:pt x="1057275" y="261937"/>
                  </a:lnTo>
                  <a:lnTo>
                    <a:pt x="1057274" y="266358"/>
                  </a:lnTo>
                  <a:lnTo>
                    <a:pt x="1056429" y="270610"/>
                  </a:lnTo>
                  <a:lnTo>
                    <a:pt x="1054736" y="274694"/>
                  </a:lnTo>
                  <a:lnTo>
                    <a:pt x="1053044" y="278778"/>
                  </a:lnTo>
                  <a:lnTo>
                    <a:pt x="1036694" y="292736"/>
                  </a:lnTo>
                  <a:lnTo>
                    <a:pt x="1032610" y="294428"/>
                  </a:lnTo>
                  <a:lnTo>
                    <a:pt x="1028358" y="295274"/>
                  </a:lnTo>
                  <a:lnTo>
                    <a:pt x="1023937" y="295274"/>
                  </a:lnTo>
                  <a:lnTo>
                    <a:pt x="33338" y="295274"/>
                  </a:lnTo>
                  <a:lnTo>
                    <a:pt x="28916" y="295274"/>
                  </a:lnTo>
                  <a:lnTo>
                    <a:pt x="24664" y="294428"/>
                  </a:lnTo>
                  <a:lnTo>
                    <a:pt x="20580" y="292736"/>
                  </a:lnTo>
                  <a:lnTo>
                    <a:pt x="16495" y="291044"/>
                  </a:lnTo>
                  <a:lnTo>
                    <a:pt x="0" y="266358"/>
                  </a:lnTo>
                  <a:lnTo>
                    <a:pt x="0" y="261937"/>
                  </a:lnTo>
                  <a:close/>
                </a:path>
              </a:pathLst>
            </a:custGeom>
            <a:ln w="9524">
              <a:solidFill>
                <a:srgbClr val="7DA7C2"/>
              </a:solidFill>
            </a:ln>
          </p:spPr>
          <p:txBody>
            <a:bodyPr wrap="square" lIns="0" tIns="0" rIns="0" bIns="0" rtlCol="0"/>
            <a:lstStyle/>
            <a:p/>
          </p:txBody>
        </p:sp>
        <p:sp>
          <p:nvSpPr>
            <p:cNvPr id="41" name="object 41"/>
            <p:cNvSpPr/>
            <p:nvPr/>
          </p:nvSpPr>
          <p:spPr>
            <a:xfrm>
              <a:off x="10206036" y="5243512"/>
              <a:ext cx="1057275" cy="295275"/>
            </a:xfrm>
            <a:custGeom>
              <a:avLst/>
              <a:gdLst/>
              <a:ahLst/>
              <a:cxnLst/>
              <a:rect l="l" t="t" r="r" b="b"/>
              <a:pathLst>
                <a:path w="1057275" h="295275">
                  <a:moveTo>
                    <a:pt x="1028358" y="295274"/>
                  </a:moveTo>
                  <a:lnTo>
                    <a:pt x="28916" y="295274"/>
                  </a:lnTo>
                  <a:lnTo>
                    <a:pt x="24664" y="294428"/>
                  </a:lnTo>
                  <a:lnTo>
                    <a:pt x="0" y="266357"/>
                  </a:lnTo>
                  <a:lnTo>
                    <a:pt x="0" y="261937"/>
                  </a:lnTo>
                  <a:lnTo>
                    <a:pt x="0" y="28916"/>
                  </a:lnTo>
                  <a:lnTo>
                    <a:pt x="28916" y="0"/>
                  </a:lnTo>
                  <a:lnTo>
                    <a:pt x="1028358" y="0"/>
                  </a:lnTo>
                  <a:lnTo>
                    <a:pt x="1057274" y="28916"/>
                  </a:lnTo>
                  <a:lnTo>
                    <a:pt x="1057274" y="266357"/>
                  </a:lnTo>
                  <a:lnTo>
                    <a:pt x="1032610" y="294428"/>
                  </a:lnTo>
                  <a:lnTo>
                    <a:pt x="1028358" y="295274"/>
                  </a:lnTo>
                  <a:close/>
                </a:path>
              </a:pathLst>
            </a:custGeom>
            <a:solidFill>
              <a:srgbClr val="E7F1F6"/>
            </a:solidFill>
          </p:spPr>
          <p:txBody>
            <a:bodyPr wrap="square" lIns="0" tIns="0" rIns="0" bIns="0" rtlCol="0"/>
            <a:lstStyle/>
            <a:p/>
          </p:txBody>
        </p:sp>
        <p:sp>
          <p:nvSpPr>
            <p:cNvPr id="42" name="object 42"/>
            <p:cNvSpPr/>
            <p:nvPr/>
          </p:nvSpPr>
          <p:spPr>
            <a:xfrm>
              <a:off x="10206036" y="5243512"/>
              <a:ext cx="1057275" cy="295275"/>
            </a:xfrm>
            <a:custGeom>
              <a:avLst/>
              <a:gdLst/>
              <a:ahLst/>
              <a:cxnLst/>
              <a:rect l="l" t="t" r="r" b="b"/>
              <a:pathLst>
                <a:path w="1057275" h="295275">
                  <a:moveTo>
                    <a:pt x="0" y="261937"/>
                  </a:moveTo>
                  <a:lnTo>
                    <a:pt x="0" y="33337"/>
                  </a:lnTo>
                  <a:lnTo>
                    <a:pt x="0" y="28916"/>
                  </a:lnTo>
                  <a:lnTo>
                    <a:pt x="845" y="24663"/>
                  </a:lnTo>
                  <a:lnTo>
                    <a:pt x="2537" y="20579"/>
                  </a:lnTo>
                  <a:lnTo>
                    <a:pt x="4229" y="16494"/>
                  </a:lnTo>
                  <a:lnTo>
                    <a:pt x="6638" y="12889"/>
                  </a:lnTo>
                  <a:lnTo>
                    <a:pt x="9764" y="9763"/>
                  </a:lnTo>
                  <a:lnTo>
                    <a:pt x="12890" y="6637"/>
                  </a:lnTo>
                  <a:lnTo>
                    <a:pt x="16495" y="4228"/>
                  </a:lnTo>
                  <a:lnTo>
                    <a:pt x="20580" y="2537"/>
                  </a:lnTo>
                  <a:lnTo>
                    <a:pt x="24664" y="845"/>
                  </a:lnTo>
                  <a:lnTo>
                    <a:pt x="28916" y="0"/>
                  </a:lnTo>
                  <a:lnTo>
                    <a:pt x="33338" y="0"/>
                  </a:lnTo>
                  <a:lnTo>
                    <a:pt x="1023937" y="0"/>
                  </a:lnTo>
                  <a:lnTo>
                    <a:pt x="1028358" y="0"/>
                  </a:lnTo>
                  <a:lnTo>
                    <a:pt x="1032610" y="845"/>
                  </a:lnTo>
                  <a:lnTo>
                    <a:pt x="1036695" y="2537"/>
                  </a:lnTo>
                  <a:lnTo>
                    <a:pt x="1040779" y="4229"/>
                  </a:lnTo>
                  <a:lnTo>
                    <a:pt x="1044384" y="6637"/>
                  </a:lnTo>
                  <a:lnTo>
                    <a:pt x="1047510" y="9763"/>
                  </a:lnTo>
                  <a:lnTo>
                    <a:pt x="1050636" y="12889"/>
                  </a:lnTo>
                  <a:lnTo>
                    <a:pt x="1053045" y="16494"/>
                  </a:lnTo>
                  <a:lnTo>
                    <a:pt x="1054737" y="20579"/>
                  </a:lnTo>
                  <a:lnTo>
                    <a:pt x="1056429" y="24663"/>
                  </a:lnTo>
                  <a:lnTo>
                    <a:pt x="1057274" y="28916"/>
                  </a:lnTo>
                  <a:lnTo>
                    <a:pt x="1057275" y="33337"/>
                  </a:lnTo>
                  <a:lnTo>
                    <a:pt x="1057275" y="261937"/>
                  </a:lnTo>
                  <a:lnTo>
                    <a:pt x="1057274" y="266357"/>
                  </a:lnTo>
                  <a:lnTo>
                    <a:pt x="1056429" y="270610"/>
                  </a:lnTo>
                  <a:lnTo>
                    <a:pt x="1054737" y="274694"/>
                  </a:lnTo>
                  <a:lnTo>
                    <a:pt x="1053045" y="278778"/>
                  </a:lnTo>
                  <a:lnTo>
                    <a:pt x="1023937" y="295274"/>
                  </a:lnTo>
                  <a:lnTo>
                    <a:pt x="33338" y="295274"/>
                  </a:lnTo>
                  <a:lnTo>
                    <a:pt x="28916" y="295274"/>
                  </a:lnTo>
                  <a:lnTo>
                    <a:pt x="24664" y="294428"/>
                  </a:lnTo>
                  <a:lnTo>
                    <a:pt x="20580" y="292736"/>
                  </a:lnTo>
                  <a:lnTo>
                    <a:pt x="16495" y="291044"/>
                  </a:lnTo>
                  <a:lnTo>
                    <a:pt x="2537" y="274694"/>
                  </a:lnTo>
                  <a:lnTo>
                    <a:pt x="845" y="270610"/>
                  </a:lnTo>
                  <a:lnTo>
                    <a:pt x="0" y="266357"/>
                  </a:lnTo>
                  <a:lnTo>
                    <a:pt x="0" y="261937"/>
                  </a:lnTo>
                  <a:close/>
                </a:path>
              </a:pathLst>
            </a:custGeom>
            <a:ln w="9524">
              <a:solidFill>
                <a:srgbClr val="5B8BA7"/>
              </a:solidFill>
            </a:ln>
          </p:spPr>
          <p:txBody>
            <a:bodyPr wrap="square" lIns="0" tIns="0" rIns="0" bIns="0" rtlCol="0"/>
            <a:lstStyle/>
            <a:p/>
          </p:txBody>
        </p:sp>
      </p:grpSp>
      <p:sp>
        <p:nvSpPr>
          <p:cNvPr id="43" name="object 43"/>
          <p:cNvSpPr txBox="1"/>
          <p:nvPr/>
        </p:nvSpPr>
        <p:spPr>
          <a:xfrm>
            <a:off x="5508525" y="5988049"/>
            <a:ext cx="1877695"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9CA2AF"/>
                </a:solidFill>
                <a:latin typeface="Courier New" panose="02070309020205020404"/>
                <a:cs typeface="Courier New" panose="02070309020205020404"/>
              </a:rPr>
              <a:t>SLICING ATTENTION </a:t>
            </a:r>
            <a:r>
              <a:rPr sz="900" spc="-10" dirty="0">
                <a:solidFill>
                  <a:srgbClr val="9CA2AF"/>
                </a:solidFill>
                <a:latin typeface="Courier New" panose="02070309020205020404"/>
                <a:cs typeface="Courier New" panose="02070309020205020404"/>
              </a:rPr>
              <a:t>ALGORITHM</a:t>
            </a:r>
            <a:endParaRPr sz="900">
              <a:latin typeface="Courier New" panose="02070309020205020404"/>
              <a:cs typeface="Courier New" panose="02070309020205020404"/>
            </a:endParaRPr>
          </a:p>
        </p:txBody>
      </p:sp>
      <p:sp>
        <p:nvSpPr>
          <p:cNvPr id="44" name="object 44"/>
          <p:cNvSpPr txBox="1"/>
          <p:nvPr/>
        </p:nvSpPr>
        <p:spPr>
          <a:xfrm>
            <a:off x="10454976" y="5988049"/>
            <a:ext cx="1054735"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9CA2AF"/>
                </a:solidFill>
                <a:latin typeface="Courier New" panose="02070309020205020404"/>
                <a:cs typeface="Courier New" panose="02070309020205020404"/>
              </a:rPr>
              <a:t>SHAPE </a:t>
            </a:r>
            <a:r>
              <a:rPr sz="900" spc="-10" dirty="0">
                <a:solidFill>
                  <a:srgbClr val="9CA2AF"/>
                </a:solidFill>
                <a:latin typeface="Courier New" panose="02070309020205020404"/>
                <a:cs typeface="Courier New" panose="02070309020205020404"/>
              </a:rPr>
              <a:t>TRANSFORM</a:t>
            </a:r>
            <a:endParaRPr sz="900">
              <a:latin typeface="Courier New" panose="02070309020205020404"/>
              <a:cs typeface="Courier New" panose="02070309020205020404"/>
            </a:endParaRPr>
          </a:p>
        </p:txBody>
      </p:sp>
      <p:sp>
        <p:nvSpPr>
          <p:cNvPr id="45" name="object 45"/>
          <p:cNvSpPr txBox="1"/>
          <p:nvPr/>
        </p:nvSpPr>
        <p:spPr>
          <a:xfrm>
            <a:off x="5521225" y="2492375"/>
            <a:ext cx="2538730" cy="419734"/>
          </a:xfrm>
          <a:prstGeom prst="rect">
            <a:avLst/>
          </a:prstGeom>
        </p:spPr>
        <p:txBody>
          <a:bodyPr vert="horz" wrap="square" lIns="0" tIns="12700" rIns="0" bIns="0" rtlCol="0">
            <a:spAutoFit/>
          </a:bodyPr>
          <a:lstStyle/>
          <a:p>
            <a:pPr marL="38100">
              <a:lnSpc>
                <a:spcPct val="100000"/>
              </a:lnSpc>
              <a:spcBef>
                <a:spcPts val="100"/>
              </a:spcBef>
            </a:pPr>
            <a:r>
              <a:rPr sz="900" dirty="0">
                <a:solidFill>
                  <a:srgbClr val="6A7280"/>
                </a:solidFill>
                <a:latin typeface="宋体" panose="02010600030101010101" pitchFamily="2" charset="-122"/>
                <a:cs typeface="宋体" panose="02010600030101010101" pitchFamily="2" charset="-122"/>
              </a:rPr>
              <a:t>联合序列极值</a:t>
            </a:r>
            <a:r>
              <a:rPr sz="900" spc="35" dirty="0">
                <a:solidFill>
                  <a:srgbClr val="6A7280"/>
                </a:solidFill>
                <a:latin typeface="Courier New" panose="02070309020205020404"/>
                <a:cs typeface="Courier New" panose="02070309020205020404"/>
              </a:rPr>
              <a:t>: </a:t>
            </a:r>
            <a:r>
              <a:rPr sz="900" spc="10" dirty="0">
                <a:solidFill>
                  <a:srgbClr val="1A1A1A"/>
                </a:solidFill>
                <a:latin typeface="Cambria" panose="02040503050406030204"/>
                <a:cs typeface="Cambria" panose="02040503050406030204"/>
              </a:rPr>
              <a:t>[</a:t>
            </a:r>
            <a:r>
              <a:rPr sz="900" b="1" spc="10" dirty="0">
                <a:solidFill>
                  <a:srgbClr val="1A1A1A"/>
                </a:solidFill>
                <a:latin typeface="Georgia" panose="02040502050405020303"/>
                <a:cs typeface="Georgia" panose="02040502050405020303"/>
              </a:rPr>
              <a:t>X</a:t>
            </a:r>
            <a:r>
              <a:rPr sz="900" i="1" spc="15" baseline="32000" dirty="0">
                <a:solidFill>
                  <a:srgbClr val="1A1A1A"/>
                </a:solidFill>
                <a:latin typeface="Calibri" panose="020F0502020204030204"/>
                <a:cs typeface="Calibri" panose="020F0502020204030204"/>
              </a:rPr>
              <a:t>L</a:t>
            </a:r>
            <a:r>
              <a:rPr sz="900" spc="-25" dirty="0">
                <a:solidFill>
                  <a:srgbClr val="1A1A1A"/>
                </a:solidFill>
                <a:latin typeface="Cambria" panose="02040503050406030204"/>
                <a:cs typeface="Cambria" panose="02040503050406030204"/>
              </a:rPr>
              <a:t>, </a:t>
            </a:r>
            <a:r>
              <a:rPr sz="900" b="1" spc="80" dirty="0">
                <a:solidFill>
                  <a:srgbClr val="1A1A1A"/>
                </a:solidFill>
                <a:latin typeface="Georgia" panose="02040502050405020303"/>
                <a:cs typeface="Georgia" panose="02040502050405020303"/>
              </a:rPr>
              <a:t>X</a:t>
            </a:r>
            <a:r>
              <a:rPr sz="900" i="1" spc="120" baseline="32000" dirty="0">
                <a:solidFill>
                  <a:srgbClr val="1A1A1A"/>
                </a:solidFill>
                <a:latin typeface="Calibri" panose="020F0502020204030204"/>
                <a:cs typeface="Calibri" panose="020F0502020204030204"/>
              </a:rPr>
              <a:t>H</a:t>
            </a:r>
            <a:r>
              <a:rPr sz="900" i="1" spc="-44" baseline="32000" dirty="0">
                <a:solidFill>
                  <a:srgbClr val="1A1A1A"/>
                </a:solidFill>
                <a:latin typeface="Calibri" panose="020F0502020204030204"/>
                <a:cs typeface="Calibri" panose="020F0502020204030204"/>
              </a:rPr>
              <a:t> </a:t>
            </a:r>
            <a:r>
              <a:rPr sz="900" spc="-50" dirty="0">
                <a:solidFill>
                  <a:srgbClr val="1A1A1A"/>
                </a:solidFill>
                <a:latin typeface="Cambria" panose="02040503050406030204"/>
                <a:cs typeface="Cambria" panose="02040503050406030204"/>
              </a:rPr>
              <a:t>]</a:t>
            </a:r>
            <a:endParaRPr sz="900">
              <a:latin typeface="Cambria" panose="02040503050406030204"/>
              <a:cs typeface="Cambria" panose="02040503050406030204"/>
            </a:endParaRPr>
          </a:p>
          <a:p>
            <a:pPr marL="1082675">
              <a:lnSpc>
                <a:spcPct val="100000"/>
              </a:lnSpc>
              <a:spcBef>
                <a:spcPts val="945"/>
              </a:spcBef>
            </a:pPr>
            <a:r>
              <a:rPr sz="900" spc="15" dirty="0">
                <a:solidFill>
                  <a:srgbClr val="5B8BA7"/>
                </a:solidFill>
                <a:latin typeface="宋体" panose="02010600030101010101" pitchFamily="2" charset="-122"/>
                <a:cs typeface="宋体" panose="02010600030101010101" pitchFamily="2" charset="-122"/>
              </a:rPr>
              <a:t>历史序列 </a:t>
            </a:r>
            <a:r>
              <a:rPr sz="900" dirty="0">
                <a:solidFill>
                  <a:srgbClr val="5B8BA7"/>
                </a:solidFill>
                <a:latin typeface="Courier New" panose="02070309020205020404"/>
                <a:cs typeface="Courier New" panose="02070309020205020404"/>
              </a:rPr>
              <a:t>L / Horizon </a:t>
            </a:r>
            <a:r>
              <a:rPr sz="900" spc="-50" dirty="0">
                <a:solidFill>
                  <a:srgbClr val="5B8BA7"/>
                </a:solidFill>
                <a:latin typeface="Courier New" panose="02070309020205020404"/>
                <a:cs typeface="Courier New" panose="02070309020205020404"/>
              </a:rPr>
              <a:t>L</a:t>
            </a:r>
            <a:endParaRPr sz="900">
              <a:latin typeface="Courier New" panose="02070309020205020404"/>
              <a:cs typeface="Courier New" panose="02070309020205020404"/>
            </a:endParaRPr>
          </a:p>
        </p:txBody>
      </p:sp>
      <p:sp>
        <p:nvSpPr>
          <p:cNvPr id="46" name="object 46"/>
          <p:cNvSpPr txBox="1"/>
          <p:nvPr/>
        </p:nvSpPr>
        <p:spPr>
          <a:xfrm>
            <a:off x="9574211" y="2492375"/>
            <a:ext cx="1887855" cy="419734"/>
          </a:xfrm>
          <a:prstGeom prst="rect">
            <a:avLst/>
          </a:prstGeom>
        </p:spPr>
        <p:txBody>
          <a:bodyPr vert="horz" wrap="square" lIns="0" tIns="12700" rIns="0" bIns="0" rtlCol="0">
            <a:spAutoFit/>
          </a:bodyPr>
          <a:lstStyle/>
          <a:p>
            <a:pPr marL="1087120">
              <a:lnSpc>
                <a:spcPct val="100000"/>
              </a:lnSpc>
              <a:spcBef>
                <a:spcPts val="100"/>
              </a:spcBef>
            </a:pPr>
            <a:r>
              <a:rPr sz="900" dirty="0">
                <a:solidFill>
                  <a:srgbClr val="6A7280"/>
                </a:solidFill>
                <a:latin typeface="宋体" panose="02010600030101010101" pitchFamily="2" charset="-122"/>
                <a:cs typeface="宋体" panose="02010600030101010101" pitchFamily="2" charset="-122"/>
              </a:rPr>
              <a:t>总长度</a:t>
            </a:r>
            <a:r>
              <a:rPr sz="900" dirty="0">
                <a:solidFill>
                  <a:srgbClr val="6A7280"/>
                </a:solidFill>
                <a:latin typeface="Courier New" panose="02070309020205020404"/>
                <a:cs typeface="Courier New" panose="02070309020205020404"/>
              </a:rPr>
              <a:t>: </a:t>
            </a:r>
            <a:r>
              <a:rPr sz="900" i="1" spc="235" dirty="0">
                <a:solidFill>
                  <a:srgbClr val="1A1A1A"/>
                </a:solidFill>
                <a:latin typeface="Calibri" panose="020F0502020204030204"/>
                <a:cs typeface="Calibri" panose="020F0502020204030204"/>
              </a:rPr>
              <a:t>L</a:t>
            </a:r>
            <a:r>
              <a:rPr sz="900" i="1" spc="-20" dirty="0">
                <a:solidFill>
                  <a:srgbClr val="1A1A1A"/>
                </a:solidFill>
                <a:latin typeface="Calibri" panose="020F0502020204030204"/>
                <a:cs typeface="Calibri" panose="020F0502020204030204"/>
              </a:rPr>
              <a:t> </a:t>
            </a:r>
            <a:r>
              <a:rPr sz="900" spc="85" dirty="0">
                <a:solidFill>
                  <a:srgbClr val="1A1A1A"/>
                </a:solidFill>
                <a:latin typeface="Cambria" panose="02040503050406030204"/>
                <a:cs typeface="Cambria" panose="02040503050406030204"/>
              </a:rPr>
              <a:t>+ </a:t>
            </a:r>
            <a:r>
              <a:rPr sz="900" i="1" spc="130" dirty="0">
                <a:solidFill>
                  <a:srgbClr val="1A1A1A"/>
                </a:solidFill>
                <a:latin typeface="Calibri" panose="020F0502020204030204"/>
                <a:cs typeface="Calibri" panose="020F0502020204030204"/>
              </a:rPr>
              <a:t>H</a:t>
            </a:r>
            <a:endParaRPr sz="900">
              <a:latin typeface="Calibri" panose="020F0502020204030204"/>
              <a:cs typeface="Calibri" panose="020F0502020204030204"/>
            </a:endParaRPr>
          </a:p>
          <a:p>
            <a:pPr marL="12700">
              <a:lnSpc>
                <a:spcPct val="100000"/>
              </a:lnSpc>
              <a:spcBef>
                <a:spcPts val="945"/>
              </a:spcBef>
            </a:pPr>
            <a:r>
              <a:rPr sz="900" spc="15" dirty="0">
                <a:solidFill>
                  <a:srgbClr val="6AC3C3"/>
                </a:solidFill>
                <a:latin typeface="宋体" panose="02010600030101010101" pitchFamily="2" charset="-122"/>
                <a:cs typeface="宋体" panose="02010600030101010101" pitchFamily="2" charset="-122"/>
              </a:rPr>
              <a:t>预测序列 </a:t>
            </a:r>
            <a:r>
              <a:rPr sz="900" dirty="0">
                <a:solidFill>
                  <a:srgbClr val="6AC3C3"/>
                </a:solidFill>
                <a:latin typeface="Courier New" panose="02070309020205020404"/>
                <a:cs typeface="Courier New" panose="02070309020205020404"/>
              </a:rPr>
              <a:t>H / Horizon </a:t>
            </a:r>
            <a:r>
              <a:rPr sz="900" spc="-50" dirty="0">
                <a:solidFill>
                  <a:srgbClr val="6AC3C3"/>
                </a:solidFill>
                <a:latin typeface="Courier New" panose="02070309020205020404"/>
                <a:cs typeface="Courier New" panose="02070309020205020404"/>
              </a:rPr>
              <a:t>H</a:t>
            </a:r>
            <a:endParaRPr sz="900">
              <a:latin typeface="Courier New" panose="02070309020205020404"/>
              <a:cs typeface="Courier New" panose="02070309020205020404"/>
            </a:endParaRPr>
          </a:p>
        </p:txBody>
      </p:sp>
      <p:sp>
        <p:nvSpPr>
          <p:cNvPr id="47" name="object 47"/>
          <p:cNvSpPr txBox="1"/>
          <p:nvPr/>
        </p:nvSpPr>
        <p:spPr>
          <a:xfrm>
            <a:off x="5718075" y="3121025"/>
            <a:ext cx="1638935" cy="162560"/>
          </a:xfrm>
          <a:prstGeom prst="rect">
            <a:avLst/>
          </a:prstGeom>
        </p:spPr>
        <p:txBody>
          <a:bodyPr vert="horz" wrap="square" lIns="0" tIns="12700" rIns="0" bIns="0" rtlCol="0">
            <a:spAutoFit/>
          </a:bodyPr>
          <a:lstStyle/>
          <a:p>
            <a:pPr marL="12700">
              <a:lnSpc>
                <a:spcPct val="100000"/>
              </a:lnSpc>
              <a:spcBef>
                <a:spcPts val="100"/>
              </a:spcBef>
            </a:pPr>
            <a:r>
              <a:rPr sz="900" spc="15" dirty="0">
                <a:solidFill>
                  <a:srgbClr val="9CA2AF"/>
                </a:solidFill>
                <a:latin typeface="宋体" panose="02010600030101010101" pitchFamily="2" charset="-122"/>
                <a:cs typeface="宋体" panose="02010600030101010101" pitchFamily="2" charset="-122"/>
              </a:rPr>
              <a:t>通过大小为 </a:t>
            </a:r>
            <a:r>
              <a:rPr sz="900" i="1" spc="180" dirty="0">
                <a:solidFill>
                  <a:srgbClr val="1A1A1A"/>
                </a:solidFill>
                <a:latin typeface="Calibri" panose="020F0502020204030204"/>
                <a:cs typeface="Calibri" panose="020F0502020204030204"/>
              </a:rPr>
              <a:t>H</a:t>
            </a:r>
            <a:r>
              <a:rPr sz="900" i="1" spc="400" dirty="0">
                <a:solidFill>
                  <a:srgbClr val="1A1A1A"/>
                </a:solidFill>
                <a:latin typeface="Calibri" panose="020F0502020204030204"/>
                <a:cs typeface="Calibri" panose="020F0502020204030204"/>
              </a:rPr>
              <a:t> </a:t>
            </a:r>
            <a:r>
              <a:rPr sz="900" spc="-10" dirty="0">
                <a:solidFill>
                  <a:srgbClr val="9CA2AF"/>
                </a:solidFill>
                <a:latin typeface="宋体" panose="02010600030101010101" pitchFamily="2" charset="-122"/>
                <a:cs typeface="宋体" panose="02010600030101010101" pitchFamily="2" charset="-122"/>
              </a:rPr>
              <a:t>的滑动窗口切分</a:t>
            </a:r>
            <a:endParaRPr sz="900">
              <a:latin typeface="宋体" panose="02010600030101010101" pitchFamily="2" charset="-122"/>
              <a:cs typeface="宋体" panose="02010600030101010101" pitchFamily="2" charset="-122"/>
            </a:endParaRPr>
          </a:p>
        </p:txBody>
      </p:sp>
      <p:sp>
        <p:nvSpPr>
          <p:cNvPr id="48" name="object 48"/>
          <p:cNvSpPr txBox="1"/>
          <p:nvPr/>
        </p:nvSpPr>
        <p:spPr>
          <a:xfrm>
            <a:off x="10094069" y="3121025"/>
            <a:ext cx="1415415"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D4A573"/>
                </a:solidFill>
                <a:latin typeface="宋体" panose="02010600030101010101" pitchFamily="2" charset="-122"/>
                <a:cs typeface="宋体" panose="02010600030101010101" pitchFamily="2" charset="-122"/>
              </a:rPr>
              <a:t>输出候选集</a:t>
            </a:r>
            <a:r>
              <a:rPr sz="900" b="1" spc="-10" dirty="0">
                <a:solidFill>
                  <a:srgbClr val="D4A573"/>
                </a:solidFill>
                <a:latin typeface="Courier New" panose="02070309020205020404"/>
                <a:cs typeface="Courier New" panose="02070309020205020404"/>
              </a:rPr>
              <a:t>: </a:t>
            </a:r>
            <a:r>
              <a:rPr sz="900" i="1" spc="235" dirty="0">
                <a:solidFill>
                  <a:srgbClr val="1A1A1A"/>
                </a:solidFill>
                <a:latin typeface="Calibri" panose="020F0502020204030204"/>
                <a:cs typeface="Calibri" panose="020F0502020204030204"/>
              </a:rPr>
              <a:t>L</a:t>
            </a:r>
            <a:r>
              <a:rPr sz="900" i="1" spc="-25" dirty="0">
                <a:solidFill>
                  <a:srgbClr val="1A1A1A"/>
                </a:solidFill>
                <a:latin typeface="Calibri" panose="020F0502020204030204"/>
                <a:cs typeface="Calibri" panose="020F0502020204030204"/>
              </a:rPr>
              <a:t> </a:t>
            </a:r>
            <a:r>
              <a:rPr sz="900" spc="80" dirty="0">
                <a:solidFill>
                  <a:srgbClr val="1A1A1A"/>
                </a:solidFill>
                <a:latin typeface="Cambria" panose="02040503050406030204"/>
                <a:cs typeface="Cambria" panose="02040503050406030204"/>
              </a:rPr>
              <a:t>+ </a:t>
            </a:r>
            <a:r>
              <a:rPr sz="900" dirty="0">
                <a:solidFill>
                  <a:srgbClr val="1A1A1A"/>
                </a:solidFill>
                <a:latin typeface="Cambria" panose="02040503050406030204"/>
                <a:cs typeface="Cambria" panose="02040503050406030204"/>
              </a:rPr>
              <a:t>1</a:t>
            </a:r>
            <a:r>
              <a:rPr sz="900" spc="330" dirty="0">
                <a:solidFill>
                  <a:srgbClr val="1A1A1A"/>
                </a:solidFill>
                <a:latin typeface="Cambria" panose="02040503050406030204"/>
                <a:cs typeface="Cambria" panose="02040503050406030204"/>
              </a:rPr>
              <a:t> </a:t>
            </a:r>
            <a:r>
              <a:rPr sz="900" spc="-20" dirty="0">
                <a:solidFill>
                  <a:srgbClr val="D4A573"/>
                </a:solidFill>
                <a:latin typeface="宋体" panose="02010600030101010101" pitchFamily="2" charset="-122"/>
                <a:cs typeface="宋体" panose="02010600030101010101" pitchFamily="2" charset="-122"/>
              </a:rPr>
              <a:t>个片段</a:t>
            </a:r>
            <a:endParaRPr sz="900">
              <a:latin typeface="宋体" panose="02010600030101010101" pitchFamily="2" charset="-122"/>
              <a:cs typeface="宋体" panose="02010600030101010101" pitchFamily="2" charset="-122"/>
            </a:endParaRPr>
          </a:p>
        </p:txBody>
      </p:sp>
      <p:sp>
        <p:nvSpPr>
          <p:cNvPr id="49" name="object 49"/>
          <p:cNvSpPr txBox="1"/>
          <p:nvPr/>
        </p:nvSpPr>
        <p:spPr>
          <a:xfrm>
            <a:off x="7405836" y="4111625"/>
            <a:ext cx="2206625" cy="231140"/>
          </a:xfrm>
          <a:prstGeom prst="rect">
            <a:avLst/>
          </a:prstGeom>
        </p:spPr>
        <p:txBody>
          <a:bodyPr vert="horz" wrap="square" lIns="0" tIns="12700" rIns="0" bIns="0" rtlCol="0">
            <a:spAutoFit/>
          </a:bodyPr>
          <a:lstStyle/>
          <a:p>
            <a:pPr marL="38100">
              <a:lnSpc>
                <a:spcPct val="100000"/>
              </a:lnSpc>
              <a:spcBef>
                <a:spcPts val="100"/>
              </a:spcBef>
            </a:pPr>
            <a:r>
              <a:rPr sz="1350" spc="120" dirty="0">
                <a:solidFill>
                  <a:srgbClr val="1A1A1A"/>
                </a:solidFill>
                <a:latin typeface="Cambria" panose="02040503050406030204"/>
                <a:cs typeface="Cambria" panose="02040503050406030204"/>
              </a:rPr>
              <a:t>[</a:t>
            </a:r>
            <a:r>
              <a:rPr sz="1350" i="1" spc="120" dirty="0">
                <a:solidFill>
                  <a:srgbClr val="1A1A1A"/>
                </a:solidFill>
                <a:latin typeface="Calibri" panose="020F0502020204030204"/>
                <a:cs typeface="Calibri" panose="020F0502020204030204"/>
              </a:rPr>
              <a:t>L</a:t>
            </a:r>
            <a:r>
              <a:rPr sz="1350" i="1" spc="-30" dirty="0">
                <a:solidFill>
                  <a:srgbClr val="1A1A1A"/>
                </a:solidFill>
                <a:latin typeface="Calibri" panose="020F0502020204030204"/>
                <a:cs typeface="Calibri" panose="020F0502020204030204"/>
              </a:rPr>
              <a:t> </a:t>
            </a:r>
            <a:r>
              <a:rPr sz="1350" spc="300" dirty="0">
                <a:solidFill>
                  <a:srgbClr val="1A1A1A"/>
                </a:solidFill>
                <a:latin typeface="Cambria" panose="02040503050406030204"/>
                <a:cs typeface="Cambria" panose="02040503050406030204"/>
              </a:rPr>
              <a:t>+</a:t>
            </a:r>
            <a:r>
              <a:rPr sz="1350" spc="5" dirty="0">
                <a:solidFill>
                  <a:srgbClr val="1A1A1A"/>
                </a:solidFill>
                <a:latin typeface="Cambria" panose="02040503050406030204"/>
                <a:cs typeface="Cambria" panose="02040503050406030204"/>
              </a:rPr>
              <a:t> </a:t>
            </a:r>
            <a:r>
              <a:rPr sz="1350" i="1" spc="240" dirty="0">
                <a:solidFill>
                  <a:srgbClr val="1A1A1A"/>
                </a:solidFill>
                <a:latin typeface="Calibri" panose="020F0502020204030204"/>
                <a:cs typeface="Calibri" panose="020F0502020204030204"/>
              </a:rPr>
              <a:t>H</a:t>
            </a:r>
            <a:r>
              <a:rPr sz="1350" spc="240" dirty="0">
                <a:solidFill>
                  <a:srgbClr val="1A1A1A"/>
                </a:solidFill>
                <a:latin typeface="Cambria" panose="02040503050406030204"/>
                <a:cs typeface="Cambria" panose="02040503050406030204"/>
              </a:rPr>
              <a:t>,</a:t>
            </a:r>
            <a:r>
              <a:rPr sz="1350" spc="-70" dirty="0">
                <a:solidFill>
                  <a:srgbClr val="1A1A1A"/>
                </a:solidFill>
                <a:latin typeface="Cambria" panose="02040503050406030204"/>
                <a:cs typeface="Cambria" panose="02040503050406030204"/>
              </a:rPr>
              <a:t> </a:t>
            </a:r>
            <a:r>
              <a:rPr sz="1350" i="1" dirty="0">
                <a:solidFill>
                  <a:srgbClr val="1A1A1A"/>
                </a:solidFill>
                <a:latin typeface="Calibri" panose="020F0502020204030204"/>
                <a:cs typeface="Calibri" panose="020F0502020204030204"/>
              </a:rPr>
              <a:t>d</a:t>
            </a:r>
            <a:r>
              <a:rPr sz="1425" b="1" baseline="-9000" dirty="0">
                <a:solidFill>
                  <a:srgbClr val="1A1A1A"/>
                </a:solidFill>
                <a:latin typeface="Georgia" panose="02040502050405020303"/>
                <a:cs typeface="Georgia" panose="02040502050405020303"/>
              </a:rPr>
              <a:t>X</a:t>
            </a:r>
            <a:r>
              <a:rPr sz="1350" dirty="0">
                <a:solidFill>
                  <a:srgbClr val="1A1A1A"/>
                </a:solidFill>
                <a:latin typeface="Cambria" panose="02040503050406030204"/>
                <a:cs typeface="Cambria" panose="02040503050406030204"/>
              </a:rPr>
              <a:t>]</a:t>
            </a:r>
            <a:r>
              <a:rPr sz="1350" spc="80" dirty="0">
                <a:solidFill>
                  <a:srgbClr val="1A1A1A"/>
                </a:solidFill>
                <a:latin typeface="Cambria" panose="02040503050406030204"/>
                <a:cs typeface="Cambria" panose="02040503050406030204"/>
              </a:rPr>
              <a:t> </a:t>
            </a:r>
            <a:r>
              <a:rPr sz="1350" spc="225" dirty="0">
                <a:solidFill>
                  <a:srgbClr val="1A1A1A"/>
                </a:solidFill>
                <a:latin typeface="Cambria" panose="02040503050406030204"/>
                <a:cs typeface="Cambria" panose="02040503050406030204"/>
              </a:rPr>
              <a:t>→</a:t>
            </a:r>
            <a:r>
              <a:rPr sz="1350" spc="85" dirty="0">
                <a:solidFill>
                  <a:srgbClr val="1A1A1A"/>
                </a:solidFill>
                <a:latin typeface="Cambria" panose="02040503050406030204"/>
                <a:cs typeface="Cambria" panose="02040503050406030204"/>
              </a:rPr>
              <a:t> </a:t>
            </a:r>
            <a:r>
              <a:rPr sz="1350" spc="125" dirty="0">
                <a:solidFill>
                  <a:srgbClr val="1A1A1A"/>
                </a:solidFill>
                <a:latin typeface="Cambria" panose="02040503050406030204"/>
                <a:cs typeface="Cambria" panose="02040503050406030204"/>
              </a:rPr>
              <a:t>[</a:t>
            </a:r>
            <a:r>
              <a:rPr sz="1350" i="1" spc="125" dirty="0">
                <a:solidFill>
                  <a:srgbClr val="1A1A1A"/>
                </a:solidFill>
                <a:latin typeface="Calibri" panose="020F0502020204030204"/>
                <a:cs typeface="Calibri" panose="020F0502020204030204"/>
              </a:rPr>
              <a:t>H</a:t>
            </a:r>
            <a:r>
              <a:rPr sz="1350" spc="125" dirty="0">
                <a:solidFill>
                  <a:srgbClr val="1A1A1A"/>
                </a:solidFill>
                <a:latin typeface="Cambria" panose="02040503050406030204"/>
                <a:cs typeface="Cambria" panose="02040503050406030204"/>
              </a:rPr>
              <a:t>,</a:t>
            </a:r>
            <a:r>
              <a:rPr sz="1350" spc="-75" dirty="0">
                <a:solidFill>
                  <a:srgbClr val="1A1A1A"/>
                </a:solidFill>
                <a:latin typeface="Cambria" panose="02040503050406030204"/>
                <a:cs typeface="Cambria" panose="02040503050406030204"/>
              </a:rPr>
              <a:t> </a:t>
            </a:r>
            <a:r>
              <a:rPr sz="1350" i="1" spc="350" dirty="0">
                <a:solidFill>
                  <a:srgbClr val="1A1A1A"/>
                </a:solidFill>
                <a:latin typeface="Calibri" panose="020F0502020204030204"/>
                <a:cs typeface="Calibri" panose="020F0502020204030204"/>
              </a:rPr>
              <a:t>L</a:t>
            </a:r>
            <a:r>
              <a:rPr sz="1350" i="1" spc="-25" dirty="0">
                <a:solidFill>
                  <a:srgbClr val="1A1A1A"/>
                </a:solidFill>
                <a:latin typeface="Calibri" panose="020F0502020204030204"/>
                <a:cs typeface="Calibri" panose="020F0502020204030204"/>
              </a:rPr>
              <a:t> </a:t>
            </a:r>
            <a:r>
              <a:rPr sz="1350" spc="300" dirty="0">
                <a:solidFill>
                  <a:srgbClr val="1A1A1A"/>
                </a:solidFill>
                <a:latin typeface="Cambria" panose="02040503050406030204"/>
                <a:cs typeface="Cambria" panose="02040503050406030204"/>
              </a:rPr>
              <a:t>+</a:t>
            </a:r>
            <a:r>
              <a:rPr sz="1350" spc="5" dirty="0">
                <a:solidFill>
                  <a:srgbClr val="1A1A1A"/>
                </a:solidFill>
                <a:latin typeface="Cambria" panose="02040503050406030204"/>
                <a:cs typeface="Cambria" panose="02040503050406030204"/>
              </a:rPr>
              <a:t> </a:t>
            </a:r>
            <a:r>
              <a:rPr sz="1350" dirty="0">
                <a:solidFill>
                  <a:srgbClr val="1A1A1A"/>
                </a:solidFill>
                <a:latin typeface="Cambria" panose="02040503050406030204"/>
                <a:cs typeface="Cambria" panose="02040503050406030204"/>
              </a:rPr>
              <a:t>1,</a:t>
            </a:r>
            <a:r>
              <a:rPr sz="1350" spc="-70" dirty="0">
                <a:solidFill>
                  <a:srgbClr val="1A1A1A"/>
                </a:solidFill>
                <a:latin typeface="Cambria" panose="02040503050406030204"/>
                <a:cs typeface="Cambria" panose="02040503050406030204"/>
              </a:rPr>
              <a:t> </a:t>
            </a:r>
            <a:r>
              <a:rPr sz="1350" i="1" spc="-25" dirty="0">
                <a:solidFill>
                  <a:srgbClr val="1A1A1A"/>
                </a:solidFill>
                <a:latin typeface="Calibri" panose="020F0502020204030204"/>
                <a:cs typeface="Calibri" panose="020F0502020204030204"/>
              </a:rPr>
              <a:t>d</a:t>
            </a:r>
            <a:r>
              <a:rPr sz="1425" b="1" spc="-37" baseline="-9000" dirty="0">
                <a:solidFill>
                  <a:srgbClr val="1A1A1A"/>
                </a:solidFill>
                <a:latin typeface="Georgia" panose="02040502050405020303"/>
                <a:cs typeface="Georgia" panose="02040502050405020303"/>
              </a:rPr>
              <a:t>X</a:t>
            </a:r>
            <a:r>
              <a:rPr sz="1350" spc="-25" dirty="0">
                <a:solidFill>
                  <a:srgbClr val="1A1A1A"/>
                </a:solidFill>
                <a:latin typeface="Cambria" panose="02040503050406030204"/>
                <a:cs typeface="Cambria" panose="02040503050406030204"/>
              </a:rPr>
              <a:t>]</a:t>
            </a:r>
            <a:endParaRPr sz="1350">
              <a:latin typeface="Cambria" panose="02040503050406030204"/>
              <a:cs typeface="Cambria" panose="02040503050406030204"/>
            </a:endParaRPr>
          </a:p>
        </p:txBody>
      </p:sp>
      <p:sp>
        <p:nvSpPr>
          <p:cNvPr id="50" name="object 50"/>
          <p:cNvSpPr txBox="1"/>
          <p:nvPr/>
        </p:nvSpPr>
        <p:spPr>
          <a:xfrm>
            <a:off x="10222656" y="5302250"/>
            <a:ext cx="1024255" cy="290195"/>
          </a:xfrm>
          <a:prstGeom prst="rect">
            <a:avLst/>
          </a:prstGeom>
        </p:spPr>
        <p:txBody>
          <a:bodyPr vert="horz" wrap="square" lIns="0" tIns="12700" rIns="0" bIns="0" rtlCol="0">
            <a:spAutoFit/>
          </a:bodyPr>
          <a:lstStyle/>
          <a:p>
            <a:pPr marL="12700">
              <a:lnSpc>
                <a:spcPts val="800"/>
              </a:lnSpc>
              <a:spcBef>
                <a:spcPts val="100"/>
              </a:spcBef>
            </a:pPr>
            <a:r>
              <a:rPr sz="750" b="1" dirty="0">
                <a:solidFill>
                  <a:srgbClr val="5B8BA7"/>
                </a:solidFill>
                <a:latin typeface="Courier New" panose="02070309020205020404"/>
                <a:cs typeface="Courier New" panose="02070309020205020404"/>
              </a:rPr>
              <a:t>Slice 1 </a:t>
            </a:r>
            <a:r>
              <a:rPr sz="750" b="1" spc="-10" dirty="0">
                <a:solidFill>
                  <a:srgbClr val="5B8BA7"/>
                </a:solidFill>
                <a:latin typeface="Courier New" panose="02070309020205020404"/>
                <a:cs typeface="Courier New" panose="02070309020205020404"/>
              </a:rPr>
              <a:t>(Width:</a:t>
            </a:r>
            <a:r>
              <a:rPr sz="750" i="1" spc="-10" dirty="0">
                <a:solidFill>
                  <a:srgbClr val="1A1A1A"/>
                </a:solidFill>
                <a:latin typeface="Calibri" panose="020F0502020204030204"/>
                <a:cs typeface="Calibri" panose="020F0502020204030204"/>
              </a:rPr>
              <a:t>H</a:t>
            </a:r>
            <a:r>
              <a:rPr sz="750" b="1" spc="-10" dirty="0">
                <a:solidFill>
                  <a:srgbClr val="5B8BA7"/>
                </a:solidFill>
                <a:latin typeface="Courier New" panose="02070309020205020404"/>
                <a:cs typeface="Courier New" panose="02070309020205020404"/>
              </a:rPr>
              <a:t>)</a:t>
            </a:r>
            <a:endParaRPr sz="750">
              <a:latin typeface="Courier New" panose="02070309020205020404"/>
              <a:cs typeface="Courier New" panose="02070309020205020404"/>
            </a:endParaRPr>
          </a:p>
          <a:p>
            <a:pPr marL="407670">
              <a:lnSpc>
                <a:spcPts val="590"/>
              </a:lnSpc>
            </a:pPr>
            <a:r>
              <a:rPr sz="650" dirty="0">
                <a:solidFill>
                  <a:srgbClr val="9CA2AF"/>
                </a:solidFill>
                <a:latin typeface="Courier New" panose="02070309020205020404"/>
                <a:cs typeface="Courier New" panose="02070309020205020404"/>
              </a:rPr>
              <a:t>Slice</a:t>
            </a:r>
            <a:r>
              <a:rPr sz="650" spc="90" dirty="0">
                <a:solidFill>
                  <a:srgbClr val="9CA2AF"/>
                </a:solidFill>
                <a:latin typeface="Courier New" panose="02070309020205020404"/>
                <a:cs typeface="Courier New" panose="02070309020205020404"/>
              </a:rPr>
              <a:t> </a:t>
            </a:r>
            <a:r>
              <a:rPr sz="650" spc="-50" dirty="0">
                <a:solidFill>
                  <a:srgbClr val="9CA2AF"/>
                </a:solidFill>
                <a:latin typeface="Courier New" panose="02070309020205020404"/>
                <a:cs typeface="Courier New" panose="02070309020205020404"/>
              </a:rPr>
              <a:t>2</a:t>
            </a:r>
            <a:endParaRPr sz="650">
              <a:latin typeface="Courier New" panose="02070309020205020404"/>
              <a:cs typeface="Courier New" panose="02070309020205020404"/>
            </a:endParaRPr>
          </a:p>
          <a:p>
            <a:pPr marL="430530">
              <a:lnSpc>
                <a:spcPts val="690"/>
              </a:lnSpc>
            </a:pPr>
            <a:r>
              <a:rPr sz="650" spc="30" dirty="0">
                <a:solidFill>
                  <a:srgbClr val="D0D5DA"/>
                </a:solidFill>
                <a:latin typeface="Courier New" panose="02070309020205020404"/>
                <a:cs typeface="Courier New" panose="02070309020205020404"/>
              </a:rPr>
              <a:t>Slice</a:t>
            </a:r>
            <a:r>
              <a:rPr sz="650" i="1" spc="30" dirty="0">
                <a:solidFill>
                  <a:srgbClr val="1A1A1A"/>
                </a:solidFill>
                <a:latin typeface="Calibri" panose="020F0502020204030204"/>
                <a:cs typeface="Calibri" panose="020F0502020204030204"/>
              </a:rPr>
              <a:t>L </a:t>
            </a:r>
            <a:r>
              <a:rPr sz="650" spc="155" dirty="0">
                <a:solidFill>
                  <a:srgbClr val="1A1A1A"/>
                </a:solidFill>
                <a:latin typeface="Cambria" panose="02040503050406030204"/>
                <a:cs typeface="Cambria" panose="02040503050406030204"/>
              </a:rPr>
              <a:t>+</a:t>
            </a:r>
            <a:r>
              <a:rPr sz="650" spc="50" dirty="0">
                <a:solidFill>
                  <a:srgbClr val="1A1A1A"/>
                </a:solidFill>
                <a:latin typeface="Cambria" panose="02040503050406030204"/>
                <a:cs typeface="Cambria" panose="02040503050406030204"/>
              </a:rPr>
              <a:t> </a:t>
            </a:r>
            <a:r>
              <a:rPr sz="650" spc="-50" dirty="0">
                <a:solidFill>
                  <a:srgbClr val="1A1A1A"/>
                </a:solidFill>
                <a:latin typeface="Cambria" panose="02040503050406030204"/>
                <a:cs typeface="Cambria" panose="02040503050406030204"/>
              </a:rPr>
              <a:t>1</a:t>
            </a:r>
            <a:endParaRPr sz="650">
              <a:latin typeface="Cambria" panose="02040503050406030204"/>
              <a:cs typeface="Cambria" panose="02040503050406030204"/>
            </a:endParaRPr>
          </a:p>
        </p:txBody>
      </p:sp>
      <p:sp>
        <p:nvSpPr>
          <p:cNvPr id="51" name="object 51"/>
          <p:cNvSpPr/>
          <p:nvPr/>
        </p:nvSpPr>
        <p:spPr>
          <a:xfrm>
            <a:off x="0" y="0"/>
            <a:ext cx="12192000" cy="9525"/>
          </a:xfrm>
          <a:custGeom>
            <a:avLst/>
            <a:gdLst/>
            <a:ahLst/>
            <a:cxnLst/>
            <a:rect l="l" t="t" r="r" b="b"/>
            <a:pathLst>
              <a:path w="12192000" h="9525">
                <a:moveTo>
                  <a:pt x="12191999" y="9524"/>
                </a:moveTo>
                <a:lnTo>
                  <a:pt x="0" y="9524"/>
                </a:lnTo>
                <a:lnTo>
                  <a:pt x="0" y="0"/>
                </a:lnTo>
                <a:lnTo>
                  <a:pt x="12191999" y="0"/>
                </a:lnTo>
                <a:lnTo>
                  <a:pt x="12191999" y="9524"/>
                </a:lnTo>
                <a:close/>
              </a:path>
            </a:pathLst>
          </a:custGeom>
          <a:solidFill>
            <a:srgbClr val="E7E4E3"/>
          </a:solidFill>
        </p:spPr>
        <p:txBody>
          <a:bodyPr wrap="square" lIns="0" tIns="0" rIns="0" bIns="0" rtlCol="0"/>
          <a:lstStyle/>
          <a:p/>
        </p:txBody>
      </p:sp>
      <p:sp>
        <p:nvSpPr>
          <p:cNvPr id="52" name="object 52"/>
          <p:cNvSpPr/>
          <p:nvPr/>
        </p:nvSpPr>
        <p:spPr>
          <a:xfrm>
            <a:off x="0" y="6848474"/>
            <a:ext cx="12192000" cy="9525"/>
          </a:xfrm>
          <a:custGeom>
            <a:avLst/>
            <a:gdLst/>
            <a:ahLst/>
            <a:cxnLst/>
            <a:rect l="l" t="t" r="r" b="b"/>
            <a:pathLst>
              <a:path w="12192000" h="9525">
                <a:moveTo>
                  <a:pt x="12191999" y="9524"/>
                </a:moveTo>
                <a:lnTo>
                  <a:pt x="0" y="9524"/>
                </a:lnTo>
                <a:lnTo>
                  <a:pt x="0" y="0"/>
                </a:lnTo>
                <a:lnTo>
                  <a:pt x="12191999" y="0"/>
                </a:lnTo>
                <a:lnTo>
                  <a:pt x="12191999" y="9524"/>
                </a:lnTo>
                <a:close/>
              </a:path>
            </a:pathLst>
          </a:custGeom>
          <a:solidFill>
            <a:srgbClr val="E7E4E3"/>
          </a:solidFill>
        </p:spPr>
        <p:txBody>
          <a:bodyPr wrap="square" lIns="0" tIns="0" rIns="0" bIns="0" rtlCol="0"/>
          <a:lstStyl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1137900" cy="6856730"/>
          </a:xfrm>
          <a:custGeom>
            <a:avLst/>
            <a:gdLst/>
            <a:ahLst/>
            <a:cxnLst/>
            <a:rect l="l" t="t" r="r" b="b"/>
            <a:pathLst>
              <a:path w="11137900" h="6856730">
                <a:moveTo>
                  <a:pt x="11137637" y="6856607"/>
                </a:moveTo>
                <a:lnTo>
                  <a:pt x="0" y="6856607"/>
                </a:lnTo>
                <a:lnTo>
                  <a:pt x="0" y="0"/>
                </a:lnTo>
                <a:lnTo>
                  <a:pt x="11137637" y="0"/>
                </a:lnTo>
                <a:lnTo>
                  <a:pt x="11137637" y="6856607"/>
                </a:lnTo>
                <a:close/>
              </a:path>
            </a:pathLst>
          </a:custGeom>
          <a:solidFill>
            <a:srgbClr val="FAF9F6"/>
          </a:solidFill>
        </p:spPr>
        <p:txBody>
          <a:bodyPr wrap="square" lIns="0" tIns="0" rIns="0" bIns="0" rtlCol="0"/>
          <a:lstStyle/>
          <a:p/>
        </p:txBody>
      </p:sp>
      <p:sp>
        <p:nvSpPr>
          <p:cNvPr id="3" name="object 3"/>
          <p:cNvSpPr/>
          <p:nvPr/>
        </p:nvSpPr>
        <p:spPr>
          <a:xfrm>
            <a:off x="417661" y="948439"/>
            <a:ext cx="417830" cy="17780"/>
          </a:xfrm>
          <a:custGeom>
            <a:avLst/>
            <a:gdLst/>
            <a:ahLst/>
            <a:cxnLst/>
            <a:rect l="l" t="t" r="r" b="b"/>
            <a:pathLst>
              <a:path w="417830" h="17780">
                <a:moveTo>
                  <a:pt x="417661" y="17402"/>
                </a:moveTo>
                <a:lnTo>
                  <a:pt x="0" y="17402"/>
                </a:lnTo>
                <a:lnTo>
                  <a:pt x="0" y="0"/>
                </a:lnTo>
                <a:lnTo>
                  <a:pt x="417661" y="0"/>
                </a:lnTo>
                <a:lnTo>
                  <a:pt x="417661" y="17402"/>
                </a:lnTo>
                <a:close/>
              </a:path>
            </a:pathLst>
          </a:custGeom>
          <a:solidFill>
            <a:srgbClr val="5B8BA7"/>
          </a:solidFill>
        </p:spPr>
        <p:txBody>
          <a:bodyPr wrap="square" lIns="0" tIns="0" rIns="0" bIns="0" rtlCol="0"/>
          <a:lstStyle/>
          <a:p/>
        </p:txBody>
      </p:sp>
      <p:sp>
        <p:nvSpPr>
          <p:cNvPr id="4" name="object 4"/>
          <p:cNvSpPr txBox="1">
            <a:spLocks noGrp="1"/>
          </p:cNvSpPr>
          <p:nvPr>
            <p:ph type="title"/>
          </p:nvPr>
        </p:nvSpPr>
        <p:spPr>
          <a:xfrm>
            <a:off x="404961" y="346836"/>
            <a:ext cx="5767070" cy="450215"/>
          </a:xfrm>
          <a:prstGeom prst="rect">
            <a:avLst/>
          </a:prstGeom>
        </p:spPr>
        <p:txBody>
          <a:bodyPr vert="horz" wrap="square" lIns="0" tIns="17145" rIns="0" bIns="0" rtlCol="0">
            <a:spAutoFit/>
          </a:bodyPr>
          <a:lstStyle/>
          <a:p>
            <a:pPr marL="12700">
              <a:lnSpc>
                <a:spcPct val="100000"/>
              </a:lnSpc>
              <a:spcBef>
                <a:spcPts val="135"/>
              </a:spcBef>
            </a:pPr>
            <a:r>
              <a:rPr sz="2750" spc="-330" dirty="0"/>
              <a:t>算法核心：软注意力掩码</a:t>
            </a:r>
            <a:r>
              <a:rPr sz="2300" spc="65" dirty="0">
                <a:latin typeface="Calibri" panose="020F0502020204030204"/>
                <a:cs typeface="Calibri" panose="020F0502020204030204"/>
              </a:rPr>
              <a:t>(SAM)</a:t>
            </a:r>
            <a:r>
              <a:rPr sz="2750" spc="-335" dirty="0"/>
              <a:t>的提取机制</a:t>
            </a:r>
            <a:endParaRPr sz="2750">
              <a:latin typeface="Calibri" panose="020F0502020204030204"/>
              <a:cs typeface="Calibri" panose="020F0502020204030204"/>
            </a:endParaRPr>
          </a:p>
        </p:txBody>
      </p:sp>
      <p:grpSp>
        <p:nvGrpSpPr>
          <p:cNvPr id="5" name="object 5"/>
          <p:cNvGrpSpPr/>
          <p:nvPr/>
        </p:nvGrpSpPr>
        <p:grpSpPr>
          <a:xfrm>
            <a:off x="417567" y="1244188"/>
            <a:ext cx="3994150" cy="2489200"/>
            <a:chOff x="417567" y="1244188"/>
            <a:chExt cx="3994150" cy="2489200"/>
          </a:xfrm>
        </p:grpSpPr>
        <p:sp>
          <p:nvSpPr>
            <p:cNvPr id="6" name="object 6"/>
            <p:cNvSpPr/>
            <p:nvPr/>
          </p:nvSpPr>
          <p:spPr>
            <a:xfrm>
              <a:off x="422012" y="1248633"/>
              <a:ext cx="3985260" cy="2480310"/>
            </a:xfrm>
            <a:custGeom>
              <a:avLst/>
              <a:gdLst/>
              <a:ahLst/>
              <a:cxnLst/>
              <a:rect l="l" t="t" r="r" b="b"/>
              <a:pathLst>
                <a:path w="3985260" h="2480310">
                  <a:moveTo>
                    <a:pt x="3891691" y="2479864"/>
                  </a:moveTo>
                  <a:lnTo>
                    <a:pt x="93494" y="2479864"/>
                  </a:lnTo>
                  <a:lnTo>
                    <a:pt x="86987" y="2479223"/>
                  </a:lnTo>
                  <a:lnTo>
                    <a:pt x="49934" y="2466650"/>
                  </a:lnTo>
                  <a:lnTo>
                    <a:pt x="20514" y="2440855"/>
                  </a:lnTo>
                  <a:lnTo>
                    <a:pt x="3204" y="2405765"/>
                  </a:lnTo>
                  <a:lnTo>
                    <a:pt x="0" y="2386369"/>
                  </a:lnTo>
                  <a:lnTo>
                    <a:pt x="0" y="2379799"/>
                  </a:lnTo>
                  <a:lnTo>
                    <a:pt x="0" y="93494"/>
                  </a:lnTo>
                  <a:lnTo>
                    <a:pt x="10131" y="55701"/>
                  </a:lnTo>
                  <a:lnTo>
                    <a:pt x="33954" y="24662"/>
                  </a:lnTo>
                  <a:lnTo>
                    <a:pt x="67841" y="5102"/>
                  </a:lnTo>
                  <a:lnTo>
                    <a:pt x="93494" y="0"/>
                  </a:lnTo>
                  <a:lnTo>
                    <a:pt x="3891691" y="0"/>
                  </a:lnTo>
                  <a:lnTo>
                    <a:pt x="3929483" y="10131"/>
                  </a:lnTo>
                  <a:lnTo>
                    <a:pt x="3960523" y="33954"/>
                  </a:lnTo>
                  <a:lnTo>
                    <a:pt x="3980083" y="67841"/>
                  </a:lnTo>
                  <a:lnTo>
                    <a:pt x="3985185" y="93494"/>
                  </a:lnTo>
                  <a:lnTo>
                    <a:pt x="3985185" y="2386369"/>
                  </a:lnTo>
                  <a:lnTo>
                    <a:pt x="3975053" y="2424162"/>
                  </a:lnTo>
                  <a:lnTo>
                    <a:pt x="3951231" y="2455201"/>
                  </a:lnTo>
                  <a:lnTo>
                    <a:pt x="3917344" y="2474761"/>
                  </a:lnTo>
                  <a:lnTo>
                    <a:pt x="3898198" y="2479223"/>
                  </a:lnTo>
                  <a:lnTo>
                    <a:pt x="3891691" y="2479864"/>
                  </a:lnTo>
                  <a:close/>
                </a:path>
              </a:pathLst>
            </a:custGeom>
            <a:solidFill>
              <a:srgbClr val="FFFFFF"/>
            </a:solidFill>
          </p:spPr>
          <p:txBody>
            <a:bodyPr wrap="square" lIns="0" tIns="0" rIns="0" bIns="0" rtlCol="0"/>
            <a:lstStyle/>
            <a:p/>
          </p:txBody>
        </p:sp>
        <p:sp>
          <p:nvSpPr>
            <p:cNvPr id="7" name="object 7"/>
            <p:cNvSpPr/>
            <p:nvPr/>
          </p:nvSpPr>
          <p:spPr>
            <a:xfrm>
              <a:off x="422012" y="1248633"/>
              <a:ext cx="3985260" cy="2480310"/>
            </a:xfrm>
            <a:custGeom>
              <a:avLst/>
              <a:gdLst/>
              <a:ahLst/>
              <a:cxnLst/>
              <a:rect l="l" t="t" r="r" b="b"/>
              <a:pathLst>
                <a:path w="3985260" h="2480310">
                  <a:moveTo>
                    <a:pt x="0" y="2379799"/>
                  </a:moveTo>
                  <a:lnTo>
                    <a:pt x="0" y="100064"/>
                  </a:lnTo>
                  <a:lnTo>
                    <a:pt x="0" y="93494"/>
                  </a:lnTo>
                  <a:lnTo>
                    <a:pt x="640" y="86987"/>
                  </a:lnTo>
                  <a:lnTo>
                    <a:pt x="13213" y="49934"/>
                  </a:lnTo>
                  <a:lnTo>
                    <a:pt x="16863" y="44471"/>
                  </a:lnTo>
                  <a:lnTo>
                    <a:pt x="20514" y="39008"/>
                  </a:lnTo>
                  <a:lnTo>
                    <a:pt x="44471" y="16863"/>
                  </a:lnTo>
                  <a:lnTo>
                    <a:pt x="49934" y="13213"/>
                  </a:lnTo>
                  <a:lnTo>
                    <a:pt x="86987" y="640"/>
                  </a:lnTo>
                  <a:lnTo>
                    <a:pt x="93494" y="0"/>
                  </a:lnTo>
                  <a:lnTo>
                    <a:pt x="100064" y="0"/>
                  </a:lnTo>
                  <a:lnTo>
                    <a:pt x="3885121" y="0"/>
                  </a:lnTo>
                  <a:lnTo>
                    <a:pt x="3891691" y="0"/>
                  </a:lnTo>
                  <a:lnTo>
                    <a:pt x="3898198" y="640"/>
                  </a:lnTo>
                  <a:lnTo>
                    <a:pt x="3935250" y="13213"/>
                  </a:lnTo>
                  <a:lnTo>
                    <a:pt x="3964671" y="39008"/>
                  </a:lnTo>
                  <a:lnTo>
                    <a:pt x="3968321" y="44471"/>
                  </a:lnTo>
                  <a:lnTo>
                    <a:pt x="3971971" y="49934"/>
                  </a:lnTo>
                  <a:lnTo>
                    <a:pt x="3975054" y="55701"/>
                  </a:lnTo>
                  <a:lnTo>
                    <a:pt x="3977568" y="61771"/>
                  </a:lnTo>
                  <a:lnTo>
                    <a:pt x="3980083" y="67841"/>
                  </a:lnTo>
                  <a:lnTo>
                    <a:pt x="3981980" y="74098"/>
                  </a:lnTo>
                  <a:lnTo>
                    <a:pt x="3983262" y="80543"/>
                  </a:lnTo>
                  <a:lnTo>
                    <a:pt x="3984544" y="86987"/>
                  </a:lnTo>
                  <a:lnTo>
                    <a:pt x="3985185" y="93494"/>
                  </a:lnTo>
                  <a:lnTo>
                    <a:pt x="3985185" y="100064"/>
                  </a:lnTo>
                  <a:lnTo>
                    <a:pt x="3985185" y="2379799"/>
                  </a:lnTo>
                  <a:lnTo>
                    <a:pt x="3985185" y="2386369"/>
                  </a:lnTo>
                  <a:lnTo>
                    <a:pt x="3984544" y="2392876"/>
                  </a:lnTo>
                  <a:lnTo>
                    <a:pt x="3983262" y="2399321"/>
                  </a:lnTo>
                  <a:lnTo>
                    <a:pt x="3981980" y="2405765"/>
                  </a:lnTo>
                  <a:lnTo>
                    <a:pt x="3980082" y="2412022"/>
                  </a:lnTo>
                  <a:lnTo>
                    <a:pt x="3977568" y="2418092"/>
                  </a:lnTo>
                  <a:lnTo>
                    <a:pt x="3975053" y="2424162"/>
                  </a:lnTo>
                  <a:lnTo>
                    <a:pt x="3951231" y="2455201"/>
                  </a:lnTo>
                  <a:lnTo>
                    <a:pt x="3923414" y="2472247"/>
                  </a:lnTo>
                  <a:lnTo>
                    <a:pt x="3917344" y="2474761"/>
                  </a:lnTo>
                  <a:lnTo>
                    <a:pt x="3885121" y="2479864"/>
                  </a:lnTo>
                  <a:lnTo>
                    <a:pt x="100064" y="2479864"/>
                  </a:lnTo>
                  <a:lnTo>
                    <a:pt x="61771" y="2472247"/>
                  </a:lnTo>
                  <a:lnTo>
                    <a:pt x="55701" y="2469732"/>
                  </a:lnTo>
                  <a:lnTo>
                    <a:pt x="24662" y="2445910"/>
                  </a:lnTo>
                  <a:lnTo>
                    <a:pt x="16863" y="2435392"/>
                  </a:lnTo>
                  <a:lnTo>
                    <a:pt x="13213" y="2429929"/>
                  </a:lnTo>
                  <a:lnTo>
                    <a:pt x="10131" y="2424162"/>
                  </a:lnTo>
                  <a:lnTo>
                    <a:pt x="7616" y="2418092"/>
                  </a:lnTo>
                  <a:lnTo>
                    <a:pt x="5102" y="2412022"/>
                  </a:lnTo>
                  <a:lnTo>
                    <a:pt x="3204" y="2405765"/>
                  </a:lnTo>
                  <a:lnTo>
                    <a:pt x="1922" y="2399321"/>
                  </a:lnTo>
                  <a:lnTo>
                    <a:pt x="640" y="2392876"/>
                  </a:lnTo>
                  <a:lnTo>
                    <a:pt x="0" y="2386369"/>
                  </a:lnTo>
                  <a:lnTo>
                    <a:pt x="0" y="2379799"/>
                  </a:lnTo>
                  <a:close/>
                </a:path>
              </a:pathLst>
            </a:custGeom>
            <a:ln w="8701">
              <a:solidFill>
                <a:srgbClr val="F2F4F5"/>
              </a:solidFill>
            </a:ln>
          </p:spPr>
          <p:txBody>
            <a:bodyPr wrap="square" lIns="0" tIns="0" rIns="0" bIns="0" rtlCol="0"/>
            <a:lstStyle/>
            <a:p/>
          </p:txBody>
        </p:sp>
      </p:grpSp>
      <p:sp>
        <p:nvSpPr>
          <p:cNvPr id="8" name="object 8"/>
          <p:cNvSpPr txBox="1"/>
          <p:nvPr/>
        </p:nvSpPr>
        <p:spPr>
          <a:xfrm>
            <a:off x="587688" y="1457816"/>
            <a:ext cx="1438275" cy="151130"/>
          </a:xfrm>
          <a:prstGeom prst="rect">
            <a:avLst/>
          </a:prstGeom>
        </p:spPr>
        <p:txBody>
          <a:bodyPr vert="horz" wrap="square" lIns="0" tIns="15240" rIns="0" bIns="0" rtlCol="0">
            <a:spAutoFit/>
          </a:bodyPr>
          <a:lstStyle/>
          <a:p>
            <a:pPr marL="12700">
              <a:lnSpc>
                <a:spcPct val="100000"/>
              </a:lnSpc>
              <a:spcBef>
                <a:spcPts val="120"/>
              </a:spcBef>
            </a:pPr>
            <a:r>
              <a:rPr sz="800" spc="130" dirty="0">
                <a:solidFill>
                  <a:srgbClr val="D4A573"/>
                </a:solidFill>
                <a:latin typeface="宋体" panose="02010600030101010101" pitchFamily="2" charset="-122"/>
                <a:cs typeface="宋体" panose="02010600030101010101" pitchFamily="2" charset="-122"/>
              </a:rPr>
              <a:t>01</a:t>
            </a:r>
            <a:r>
              <a:rPr sz="800" spc="25" dirty="0">
                <a:solidFill>
                  <a:srgbClr val="D4A573"/>
                </a:solidFill>
                <a:latin typeface="宋体" panose="02010600030101010101" pitchFamily="2" charset="-122"/>
                <a:cs typeface="宋体" panose="02010600030101010101" pitchFamily="2" charset="-122"/>
              </a:rPr>
              <a:t> </a:t>
            </a:r>
            <a:r>
              <a:rPr sz="800" dirty="0">
                <a:solidFill>
                  <a:srgbClr val="D4A573"/>
                </a:solidFill>
                <a:latin typeface="宋体" panose="02010600030101010101" pitchFamily="2" charset="-122"/>
                <a:cs typeface="宋体" panose="02010600030101010101" pitchFamily="2" charset="-122"/>
              </a:rPr>
              <a:t>/</a:t>
            </a:r>
            <a:r>
              <a:rPr sz="800" spc="25" dirty="0">
                <a:solidFill>
                  <a:srgbClr val="D4A573"/>
                </a:solidFill>
                <a:latin typeface="宋体" panose="02010600030101010101" pitchFamily="2" charset="-122"/>
                <a:cs typeface="宋体" panose="02010600030101010101" pitchFamily="2" charset="-122"/>
              </a:rPr>
              <a:t> </a:t>
            </a:r>
            <a:r>
              <a:rPr sz="800" spc="155" dirty="0">
                <a:solidFill>
                  <a:srgbClr val="D4A573"/>
                </a:solidFill>
                <a:latin typeface="宋体" panose="02010600030101010101" pitchFamily="2" charset="-122"/>
                <a:cs typeface="宋体" panose="02010600030101010101" pitchFamily="2" charset="-122"/>
              </a:rPr>
              <a:t>CONCEPT</a:t>
            </a:r>
            <a:r>
              <a:rPr sz="800" spc="25" dirty="0">
                <a:solidFill>
                  <a:srgbClr val="D4A573"/>
                </a:solidFill>
                <a:latin typeface="宋体" panose="02010600030101010101" pitchFamily="2" charset="-122"/>
                <a:cs typeface="宋体" panose="02010600030101010101" pitchFamily="2" charset="-122"/>
              </a:rPr>
              <a:t> </a:t>
            </a:r>
            <a:r>
              <a:rPr sz="800" spc="145" dirty="0">
                <a:solidFill>
                  <a:srgbClr val="D4A573"/>
                </a:solidFill>
                <a:latin typeface="宋体" panose="02010600030101010101" pitchFamily="2" charset="-122"/>
                <a:cs typeface="宋体" panose="02010600030101010101" pitchFamily="2" charset="-122"/>
              </a:rPr>
              <a:t>OPERATOR</a:t>
            </a:r>
            <a:endParaRPr sz="800">
              <a:latin typeface="宋体" panose="02010600030101010101" pitchFamily="2" charset="-122"/>
              <a:cs typeface="宋体" panose="02010600030101010101" pitchFamily="2" charset="-122"/>
            </a:endParaRPr>
          </a:p>
        </p:txBody>
      </p:sp>
      <p:grpSp>
        <p:nvGrpSpPr>
          <p:cNvPr id="9" name="object 9"/>
          <p:cNvGrpSpPr/>
          <p:nvPr/>
        </p:nvGrpSpPr>
        <p:grpSpPr>
          <a:xfrm>
            <a:off x="600388" y="2488565"/>
            <a:ext cx="3629025" cy="1061720"/>
            <a:chOff x="600388" y="2488565"/>
            <a:chExt cx="3629025" cy="1061720"/>
          </a:xfrm>
        </p:grpSpPr>
        <p:sp>
          <p:nvSpPr>
            <p:cNvPr id="10" name="object 10"/>
            <p:cNvSpPr/>
            <p:nvPr/>
          </p:nvSpPr>
          <p:spPr>
            <a:xfrm>
              <a:off x="604738" y="2492916"/>
              <a:ext cx="3620135" cy="1053465"/>
            </a:xfrm>
            <a:custGeom>
              <a:avLst/>
              <a:gdLst/>
              <a:ahLst/>
              <a:cxnLst/>
              <a:rect l="l" t="t" r="r" b="b"/>
              <a:pathLst>
                <a:path w="3620135" h="1053464">
                  <a:moveTo>
                    <a:pt x="3558757" y="1052854"/>
                  </a:moveTo>
                  <a:lnTo>
                    <a:pt x="60974" y="1052854"/>
                  </a:lnTo>
                  <a:lnTo>
                    <a:pt x="56730" y="1052436"/>
                  </a:lnTo>
                  <a:lnTo>
                    <a:pt x="16084" y="1030710"/>
                  </a:lnTo>
                  <a:lnTo>
                    <a:pt x="0" y="991880"/>
                  </a:lnTo>
                  <a:lnTo>
                    <a:pt x="0" y="987595"/>
                  </a:lnTo>
                  <a:lnTo>
                    <a:pt x="0" y="60974"/>
                  </a:lnTo>
                  <a:lnTo>
                    <a:pt x="16084" y="22143"/>
                  </a:lnTo>
                  <a:lnTo>
                    <a:pt x="56730" y="417"/>
                  </a:lnTo>
                  <a:lnTo>
                    <a:pt x="60974" y="0"/>
                  </a:lnTo>
                  <a:lnTo>
                    <a:pt x="3558757" y="0"/>
                  </a:lnTo>
                  <a:lnTo>
                    <a:pt x="3597587" y="16084"/>
                  </a:lnTo>
                  <a:lnTo>
                    <a:pt x="3619313" y="56730"/>
                  </a:lnTo>
                  <a:lnTo>
                    <a:pt x="3619731" y="60974"/>
                  </a:lnTo>
                  <a:lnTo>
                    <a:pt x="3619731" y="991880"/>
                  </a:lnTo>
                  <a:lnTo>
                    <a:pt x="3603647" y="1030710"/>
                  </a:lnTo>
                  <a:lnTo>
                    <a:pt x="3563000" y="1052436"/>
                  </a:lnTo>
                  <a:lnTo>
                    <a:pt x="3558757" y="1052854"/>
                  </a:lnTo>
                  <a:close/>
                </a:path>
              </a:pathLst>
            </a:custGeom>
            <a:solidFill>
              <a:srgbClr val="F9FAFA"/>
            </a:solidFill>
          </p:spPr>
          <p:txBody>
            <a:bodyPr wrap="square" lIns="0" tIns="0" rIns="0" bIns="0" rtlCol="0"/>
            <a:lstStyle/>
            <a:p/>
          </p:txBody>
        </p:sp>
        <p:sp>
          <p:nvSpPr>
            <p:cNvPr id="11" name="object 11"/>
            <p:cNvSpPr/>
            <p:nvPr/>
          </p:nvSpPr>
          <p:spPr>
            <a:xfrm>
              <a:off x="604738" y="2492916"/>
              <a:ext cx="3620135" cy="1053465"/>
            </a:xfrm>
            <a:custGeom>
              <a:avLst/>
              <a:gdLst/>
              <a:ahLst/>
              <a:cxnLst/>
              <a:rect l="l" t="t" r="r" b="b"/>
              <a:pathLst>
                <a:path w="3620135" h="1053464">
                  <a:moveTo>
                    <a:pt x="0" y="987595"/>
                  </a:moveTo>
                  <a:lnTo>
                    <a:pt x="0" y="65259"/>
                  </a:lnTo>
                  <a:lnTo>
                    <a:pt x="0" y="60974"/>
                  </a:lnTo>
                  <a:lnTo>
                    <a:pt x="417" y="56730"/>
                  </a:lnTo>
                  <a:lnTo>
                    <a:pt x="1253" y="52527"/>
                  </a:lnTo>
                  <a:lnTo>
                    <a:pt x="2089" y="48325"/>
                  </a:lnTo>
                  <a:lnTo>
                    <a:pt x="3327" y="44244"/>
                  </a:lnTo>
                  <a:lnTo>
                    <a:pt x="4967" y="40285"/>
                  </a:lnTo>
                  <a:lnTo>
                    <a:pt x="6607" y="36326"/>
                  </a:lnTo>
                  <a:lnTo>
                    <a:pt x="19114" y="19113"/>
                  </a:lnTo>
                  <a:lnTo>
                    <a:pt x="22144" y="16084"/>
                  </a:lnTo>
                  <a:lnTo>
                    <a:pt x="52528" y="1253"/>
                  </a:lnTo>
                  <a:lnTo>
                    <a:pt x="56730" y="417"/>
                  </a:lnTo>
                  <a:lnTo>
                    <a:pt x="60974" y="0"/>
                  </a:lnTo>
                  <a:lnTo>
                    <a:pt x="65259" y="0"/>
                  </a:lnTo>
                  <a:lnTo>
                    <a:pt x="3554472" y="0"/>
                  </a:lnTo>
                  <a:lnTo>
                    <a:pt x="3558757" y="0"/>
                  </a:lnTo>
                  <a:lnTo>
                    <a:pt x="3563000" y="417"/>
                  </a:lnTo>
                  <a:lnTo>
                    <a:pt x="3590728" y="10998"/>
                  </a:lnTo>
                  <a:lnTo>
                    <a:pt x="3594291" y="13378"/>
                  </a:lnTo>
                  <a:lnTo>
                    <a:pt x="3597587" y="16084"/>
                  </a:lnTo>
                  <a:lnTo>
                    <a:pt x="3600617" y="19113"/>
                  </a:lnTo>
                  <a:lnTo>
                    <a:pt x="3603647" y="22143"/>
                  </a:lnTo>
                  <a:lnTo>
                    <a:pt x="3618477" y="52527"/>
                  </a:lnTo>
                  <a:lnTo>
                    <a:pt x="3619313" y="56730"/>
                  </a:lnTo>
                  <a:lnTo>
                    <a:pt x="3619731" y="60974"/>
                  </a:lnTo>
                  <a:lnTo>
                    <a:pt x="3619732" y="65259"/>
                  </a:lnTo>
                  <a:lnTo>
                    <a:pt x="3619732" y="987595"/>
                  </a:lnTo>
                  <a:lnTo>
                    <a:pt x="3619731" y="991880"/>
                  </a:lnTo>
                  <a:lnTo>
                    <a:pt x="3619313" y="996123"/>
                  </a:lnTo>
                  <a:lnTo>
                    <a:pt x="3618477" y="1000326"/>
                  </a:lnTo>
                  <a:lnTo>
                    <a:pt x="3617641" y="1004529"/>
                  </a:lnTo>
                  <a:lnTo>
                    <a:pt x="3608733" y="1023850"/>
                  </a:lnTo>
                  <a:lnTo>
                    <a:pt x="3606352" y="1027413"/>
                  </a:lnTo>
                  <a:lnTo>
                    <a:pt x="3603647" y="1030710"/>
                  </a:lnTo>
                  <a:lnTo>
                    <a:pt x="3600617" y="1033740"/>
                  </a:lnTo>
                  <a:lnTo>
                    <a:pt x="3597587" y="1036770"/>
                  </a:lnTo>
                  <a:lnTo>
                    <a:pt x="3594291" y="1039475"/>
                  </a:lnTo>
                  <a:lnTo>
                    <a:pt x="3590728" y="1041856"/>
                  </a:lnTo>
                  <a:lnTo>
                    <a:pt x="3587165" y="1044236"/>
                  </a:lnTo>
                  <a:lnTo>
                    <a:pt x="3567203" y="1051600"/>
                  </a:lnTo>
                  <a:lnTo>
                    <a:pt x="3563000" y="1052436"/>
                  </a:lnTo>
                  <a:lnTo>
                    <a:pt x="3558757" y="1052854"/>
                  </a:lnTo>
                  <a:lnTo>
                    <a:pt x="3554472" y="1052854"/>
                  </a:lnTo>
                  <a:lnTo>
                    <a:pt x="65259" y="1052854"/>
                  </a:lnTo>
                  <a:lnTo>
                    <a:pt x="60974" y="1052854"/>
                  </a:lnTo>
                  <a:lnTo>
                    <a:pt x="56730" y="1052436"/>
                  </a:lnTo>
                  <a:lnTo>
                    <a:pt x="52528" y="1051600"/>
                  </a:lnTo>
                  <a:lnTo>
                    <a:pt x="48325" y="1050764"/>
                  </a:lnTo>
                  <a:lnTo>
                    <a:pt x="13378" y="1027413"/>
                  </a:lnTo>
                  <a:lnTo>
                    <a:pt x="1253" y="1000326"/>
                  </a:lnTo>
                  <a:lnTo>
                    <a:pt x="417" y="996123"/>
                  </a:lnTo>
                  <a:lnTo>
                    <a:pt x="0" y="991880"/>
                  </a:lnTo>
                  <a:lnTo>
                    <a:pt x="0" y="987595"/>
                  </a:lnTo>
                  <a:close/>
                </a:path>
              </a:pathLst>
            </a:custGeom>
            <a:ln w="8701">
              <a:solidFill>
                <a:srgbClr val="F2F4F5"/>
              </a:solidFill>
            </a:ln>
          </p:spPr>
          <p:txBody>
            <a:bodyPr wrap="square" lIns="0" tIns="0" rIns="0" bIns="0" rtlCol="0"/>
            <a:lstStyle/>
            <a:p/>
          </p:txBody>
        </p:sp>
      </p:grpSp>
      <p:sp>
        <p:nvSpPr>
          <p:cNvPr id="12" name="object 12"/>
          <p:cNvSpPr txBox="1"/>
          <p:nvPr/>
        </p:nvSpPr>
        <p:spPr>
          <a:xfrm>
            <a:off x="562288" y="1672389"/>
            <a:ext cx="3599179" cy="478790"/>
          </a:xfrm>
          <a:prstGeom prst="rect">
            <a:avLst/>
          </a:prstGeom>
        </p:spPr>
        <p:txBody>
          <a:bodyPr vert="horz" wrap="square" lIns="0" tIns="11430" rIns="0" bIns="0" rtlCol="0">
            <a:spAutoFit/>
          </a:bodyPr>
          <a:lstStyle/>
          <a:p>
            <a:pPr marL="38100">
              <a:lnSpc>
                <a:spcPct val="100000"/>
              </a:lnSpc>
              <a:spcBef>
                <a:spcPts val="90"/>
              </a:spcBef>
            </a:pPr>
            <a:r>
              <a:rPr sz="1400" spc="-190" dirty="0">
                <a:solidFill>
                  <a:srgbClr val="111726"/>
                </a:solidFill>
                <a:latin typeface="宋体" panose="02010600030101010101" pitchFamily="2" charset="-122"/>
                <a:cs typeface="宋体" panose="02010600030101010101" pitchFamily="2" charset="-122"/>
              </a:rPr>
              <a:t>核心算子：学习不变权重的注意力矩阵</a:t>
            </a:r>
            <a:r>
              <a:rPr sz="1200" spc="400" dirty="0">
                <a:solidFill>
                  <a:srgbClr val="1A1A1A"/>
                </a:solidFill>
                <a:latin typeface="Calibri" panose="020F0502020204030204"/>
                <a:cs typeface="Calibri" panose="020F0502020204030204"/>
              </a:rPr>
              <a:t>M</a:t>
            </a:r>
            <a:endParaRPr sz="1200">
              <a:latin typeface="Calibri" panose="020F0502020204030204"/>
              <a:cs typeface="Calibri" panose="020F0502020204030204"/>
            </a:endParaRPr>
          </a:p>
          <a:p>
            <a:pPr marL="38100">
              <a:lnSpc>
                <a:spcPct val="100000"/>
              </a:lnSpc>
              <a:spcBef>
                <a:spcPts val="810"/>
              </a:spcBef>
            </a:pPr>
            <a:r>
              <a:rPr sz="900" spc="-95" dirty="0">
                <a:solidFill>
                  <a:srgbClr val="6A7280"/>
                </a:solidFill>
                <a:latin typeface="宋体" panose="02010600030101010101" pitchFamily="2" charset="-122"/>
                <a:cs typeface="宋体" panose="02010600030101010101" pitchFamily="2" charset="-122"/>
              </a:rPr>
              <a:t>定义可学习的权重矩阵 </a:t>
            </a:r>
            <a:r>
              <a:rPr sz="800" spc="295" dirty="0">
                <a:solidFill>
                  <a:srgbClr val="1A1A1A"/>
                </a:solidFill>
                <a:latin typeface="Calibri" panose="020F0502020204030204"/>
                <a:cs typeface="Calibri" panose="020F0502020204030204"/>
              </a:rPr>
              <a:t>M</a:t>
            </a:r>
            <a:r>
              <a:rPr sz="800" spc="145" dirty="0">
                <a:solidFill>
                  <a:srgbClr val="1A1A1A"/>
                </a:solidFill>
                <a:latin typeface="Calibri" panose="020F0502020204030204"/>
                <a:cs typeface="Calibri" panose="020F0502020204030204"/>
              </a:rPr>
              <a:t> </a:t>
            </a:r>
            <a:r>
              <a:rPr sz="800" spc="100" dirty="0">
                <a:solidFill>
                  <a:srgbClr val="1A1A1A"/>
                </a:solidFill>
                <a:latin typeface="Cambria" panose="02040503050406030204"/>
                <a:cs typeface="Cambria" panose="02040503050406030204"/>
              </a:rPr>
              <a:t>∈ </a:t>
            </a:r>
            <a:r>
              <a:rPr sz="800" dirty="0">
                <a:solidFill>
                  <a:srgbClr val="1A1A1A"/>
                </a:solidFill>
                <a:latin typeface="Arial" panose="020B0604020202020204"/>
                <a:cs typeface="Arial" panose="020B0604020202020204"/>
              </a:rPr>
              <a:t>R</a:t>
            </a:r>
            <a:r>
              <a:rPr sz="825" baseline="35000" dirty="0">
                <a:solidFill>
                  <a:srgbClr val="1A1A1A"/>
                </a:solidFill>
                <a:latin typeface="Cambria" panose="02040503050406030204"/>
                <a:cs typeface="Cambria" panose="02040503050406030204"/>
              </a:rPr>
              <a:t>(</a:t>
            </a:r>
            <a:r>
              <a:rPr sz="825" i="1" baseline="35000" dirty="0">
                <a:solidFill>
                  <a:srgbClr val="1A1A1A"/>
                </a:solidFill>
                <a:latin typeface="Calibri" panose="020F0502020204030204"/>
                <a:cs typeface="Calibri" panose="020F0502020204030204"/>
              </a:rPr>
              <a:t>L</a:t>
            </a:r>
            <a:r>
              <a:rPr sz="825" baseline="35000" dirty="0">
                <a:solidFill>
                  <a:srgbClr val="1A1A1A"/>
                </a:solidFill>
                <a:latin typeface="Cambria" panose="02040503050406030204"/>
                <a:cs typeface="Cambria" panose="02040503050406030204"/>
              </a:rPr>
              <a:t>+1)×</a:t>
            </a:r>
            <a:r>
              <a:rPr sz="825" i="1" baseline="35000" dirty="0">
                <a:solidFill>
                  <a:srgbClr val="1A1A1A"/>
                </a:solidFill>
                <a:latin typeface="Calibri" panose="020F0502020204030204"/>
                <a:cs typeface="Calibri" panose="020F0502020204030204"/>
              </a:rPr>
              <a:t>d</a:t>
            </a:r>
            <a:r>
              <a:rPr sz="600" b="1" baseline="28000" dirty="0">
                <a:solidFill>
                  <a:srgbClr val="1A1A1A"/>
                </a:solidFill>
                <a:latin typeface="Georgia" panose="02040502050405020303"/>
                <a:cs typeface="Georgia" panose="02040502050405020303"/>
              </a:rPr>
              <a:t>X</a:t>
            </a:r>
            <a:r>
              <a:rPr sz="600" b="1" spc="517" baseline="28000" dirty="0">
                <a:solidFill>
                  <a:srgbClr val="1A1A1A"/>
                </a:solidFill>
                <a:latin typeface="Georgia" panose="02040502050405020303"/>
                <a:cs typeface="Georgia" panose="02040502050405020303"/>
              </a:rPr>
              <a:t> </a:t>
            </a:r>
            <a:r>
              <a:rPr sz="900" spc="-90" dirty="0">
                <a:solidFill>
                  <a:srgbClr val="6A7280"/>
                </a:solidFill>
                <a:latin typeface="宋体" panose="02010600030101010101" pitchFamily="2" charset="-122"/>
                <a:cs typeface="宋体" panose="02010600030101010101" pitchFamily="2" charset="-122"/>
              </a:rPr>
              <a:t>评估每个候选模式对稳定预测的贡献。</a:t>
            </a:r>
            <a:endParaRPr sz="900">
              <a:latin typeface="宋体" panose="02010600030101010101" pitchFamily="2" charset="-122"/>
              <a:cs typeface="宋体" panose="02010600030101010101" pitchFamily="2" charset="-122"/>
            </a:endParaRPr>
          </a:p>
        </p:txBody>
      </p:sp>
      <p:sp>
        <p:nvSpPr>
          <p:cNvPr id="13" name="object 13"/>
          <p:cNvSpPr txBox="1"/>
          <p:nvPr/>
        </p:nvSpPr>
        <p:spPr>
          <a:xfrm>
            <a:off x="1922814" y="2850020"/>
            <a:ext cx="971550" cy="193040"/>
          </a:xfrm>
          <a:prstGeom prst="rect">
            <a:avLst/>
          </a:prstGeom>
        </p:spPr>
        <p:txBody>
          <a:bodyPr vert="horz" wrap="square" lIns="0" tIns="12065" rIns="0" bIns="0" rtlCol="0">
            <a:spAutoFit/>
          </a:bodyPr>
          <a:lstStyle/>
          <a:p>
            <a:pPr marL="38100">
              <a:lnSpc>
                <a:spcPct val="100000"/>
              </a:lnSpc>
              <a:spcBef>
                <a:spcPts val="95"/>
              </a:spcBef>
            </a:pPr>
            <a:r>
              <a:rPr sz="1650" spc="562" baseline="-25000" dirty="0">
                <a:solidFill>
                  <a:srgbClr val="1A1A1A"/>
                </a:solidFill>
                <a:latin typeface="Calibri" panose="020F0502020204030204"/>
                <a:cs typeface="Calibri" panose="020F0502020204030204"/>
              </a:rPr>
              <a:t>M</a:t>
            </a:r>
            <a:r>
              <a:rPr sz="1650" spc="82" baseline="-25000" dirty="0">
                <a:solidFill>
                  <a:srgbClr val="1A1A1A"/>
                </a:solidFill>
                <a:latin typeface="Calibri" panose="020F0502020204030204"/>
                <a:cs typeface="Calibri" panose="020F0502020204030204"/>
              </a:rPr>
              <a:t> </a:t>
            </a:r>
            <a:r>
              <a:rPr sz="1650" baseline="-25000" dirty="0">
                <a:solidFill>
                  <a:srgbClr val="1A1A1A"/>
                </a:solidFill>
                <a:latin typeface="Cambria" panose="02040503050406030204"/>
                <a:cs typeface="Cambria" panose="02040503050406030204"/>
              </a:rPr>
              <a:t>∈</a:t>
            </a:r>
            <a:r>
              <a:rPr sz="1650" spc="157" baseline="-25000" dirty="0">
                <a:solidFill>
                  <a:srgbClr val="1A1A1A"/>
                </a:solidFill>
                <a:latin typeface="Cambria" panose="02040503050406030204"/>
                <a:cs typeface="Cambria" panose="02040503050406030204"/>
              </a:rPr>
              <a:t> </a:t>
            </a:r>
            <a:r>
              <a:rPr sz="1650" spc="75" baseline="-25000" dirty="0">
                <a:solidFill>
                  <a:srgbClr val="1A1A1A"/>
                </a:solidFill>
                <a:latin typeface="Arial" panose="020B0604020202020204"/>
                <a:cs typeface="Arial" panose="020B0604020202020204"/>
              </a:rPr>
              <a:t>R</a:t>
            </a:r>
            <a:r>
              <a:rPr sz="750" spc="50" dirty="0">
                <a:solidFill>
                  <a:srgbClr val="1A1A1A"/>
                </a:solidFill>
                <a:latin typeface="Cambria" panose="02040503050406030204"/>
                <a:cs typeface="Cambria" panose="02040503050406030204"/>
              </a:rPr>
              <a:t>(</a:t>
            </a:r>
            <a:r>
              <a:rPr sz="750" i="1" spc="50" dirty="0">
                <a:solidFill>
                  <a:srgbClr val="1A1A1A"/>
                </a:solidFill>
                <a:latin typeface="Calibri" panose="020F0502020204030204"/>
                <a:cs typeface="Calibri" panose="020F0502020204030204"/>
              </a:rPr>
              <a:t>L</a:t>
            </a:r>
            <a:r>
              <a:rPr sz="750" spc="50" dirty="0">
                <a:solidFill>
                  <a:srgbClr val="1A1A1A"/>
                </a:solidFill>
                <a:latin typeface="Cambria" panose="02040503050406030204"/>
                <a:cs typeface="Cambria" panose="02040503050406030204"/>
              </a:rPr>
              <a:t>+1)×</a:t>
            </a:r>
            <a:r>
              <a:rPr sz="750" i="1" spc="50" dirty="0">
                <a:solidFill>
                  <a:srgbClr val="1A1A1A"/>
                </a:solidFill>
                <a:latin typeface="Calibri" panose="020F0502020204030204"/>
                <a:cs typeface="Calibri" panose="020F0502020204030204"/>
              </a:rPr>
              <a:t>d</a:t>
            </a:r>
            <a:r>
              <a:rPr sz="825" b="1" spc="75" baseline="-15000" dirty="0">
                <a:solidFill>
                  <a:srgbClr val="1A1A1A"/>
                </a:solidFill>
                <a:latin typeface="Georgia" panose="02040502050405020303"/>
                <a:cs typeface="Georgia" panose="02040502050405020303"/>
              </a:rPr>
              <a:t>X</a:t>
            </a:r>
            <a:endParaRPr sz="825" baseline="-15000">
              <a:latin typeface="Georgia" panose="02040502050405020303"/>
              <a:cs typeface="Georgia" panose="02040502050405020303"/>
            </a:endParaRPr>
          </a:p>
        </p:txBody>
      </p:sp>
      <p:grpSp>
        <p:nvGrpSpPr>
          <p:cNvPr id="14" name="object 14"/>
          <p:cNvGrpSpPr/>
          <p:nvPr/>
        </p:nvGrpSpPr>
        <p:grpSpPr>
          <a:xfrm>
            <a:off x="417567" y="3871974"/>
            <a:ext cx="3994150" cy="2497455"/>
            <a:chOff x="417567" y="3871974"/>
            <a:chExt cx="3994150" cy="2497455"/>
          </a:xfrm>
        </p:grpSpPr>
        <p:sp>
          <p:nvSpPr>
            <p:cNvPr id="15" name="object 15"/>
            <p:cNvSpPr/>
            <p:nvPr/>
          </p:nvSpPr>
          <p:spPr>
            <a:xfrm>
              <a:off x="422012" y="3876419"/>
              <a:ext cx="3985260" cy="2488565"/>
            </a:xfrm>
            <a:custGeom>
              <a:avLst/>
              <a:gdLst/>
              <a:ahLst/>
              <a:cxnLst/>
              <a:rect l="l" t="t" r="r" b="b"/>
              <a:pathLst>
                <a:path w="3985260" h="2488565">
                  <a:moveTo>
                    <a:pt x="3891691" y="2488565"/>
                  </a:moveTo>
                  <a:lnTo>
                    <a:pt x="93494" y="2488565"/>
                  </a:lnTo>
                  <a:lnTo>
                    <a:pt x="86987" y="2487924"/>
                  </a:lnTo>
                  <a:lnTo>
                    <a:pt x="49934" y="2475351"/>
                  </a:lnTo>
                  <a:lnTo>
                    <a:pt x="20514" y="2449556"/>
                  </a:lnTo>
                  <a:lnTo>
                    <a:pt x="3204" y="2414466"/>
                  </a:lnTo>
                  <a:lnTo>
                    <a:pt x="0" y="2395071"/>
                  </a:lnTo>
                  <a:lnTo>
                    <a:pt x="0" y="2388501"/>
                  </a:lnTo>
                  <a:lnTo>
                    <a:pt x="0" y="93494"/>
                  </a:lnTo>
                  <a:lnTo>
                    <a:pt x="10131" y="55700"/>
                  </a:lnTo>
                  <a:lnTo>
                    <a:pt x="33954" y="24662"/>
                  </a:lnTo>
                  <a:lnTo>
                    <a:pt x="67841" y="5102"/>
                  </a:lnTo>
                  <a:lnTo>
                    <a:pt x="93494" y="0"/>
                  </a:lnTo>
                  <a:lnTo>
                    <a:pt x="3891691" y="0"/>
                  </a:lnTo>
                  <a:lnTo>
                    <a:pt x="3929483" y="10131"/>
                  </a:lnTo>
                  <a:lnTo>
                    <a:pt x="3960523" y="33954"/>
                  </a:lnTo>
                  <a:lnTo>
                    <a:pt x="3980083" y="67841"/>
                  </a:lnTo>
                  <a:lnTo>
                    <a:pt x="3985185" y="93494"/>
                  </a:lnTo>
                  <a:lnTo>
                    <a:pt x="3985185" y="2395071"/>
                  </a:lnTo>
                  <a:lnTo>
                    <a:pt x="3975053" y="2432863"/>
                  </a:lnTo>
                  <a:lnTo>
                    <a:pt x="3951231" y="2463902"/>
                  </a:lnTo>
                  <a:lnTo>
                    <a:pt x="3917344" y="2483462"/>
                  </a:lnTo>
                  <a:lnTo>
                    <a:pt x="3898198" y="2487924"/>
                  </a:lnTo>
                  <a:lnTo>
                    <a:pt x="3891691" y="2488565"/>
                  </a:lnTo>
                  <a:close/>
                </a:path>
              </a:pathLst>
            </a:custGeom>
            <a:solidFill>
              <a:srgbClr val="E7F1F6"/>
            </a:solidFill>
          </p:spPr>
          <p:txBody>
            <a:bodyPr wrap="square" lIns="0" tIns="0" rIns="0" bIns="0" rtlCol="0"/>
            <a:lstStyle/>
            <a:p/>
          </p:txBody>
        </p:sp>
        <p:sp>
          <p:nvSpPr>
            <p:cNvPr id="16" name="object 16"/>
            <p:cNvSpPr/>
            <p:nvPr/>
          </p:nvSpPr>
          <p:spPr>
            <a:xfrm>
              <a:off x="422012" y="3876419"/>
              <a:ext cx="3985260" cy="2488565"/>
            </a:xfrm>
            <a:custGeom>
              <a:avLst/>
              <a:gdLst/>
              <a:ahLst/>
              <a:cxnLst/>
              <a:rect l="l" t="t" r="r" b="b"/>
              <a:pathLst>
                <a:path w="3985260" h="2488565">
                  <a:moveTo>
                    <a:pt x="0" y="2388501"/>
                  </a:moveTo>
                  <a:lnTo>
                    <a:pt x="0" y="100064"/>
                  </a:lnTo>
                  <a:lnTo>
                    <a:pt x="0" y="93494"/>
                  </a:lnTo>
                  <a:lnTo>
                    <a:pt x="640" y="86987"/>
                  </a:lnTo>
                  <a:lnTo>
                    <a:pt x="1922" y="80542"/>
                  </a:lnTo>
                  <a:lnTo>
                    <a:pt x="3204" y="74098"/>
                  </a:lnTo>
                  <a:lnTo>
                    <a:pt x="5102" y="67841"/>
                  </a:lnTo>
                  <a:lnTo>
                    <a:pt x="7616" y="61771"/>
                  </a:lnTo>
                  <a:lnTo>
                    <a:pt x="10131" y="55700"/>
                  </a:lnTo>
                  <a:lnTo>
                    <a:pt x="13213" y="49934"/>
                  </a:lnTo>
                  <a:lnTo>
                    <a:pt x="16863" y="44471"/>
                  </a:lnTo>
                  <a:lnTo>
                    <a:pt x="20514" y="39008"/>
                  </a:lnTo>
                  <a:lnTo>
                    <a:pt x="24662" y="33954"/>
                  </a:lnTo>
                  <a:lnTo>
                    <a:pt x="29308" y="29308"/>
                  </a:lnTo>
                  <a:lnTo>
                    <a:pt x="33954" y="24662"/>
                  </a:lnTo>
                  <a:lnTo>
                    <a:pt x="39008" y="20514"/>
                  </a:lnTo>
                  <a:lnTo>
                    <a:pt x="44471" y="16863"/>
                  </a:lnTo>
                  <a:lnTo>
                    <a:pt x="49934" y="13213"/>
                  </a:lnTo>
                  <a:lnTo>
                    <a:pt x="86987" y="641"/>
                  </a:lnTo>
                  <a:lnTo>
                    <a:pt x="93494" y="0"/>
                  </a:lnTo>
                  <a:lnTo>
                    <a:pt x="100064" y="0"/>
                  </a:lnTo>
                  <a:lnTo>
                    <a:pt x="3885121" y="0"/>
                  </a:lnTo>
                  <a:lnTo>
                    <a:pt x="3891691" y="0"/>
                  </a:lnTo>
                  <a:lnTo>
                    <a:pt x="3898198" y="641"/>
                  </a:lnTo>
                  <a:lnTo>
                    <a:pt x="3935250" y="13213"/>
                  </a:lnTo>
                  <a:lnTo>
                    <a:pt x="3964671" y="39008"/>
                  </a:lnTo>
                  <a:lnTo>
                    <a:pt x="3968321" y="44471"/>
                  </a:lnTo>
                  <a:lnTo>
                    <a:pt x="3971971" y="49934"/>
                  </a:lnTo>
                  <a:lnTo>
                    <a:pt x="3975054" y="55700"/>
                  </a:lnTo>
                  <a:lnTo>
                    <a:pt x="3977568" y="61771"/>
                  </a:lnTo>
                  <a:lnTo>
                    <a:pt x="3980083" y="67841"/>
                  </a:lnTo>
                  <a:lnTo>
                    <a:pt x="3981980" y="74098"/>
                  </a:lnTo>
                  <a:lnTo>
                    <a:pt x="3983262" y="80542"/>
                  </a:lnTo>
                  <a:lnTo>
                    <a:pt x="3984544" y="86987"/>
                  </a:lnTo>
                  <a:lnTo>
                    <a:pt x="3985185" y="93494"/>
                  </a:lnTo>
                  <a:lnTo>
                    <a:pt x="3985185" y="100064"/>
                  </a:lnTo>
                  <a:lnTo>
                    <a:pt x="3985185" y="2388501"/>
                  </a:lnTo>
                  <a:lnTo>
                    <a:pt x="3985185" y="2395071"/>
                  </a:lnTo>
                  <a:lnTo>
                    <a:pt x="3984544" y="2401578"/>
                  </a:lnTo>
                  <a:lnTo>
                    <a:pt x="3983262" y="2408022"/>
                  </a:lnTo>
                  <a:lnTo>
                    <a:pt x="3981980" y="2414466"/>
                  </a:lnTo>
                  <a:lnTo>
                    <a:pt x="3980082" y="2420723"/>
                  </a:lnTo>
                  <a:lnTo>
                    <a:pt x="3977568" y="2426793"/>
                  </a:lnTo>
                  <a:lnTo>
                    <a:pt x="3975053" y="2432863"/>
                  </a:lnTo>
                  <a:lnTo>
                    <a:pt x="3955877" y="2459256"/>
                  </a:lnTo>
                  <a:lnTo>
                    <a:pt x="3951231" y="2463902"/>
                  </a:lnTo>
                  <a:lnTo>
                    <a:pt x="3923414" y="2480947"/>
                  </a:lnTo>
                  <a:lnTo>
                    <a:pt x="3917344" y="2483462"/>
                  </a:lnTo>
                  <a:lnTo>
                    <a:pt x="3911086" y="2485360"/>
                  </a:lnTo>
                  <a:lnTo>
                    <a:pt x="3904642" y="2486642"/>
                  </a:lnTo>
                  <a:lnTo>
                    <a:pt x="3898198" y="2487924"/>
                  </a:lnTo>
                  <a:lnTo>
                    <a:pt x="3891691" y="2488565"/>
                  </a:lnTo>
                  <a:lnTo>
                    <a:pt x="3885121" y="2488565"/>
                  </a:lnTo>
                  <a:lnTo>
                    <a:pt x="100064" y="2488565"/>
                  </a:lnTo>
                  <a:lnTo>
                    <a:pt x="93494" y="2488565"/>
                  </a:lnTo>
                  <a:lnTo>
                    <a:pt x="86987" y="2487924"/>
                  </a:lnTo>
                  <a:lnTo>
                    <a:pt x="80543" y="2486642"/>
                  </a:lnTo>
                  <a:lnTo>
                    <a:pt x="74098" y="2485360"/>
                  </a:lnTo>
                  <a:lnTo>
                    <a:pt x="67841" y="2483462"/>
                  </a:lnTo>
                  <a:lnTo>
                    <a:pt x="61771" y="2480947"/>
                  </a:lnTo>
                  <a:lnTo>
                    <a:pt x="55701" y="2478433"/>
                  </a:lnTo>
                  <a:lnTo>
                    <a:pt x="29308" y="2459256"/>
                  </a:lnTo>
                  <a:lnTo>
                    <a:pt x="24662" y="2454611"/>
                  </a:lnTo>
                  <a:lnTo>
                    <a:pt x="20514" y="2449556"/>
                  </a:lnTo>
                  <a:lnTo>
                    <a:pt x="16863" y="2444093"/>
                  </a:lnTo>
                  <a:lnTo>
                    <a:pt x="13213" y="2438630"/>
                  </a:lnTo>
                  <a:lnTo>
                    <a:pt x="10131" y="2432863"/>
                  </a:lnTo>
                  <a:lnTo>
                    <a:pt x="7616" y="2426793"/>
                  </a:lnTo>
                  <a:lnTo>
                    <a:pt x="5102" y="2420723"/>
                  </a:lnTo>
                  <a:lnTo>
                    <a:pt x="3204" y="2414466"/>
                  </a:lnTo>
                  <a:lnTo>
                    <a:pt x="1922" y="2408022"/>
                  </a:lnTo>
                  <a:lnTo>
                    <a:pt x="640" y="2401578"/>
                  </a:lnTo>
                  <a:lnTo>
                    <a:pt x="0" y="2395071"/>
                  </a:lnTo>
                  <a:lnTo>
                    <a:pt x="0" y="2388501"/>
                  </a:lnTo>
                  <a:close/>
                </a:path>
              </a:pathLst>
            </a:custGeom>
            <a:ln w="8701">
              <a:solidFill>
                <a:srgbClr val="C4DBE7"/>
              </a:solidFill>
            </a:ln>
          </p:spPr>
          <p:txBody>
            <a:bodyPr wrap="square" lIns="0" tIns="0" rIns="0" bIns="0" rtlCol="0"/>
            <a:lstStyle/>
            <a:p/>
          </p:txBody>
        </p:sp>
      </p:grpSp>
      <p:sp>
        <p:nvSpPr>
          <p:cNvPr id="17" name="object 17"/>
          <p:cNvSpPr txBox="1"/>
          <p:nvPr/>
        </p:nvSpPr>
        <p:spPr>
          <a:xfrm>
            <a:off x="587688" y="4085602"/>
            <a:ext cx="1419860" cy="151130"/>
          </a:xfrm>
          <a:prstGeom prst="rect">
            <a:avLst/>
          </a:prstGeom>
        </p:spPr>
        <p:txBody>
          <a:bodyPr vert="horz" wrap="square" lIns="0" tIns="15240" rIns="0" bIns="0" rtlCol="0">
            <a:spAutoFit/>
          </a:bodyPr>
          <a:lstStyle/>
          <a:p>
            <a:pPr marL="12700">
              <a:lnSpc>
                <a:spcPct val="100000"/>
              </a:lnSpc>
              <a:spcBef>
                <a:spcPts val="120"/>
              </a:spcBef>
            </a:pPr>
            <a:r>
              <a:rPr sz="800" spc="130" dirty="0">
                <a:solidFill>
                  <a:srgbClr val="5B8BA7"/>
                </a:solidFill>
                <a:latin typeface="宋体" panose="02010600030101010101" pitchFamily="2" charset="-122"/>
                <a:cs typeface="宋体" panose="02010600030101010101" pitchFamily="2" charset="-122"/>
              </a:rPr>
              <a:t>02</a:t>
            </a:r>
            <a:r>
              <a:rPr sz="800" spc="25" dirty="0">
                <a:solidFill>
                  <a:srgbClr val="5B8BA7"/>
                </a:solidFill>
                <a:latin typeface="宋体" panose="02010600030101010101" pitchFamily="2" charset="-122"/>
                <a:cs typeface="宋体" panose="02010600030101010101" pitchFamily="2" charset="-122"/>
              </a:rPr>
              <a:t> </a:t>
            </a:r>
            <a:r>
              <a:rPr sz="800" dirty="0">
                <a:solidFill>
                  <a:srgbClr val="5B8BA7"/>
                </a:solidFill>
                <a:latin typeface="宋体" panose="02010600030101010101" pitchFamily="2" charset="-122"/>
                <a:cs typeface="宋体" panose="02010600030101010101" pitchFamily="2" charset="-122"/>
              </a:rPr>
              <a:t>/</a:t>
            </a:r>
            <a:r>
              <a:rPr sz="800" spc="25" dirty="0">
                <a:solidFill>
                  <a:srgbClr val="5B8BA7"/>
                </a:solidFill>
                <a:latin typeface="宋体" panose="02010600030101010101" pitchFamily="2" charset="-122"/>
                <a:cs typeface="宋体" panose="02010600030101010101" pitchFamily="2" charset="-122"/>
              </a:rPr>
              <a:t> </a:t>
            </a:r>
            <a:r>
              <a:rPr sz="800" spc="155" dirty="0">
                <a:solidFill>
                  <a:srgbClr val="5B8BA7"/>
                </a:solidFill>
                <a:latin typeface="宋体" panose="02010600030101010101" pitchFamily="2" charset="-122"/>
                <a:cs typeface="宋体" panose="02010600030101010101" pitchFamily="2" charset="-122"/>
              </a:rPr>
              <a:t>AGGREGATE</a:t>
            </a:r>
            <a:r>
              <a:rPr sz="800" spc="25" dirty="0">
                <a:solidFill>
                  <a:srgbClr val="5B8BA7"/>
                </a:solidFill>
                <a:latin typeface="宋体" panose="02010600030101010101" pitchFamily="2" charset="-122"/>
                <a:cs typeface="宋体" panose="02010600030101010101" pitchFamily="2" charset="-122"/>
              </a:rPr>
              <a:t> </a:t>
            </a:r>
            <a:r>
              <a:rPr sz="800" spc="120" dirty="0">
                <a:solidFill>
                  <a:srgbClr val="5B8BA7"/>
                </a:solidFill>
                <a:latin typeface="宋体" panose="02010600030101010101" pitchFamily="2" charset="-122"/>
                <a:cs typeface="宋体" panose="02010600030101010101" pitchFamily="2" charset="-122"/>
              </a:rPr>
              <a:t>TARGET</a:t>
            </a:r>
            <a:endParaRPr sz="800">
              <a:latin typeface="宋体" panose="02010600030101010101" pitchFamily="2" charset="-122"/>
              <a:cs typeface="宋体" panose="02010600030101010101" pitchFamily="2" charset="-122"/>
            </a:endParaRPr>
          </a:p>
        </p:txBody>
      </p:sp>
      <p:sp>
        <p:nvSpPr>
          <p:cNvPr id="18" name="object 18"/>
          <p:cNvSpPr txBox="1"/>
          <p:nvPr/>
        </p:nvSpPr>
        <p:spPr>
          <a:xfrm>
            <a:off x="587688" y="4300175"/>
            <a:ext cx="1577975" cy="238125"/>
          </a:xfrm>
          <a:prstGeom prst="rect">
            <a:avLst/>
          </a:prstGeom>
        </p:spPr>
        <p:txBody>
          <a:bodyPr vert="horz" wrap="square" lIns="0" tIns="11430" rIns="0" bIns="0" rtlCol="0">
            <a:spAutoFit/>
          </a:bodyPr>
          <a:lstStyle/>
          <a:p>
            <a:pPr marL="12700">
              <a:lnSpc>
                <a:spcPct val="100000"/>
              </a:lnSpc>
              <a:spcBef>
                <a:spcPts val="90"/>
              </a:spcBef>
            </a:pPr>
            <a:r>
              <a:rPr sz="1400" spc="-190" dirty="0">
                <a:solidFill>
                  <a:srgbClr val="111726"/>
                </a:solidFill>
                <a:latin typeface="宋体" panose="02010600030101010101" pitchFamily="2" charset="-122"/>
                <a:cs typeface="宋体" panose="02010600030101010101" pitchFamily="2" charset="-122"/>
              </a:rPr>
              <a:t>最终代理外生特征聚合</a:t>
            </a:r>
            <a:endParaRPr sz="1400">
              <a:latin typeface="宋体" panose="02010600030101010101" pitchFamily="2" charset="-122"/>
              <a:cs typeface="宋体" panose="02010600030101010101" pitchFamily="2" charset="-122"/>
            </a:endParaRPr>
          </a:p>
        </p:txBody>
      </p:sp>
      <p:pic>
        <p:nvPicPr>
          <p:cNvPr id="19" name="object 19"/>
          <p:cNvPicPr/>
          <p:nvPr/>
        </p:nvPicPr>
        <p:blipFill>
          <a:blip r:embed="rId1" cstate="print"/>
          <a:stretch>
            <a:fillRect/>
          </a:stretch>
        </p:blipFill>
        <p:spPr>
          <a:xfrm>
            <a:off x="3218776" y="5167863"/>
            <a:ext cx="1184070" cy="1192771"/>
          </a:xfrm>
          <a:prstGeom prst="rect">
            <a:avLst/>
          </a:prstGeom>
        </p:spPr>
      </p:pic>
      <p:sp>
        <p:nvSpPr>
          <p:cNvPr id="20" name="object 20"/>
          <p:cNvSpPr txBox="1"/>
          <p:nvPr/>
        </p:nvSpPr>
        <p:spPr>
          <a:xfrm>
            <a:off x="562288" y="4611507"/>
            <a:ext cx="2456815" cy="167005"/>
          </a:xfrm>
          <a:prstGeom prst="rect">
            <a:avLst/>
          </a:prstGeom>
        </p:spPr>
        <p:txBody>
          <a:bodyPr vert="horz" wrap="square" lIns="0" tIns="16510" rIns="0" bIns="0" rtlCol="0">
            <a:spAutoFit/>
          </a:bodyPr>
          <a:lstStyle/>
          <a:p>
            <a:pPr marL="38100">
              <a:lnSpc>
                <a:spcPct val="100000"/>
              </a:lnSpc>
              <a:spcBef>
                <a:spcPts val="130"/>
              </a:spcBef>
            </a:pPr>
            <a:r>
              <a:rPr sz="800" b="1" spc="80" dirty="0">
                <a:solidFill>
                  <a:srgbClr val="1A1A1A"/>
                </a:solidFill>
                <a:latin typeface="Georgia" panose="02040502050405020303"/>
                <a:cs typeface="Georgia" panose="02040502050405020303"/>
              </a:rPr>
              <a:t>X</a:t>
            </a:r>
            <a:r>
              <a:rPr sz="825" i="1" spc="120" baseline="25000" dirty="0">
                <a:solidFill>
                  <a:srgbClr val="1A1A1A"/>
                </a:solidFill>
                <a:latin typeface="Calibri" panose="020F0502020204030204"/>
                <a:cs typeface="Calibri" panose="020F0502020204030204"/>
              </a:rPr>
              <a:t>SUR</a:t>
            </a:r>
            <a:r>
              <a:rPr sz="825" i="1" spc="270" baseline="25000" dirty="0">
                <a:solidFill>
                  <a:srgbClr val="1A1A1A"/>
                </a:solidFill>
                <a:latin typeface="Calibri" panose="020F0502020204030204"/>
                <a:cs typeface="Calibri" panose="020F0502020204030204"/>
              </a:rPr>
              <a:t> </a:t>
            </a:r>
            <a:r>
              <a:rPr sz="900" spc="-105" dirty="0">
                <a:solidFill>
                  <a:srgbClr val="4A5462"/>
                </a:solidFill>
                <a:latin typeface="宋体" panose="02010600030101010101" pitchFamily="2" charset="-122"/>
                <a:cs typeface="宋体" panose="02010600030101010101" pitchFamily="2" charset="-122"/>
              </a:rPr>
              <a:t>维度收敛为 </a:t>
            </a:r>
            <a:r>
              <a:rPr sz="800" spc="75" dirty="0">
                <a:solidFill>
                  <a:srgbClr val="1A1A1A"/>
                </a:solidFill>
                <a:latin typeface="Cambria" panose="02040503050406030204"/>
                <a:cs typeface="Cambria" panose="02040503050406030204"/>
              </a:rPr>
              <a:t>[</a:t>
            </a:r>
            <a:r>
              <a:rPr sz="800" i="1" spc="75" dirty="0">
                <a:solidFill>
                  <a:srgbClr val="1A1A1A"/>
                </a:solidFill>
                <a:latin typeface="Calibri" panose="020F0502020204030204"/>
                <a:cs typeface="Calibri" panose="020F0502020204030204"/>
              </a:rPr>
              <a:t>H</a:t>
            </a:r>
            <a:r>
              <a:rPr sz="800" spc="25" dirty="0">
                <a:solidFill>
                  <a:srgbClr val="1A1A1A"/>
                </a:solidFill>
                <a:latin typeface="Cambria" panose="02040503050406030204"/>
                <a:cs typeface="Cambria" panose="02040503050406030204"/>
              </a:rPr>
              <a:t>, </a:t>
            </a:r>
            <a:r>
              <a:rPr sz="800" i="1" spc="-30" dirty="0">
                <a:solidFill>
                  <a:srgbClr val="1A1A1A"/>
                </a:solidFill>
                <a:latin typeface="Calibri" panose="020F0502020204030204"/>
                <a:cs typeface="Calibri" panose="020F0502020204030204"/>
              </a:rPr>
              <a:t>d</a:t>
            </a:r>
            <a:r>
              <a:rPr sz="825" b="1" spc="-44" baseline="-15000" dirty="0">
                <a:solidFill>
                  <a:srgbClr val="1A1A1A"/>
                </a:solidFill>
                <a:latin typeface="Georgia" panose="02040502050405020303"/>
                <a:cs typeface="Georgia" panose="02040502050405020303"/>
              </a:rPr>
              <a:t>X</a:t>
            </a:r>
            <a:r>
              <a:rPr sz="800" spc="-30" dirty="0">
                <a:solidFill>
                  <a:srgbClr val="1A1A1A"/>
                </a:solidFill>
                <a:latin typeface="Cambria" panose="02040503050406030204"/>
                <a:cs typeface="Cambria" panose="02040503050406030204"/>
              </a:rPr>
              <a:t>]</a:t>
            </a:r>
            <a:r>
              <a:rPr sz="900" spc="-90" dirty="0">
                <a:solidFill>
                  <a:srgbClr val="4A5462"/>
                </a:solidFill>
                <a:latin typeface="宋体" panose="02010600030101010101" pitchFamily="2" charset="-122"/>
                <a:cs typeface="宋体" panose="02010600030101010101" pitchFamily="2" charset="-122"/>
              </a:rPr>
              <a:t>，蕴含最稳定的关联结构。</a:t>
            </a:r>
            <a:endParaRPr sz="900">
              <a:latin typeface="宋体" panose="02010600030101010101" pitchFamily="2" charset="-122"/>
              <a:cs typeface="宋体" panose="02010600030101010101" pitchFamily="2" charset="-122"/>
            </a:endParaRPr>
          </a:p>
        </p:txBody>
      </p:sp>
      <p:grpSp>
        <p:nvGrpSpPr>
          <p:cNvPr id="21" name="object 21"/>
          <p:cNvGrpSpPr/>
          <p:nvPr/>
        </p:nvGrpSpPr>
        <p:grpSpPr>
          <a:xfrm>
            <a:off x="4620284" y="1244188"/>
            <a:ext cx="6099810" cy="5125720"/>
            <a:chOff x="4620284" y="1244188"/>
            <a:chExt cx="6099810" cy="5125720"/>
          </a:xfrm>
        </p:grpSpPr>
        <p:sp>
          <p:nvSpPr>
            <p:cNvPr id="22" name="object 22"/>
            <p:cNvSpPr/>
            <p:nvPr/>
          </p:nvSpPr>
          <p:spPr>
            <a:xfrm>
              <a:off x="4624729" y="1248633"/>
              <a:ext cx="6090920" cy="5116830"/>
            </a:xfrm>
            <a:custGeom>
              <a:avLst/>
              <a:gdLst/>
              <a:ahLst/>
              <a:cxnLst/>
              <a:rect l="l" t="t" r="r" b="b"/>
              <a:pathLst>
                <a:path w="6090920" h="5116830">
                  <a:moveTo>
                    <a:pt x="5997400" y="5116352"/>
                  </a:moveTo>
                  <a:lnTo>
                    <a:pt x="93494" y="5116352"/>
                  </a:lnTo>
                  <a:lnTo>
                    <a:pt x="86987" y="5115710"/>
                  </a:lnTo>
                  <a:lnTo>
                    <a:pt x="49934" y="5103137"/>
                  </a:lnTo>
                  <a:lnTo>
                    <a:pt x="20514" y="5077342"/>
                  </a:lnTo>
                  <a:lnTo>
                    <a:pt x="3204" y="5042252"/>
                  </a:lnTo>
                  <a:lnTo>
                    <a:pt x="0" y="5022857"/>
                  </a:lnTo>
                  <a:lnTo>
                    <a:pt x="0" y="5016287"/>
                  </a:lnTo>
                  <a:lnTo>
                    <a:pt x="0" y="93494"/>
                  </a:lnTo>
                  <a:lnTo>
                    <a:pt x="10131" y="55701"/>
                  </a:lnTo>
                  <a:lnTo>
                    <a:pt x="33954" y="24662"/>
                  </a:lnTo>
                  <a:lnTo>
                    <a:pt x="67841" y="5102"/>
                  </a:lnTo>
                  <a:lnTo>
                    <a:pt x="93494" y="0"/>
                  </a:lnTo>
                  <a:lnTo>
                    <a:pt x="5997400" y="0"/>
                  </a:lnTo>
                  <a:lnTo>
                    <a:pt x="6035193" y="10131"/>
                  </a:lnTo>
                  <a:lnTo>
                    <a:pt x="6066231" y="33954"/>
                  </a:lnTo>
                  <a:lnTo>
                    <a:pt x="6085792" y="67841"/>
                  </a:lnTo>
                  <a:lnTo>
                    <a:pt x="6090894" y="93494"/>
                  </a:lnTo>
                  <a:lnTo>
                    <a:pt x="6090894" y="5022857"/>
                  </a:lnTo>
                  <a:lnTo>
                    <a:pt x="6080762" y="5060649"/>
                  </a:lnTo>
                  <a:lnTo>
                    <a:pt x="6056940" y="5091689"/>
                  </a:lnTo>
                  <a:lnTo>
                    <a:pt x="6023052" y="5111248"/>
                  </a:lnTo>
                  <a:lnTo>
                    <a:pt x="6003907" y="5115710"/>
                  </a:lnTo>
                  <a:lnTo>
                    <a:pt x="5997400" y="5116352"/>
                  </a:lnTo>
                  <a:close/>
                </a:path>
              </a:pathLst>
            </a:custGeom>
            <a:solidFill>
              <a:srgbClr val="FFFFFF"/>
            </a:solidFill>
          </p:spPr>
          <p:txBody>
            <a:bodyPr wrap="square" lIns="0" tIns="0" rIns="0" bIns="0" rtlCol="0"/>
            <a:lstStyle/>
            <a:p/>
          </p:txBody>
        </p:sp>
        <p:sp>
          <p:nvSpPr>
            <p:cNvPr id="23" name="object 23"/>
            <p:cNvSpPr/>
            <p:nvPr/>
          </p:nvSpPr>
          <p:spPr>
            <a:xfrm>
              <a:off x="4624729" y="1248633"/>
              <a:ext cx="6090920" cy="5116830"/>
            </a:xfrm>
            <a:custGeom>
              <a:avLst/>
              <a:gdLst/>
              <a:ahLst/>
              <a:cxnLst/>
              <a:rect l="l" t="t" r="r" b="b"/>
              <a:pathLst>
                <a:path w="6090920" h="5116830">
                  <a:moveTo>
                    <a:pt x="0" y="5016287"/>
                  </a:moveTo>
                  <a:lnTo>
                    <a:pt x="0" y="100064"/>
                  </a:lnTo>
                  <a:lnTo>
                    <a:pt x="0" y="93494"/>
                  </a:lnTo>
                  <a:lnTo>
                    <a:pt x="640" y="86987"/>
                  </a:lnTo>
                  <a:lnTo>
                    <a:pt x="13213" y="49934"/>
                  </a:lnTo>
                  <a:lnTo>
                    <a:pt x="16863" y="44471"/>
                  </a:lnTo>
                  <a:lnTo>
                    <a:pt x="20514" y="39008"/>
                  </a:lnTo>
                  <a:lnTo>
                    <a:pt x="44471" y="16863"/>
                  </a:lnTo>
                  <a:lnTo>
                    <a:pt x="49934" y="13213"/>
                  </a:lnTo>
                  <a:lnTo>
                    <a:pt x="86987" y="640"/>
                  </a:lnTo>
                  <a:lnTo>
                    <a:pt x="93494" y="0"/>
                  </a:lnTo>
                  <a:lnTo>
                    <a:pt x="100064" y="0"/>
                  </a:lnTo>
                  <a:lnTo>
                    <a:pt x="5990830" y="0"/>
                  </a:lnTo>
                  <a:lnTo>
                    <a:pt x="5997400" y="0"/>
                  </a:lnTo>
                  <a:lnTo>
                    <a:pt x="6003907" y="640"/>
                  </a:lnTo>
                  <a:lnTo>
                    <a:pt x="6010351" y="1922"/>
                  </a:lnTo>
                  <a:lnTo>
                    <a:pt x="6016795" y="3204"/>
                  </a:lnTo>
                  <a:lnTo>
                    <a:pt x="6023052" y="5102"/>
                  </a:lnTo>
                  <a:lnTo>
                    <a:pt x="6029122" y="7616"/>
                  </a:lnTo>
                  <a:lnTo>
                    <a:pt x="6035193" y="10131"/>
                  </a:lnTo>
                  <a:lnTo>
                    <a:pt x="6040959" y="13213"/>
                  </a:lnTo>
                  <a:lnTo>
                    <a:pt x="6046422" y="16863"/>
                  </a:lnTo>
                  <a:lnTo>
                    <a:pt x="6051885" y="20514"/>
                  </a:lnTo>
                  <a:lnTo>
                    <a:pt x="6077680" y="49934"/>
                  </a:lnTo>
                  <a:lnTo>
                    <a:pt x="6083277" y="61771"/>
                  </a:lnTo>
                  <a:lnTo>
                    <a:pt x="6085792" y="67841"/>
                  </a:lnTo>
                  <a:lnTo>
                    <a:pt x="6090895" y="100064"/>
                  </a:lnTo>
                  <a:lnTo>
                    <a:pt x="6090895" y="5016287"/>
                  </a:lnTo>
                  <a:lnTo>
                    <a:pt x="6083277" y="5054579"/>
                  </a:lnTo>
                  <a:lnTo>
                    <a:pt x="6080762" y="5060649"/>
                  </a:lnTo>
                  <a:lnTo>
                    <a:pt x="6061586" y="5087043"/>
                  </a:lnTo>
                  <a:lnTo>
                    <a:pt x="6056940" y="5091689"/>
                  </a:lnTo>
                  <a:lnTo>
                    <a:pt x="6029122" y="5108734"/>
                  </a:lnTo>
                  <a:lnTo>
                    <a:pt x="6023052" y="5111248"/>
                  </a:lnTo>
                  <a:lnTo>
                    <a:pt x="6016795" y="5113146"/>
                  </a:lnTo>
                  <a:lnTo>
                    <a:pt x="6010351" y="5114428"/>
                  </a:lnTo>
                  <a:lnTo>
                    <a:pt x="6003907" y="5115710"/>
                  </a:lnTo>
                  <a:lnTo>
                    <a:pt x="5997400" y="5116352"/>
                  </a:lnTo>
                  <a:lnTo>
                    <a:pt x="5990830" y="5116352"/>
                  </a:lnTo>
                  <a:lnTo>
                    <a:pt x="100064" y="5116352"/>
                  </a:lnTo>
                  <a:lnTo>
                    <a:pt x="93494" y="5116352"/>
                  </a:lnTo>
                  <a:lnTo>
                    <a:pt x="86987" y="5115710"/>
                  </a:lnTo>
                  <a:lnTo>
                    <a:pt x="80543" y="5114428"/>
                  </a:lnTo>
                  <a:lnTo>
                    <a:pt x="74098" y="5113146"/>
                  </a:lnTo>
                  <a:lnTo>
                    <a:pt x="67841" y="5111248"/>
                  </a:lnTo>
                  <a:lnTo>
                    <a:pt x="61771" y="5108734"/>
                  </a:lnTo>
                  <a:lnTo>
                    <a:pt x="55701" y="5106219"/>
                  </a:lnTo>
                  <a:lnTo>
                    <a:pt x="29308" y="5087043"/>
                  </a:lnTo>
                  <a:lnTo>
                    <a:pt x="24662" y="5082397"/>
                  </a:lnTo>
                  <a:lnTo>
                    <a:pt x="20514" y="5077342"/>
                  </a:lnTo>
                  <a:lnTo>
                    <a:pt x="16863" y="5071879"/>
                  </a:lnTo>
                  <a:lnTo>
                    <a:pt x="13213" y="5066416"/>
                  </a:lnTo>
                  <a:lnTo>
                    <a:pt x="10131" y="5060649"/>
                  </a:lnTo>
                  <a:lnTo>
                    <a:pt x="7616" y="5054579"/>
                  </a:lnTo>
                  <a:lnTo>
                    <a:pt x="5102" y="5048509"/>
                  </a:lnTo>
                  <a:lnTo>
                    <a:pt x="3204" y="5042252"/>
                  </a:lnTo>
                  <a:lnTo>
                    <a:pt x="1922" y="5035808"/>
                  </a:lnTo>
                  <a:lnTo>
                    <a:pt x="640" y="5029364"/>
                  </a:lnTo>
                  <a:lnTo>
                    <a:pt x="0" y="5022857"/>
                  </a:lnTo>
                  <a:lnTo>
                    <a:pt x="0" y="5016287"/>
                  </a:lnTo>
                  <a:close/>
                </a:path>
              </a:pathLst>
            </a:custGeom>
            <a:ln w="8701">
              <a:solidFill>
                <a:srgbClr val="F2F4F5"/>
              </a:solidFill>
            </a:ln>
          </p:spPr>
          <p:txBody>
            <a:bodyPr wrap="square" lIns="0" tIns="0" rIns="0" bIns="0" rtlCol="0"/>
            <a:lstStyle/>
            <a:p/>
          </p:txBody>
        </p:sp>
      </p:grpSp>
      <p:sp>
        <p:nvSpPr>
          <p:cNvPr id="24" name="object 24"/>
          <p:cNvSpPr txBox="1"/>
          <p:nvPr/>
        </p:nvSpPr>
        <p:spPr>
          <a:xfrm>
            <a:off x="4826842" y="1460280"/>
            <a:ext cx="1405890" cy="480059"/>
          </a:xfrm>
          <a:prstGeom prst="rect">
            <a:avLst/>
          </a:prstGeom>
        </p:spPr>
        <p:txBody>
          <a:bodyPr vert="horz" wrap="square" lIns="0" tIns="47625" rIns="0" bIns="0" rtlCol="0">
            <a:spAutoFit/>
          </a:bodyPr>
          <a:lstStyle/>
          <a:p>
            <a:pPr marL="12700">
              <a:lnSpc>
                <a:spcPct val="100000"/>
              </a:lnSpc>
              <a:spcBef>
                <a:spcPts val="375"/>
              </a:spcBef>
            </a:pPr>
            <a:r>
              <a:rPr sz="800" spc="175" dirty="0">
                <a:solidFill>
                  <a:srgbClr val="9CA2AF"/>
                </a:solidFill>
                <a:latin typeface="宋体" panose="02010600030101010101" pitchFamily="2" charset="-122"/>
                <a:cs typeface="宋体" panose="02010600030101010101" pitchFamily="2" charset="-122"/>
              </a:rPr>
              <a:t>MECHANISM</a:t>
            </a:r>
            <a:r>
              <a:rPr sz="800" spc="45" dirty="0">
                <a:solidFill>
                  <a:srgbClr val="9CA2AF"/>
                </a:solidFill>
                <a:latin typeface="宋体" panose="02010600030101010101" pitchFamily="2" charset="-122"/>
                <a:cs typeface="宋体" panose="02010600030101010101" pitchFamily="2" charset="-122"/>
              </a:rPr>
              <a:t> </a:t>
            </a:r>
            <a:r>
              <a:rPr sz="800" spc="114" dirty="0">
                <a:solidFill>
                  <a:srgbClr val="9CA2AF"/>
                </a:solidFill>
                <a:latin typeface="宋体" panose="02010600030101010101" pitchFamily="2" charset="-122"/>
                <a:cs typeface="宋体" panose="02010600030101010101" pitchFamily="2" charset="-122"/>
              </a:rPr>
              <a:t>ENGINE</a:t>
            </a:r>
            <a:endParaRPr sz="800">
              <a:latin typeface="宋体" panose="02010600030101010101" pitchFamily="2" charset="-122"/>
              <a:cs typeface="宋体" panose="02010600030101010101" pitchFamily="2" charset="-122"/>
            </a:endParaRPr>
          </a:p>
          <a:p>
            <a:pPr marL="12700">
              <a:lnSpc>
                <a:spcPct val="100000"/>
              </a:lnSpc>
              <a:spcBef>
                <a:spcPts val="485"/>
              </a:spcBef>
            </a:pPr>
            <a:r>
              <a:rPr sz="1550" spc="-195" dirty="0">
                <a:solidFill>
                  <a:srgbClr val="111726"/>
                </a:solidFill>
                <a:latin typeface="宋体" panose="02010600030101010101" pitchFamily="2" charset="-122"/>
                <a:cs typeface="宋体" panose="02010600030101010101" pitchFamily="2" charset="-122"/>
              </a:rPr>
              <a:t>三阶过滤优化步骤</a:t>
            </a:r>
            <a:endParaRPr sz="1550">
              <a:latin typeface="宋体" panose="02010600030101010101" pitchFamily="2" charset="-122"/>
              <a:cs typeface="宋体" panose="02010600030101010101" pitchFamily="2" charset="-122"/>
            </a:endParaRPr>
          </a:p>
        </p:txBody>
      </p:sp>
      <p:grpSp>
        <p:nvGrpSpPr>
          <p:cNvPr id="25" name="object 25"/>
          <p:cNvGrpSpPr/>
          <p:nvPr/>
        </p:nvGrpSpPr>
        <p:grpSpPr>
          <a:xfrm>
            <a:off x="5020637" y="2088212"/>
            <a:ext cx="5481955" cy="1227455"/>
            <a:chOff x="5020637" y="2088212"/>
            <a:chExt cx="5481955" cy="1227455"/>
          </a:xfrm>
        </p:grpSpPr>
        <p:pic>
          <p:nvPicPr>
            <p:cNvPr id="26" name="object 26"/>
            <p:cNvPicPr/>
            <p:nvPr/>
          </p:nvPicPr>
          <p:blipFill>
            <a:blip r:embed="rId2" cstate="print"/>
            <a:stretch>
              <a:fillRect/>
            </a:stretch>
          </p:blipFill>
          <p:spPr>
            <a:xfrm>
              <a:off x="5020637" y="2366747"/>
              <a:ext cx="17402" cy="913634"/>
            </a:xfrm>
            <a:prstGeom prst="rect">
              <a:avLst/>
            </a:prstGeom>
          </p:spPr>
        </p:pic>
        <p:sp>
          <p:nvSpPr>
            <p:cNvPr id="27" name="object 27"/>
            <p:cNvSpPr/>
            <p:nvPr/>
          </p:nvSpPr>
          <p:spPr>
            <a:xfrm>
              <a:off x="5294728" y="2092657"/>
              <a:ext cx="5203825" cy="1218565"/>
            </a:xfrm>
            <a:custGeom>
              <a:avLst/>
              <a:gdLst/>
              <a:ahLst/>
              <a:cxnLst/>
              <a:rect l="l" t="t" r="r" b="b"/>
              <a:pathLst>
                <a:path w="5203825" h="1218564">
                  <a:moveTo>
                    <a:pt x="5109870" y="1218178"/>
                  </a:moveTo>
                  <a:lnTo>
                    <a:pt x="93494" y="1218178"/>
                  </a:lnTo>
                  <a:lnTo>
                    <a:pt x="86987" y="1217538"/>
                  </a:lnTo>
                  <a:lnTo>
                    <a:pt x="49934" y="1204965"/>
                  </a:lnTo>
                  <a:lnTo>
                    <a:pt x="20514" y="1179170"/>
                  </a:lnTo>
                  <a:lnTo>
                    <a:pt x="3204" y="1144079"/>
                  </a:lnTo>
                  <a:lnTo>
                    <a:pt x="0" y="1124684"/>
                  </a:lnTo>
                  <a:lnTo>
                    <a:pt x="0" y="1118114"/>
                  </a:lnTo>
                  <a:lnTo>
                    <a:pt x="0" y="93494"/>
                  </a:lnTo>
                  <a:lnTo>
                    <a:pt x="10131" y="55701"/>
                  </a:lnTo>
                  <a:lnTo>
                    <a:pt x="33954" y="24662"/>
                  </a:lnTo>
                  <a:lnTo>
                    <a:pt x="67841" y="5102"/>
                  </a:lnTo>
                  <a:lnTo>
                    <a:pt x="93494" y="0"/>
                  </a:lnTo>
                  <a:lnTo>
                    <a:pt x="5109870" y="0"/>
                  </a:lnTo>
                  <a:lnTo>
                    <a:pt x="5147662" y="10131"/>
                  </a:lnTo>
                  <a:lnTo>
                    <a:pt x="5178702" y="33954"/>
                  </a:lnTo>
                  <a:lnTo>
                    <a:pt x="5198262" y="67841"/>
                  </a:lnTo>
                  <a:lnTo>
                    <a:pt x="5203364" y="93494"/>
                  </a:lnTo>
                  <a:lnTo>
                    <a:pt x="5203364" y="1124684"/>
                  </a:lnTo>
                  <a:lnTo>
                    <a:pt x="5193232" y="1162477"/>
                  </a:lnTo>
                  <a:lnTo>
                    <a:pt x="5169410" y="1193516"/>
                  </a:lnTo>
                  <a:lnTo>
                    <a:pt x="5135522" y="1213076"/>
                  </a:lnTo>
                  <a:lnTo>
                    <a:pt x="5116377" y="1217538"/>
                  </a:lnTo>
                  <a:lnTo>
                    <a:pt x="5109870" y="1218178"/>
                  </a:lnTo>
                  <a:close/>
                </a:path>
              </a:pathLst>
            </a:custGeom>
            <a:solidFill>
              <a:srgbClr val="FAFAFA"/>
            </a:solidFill>
          </p:spPr>
          <p:txBody>
            <a:bodyPr wrap="square" lIns="0" tIns="0" rIns="0" bIns="0" rtlCol="0"/>
            <a:lstStyle/>
            <a:p/>
          </p:txBody>
        </p:sp>
        <p:sp>
          <p:nvSpPr>
            <p:cNvPr id="28" name="object 28"/>
            <p:cNvSpPr/>
            <p:nvPr/>
          </p:nvSpPr>
          <p:spPr>
            <a:xfrm>
              <a:off x="5294728" y="2092657"/>
              <a:ext cx="5203825" cy="1218565"/>
            </a:xfrm>
            <a:custGeom>
              <a:avLst/>
              <a:gdLst/>
              <a:ahLst/>
              <a:cxnLst/>
              <a:rect l="l" t="t" r="r" b="b"/>
              <a:pathLst>
                <a:path w="5203825" h="1218564">
                  <a:moveTo>
                    <a:pt x="0" y="1118114"/>
                  </a:moveTo>
                  <a:lnTo>
                    <a:pt x="0" y="100064"/>
                  </a:lnTo>
                  <a:lnTo>
                    <a:pt x="0" y="93494"/>
                  </a:lnTo>
                  <a:lnTo>
                    <a:pt x="640" y="86987"/>
                  </a:lnTo>
                  <a:lnTo>
                    <a:pt x="13213" y="49934"/>
                  </a:lnTo>
                  <a:lnTo>
                    <a:pt x="16863" y="44471"/>
                  </a:lnTo>
                  <a:lnTo>
                    <a:pt x="20514" y="39008"/>
                  </a:lnTo>
                  <a:lnTo>
                    <a:pt x="24662" y="33954"/>
                  </a:lnTo>
                  <a:lnTo>
                    <a:pt x="29308" y="29308"/>
                  </a:lnTo>
                  <a:lnTo>
                    <a:pt x="33954" y="24662"/>
                  </a:lnTo>
                  <a:lnTo>
                    <a:pt x="39008" y="20514"/>
                  </a:lnTo>
                  <a:lnTo>
                    <a:pt x="44471" y="16863"/>
                  </a:lnTo>
                  <a:lnTo>
                    <a:pt x="49934" y="13213"/>
                  </a:lnTo>
                  <a:lnTo>
                    <a:pt x="55701" y="10131"/>
                  </a:lnTo>
                  <a:lnTo>
                    <a:pt x="61771" y="7616"/>
                  </a:lnTo>
                  <a:lnTo>
                    <a:pt x="67841" y="5102"/>
                  </a:lnTo>
                  <a:lnTo>
                    <a:pt x="74098" y="3204"/>
                  </a:lnTo>
                  <a:lnTo>
                    <a:pt x="80542" y="1922"/>
                  </a:lnTo>
                  <a:lnTo>
                    <a:pt x="86987" y="640"/>
                  </a:lnTo>
                  <a:lnTo>
                    <a:pt x="93494" y="0"/>
                  </a:lnTo>
                  <a:lnTo>
                    <a:pt x="100064" y="0"/>
                  </a:lnTo>
                  <a:lnTo>
                    <a:pt x="5103300" y="0"/>
                  </a:lnTo>
                  <a:lnTo>
                    <a:pt x="5109870" y="0"/>
                  </a:lnTo>
                  <a:lnTo>
                    <a:pt x="5116377" y="640"/>
                  </a:lnTo>
                  <a:lnTo>
                    <a:pt x="5153429" y="13213"/>
                  </a:lnTo>
                  <a:lnTo>
                    <a:pt x="5158892" y="16863"/>
                  </a:lnTo>
                  <a:lnTo>
                    <a:pt x="5164356" y="20514"/>
                  </a:lnTo>
                  <a:lnTo>
                    <a:pt x="5169410" y="24662"/>
                  </a:lnTo>
                  <a:lnTo>
                    <a:pt x="5174056" y="29308"/>
                  </a:lnTo>
                  <a:lnTo>
                    <a:pt x="5178702" y="33954"/>
                  </a:lnTo>
                  <a:lnTo>
                    <a:pt x="5195747" y="61771"/>
                  </a:lnTo>
                  <a:lnTo>
                    <a:pt x="5198262" y="67841"/>
                  </a:lnTo>
                  <a:lnTo>
                    <a:pt x="5200160" y="74098"/>
                  </a:lnTo>
                  <a:lnTo>
                    <a:pt x="5201441" y="80542"/>
                  </a:lnTo>
                  <a:lnTo>
                    <a:pt x="5202723" y="86987"/>
                  </a:lnTo>
                  <a:lnTo>
                    <a:pt x="5203364" y="93494"/>
                  </a:lnTo>
                  <a:lnTo>
                    <a:pt x="5203364" y="100064"/>
                  </a:lnTo>
                  <a:lnTo>
                    <a:pt x="5203364" y="1118114"/>
                  </a:lnTo>
                  <a:lnTo>
                    <a:pt x="5203364" y="1124684"/>
                  </a:lnTo>
                  <a:lnTo>
                    <a:pt x="5202723" y="1131191"/>
                  </a:lnTo>
                  <a:lnTo>
                    <a:pt x="5201441" y="1137635"/>
                  </a:lnTo>
                  <a:lnTo>
                    <a:pt x="5200160" y="1144079"/>
                  </a:lnTo>
                  <a:lnTo>
                    <a:pt x="5198262" y="1150337"/>
                  </a:lnTo>
                  <a:lnTo>
                    <a:pt x="5195747" y="1156407"/>
                  </a:lnTo>
                  <a:lnTo>
                    <a:pt x="5193232" y="1162477"/>
                  </a:lnTo>
                  <a:lnTo>
                    <a:pt x="5174056" y="1188870"/>
                  </a:lnTo>
                  <a:lnTo>
                    <a:pt x="5169410" y="1193516"/>
                  </a:lnTo>
                  <a:lnTo>
                    <a:pt x="5164356" y="1197664"/>
                  </a:lnTo>
                  <a:lnTo>
                    <a:pt x="5158892" y="1201314"/>
                  </a:lnTo>
                  <a:lnTo>
                    <a:pt x="5153429" y="1204965"/>
                  </a:lnTo>
                  <a:lnTo>
                    <a:pt x="5116377" y="1217538"/>
                  </a:lnTo>
                  <a:lnTo>
                    <a:pt x="5103300" y="1218179"/>
                  </a:lnTo>
                  <a:lnTo>
                    <a:pt x="100064" y="1218179"/>
                  </a:lnTo>
                  <a:lnTo>
                    <a:pt x="93494" y="1218178"/>
                  </a:lnTo>
                  <a:lnTo>
                    <a:pt x="86987" y="1217538"/>
                  </a:lnTo>
                  <a:lnTo>
                    <a:pt x="80542" y="1216256"/>
                  </a:lnTo>
                  <a:lnTo>
                    <a:pt x="74098" y="1214974"/>
                  </a:lnTo>
                  <a:lnTo>
                    <a:pt x="39008" y="1197664"/>
                  </a:lnTo>
                  <a:lnTo>
                    <a:pt x="16863" y="1173706"/>
                  </a:lnTo>
                  <a:lnTo>
                    <a:pt x="13213" y="1168243"/>
                  </a:lnTo>
                  <a:lnTo>
                    <a:pt x="10131" y="1162477"/>
                  </a:lnTo>
                  <a:lnTo>
                    <a:pt x="7616" y="1156407"/>
                  </a:lnTo>
                  <a:lnTo>
                    <a:pt x="5102" y="1150337"/>
                  </a:lnTo>
                  <a:lnTo>
                    <a:pt x="3204" y="1144079"/>
                  </a:lnTo>
                  <a:lnTo>
                    <a:pt x="1922" y="1137635"/>
                  </a:lnTo>
                  <a:lnTo>
                    <a:pt x="640" y="1131191"/>
                  </a:lnTo>
                  <a:lnTo>
                    <a:pt x="0" y="1124684"/>
                  </a:lnTo>
                  <a:lnTo>
                    <a:pt x="0" y="1118114"/>
                  </a:lnTo>
                  <a:close/>
                </a:path>
              </a:pathLst>
            </a:custGeom>
            <a:ln w="8701">
              <a:solidFill>
                <a:srgbClr val="F5F5F5"/>
              </a:solidFill>
            </a:ln>
          </p:spPr>
          <p:txBody>
            <a:bodyPr wrap="square" lIns="0" tIns="0" rIns="0" bIns="0" rtlCol="0"/>
            <a:lstStyle/>
            <a:p/>
          </p:txBody>
        </p:sp>
      </p:grpSp>
      <p:sp>
        <p:nvSpPr>
          <p:cNvPr id="29" name="object 29"/>
          <p:cNvSpPr txBox="1"/>
          <p:nvPr/>
        </p:nvSpPr>
        <p:spPr>
          <a:xfrm>
            <a:off x="5392425" y="2468500"/>
            <a:ext cx="504190" cy="394335"/>
          </a:xfrm>
          <a:prstGeom prst="rect">
            <a:avLst/>
          </a:prstGeom>
        </p:spPr>
        <p:txBody>
          <a:bodyPr vert="horz" wrap="square" lIns="0" tIns="64769" rIns="0" bIns="0" rtlCol="0">
            <a:spAutoFit/>
          </a:bodyPr>
          <a:lstStyle/>
          <a:p>
            <a:pPr marL="12700">
              <a:lnSpc>
                <a:spcPct val="100000"/>
              </a:lnSpc>
              <a:spcBef>
                <a:spcPts val="510"/>
              </a:spcBef>
            </a:pPr>
            <a:r>
              <a:rPr sz="950" spc="-10" dirty="0">
                <a:solidFill>
                  <a:srgbClr val="111726"/>
                </a:solidFill>
                <a:latin typeface="Calibri" panose="020F0502020204030204"/>
                <a:cs typeface="Calibri" panose="020F0502020204030204"/>
              </a:rPr>
              <a:t>Softmax</a:t>
            </a:r>
            <a:endParaRPr sz="950">
              <a:latin typeface="Calibri" panose="020F0502020204030204"/>
              <a:cs typeface="Calibri" panose="020F0502020204030204"/>
            </a:endParaRPr>
          </a:p>
          <a:p>
            <a:pPr marL="12700">
              <a:lnSpc>
                <a:spcPct val="100000"/>
              </a:lnSpc>
              <a:spcBef>
                <a:spcPts val="330"/>
              </a:spcBef>
            </a:pPr>
            <a:r>
              <a:rPr sz="850" spc="-100" dirty="0">
                <a:solidFill>
                  <a:srgbClr val="6A7280"/>
                </a:solidFill>
                <a:latin typeface="宋体" panose="02010600030101010101" pitchFamily="2" charset="-122"/>
                <a:cs typeface="宋体" panose="02010600030101010101" pitchFamily="2" charset="-122"/>
              </a:rPr>
              <a:t>归一化分布</a:t>
            </a:r>
            <a:endParaRPr sz="850">
              <a:latin typeface="宋体" panose="02010600030101010101" pitchFamily="2" charset="-122"/>
              <a:cs typeface="宋体" panose="02010600030101010101" pitchFamily="2" charset="-122"/>
            </a:endParaRPr>
          </a:p>
        </p:txBody>
      </p:sp>
      <p:grpSp>
        <p:nvGrpSpPr>
          <p:cNvPr id="30" name="object 30"/>
          <p:cNvGrpSpPr/>
          <p:nvPr/>
        </p:nvGrpSpPr>
        <p:grpSpPr>
          <a:xfrm>
            <a:off x="5020637" y="2201329"/>
            <a:ext cx="5481955" cy="2436495"/>
            <a:chOff x="5020637" y="2201329"/>
            <a:chExt cx="5481955" cy="2436495"/>
          </a:xfrm>
        </p:grpSpPr>
        <p:sp>
          <p:nvSpPr>
            <p:cNvPr id="31" name="object 31"/>
            <p:cNvSpPr/>
            <p:nvPr/>
          </p:nvSpPr>
          <p:spPr>
            <a:xfrm>
              <a:off x="7487450" y="2205774"/>
              <a:ext cx="2898140" cy="992505"/>
            </a:xfrm>
            <a:custGeom>
              <a:avLst/>
              <a:gdLst/>
              <a:ahLst/>
              <a:cxnLst/>
              <a:rect l="l" t="t" r="r" b="b"/>
              <a:pathLst>
                <a:path w="2898140" h="992505">
                  <a:moveTo>
                    <a:pt x="2836551" y="991945"/>
                  </a:moveTo>
                  <a:lnTo>
                    <a:pt x="60974" y="991945"/>
                  </a:lnTo>
                  <a:lnTo>
                    <a:pt x="56730" y="991527"/>
                  </a:lnTo>
                  <a:lnTo>
                    <a:pt x="16083" y="969801"/>
                  </a:lnTo>
                  <a:lnTo>
                    <a:pt x="0" y="930971"/>
                  </a:lnTo>
                  <a:lnTo>
                    <a:pt x="0" y="926686"/>
                  </a:lnTo>
                  <a:lnTo>
                    <a:pt x="0" y="60974"/>
                  </a:lnTo>
                  <a:lnTo>
                    <a:pt x="16083" y="22143"/>
                  </a:lnTo>
                  <a:lnTo>
                    <a:pt x="56730" y="417"/>
                  </a:lnTo>
                  <a:lnTo>
                    <a:pt x="60974" y="0"/>
                  </a:lnTo>
                  <a:lnTo>
                    <a:pt x="2836551" y="0"/>
                  </a:lnTo>
                  <a:lnTo>
                    <a:pt x="2875381" y="16084"/>
                  </a:lnTo>
                  <a:lnTo>
                    <a:pt x="2897107" y="56730"/>
                  </a:lnTo>
                  <a:lnTo>
                    <a:pt x="2897525" y="60974"/>
                  </a:lnTo>
                  <a:lnTo>
                    <a:pt x="2897525" y="930971"/>
                  </a:lnTo>
                  <a:lnTo>
                    <a:pt x="2881441" y="969801"/>
                  </a:lnTo>
                  <a:lnTo>
                    <a:pt x="2840795" y="991527"/>
                  </a:lnTo>
                  <a:lnTo>
                    <a:pt x="2836551" y="991945"/>
                  </a:lnTo>
                  <a:close/>
                </a:path>
              </a:pathLst>
            </a:custGeom>
            <a:solidFill>
              <a:srgbClr val="FFFFFF"/>
            </a:solidFill>
          </p:spPr>
          <p:txBody>
            <a:bodyPr wrap="square" lIns="0" tIns="0" rIns="0" bIns="0" rtlCol="0"/>
            <a:lstStyle/>
            <a:p/>
          </p:txBody>
        </p:sp>
        <p:sp>
          <p:nvSpPr>
            <p:cNvPr id="32" name="object 32"/>
            <p:cNvSpPr/>
            <p:nvPr/>
          </p:nvSpPr>
          <p:spPr>
            <a:xfrm>
              <a:off x="7487450" y="2205774"/>
              <a:ext cx="2898140" cy="992505"/>
            </a:xfrm>
            <a:custGeom>
              <a:avLst/>
              <a:gdLst/>
              <a:ahLst/>
              <a:cxnLst/>
              <a:rect l="l" t="t" r="r" b="b"/>
              <a:pathLst>
                <a:path w="2898140" h="992505">
                  <a:moveTo>
                    <a:pt x="0" y="926686"/>
                  </a:moveTo>
                  <a:lnTo>
                    <a:pt x="0" y="65259"/>
                  </a:lnTo>
                  <a:lnTo>
                    <a:pt x="0" y="60974"/>
                  </a:lnTo>
                  <a:lnTo>
                    <a:pt x="417" y="56730"/>
                  </a:lnTo>
                  <a:lnTo>
                    <a:pt x="10997" y="29003"/>
                  </a:lnTo>
                  <a:lnTo>
                    <a:pt x="13378" y="25440"/>
                  </a:lnTo>
                  <a:lnTo>
                    <a:pt x="16083" y="22143"/>
                  </a:lnTo>
                  <a:lnTo>
                    <a:pt x="19114" y="19114"/>
                  </a:lnTo>
                  <a:lnTo>
                    <a:pt x="22144" y="16084"/>
                  </a:lnTo>
                  <a:lnTo>
                    <a:pt x="40285" y="4967"/>
                  </a:lnTo>
                  <a:lnTo>
                    <a:pt x="44244" y="3327"/>
                  </a:lnTo>
                  <a:lnTo>
                    <a:pt x="48325" y="2089"/>
                  </a:lnTo>
                  <a:lnTo>
                    <a:pt x="52527" y="1253"/>
                  </a:lnTo>
                  <a:lnTo>
                    <a:pt x="56730" y="417"/>
                  </a:lnTo>
                  <a:lnTo>
                    <a:pt x="60974" y="0"/>
                  </a:lnTo>
                  <a:lnTo>
                    <a:pt x="65259" y="0"/>
                  </a:lnTo>
                  <a:lnTo>
                    <a:pt x="2832266" y="0"/>
                  </a:lnTo>
                  <a:lnTo>
                    <a:pt x="2836551" y="0"/>
                  </a:lnTo>
                  <a:lnTo>
                    <a:pt x="2840795" y="417"/>
                  </a:lnTo>
                  <a:lnTo>
                    <a:pt x="2844998" y="1253"/>
                  </a:lnTo>
                  <a:lnTo>
                    <a:pt x="2849200" y="2089"/>
                  </a:lnTo>
                  <a:lnTo>
                    <a:pt x="2853280" y="3327"/>
                  </a:lnTo>
                  <a:lnTo>
                    <a:pt x="2857239" y="4967"/>
                  </a:lnTo>
                  <a:lnTo>
                    <a:pt x="2861198" y="6607"/>
                  </a:lnTo>
                  <a:lnTo>
                    <a:pt x="2864959" y="8617"/>
                  </a:lnTo>
                  <a:lnTo>
                    <a:pt x="2868521" y="10998"/>
                  </a:lnTo>
                  <a:lnTo>
                    <a:pt x="2872084" y="13378"/>
                  </a:lnTo>
                  <a:lnTo>
                    <a:pt x="2886527" y="29003"/>
                  </a:lnTo>
                  <a:lnTo>
                    <a:pt x="2888907" y="32566"/>
                  </a:lnTo>
                  <a:lnTo>
                    <a:pt x="2890918" y="36326"/>
                  </a:lnTo>
                  <a:lnTo>
                    <a:pt x="2892557" y="40285"/>
                  </a:lnTo>
                  <a:lnTo>
                    <a:pt x="2894197" y="44244"/>
                  </a:lnTo>
                  <a:lnTo>
                    <a:pt x="2895435" y="48325"/>
                  </a:lnTo>
                  <a:lnTo>
                    <a:pt x="2896270" y="52527"/>
                  </a:lnTo>
                  <a:lnTo>
                    <a:pt x="2897107" y="56730"/>
                  </a:lnTo>
                  <a:lnTo>
                    <a:pt x="2897525" y="60974"/>
                  </a:lnTo>
                  <a:lnTo>
                    <a:pt x="2897525" y="65259"/>
                  </a:lnTo>
                  <a:lnTo>
                    <a:pt x="2897525" y="926686"/>
                  </a:lnTo>
                  <a:lnTo>
                    <a:pt x="2897525" y="930971"/>
                  </a:lnTo>
                  <a:lnTo>
                    <a:pt x="2897107" y="935215"/>
                  </a:lnTo>
                  <a:lnTo>
                    <a:pt x="2896270" y="939417"/>
                  </a:lnTo>
                  <a:lnTo>
                    <a:pt x="2895435" y="943620"/>
                  </a:lnTo>
                  <a:lnTo>
                    <a:pt x="2894197" y="947700"/>
                  </a:lnTo>
                  <a:lnTo>
                    <a:pt x="2892557" y="951659"/>
                  </a:lnTo>
                  <a:lnTo>
                    <a:pt x="2890918" y="955618"/>
                  </a:lnTo>
                  <a:lnTo>
                    <a:pt x="2888907" y="959379"/>
                  </a:lnTo>
                  <a:lnTo>
                    <a:pt x="2886527" y="962942"/>
                  </a:lnTo>
                  <a:lnTo>
                    <a:pt x="2884146" y="966505"/>
                  </a:lnTo>
                  <a:lnTo>
                    <a:pt x="2868521" y="980947"/>
                  </a:lnTo>
                  <a:lnTo>
                    <a:pt x="2864959" y="983328"/>
                  </a:lnTo>
                  <a:lnTo>
                    <a:pt x="2861198" y="985338"/>
                  </a:lnTo>
                  <a:lnTo>
                    <a:pt x="2857239" y="986978"/>
                  </a:lnTo>
                  <a:lnTo>
                    <a:pt x="2853280" y="988617"/>
                  </a:lnTo>
                  <a:lnTo>
                    <a:pt x="2832266" y="991945"/>
                  </a:lnTo>
                  <a:lnTo>
                    <a:pt x="65259" y="991945"/>
                  </a:lnTo>
                  <a:lnTo>
                    <a:pt x="60974" y="991945"/>
                  </a:lnTo>
                  <a:lnTo>
                    <a:pt x="56730" y="991527"/>
                  </a:lnTo>
                  <a:lnTo>
                    <a:pt x="52527" y="990691"/>
                  </a:lnTo>
                  <a:lnTo>
                    <a:pt x="48325" y="989855"/>
                  </a:lnTo>
                  <a:lnTo>
                    <a:pt x="44244" y="988617"/>
                  </a:lnTo>
                  <a:lnTo>
                    <a:pt x="40285" y="986978"/>
                  </a:lnTo>
                  <a:lnTo>
                    <a:pt x="36326" y="985338"/>
                  </a:lnTo>
                  <a:lnTo>
                    <a:pt x="32565" y="983328"/>
                  </a:lnTo>
                  <a:lnTo>
                    <a:pt x="29003" y="980947"/>
                  </a:lnTo>
                  <a:lnTo>
                    <a:pt x="25440" y="978566"/>
                  </a:lnTo>
                  <a:lnTo>
                    <a:pt x="22144" y="975861"/>
                  </a:lnTo>
                  <a:lnTo>
                    <a:pt x="19114" y="972831"/>
                  </a:lnTo>
                  <a:lnTo>
                    <a:pt x="16083" y="969801"/>
                  </a:lnTo>
                  <a:lnTo>
                    <a:pt x="13378" y="966505"/>
                  </a:lnTo>
                  <a:lnTo>
                    <a:pt x="10998" y="962942"/>
                  </a:lnTo>
                  <a:lnTo>
                    <a:pt x="8617" y="959379"/>
                  </a:lnTo>
                  <a:lnTo>
                    <a:pt x="1253" y="939417"/>
                  </a:lnTo>
                  <a:lnTo>
                    <a:pt x="417" y="935214"/>
                  </a:lnTo>
                  <a:lnTo>
                    <a:pt x="0" y="930971"/>
                  </a:lnTo>
                  <a:lnTo>
                    <a:pt x="0" y="926686"/>
                  </a:lnTo>
                  <a:close/>
                </a:path>
              </a:pathLst>
            </a:custGeom>
            <a:ln w="8701">
              <a:solidFill>
                <a:srgbClr val="F2F4F5"/>
              </a:solidFill>
            </a:ln>
          </p:spPr>
          <p:txBody>
            <a:bodyPr wrap="square" lIns="0" tIns="0" rIns="0" bIns="0" rtlCol="0"/>
            <a:lstStyle/>
            <a:p/>
          </p:txBody>
        </p:sp>
        <p:pic>
          <p:nvPicPr>
            <p:cNvPr id="33" name="object 33"/>
            <p:cNvPicPr/>
            <p:nvPr/>
          </p:nvPicPr>
          <p:blipFill>
            <a:blip r:embed="rId3" cstate="print"/>
            <a:stretch>
              <a:fillRect/>
            </a:stretch>
          </p:blipFill>
          <p:spPr>
            <a:xfrm>
              <a:off x="5020637" y="3698043"/>
              <a:ext cx="17402" cy="904933"/>
            </a:xfrm>
            <a:prstGeom prst="rect">
              <a:avLst/>
            </a:prstGeom>
          </p:spPr>
        </p:pic>
        <p:sp>
          <p:nvSpPr>
            <p:cNvPr id="34" name="object 34"/>
            <p:cNvSpPr/>
            <p:nvPr/>
          </p:nvSpPr>
          <p:spPr>
            <a:xfrm>
              <a:off x="5290377" y="3419602"/>
              <a:ext cx="5212080" cy="1218565"/>
            </a:xfrm>
            <a:custGeom>
              <a:avLst/>
              <a:gdLst/>
              <a:ahLst/>
              <a:cxnLst/>
              <a:rect l="l" t="t" r="r" b="b"/>
              <a:pathLst>
                <a:path w="5212080" h="1218564">
                  <a:moveTo>
                    <a:pt x="5107650" y="1218179"/>
                  </a:moveTo>
                  <a:lnTo>
                    <a:pt x="104415" y="1218179"/>
                  </a:lnTo>
                  <a:lnTo>
                    <a:pt x="94129" y="1217682"/>
                  </a:lnTo>
                  <a:lnTo>
                    <a:pt x="55143" y="1205835"/>
                  </a:lnTo>
                  <a:lnTo>
                    <a:pt x="23660" y="1179971"/>
                  </a:lnTo>
                  <a:lnTo>
                    <a:pt x="4470" y="1144028"/>
                  </a:lnTo>
                  <a:lnTo>
                    <a:pt x="0" y="1113763"/>
                  </a:lnTo>
                  <a:lnTo>
                    <a:pt x="0" y="104415"/>
                  </a:lnTo>
                  <a:lnTo>
                    <a:pt x="7947" y="64456"/>
                  </a:lnTo>
                  <a:lnTo>
                    <a:pt x="30582" y="30582"/>
                  </a:lnTo>
                  <a:lnTo>
                    <a:pt x="64456" y="7948"/>
                  </a:lnTo>
                  <a:lnTo>
                    <a:pt x="104415" y="0"/>
                  </a:lnTo>
                  <a:lnTo>
                    <a:pt x="5107650" y="0"/>
                  </a:lnTo>
                  <a:lnTo>
                    <a:pt x="5147606" y="7948"/>
                  </a:lnTo>
                  <a:lnTo>
                    <a:pt x="5181482" y="30582"/>
                  </a:lnTo>
                  <a:lnTo>
                    <a:pt x="5204116" y="64456"/>
                  </a:lnTo>
                  <a:lnTo>
                    <a:pt x="5212066" y="104415"/>
                  </a:lnTo>
                  <a:lnTo>
                    <a:pt x="5212066" y="1113763"/>
                  </a:lnTo>
                  <a:lnTo>
                    <a:pt x="5204116" y="1153721"/>
                  </a:lnTo>
                  <a:lnTo>
                    <a:pt x="5181482" y="1187596"/>
                  </a:lnTo>
                  <a:lnTo>
                    <a:pt x="5147606" y="1210230"/>
                  </a:lnTo>
                  <a:lnTo>
                    <a:pt x="5107650" y="1218179"/>
                  </a:lnTo>
                  <a:close/>
                </a:path>
              </a:pathLst>
            </a:custGeom>
            <a:solidFill>
              <a:srgbClr val="FFF5E7">
                <a:alpha val="39999"/>
              </a:srgbClr>
            </a:solidFill>
          </p:spPr>
          <p:txBody>
            <a:bodyPr wrap="square" lIns="0" tIns="0" rIns="0" bIns="0" rtlCol="0"/>
            <a:lstStyle/>
            <a:p/>
          </p:txBody>
        </p:sp>
        <p:sp>
          <p:nvSpPr>
            <p:cNvPr id="35" name="object 35"/>
            <p:cNvSpPr/>
            <p:nvPr/>
          </p:nvSpPr>
          <p:spPr>
            <a:xfrm>
              <a:off x="5290377" y="3419602"/>
              <a:ext cx="5212080" cy="1218565"/>
            </a:xfrm>
            <a:custGeom>
              <a:avLst/>
              <a:gdLst/>
              <a:ahLst/>
              <a:cxnLst/>
              <a:rect l="l" t="t" r="r" b="b"/>
              <a:pathLst>
                <a:path w="5212080" h="1218564">
                  <a:moveTo>
                    <a:pt x="5107650" y="1218178"/>
                  </a:moveTo>
                  <a:lnTo>
                    <a:pt x="104415" y="1218178"/>
                  </a:lnTo>
                  <a:lnTo>
                    <a:pt x="94129" y="1217682"/>
                  </a:lnTo>
                  <a:lnTo>
                    <a:pt x="55143" y="1205835"/>
                  </a:lnTo>
                  <a:lnTo>
                    <a:pt x="23660" y="1179971"/>
                  </a:lnTo>
                  <a:lnTo>
                    <a:pt x="4470" y="1144028"/>
                  </a:lnTo>
                  <a:lnTo>
                    <a:pt x="0" y="1113763"/>
                  </a:lnTo>
                  <a:lnTo>
                    <a:pt x="0" y="104415"/>
                  </a:lnTo>
                  <a:lnTo>
                    <a:pt x="7947" y="64456"/>
                  </a:lnTo>
                  <a:lnTo>
                    <a:pt x="30582" y="30582"/>
                  </a:lnTo>
                  <a:lnTo>
                    <a:pt x="64456" y="7948"/>
                  </a:lnTo>
                  <a:lnTo>
                    <a:pt x="104415" y="0"/>
                  </a:lnTo>
                  <a:lnTo>
                    <a:pt x="5107650" y="0"/>
                  </a:lnTo>
                  <a:lnTo>
                    <a:pt x="5147606" y="7948"/>
                  </a:lnTo>
                  <a:lnTo>
                    <a:pt x="5149202" y="8701"/>
                  </a:lnTo>
                  <a:lnTo>
                    <a:pt x="98130" y="8701"/>
                  </a:lnTo>
                  <a:lnTo>
                    <a:pt x="91906" y="9314"/>
                  </a:lnTo>
                  <a:lnTo>
                    <a:pt x="46013" y="28323"/>
                  </a:lnTo>
                  <a:lnTo>
                    <a:pt x="18391" y="61980"/>
                  </a:lnTo>
                  <a:lnTo>
                    <a:pt x="8701" y="98130"/>
                  </a:lnTo>
                  <a:lnTo>
                    <a:pt x="8701" y="1120048"/>
                  </a:lnTo>
                  <a:lnTo>
                    <a:pt x="21340" y="1161713"/>
                  </a:lnTo>
                  <a:lnTo>
                    <a:pt x="56464" y="1196838"/>
                  </a:lnTo>
                  <a:lnTo>
                    <a:pt x="98130" y="1209477"/>
                  </a:lnTo>
                  <a:lnTo>
                    <a:pt x="5149201" y="1209477"/>
                  </a:lnTo>
                  <a:lnTo>
                    <a:pt x="5147605" y="1210230"/>
                  </a:lnTo>
                  <a:lnTo>
                    <a:pt x="5137913" y="1213707"/>
                  </a:lnTo>
                  <a:lnTo>
                    <a:pt x="5128023" y="1216191"/>
                  </a:lnTo>
                  <a:lnTo>
                    <a:pt x="5117935" y="1217682"/>
                  </a:lnTo>
                  <a:lnTo>
                    <a:pt x="5107650" y="1218178"/>
                  </a:lnTo>
                  <a:close/>
                </a:path>
                <a:path w="5212080" h="1218564">
                  <a:moveTo>
                    <a:pt x="5149201" y="1209477"/>
                  </a:moveTo>
                  <a:lnTo>
                    <a:pt x="5113934" y="1209477"/>
                  </a:lnTo>
                  <a:lnTo>
                    <a:pt x="5120158" y="1208864"/>
                  </a:lnTo>
                  <a:lnTo>
                    <a:pt x="5132486" y="1206412"/>
                  </a:lnTo>
                  <a:lnTo>
                    <a:pt x="5170885" y="1185887"/>
                  </a:lnTo>
                  <a:lnTo>
                    <a:pt x="5198482" y="1144585"/>
                  </a:lnTo>
                  <a:lnTo>
                    <a:pt x="5203364" y="1120048"/>
                  </a:lnTo>
                  <a:lnTo>
                    <a:pt x="5203364" y="98130"/>
                  </a:lnTo>
                  <a:lnTo>
                    <a:pt x="5190724" y="56464"/>
                  </a:lnTo>
                  <a:lnTo>
                    <a:pt x="5155599" y="21340"/>
                  </a:lnTo>
                  <a:lnTo>
                    <a:pt x="5113934" y="8701"/>
                  </a:lnTo>
                  <a:lnTo>
                    <a:pt x="5149202" y="8701"/>
                  </a:lnTo>
                  <a:lnTo>
                    <a:pt x="5181482" y="30582"/>
                  </a:lnTo>
                  <a:lnTo>
                    <a:pt x="5204116" y="64456"/>
                  </a:lnTo>
                  <a:lnTo>
                    <a:pt x="5212065" y="104415"/>
                  </a:lnTo>
                  <a:lnTo>
                    <a:pt x="5212065" y="1113763"/>
                  </a:lnTo>
                  <a:lnTo>
                    <a:pt x="5211568" y="1124049"/>
                  </a:lnTo>
                  <a:lnTo>
                    <a:pt x="5199720" y="1163033"/>
                  </a:lnTo>
                  <a:lnTo>
                    <a:pt x="5173857" y="1194517"/>
                  </a:lnTo>
                  <a:lnTo>
                    <a:pt x="5156919" y="1205835"/>
                  </a:lnTo>
                  <a:lnTo>
                    <a:pt x="5149201" y="1209477"/>
                  </a:lnTo>
                  <a:close/>
                </a:path>
              </a:pathLst>
            </a:custGeom>
            <a:solidFill>
              <a:srgbClr val="D4A573">
                <a:alpha val="30198"/>
              </a:srgbClr>
            </a:solidFill>
          </p:spPr>
          <p:txBody>
            <a:bodyPr wrap="square" lIns="0" tIns="0" rIns="0" bIns="0" rtlCol="0"/>
            <a:lstStyle/>
            <a:p/>
          </p:txBody>
        </p:sp>
      </p:grpSp>
      <p:sp>
        <p:nvSpPr>
          <p:cNvPr id="36" name="object 36"/>
          <p:cNvSpPr txBox="1"/>
          <p:nvPr/>
        </p:nvSpPr>
        <p:spPr>
          <a:xfrm>
            <a:off x="5392425" y="3856828"/>
            <a:ext cx="440690" cy="174625"/>
          </a:xfrm>
          <a:prstGeom prst="rect">
            <a:avLst/>
          </a:prstGeom>
        </p:spPr>
        <p:txBody>
          <a:bodyPr vert="horz" wrap="square" lIns="0" tIns="16510" rIns="0" bIns="0" rtlCol="0">
            <a:spAutoFit/>
          </a:bodyPr>
          <a:lstStyle/>
          <a:p>
            <a:pPr marL="12700">
              <a:lnSpc>
                <a:spcPct val="100000"/>
              </a:lnSpc>
              <a:spcBef>
                <a:spcPts val="130"/>
              </a:spcBef>
            </a:pPr>
            <a:r>
              <a:rPr sz="950" b="1" spc="-10" dirty="0">
                <a:solidFill>
                  <a:srgbClr val="111726"/>
                </a:solidFill>
                <a:latin typeface="Calibri" panose="020F0502020204030204"/>
                <a:cs typeface="Calibri" panose="020F0502020204030204"/>
              </a:rPr>
              <a:t>Sparsity</a:t>
            </a:r>
            <a:endParaRPr sz="950">
              <a:latin typeface="Calibri" panose="020F0502020204030204"/>
              <a:cs typeface="Calibri" panose="020F0502020204030204"/>
            </a:endParaRPr>
          </a:p>
        </p:txBody>
      </p:sp>
      <p:sp>
        <p:nvSpPr>
          <p:cNvPr id="37" name="object 37"/>
          <p:cNvSpPr/>
          <p:nvPr/>
        </p:nvSpPr>
        <p:spPr>
          <a:xfrm>
            <a:off x="5873362" y="3898172"/>
            <a:ext cx="391795" cy="104775"/>
          </a:xfrm>
          <a:custGeom>
            <a:avLst/>
            <a:gdLst/>
            <a:ahLst/>
            <a:cxnLst/>
            <a:rect l="l" t="t" r="r" b="b"/>
            <a:pathLst>
              <a:path w="391795" h="104775">
                <a:moveTo>
                  <a:pt x="361367" y="104415"/>
                </a:moveTo>
                <a:lnTo>
                  <a:pt x="30189" y="104415"/>
                </a:lnTo>
                <a:lnTo>
                  <a:pt x="25749" y="103531"/>
                </a:lnTo>
                <a:lnTo>
                  <a:pt x="0" y="74225"/>
                </a:lnTo>
                <a:lnTo>
                  <a:pt x="0" y="69610"/>
                </a:lnTo>
                <a:lnTo>
                  <a:pt x="0" y="30189"/>
                </a:lnTo>
                <a:lnTo>
                  <a:pt x="25749" y="882"/>
                </a:lnTo>
                <a:lnTo>
                  <a:pt x="30189" y="0"/>
                </a:lnTo>
                <a:lnTo>
                  <a:pt x="361367" y="0"/>
                </a:lnTo>
                <a:lnTo>
                  <a:pt x="390674" y="25749"/>
                </a:lnTo>
                <a:lnTo>
                  <a:pt x="391557" y="30189"/>
                </a:lnTo>
                <a:lnTo>
                  <a:pt x="391557" y="74225"/>
                </a:lnTo>
                <a:lnTo>
                  <a:pt x="365807" y="103531"/>
                </a:lnTo>
                <a:lnTo>
                  <a:pt x="361367" y="104415"/>
                </a:lnTo>
                <a:close/>
              </a:path>
            </a:pathLst>
          </a:custGeom>
          <a:solidFill>
            <a:srgbClr val="D4A573"/>
          </a:solidFill>
        </p:spPr>
        <p:txBody>
          <a:bodyPr wrap="square" lIns="0" tIns="0" rIns="0" bIns="0" rtlCol="0"/>
          <a:lstStyle/>
          <a:p/>
        </p:txBody>
      </p:sp>
      <p:sp>
        <p:nvSpPr>
          <p:cNvPr id="38" name="object 38"/>
          <p:cNvSpPr txBox="1"/>
          <p:nvPr/>
        </p:nvSpPr>
        <p:spPr>
          <a:xfrm>
            <a:off x="5913550" y="3885472"/>
            <a:ext cx="309245" cy="109220"/>
          </a:xfrm>
          <a:prstGeom prst="rect">
            <a:avLst/>
          </a:prstGeom>
        </p:spPr>
        <p:txBody>
          <a:bodyPr vert="horz" wrap="square" lIns="0" tIns="12065" rIns="0" bIns="0" rtlCol="0">
            <a:spAutoFit/>
          </a:bodyPr>
          <a:lstStyle/>
          <a:p>
            <a:pPr marL="12700">
              <a:lnSpc>
                <a:spcPct val="100000"/>
              </a:lnSpc>
              <a:spcBef>
                <a:spcPts val="95"/>
              </a:spcBef>
            </a:pPr>
            <a:r>
              <a:rPr sz="550" spc="-15" dirty="0">
                <a:solidFill>
                  <a:srgbClr val="FFFFFF"/>
                </a:solidFill>
                <a:latin typeface="宋体" panose="02010600030101010101" pitchFamily="2" charset="-122"/>
                <a:cs typeface="宋体" panose="02010600030101010101" pitchFamily="2" charset="-122"/>
              </a:rPr>
              <a:t>关键步骤</a:t>
            </a:r>
            <a:endParaRPr sz="550">
              <a:latin typeface="宋体" panose="02010600030101010101" pitchFamily="2" charset="-122"/>
              <a:cs typeface="宋体" panose="02010600030101010101" pitchFamily="2" charset="-122"/>
            </a:endParaRPr>
          </a:p>
        </p:txBody>
      </p:sp>
      <p:sp>
        <p:nvSpPr>
          <p:cNvPr id="39" name="object 39"/>
          <p:cNvSpPr txBox="1"/>
          <p:nvPr/>
        </p:nvSpPr>
        <p:spPr>
          <a:xfrm>
            <a:off x="5392425" y="4038354"/>
            <a:ext cx="1748789" cy="155575"/>
          </a:xfrm>
          <a:prstGeom prst="rect">
            <a:avLst/>
          </a:prstGeom>
        </p:spPr>
        <p:txBody>
          <a:bodyPr vert="horz" wrap="square" lIns="0" tIns="12700" rIns="0" bIns="0" rtlCol="0">
            <a:spAutoFit/>
          </a:bodyPr>
          <a:lstStyle/>
          <a:p>
            <a:pPr marL="12700">
              <a:lnSpc>
                <a:spcPct val="100000"/>
              </a:lnSpc>
              <a:spcBef>
                <a:spcPts val="100"/>
              </a:spcBef>
            </a:pPr>
            <a:r>
              <a:rPr sz="850" spc="-110" dirty="0">
                <a:solidFill>
                  <a:srgbClr val="4A5462"/>
                </a:solidFill>
                <a:latin typeface="宋体" panose="02010600030101010101" pitchFamily="2" charset="-122"/>
                <a:cs typeface="宋体" panose="02010600030101010101" pitchFamily="2" charset="-122"/>
              </a:rPr>
              <a:t>物理层面剔除偶尔出现的伪相关噪声模式</a:t>
            </a:r>
            <a:endParaRPr sz="850">
              <a:latin typeface="宋体" panose="02010600030101010101" pitchFamily="2" charset="-122"/>
              <a:cs typeface="宋体" panose="02010600030101010101" pitchFamily="2" charset="-122"/>
            </a:endParaRPr>
          </a:p>
        </p:txBody>
      </p:sp>
      <p:grpSp>
        <p:nvGrpSpPr>
          <p:cNvPr id="40" name="object 40"/>
          <p:cNvGrpSpPr/>
          <p:nvPr/>
        </p:nvGrpSpPr>
        <p:grpSpPr>
          <a:xfrm>
            <a:off x="5290282" y="3532719"/>
            <a:ext cx="5212715" cy="2584450"/>
            <a:chOff x="5290282" y="3532719"/>
            <a:chExt cx="5212715" cy="2584450"/>
          </a:xfrm>
        </p:grpSpPr>
        <p:sp>
          <p:nvSpPr>
            <p:cNvPr id="41" name="object 41"/>
            <p:cNvSpPr/>
            <p:nvPr/>
          </p:nvSpPr>
          <p:spPr>
            <a:xfrm>
              <a:off x="7483100" y="3532719"/>
              <a:ext cx="2906395" cy="992505"/>
            </a:xfrm>
            <a:custGeom>
              <a:avLst/>
              <a:gdLst/>
              <a:ahLst/>
              <a:cxnLst/>
              <a:rect l="l" t="t" r="r" b="b"/>
              <a:pathLst>
                <a:path w="2906395" h="992504">
                  <a:moveTo>
                    <a:pt x="2836617" y="991945"/>
                  </a:moveTo>
                  <a:lnTo>
                    <a:pt x="69610" y="991945"/>
                  </a:lnTo>
                  <a:lnTo>
                    <a:pt x="62752" y="991614"/>
                  </a:lnTo>
                  <a:lnTo>
                    <a:pt x="25470" y="976171"/>
                  </a:lnTo>
                  <a:lnTo>
                    <a:pt x="2979" y="942511"/>
                  </a:lnTo>
                  <a:lnTo>
                    <a:pt x="0" y="922335"/>
                  </a:lnTo>
                  <a:lnTo>
                    <a:pt x="0" y="69610"/>
                  </a:lnTo>
                  <a:lnTo>
                    <a:pt x="11719" y="30928"/>
                  </a:lnTo>
                  <a:lnTo>
                    <a:pt x="42970" y="5298"/>
                  </a:lnTo>
                  <a:lnTo>
                    <a:pt x="69610" y="0"/>
                  </a:lnTo>
                  <a:lnTo>
                    <a:pt x="2836617" y="0"/>
                  </a:lnTo>
                  <a:lnTo>
                    <a:pt x="2875296" y="11720"/>
                  </a:lnTo>
                  <a:lnTo>
                    <a:pt x="2900926" y="42971"/>
                  </a:lnTo>
                  <a:lnTo>
                    <a:pt x="2906227" y="69610"/>
                  </a:lnTo>
                  <a:lnTo>
                    <a:pt x="2906227" y="922335"/>
                  </a:lnTo>
                  <a:lnTo>
                    <a:pt x="2894505" y="961015"/>
                  </a:lnTo>
                  <a:lnTo>
                    <a:pt x="2863253" y="986646"/>
                  </a:lnTo>
                  <a:lnTo>
                    <a:pt x="2836617" y="991945"/>
                  </a:lnTo>
                  <a:close/>
                </a:path>
              </a:pathLst>
            </a:custGeom>
            <a:solidFill>
              <a:srgbClr val="FFFFFF"/>
            </a:solidFill>
          </p:spPr>
          <p:txBody>
            <a:bodyPr wrap="square" lIns="0" tIns="0" rIns="0" bIns="0" rtlCol="0"/>
            <a:lstStyle/>
            <a:p/>
          </p:txBody>
        </p:sp>
        <p:sp>
          <p:nvSpPr>
            <p:cNvPr id="42" name="object 42"/>
            <p:cNvSpPr/>
            <p:nvPr/>
          </p:nvSpPr>
          <p:spPr>
            <a:xfrm>
              <a:off x="7483099" y="3532719"/>
              <a:ext cx="2906395" cy="992505"/>
            </a:xfrm>
            <a:custGeom>
              <a:avLst/>
              <a:gdLst/>
              <a:ahLst/>
              <a:cxnLst/>
              <a:rect l="l" t="t" r="r" b="b"/>
              <a:pathLst>
                <a:path w="2906395" h="992504">
                  <a:moveTo>
                    <a:pt x="2836616" y="991945"/>
                  </a:moveTo>
                  <a:lnTo>
                    <a:pt x="69610" y="991945"/>
                  </a:lnTo>
                  <a:lnTo>
                    <a:pt x="62752" y="991614"/>
                  </a:lnTo>
                  <a:lnTo>
                    <a:pt x="25470" y="976171"/>
                  </a:lnTo>
                  <a:lnTo>
                    <a:pt x="2979" y="942511"/>
                  </a:lnTo>
                  <a:lnTo>
                    <a:pt x="0" y="922335"/>
                  </a:lnTo>
                  <a:lnTo>
                    <a:pt x="0" y="69610"/>
                  </a:lnTo>
                  <a:lnTo>
                    <a:pt x="11719" y="30928"/>
                  </a:lnTo>
                  <a:lnTo>
                    <a:pt x="42970" y="5298"/>
                  </a:lnTo>
                  <a:lnTo>
                    <a:pt x="69610" y="0"/>
                  </a:lnTo>
                  <a:lnTo>
                    <a:pt x="2836616" y="0"/>
                  </a:lnTo>
                  <a:lnTo>
                    <a:pt x="2870252" y="8701"/>
                  </a:lnTo>
                  <a:lnTo>
                    <a:pt x="65610" y="8701"/>
                  </a:lnTo>
                  <a:lnTo>
                    <a:pt x="61649" y="9091"/>
                  </a:lnTo>
                  <a:lnTo>
                    <a:pt x="23712" y="29368"/>
                  </a:lnTo>
                  <a:lnTo>
                    <a:pt x="8701" y="65610"/>
                  </a:lnTo>
                  <a:lnTo>
                    <a:pt x="8701" y="926334"/>
                  </a:lnTo>
                  <a:lnTo>
                    <a:pt x="8982" y="929192"/>
                  </a:lnTo>
                  <a:lnTo>
                    <a:pt x="9091" y="930295"/>
                  </a:lnTo>
                  <a:lnTo>
                    <a:pt x="29368" y="968232"/>
                  </a:lnTo>
                  <a:lnTo>
                    <a:pt x="65610" y="983244"/>
                  </a:lnTo>
                  <a:lnTo>
                    <a:pt x="2870250" y="983244"/>
                  </a:lnTo>
                  <a:lnTo>
                    <a:pt x="2869462" y="983716"/>
                  </a:lnTo>
                  <a:lnTo>
                    <a:pt x="2863253" y="986646"/>
                  </a:lnTo>
                  <a:lnTo>
                    <a:pt x="2856791" y="988964"/>
                  </a:lnTo>
                  <a:lnTo>
                    <a:pt x="2850198" y="990620"/>
                  </a:lnTo>
                  <a:lnTo>
                    <a:pt x="2843473" y="991614"/>
                  </a:lnTo>
                  <a:lnTo>
                    <a:pt x="2836616" y="991945"/>
                  </a:lnTo>
                  <a:close/>
                </a:path>
                <a:path w="2906395" h="992504">
                  <a:moveTo>
                    <a:pt x="2870250" y="983244"/>
                  </a:moveTo>
                  <a:lnTo>
                    <a:pt x="2840615" y="983244"/>
                  </a:lnTo>
                  <a:lnTo>
                    <a:pt x="2844576" y="982854"/>
                  </a:lnTo>
                  <a:lnTo>
                    <a:pt x="2852421" y="981293"/>
                  </a:lnTo>
                  <a:lnTo>
                    <a:pt x="2885038" y="959499"/>
                  </a:lnTo>
                  <a:lnTo>
                    <a:pt x="2897525" y="926334"/>
                  </a:lnTo>
                  <a:lnTo>
                    <a:pt x="2897525" y="65610"/>
                  </a:lnTo>
                  <a:lnTo>
                    <a:pt x="2882513" y="29368"/>
                  </a:lnTo>
                  <a:lnTo>
                    <a:pt x="2844576" y="9091"/>
                  </a:lnTo>
                  <a:lnTo>
                    <a:pt x="2840615" y="8701"/>
                  </a:lnTo>
                  <a:lnTo>
                    <a:pt x="2870252" y="8701"/>
                  </a:lnTo>
                  <a:lnTo>
                    <a:pt x="2897996" y="36762"/>
                  </a:lnTo>
                  <a:lnTo>
                    <a:pt x="2906226" y="922335"/>
                  </a:lnTo>
                  <a:lnTo>
                    <a:pt x="2905895" y="929192"/>
                  </a:lnTo>
                  <a:lnTo>
                    <a:pt x="2890452" y="966473"/>
                  </a:lnTo>
                  <a:lnTo>
                    <a:pt x="2875412" y="980138"/>
                  </a:lnTo>
                  <a:lnTo>
                    <a:pt x="2870250" y="983244"/>
                  </a:lnTo>
                  <a:close/>
                </a:path>
              </a:pathLst>
            </a:custGeom>
            <a:solidFill>
              <a:srgbClr val="D4A573">
                <a:alpha val="19999"/>
              </a:srgbClr>
            </a:solidFill>
          </p:spPr>
          <p:txBody>
            <a:bodyPr wrap="square" lIns="0" tIns="0" rIns="0" bIns="0" rtlCol="0"/>
            <a:lstStyle/>
            <a:p/>
          </p:txBody>
        </p:sp>
        <p:sp>
          <p:nvSpPr>
            <p:cNvPr id="43" name="object 43"/>
            <p:cNvSpPr/>
            <p:nvPr/>
          </p:nvSpPr>
          <p:spPr>
            <a:xfrm>
              <a:off x="5294727" y="4746547"/>
              <a:ext cx="5203825" cy="1366520"/>
            </a:xfrm>
            <a:custGeom>
              <a:avLst/>
              <a:gdLst/>
              <a:ahLst/>
              <a:cxnLst/>
              <a:rect l="l" t="t" r="r" b="b"/>
              <a:pathLst>
                <a:path w="5203825" h="1366520">
                  <a:moveTo>
                    <a:pt x="5109870" y="1366100"/>
                  </a:moveTo>
                  <a:lnTo>
                    <a:pt x="93494" y="1366100"/>
                  </a:lnTo>
                  <a:lnTo>
                    <a:pt x="86987" y="1365459"/>
                  </a:lnTo>
                  <a:lnTo>
                    <a:pt x="49934" y="1352886"/>
                  </a:lnTo>
                  <a:lnTo>
                    <a:pt x="20514" y="1327091"/>
                  </a:lnTo>
                  <a:lnTo>
                    <a:pt x="3204" y="1292001"/>
                  </a:lnTo>
                  <a:lnTo>
                    <a:pt x="0" y="1272606"/>
                  </a:lnTo>
                  <a:lnTo>
                    <a:pt x="0" y="1266036"/>
                  </a:lnTo>
                  <a:lnTo>
                    <a:pt x="0" y="93494"/>
                  </a:lnTo>
                  <a:lnTo>
                    <a:pt x="10131" y="55701"/>
                  </a:lnTo>
                  <a:lnTo>
                    <a:pt x="33954" y="24662"/>
                  </a:lnTo>
                  <a:lnTo>
                    <a:pt x="67841" y="5102"/>
                  </a:lnTo>
                  <a:lnTo>
                    <a:pt x="93494" y="0"/>
                  </a:lnTo>
                  <a:lnTo>
                    <a:pt x="5109870" y="0"/>
                  </a:lnTo>
                  <a:lnTo>
                    <a:pt x="5147662" y="10130"/>
                  </a:lnTo>
                  <a:lnTo>
                    <a:pt x="5178702" y="33954"/>
                  </a:lnTo>
                  <a:lnTo>
                    <a:pt x="5198262" y="67841"/>
                  </a:lnTo>
                  <a:lnTo>
                    <a:pt x="5203364" y="93494"/>
                  </a:lnTo>
                  <a:lnTo>
                    <a:pt x="5203364" y="1272606"/>
                  </a:lnTo>
                  <a:lnTo>
                    <a:pt x="5193232" y="1310398"/>
                  </a:lnTo>
                  <a:lnTo>
                    <a:pt x="5169410" y="1341437"/>
                  </a:lnTo>
                  <a:lnTo>
                    <a:pt x="5135522" y="1360998"/>
                  </a:lnTo>
                  <a:lnTo>
                    <a:pt x="5116377" y="1365459"/>
                  </a:lnTo>
                  <a:lnTo>
                    <a:pt x="5109870" y="1366100"/>
                  </a:lnTo>
                  <a:close/>
                </a:path>
              </a:pathLst>
            </a:custGeom>
            <a:solidFill>
              <a:srgbClr val="FAFAFA"/>
            </a:solidFill>
          </p:spPr>
          <p:txBody>
            <a:bodyPr wrap="square" lIns="0" tIns="0" rIns="0" bIns="0" rtlCol="0"/>
            <a:lstStyle/>
            <a:p/>
          </p:txBody>
        </p:sp>
        <p:sp>
          <p:nvSpPr>
            <p:cNvPr id="44" name="object 44"/>
            <p:cNvSpPr/>
            <p:nvPr/>
          </p:nvSpPr>
          <p:spPr>
            <a:xfrm>
              <a:off x="5294727" y="4746547"/>
              <a:ext cx="5203825" cy="1366520"/>
            </a:xfrm>
            <a:custGeom>
              <a:avLst/>
              <a:gdLst/>
              <a:ahLst/>
              <a:cxnLst/>
              <a:rect l="l" t="t" r="r" b="b"/>
              <a:pathLst>
                <a:path w="5203825" h="1366520">
                  <a:moveTo>
                    <a:pt x="0" y="1266036"/>
                  </a:moveTo>
                  <a:lnTo>
                    <a:pt x="0" y="100064"/>
                  </a:lnTo>
                  <a:lnTo>
                    <a:pt x="0" y="93494"/>
                  </a:lnTo>
                  <a:lnTo>
                    <a:pt x="640" y="86986"/>
                  </a:lnTo>
                  <a:lnTo>
                    <a:pt x="13213" y="49934"/>
                  </a:lnTo>
                  <a:lnTo>
                    <a:pt x="16863" y="44471"/>
                  </a:lnTo>
                  <a:lnTo>
                    <a:pt x="20514" y="39008"/>
                  </a:lnTo>
                  <a:lnTo>
                    <a:pt x="24662" y="33954"/>
                  </a:lnTo>
                  <a:lnTo>
                    <a:pt x="29308" y="29308"/>
                  </a:lnTo>
                  <a:lnTo>
                    <a:pt x="33954" y="24662"/>
                  </a:lnTo>
                  <a:lnTo>
                    <a:pt x="39008" y="20513"/>
                  </a:lnTo>
                  <a:lnTo>
                    <a:pt x="44471" y="16863"/>
                  </a:lnTo>
                  <a:lnTo>
                    <a:pt x="49934" y="13213"/>
                  </a:lnTo>
                  <a:lnTo>
                    <a:pt x="55701" y="10130"/>
                  </a:lnTo>
                  <a:lnTo>
                    <a:pt x="61771" y="7616"/>
                  </a:lnTo>
                  <a:lnTo>
                    <a:pt x="67841" y="5102"/>
                  </a:lnTo>
                  <a:lnTo>
                    <a:pt x="74098" y="3204"/>
                  </a:lnTo>
                  <a:lnTo>
                    <a:pt x="80542" y="1922"/>
                  </a:lnTo>
                  <a:lnTo>
                    <a:pt x="86987" y="640"/>
                  </a:lnTo>
                  <a:lnTo>
                    <a:pt x="93494" y="0"/>
                  </a:lnTo>
                  <a:lnTo>
                    <a:pt x="100064" y="0"/>
                  </a:lnTo>
                  <a:lnTo>
                    <a:pt x="5103300" y="0"/>
                  </a:lnTo>
                  <a:lnTo>
                    <a:pt x="5109870" y="0"/>
                  </a:lnTo>
                  <a:lnTo>
                    <a:pt x="5116377" y="641"/>
                  </a:lnTo>
                  <a:lnTo>
                    <a:pt x="5122821" y="1922"/>
                  </a:lnTo>
                  <a:lnTo>
                    <a:pt x="5129265" y="3204"/>
                  </a:lnTo>
                  <a:lnTo>
                    <a:pt x="5135522" y="5102"/>
                  </a:lnTo>
                  <a:lnTo>
                    <a:pt x="5141592" y="7616"/>
                  </a:lnTo>
                  <a:lnTo>
                    <a:pt x="5147662" y="10130"/>
                  </a:lnTo>
                  <a:lnTo>
                    <a:pt x="5153429" y="13213"/>
                  </a:lnTo>
                  <a:lnTo>
                    <a:pt x="5158892" y="16863"/>
                  </a:lnTo>
                  <a:lnTo>
                    <a:pt x="5164356" y="20513"/>
                  </a:lnTo>
                  <a:lnTo>
                    <a:pt x="5169410" y="24662"/>
                  </a:lnTo>
                  <a:lnTo>
                    <a:pt x="5174056" y="29308"/>
                  </a:lnTo>
                  <a:lnTo>
                    <a:pt x="5178702" y="33954"/>
                  </a:lnTo>
                  <a:lnTo>
                    <a:pt x="5198262" y="67841"/>
                  </a:lnTo>
                  <a:lnTo>
                    <a:pt x="5201441" y="80542"/>
                  </a:lnTo>
                  <a:lnTo>
                    <a:pt x="5202723" y="86986"/>
                  </a:lnTo>
                  <a:lnTo>
                    <a:pt x="5203364" y="93494"/>
                  </a:lnTo>
                  <a:lnTo>
                    <a:pt x="5203364" y="100064"/>
                  </a:lnTo>
                  <a:lnTo>
                    <a:pt x="5203364" y="1266036"/>
                  </a:lnTo>
                  <a:lnTo>
                    <a:pt x="5203364" y="1272606"/>
                  </a:lnTo>
                  <a:lnTo>
                    <a:pt x="5202723" y="1279113"/>
                  </a:lnTo>
                  <a:lnTo>
                    <a:pt x="5201441" y="1285557"/>
                  </a:lnTo>
                  <a:lnTo>
                    <a:pt x="5200160" y="1292001"/>
                  </a:lnTo>
                  <a:lnTo>
                    <a:pt x="5182850" y="1327091"/>
                  </a:lnTo>
                  <a:lnTo>
                    <a:pt x="5174056" y="1336791"/>
                  </a:lnTo>
                  <a:lnTo>
                    <a:pt x="5169410" y="1341437"/>
                  </a:lnTo>
                  <a:lnTo>
                    <a:pt x="5135522" y="1360998"/>
                  </a:lnTo>
                  <a:lnTo>
                    <a:pt x="5122821" y="1364177"/>
                  </a:lnTo>
                  <a:lnTo>
                    <a:pt x="5116377" y="1365459"/>
                  </a:lnTo>
                  <a:lnTo>
                    <a:pt x="5109870" y="1366100"/>
                  </a:lnTo>
                  <a:lnTo>
                    <a:pt x="5103300" y="1366100"/>
                  </a:lnTo>
                  <a:lnTo>
                    <a:pt x="100064" y="1366100"/>
                  </a:lnTo>
                  <a:lnTo>
                    <a:pt x="93494" y="1366100"/>
                  </a:lnTo>
                  <a:lnTo>
                    <a:pt x="86987" y="1365459"/>
                  </a:lnTo>
                  <a:lnTo>
                    <a:pt x="80542" y="1364177"/>
                  </a:lnTo>
                  <a:lnTo>
                    <a:pt x="74098" y="1362896"/>
                  </a:lnTo>
                  <a:lnTo>
                    <a:pt x="67841" y="1360998"/>
                  </a:lnTo>
                  <a:lnTo>
                    <a:pt x="61771" y="1358483"/>
                  </a:lnTo>
                  <a:lnTo>
                    <a:pt x="55701" y="1355968"/>
                  </a:lnTo>
                  <a:lnTo>
                    <a:pt x="29308" y="1336791"/>
                  </a:lnTo>
                  <a:lnTo>
                    <a:pt x="24662" y="1332145"/>
                  </a:lnTo>
                  <a:lnTo>
                    <a:pt x="5102" y="1298258"/>
                  </a:lnTo>
                  <a:lnTo>
                    <a:pt x="1922" y="1285557"/>
                  </a:lnTo>
                  <a:lnTo>
                    <a:pt x="640" y="1279113"/>
                  </a:lnTo>
                  <a:lnTo>
                    <a:pt x="0" y="1272606"/>
                  </a:lnTo>
                  <a:lnTo>
                    <a:pt x="0" y="1266036"/>
                  </a:lnTo>
                  <a:close/>
                </a:path>
              </a:pathLst>
            </a:custGeom>
            <a:ln w="8701">
              <a:solidFill>
                <a:srgbClr val="F5F5F5"/>
              </a:solidFill>
            </a:ln>
          </p:spPr>
          <p:txBody>
            <a:bodyPr wrap="square" lIns="0" tIns="0" rIns="0" bIns="0" rtlCol="0"/>
            <a:lstStyle/>
            <a:p/>
          </p:txBody>
        </p:sp>
      </p:grpSp>
      <p:sp>
        <p:nvSpPr>
          <p:cNvPr id="45" name="object 45"/>
          <p:cNvSpPr txBox="1"/>
          <p:nvPr/>
        </p:nvSpPr>
        <p:spPr>
          <a:xfrm>
            <a:off x="5392425" y="5192000"/>
            <a:ext cx="521970" cy="394335"/>
          </a:xfrm>
          <a:prstGeom prst="rect">
            <a:avLst/>
          </a:prstGeom>
        </p:spPr>
        <p:txBody>
          <a:bodyPr vert="horz" wrap="square" lIns="0" tIns="64769" rIns="0" bIns="0" rtlCol="0">
            <a:spAutoFit/>
          </a:bodyPr>
          <a:lstStyle/>
          <a:p>
            <a:pPr marL="12700">
              <a:lnSpc>
                <a:spcPct val="100000"/>
              </a:lnSpc>
              <a:spcBef>
                <a:spcPts val="510"/>
              </a:spcBef>
            </a:pPr>
            <a:r>
              <a:rPr sz="950" spc="-10" dirty="0">
                <a:solidFill>
                  <a:srgbClr val="111726"/>
                </a:solidFill>
                <a:latin typeface="Calibri" panose="020F0502020204030204"/>
                <a:cs typeface="Calibri" panose="020F0502020204030204"/>
              </a:rPr>
              <a:t>Normalize</a:t>
            </a:r>
            <a:endParaRPr sz="950">
              <a:latin typeface="Calibri" panose="020F0502020204030204"/>
              <a:cs typeface="Calibri" panose="020F0502020204030204"/>
            </a:endParaRPr>
          </a:p>
          <a:p>
            <a:pPr marL="12700">
              <a:lnSpc>
                <a:spcPct val="100000"/>
              </a:lnSpc>
              <a:spcBef>
                <a:spcPts val="330"/>
              </a:spcBef>
            </a:pPr>
            <a:r>
              <a:rPr sz="850" spc="-100" dirty="0">
                <a:solidFill>
                  <a:srgbClr val="6A7280"/>
                </a:solidFill>
                <a:latin typeface="宋体" panose="02010600030101010101" pitchFamily="2" charset="-122"/>
                <a:cs typeface="宋体" panose="02010600030101010101" pitchFamily="2" charset="-122"/>
              </a:rPr>
              <a:t>权重重调整</a:t>
            </a:r>
            <a:endParaRPr sz="850">
              <a:latin typeface="宋体" panose="02010600030101010101" pitchFamily="2" charset="-122"/>
              <a:cs typeface="宋体" panose="02010600030101010101" pitchFamily="2" charset="-122"/>
            </a:endParaRPr>
          </a:p>
        </p:txBody>
      </p:sp>
      <p:grpSp>
        <p:nvGrpSpPr>
          <p:cNvPr id="46" name="object 46"/>
          <p:cNvGrpSpPr/>
          <p:nvPr/>
        </p:nvGrpSpPr>
        <p:grpSpPr>
          <a:xfrm>
            <a:off x="7483005" y="4855219"/>
            <a:ext cx="2907030" cy="1149350"/>
            <a:chOff x="7483005" y="4855219"/>
            <a:chExt cx="2907030" cy="1149350"/>
          </a:xfrm>
        </p:grpSpPr>
        <p:sp>
          <p:nvSpPr>
            <p:cNvPr id="47" name="object 47"/>
            <p:cNvSpPr/>
            <p:nvPr/>
          </p:nvSpPr>
          <p:spPr>
            <a:xfrm>
              <a:off x="7487450" y="4859664"/>
              <a:ext cx="2898140" cy="1140460"/>
            </a:xfrm>
            <a:custGeom>
              <a:avLst/>
              <a:gdLst/>
              <a:ahLst/>
              <a:cxnLst/>
              <a:rect l="l" t="t" r="r" b="b"/>
              <a:pathLst>
                <a:path w="2898140" h="1140460">
                  <a:moveTo>
                    <a:pt x="2836551" y="1139867"/>
                  </a:moveTo>
                  <a:lnTo>
                    <a:pt x="60974" y="1139867"/>
                  </a:lnTo>
                  <a:lnTo>
                    <a:pt x="56730" y="1139449"/>
                  </a:lnTo>
                  <a:lnTo>
                    <a:pt x="16083" y="1117723"/>
                  </a:lnTo>
                  <a:lnTo>
                    <a:pt x="0" y="1078892"/>
                  </a:lnTo>
                  <a:lnTo>
                    <a:pt x="0" y="1074607"/>
                  </a:lnTo>
                  <a:lnTo>
                    <a:pt x="0" y="60974"/>
                  </a:lnTo>
                  <a:lnTo>
                    <a:pt x="16083" y="22143"/>
                  </a:lnTo>
                  <a:lnTo>
                    <a:pt x="56730" y="417"/>
                  </a:lnTo>
                  <a:lnTo>
                    <a:pt x="60974" y="0"/>
                  </a:lnTo>
                  <a:lnTo>
                    <a:pt x="2836551" y="0"/>
                  </a:lnTo>
                  <a:lnTo>
                    <a:pt x="2875381" y="16083"/>
                  </a:lnTo>
                  <a:lnTo>
                    <a:pt x="2897107" y="56730"/>
                  </a:lnTo>
                  <a:lnTo>
                    <a:pt x="2897525" y="60974"/>
                  </a:lnTo>
                  <a:lnTo>
                    <a:pt x="2897525" y="1078892"/>
                  </a:lnTo>
                  <a:lnTo>
                    <a:pt x="2881441" y="1117723"/>
                  </a:lnTo>
                  <a:lnTo>
                    <a:pt x="2840795" y="1139449"/>
                  </a:lnTo>
                  <a:lnTo>
                    <a:pt x="2836551" y="1139867"/>
                  </a:lnTo>
                  <a:close/>
                </a:path>
              </a:pathLst>
            </a:custGeom>
            <a:solidFill>
              <a:srgbClr val="FFFFFF"/>
            </a:solidFill>
          </p:spPr>
          <p:txBody>
            <a:bodyPr wrap="square" lIns="0" tIns="0" rIns="0" bIns="0" rtlCol="0"/>
            <a:lstStyle/>
            <a:p/>
          </p:txBody>
        </p:sp>
        <p:sp>
          <p:nvSpPr>
            <p:cNvPr id="48" name="object 48"/>
            <p:cNvSpPr/>
            <p:nvPr/>
          </p:nvSpPr>
          <p:spPr>
            <a:xfrm>
              <a:off x="7487450" y="4859664"/>
              <a:ext cx="2898140" cy="1140460"/>
            </a:xfrm>
            <a:custGeom>
              <a:avLst/>
              <a:gdLst/>
              <a:ahLst/>
              <a:cxnLst/>
              <a:rect l="l" t="t" r="r" b="b"/>
              <a:pathLst>
                <a:path w="2898140" h="1140460">
                  <a:moveTo>
                    <a:pt x="0" y="1074607"/>
                  </a:moveTo>
                  <a:lnTo>
                    <a:pt x="0" y="65259"/>
                  </a:lnTo>
                  <a:lnTo>
                    <a:pt x="0" y="60974"/>
                  </a:lnTo>
                  <a:lnTo>
                    <a:pt x="417" y="56730"/>
                  </a:lnTo>
                  <a:lnTo>
                    <a:pt x="19114" y="19113"/>
                  </a:lnTo>
                  <a:lnTo>
                    <a:pt x="22144" y="16083"/>
                  </a:lnTo>
                  <a:lnTo>
                    <a:pt x="60974" y="0"/>
                  </a:lnTo>
                  <a:lnTo>
                    <a:pt x="65259" y="0"/>
                  </a:lnTo>
                  <a:lnTo>
                    <a:pt x="2832266" y="0"/>
                  </a:lnTo>
                  <a:lnTo>
                    <a:pt x="2836551" y="0"/>
                  </a:lnTo>
                  <a:lnTo>
                    <a:pt x="2840795" y="417"/>
                  </a:lnTo>
                  <a:lnTo>
                    <a:pt x="2844998" y="1253"/>
                  </a:lnTo>
                  <a:lnTo>
                    <a:pt x="2849200" y="2089"/>
                  </a:lnTo>
                  <a:lnTo>
                    <a:pt x="2853280" y="3327"/>
                  </a:lnTo>
                  <a:lnTo>
                    <a:pt x="2857239" y="4967"/>
                  </a:lnTo>
                  <a:lnTo>
                    <a:pt x="2861198" y="6606"/>
                  </a:lnTo>
                  <a:lnTo>
                    <a:pt x="2864959" y="8617"/>
                  </a:lnTo>
                  <a:lnTo>
                    <a:pt x="2868521" y="10997"/>
                  </a:lnTo>
                  <a:lnTo>
                    <a:pt x="2872084" y="13378"/>
                  </a:lnTo>
                  <a:lnTo>
                    <a:pt x="2886527" y="29003"/>
                  </a:lnTo>
                  <a:lnTo>
                    <a:pt x="2888907" y="32565"/>
                  </a:lnTo>
                  <a:lnTo>
                    <a:pt x="2890918" y="36326"/>
                  </a:lnTo>
                  <a:lnTo>
                    <a:pt x="2892557" y="40285"/>
                  </a:lnTo>
                  <a:lnTo>
                    <a:pt x="2894197" y="44244"/>
                  </a:lnTo>
                  <a:lnTo>
                    <a:pt x="2895435" y="48324"/>
                  </a:lnTo>
                  <a:lnTo>
                    <a:pt x="2896270" y="52527"/>
                  </a:lnTo>
                  <a:lnTo>
                    <a:pt x="2897107" y="56730"/>
                  </a:lnTo>
                  <a:lnTo>
                    <a:pt x="2897525" y="60974"/>
                  </a:lnTo>
                  <a:lnTo>
                    <a:pt x="2897525" y="65259"/>
                  </a:lnTo>
                  <a:lnTo>
                    <a:pt x="2897525" y="1074607"/>
                  </a:lnTo>
                  <a:lnTo>
                    <a:pt x="2897525" y="1078892"/>
                  </a:lnTo>
                  <a:lnTo>
                    <a:pt x="2897107" y="1083136"/>
                  </a:lnTo>
                  <a:lnTo>
                    <a:pt x="2896270" y="1087339"/>
                  </a:lnTo>
                  <a:lnTo>
                    <a:pt x="2895435" y="1091542"/>
                  </a:lnTo>
                  <a:lnTo>
                    <a:pt x="2894197" y="1095622"/>
                  </a:lnTo>
                  <a:lnTo>
                    <a:pt x="2892557" y="1099581"/>
                  </a:lnTo>
                  <a:lnTo>
                    <a:pt x="2890918" y="1103539"/>
                  </a:lnTo>
                  <a:lnTo>
                    <a:pt x="2861198" y="1133259"/>
                  </a:lnTo>
                  <a:lnTo>
                    <a:pt x="2832266" y="1139867"/>
                  </a:lnTo>
                  <a:lnTo>
                    <a:pt x="65259" y="1139867"/>
                  </a:lnTo>
                  <a:lnTo>
                    <a:pt x="25440" y="1126487"/>
                  </a:lnTo>
                  <a:lnTo>
                    <a:pt x="19114" y="1120753"/>
                  </a:lnTo>
                  <a:lnTo>
                    <a:pt x="16083" y="1117723"/>
                  </a:lnTo>
                  <a:lnTo>
                    <a:pt x="4967" y="1099581"/>
                  </a:lnTo>
                  <a:lnTo>
                    <a:pt x="3327" y="1095622"/>
                  </a:lnTo>
                  <a:lnTo>
                    <a:pt x="2089" y="1091542"/>
                  </a:lnTo>
                  <a:lnTo>
                    <a:pt x="1253" y="1087339"/>
                  </a:lnTo>
                  <a:lnTo>
                    <a:pt x="417" y="1083136"/>
                  </a:lnTo>
                  <a:lnTo>
                    <a:pt x="0" y="1078892"/>
                  </a:lnTo>
                  <a:lnTo>
                    <a:pt x="0" y="1074607"/>
                  </a:lnTo>
                  <a:close/>
                </a:path>
              </a:pathLst>
            </a:custGeom>
            <a:ln w="8701">
              <a:solidFill>
                <a:srgbClr val="F2F4F5"/>
              </a:solidFill>
            </a:ln>
          </p:spPr>
          <p:txBody>
            <a:bodyPr wrap="square" lIns="0" tIns="0" rIns="0" bIns="0" rtlCol="0"/>
            <a:lstStyle/>
            <a:p/>
          </p:txBody>
        </p:sp>
      </p:grpSp>
      <p:sp>
        <p:nvSpPr>
          <p:cNvPr id="49" name="object 49"/>
          <p:cNvSpPr txBox="1"/>
          <p:nvPr/>
        </p:nvSpPr>
        <p:spPr>
          <a:xfrm>
            <a:off x="8359177" y="2602904"/>
            <a:ext cx="1156970" cy="175895"/>
          </a:xfrm>
          <a:prstGeom prst="rect">
            <a:avLst/>
          </a:prstGeom>
        </p:spPr>
        <p:txBody>
          <a:bodyPr vert="horz" wrap="square" lIns="0" tIns="17145" rIns="0" bIns="0" rtlCol="0">
            <a:spAutoFit/>
          </a:bodyPr>
          <a:lstStyle/>
          <a:p>
            <a:pPr marL="38100">
              <a:lnSpc>
                <a:spcPct val="100000"/>
              </a:lnSpc>
              <a:spcBef>
                <a:spcPts val="135"/>
              </a:spcBef>
            </a:pPr>
            <a:r>
              <a:rPr sz="950" spc="229" dirty="0">
                <a:solidFill>
                  <a:srgbClr val="1A1A1A"/>
                </a:solidFill>
                <a:latin typeface="Calibri" panose="020F0502020204030204"/>
                <a:cs typeface="Calibri" panose="020F0502020204030204"/>
              </a:rPr>
              <a:t>M</a:t>
            </a:r>
            <a:r>
              <a:rPr sz="1050" i="1" spc="345" baseline="-12000" dirty="0">
                <a:solidFill>
                  <a:srgbClr val="1A1A1A"/>
                </a:solidFill>
                <a:latin typeface="Calibri" panose="020F0502020204030204"/>
                <a:cs typeface="Calibri" panose="020F0502020204030204"/>
              </a:rPr>
              <a:t>j</a:t>
            </a:r>
            <a:r>
              <a:rPr sz="1050" i="1" spc="307" baseline="-12000" dirty="0">
                <a:solidFill>
                  <a:srgbClr val="1A1A1A"/>
                </a:solidFill>
                <a:latin typeface="Calibri" panose="020F0502020204030204"/>
                <a:cs typeface="Calibri" panose="020F0502020204030204"/>
              </a:rPr>
              <a:t> </a:t>
            </a:r>
            <a:r>
              <a:rPr sz="950" spc="240" dirty="0">
                <a:solidFill>
                  <a:srgbClr val="1A1A1A"/>
                </a:solidFill>
                <a:latin typeface="Cambria" panose="02040503050406030204"/>
                <a:cs typeface="Cambria" panose="02040503050406030204"/>
              </a:rPr>
              <a:t>=</a:t>
            </a:r>
            <a:r>
              <a:rPr sz="950" spc="60" dirty="0">
                <a:solidFill>
                  <a:srgbClr val="1A1A1A"/>
                </a:solidFill>
                <a:latin typeface="Cambria" panose="02040503050406030204"/>
                <a:cs typeface="Cambria" panose="02040503050406030204"/>
              </a:rPr>
              <a:t> </a:t>
            </a:r>
            <a:r>
              <a:rPr sz="950" spc="50" dirty="0">
                <a:solidFill>
                  <a:srgbClr val="1A1A1A"/>
                </a:solidFill>
                <a:latin typeface="Cambria" panose="02040503050406030204"/>
                <a:cs typeface="Cambria" panose="02040503050406030204"/>
              </a:rPr>
              <a:t>Softmax(</a:t>
            </a:r>
            <a:r>
              <a:rPr sz="950" spc="50" dirty="0">
                <a:solidFill>
                  <a:srgbClr val="1A1A1A"/>
                </a:solidFill>
                <a:latin typeface="Calibri" panose="020F0502020204030204"/>
                <a:cs typeface="Calibri" panose="020F0502020204030204"/>
              </a:rPr>
              <a:t>M</a:t>
            </a:r>
            <a:r>
              <a:rPr sz="1050" i="1" spc="75" baseline="-12000" dirty="0">
                <a:solidFill>
                  <a:srgbClr val="1A1A1A"/>
                </a:solidFill>
                <a:latin typeface="Calibri" panose="020F0502020204030204"/>
                <a:cs typeface="Calibri" panose="020F0502020204030204"/>
              </a:rPr>
              <a:t>j</a:t>
            </a:r>
            <a:r>
              <a:rPr sz="1050" i="1" spc="-120" baseline="-12000" dirty="0">
                <a:solidFill>
                  <a:srgbClr val="1A1A1A"/>
                </a:solidFill>
                <a:latin typeface="Calibri" panose="020F0502020204030204"/>
                <a:cs typeface="Calibri" panose="020F0502020204030204"/>
              </a:rPr>
              <a:t> </a:t>
            </a:r>
            <a:r>
              <a:rPr sz="950" spc="-50" dirty="0">
                <a:solidFill>
                  <a:srgbClr val="1A1A1A"/>
                </a:solidFill>
                <a:latin typeface="Cambria" panose="02040503050406030204"/>
                <a:cs typeface="Cambria" panose="02040503050406030204"/>
              </a:rPr>
              <a:t>)</a:t>
            </a:r>
            <a:endParaRPr sz="950">
              <a:latin typeface="Cambria" panose="02040503050406030204"/>
              <a:cs typeface="Cambria" panose="02040503050406030204"/>
            </a:endParaRPr>
          </a:p>
        </p:txBody>
      </p:sp>
      <p:sp>
        <p:nvSpPr>
          <p:cNvPr id="50" name="object 50"/>
          <p:cNvSpPr txBox="1"/>
          <p:nvPr/>
        </p:nvSpPr>
        <p:spPr>
          <a:xfrm>
            <a:off x="8412584" y="3983536"/>
            <a:ext cx="414020" cy="116839"/>
          </a:xfrm>
          <a:prstGeom prst="rect">
            <a:avLst/>
          </a:prstGeom>
        </p:spPr>
        <p:txBody>
          <a:bodyPr vert="horz" wrap="square" lIns="0" tIns="12065" rIns="0" bIns="0" rtlCol="0">
            <a:spAutoFit/>
          </a:bodyPr>
          <a:lstStyle/>
          <a:p>
            <a:pPr marL="12700">
              <a:lnSpc>
                <a:spcPct val="100000"/>
              </a:lnSpc>
              <a:spcBef>
                <a:spcPts val="95"/>
              </a:spcBef>
              <a:tabLst>
                <a:tab pos="342900" algn="l"/>
              </a:tabLst>
            </a:pPr>
            <a:r>
              <a:rPr sz="600" i="1" spc="60" dirty="0">
                <a:solidFill>
                  <a:srgbClr val="1A1A1A"/>
                </a:solidFill>
                <a:latin typeface="Calibri" panose="020F0502020204030204"/>
                <a:cs typeface="Calibri" panose="020F0502020204030204"/>
              </a:rPr>
              <a:t>ij</a:t>
            </a:r>
            <a:r>
              <a:rPr sz="600" i="1" dirty="0">
                <a:solidFill>
                  <a:srgbClr val="1A1A1A"/>
                </a:solidFill>
                <a:latin typeface="Calibri" panose="020F0502020204030204"/>
                <a:cs typeface="Calibri" panose="020F0502020204030204"/>
              </a:rPr>
              <a:t>	</a:t>
            </a:r>
            <a:r>
              <a:rPr sz="600" i="1" spc="60" dirty="0">
                <a:solidFill>
                  <a:srgbClr val="1A1A1A"/>
                </a:solidFill>
                <a:latin typeface="Calibri" panose="020F0502020204030204"/>
                <a:cs typeface="Calibri" panose="020F0502020204030204"/>
              </a:rPr>
              <a:t>ij</a:t>
            </a:r>
            <a:endParaRPr sz="600">
              <a:latin typeface="Calibri" panose="020F0502020204030204"/>
              <a:cs typeface="Calibri" panose="020F0502020204030204"/>
            </a:endParaRPr>
          </a:p>
        </p:txBody>
      </p:sp>
      <p:sp>
        <p:nvSpPr>
          <p:cNvPr id="51" name="object 51"/>
          <p:cNvSpPr txBox="1"/>
          <p:nvPr/>
        </p:nvSpPr>
        <p:spPr>
          <a:xfrm>
            <a:off x="8290766" y="3933503"/>
            <a:ext cx="676910" cy="156210"/>
          </a:xfrm>
          <a:prstGeom prst="rect">
            <a:avLst/>
          </a:prstGeom>
        </p:spPr>
        <p:txBody>
          <a:bodyPr vert="horz" wrap="square" lIns="0" tIns="13335" rIns="0" bIns="0" rtlCol="0">
            <a:spAutoFit/>
          </a:bodyPr>
          <a:lstStyle/>
          <a:p>
            <a:pPr marL="12700">
              <a:lnSpc>
                <a:spcPct val="100000"/>
              </a:lnSpc>
              <a:spcBef>
                <a:spcPts val="105"/>
              </a:spcBef>
            </a:pPr>
            <a:r>
              <a:rPr sz="850" spc="295" dirty="0">
                <a:solidFill>
                  <a:srgbClr val="1A1A1A"/>
                </a:solidFill>
                <a:latin typeface="Calibri" panose="020F0502020204030204"/>
                <a:cs typeface="Calibri" panose="020F0502020204030204"/>
              </a:rPr>
              <a:t>M</a:t>
            </a:r>
            <a:r>
              <a:rPr sz="850" spc="160" dirty="0">
                <a:solidFill>
                  <a:srgbClr val="1A1A1A"/>
                </a:solidFill>
                <a:latin typeface="Calibri" panose="020F0502020204030204"/>
                <a:cs typeface="Calibri" panose="020F0502020204030204"/>
              </a:rPr>
              <a:t>  </a:t>
            </a:r>
            <a:r>
              <a:rPr sz="850" spc="190" dirty="0">
                <a:solidFill>
                  <a:srgbClr val="1A1A1A"/>
                </a:solidFill>
                <a:latin typeface="Cambria" panose="02040503050406030204"/>
                <a:cs typeface="Cambria" panose="02040503050406030204"/>
              </a:rPr>
              <a:t>=</a:t>
            </a:r>
            <a:r>
              <a:rPr sz="850" dirty="0">
                <a:solidFill>
                  <a:srgbClr val="1A1A1A"/>
                </a:solidFill>
                <a:latin typeface="Cambria" panose="02040503050406030204"/>
                <a:cs typeface="Cambria" panose="02040503050406030204"/>
              </a:rPr>
              <a:t> </a:t>
            </a:r>
            <a:r>
              <a:rPr sz="850" spc="295" dirty="0">
                <a:solidFill>
                  <a:srgbClr val="1A1A1A"/>
                </a:solidFill>
                <a:latin typeface="Calibri" panose="020F0502020204030204"/>
                <a:cs typeface="Calibri" panose="020F0502020204030204"/>
              </a:rPr>
              <a:t>M</a:t>
            </a:r>
            <a:r>
              <a:rPr sz="850" spc="470" dirty="0">
                <a:solidFill>
                  <a:srgbClr val="1A1A1A"/>
                </a:solidFill>
                <a:latin typeface="Calibri" panose="020F0502020204030204"/>
                <a:cs typeface="Calibri" panose="020F0502020204030204"/>
              </a:rPr>
              <a:t> </a:t>
            </a:r>
            <a:r>
              <a:rPr sz="850" dirty="0">
                <a:solidFill>
                  <a:srgbClr val="1A1A1A"/>
                </a:solidFill>
                <a:latin typeface="Cambria" panose="02040503050406030204"/>
                <a:cs typeface="Cambria" panose="02040503050406030204"/>
              </a:rPr>
              <a:t>⋅</a:t>
            </a:r>
            <a:r>
              <a:rPr sz="850" spc="-30" dirty="0">
                <a:solidFill>
                  <a:srgbClr val="1A1A1A"/>
                </a:solidFill>
                <a:latin typeface="Cambria" panose="02040503050406030204"/>
                <a:cs typeface="Cambria" panose="02040503050406030204"/>
              </a:rPr>
              <a:t> </a:t>
            </a:r>
            <a:r>
              <a:rPr sz="850" spc="-50" dirty="0">
                <a:solidFill>
                  <a:srgbClr val="1A1A1A"/>
                </a:solidFill>
                <a:latin typeface="Cambria" panose="02040503050406030204"/>
                <a:cs typeface="Cambria" panose="02040503050406030204"/>
              </a:rPr>
              <a:t>1</a:t>
            </a:r>
            <a:endParaRPr sz="850">
              <a:latin typeface="Cambria" panose="02040503050406030204"/>
              <a:cs typeface="Cambria" panose="02040503050406030204"/>
            </a:endParaRPr>
          </a:p>
        </p:txBody>
      </p:sp>
      <p:sp>
        <p:nvSpPr>
          <p:cNvPr id="52" name="object 52"/>
          <p:cNvSpPr txBox="1"/>
          <p:nvPr/>
        </p:nvSpPr>
        <p:spPr>
          <a:xfrm>
            <a:off x="8914700" y="4000938"/>
            <a:ext cx="679450" cy="116839"/>
          </a:xfrm>
          <a:prstGeom prst="rect">
            <a:avLst/>
          </a:prstGeom>
        </p:spPr>
        <p:txBody>
          <a:bodyPr vert="horz" wrap="square" lIns="0" tIns="12065" rIns="0" bIns="0" rtlCol="0">
            <a:spAutoFit/>
          </a:bodyPr>
          <a:lstStyle/>
          <a:p>
            <a:pPr marL="38100">
              <a:lnSpc>
                <a:spcPct val="100000"/>
              </a:lnSpc>
              <a:spcBef>
                <a:spcPts val="95"/>
              </a:spcBef>
            </a:pPr>
            <a:r>
              <a:rPr sz="900" spc="112" baseline="5000" dirty="0">
                <a:solidFill>
                  <a:srgbClr val="1A1A1A"/>
                </a:solidFill>
                <a:latin typeface="Cambria" panose="02040503050406030204"/>
                <a:cs typeface="Cambria" panose="02040503050406030204"/>
              </a:rPr>
              <a:t>(</a:t>
            </a:r>
            <a:r>
              <a:rPr sz="900" spc="112" baseline="5000" dirty="0">
                <a:solidFill>
                  <a:srgbClr val="1A1A1A"/>
                </a:solidFill>
                <a:latin typeface="Calibri" panose="020F0502020204030204"/>
                <a:cs typeface="Calibri" panose="020F0502020204030204"/>
              </a:rPr>
              <a:t>M</a:t>
            </a:r>
            <a:r>
              <a:rPr sz="400" i="1" spc="75" dirty="0">
                <a:solidFill>
                  <a:srgbClr val="1A1A1A"/>
                </a:solidFill>
                <a:latin typeface="Calibri" panose="020F0502020204030204"/>
                <a:cs typeface="Calibri" panose="020F0502020204030204"/>
              </a:rPr>
              <a:t>ij</a:t>
            </a:r>
            <a:r>
              <a:rPr sz="900" spc="112" baseline="5000" dirty="0">
                <a:solidFill>
                  <a:srgbClr val="1A1A1A"/>
                </a:solidFill>
                <a:latin typeface="Cambria" panose="02040503050406030204"/>
                <a:cs typeface="Cambria" panose="02040503050406030204"/>
              </a:rPr>
              <a:t>−</a:t>
            </a:r>
            <a:r>
              <a:rPr sz="900" i="1" spc="112" baseline="5000" dirty="0">
                <a:solidFill>
                  <a:srgbClr val="1A1A1A"/>
                </a:solidFill>
                <a:latin typeface="Calibri" panose="020F0502020204030204"/>
                <a:cs typeface="Calibri" panose="020F0502020204030204"/>
              </a:rPr>
              <a:t>μ</a:t>
            </a:r>
            <a:r>
              <a:rPr sz="900" spc="112" baseline="5000" dirty="0">
                <a:solidFill>
                  <a:srgbClr val="1A1A1A"/>
                </a:solidFill>
                <a:latin typeface="Cambria" panose="02040503050406030204"/>
                <a:cs typeface="Cambria" panose="02040503050406030204"/>
              </a:rPr>
              <a:t>(</a:t>
            </a:r>
            <a:r>
              <a:rPr sz="900" spc="112" baseline="5000" dirty="0">
                <a:solidFill>
                  <a:srgbClr val="1A1A1A"/>
                </a:solidFill>
                <a:latin typeface="Calibri" panose="020F0502020204030204"/>
                <a:cs typeface="Calibri" panose="020F0502020204030204"/>
              </a:rPr>
              <a:t>M</a:t>
            </a:r>
            <a:r>
              <a:rPr sz="400" i="1" spc="75" dirty="0">
                <a:solidFill>
                  <a:srgbClr val="1A1A1A"/>
                </a:solidFill>
                <a:latin typeface="Calibri" panose="020F0502020204030204"/>
                <a:cs typeface="Calibri" panose="020F0502020204030204"/>
              </a:rPr>
              <a:t>j</a:t>
            </a:r>
            <a:r>
              <a:rPr sz="900" spc="112" baseline="5000" dirty="0">
                <a:solidFill>
                  <a:srgbClr val="1A1A1A"/>
                </a:solidFill>
                <a:latin typeface="Cambria" panose="02040503050406030204"/>
                <a:cs typeface="Cambria" panose="02040503050406030204"/>
              </a:rPr>
              <a:t>))≥0</a:t>
            </a:r>
            <a:endParaRPr sz="900" baseline="5000">
              <a:latin typeface="Cambria" panose="02040503050406030204"/>
              <a:cs typeface="Cambria" panose="02040503050406030204"/>
            </a:endParaRPr>
          </a:p>
        </p:txBody>
      </p:sp>
      <p:sp>
        <p:nvSpPr>
          <p:cNvPr id="53" name="object 53"/>
          <p:cNvSpPr txBox="1"/>
          <p:nvPr/>
        </p:nvSpPr>
        <p:spPr>
          <a:xfrm>
            <a:off x="8595855" y="5317703"/>
            <a:ext cx="351790" cy="175895"/>
          </a:xfrm>
          <a:prstGeom prst="rect">
            <a:avLst/>
          </a:prstGeom>
        </p:spPr>
        <p:txBody>
          <a:bodyPr vert="horz" wrap="square" lIns="0" tIns="17145" rIns="0" bIns="0" rtlCol="0">
            <a:spAutoFit/>
          </a:bodyPr>
          <a:lstStyle/>
          <a:p>
            <a:pPr marL="12700">
              <a:lnSpc>
                <a:spcPct val="100000"/>
              </a:lnSpc>
              <a:spcBef>
                <a:spcPts val="135"/>
              </a:spcBef>
            </a:pPr>
            <a:r>
              <a:rPr sz="950" spc="365" dirty="0">
                <a:solidFill>
                  <a:srgbClr val="1A1A1A"/>
                </a:solidFill>
                <a:latin typeface="Calibri" panose="020F0502020204030204"/>
                <a:cs typeface="Calibri" panose="020F0502020204030204"/>
              </a:rPr>
              <a:t>M</a:t>
            </a:r>
            <a:r>
              <a:rPr sz="950" spc="395" dirty="0">
                <a:solidFill>
                  <a:srgbClr val="1A1A1A"/>
                </a:solidFill>
                <a:latin typeface="Calibri" panose="020F0502020204030204"/>
                <a:cs typeface="Calibri" panose="020F0502020204030204"/>
              </a:rPr>
              <a:t> </a:t>
            </a:r>
            <a:r>
              <a:rPr sz="950" spc="190" dirty="0">
                <a:solidFill>
                  <a:srgbClr val="1A1A1A"/>
                </a:solidFill>
                <a:latin typeface="Cambria" panose="02040503050406030204"/>
                <a:cs typeface="Cambria" panose="02040503050406030204"/>
              </a:rPr>
              <a:t>=</a:t>
            </a:r>
            <a:endParaRPr sz="950">
              <a:latin typeface="Cambria" panose="02040503050406030204"/>
              <a:cs typeface="Cambria" panose="02040503050406030204"/>
            </a:endParaRPr>
          </a:p>
        </p:txBody>
      </p:sp>
      <p:sp>
        <p:nvSpPr>
          <p:cNvPr id="54" name="object 54"/>
          <p:cNvSpPr txBox="1"/>
          <p:nvPr/>
        </p:nvSpPr>
        <p:spPr>
          <a:xfrm>
            <a:off x="8743777" y="5372695"/>
            <a:ext cx="61594" cy="130810"/>
          </a:xfrm>
          <a:prstGeom prst="rect">
            <a:avLst/>
          </a:prstGeom>
        </p:spPr>
        <p:txBody>
          <a:bodyPr vert="horz" wrap="square" lIns="0" tIns="11430" rIns="0" bIns="0" rtlCol="0">
            <a:spAutoFit/>
          </a:bodyPr>
          <a:lstStyle/>
          <a:p>
            <a:pPr marL="12700">
              <a:lnSpc>
                <a:spcPct val="100000"/>
              </a:lnSpc>
              <a:spcBef>
                <a:spcPts val="90"/>
              </a:spcBef>
            </a:pPr>
            <a:r>
              <a:rPr sz="700" i="1" spc="70" dirty="0">
                <a:solidFill>
                  <a:srgbClr val="1A1A1A"/>
                </a:solidFill>
                <a:latin typeface="Calibri" panose="020F0502020204030204"/>
                <a:cs typeface="Calibri" panose="020F0502020204030204"/>
              </a:rPr>
              <a:t>j</a:t>
            </a:r>
            <a:endParaRPr sz="700">
              <a:latin typeface="Calibri" panose="020F0502020204030204"/>
              <a:cs typeface="Calibri" panose="020F0502020204030204"/>
            </a:endParaRPr>
          </a:p>
        </p:txBody>
      </p:sp>
      <p:sp>
        <p:nvSpPr>
          <p:cNvPr id="55" name="object 55"/>
          <p:cNvSpPr txBox="1"/>
          <p:nvPr/>
        </p:nvSpPr>
        <p:spPr>
          <a:xfrm>
            <a:off x="8944610" y="5396014"/>
            <a:ext cx="339725" cy="175895"/>
          </a:xfrm>
          <a:prstGeom prst="rect">
            <a:avLst/>
          </a:prstGeom>
        </p:spPr>
        <p:txBody>
          <a:bodyPr vert="horz" wrap="square" lIns="0" tIns="17145" rIns="0" bIns="0" rtlCol="0">
            <a:spAutoFit/>
          </a:bodyPr>
          <a:lstStyle/>
          <a:p>
            <a:pPr marL="38100">
              <a:lnSpc>
                <a:spcPct val="100000"/>
              </a:lnSpc>
              <a:spcBef>
                <a:spcPts val="135"/>
              </a:spcBef>
            </a:pPr>
            <a:r>
              <a:rPr sz="950" spc="150" dirty="0">
                <a:solidFill>
                  <a:srgbClr val="1A1A1A"/>
                </a:solidFill>
                <a:latin typeface="Cambria" panose="02040503050406030204"/>
                <a:cs typeface="Cambria" panose="02040503050406030204"/>
              </a:rPr>
              <a:t>∣</a:t>
            </a:r>
            <a:r>
              <a:rPr sz="950" spc="150" dirty="0">
                <a:solidFill>
                  <a:srgbClr val="1A1A1A"/>
                </a:solidFill>
                <a:latin typeface="Calibri" panose="020F0502020204030204"/>
                <a:cs typeface="Calibri" panose="020F0502020204030204"/>
              </a:rPr>
              <a:t>M</a:t>
            </a:r>
            <a:r>
              <a:rPr sz="1050" i="1" spc="225" baseline="-16000" dirty="0">
                <a:solidFill>
                  <a:srgbClr val="1A1A1A"/>
                </a:solidFill>
                <a:latin typeface="Calibri" panose="020F0502020204030204"/>
                <a:cs typeface="Calibri" panose="020F0502020204030204"/>
              </a:rPr>
              <a:t>j</a:t>
            </a:r>
            <a:r>
              <a:rPr sz="1050" i="1" spc="-127" baseline="-16000" dirty="0">
                <a:solidFill>
                  <a:srgbClr val="1A1A1A"/>
                </a:solidFill>
                <a:latin typeface="Calibri" panose="020F0502020204030204"/>
                <a:cs typeface="Calibri" panose="020F0502020204030204"/>
              </a:rPr>
              <a:t> </a:t>
            </a:r>
            <a:r>
              <a:rPr sz="950" spc="-50" dirty="0">
                <a:solidFill>
                  <a:srgbClr val="1A1A1A"/>
                </a:solidFill>
                <a:latin typeface="Cambria" panose="02040503050406030204"/>
                <a:cs typeface="Cambria" panose="02040503050406030204"/>
              </a:rPr>
              <a:t>∣</a:t>
            </a:r>
            <a:endParaRPr sz="950">
              <a:latin typeface="Cambria" panose="02040503050406030204"/>
              <a:cs typeface="Cambria" panose="02040503050406030204"/>
            </a:endParaRPr>
          </a:p>
        </p:txBody>
      </p:sp>
      <p:sp>
        <p:nvSpPr>
          <p:cNvPr id="56" name="object 56"/>
          <p:cNvSpPr txBox="1"/>
          <p:nvPr/>
        </p:nvSpPr>
        <p:spPr>
          <a:xfrm>
            <a:off x="8967019" y="5230690"/>
            <a:ext cx="213995" cy="175895"/>
          </a:xfrm>
          <a:prstGeom prst="rect">
            <a:avLst/>
          </a:prstGeom>
        </p:spPr>
        <p:txBody>
          <a:bodyPr vert="horz" wrap="square" lIns="0" tIns="17145" rIns="0" bIns="0" rtlCol="0">
            <a:spAutoFit/>
          </a:bodyPr>
          <a:lstStyle/>
          <a:p>
            <a:pPr marL="12700">
              <a:lnSpc>
                <a:spcPct val="100000"/>
              </a:lnSpc>
              <a:spcBef>
                <a:spcPts val="135"/>
              </a:spcBef>
            </a:pPr>
            <a:r>
              <a:rPr sz="950" u="sng" spc="145" dirty="0">
                <a:solidFill>
                  <a:srgbClr val="1A1A1A"/>
                </a:solidFill>
                <a:uFill>
                  <a:solidFill>
                    <a:srgbClr val="1A1A1A"/>
                  </a:solidFill>
                </a:uFill>
                <a:latin typeface="Calibri" panose="020F0502020204030204"/>
                <a:cs typeface="Calibri" panose="020F0502020204030204"/>
              </a:rPr>
              <a:t> </a:t>
            </a:r>
            <a:r>
              <a:rPr sz="950" u="sng" spc="315" dirty="0">
                <a:solidFill>
                  <a:srgbClr val="1A1A1A"/>
                </a:solidFill>
                <a:uFill>
                  <a:solidFill>
                    <a:srgbClr val="1A1A1A"/>
                  </a:solidFill>
                </a:uFill>
                <a:latin typeface="Calibri" panose="020F0502020204030204"/>
                <a:cs typeface="Calibri" panose="020F0502020204030204"/>
              </a:rPr>
              <a:t>M</a:t>
            </a:r>
            <a:endParaRPr sz="950">
              <a:latin typeface="Calibri" panose="020F0502020204030204"/>
              <a:cs typeface="Calibri" panose="020F0502020204030204"/>
            </a:endParaRPr>
          </a:p>
        </p:txBody>
      </p:sp>
      <p:sp>
        <p:nvSpPr>
          <p:cNvPr id="57" name="object 57"/>
          <p:cNvSpPr txBox="1"/>
          <p:nvPr/>
        </p:nvSpPr>
        <p:spPr>
          <a:xfrm>
            <a:off x="9152737" y="5285682"/>
            <a:ext cx="61594" cy="130810"/>
          </a:xfrm>
          <a:prstGeom prst="rect">
            <a:avLst/>
          </a:prstGeom>
        </p:spPr>
        <p:txBody>
          <a:bodyPr vert="horz" wrap="square" lIns="0" tIns="11430" rIns="0" bIns="0" rtlCol="0">
            <a:spAutoFit/>
          </a:bodyPr>
          <a:lstStyle/>
          <a:p>
            <a:pPr marL="12700">
              <a:lnSpc>
                <a:spcPct val="100000"/>
              </a:lnSpc>
              <a:spcBef>
                <a:spcPts val="90"/>
              </a:spcBef>
            </a:pPr>
            <a:r>
              <a:rPr sz="700" i="1" u="sng" spc="70" dirty="0">
                <a:solidFill>
                  <a:srgbClr val="1A1A1A"/>
                </a:solidFill>
                <a:uFill>
                  <a:solidFill>
                    <a:srgbClr val="1A1A1A"/>
                  </a:solidFill>
                </a:uFill>
                <a:latin typeface="Calibri" panose="020F0502020204030204"/>
                <a:cs typeface="Calibri" panose="020F0502020204030204"/>
              </a:rPr>
              <a:t>j</a:t>
            </a:r>
            <a:endParaRPr sz="700">
              <a:latin typeface="Calibri" panose="020F0502020204030204"/>
              <a:cs typeface="Calibri" panose="020F0502020204030204"/>
            </a:endParaRPr>
          </a:p>
        </p:txBody>
      </p:sp>
      <p:pic>
        <p:nvPicPr>
          <p:cNvPr id="58" name="object 58"/>
          <p:cNvPicPr/>
          <p:nvPr/>
        </p:nvPicPr>
        <p:blipFill>
          <a:blip r:embed="rId4" cstate="print"/>
          <a:stretch>
            <a:fillRect/>
          </a:stretch>
        </p:blipFill>
        <p:spPr>
          <a:xfrm>
            <a:off x="4907521" y="2088306"/>
            <a:ext cx="243636" cy="243636"/>
          </a:xfrm>
          <a:prstGeom prst="rect">
            <a:avLst/>
          </a:prstGeom>
        </p:spPr>
      </p:pic>
      <p:sp>
        <p:nvSpPr>
          <p:cNvPr id="59" name="object 59"/>
          <p:cNvSpPr txBox="1"/>
          <p:nvPr/>
        </p:nvSpPr>
        <p:spPr>
          <a:xfrm>
            <a:off x="4986864" y="2127814"/>
            <a:ext cx="88265" cy="151130"/>
          </a:xfrm>
          <a:prstGeom prst="rect">
            <a:avLst/>
          </a:prstGeom>
        </p:spPr>
        <p:txBody>
          <a:bodyPr vert="horz" wrap="square" lIns="0" tIns="15240" rIns="0" bIns="0" rtlCol="0">
            <a:spAutoFit/>
          </a:bodyPr>
          <a:lstStyle/>
          <a:p>
            <a:pPr marL="12700">
              <a:lnSpc>
                <a:spcPct val="100000"/>
              </a:lnSpc>
              <a:spcBef>
                <a:spcPts val="120"/>
              </a:spcBef>
            </a:pPr>
            <a:r>
              <a:rPr sz="800" spc="40" dirty="0">
                <a:solidFill>
                  <a:srgbClr val="5B8BA7"/>
                </a:solidFill>
                <a:latin typeface="宋体" panose="02010600030101010101" pitchFamily="2" charset="-122"/>
                <a:cs typeface="宋体" panose="02010600030101010101" pitchFamily="2" charset="-122"/>
              </a:rPr>
              <a:t>1</a:t>
            </a:r>
            <a:endParaRPr sz="800">
              <a:latin typeface="宋体" panose="02010600030101010101" pitchFamily="2" charset="-122"/>
              <a:cs typeface="宋体" panose="02010600030101010101" pitchFamily="2" charset="-122"/>
            </a:endParaRPr>
          </a:p>
        </p:txBody>
      </p:sp>
      <p:grpSp>
        <p:nvGrpSpPr>
          <p:cNvPr id="60" name="object 60"/>
          <p:cNvGrpSpPr/>
          <p:nvPr/>
        </p:nvGrpSpPr>
        <p:grpSpPr>
          <a:xfrm>
            <a:off x="4901430" y="3413511"/>
            <a:ext cx="255904" cy="255904"/>
            <a:chOff x="4901430" y="3413511"/>
            <a:chExt cx="255904" cy="255904"/>
          </a:xfrm>
        </p:grpSpPr>
        <p:sp>
          <p:nvSpPr>
            <p:cNvPr id="61" name="object 61"/>
            <p:cNvSpPr/>
            <p:nvPr/>
          </p:nvSpPr>
          <p:spPr>
            <a:xfrm>
              <a:off x="4901430" y="3413511"/>
              <a:ext cx="255904" cy="255904"/>
            </a:xfrm>
            <a:custGeom>
              <a:avLst/>
              <a:gdLst/>
              <a:ahLst/>
              <a:cxnLst/>
              <a:rect l="l" t="t" r="r" b="b"/>
              <a:pathLst>
                <a:path w="255904" h="255904">
                  <a:moveTo>
                    <a:pt x="127908" y="255817"/>
                  </a:moveTo>
                  <a:lnTo>
                    <a:pt x="78960" y="246081"/>
                  </a:lnTo>
                  <a:lnTo>
                    <a:pt x="37463" y="218353"/>
                  </a:lnTo>
                  <a:lnTo>
                    <a:pt x="9736" y="176857"/>
                  </a:lnTo>
                  <a:lnTo>
                    <a:pt x="0" y="127908"/>
                  </a:lnTo>
                  <a:lnTo>
                    <a:pt x="608" y="115308"/>
                  </a:lnTo>
                  <a:lnTo>
                    <a:pt x="15120" y="67551"/>
                  </a:lnTo>
                  <a:lnTo>
                    <a:pt x="46803" y="28984"/>
                  </a:lnTo>
                  <a:lnTo>
                    <a:pt x="90834" y="5476"/>
                  </a:lnTo>
                  <a:lnTo>
                    <a:pt x="127908" y="0"/>
                  </a:lnTo>
                  <a:lnTo>
                    <a:pt x="140509" y="608"/>
                  </a:lnTo>
                  <a:lnTo>
                    <a:pt x="188265" y="15120"/>
                  </a:lnTo>
                  <a:lnTo>
                    <a:pt x="226833" y="46803"/>
                  </a:lnTo>
                  <a:lnTo>
                    <a:pt x="250340" y="90834"/>
                  </a:lnTo>
                  <a:lnTo>
                    <a:pt x="255817" y="127908"/>
                  </a:lnTo>
                  <a:lnTo>
                    <a:pt x="255209" y="140509"/>
                  </a:lnTo>
                  <a:lnTo>
                    <a:pt x="240696" y="188265"/>
                  </a:lnTo>
                  <a:lnTo>
                    <a:pt x="209013" y="226833"/>
                  </a:lnTo>
                  <a:lnTo>
                    <a:pt x="164983" y="250340"/>
                  </a:lnTo>
                  <a:lnTo>
                    <a:pt x="127908" y="255817"/>
                  </a:lnTo>
                  <a:close/>
                </a:path>
              </a:pathLst>
            </a:custGeom>
            <a:solidFill>
              <a:srgbClr val="FFF5E7"/>
            </a:solidFill>
          </p:spPr>
          <p:txBody>
            <a:bodyPr wrap="square" lIns="0" tIns="0" rIns="0" bIns="0" rtlCol="0"/>
            <a:lstStyle/>
            <a:p/>
          </p:txBody>
        </p:sp>
        <p:sp>
          <p:nvSpPr>
            <p:cNvPr id="62" name="object 62"/>
            <p:cNvSpPr/>
            <p:nvPr/>
          </p:nvSpPr>
          <p:spPr>
            <a:xfrm>
              <a:off x="4901430" y="3413511"/>
              <a:ext cx="255904" cy="255904"/>
            </a:xfrm>
            <a:custGeom>
              <a:avLst/>
              <a:gdLst/>
              <a:ahLst/>
              <a:cxnLst/>
              <a:rect l="l" t="t" r="r" b="b"/>
              <a:pathLst>
                <a:path w="255904" h="255904">
                  <a:moveTo>
                    <a:pt x="127908" y="255817"/>
                  </a:moveTo>
                  <a:lnTo>
                    <a:pt x="78960" y="246081"/>
                  </a:lnTo>
                  <a:lnTo>
                    <a:pt x="37463" y="218353"/>
                  </a:lnTo>
                  <a:lnTo>
                    <a:pt x="9736" y="176857"/>
                  </a:lnTo>
                  <a:lnTo>
                    <a:pt x="0" y="127908"/>
                  </a:lnTo>
                  <a:lnTo>
                    <a:pt x="608" y="115308"/>
                  </a:lnTo>
                  <a:lnTo>
                    <a:pt x="15120" y="67551"/>
                  </a:lnTo>
                  <a:lnTo>
                    <a:pt x="46803" y="28984"/>
                  </a:lnTo>
                  <a:lnTo>
                    <a:pt x="90834" y="5476"/>
                  </a:lnTo>
                  <a:lnTo>
                    <a:pt x="127908" y="0"/>
                  </a:lnTo>
                  <a:lnTo>
                    <a:pt x="140509" y="608"/>
                  </a:lnTo>
                  <a:lnTo>
                    <a:pt x="152867" y="2434"/>
                  </a:lnTo>
                  <a:lnTo>
                    <a:pt x="164983" y="5476"/>
                  </a:lnTo>
                  <a:lnTo>
                    <a:pt x="175184" y="9136"/>
                  </a:lnTo>
                  <a:lnTo>
                    <a:pt x="120110" y="9136"/>
                  </a:lnTo>
                  <a:lnTo>
                    <a:pt x="112386" y="9897"/>
                  </a:lnTo>
                  <a:lnTo>
                    <a:pt x="75251" y="21161"/>
                  </a:lnTo>
                  <a:lnTo>
                    <a:pt x="38409" y="49438"/>
                  </a:lnTo>
                  <a:lnTo>
                    <a:pt x="15192" y="89661"/>
                  </a:lnTo>
                  <a:lnTo>
                    <a:pt x="9136" y="120110"/>
                  </a:lnTo>
                  <a:lnTo>
                    <a:pt x="9136" y="135707"/>
                  </a:lnTo>
                  <a:lnTo>
                    <a:pt x="21161" y="180566"/>
                  </a:lnTo>
                  <a:lnTo>
                    <a:pt x="49438" y="217408"/>
                  </a:lnTo>
                  <a:lnTo>
                    <a:pt x="89661" y="240624"/>
                  </a:lnTo>
                  <a:lnTo>
                    <a:pt x="120110" y="246681"/>
                  </a:lnTo>
                  <a:lnTo>
                    <a:pt x="175184" y="246681"/>
                  </a:lnTo>
                  <a:lnTo>
                    <a:pt x="164983" y="250340"/>
                  </a:lnTo>
                  <a:lnTo>
                    <a:pt x="152867" y="253383"/>
                  </a:lnTo>
                  <a:lnTo>
                    <a:pt x="140509" y="255209"/>
                  </a:lnTo>
                  <a:lnTo>
                    <a:pt x="127908" y="255817"/>
                  </a:lnTo>
                  <a:close/>
                </a:path>
                <a:path w="255904" h="255904">
                  <a:moveTo>
                    <a:pt x="175184" y="246681"/>
                  </a:moveTo>
                  <a:lnTo>
                    <a:pt x="135707" y="246681"/>
                  </a:lnTo>
                  <a:lnTo>
                    <a:pt x="143431" y="245920"/>
                  </a:lnTo>
                  <a:lnTo>
                    <a:pt x="158728" y="242877"/>
                  </a:lnTo>
                  <a:lnTo>
                    <a:pt x="200379" y="222331"/>
                  </a:lnTo>
                  <a:lnTo>
                    <a:pt x="230997" y="187410"/>
                  </a:lnTo>
                  <a:lnTo>
                    <a:pt x="245920" y="143431"/>
                  </a:lnTo>
                  <a:lnTo>
                    <a:pt x="246681" y="135707"/>
                  </a:lnTo>
                  <a:lnTo>
                    <a:pt x="246681" y="120110"/>
                  </a:lnTo>
                  <a:lnTo>
                    <a:pt x="234655" y="75251"/>
                  </a:lnTo>
                  <a:lnTo>
                    <a:pt x="206379" y="38409"/>
                  </a:lnTo>
                  <a:lnTo>
                    <a:pt x="165917" y="15120"/>
                  </a:lnTo>
                  <a:lnTo>
                    <a:pt x="135707" y="9136"/>
                  </a:lnTo>
                  <a:lnTo>
                    <a:pt x="175184" y="9136"/>
                  </a:lnTo>
                  <a:lnTo>
                    <a:pt x="209013" y="28984"/>
                  </a:lnTo>
                  <a:lnTo>
                    <a:pt x="240696" y="67551"/>
                  </a:lnTo>
                  <a:lnTo>
                    <a:pt x="255209" y="115308"/>
                  </a:lnTo>
                  <a:lnTo>
                    <a:pt x="255817" y="127908"/>
                  </a:lnTo>
                  <a:lnTo>
                    <a:pt x="255209" y="140509"/>
                  </a:lnTo>
                  <a:lnTo>
                    <a:pt x="240696" y="188265"/>
                  </a:lnTo>
                  <a:lnTo>
                    <a:pt x="209013" y="226833"/>
                  </a:lnTo>
                  <a:lnTo>
                    <a:pt x="176857" y="246081"/>
                  </a:lnTo>
                  <a:lnTo>
                    <a:pt x="175184" y="246681"/>
                  </a:lnTo>
                  <a:close/>
                </a:path>
              </a:pathLst>
            </a:custGeom>
            <a:solidFill>
              <a:srgbClr val="D4A573">
                <a:alpha val="39999"/>
              </a:srgbClr>
            </a:solidFill>
          </p:spPr>
          <p:txBody>
            <a:bodyPr wrap="square" lIns="0" tIns="0" rIns="0" bIns="0" rtlCol="0"/>
            <a:lstStyle/>
            <a:p/>
          </p:txBody>
        </p:sp>
      </p:grpSp>
      <p:sp>
        <p:nvSpPr>
          <p:cNvPr id="63" name="object 63"/>
          <p:cNvSpPr txBox="1"/>
          <p:nvPr/>
        </p:nvSpPr>
        <p:spPr>
          <a:xfrm>
            <a:off x="4983662" y="3455629"/>
            <a:ext cx="91440" cy="157480"/>
          </a:xfrm>
          <a:prstGeom prst="rect">
            <a:avLst/>
          </a:prstGeom>
        </p:spPr>
        <p:txBody>
          <a:bodyPr vert="horz" wrap="square" lIns="0" tIns="13970" rIns="0" bIns="0" rtlCol="0">
            <a:spAutoFit/>
          </a:bodyPr>
          <a:lstStyle/>
          <a:p>
            <a:pPr marL="12700">
              <a:lnSpc>
                <a:spcPct val="100000"/>
              </a:lnSpc>
              <a:spcBef>
                <a:spcPts val="110"/>
              </a:spcBef>
            </a:pPr>
            <a:r>
              <a:rPr sz="850" spc="35" dirty="0">
                <a:solidFill>
                  <a:srgbClr val="D4A573"/>
                </a:solidFill>
                <a:latin typeface="宋体" panose="02010600030101010101" pitchFamily="2" charset="-122"/>
                <a:cs typeface="宋体" panose="02010600030101010101" pitchFamily="2" charset="-122"/>
              </a:rPr>
              <a:t>2</a:t>
            </a:r>
            <a:endParaRPr sz="850">
              <a:latin typeface="宋体" panose="02010600030101010101" pitchFamily="2" charset="-122"/>
              <a:cs typeface="宋体" panose="02010600030101010101" pitchFamily="2" charset="-122"/>
            </a:endParaRPr>
          </a:p>
        </p:txBody>
      </p:sp>
      <p:pic>
        <p:nvPicPr>
          <p:cNvPr id="64" name="object 64"/>
          <p:cNvPicPr/>
          <p:nvPr/>
        </p:nvPicPr>
        <p:blipFill>
          <a:blip r:embed="rId5" cstate="print"/>
          <a:stretch>
            <a:fillRect/>
          </a:stretch>
        </p:blipFill>
        <p:spPr>
          <a:xfrm>
            <a:off x="4907521" y="4742196"/>
            <a:ext cx="243636" cy="243635"/>
          </a:xfrm>
          <a:prstGeom prst="rect">
            <a:avLst/>
          </a:prstGeom>
        </p:spPr>
      </p:pic>
      <p:sp>
        <p:nvSpPr>
          <p:cNvPr id="65" name="object 65"/>
          <p:cNvSpPr txBox="1"/>
          <p:nvPr/>
        </p:nvSpPr>
        <p:spPr>
          <a:xfrm>
            <a:off x="4986864" y="4781704"/>
            <a:ext cx="88265" cy="151130"/>
          </a:xfrm>
          <a:prstGeom prst="rect">
            <a:avLst/>
          </a:prstGeom>
        </p:spPr>
        <p:txBody>
          <a:bodyPr vert="horz" wrap="square" lIns="0" tIns="15240" rIns="0" bIns="0" rtlCol="0">
            <a:spAutoFit/>
          </a:bodyPr>
          <a:lstStyle/>
          <a:p>
            <a:pPr marL="12700">
              <a:lnSpc>
                <a:spcPct val="100000"/>
              </a:lnSpc>
              <a:spcBef>
                <a:spcPts val="120"/>
              </a:spcBef>
            </a:pPr>
            <a:r>
              <a:rPr sz="800" spc="40" dirty="0">
                <a:solidFill>
                  <a:srgbClr val="5B8BA7"/>
                </a:solidFill>
                <a:latin typeface="宋体" panose="02010600030101010101" pitchFamily="2" charset="-122"/>
                <a:cs typeface="宋体" panose="02010600030101010101" pitchFamily="2" charset="-122"/>
              </a:rPr>
              <a:t>3</a:t>
            </a:r>
            <a:endParaRPr sz="800">
              <a:latin typeface="宋体" panose="02010600030101010101" pitchFamily="2" charset="-122"/>
              <a:cs typeface="宋体" panose="02010600030101010101" pitchFamily="2" charset="-122"/>
            </a:endParaRPr>
          </a:p>
        </p:txBody>
      </p:sp>
      <p:sp>
        <p:nvSpPr>
          <p:cNvPr id="66" name="object 66"/>
          <p:cNvSpPr/>
          <p:nvPr/>
        </p:nvSpPr>
        <p:spPr>
          <a:xfrm>
            <a:off x="0" y="0"/>
            <a:ext cx="11137900" cy="8890"/>
          </a:xfrm>
          <a:custGeom>
            <a:avLst/>
            <a:gdLst/>
            <a:ahLst/>
            <a:cxnLst/>
            <a:rect l="l" t="t" r="r" b="b"/>
            <a:pathLst>
              <a:path w="11137900" h="8890">
                <a:moveTo>
                  <a:pt x="11137637" y="8701"/>
                </a:moveTo>
                <a:lnTo>
                  <a:pt x="0" y="8701"/>
                </a:lnTo>
                <a:lnTo>
                  <a:pt x="0" y="0"/>
                </a:lnTo>
                <a:lnTo>
                  <a:pt x="11137637" y="0"/>
                </a:lnTo>
                <a:lnTo>
                  <a:pt x="11137637" y="8701"/>
                </a:lnTo>
                <a:close/>
              </a:path>
            </a:pathLst>
          </a:custGeom>
          <a:solidFill>
            <a:srgbClr val="E7E4E3"/>
          </a:solidFill>
        </p:spPr>
        <p:txBody>
          <a:bodyPr wrap="square" lIns="0" tIns="0" rIns="0" bIns="0" rtlCol="0"/>
          <a:lstStyle/>
          <a:p/>
        </p:txBody>
      </p:sp>
      <p:sp>
        <p:nvSpPr>
          <p:cNvPr id="67" name="object 67"/>
          <p:cNvSpPr/>
          <p:nvPr/>
        </p:nvSpPr>
        <p:spPr>
          <a:xfrm>
            <a:off x="0" y="6847906"/>
            <a:ext cx="11137900" cy="8890"/>
          </a:xfrm>
          <a:custGeom>
            <a:avLst/>
            <a:gdLst/>
            <a:ahLst/>
            <a:cxnLst/>
            <a:rect l="l" t="t" r="r" b="b"/>
            <a:pathLst>
              <a:path w="11137900" h="8890">
                <a:moveTo>
                  <a:pt x="11137637" y="8701"/>
                </a:moveTo>
                <a:lnTo>
                  <a:pt x="0" y="8701"/>
                </a:lnTo>
                <a:lnTo>
                  <a:pt x="0" y="0"/>
                </a:lnTo>
                <a:lnTo>
                  <a:pt x="11137637" y="0"/>
                </a:lnTo>
                <a:lnTo>
                  <a:pt x="11137637" y="8701"/>
                </a:lnTo>
                <a:close/>
              </a:path>
            </a:pathLst>
          </a:custGeom>
          <a:solidFill>
            <a:srgbClr val="E7E4E3"/>
          </a:solidFill>
        </p:spPr>
        <p:txBody>
          <a:bodyPr wrap="square" lIns="0" tIns="0" rIns="0" bIns="0" rtlCol="0"/>
          <a:lstStyl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380872"/>
            <a:ext cx="6818630" cy="490855"/>
          </a:xfrm>
          <a:prstGeom prst="rect">
            <a:avLst/>
          </a:prstGeom>
        </p:spPr>
        <p:txBody>
          <a:bodyPr vert="horz" wrap="square" lIns="0" tIns="12700" rIns="0" bIns="0" rtlCol="0">
            <a:spAutoFit/>
          </a:bodyPr>
          <a:lstStyle/>
          <a:p>
            <a:pPr marL="12700">
              <a:lnSpc>
                <a:spcPct val="100000"/>
              </a:lnSpc>
              <a:spcBef>
                <a:spcPts val="100"/>
              </a:spcBef>
            </a:pPr>
            <a:r>
              <a:rPr spc="-409" dirty="0"/>
              <a:t>联合优化目标：兼顾序列预测与代理特征逼近</a:t>
            </a:r>
            <a:endParaRPr spc="-409" dirty="0"/>
          </a:p>
        </p:txBody>
      </p:sp>
      <p:grpSp>
        <p:nvGrpSpPr>
          <p:cNvPr id="3" name="object 3"/>
          <p:cNvGrpSpPr/>
          <p:nvPr/>
        </p:nvGrpSpPr>
        <p:grpSpPr>
          <a:xfrm>
            <a:off x="457199" y="1285874"/>
            <a:ext cx="4371975" cy="5114925"/>
            <a:chOff x="457199" y="1285874"/>
            <a:chExt cx="4371975" cy="5114925"/>
          </a:xfrm>
        </p:grpSpPr>
        <p:pic>
          <p:nvPicPr>
            <p:cNvPr id="4" name="object 4"/>
            <p:cNvPicPr/>
            <p:nvPr/>
          </p:nvPicPr>
          <p:blipFill>
            <a:blip r:embed="rId1" cstate="print"/>
            <a:stretch>
              <a:fillRect/>
            </a:stretch>
          </p:blipFill>
          <p:spPr>
            <a:xfrm>
              <a:off x="457199" y="1285874"/>
              <a:ext cx="4371974" cy="5114924"/>
            </a:xfrm>
            <a:prstGeom prst="rect">
              <a:avLst/>
            </a:prstGeom>
          </p:spPr>
        </p:pic>
        <p:sp>
          <p:nvSpPr>
            <p:cNvPr id="5" name="object 5"/>
            <p:cNvSpPr/>
            <p:nvPr/>
          </p:nvSpPr>
          <p:spPr>
            <a:xfrm>
              <a:off x="457199" y="1285874"/>
              <a:ext cx="4371975" cy="5114925"/>
            </a:xfrm>
            <a:custGeom>
              <a:avLst/>
              <a:gdLst/>
              <a:ahLst/>
              <a:cxnLst/>
              <a:rect l="l" t="t" r="r" b="b"/>
              <a:pathLst>
                <a:path w="4371975" h="5114925">
                  <a:moveTo>
                    <a:pt x="4219574" y="5114924"/>
                  </a:moveTo>
                  <a:lnTo>
                    <a:pt x="152399" y="5114924"/>
                  </a:lnTo>
                  <a:lnTo>
                    <a:pt x="137387" y="5114199"/>
                  </a:lnTo>
                  <a:lnTo>
                    <a:pt x="94078" y="5103323"/>
                  </a:lnTo>
                  <a:lnTo>
                    <a:pt x="55765" y="5080390"/>
                  </a:lnTo>
                  <a:lnTo>
                    <a:pt x="25660" y="5047209"/>
                  </a:lnTo>
                  <a:lnTo>
                    <a:pt x="6525" y="5006697"/>
                  </a:lnTo>
                  <a:lnTo>
                    <a:pt x="0" y="4962524"/>
                  </a:lnTo>
                  <a:lnTo>
                    <a:pt x="0" y="152399"/>
                  </a:lnTo>
                  <a:lnTo>
                    <a:pt x="6525" y="108226"/>
                  </a:lnTo>
                  <a:lnTo>
                    <a:pt x="25660" y="67714"/>
                  </a:lnTo>
                  <a:lnTo>
                    <a:pt x="55765" y="34533"/>
                  </a:lnTo>
                  <a:lnTo>
                    <a:pt x="94078" y="11600"/>
                  </a:lnTo>
                  <a:lnTo>
                    <a:pt x="137386" y="725"/>
                  </a:lnTo>
                  <a:lnTo>
                    <a:pt x="152399" y="0"/>
                  </a:lnTo>
                  <a:lnTo>
                    <a:pt x="4219574" y="0"/>
                  </a:lnTo>
                  <a:lnTo>
                    <a:pt x="4234587" y="725"/>
                  </a:lnTo>
                  <a:lnTo>
                    <a:pt x="4249312" y="2900"/>
                  </a:lnTo>
                  <a:lnTo>
                    <a:pt x="4263748" y="6525"/>
                  </a:lnTo>
                  <a:lnTo>
                    <a:pt x="4272109" y="9524"/>
                  </a:lnTo>
                  <a:lnTo>
                    <a:pt x="152399" y="9524"/>
                  </a:lnTo>
                  <a:lnTo>
                    <a:pt x="145380" y="9696"/>
                  </a:lnTo>
                  <a:lnTo>
                    <a:pt x="104274" y="17873"/>
                  </a:lnTo>
                  <a:lnTo>
                    <a:pt x="67282" y="37646"/>
                  </a:lnTo>
                  <a:lnTo>
                    <a:pt x="37646" y="67282"/>
                  </a:lnTo>
                  <a:lnTo>
                    <a:pt x="17873" y="104274"/>
                  </a:lnTo>
                  <a:lnTo>
                    <a:pt x="10335" y="137387"/>
                  </a:lnTo>
                  <a:lnTo>
                    <a:pt x="10211" y="138395"/>
                  </a:lnTo>
                  <a:lnTo>
                    <a:pt x="9696" y="145380"/>
                  </a:lnTo>
                  <a:lnTo>
                    <a:pt x="9524" y="152399"/>
                  </a:lnTo>
                  <a:lnTo>
                    <a:pt x="9524" y="4962524"/>
                  </a:lnTo>
                  <a:lnTo>
                    <a:pt x="15675" y="5003999"/>
                  </a:lnTo>
                  <a:lnTo>
                    <a:pt x="33603" y="5041901"/>
                  </a:lnTo>
                  <a:lnTo>
                    <a:pt x="61759" y="5072969"/>
                  </a:lnTo>
                  <a:lnTo>
                    <a:pt x="97724" y="5094523"/>
                  </a:lnTo>
                  <a:lnTo>
                    <a:pt x="138395" y="5104713"/>
                  </a:lnTo>
                  <a:lnTo>
                    <a:pt x="152399" y="5105399"/>
                  </a:lnTo>
                  <a:lnTo>
                    <a:pt x="4272107" y="5105399"/>
                  </a:lnTo>
                  <a:lnTo>
                    <a:pt x="4263747" y="5108398"/>
                  </a:lnTo>
                  <a:lnTo>
                    <a:pt x="4249312" y="5112024"/>
                  </a:lnTo>
                  <a:lnTo>
                    <a:pt x="4234587" y="5114199"/>
                  </a:lnTo>
                  <a:lnTo>
                    <a:pt x="4219574" y="5114924"/>
                  </a:lnTo>
                  <a:close/>
                </a:path>
                <a:path w="4371975" h="5114925">
                  <a:moveTo>
                    <a:pt x="4272107" y="5105399"/>
                  </a:moveTo>
                  <a:lnTo>
                    <a:pt x="4219574" y="5105399"/>
                  </a:lnTo>
                  <a:lnTo>
                    <a:pt x="4226593" y="5105228"/>
                  </a:lnTo>
                  <a:lnTo>
                    <a:pt x="4233579" y="5104713"/>
                  </a:lnTo>
                  <a:lnTo>
                    <a:pt x="4274250" y="5094523"/>
                  </a:lnTo>
                  <a:lnTo>
                    <a:pt x="4310214" y="5072969"/>
                  </a:lnTo>
                  <a:lnTo>
                    <a:pt x="4338370" y="5041901"/>
                  </a:lnTo>
                  <a:lnTo>
                    <a:pt x="4356299" y="5003999"/>
                  </a:lnTo>
                  <a:lnTo>
                    <a:pt x="4361638" y="4977537"/>
                  </a:lnTo>
                  <a:lnTo>
                    <a:pt x="4361763" y="4976528"/>
                  </a:lnTo>
                  <a:lnTo>
                    <a:pt x="4362278" y="4969543"/>
                  </a:lnTo>
                  <a:lnTo>
                    <a:pt x="4362449" y="4962524"/>
                  </a:lnTo>
                  <a:lnTo>
                    <a:pt x="4362449" y="152399"/>
                  </a:lnTo>
                  <a:lnTo>
                    <a:pt x="4356299" y="110925"/>
                  </a:lnTo>
                  <a:lnTo>
                    <a:pt x="4338370" y="73022"/>
                  </a:lnTo>
                  <a:lnTo>
                    <a:pt x="4310214" y="41954"/>
                  </a:lnTo>
                  <a:lnTo>
                    <a:pt x="4274250" y="20400"/>
                  </a:lnTo>
                  <a:lnTo>
                    <a:pt x="4233579" y="10211"/>
                  </a:lnTo>
                  <a:lnTo>
                    <a:pt x="4219574" y="9524"/>
                  </a:lnTo>
                  <a:lnTo>
                    <a:pt x="4272109" y="9524"/>
                  </a:lnTo>
                  <a:lnTo>
                    <a:pt x="4316208" y="34533"/>
                  </a:lnTo>
                  <a:lnTo>
                    <a:pt x="4346314" y="67714"/>
                  </a:lnTo>
                  <a:lnTo>
                    <a:pt x="4365448" y="108226"/>
                  </a:lnTo>
                  <a:lnTo>
                    <a:pt x="4371974" y="152399"/>
                  </a:lnTo>
                  <a:lnTo>
                    <a:pt x="4371974" y="4962524"/>
                  </a:lnTo>
                  <a:lnTo>
                    <a:pt x="4371298" y="4976528"/>
                  </a:lnTo>
                  <a:lnTo>
                    <a:pt x="4360373" y="5020845"/>
                  </a:lnTo>
                  <a:lnTo>
                    <a:pt x="4337440" y="5059159"/>
                  </a:lnTo>
                  <a:lnTo>
                    <a:pt x="4304259" y="5089264"/>
                  </a:lnTo>
                  <a:lnTo>
                    <a:pt x="4277895" y="5103323"/>
                  </a:lnTo>
                  <a:lnTo>
                    <a:pt x="4272107" y="5105399"/>
                  </a:lnTo>
                  <a:close/>
                </a:path>
              </a:pathLst>
            </a:custGeom>
            <a:solidFill>
              <a:srgbClr val="E4E4E4">
                <a:alpha val="59999"/>
              </a:srgbClr>
            </a:solidFill>
          </p:spPr>
          <p:txBody>
            <a:bodyPr wrap="square" lIns="0" tIns="0" rIns="0" bIns="0" rtlCol="0"/>
            <a:lstStyle/>
            <a:p/>
          </p:txBody>
        </p:sp>
        <p:pic>
          <p:nvPicPr>
            <p:cNvPr id="6" name="object 6"/>
            <p:cNvPicPr/>
            <p:nvPr/>
          </p:nvPicPr>
          <p:blipFill>
            <a:blip r:embed="rId2" cstate="print"/>
            <a:stretch>
              <a:fillRect/>
            </a:stretch>
          </p:blipFill>
          <p:spPr>
            <a:xfrm>
              <a:off x="695324" y="1562099"/>
              <a:ext cx="76200" cy="76199"/>
            </a:xfrm>
            <a:prstGeom prst="rect">
              <a:avLst/>
            </a:prstGeom>
          </p:spPr>
        </p:pic>
      </p:grpSp>
      <p:sp>
        <p:nvSpPr>
          <p:cNvPr id="7" name="object 7"/>
          <p:cNvSpPr txBox="1"/>
          <p:nvPr/>
        </p:nvSpPr>
        <p:spPr>
          <a:xfrm>
            <a:off x="835025" y="1511300"/>
            <a:ext cx="1092200" cy="162560"/>
          </a:xfrm>
          <a:prstGeom prst="rect">
            <a:avLst/>
          </a:prstGeom>
        </p:spPr>
        <p:txBody>
          <a:bodyPr vert="horz" wrap="square" lIns="0" tIns="12700" rIns="0" bIns="0" rtlCol="0">
            <a:spAutoFit/>
          </a:bodyPr>
          <a:lstStyle/>
          <a:p>
            <a:pPr marL="12700">
              <a:lnSpc>
                <a:spcPct val="100000"/>
              </a:lnSpc>
              <a:spcBef>
                <a:spcPts val="100"/>
              </a:spcBef>
            </a:pPr>
            <a:r>
              <a:rPr sz="900" spc="165" dirty="0">
                <a:solidFill>
                  <a:srgbClr val="D4A573"/>
                </a:solidFill>
                <a:latin typeface="宋体" panose="02010600030101010101" pitchFamily="2" charset="-122"/>
                <a:cs typeface="宋体" panose="02010600030101010101" pitchFamily="2" charset="-122"/>
              </a:rPr>
              <a:t>CORE</a:t>
            </a:r>
            <a:r>
              <a:rPr sz="900" dirty="0">
                <a:solidFill>
                  <a:srgbClr val="D4A573"/>
                </a:solidFill>
                <a:latin typeface="宋体" panose="02010600030101010101" pitchFamily="2" charset="-122"/>
                <a:cs typeface="宋体" panose="02010600030101010101" pitchFamily="2" charset="-122"/>
              </a:rPr>
              <a:t> </a:t>
            </a:r>
            <a:r>
              <a:rPr sz="900" spc="140" dirty="0">
                <a:solidFill>
                  <a:srgbClr val="D4A573"/>
                </a:solidFill>
                <a:latin typeface="宋体" panose="02010600030101010101" pitchFamily="2" charset="-122"/>
                <a:cs typeface="宋体" panose="02010600030101010101" pitchFamily="2" charset="-122"/>
              </a:rPr>
              <a:t>CHALLENGE</a:t>
            </a:r>
            <a:endParaRPr sz="900">
              <a:latin typeface="宋体" panose="02010600030101010101" pitchFamily="2" charset="-122"/>
              <a:cs typeface="宋体" panose="02010600030101010101" pitchFamily="2" charset="-122"/>
            </a:endParaRPr>
          </a:p>
        </p:txBody>
      </p:sp>
      <p:grpSp>
        <p:nvGrpSpPr>
          <p:cNvPr id="8" name="object 8"/>
          <p:cNvGrpSpPr/>
          <p:nvPr/>
        </p:nvGrpSpPr>
        <p:grpSpPr>
          <a:xfrm>
            <a:off x="695324" y="5714999"/>
            <a:ext cx="3895725" cy="447675"/>
            <a:chOff x="695324" y="5714999"/>
            <a:chExt cx="3895725" cy="447675"/>
          </a:xfrm>
        </p:grpSpPr>
        <p:sp>
          <p:nvSpPr>
            <p:cNvPr id="9" name="object 9"/>
            <p:cNvSpPr/>
            <p:nvPr/>
          </p:nvSpPr>
          <p:spPr>
            <a:xfrm>
              <a:off x="695324" y="5714999"/>
              <a:ext cx="3895725" cy="9525"/>
            </a:xfrm>
            <a:custGeom>
              <a:avLst/>
              <a:gdLst/>
              <a:ahLst/>
              <a:cxnLst/>
              <a:rect l="l" t="t" r="r" b="b"/>
              <a:pathLst>
                <a:path w="3895725" h="9525">
                  <a:moveTo>
                    <a:pt x="3895724" y="9524"/>
                  </a:moveTo>
                  <a:lnTo>
                    <a:pt x="0" y="9524"/>
                  </a:lnTo>
                  <a:lnTo>
                    <a:pt x="0" y="0"/>
                  </a:lnTo>
                  <a:lnTo>
                    <a:pt x="3895724" y="0"/>
                  </a:lnTo>
                  <a:lnTo>
                    <a:pt x="3895724" y="9524"/>
                  </a:lnTo>
                  <a:close/>
                </a:path>
              </a:pathLst>
            </a:custGeom>
            <a:solidFill>
              <a:srgbClr val="E4E4E4">
                <a:alpha val="59999"/>
              </a:srgbClr>
            </a:solidFill>
          </p:spPr>
          <p:txBody>
            <a:bodyPr wrap="square" lIns="0" tIns="0" rIns="0" bIns="0" rtlCol="0"/>
            <a:lstStyle/>
            <a:p/>
          </p:txBody>
        </p:sp>
        <p:sp>
          <p:nvSpPr>
            <p:cNvPr id="10" name="object 10"/>
            <p:cNvSpPr/>
            <p:nvPr/>
          </p:nvSpPr>
          <p:spPr>
            <a:xfrm>
              <a:off x="700087" y="5919787"/>
              <a:ext cx="438150" cy="238125"/>
            </a:xfrm>
            <a:custGeom>
              <a:avLst/>
              <a:gdLst/>
              <a:ahLst/>
              <a:cxnLst/>
              <a:rect l="l" t="t" r="r" b="b"/>
              <a:pathLst>
                <a:path w="438150" h="238125">
                  <a:moveTo>
                    <a:pt x="409233" y="238124"/>
                  </a:moveTo>
                  <a:lnTo>
                    <a:pt x="28916" y="238124"/>
                  </a:lnTo>
                  <a:lnTo>
                    <a:pt x="24664" y="237278"/>
                  </a:lnTo>
                  <a:lnTo>
                    <a:pt x="0" y="209207"/>
                  </a:lnTo>
                  <a:lnTo>
                    <a:pt x="0" y="204787"/>
                  </a:lnTo>
                  <a:lnTo>
                    <a:pt x="0" y="28916"/>
                  </a:lnTo>
                  <a:lnTo>
                    <a:pt x="28916" y="0"/>
                  </a:lnTo>
                  <a:lnTo>
                    <a:pt x="409233" y="0"/>
                  </a:lnTo>
                  <a:lnTo>
                    <a:pt x="438149" y="28916"/>
                  </a:lnTo>
                  <a:lnTo>
                    <a:pt x="438149" y="209207"/>
                  </a:lnTo>
                  <a:lnTo>
                    <a:pt x="413485" y="237278"/>
                  </a:lnTo>
                  <a:lnTo>
                    <a:pt x="409233" y="238124"/>
                  </a:lnTo>
                  <a:close/>
                </a:path>
              </a:pathLst>
            </a:custGeom>
            <a:solidFill>
              <a:srgbClr val="FFFFFF"/>
            </a:solidFill>
          </p:spPr>
          <p:txBody>
            <a:bodyPr wrap="square" lIns="0" tIns="0" rIns="0" bIns="0" rtlCol="0"/>
            <a:lstStyle/>
            <a:p/>
          </p:txBody>
        </p:sp>
        <p:sp>
          <p:nvSpPr>
            <p:cNvPr id="11" name="object 11"/>
            <p:cNvSpPr/>
            <p:nvPr/>
          </p:nvSpPr>
          <p:spPr>
            <a:xfrm>
              <a:off x="700087" y="5919787"/>
              <a:ext cx="438150" cy="238125"/>
            </a:xfrm>
            <a:custGeom>
              <a:avLst/>
              <a:gdLst/>
              <a:ahLst/>
              <a:cxnLst/>
              <a:rect l="l" t="t" r="r" b="b"/>
              <a:pathLst>
                <a:path w="438150" h="238125">
                  <a:moveTo>
                    <a:pt x="0" y="204787"/>
                  </a:moveTo>
                  <a:lnTo>
                    <a:pt x="0" y="33337"/>
                  </a:lnTo>
                  <a:lnTo>
                    <a:pt x="0" y="28916"/>
                  </a:lnTo>
                  <a:lnTo>
                    <a:pt x="845" y="24663"/>
                  </a:lnTo>
                  <a:lnTo>
                    <a:pt x="2537" y="20579"/>
                  </a:lnTo>
                  <a:lnTo>
                    <a:pt x="4229" y="16494"/>
                  </a:lnTo>
                  <a:lnTo>
                    <a:pt x="6638" y="12889"/>
                  </a:lnTo>
                  <a:lnTo>
                    <a:pt x="9764" y="9763"/>
                  </a:lnTo>
                  <a:lnTo>
                    <a:pt x="12890" y="6637"/>
                  </a:lnTo>
                  <a:lnTo>
                    <a:pt x="16495" y="4228"/>
                  </a:lnTo>
                  <a:lnTo>
                    <a:pt x="20579" y="2537"/>
                  </a:lnTo>
                  <a:lnTo>
                    <a:pt x="24664" y="845"/>
                  </a:lnTo>
                  <a:lnTo>
                    <a:pt x="28916" y="0"/>
                  </a:lnTo>
                  <a:lnTo>
                    <a:pt x="33337" y="0"/>
                  </a:lnTo>
                  <a:lnTo>
                    <a:pt x="404812" y="0"/>
                  </a:lnTo>
                  <a:lnTo>
                    <a:pt x="409233" y="0"/>
                  </a:lnTo>
                  <a:lnTo>
                    <a:pt x="413485" y="845"/>
                  </a:lnTo>
                  <a:lnTo>
                    <a:pt x="417570" y="2537"/>
                  </a:lnTo>
                  <a:lnTo>
                    <a:pt x="421654" y="4228"/>
                  </a:lnTo>
                  <a:lnTo>
                    <a:pt x="425259" y="6637"/>
                  </a:lnTo>
                  <a:lnTo>
                    <a:pt x="428385" y="9763"/>
                  </a:lnTo>
                  <a:lnTo>
                    <a:pt x="431511" y="12889"/>
                  </a:lnTo>
                  <a:lnTo>
                    <a:pt x="438149" y="33337"/>
                  </a:lnTo>
                  <a:lnTo>
                    <a:pt x="438149" y="204787"/>
                  </a:lnTo>
                  <a:lnTo>
                    <a:pt x="417570" y="235586"/>
                  </a:lnTo>
                  <a:lnTo>
                    <a:pt x="413485" y="237278"/>
                  </a:lnTo>
                  <a:lnTo>
                    <a:pt x="409233" y="238124"/>
                  </a:lnTo>
                  <a:lnTo>
                    <a:pt x="404812" y="238124"/>
                  </a:lnTo>
                  <a:lnTo>
                    <a:pt x="33337" y="238124"/>
                  </a:lnTo>
                  <a:lnTo>
                    <a:pt x="28916" y="238124"/>
                  </a:lnTo>
                  <a:lnTo>
                    <a:pt x="24664" y="237278"/>
                  </a:lnTo>
                  <a:lnTo>
                    <a:pt x="20579" y="235586"/>
                  </a:lnTo>
                  <a:lnTo>
                    <a:pt x="16495" y="233894"/>
                  </a:lnTo>
                  <a:lnTo>
                    <a:pt x="2537" y="217544"/>
                  </a:lnTo>
                  <a:lnTo>
                    <a:pt x="845" y="213460"/>
                  </a:lnTo>
                  <a:lnTo>
                    <a:pt x="0" y="209207"/>
                  </a:lnTo>
                  <a:lnTo>
                    <a:pt x="0" y="204787"/>
                  </a:lnTo>
                  <a:close/>
                </a:path>
              </a:pathLst>
            </a:custGeom>
            <a:ln w="9524">
              <a:solidFill>
                <a:srgbClr val="E7F1F6"/>
              </a:solidFill>
            </a:ln>
          </p:spPr>
          <p:txBody>
            <a:bodyPr wrap="square" lIns="0" tIns="0" rIns="0" bIns="0" rtlCol="0"/>
            <a:lstStyle/>
            <a:p/>
          </p:txBody>
        </p:sp>
      </p:grpSp>
      <p:sp>
        <p:nvSpPr>
          <p:cNvPr id="12" name="object 12"/>
          <p:cNvSpPr txBox="1"/>
          <p:nvPr/>
        </p:nvSpPr>
        <p:spPr>
          <a:xfrm>
            <a:off x="768349" y="5940424"/>
            <a:ext cx="300355" cy="162560"/>
          </a:xfrm>
          <a:prstGeom prst="rect">
            <a:avLst/>
          </a:prstGeom>
        </p:spPr>
        <p:txBody>
          <a:bodyPr vert="horz" wrap="square" lIns="0" tIns="12700" rIns="0" bIns="0" rtlCol="0">
            <a:spAutoFit/>
          </a:bodyPr>
          <a:lstStyle/>
          <a:p>
            <a:pPr marL="12700">
              <a:lnSpc>
                <a:spcPct val="100000"/>
              </a:lnSpc>
              <a:spcBef>
                <a:spcPts val="100"/>
              </a:spcBef>
            </a:pPr>
            <a:r>
              <a:rPr sz="900" spc="-20" dirty="0">
                <a:solidFill>
                  <a:srgbClr val="5B8BA7"/>
                </a:solidFill>
                <a:latin typeface="Courier New" panose="02070309020205020404"/>
                <a:cs typeface="Courier New" panose="02070309020205020404"/>
              </a:rPr>
              <a:t>Flow</a:t>
            </a:r>
            <a:endParaRPr sz="900">
              <a:latin typeface="Courier New" panose="02070309020205020404"/>
              <a:cs typeface="Courier New" panose="02070309020205020404"/>
            </a:endParaRPr>
          </a:p>
        </p:txBody>
      </p:sp>
      <p:sp>
        <p:nvSpPr>
          <p:cNvPr id="13" name="object 13"/>
          <p:cNvSpPr txBox="1"/>
          <p:nvPr/>
        </p:nvSpPr>
        <p:spPr>
          <a:xfrm>
            <a:off x="1242813" y="5906515"/>
            <a:ext cx="3340100" cy="180975"/>
          </a:xfrm>
          <a:prstGeom prst="rect">
            <a:avLst/>
          </a:prstGeom>
        </p:spPr>
        <p:txBody>
          <a:bodyPr vert="horz" wrap="square" lIns="0" tIns="14604" rIns="0" bIns="0" rtlCol="0">
            <a:spAutoFit/>
          </a:bodyPr>
          <a:lstStyle/>
          <a:p>
            <a:pPr marL="12700">
              <a:lnSpc>
                <a:spcPct val="100000"/>
              </a:lnSpc>
              <a:spcBef>
                <a:spcPts val="115"/>
              </a:spcBef>
            </a:pPr>
            <a:r>
              <a:rPr sz="1000" spc="-100" dirty="0">
                <a:solidFill>
                  <a:srgbClr val="6A7280"/>
                </a:solidFill>
                <a:latin typeface="宋体" panose="02010600030101010101" pitchFamily="2" charset="-122"/>
                <a:cs typeface="宋体" panose="02010600030101010101" pitchFamily="2" charset="-122"/>
              </a:rPr>
              <a:t>以此解决推理时缺乏未来先验的问题，通过构建影子模型自驱动。</a:t>
            </a:r>
            <a:endParaRPr sz="1000">
              <a:latin typeface="宋体" panose="02010600030101010101" pitchFamily="2" charset="-122"/>
              <a:cs typeface="宋体" panose="02010600030101010101" pitchFamily="2" charset="-122"/>
            </a:endParaRPr>
          </a:p>
        </p:txBody>
      </p:sp>
      <p:sp>
        <p:nvSpPr>
          <p:cNvPr id="14" name="object 14"/>
          <p:cNvSpPr txBox="1"/>
          <p:nvPr/>
        </p:nvSpPr>
        <p:spPr>
          <a:xfrm>
            <a:off x="657224" y="1791335"/>
            <a:ext cx="3867150" cy="824230"/>
          </a:xfrm>
          <a:prstGeom prst="rect">
            <a:avLst/>
          </a:prstGeom>
        </p:spPr>
        <p:txBody>
          <a:bodyPr vert="horz" wrap="square" lIns="0" tIns="12065" rIns="0" bIns="0" rtlCol="0">
            <a:spAutoFit/>
          </a:bodyPr>
          <a:lstStyle/>
          <a:p>
            <a:pPr marL="38100">
              <a:lnSpc>
                <a:spcPct val="100000"/>
              </a:lnSpc>
              <a:spcBef>
                <a:spcPts val="95"/>
              </a:spcBef>
            </a:pPr>
            <a:r>
              <a:rPr sz="1700" b="1" spc="-225" dirty="0">
                <a:solidFill>
                  <a:srgbClr val="111726"/>
                </a:solidFill>
                <a:latin typeface="微软雅黑" panose="020B0503020204020204" charset="-122"/>
                <a:cs typeface="微软雅黑" panose="020B0503020204020204" charset="-122"/>
              </a:rPr>
              <a:t>问题</a:t>
            </a:r>
            <a:r>
              <a:rPr sz="1700" b="1" spc="-225" dirty="0">
                <a:solidFill>
                  <a:srgbClr val="111726"/>
                </a:solidFill>
                <a:latin typeface="Yu Gothic UI Semibold" panose="020B0700000000000000" charset="-128"/>
                <a:cs typeface="Yu Gothic UI Semibold" panose="020B0700000000000000" charset="-128"/>
              </a:rPr>
              <a:t>：</a:t>
            </a:r>
            <a:r>
              <a:rPr sz="1700" b="1" spc="-95" dirty="0">
                <a:solidFill>
                  <a:srgbClr val="111726"/>
                </a:solidFill>
                <a:latin typeface="微软雅黑" panose="020B0503020204020204" charset="-122"/>
                <a:cs typeface="微软雅黑" panose="020B0503020204020204" charset="-122"/>
              </a:rPr>
              <a:t>测试时 </a:t>
            </a:r>
            <a:r>
              <a:rPr sz="1500" b="1" spc="130" dirty="0">
                <a:solidFill>
                  <a:srgbClr val="1A1A1A"/>
                </a:solidFill>
                <a:latin typeface="Georgia" panose="02040502050405020303"/>
                <a:cs typeface="Georgia" panose="02040502050405020303"/>
              </a:rPr>
              <a:t>X</a:t>
            </a:r>
            <a:r>
              <a:rPr sz="1575" i="1" spc="195" baseline="26000" dirty="0">
                <a:solidFill>
                  <a:srgbClr val="1A1A1A"/>
                </a:solidFill>
                <a:latin typeface="Calibri" panose="020F0502020204030204"/>
                <a:cs typeface="Calibri" panose="020F0502020204030204"/>
              </a:rPr>
              <a:t>H</a:t>
            </a:r>
            <a:r>
              <a:rPr sz="1575" i="1" spc="209" baseline="26000" dirty="0">
                <a:solidFill>
                  <a:srgbClr val="1A1A1A"/>
                </a:solidFill>
                <a:latin typeface="Calibri" panose="020F0502020204030204"/>
                <a:cs typeface="Calibri" panose="020F0502020204030204"/>
              </a:rPr>
              <a:t>  </a:t>
            </a:r>
            <a:r>
              <a:rPr sz="1700" b="1" spc="-225" dirty="0">
                <a:solidFill>
                  <a:srgbClr val="111726"/>
                </a:solidFill>
                <a:latin typeface="微软雅黑" panose="020B0503020204020204" charset="-122"/>
                <a:cs typeface="微软雅黑" panose="020B0503020204020204" charset="-122"/>
              </a:rPr>
              <a:t>不可知</a:t>
            </a:r>
            <a:r>
              <a:rPr sz="1700" b="1" spc="-225" dirty="0">
                <a:solidFill>
                  <a:srgbClr val="111726"/>
                </a:solidFill>
                <a:latin typeface="Yu Gothic UI Semibold" panose="020B0700000000000000" charset="-128"/>
                <a:cs typeface="Yu Gothic UI Semibold" panose="020B0700000000000000" charset="-128"/>
              </a:rPr>
              <a:t>，</a:t>
            </a:r>
            <a:r>
              <a:rPr sz="1700" b="1" spc="-204" dirty="0">
                <a:solidFill>
                  <a:srgbClr val="111726"/>
                </a:solidFill>
                <a:latin typeface="微软雅黑" panose="020B0503020204020204" charset="-122"/>
                <a:cs typeface="微软雅黑" panose="020B0503020204020204" charset="-122"/>
              </a:rPr>
              <a:t>如何驱动系统？</a:t>
            </a:r>
            <a:endParaRPr sz="1700">
              <a:latin typeface="微软雅黑" panose="020B0503020204020204" charset="-122"/>
              <a:cs typeface="微软雅黑" panose="020B0503020204020204" charset="-122"/>
            </a:endParaRPr>
          </a:p>
          <a:p>
            <a:pPr marL="38100" marR="30480">
              <a:lnSpc>
                <a:spcPct val="115000"/>
              </a:lnSpc>
              <a:spcBef>
                <a:spcPts val="950"/>
              </a:spcBef>
            </a:pPr>
            <a:r>
              <a:rPr sz="1150" spc="-110" dirty="0">
                <a:solidFill>
                  <a:srgbClr val="4A5462"/>
                </a:solidFill>
                <a:latin typeface="宋体" panose="02010600030101010101" pitchFamily="2" charset="-122"/>
                <a:cs typeface="宋体" panose="02010600030101010101" pitchFamily="2" charset="-122"/>
              </a:rPr>
              <a:t>由于真实值包含未来信息无法在推理获取，框架需要主干网络</a:t>
            </a:r>
            <a:r>
              <a:rPr sz="1200" dirty="0">
                <a:solidFill>
                  <a:srgbClr val="4A5462"/>
                </a:solidFill>
                <a:latin typeface="Microsoft Sans Serif" panose="020B0604020202020204"/>
                <a:cs typeface="Microsoft Sans Serif" panose="020B0604020202020204"/>
              </a:rPr>
              <a:t>“</a:t>
            </a:r>
            <a:r>
              <a:rPr sz="1150" spc="-50" dirty="0">
                <a:solidFill>
                  <a:srgbClr val="4A5462"/>
                </a:solidFill>
                <a:latin typeface="宋体" panose="02010600030101010101" pitchFamily="2" charset="-122"/>
                <a:cs typeface="宋体" panose="02010600030101010101" pitchFamily="2" charset="-122"/>
              </a:rPr>
              <a:t>预</a:t>
            </a:r>
            <a:r>
              <a:rPr sz="1150" spc="-110" dirty="0">
                <a:solidFill>
                  <a:srgbClr val="4A5462"/>
                </a:solidFill>
                <a:latin typeface="宋体" panose="02010600030101010101" pitchFamily="2" charset="-122"/>
                <a:cs typeface="宋体" panose="02010600030101010101" pitchFamily="2" charset="-122"/>
              </a:rPr>
              <a:t>测</a:t>
            </a:r>
            <a:r>
              <a:rPr sz="1200" dirty="0">
                <a:solidFill>
                  <a:srgbClr val="4A5462"/>
                </a:solidFill>
                <a:latin typeface="Microsoft Sans Serif" panose="020B0604020202020204"/>
                <a:cs typeface="Microsoft Sans Serif" panose="020B0604020202020204"/>
              </a:rPr>
              <a:t>”</a:t>
            </a:r>
            <a:r>
              <a:rPr sz="1150" spc="-90" dirty="0">
                <a:solidFill>
                  <a:srgbClr val="4A5462"/>
                </a:solidFill>
                <a:latin typeface="宋体" panose="02010600030101010101" pitchFamily="2" charset="-122"/>
                <a:cs typeface="宋体" panose="02010600030101010101" pitchFamily="2" charset="-122"/>
              </a:rPr>
              <a:t>出前置定义好的理想特征 </a:t>
            </a:r>
            <a:r>
              <a:rPr sz="1050" b="1" spc="135" dirty="0">
                <a:solidFill>
                  <a:srgbClr val="1A1A1A"/>
                </a:solidFill>
                <a:latin typeface="Georgia" panose="02040502050405020303"/>
                <a:cs typeface="Georgia" panose="02040502050405020303"/>
              </a:rPr>
              <a:t>X</a:t>
            </a:r>
            <a:r>
              <a:rPr sz="1050" i="1" spc="202" baseline="28000" dirty="0">
                <a:solidFill>
                  <a:srgbClr val="1A1A1A"/>
                </a:solidFill>
                <a:latin typeface="Calibri" panose="020F0502020204030204"/>
                <a:cs typeface="Calibri" panose="020F0502020204030204"/>
              </a:rPr>
              <a:t>SUR</a:t>
            </a:r>
            <a:r>
              <a:rPr sz="1050" i="1" spc="382" baseline="28000" dirty="0">
                <a:solidFill>
                  <a:srgbClr val="1A1A1A"/>
                </a:solidFill>
                <a:latin typeface="Calibri" panose="020F0502020204030204"/>
                <a:cs typeface="Calibri" panose="020F0502020204030204"/>
              </a:rPr>
              <a:t> </a:t>
            </a:r>
            <a:r>
              <a:rPr sz="1150" spc="-50" dirty="0">
                <a:solidFill>
                  <a:srgbClr val="4A5462"/>
                </a:solidFill>
                <a:latin typeface="宋体" panose="02010600030101010101" pitchFamily="2" charset="-122"/>
                <a:cs typeface="宋体" panose="02010600030101010101" pitchFamily="2" charset="-122"/>
              </a:rPr>
              <a:t>。</a:t>
            </a:r>
            <a:endParaRPr sz="1150">
              <a:latin typeface="宋体" panose="02010600030101010101" pitchFamily="2" charset="-122"/>
              <a:cs typeface="宋体" panose="02010600030101010101" pitchFamily="2" charset="-122"/>
            </a:endParaRPr>
          </a:p>
        </p:txBody>
      </p:sp>
      <p:grpSp>
        <p:nvGrpSpPr>
          <p:cNvPr id="15" name="object 15"/>
          <p:cNvGrpSpPr/>
          <p:nvPr/>
        </p:nvGrpSpPr>
        <p:grpSpPr>
          <a:xfrm>
            <a:off x="5057774" y="1285874"/>
            <a:ext cx="6677025" cy="2486025"/>
            <a:chOff x="5057774" y="1285874"/>
            <a:chExt cx="6677025" cy="2486025"/>
          </a:xfrm>
        </p:grpSpPr>
        <p:sp>
          <p:nvSpPr>
            <p:cNvPr id="16" name="object 16"/>
            <p:cNvSpPr/>
            <p:nvPr/>
          </p:nvSpPr>
          <p:spPr>
            <a:xfrm>
              <a:off x="5062537" y="1290637"/>
              <a:ext cx="6667500" cy="2476500"/>
            </a:xfrm>
            <a:custGeom>
              <a:avLst/>
              <a:gdLst/>
              <a:ahLst/>
              <a:cxnLst/>
              <a:rect l="l" t="t" r="r" b="b"/>
              <a:pathLst>
                <a:path w="6667500" h="2476500">
                  <a:moveTo>
                    <a:pt x="6565154" y="2476499"/>
                  </a:moveTo>
                  <a:lnTo>
                    <a:pt x="102345" y="2476499"/>
                  </a:lnTo>
                  <a:lnTo>
                    <a:pt x="95221" y="2475797"/>
                  </a:lnTo>
                  <a:lnTo>
                    <a:pt x="54661" y="2462034"/>
                  </a:lnTo>
                  <a:lnTo>
                    <a:pt x="22456" y="2433797"/>
                  </a:lnTo>
                  <a:lnTo>
                    <a:pt x="3507" y="2395385"/>
                  </a:lnTo>
                  <a:lnTo>
                    <a:pt x="0" y="2374154"/>
                  </a:lnTo>
                  <a:lnTo>
                    <a:pt x="0" y="2366962"/>
                  </a:lnTo>
                  <a:lnTo>
                    <a:pt x="0" y="102345"/>
                  </a:lnTo>
                  <a:lnTo>
                    <a:pt x="11090" y="60974"/>
                  </a:lnTo>
                  <a:lnTo>
                    <a:pt x="37168" y="26997"/>
                  </a:lnTo>
                  <a:lnTo>
                    <a:pt x="74264" y="5585"/>
                  </a:lnTo>
                  <a:lnTo>
                    <a:pt x="102345" y="0"/>
                  </a:lnTo>
                  <a:lnTo>
                    <a:pt x="6565154" y="0"/>
                  </a:lnTo>
                  <a:lnTo>
                    <a:pt x="6606524" y="11090"/>
                  </a:lnTo>
                  <a:lnTo>
                    <a:pt x="6640501" y="37168"/>
                  </a:lnTo>
                  <a:lnTo>
                    <a:pt x="6661913" y="74264"/>
                  </a:lnTo>
                  <a:lnTo>
                    <a:pt x="6667498" y="102345"/>
                  </a:lnTo>
                  <a:lnTo>
                    <a:pt x="6667498" y="2374154"/>
                  </a:lnTo>
                  <a:lnTo>
                    <a:pt x="6656407" y="2415524"/>
                  </a:lnTo>
                  <a:lnTo>
                    <a:pt x="6630330" y="2449502"/>
                  </a:lnTo>
                  <a:lnTo>
                    <a:pt x="6593234" y="2470913"/>
                  </a:lnTo>
                  <a:lnTo>
                    <a:pt x="6572276" y="2475797"/>
                  </a:lnTo>
                  <a:lnTo>
                    <a:pt x="6565154" y="2476499"/>
                  </a:lnTo>
                  <a:close/>
                </a:path>
              </a:pathLst>
            </a:custGeom>
            <a:solidFill>
              <a:srgbClr val="FFFFFF"/>
            </a:solidFill>
          </p:spPr>
          <p:txBody>
            <a:bodyPr wrap="square" lIns="0" tIns="0" rIns="0" bIns="0" rtlCol="0"/>
            <a:lstStyle/>
            <a:p/>
          </p:txBody>
        </p:sp>
        <p:sp>
          <p:nvSpPr>
            <p:cNvPr id="17" name="object 17"/>
            <p:cNvSpPr/>
            <p:nvPr/>
          </p:nvSpPr>
          <p:spPr>
            <a:xfrm>
              <a:off x="5062537" y="1290637"/>
              <a:ext cx="6667500" cy="2476500"/>
            </a:xfrm>
            <a:custGeom>
              <a:avLst/>
              <a:gdLst/>
              <a:ahLst/>
              <a:cxnLst/>
              <a:rect l="l" t="t" r="r" b="b"/>
              <a:pathLst>
                <a:path w="6667500" h="2476500">
                  <a:moveTo>
                    <a:pt x="0" y="236696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6557961" y="0"/>
                  </a:lnTo>
                  <a:lnTo>
                    <a:pt x="6565154" y="0"/>
                  </a:lnTo>
                  <a:lnTo>
                    <a:pt x="6572276" y="701"/>
                  </a:lnTo>
                  <a:lnTo>
                    <a:pt x="6579330" y="2104"/>
                  </a:lnTo>
                  <a:lnTo>
                    <a:pt x="6586384" y="3507"/>
                  </a:lnTo>
                  <a:lnTo>
                    <a:pt x="6593234" y="5585"/>
                  </a:lnTo>
                  <a:lnTo>
                    <a:pt x="6599879" y="8338"/>
                  </a:lnTo>
                  <a:lnTo>
                    <a:pt x="6606524" y="11090"/>
                  </a:lnTo>
                  <a:lnTo>
                    <a:pt x="6612836" y="14464"/>
                  </a:lnTo>
                  <a:lnTo>
                    <a:pt x="6618816" y="18460"/>
                  </a:lnTo>
                  <a:lnTo>
                    <a:pt x="6624796" y="22456"/>
                  </a:lnTo>
                  <a:lnTo>
                    <a:pt x="6653033" y="54661"/>
                  </a:lnTo>
                  <a:lnTo>
                    <a:pt x="6659160" y="67619"/>
                  </a:lnTo>
                  <a:lnTo>
                    <a:pt x="6661913" y="74264"/>
                  </a:lnTo>
                  <a:lnTo>
                    <a:pt x="6667499" y="109537"/>
                  </a:lnTo>
                  <a:lnTo>
                    <a:pt x="6667499" y="2366962"/>
                  </a:lnTo>
                  <a:lnTo>
                    <a:pt x="6659160" y="2408880"/>
                  </a:lnTo>
                  <a:lnTo>
                    <a:pt x="6635415" y="2444416"/>
                  </a:lnTo>
                  <a:lnTo>
                    <a:pt x="6618817" y="2458039"/>
                  </a:lnTo>
                  <a:lnTo>
                    <a:pt x="6612836" y="2462034"/>
                  </a:lnTo>
                  <a:lnTo>
                    <a:pt x="6606524" y="2465408"/>
                  </a:lnTo>
                  <a:lnTo>
                    <a:pt x="6599879" y="2468161"/>
                  </a:lnTo>
                  <a:lnTo>
                    <a:pt x="6593234" y="2470913"/>
                  </a:lnTo>
                  <a:lnTo>
                    <a:pt x="6586384" y="2472991"/>
                  </a:lnTo>
                  <a:lnTo>
                    <a:pt x="6579330" y="2474394"/>
                  </a:lnTo>
                  <a:lnTo>
                    <a:pt x="6572276" y="2475797"/>
                  </a:lnTo>
                  <a:lnTo>
                    <a:pt x="6565154" y="2476499"/>
                  </a:lnTo>
                  <a:lnTo>
                    <a:pt x="6557961" y="2476499"/>
                  </a:lnTo>
                  <a:lnTo>
                    <a:pt x="109537" y="2476499"/>
                  </a:lnTo>
                  <a:lnTo>
                    <a:pt x="67619" y="2468161"/>
                  </a:lnTo>
                  <a:lnTo>
                    <a:pt x="60974" y="2465408"/>
                  </a:lnTo>
                  <a:lnTo>
                    <a:pt x="54661" y="2462034"/>
                  </a:lnTo>
                  <a:lnTo>
                    <a:pt x="48681" y="2458039"/>
                  </a:lnTo>
                  <a:lnTo>
                    <a:pt x="42701" y="2454043"/>
                  </a:lnTo>
                  <a:lnTo>
                    <a:pt x="14464" y="2421837"/>
                  </a:lnTo>
                  <a:lnTo>
                    <a:pt x="701" y="2381277"/>
                  </a:lnTo>
                  <a:lnTo>
                    <a:pt x="0" y="2374154"/>
                  </a:lnTo>
                  <a:lnTo>
                    <a:pt x="0" y="2366962"/>
                  </a:lnTo>
                  <a:close/>
                </a:path>
              </a:pathLst>
            </a:custGeom>
            <a:ln w="9524">
              <a:solidFill>
                <a:srgbClr val="E4E4E4"/>
              </a:solidFill>
            </a:ln>
          </p:spPr>
          <p:txBody>
            <a:bodyPr wrap="square" lIns="0" tIns="0" rIns="0" bIns="0" rtlCol="0"/>
            <a:lstStyle/>
            <a:p/>
          </p:txBody>
        </p:sp>
      </p:grpSp>
      <p:sp>
        <p:nvSpPr>
          <p:cNvPr id="18" name="object 18"/>
          <p:cNvSpPr txBox="1"/>
          <p:nvPr/>
        </p:nvSpPr>
        <p:spPr>
          <a:xfrm>
            <a:off x="5246885" y="1492250"/>
            <a:ext cx="2020570" cy="162560"/>
          </a:xfrm>
          <a:prstGeom prst="rect">
            <a:avLst/>
          </a:prstGeom>
        </p:spPr>
        <p:txBody>
          <a:bodyPr vert="horz" wrap="square" lIns="0" tIns="12700" rIns="0" bIns="0" rtlCol="0">
            <a:spAutoFit/>
          </a:bodyPr>
          <a:lstStyle/>
          <a:p>
            <a:pPr marL="12700">
              <a:lnSpc>
                <a:spcPct val="100000"/>
              </a:lnSpc>
              <a:spcBef>
                <a:spcPts val="100"/>
              </a:spcBef>
            </a:pPr>
            <a:r>
              <a:rPr sz="900" spc="40" dirty="0">
                <a:solidFill>
                  <a:srgbClr val="4A4A4A"/>
                </a:solidFill>
                <a:latin typeface="宋体" panose="02010600030101010101" pitchFamily="2" charset="-122"/>
                <a:cs typeface="宋体" panose="02010600030101010101" pitchFamily="2" charset="-122"/>
              </a:rPr>
              <a:t>代理逼近损失 / </a:t>
            </a:r>
            <a:r>
              <a:rPr sz="900" spc="170" dirty="0">
                <a:solidFill>
                  <a:srgbClr val="4A4A4A"/>
                </a:solidFill>
                <a:latin typeface="宋体" panose="02010600030101010101" pitchFamily="2" charset="-122"/>
                <a:cs typeface="宋体" panose="02010600030101010101" pitchFamily="2" charset="-122"/>
              </a:rPr>
              <a:t>SURROGATE</a:t>
            </a:r>
            <a:r>
              <a:rPr sz="900" dirty="0">
                <a:solidFill>
                  <a:srgbClr val="4A4A4A"/>
                </a:solidFill>
                <a:latin typeface="宋体" panose="02010600030101010101" pitchFamily="2" charset="-122"/>
                <a:cs typeface="宋体" panose="02010600030101010101" pitchFamily="2" charset="-122"/>
              </a:rPr>
              <a:t> </a:t>
            </a:r>
            <a:r>
              <a:rPr sz="900" spc="130" dirty="0">
                <a:solidFill>
                  <a:srgbClr val="4A4A4A"/>
                </a:solidFill>
                <a:latin typeface="宋体" panose="02010600030101010101" pitchFamily="2" charset="-122"/>
                <a:cs typeface="宋体" panose="02010600030101010101" pitchFamily="2" charset="-122"/>
              </a:rPr>
              <a:t>LOSS</a:t>
            </a:r>
            <a:endParaRPr sz="900">
              <a:latin typeface="宋体" panose="02010600030101010101" pitchFamily="2" charset="-122"/>
              <a:cs typeface="宋体" panose="02010600030101010101" pitchFamily="2" charset="-122"/>
            </a:endParaRPr>
          </a:p>
        </p:txBody>
      </p:sp>
      <p:sp>
        <p:nvSpPr>
          <p:cNvPr id="19" name="object 19"/>
          <p:cNvSpPr/>
          <p:nvPr/>
        </p:nvSpPr>
        <p:spPr>
          <a:xfrm>
            <a:off x="10925173" y="1485899"/>
            <a:ext cx="609600" cy="180975"/>
          </a:xfrm>
          <a:custGeom>
            <a:avLst/>
            <a:gdLst/>
            <a:ahLst/>
            <a:cxnLst/>
            <a:rect l="l" t="t" r="r" b="b"/>
            <a:pathLst>
              <a:path w="609600" h="180975">
                <a:moveTo>
                  <a:pt x="576551" y="180974"/>
                </a:moveTo>
                <a:lnTo>
                  <a:pt x="33047" y="180974"/>
                </a:lnTo>
                <a:lnTo>
                  <a:pt x="28187" y="180008"/>
                </a:lnTo>
                <a:lnTo>
                  <a:pt x="966" y="152787"/>
                </a:lnTo>
                <a:lnTo>
                  <a:pt x="0" y="147927"/>
                </a:lnTo>
                <a:lnTo>
                  <a:pt x="0" y="142874"/>
                </a:lnTo>
                <a:lnTo>
                  <a:pt x="0" y="33047"/>
                </a:lnTo>
                <a:lnTo>
                  <a:pt x="28187" y="966"/>
                </a:lnTo>
                <a:lnTo>
                  <a:pt x="33047" y="0"/>
                </a:lnTo>
                <a:lnTo>
                  <a:pt x="576551" y="0"/>
                </a:lnTo>
                <a:lnTo>
                  <a:pt x="608633" y="28187"/>
                </a:lnTo>
                <a:lnTo>
                  <a:pt x="609599" y="33047"/>
                </a:lnTo>
                <a:lnTo>
                  <a:pt x="609599" y="147927"/>
                </a:lnTo>
                <a:lnTo>
                  <a:pt x="581412" y="180008"/>
                </a:lnTo>
                <a:lnTo>
                  <a:pt x="576551" y="180974"/>
                </a:lnTo>
                <a:close/>
              </a:path>
            </a:pathLst>
          </a:custGeom>
          <a:solidFill>
            <a:srgbClr val="F9FAFA"/>
          </a:solidFill>
        </p:spPr>
        <p:txBody>
          <a:bodyPr wrap="square" lIns="0" tIns="0" rIns="0" bIns="0" rtlCol="0"/>
          <a:lstStyle/>
          <a:p/>
        </p:txBody>
      </p:sp>
      <p:sp>
        <p:nvSpPr>
          <p:cNvPr id="20" name="object 20"/>
          <p:cNvSpPr txBox="1"/>
          <p:nvPr/>
        </p:nvSpPr>
        <p:spPr>
          <a:xfrm>
            <a:off x="10988525" y="1482725"/>
            <a:ext cx="483234" cy="139700"/>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9CA2AF"/>
                </a:solidFill>
                <a:latin typeface="Courier New" panose="02070309020205020404"/>
                <a:cs typeface="Courier New" panose="02070309020205020404"/>
              </a:rPr>
              <a:t>Branch </a:t>
            </a:r>
            <a:r>
              <a:rPr sz="750" spc="-50" dirty="0">
                <a:solidFill>
                  <a:srgbClr val="9CA2AF"/>
                </a:solidFill>
                <a:latin typeface="Courier New" panose="02070309020205020404"/>
                <a:cs typeface="Courier New" panose="02070309020205020404"/>
              </a:rPr>
              <a:t>A</a:t>
            </a:r>
            <a:endParaRPr sz="750">
              <a:latin typeface="Courier New" panose="02070309020205020404"/>
              <a:cs typeface="Courier New" panose="02070309020205020404"/>
            </a:endParaRPr>
          </a:p>
        </p:txBody>
      </p:sp>
      <p:grpSp>
        <p:nvGrpSpPr>
          <p:cNvPr id="21" name="object 21"/>
          <p:cNvGrpSpPr/>
          <p:nvPr/>
        </p:nvGrpSpPr>
        <p:grpSpPr>
          <a:xfrm>
            <a:off x="7153274" y="2124074"/>
            <a:ext cx="2486025" cy="819150"/>
            <a:chOff x="7153274" y="2124074"/>
            <a:chExt cx="2486025" cy="819150"/>
          </a:xfrm>
        </p:grpSpPr>
        <p:sp>
          <p:nvSpPr>
            <p:cNvPr id="22" name="object 22"/>
            <p:cNvSpPr/>
            <p:nvPr/>
          </p:nvSpPr>
          <p:spPr>
            <a:xfrm>
              <a:off x="7158036" y="2128837"/>
              <a:ext cx="2476500" cy="809625"/>
            </a:xfrm>
            <a:custGeom>
              <a:avLst/>
              <a:gdLst/>
              <a:ahLst/>
              <a:cxnLst/>
              <a:rect l="l" t="t" r="r" b="b"/>
              <a:pathLst>
                <a:path w="2476500" h="809625">
                  <a:moveTo>
                    <a:pt x="2409752" y="809624"/>
                  </a:moveTo>
                  <a:lnTo>
                    <a:pt x="66747" y="809624"/>
                  </a:lnTo>
                  <a:lnTo>
                    <a:pt x="62101" y="809167"/>
                  </a:lnTo>
                  <a:lnTo>
                    <a:pt x="24240" y="792017"/>
                  </a:lnTo>
                  <a:lnTo>
                    <a:pt x="2287" y="756724"/>
                  </a:lnTo>
                  <a:lnTo>
                    <a:pt x="0" y="742877"/>
                  </a:lnTo>
                  <a:lnTo>
                    <a:pt x="0" y="738187"/>
                  </a:lnTo>
                  <a:lnTo>
                    <a:pt x="0" y="66746"/>
                  </a:lnTo>
                  <a:lnTo>
                    <a:pt x="14645" y="27848"/>
                  </a:lnTo>
                  <a:lnTo>
                    <a:pt x="48433" y="3642"/>
                  </a:lnTo>
                  <a:lnTo>
                    <a:pt x="66747" y="0"/>
                  </a:lnTo>
                  <a:lnTo>
                    <a:pt x="2409752" y="0"/>
                  </a:lnTo>
                  <a:lnTo>
                    <a:pt x="2448650" y="14645"/>
                  </a:lnTo>
                  <a:lnTo>
                    <a:pt x="2472856" y="48433"/>
                  </a:lnTo>
                  <a:lnTo>
                    <a:pt x="2476499" y="66746"/>
                  </a:lnTo>
                  <a:lnTo>
                    <a:pt x="2476499" y="742877"/>
                  </a:lnTo>
                  <a:lnTo>
                    <a:pt x="2461853" y="781775"/>
                  </a:lnTo>
                  <a:lnTo>
                    <a:pt x="2428066" y="805982"/>
                  </a:lnTo>
                  <a:lnTo>
                    <a:pt x="2414398" y="809167"/>
                  </a:lnTo>
                  <a:lnTo>
                    <a:pt x="2409752" y="809624"/>
                  </a:lnTo>
                  <a:close/>
                </a:path>
              </a:pathLst>
            </a:custGeom>
            <a:solidFill>
              <a:srgbClr val="F9FAFA"/>
            </a:solidFill>
          </p:spPr>
          <p:txBody>
            <a:bodyPr wrap="square" lIns="0" tIns="0" rIns="0" bIns="0" rtlCol="0"/>
            <a:lstStyle/>
            <a:p/>
          </p:txBody>
        </p:sp>
        <p:sp>
          <p:nvSpPr>
            <p:cNvPr id="23" name="object 23"/>
            <p:cNvSpPr/>
            <p:nvPr/>
          </p:nvSpPr>
          <p:spPr>
            <a:xfrm>
              <a:off x="7158036" y="2128837"/>
              <a:ext cx="2476500" cy="809625"/>
            </a:xfrm>
            <a:custGeom>
              <a:avLst/>
              <a:gdLst/>
              <a:ahLst/>
              <a:cxnLst/>
              <a:rect l="l" t="t" r="r" b="b"/>
              <a:pathLst>
                <a:path w="2476500" h="809625">
                  <a:moveTo>
                    <a:pt x="0" y="738187"/>
                  </a:moveTo>
                  <a:lnTo>
                    <a:pt x="0" y="71437"/>
                  </a:lnTo>
                  <a:lnTo>
                    <a:pt x="0" y="66746"/>
                  </a:lnTo>
                  <a:lnTo>
                    <a:pt x="457" y="62101"/>
                  </a:lnTo>
                  <a:lnTo>
                    <a:pt x="1372" y="57500"/>
                  </a:lnTo>
                  <a:lnTo>
                    <a:pt x="2287" y="52900"/>
                  </a:lnTo>
                  <a:lnTo>
                    <a:pt x="3642" y="48433"/>
                  </a:lnTo>
                  <a:lnTo>
                    <a:pt x="5437" y="44099"/>
                  </a:lnTo>
                  <a:lnTo>
                    <a:pt x="7232" y="39765"/>
                  </a:lnTo>
                  <a:lnTo>
                    <a:pt x="9433" y="35648"/>
                  </a:lnTo>
                  <a:lnTo>
                    <a:pt x="12039" y="31748"/>
                  </a:lnTo>
                  <a:lnTo>
                    <a:pt x="14645" y="27848"/>
                  </a:lnTo>
                  <a:lnTo>
                    <a:pt x="17606" y="24240"/>
                  </a:lnTo>
                  <a:lnTo>
                    <a:pt x="20923" y="20923"/>
                  </a:lnTo>
                  <a:lnTo>
                    <a:pt x="24240" y="17606"/>
                  </a:lnTo>
                  <a:lnTo>
                    <a:pt x="27848" y="14645"/>
                  </a:lnTo>
                  <a:lnTo>
                    <a:pt x="31749" y="12039"/>
                  </a:lnTo>
                  <a:lnTo>
                    <a:pt x="35649" y="9433"/>
                  </a:lnTo>
                  <a:lnTo>
                    <a:pt x="39765" y="7232"/>
                  </a:lnTo>
                  <a:lnTo>
                    <a:pt x="44099" y="5437"/>
                  </a:lnTo>
                  <a:lnTo>
                    <a:pt x="48433" y="3642"/>
                  </a:lnTo>
                  <a:lnTo>
                    <a:pt x="52900" y="2287"/>
                  </a:lnTo>
                  <a:lnTo>
                    <a:pt x="57500" y="1372"/>
                  </a:lnTo>
                  <a:lnTo>
                    <a:pt x="62101" y="457"/>
                  </a:lnTo>
                  <a:lnTo>
                    <a:pt x="66747" y="0"/>
                  </a:lnTo>
                  <a:lnTo>
                    <a:pt x="71437" y="0"/>
                  </a:lnTo>
                  <a:lnTo>
                    <a:pt x="2405062" y="0"/>
                  </a:lnTo>
                  <a:lnTo>
                    <a:pt x="2409752" y="0"/>
                  </a:lnTo>
                  <a:lnTo>
                    <a:pt x="2414398" y="457"/>
                  </a:lnTo>
                  <a:lnTo>
                    <a:pt x="2444750" y="12039"/>
                  </a:lnTo>
                  <a:lnTo>
                    <a:pt x="2448650" y="14645"/>
                  </a:lnTo>
                  <a:lnTo>
                    <a:pt x="2464460" y="31748"/>
                  </a:lnTo>
                  <a:lnTo>
                    <a:pt x="2467065" y="35648"/>
                  </a:lnTo>
                  <a:lnTo>
                    <a:pt x="2475126" y="57500"/>
                  </a:lnTo>
                  <a:lnTo>
                    <a:pt x="2476042" y="62101"/>
                  </a:lnTo>
                  <a:lnTo>
                    <a:pt x="2476499" y="66746"/>
                  </a:lnTo>
                  <a:lnTo>
                    <a:pt x="2476499" y="71437"/>
                  </a:lnTo>
                  <a:lnTo>
                    <a:pt x="2476499" y="738187"/>
                  </a:lnTo>
                  <a:lnTo>
                    <a:pt x="2476499" y="742877"/>
                  </a:lnTo>
                  <a:lnTo>
                    <a:pt x="2476042" y="747523"/>
                  </a:lnTo>
                  <a:lnTo>
                    <a:pt x="2475126" y="752123"/>
                  </a:lnTo>
                  <a:lnTo>
                    <a:pt x="2474211" y="756724"/>
                  </a:lnTo>
                  <a:lnTo>
                    <a:pt x="2464459" y="777875"/>
                  </a:lnTo>
                  <a:lnTo>
                    <a:pt x="2461853" y="781775"/>
                  </a:lnTo>
                  <a:lnTo>
                    <a:pt x="2444750" y="797585"/>
                  </a:lnTo>
                  <a:lnTo>
                    <a:pt x="2440850" y="800191"/>
                  </a:lnTo>
                  <a:lnTo>
                    <a:pt x="2418998" y="808252"/>
                  </a:lnTo>
                  <a:lnTo>
                    <a:pt x="2414398" y="809167"/>
                  </a:lnTo>
                  <a:lnTo>
                    <a:pt x="2409752" y="809624"/>
                  </a:lnTo>
                  <a:lnTo>
                    <a:pt x="2405062" y="809624"/>
                  </a:lnTo>
                  <a:lnTo>
                    <a:pt x="71437" y="809624"/>
                  </a:lnTo>
                  <a:lnTo>
                    <a:pt x="66747" y="809624"/>
                  </a:lnTo>
                  <a:lnTo>
                    <a:pt x="62101" y="809167"/>
                  </a:lnTo>
                  <a:lnTo>
                    <a:pt x="57500" y="808252"/>
                  </a:lnTo>
                  <a:lnTo>
                    <a:pt x="52900" y="807337"/>
                  </a:lnTo>
                  <a:lnTo>
                    <a:pt x="48433" y="805982"/>
                  </a:lnTo>
                  <a:lnTo>
                    <a:pt x="44099" y="804186"/>
                  </a:lnTo>
                  <a:lnTo>
                    <a:pt x="39765" y="802391"/>
                  </a:lnTo>
                  <a:lnTo>
                    <a:pt x="20923" y="788701"/>
                  </a:lnTo>
                  <a:lnTo>
                    <a:pt x="17606" y="785384"/>
                  </a:lnTo>
                  <a:lnTo>
                    <a:pt x="5437" y="765525"/>
                  </a:lnTo>
                  <a:lnTo>
                    <a:pt x="3642" y="761191"/>
                  </a:lnTo>
                  <a:lnTo>
                    <a:pt x="2287" y="756724"/>
                  </a:lnTo>
                  <a:lnTo>
                    <a:pt x="1372" y="752123"/>
                  </a:lnTo>
                  <a:lnTo>
                    <a:pt x="457" y="747523"/>
                  </a:lnTo>
                  <a:lnTo>
                    <a:pt x="0" y="742877"/>
                  </a:lnTo>
                  <a:lnTo>
                    <a:pt x="0" y="738187"/>
                  </a:lnTo>
                  <a:close/>
                </a:path>
              </a:pathLst>
            </a:custGeom>
            <a:ln w="9524">
              <a:solidFill>
                <a:srgbClr val="F2F4F5"/>
              </a:solidFill>
            </a:ln>
          </p:spPr>
          <p:txBody>
            <a:bodyPr wrap="square" lIns="0" tIns="0" rIns="0" bIns="0" rtlCol="0"/>
            <a:lstStyle/>
            <a:p/>
          </p:txBody>
        </p:sp>
      </p:grpSp>
      <p:sp>
        <p:nvSpPr>
          <p:cNvPr id="24" name="object 24"/>
          <p:cNvSpPr txBox="1"/>
          <p:nvPr/>
        </p:nvSpPr>
        <p:spPr>
          <a:xfrm>
            <a:off x="7279630" y="2397303"/>
            <a:ext cx="2239645" cy="245110"/>
          </a:xfrm>
          <a:prstGeom prst="rect">
            <a:avLst/>
          </a:prstGeom>
        </p:spPr>
        <p:txBody>
          <a:bodyPr vert="horz" wrap="square" lIns="0" tIns="11430" rIns="0" bIns="0" rtlCol="0">
            <a:spAutoFit/>
          </a:bodyPr>
          <a:lstStyle/>
          <a:p>
            <a:pPr marL="38100">
              <a:lnSpc>
                <a:spcPct val="100000"/>
              </a:lnSpc>
              <a:spcBef>
                <a:spcPts val="90"/>
              </a:spcBef>
            </a:pPr>
            <a:r>
              <a:rPr sz="1450" spc="229" dirty="0">
                <a:solidFill>
                  <a:srgbClr val="1A1A1A"/>
                </a:solidFill>
                <a:latin typeface="Calibri" panose="020F0502020204030204"/>
                <a:cs typeface="Calibri" panose="020F0502020204030204"/>
              </a:rPr>
              <a:t>L</a:t>
            </a:r>
            <a:r>
              <a:rPr sz="1500" i="1" spc="345" baseline="-11000" dirty="0">
                <a:solidFill>
                  <a:srgbClr val="1A1A1A"/>
                </a:solidFill>
                <a:latin typeface="Calibri" panose="020F0502020204030204"/>
                <a:cs typeface="Calibri" panose="020F0502020204030204"/>
              </a:rPr>
              <a:t>SUR</a:t>
            </a:r>
            <a:r>
              <a:rPr sz="1500" i="1" spc="359" baseline="-11000" dirty="0">
                <a:solidFill>
                  <a:srgbClr val="1A1A1A"/>
                </a:solidFill>
                <a:latin typeface="Calibri" panose="020F0502020204030204"/>
                <a:cs typeface="Calibri" panose="020F0502020204030204"/>
              </a:rPr>
              <a:t> </a:t>
            </a:r>
            <a:r>
              <a:rPr sz="1450" spc="320" dirty="0">
                <a:solidFill>
                  <a:srgbClr val="1A1A1A"/>
                </a:solidFill>
                <a:latin typeface="Cambria" panose="02040503050406030204"/>
                <a:cs typeface="Cambria" panose="02040503050406030204"/>
              </a:rPr>
              <a:t>=</a:t>
            </a:r>
            <a:r>
              <a:rPr sz="1450" spc="90" dirty="0">
                <a:solidFill>
                  <a:srgbClr val="1A1A1A"/>
                </a:solidFill>
                <a:latin typeface="Cambria" panose="02040503050406030204"/>
                <a:cs typeface="Cambria" panose="02040503050406030204"/>
              </a:rPr>
              <a:t> </a:t>
            </a:r>
            <a:r>
              <a:rPr sz="1450" spc="120" dirty="0">
                <a:solidFill>
                  <a:srgbClr val="1A1A1A"/>
                </a:solidFill>
                <a:latin typeface="Cambria" panose="02040503050406030204"/>
                <a:cs typeface="Cambria" panose="02040503050406030204"/>
              </a:rPr>
              <a:t>MSE(</a:t>
            </a:r>
            <a:r>
              <a:rPr sz="1450" b="1" spc="120" dirty="0">
                <a:solidFill>
                  <a:srgbClr val="1A1A1A"/>
                </a:solidFill>
                <a:latin typeface="Georgia" panose="02040502050405020303"/>
                <a:cs typeface="Georgia" panose="02040502050405020303"/>
              </a:rPr>
              <a:t>X</a:t>
            </a:r>
            <a:r>
              <a:rPr sz="1500" i="1" spc="179" baseline="33000" dirty="0">
                <a:solidFill>
                  <a:srgbClr val="1A1A1A"/>
                </a:solidFill>
                <a:latin typeface="Calibri" panose="020F0502020204030204"/>
                <a:cs typeface="Calibri" panose="020F0502020204030204"/>
              </a:rPr>
              <a:t>SUR</a:t>
            </a:r>
            <a:r>
              <a:rPr sz="1450" spc="120" dirty="0">
                <a:solidFill>
                  <a:srgbClr val="1A1A1A"/>
                </a:solidFill>
                <a:latin typeface="Cambria" panose="02040503050406030204"/>
                <a:cs typeface="Cambria" panose="02040503050406030204"/>
              </a:rPr>
              <a:t>,</a:t>
            </a:r>
            <a:r>
              <a:rPr sz="1450" spc="-105" dirty="0">
                <a:solidFill>
                  <a:srgbClr val="1A1A1A"/>
                </a:solidFill>
                <a:latin typeface="Cambria" panose="02040503050406030204"/>
                <a:cs typeface="Cambria" panose="02040503050406030204"/>
              </a:rPr>
              <a:t> </a:t>
            </a:r>
            <a:r>
              <a:rPr sz="1450" b="1" spc="-840" dirty="0">
                <a:solidFill>
                  <a:srgbClr val="1A1A1A"/>
                </a:solidFill>
                <a:latin typeface="Georgia" panose="02040502050405020303"/>
                <a:cs typeface="Georgia" panose="02040502050405020303"/>
              </a:rPr>
              <a:t>X</a:t>
            </a:r>
            <a:r>
              <a:rPr sz="2175" spc="-44" baseline="15000" dirty="0">
                <a:solidFill>
                  <a:srgbClr val="1A1A1A"/>
                </a:solidFill>
                <a:latin typeface="Cambria" panose="02040503050406030204"/>
                <a:cs typeface="Cambria" panose="02040503050406030204"/>
              </a:rPr>
              <a:t>^</a:t>
            </a:r>
            <a:r>
              <a:rPr sz="2175" spc="-247" baseline="15000" dirty="0">
                <a:solidFill>
                  <a:srgbClr val="1A1A1A"/>
                </a:solidFill>
                <a:latin typeface="Cambria" panose="02040503050406030204"/>
                <a:cs typeface="Cambria" panose="02040503050406030204"/>
              </a:rPr>
              <a:t> </a:t>
            </a:r>
            <a:r>
              <a:rPr sz="1500" i="1" spc="202" baseline="33000" dirty="0">
                <a:solidFill>
                  <a:srgbClr val="1A1A1A"/>
                </a:solidFill>
                <a:latin typeface="Calibri" panose="020F0502020204030204"/>
                <a:cs typeface="Calibri" panose="020F0502020204030204"/>
              </a:rPr>
              <a:t>SUR</a:t>
            </a:r>
            <a:r>
              <a:rPr sz="1450" spc="135" dirty="0">
                <a:solidFill>
                  <a:srgbClr val="1A1A1A"/>
                </a:solidFill>
                <a:latin typeface="Cambria" panose="02040503050406030204"/>
                <a:cs typeface="Cambria" panose="02040503050406030204"/>
              </a:rPr>
              <a:t>)</a:t>
            </a:r>
            <a:endParaRPr sz="1450">
              <a:latin typeface="Cambria" panose="02040503050406030204"/>
              <a:cs typeface="Cambria" panose="02040503050406030204"/>
            </a:endParaRPr>
          </a:p>
        </p:txBody>
      </p:sp>
      <p:sp>
        <p:nvSpPr>
          <p:cNvPr id="25" name="object 25"/>
          <p:cNvSpPr txBox="1"/>
          <p:nvPr/>
        </p:nvSpPr>
        <p:spPr>
          <a:xfrm>
            <a:off x="5221485" y="3382390"/>
            <a:ext cx="3715385" cy="180975"/>
          </a:xfrm>
          <a:prstGeom prst="rect">
            <a:avLst/>
          </a:prstGeom>
        </p:spPr>
        <p:txBody>
          <a:bodyPr vert="horz" wrap="square" lIns="0" tIns="14604" rIns="0" bIns="0" rtlCol="0">
            <a:spAutoFit/>
          </a:bodyPr>
          <a:lstStyle/>
          <a:p>
            <a:pPr marL="38100">
              <a:lnSpc>
                <a:spcPct val="100000"/>
              </a:lnSpc>
              <a:spcBef>
                <a:spcPts val="115"/>
              </a:spcBef>
            </a:pPr>
            <a:r>
              <a:rPr sz="1000" spc="-100" dirty="0">
                <a:solidFill>
                  <a:srgbClr val="4A5462"/>
                </a:solidFill>
                <a:latin typeface="宋体" panose="02010600030101010101" pitchFamily="2" charset="-122"/>
                <a:cs typeface="宋体" panose="02010600030101010101" pitchFamily="2" charset="-122"/>
              </a:rPr>
              <a:t>约束主网络分支预测出的伪态特征 </a:t>
            </a:r>
            <a:r>
              <a:rPr sz="900" b="1" spc="-445" dirty="0">
                <a:solidFill>
                  <a:srgbClr val="1A1A1A"/>
                </a:solidFill>
                <a:latin typeface="Georgia" panose="02040502050405020303"/>
                <a:cs typeface="Georgia" panose="02040502050405020303"/>
              </a:rPr>
              <a:t>X</a:t>
            </a:r>
            <a:r>
              <a:rPr sz="1350" spc="232" baseline="19000" dirty="0">
                <a:solidFill>
                  <a:srgbClr val="1A1A1A"/>
                </a:solidFill>
                <a:latin typeface="Cambria" panose="02040503050406030204"/>
                <a:cs typeface="Cambria" panose="02040503050406030204"/>
              </a:rPr>
              <a:t>^</a:t>
            </a:r>
            <a:r>
              <a:rPr sz="900" i="1" spc="150" baseline="32000" dirty="0">
                <a:solidFill>
                  <a:srgbClr val="1A1A1A"/>
                </a:solidFill>
                <a:latin typeface="Calibri" panose="020F0502020204030204"/>
                <a:cs typeface="Calibri" panose="020F0502020204030204"/>
              </a:rPr>
              <a:t>S</a:t>
            </a:r>
            <a:r>
              <a:rPr sz="900" i="1" spc="135" baseline="32000" dirty="0">
                <a:solidFill>
                  <a:srgbClr val="1A1A1A"/>
                </a:solidFill>
                <a:latin typeface="Calibri" panose="020F0502020204030204"/>
                <a:cs typeface="Calibri" panose="020F0502020204030204"/>
              </a:rPr>
              <a:t>U</a:t>
            </a:r>
            <a:r>
              <a:rPr sz="900" i="1" spc="120" baseline="32000" dirty="0">
                <a:solidFill>
                  <a:srgbClr val="1A1A1A"/>
                </a:solidFill>
                <a:latin typeface="Calibri" panose="020F0502020204030204"/>
                <a:cs typeface="Calibri" panose="020F0502020204030204"/>
              </a:rPr>
              <a:t>R</a:t>
            </a:r>
            <a:r>
              <a:rPr sz="900" i="1" spc="359" baseline="32000" dirty="0">
                <a:solidFill>
                  <a:srgbClr val="1A1A1A"/>
                </a:solidFill>
                <a:latin typeface="Calibri" panose="020F0502020204030204"/>
                <a:cs typeface="Calibri" panose="020F0502020204030204"/>
              </a:rPr>
              <a:t> </a:t>
            </a:r>
            <a:r>
              <a:rPr sz="1000" spc="-160" dirty="0">
                <a:solidFill>
                  <a:srgbClr val="4A5462"/>
                </a:solidFill>
                <a:latin typeface="宋体" panose="02010600030101010101" pitchFamily="2" charset="-122"/>
                <a:cs typeface="宋体" panose="02010600030101010101" pitchFamily="2" charset="-122"/>
              </a:rPr>
              <a:t>逼近 </a:t>
            </a:r>
            <a:r>
              <a:rPr sz="950" spc="-10" dirty="0">
                <a:solidFill>
                  <a:srgbClr val="4A5462"/>
                </a:solidFill>
                <a:latin typeface="Microsoft Sans Serif" panose="020B0604020202020204"/>
                <a:cs typeface="Microsoft Sans Serif" panose="020B0604020202020204"/>
              </a:rPr>
              <a:t>Ground</a:t>
            </a:r>
            <a:r>
              <a:rPr sz="950" spc="-55" dirty="0">
                <a:solidFill>
                  <a:srgbClr val="4A5462"/>
                </a:solidFill>
                <a:latin typeface="Microsoft Sans Serif" panose="020B0604020202020204"/>
                <a:cs typeface="Microsoft Sans Serif" panose="020B0604020202020204"/>
              </a:rPr>
              <a:t> </a:t>
            </a:r>
            <a:r>
              <a:rPr sz="950" dirty="0">
                <a:solidFill>
                  <a:srgbClr val="4A5462"/>
                </a:solidFill>
                <a:latin typeface="Microsoft Sans Serif" panose="020B0604020202020204"/>
                <a:cs typeface="Microsoft Sans Serif" panose="020B0604020202020204"/>
              </a:rPr>
              <a:t>Truth</a:t>
            </a:r>
            <a:r>
              <a:rPr sz="1000" spc="-90" dirty="0">
                <a:solidFill>
                  <a:srgbClr val="4A5462"/>
                </a:solidFill>
                <a:latin typeface="宋体" panose="02010600030101010101" pitchFamily="2" charset="-122"/>
                <a:cs typeface="宋体" panose="02010600030101010101" pitchFamily="2" charset="-122"/>
              </a:rPr>
              <a:t>掩码表征。</a:t>
            </a:r>
            <a:endParaRPr sz="1000">
              <a:latin typeface="宋体" panose="02010600030101010101" pitchFamily="2" charset="-122"/>
              <a:cs typeface="宋体" panose="02010600030101010101" pitchFamily="2" charset="-122"/>
            </a:endParaRPr>
          </a:p>
        </p:txBody>
      </p:sp>
      <p:grpSp>
        <p:nvGrpSpPr>
          <p:cNvPr id="26" name="object 26"/>
          <p:cNvGrpSpPr/>
          <p:nvPr/>
        </p:nvGrpSpPr>
        <p:grpSpPr>
          <a:xfrm>
            <a:off x="5057775" y="3924300"/>
            <a:ext cx="6677025" cy="2476500"/>
            <a:chOff x="5057775" y="3924300"/>
            <a:chExt cx="6677025" cy="2476500"/>
          </a:xfrm>
        </p:grpSpPr>
        <p:sp>
          <p:nvSpPr>
            <p:cNvPr id="27" name="object 27"/>
            <p:cNvSpPr/>
            <p:nvPr/>
          </p:nvSpPr>
          <p:spPr>
            <a:xfrm>
              <a:off x="5076824" y="3929062"/>
              <a:ext cx="6653530" cy="2466975"/>
            </a:xfrm>
            <a:custGeom>
              <a:avLst/>
              <a:gdLst/>
              <a:ahLst/>
              <a:cxnLst/>
              <a:rect l="l" t="t" r="r" b="b"/>
              <a:pathLst>
                <a:path w="6653530" h="2466975">
                  <a:moveTo>
                    <a:pt x="6550866" y="2466974"/>
                  </a:moveTo>
                  <a:lnTo>
                    <a:pt x="0" y="2466974"/>
                  </a:lnTo>
                  <a:lnTo>
                    <a:pt x="0" y="0"/>
                  </a:lnTo>
                  <a:lnTo>
                    <a:pt x="6550866" y="0"/>
                  </a:lnTo>
                  <a:lnTo>
                    <a:pt x="6557989" y="701"/>
                  </a:lnTo>
                  <a:lnTo>
                    <a:pt x="6598549" y="14464"/>
                  </a:lnTo>
                  <a:lnTo>
                    <a:pt x="6630754" y="42701"/>
                  </a:lnTo>
                  <a:lnTo>
                    <a:pt x="6649703" y="81113"/>
                  </a:lnTo>
                  <a:lnTo>
                    <a:pt x="6653211" y="102345"/>
                  </a:lnTo>
                  <a:lnTo>
                    <a:pt x="6653211" y="2364629"/>
                  </a:lnTo>
                  <a:lnTo>
                    <a:pt x="6642120" y="2406000"/>
                  </a:lnTo>
                  <a:lnTo>
                    <a:pt x="6616042" y="2439977"/>
                  </a:lnTo>
                  <a:lnTo>
                    <a:pt x="6578946" y="2461388"/>
                  </a:lnTo>
                  <a:lnTo>
                    <a:pt x="6550866" y="2466974"/>
                  </a:lnTo>
                  <a:close/>
                </a:path>
              </a:pathLst>
            </a:custGeom>
            <a:solidFill>
              <a:srgbClr val="FAFAFA"/>
            </a:solidFill>
          </p:spPr>
          <p:txBody>
            <a:bodyPr wrap="square" lIns="0" tIns="0" rIns="0" bIns="0" rtlCol="0"/>
            <a:lstStyle/>
            <a:p/>
          </p:txBody>
        </p:sp>
        <p:sp>
          <p:nvSpPr>
            <p:cNvPr id="28" name="object 28"/>
            <p:cNvSpPr/>
            <p:nvPr/>
          </p:nvSpPr>
          <p:spPr>
            <a:xfrm>
              <a:off x="5057775" y="3924299"/>
              <a:ext cx="6677025" cy="2476500"/>
            </a:xfrm>
            <a:custGeom>
              <a:avLst/>
              <a:gdLst/>
              <a:ahLst/>
              <a:cxnLst/>
              <a:rect l="l" t="t" r="r" b="b"/>
              <a:pathLst>
                <a:path w="6677025" h="2476500">
                  <a:moveTo>
                    <a:pt x="6677012" y="114300"/>
                  </a:moveTo>
                  <a:lnTo>
                    <a:pt x="6668313" y="70561"/>
                  </a:lnTo>
                  <a:lnTo>
                    <a:pt x="6643979" y="33997"/>
                  </a:lnTo>
                  <a:lnTo>
                    <a:pt x="6608204" y="9525"/>
                  </a:lnTo>
                  <a:lnTo>
                    <a:pt x="6562725" y="0"/>
                  </a:lnTo>
                  <a:lnTo>
                    <a:pt x="0" y="0"/>
                  </a:lnTo>
                  <a:lnTo>
                    <a:pt x="0" y="241"/>
                  </a:lnTo>
                  <a:lnTo>
                    <a:pt x="38100" y="9766"/>
                  </a:lnTo>
                  <a:lnTo>
                    <a:pt x="38100" y="9525"/>
                  </a:lnTo>
                  <a:lnTo>
                    <a:pt x="6562725" y="9525"/>
                  </a:lnTo>
                  <a:lnTo>
                    <a:pt x="6602819" y="17500"/>
                  </a:lnTo>
                  <a:lnTo>
                    <a:pt x="6636804" y="40220"/>
                  </a:lnTo>
                  <a:lnTo>
                    <a:pt x="6659512" y="74206"/>
                  </a:lnTo>
                  <a:lnTo>
                    <a:pt x="6667487" y="114300"/>
                  </a:lnTo>
                  <a:lnTo>
                    <a:pt x="6667487" y="2362200"/>
                  </a:lnTo>
                  <a:lnTo>
                    <a:pt x="6659512" y="2402306"/>
                  </a:lnTo>
                  <a:lnTo>
                    <a:pt x="6637261" y="2435796"/>
                  </a:lnTo>
                  <a:lnTo>
                    <a:pt x="6602819" y="2458999"/>
                  </a:lnTo>
                  <a:lnTo>
                    <a:pt x="6562725" y="2466975"/>
                  </a:lnTo>
                  <a:lnTo>
                    <a:pt x="38100" y="2466975"/>
                  </a:lnTo>
                  <a:lnTo>
                    <a:pt x="38100" y="2466746"/>
                  </a:lnTo>
                  <a:lnTo>
                    <a:pt x="0" y="2476271"/>
                  </a:lnTo>
                  <a:lnTo>
                    <a:pt x="0" y="2476500"/>
                  </a:lnTo>
                  <a:lnTo>
                    <a:pt x="6562725" y="2476500"/>
                  </a:lnTo>
                  <a:lnTo>
                    <a:pt x="6606464" y="2467800"/>
                  </a:lnTo>
                  <a:lnTo>
                    <a:pt x="6608204" y="2466975"/>
                  </a:lnTo>
                  <a:lnTo>
                    <a:pt x="6616649" y="2463000"/>
                  </a:lnTo>
                  <a:lnTo>
                    <a:pt x="6651117" y="2434679"/>
                  </a:lnTo>
                  <a:lnTo>
                    <a:pt x="6672123" y="2395334"/>
                  </a:lnTo>
                  <a:lnTo>
                    <a:pt x="6677012" y="2362200"/>
                  </a:lnTo>
                  <a:lnTo>
                    <a:pt x="6677012" y="114300"/>
                  </a:lnTo>
                  <a:close/>
                </a:path>
              </a:pathLst>
            </a:custGeom>
            <a:solidFill>
              <a:srgbClr val="E4E4E4"/>
            </a:solidFill>
          </p:spPr>
          <p:txBody>
            <a:bodyPr wrap="square" lIns="0" tIns="0" rIns="0" bIns="0" rtlCol="0"/>
            <a:lstStyle/>
            <a:p/>
          </p:txBody>
        </p:sp>
        <p:sp>
          <p:nvSpPr>
            <p:cNvPr id="29" name="object 29"/>
            <p:cNvSpPr/>
            <p:nvPr/>
          </p:nvSpPr>
          <p:spPr>
            <a:xfrm>
              <a:off x="5057775" y="3924300"/>
              <a:ext cx="38100" cy="2476500"/>
            </a:xfrm>
            <a:custGeom>
              <a:avLst/>
              <a:gdLst/>
              <a:ahLst/>
              <a:cxnLst/>
              <a:rect l="l" t="t" r="r" b="b"/>
              <a:pathLst>
                <a:path w="38100" h="2476500">
                  <a:moveTo>
                    <a:pt x="0" y="2476499"/>
                  </a:moveTo>
                  <a:lnTo>
                    <a:pt x="0" y="0"/>
                  </a:lnTo>
                  <a:lnTo>
                    <a:pt x="38100" y="9524"/>
                  </a:lnTo>
                  <a:lnTo>
                    <a:pt x="38099" y="2466974"/>
                  </a:lnTo>
                  <a:lnTo>
                    <a:pt x="0" y="2476499"/>
                  </a:lnTo>
                  <a:close/>
                </a:path>
              </a:pathLst>
            </a:custGeom>
            <a:solidFill>
              <a:srgbClr val="5B8BA7"/>
            </a:solidFill>
          </p:spPr>
          <p:txBody>
            <a:bodyPr wrap="square" lIns="0" tIns="0" rIns="0" bIns="0" rtlCol="0"/>
            <a:lstStyle/>
            <a:p/>
          </p:txBody>
        </p:sp>
      </p:grpSp>
      <p:sp>
        <p:nvSpPr>
          <p:cNvPr id="30" name="object 30"/>
          <p:cNvSpPr txBox="1"/>
          <p:nvPr/>
        </p:nvSpPr>
        <p:spPr>
          <a:xfrm>
            <a:off x="5275460" y="4121150"/>
            <a:ext cx="2212340" cy="162560"/>
          </a:xfrm>
          <a:prstGeom prst="rect">
            <a:avLst/>
          </a:prstGeom>
        </p:spPr>
        <p:txBody>
          <a:bodyPr vert="horz" wrap="square" lIns="0" tIns="12700" rIns="0" bIns="0" rtlCol="0">
            <a:spAutoFit/>
          </a:bodyPr>
          <a:lstStyle/>
          <a:p>
            <a:pPr marL="12700">
              <a:lnSpc>
                <a:spcPct val="100000"/>
              </a:lnSpc>
              <a:spcBef>
                <a:spcPts val="100"/>
              </a:spcBef>
            </a:pPr>
            <a:r>
              <a:rPr sz="900" spc="50" dirty="0">
                <a:solidFill>
                  <a:srgbClr val="1A1A1A"/>
                </a:solidFill>
                <a:latin typeface="宋体" panose="02010600030101010101" pitchFamily="2" charset="-122"/>
                <a:cs typeface="宋体" panose="02010600030101010101" pitchFamily="2" charset="-122"/>
              </a:rPr>
              <a:t>全局联合代价函数 / </a:t>
            </a:r>
            <a:r>
              <a:rPr sz="900" spc="60" dirty="0">
                <a:solidFill>
                  <a:srgbClr val="1A1A1A"/>
                </a:solidFill>
                <a:latin typeface="宋体" panose="02010600030101010101" pitchFamily="2" charset="-122"/>
                <a:cs typeface="宋体" panose="02010600030101010101" pitchFamily="2" charset="-122"/>
              </a:rPr>
              <a:t>JOINT</a:t>
            </a:r>
            <a:r>
              <a:rPr sz="900" spc="5" dirty="0">
                <a:solidFill>
                  <a:srgbClr val="1A1A1A"/>
                </a:solidFill>
                <a:latin typeface="宋体" panose="02010600030101010101" pitchFamily="2" charset="-122"/>
                <a:cs typeface="宋体" panose="02010600030101010101" pitchFamily="2" charset="-122"/>
              </a:rPr>
              <a:t> </a:t>
            </a:r>
            <a:r>
              <a:rPr sz="900" spc="90" dirty="0">
                <a:solidFill>
                  <a:srgbClr val="1A1A1A"/>
                </a:solidFill>
                <a:latin typeface="宋体" panose="02010600030101010101" pitchFamily="2" charset="-122"/>
                <a:cs typeface="宋体" panose="02010600030101010101" pitchFamily="2" charset="-122"/>
              </a:rPr>
              <a:t>OBJECTIVE</a:t>
            </a:r>
            <a:endParaRPr sz="900">
              <a:latin typeface="宋体" panose="02010600030101010101" pitchFamily="2" charset="-122"/>
              <a:cs typeface="宋体" panose="02010600030101010101" pitchFamily="2" charset="-122"/>
            </a:endParaRPr>
          </a:p>
        </p:txBody>
      </p:sp>
      <p:sp>
        <p:nvSpPr>
          <p:cNvPr id="31" name="object 31"/>
          <p:cNvSpPr/>
          <p:nvPr/>
        </p:nvSpPr>
        <p:spPr>
          <a:xfrm>
            <a:off x="10753723" y="4124325"/>
            <a:ext cx="781050" cy="180975"/>
          </a:xfrm>
          <a:custGeom>
            <a:avLst/>
            <a:gdLst/>
            <a:ahLst/>
            <a:cxnLst/>
            <a:rect l="l" t="t" r="r" b="b"/>
            <a:pathLst>
              <a:path w="781050" h="180975">
                <a:moveTo>
                  <a:pt x="748001" y="180974"/>
                </a:moveTo>
                <a:lnTo>
                  <a:pt x="33047" y="180974"/>
                </a:lnTo>
                <a:lnTo>
                  <a:pt x="28187" y="180008"/>
                </a:lnTo>
                <a:lnTo>
                  <a:pt x="966" y="152787"/>
                </a:lnTo>
                <a:lnTo>
                  <a:pt x="0" y="147927"/>
                </a:lnTo>
                <a:lnTo>
                  <a:pt x="0" y="142874"/>
                </a:lnTo>
                <a:lnTo>
                  <a:pt x="0" y="33047"/>
                </a:lnTo>
                <a:lnTo>
                  <a:pt x="28187" y="966"/>
                </a:lnTo>
                <a:lnTo>
                  <a:pt x="33047" y="0"/>
                </a:lnTo>
                <a:lnTo>
                  <a:pt x="748001" y="0"/>
                </a:lnTo>
                <a:lnTo>
                  <a:pt x="780083" y="28187"/>
                </a:lnTo>
                <a:lnTo>
                  <a:pt x="781049" y="33047"/>
                </a:lnTo>
                <a:lnTo>
                  <a:pt x="781049" y="147927"/>
                </a:lnTo>
                <a:lnTo>
                  <a:pt x="752862" y="180008"/>
                </a:lnTo>
                <a:lnTo>
                  <a:pt x="748001" y="180974"/>
                </a:lnTo>
                <a:close/>
              </a:path>
            </a:pathLst>
          </a:custGeom>
          <a:solidFill>
            <a:srgbClr val="E7F1F6"/>
          </a:solidFill>
        </p:spPr>
        <p:txBody>
          <a:bodyPr wrap="square" lIns="0" tIns="0" rIns="0" bIns="0" rtlCol="0"/>
          <a:lstStyle/>
          <a:p/>
        </p:txBody>
      </p:sp>
      <p:sp>
        <p:nvSpPr>
          <p:cNvPr id="32" name="object 32"/>
          <p:cNvSpPr txBox="1"/>
          <p:nvPr/>
        </p:nvSpPr>
        <p:spPr>
          <a:xfrm>
            <a:off x="10817075" y="4121150"/>
            <a:ext cx="654685" cy="139700"/>
          </a:xfrm>
          <a:prstGeom prst="rect">
            <a:avLst/>
          </a:prstGeom>
        </p:spPr>
        <p:txBody>
          <a:bodyPr vert="horz" wrap="square" lIns="0" tIns="12700" rIns="0" bIns="0" rtlCol="0">
            <a:spAutoFit/>
          </a:bodyPr>
          <a:lstStyle/>
          <a:p>
            <a:pPr marL="12700">
              <a:lnSpc>
                <a:spcPct val="100000"/>
              </a:lnSpc>
              <a:spcBef>
                <a:spcPts val="100"/>
              </a:spcBef>
            </a:pPr>
            <a:r>
              <a:rPr sz="750" spc="-10" dirty="0">
                <a:solidFill>
                  <a:srgbClr val="5B8BA7"/>
                </a:solidFill>
                <a:latin typeface="Courier New" panose="02070309020205020404"/>
                <a:cs typeface="Courier New" panose="02070309020205020404"/>
              </a:rPr>
              <a:t>Integration</a:t>
            </a:r>
            <a:endParaRPr sz="750">
              <a:latin typeface="Courier New" panose="02070309020205020404"/>
              <a:cs typeface="Courier New" panose="02070309020205020404"/>
            </a:endParaRPr>
          </a:p>
        </p:txBody>
      </p:sp>
      <p:grpSp>
        <p:nvGrpSpPr>
          <p:cNvPr id="33" name="object 33"/>
          <p:cNvGrpSpPr/>
          <p:nvPr/>
        </p:nvGrpSpPr>
        <p:grpSpPr>
          <a:xfrm>
            <a:off x="6657974" y="5514974"/>
            <a:ext cx="3505200" cy="314325"/>
            <a:chOff x="6657974" y="5514974"/>
            <a:chExt cx="3505200" cy="314325"/>
          </a:xfrm>
        </p:grpSpPr>
        <p:sp>
          <p:nvSpPr>
            <p:cNvPr id="34" name="object 34"/>
            <p:cNvSpPr/>
            <p:nvPr/>
          </p:nvSpPr>
          <p:spPr>
            <a:xfrm>
              <a:off x="6662736" y="5519737"/>
              <a:ext cx="3495675" cy="304800"/>
            </a:xfrm>
            <a:custGeom>
              <a:avLst/>
              <a:gdLst/>
              <a:ahLst/>
              <a:cxnLst/>
              <a:rect l="l" t="t" r="r" b="b"/>
              <a:pathLst>
                <a:path w="3495675" h="304800">
                  <a:moveTo>
                    <a:pt x="3466757" y="304799"/>
                  </a:moveTo>
                  <a:lnTo>
                    <a:pt x="28916" y="304799"/>
                  </a:lnTo>
                  <a:lnTo>
                    <a:pt x="24664" y="303953"/>
                  </a:lnTo>
                  <a:lnTo>
                    <a:pt x="0" y="275883"/>
                  </a:lnTo>
                  <a:lnTo>
                    <a:pt x="0" y="271462"/>
                  </a:lnTo>
                  <a:lnTo>
                    <a:pt x="0" y="28916"/>
                  </a:lnTo>
                  <a:lnTo>
                    <a:pt x="28916" y="0"/>
                  </a:lnTo>
                  <a:lnTo>
                    <a:pt x="3466757" y="0"/>
                  </a:lnTo>
                  <a:lnTo>
                    <a:pt x="3495674" y="28916"/>
                  </a:lnTo>
                  <a:lnTo>
                    <a:pt x="3495674" y="275883"/>
                  </a:lnTo>
                  <a:lnTo>
                    <a:pt x="3471010" y="303953"/>
                  </a:lnTo>
                  <a:lnTo>
                    <a:pt x="3466757" y="304799"/>
                  </a:lnTo>
                  <a:close/>
                </a:path>
              </a:pathLst>
            </a:custGeom>
            <a:solidFill>
              <a:srgbClr val="FFFFFF"/>
            </a:solidFill>
          </p:spPr>
          <p:txBody>
            <a:bodyPr wrap="square" lIns="0" tIns="0" rIns="0" bIns="0" rtlCol="0"/>
            <a:lstStyle/>
            <a:p/>
          </p:txBody>
        </p:sp>
        <p:sp>
          <p:nvSpPr>
            <p:cNvPr id="35" name="object 35"/>
            <p:cNvSpPr/>
            <p:nvPr/>
          </p:nvSpPr>
          <p:spPr>
            <a:xfrm>
              <a:off x="6662736" y="5519737"/>
              <a:ext cx="3495675" cy="304800"/>
            </a:xfrm>
            <a:custGeom>
              <a:avLst/>
              <a:gdLst/>
              <a:ahLst/>
              <a:cxnLst/>
              <a:rect l="l" t="t" r="r" b="b"/>
              <a:pathLst>
                <a:path w="3495675" h="304800">
                  <a:moveTo>
                    <a:pt x="0" y="271462"/>
                  </a:moveTo>
                  <a:lnTo>
                    <a:pt x="0" y="33337"/>
                  </a:lnTo>
                  <a:lnTo>
                    <a:pt x="0" y="28916"/>
                  </a:lnTo>
                  <a:lnTo>
                    <a:pt x="845" y="24663"/>
                  </a:lnTo>
                  <a:lnTo>
                    <a:pt x="2537" y="20579"/>
                  </a:lnTo>
                  <a:lnTo>
                    <a:pt x="4229" y="16495"/>
                  </a:lnTo>
                  <a:lnTo>
                    <a:pt x="6638" y="12890"/>
                  </a:lnTo>
                  <a:lnTo>
                    <a:pt x="9764" y="9764"/>
                  </a:lnTo>
                  <a:lnTo>
                    <a:pt x="12890" y="6638"/>
                  </a:lnTo>
                  <a:lnTo>
                    <a:pt x="16495" y="4229"/>
                  </a:lnTo>
                  <a:lnTo>
                    <a:pt x="20579" y="2537"/>
                  </a:lnTo>
                  <a:lnTo>
                    <a:pt x="24664" y="845"/>
                  </a:lnTo>
                  <a:lnTo>
                    <a:pt x="28916" y="0"/>
                  </a:lnTo>
                  <a:lnTo>
                    <a:pt x="33337" y="0"/>
                  </a:lnTo>
                  <a:lnTo>
                    <a:pt x="3462337" y="0"/>
                  </a:lnTo>
                  <a:lnTo>
                    <a:pt x="3466757" y="0"/>
                  </a:lnTo>
                  <a:lnTo>
                    <a:pt x="3471010" y="845"/>
                  </a:lnTo>
                  <a:lnTo>
                    <a:pt x="3475094" y="2537"/>
                  </a:lnTo>
                  <a:lnTo>
                    <a:pt x="3479178" y="4229"/>
                  </a:lnTo>
                  <a:lnTo>
                    <a:pt x="3482783" y="6638"/>
                  </a:lnTo>
                  <a:lnTo>
                    <a:pt x="3485909" y="9764"/>
                  </a:lnTo>
                  <a:lnTo>
                    <a:pt x="3489035" y="12890"/>
                  </a:lnTo>
                  <a:lnTo>
                    <a:pt x="3495674" y="33337"/>
                  </a:lnTo>
                  <a:lnTo>
                    <a:pt x="3495674" y="271462"/>
                  </a:lnTo>
                  <a:lnTo>
                    <a:pt x="3475094" y="302262"/>
                  </a:lnTo>
                  <a:lnTo>
                    <a:pt x="3471010" y="303953"/>
                  </a:lnTo>
                  <a:lnTo>
                    <a:pt x="3466757" y="304799"/>
                  </a:lnTo>
                  <a:lnTo>
                    <a:pt x="3462337" y="304799"/>
                  </a:lnTo>
                  <a:lnTo>
                    <a:pt x="33337" y="304799"/>
                  </a:lnTo>
                  <a:lnTo>
                    <a:pt x="28916" y="304799"/>
                  </a:lnTo>
                  <a:lnTo>
                    <a:pt x="24664" y="303953"/>
                  </a:lnTo>
                  <a:lnTo>
                    <a:pt x="20579" y="302262"/>
                  </a:lnTo>
                  <a:lnTo>
                    <a:pt x="16495" y="300570"/>
                  </a:lnTo>
                  <a:lnTo>
                    <a:pt x="0" y="275883"/>
                  </a:lnTo>
                  <a:lnTo>
                    <a:pt x="0" y="271462"/>
                  </a:lnTo>
                  <a:close/>
                </a:path>
              </a:pathLst>
            </a:custGeom>
            <a:ln w="9524">
              <a:solidFill>
                <a:srgbClr val="F2F4F5"/>
              </a:solidFill>
            </a:ln>
          </p:spPr>
          <p:txBody>
            <a:bodyPr wrap="square" lIns="0" tIns="0" rIns="0" bIns="0" rtlCol="0"/>
            <a:lstStyle/>
            <a:p/>
          </p:txBody>
        </p:sp>
      </p:grpSp>
      <p:sp>
        <p:nvSpPr>
          <p:cNvPr id="36" name="object 36"/>
          <p:cNvSpPr txBox="1"/>
          <p:nvPr/>
        </p:nvSpPr>
        <p:spPr>
          <a:xfrm>
            <a:off x="6893421" y="4906009"/>
            <a:ext cx="3034665" cy="226695"/>
          </a:xfrm>
          <a:prstGeom prst="rect">
            <a:avLst/>
          </a:prstGeom>
        </p:spPr>
        <p:txBody>
          <a:bodyPr vert="horz" wrap="square" lIns="0" tIns="15240" rIns="0" bIns="0" rtlCol="0">
            <a:spAutoFit/>
          </a:bodyPr>
          <a:lstStyle/>
          <a:p>
            <a:pPr marL="38100">
              <a:lnSpc>
                <a:spcPct val="100000"/>
              </a:lnSpc>
              <a:spcBef>
                <a:spcPts val="120"/>
              </a:spcBef>
            </a:pPr>
            <a:r>
              <a:rPr sz="1300" spc="355" dirty="0">
                <a:solidFill>
                  <a:srgbClr val="1A1A1A"/>
                </a:solidFill>
                <a:latin typeface="Calibri" panose="020F0502020204030204"/>
                <a:cs typeface="Calibri" panose="020F0502020204030204"/>
              </a:rPr>
              <a:t>L</a:t>
            </a:r>
            <a:r>
              <a:rPr sz="1300" spc="70" dirty="0">
                <a:solidFill>
                  <a:srgbClr val="1A1A1A"/>
                </a:solidFill>
                <a:latin typeface="Calibri" panose="020F0502020204030204"/>
                <a:cs typeface="Calibri" panose="020F0502020204030204"/>
              </a:rPr>
              <a:t> </a:t>
            </a:r>
            <a:r>
              <a:rPr sz="1300" spc="295" dirty="0">
                <a:solidFill>
                  <a:srgbClr val="1A1A1A"/>
                </a:solidFill>
                <a:latin typeface="Cambria" panose="02040503050406030204"/>
                <a:cs typeface="Cambria" panose="02040503050406030204"/>
              </a:rPr>
              <a:t>=</a:t>
            </a:r>
            <a:r>
              <a:rPr sz="1300" spc="110" dirty="0">
                <a:solidFill>
                  <a:srgbClr val="1A1A1A"/>
                </a:solidFill>
                <a:latin typeface="Cambria" panose="02040503050406030204"/>
                <a:cs typeface="Cambria" panose="02040503050406030204"/>
              </a:rPr>
              <a:t> </a:t>
            </a:r>
            <a:r>
              <a:rPr sz="1300" spc="165" dirty="0">
                <a:solidFill>
                  <a:srgbClr val="1A1A1A"/>
                </a:solidFill>
                <a:latin typeface="Calibri" panose="020F0502020204030204"/>
                <a:cs typeface="Calibri" panose="020F0502020204030204"/>
              </a:rPr>
              <a:t>L</a:t>
            </a:r>
            <a:r>
              <a:rPr sz="1350" i="1" spc="247" baseline="-9000" dirty="0">
                <a:solidFill>
                  <a:srgbClr val="1A1A1A"/>
                </a:solidFill>
                <a:latin typeface="Calibri" panose="020F0502020204030204"/>
                <a:cs typeface="Calibri" panose="020F0502020204030204"/>
              </a:rPr>
              <a:t>SUR</a:t>
            </a:r>
            <a:r>
              <a:rPr sz="1300" spc="165" dirty="0">
                <a:solidFill>
                  <a:srgbClr val="1A1A1A"/>
                </a:solidFill>
                <a:latin typeface="Cambria" panose="02040503050406030204"/>
                <a:cs typeface="Cambria" panose="02040503050406030204"/>
              </a:rPr>
              <a:t>(</a:t>
            </a:r>
            <a:r>
              <a:rPr sz="1300" b="1" spc="165" dirty="0">
                <a:solidFill>
                  <a:srgbClr val="1A1A1A"/>
                </a:solidFill>
                <a:latin typeface="Georgia" panose="02040502050405020303"/>
                <a:cs typeface="Georgia" panose="02040502050405020303"/>
              </a:rPr>
              <a:t>X</a:t>
            </a:r>
            <a:r>
              <a:rPr sz="1350" i="1" spc="247" baseline="37000" dirty="0">
                <a:solidFill>
                  <a:srgbClr val="1A1A1A"/>
                </a:solidFill>
                <a:latin typeface="Calibri" panose="020F0502020204030204"/>
                <a:cs typeface="Calibri" panose="020F0502020204030204"/>
              </a:rPr>
              <a:t>SUR</a:t>
            </a:r>
            <a:r>
              <a:rPr sz="1300" spc="165" dirty="0">
                <a:solidFill>
                  <a:srgbClr val="1A1A1A"/>
                </a:solidFill>
                <a:latin typeface="Cambria" panose="02040503050406030204"/>
                <a:cs typeface="Cambria" panose="02040503050406030204"/>
              </a:rPr>
              <a:t>,</a:t>
            </a:r>
            <a:r>
              <a:rPr sz="1300" spc="-55" dirty="0">
                <a:solidFill>
                  <a:srgbClr val="1A1A1A"/>
                </a:solidFill>
                <a:latin typeface="Cambria" panose="02040503050406030204"/>
                <a:cs typeface="Cambria" panose="02040503050406030204"/>
              </a:rPr>
              <a:t> </a:t>
            </a:r>
            <a:r>
              <a:rPr sz="1300" b="1" spc="-730" dirty="0">
                <a:solidFill>
                  <a:srgbClr val="1A1A1A"/>
                </a:solidFill>
                <a:latin typeface="Georgia" panose="02040502050405020303"/>
                <a:cs typeface="Georgia" panose="02040502050405020303"/>
              </a:rPr>
              <a:t>X</a:t>
            </a:r>
            <a:r>
              <a:rPr sz="1950" spc="-30" baseline="15000" dirty="0">
                <a:solidFill>
                  <a:srgbClr val="1A1A1A"/>
                </a:solidFill>
                <a:latin typeface="Cambria" panose="02040503050406030204"/>
                <a:cs typeface="Cambria" panose="02040503050406030204"/>
              </a:rPr>
              <a:t>^</a:t>
            </a:r>
            <a:r>
              <a:rPr sz="1950" spc="-187" baseline="15000" dirty="0">
                <a:solidFill>
                  <a:srgbClr val="1A1A1A"/>
                </a:solidFill>
                <a:latin typeface="Cambria" panose="02040503050406030204"/>
                <a:cs typeface="Cambria" panose="02040503050406030204"/>
              </a:rPr>
              <a:t> </a:t>
            </a:r>
            <a:r>
              <a:rPr sz="1350" i="1" spc="202" baseline="37000" dirty="0">
                <a:solidFill>
                  <a:srgbClr val="1A1A1A"/>
                </a:solidFill>
                <a:latin typeface="Calibri" panose="020F0502020204030204"/>
                <a:cs typeface="Calibri" panose="020F0502020204030204"/>
              </a:rPr>
              <a:t>SUR</a:t>
            </a:r>
            <a:r>
              <a:rPr sz="1300" spc="135" dirty="0">
                <a:solidFill>
                  <a:srgbClr val="1A1A1A"/>
                </a:solidFill>
                <a:latin typeface="Cambria" panose="02040503050406030204"/>
                <a:cs typeface="Cambria" panose="02040503050406030204"/>
              </a:rPr>
              <a:t>)</a:t>
            </a:r>
            <a:r>
              <a:rPr sz="1300" spc="25" dirty="0">
                <a:solidFill>
                  <a:srgbClr val="1A1A1A"/>
                </a:solidFill>
                <a:latin typeface="Cambria" panose="02040503050406030204"/>
                <a:cs typeface="Cambria" panose="02040503050406030204"/>
              </a:rPr>
              <a:t> </a:t>
            </a:r>
            <a:r>
              <a:rPr sz="1300" spc="295" dirty="0">
                <a:solidFill>
                  <a:srgbClr val="1A1A1A"/>
                </a:solidFill>
                <a:latin typeface="Cambria" panose="02040503050406030204"/>
                <a:cs typeface="Cambria" panose="02040503050406030204"/>
              </a:rPr>
              <a:t>+</a:t>
            </a:r>
            <a:r>
              <a:rPr sz="1300" spc="35" dirty="0">
                <a:solidFill>
                  <a:srgbClr val="1A1A1A"/>
                </a:solidFill>
                <a:latin typeface="Cambria" panose="02040503050406030204"/>
                <a:cs typeface="Cambria" panose="02040503050406030204"/>
              </a:rPr>
              <a:t> </a:t>
            </a:r>
            <a:r>
              <a:rPr sz="1300" spc="190" dirty="0">
                <a:solidFill>
                  <a:srgbClr val="1A1A1A"/>
                </a:solidFill>
                <a:latin typeface="Calibri" panose="020F0502020204030204"/>
                <a:cs typeface="Calibri" panose="020F0502020204030204"/>
              </a:rPr>
              <a:t>L</a:t>
            </a:r>
            <a:r>
              <a:rPr sz="1350" i="1" spc="284" baseline="-9000" dirty="0">
                <a:solidFill>
                  <a:srgbClr val="1A1A1A"/>
                </a:solidFill>
                <a:latin typeface="Calibri" panose="020F0502020204030204"/>
                <a:cs typeface="Calibri" panose="020F0502020204030204"/>
              </a:rPr>
              <a:t>TS</a:t>
            </a:r>
            <a:r>
              <a:rPr sz="1300" spc="190" dirty="0">
                <a:solidFill>
                  <a:srgbClr val="1A1A1A"/>
                </a:solidFill>
                <a:latin typeface="Cambria" panose="02040503050406030204"/>
                <a:cs typeface="Cambria" panose="02040503050406030204"/>
              </a:rPr>
              <a:t>(</a:t>
            </a:r>
            <a:r>
              <a:rPr sz="1300" b="1" spc="190" dirty="0">
                <a:solidFill>
                  <a:srgbClr val="1A1A1A"/>
                </a:solidFill>
                <a:latin typeface="Georgia" panose="02040502050405020303"/>
                <a:cs typeface="Georgia" panose="02040502050405020303"/>
              </a:rPr>
              <a:t>Y</a:t>
            </a:r>
            <a:r>
              <a:rPr sz="1350" i="1" spc="284" baseline="37000" dirty="0">
                <a:solidFill>
                  <a:srgbClr val="1A1A1A"/>
                </a:solidFill>
                <a:latin typeface="Calibri" panose="020F0502020204030204"/>
                <a:cs typeface="Calibri" panose="020F0502020204030204"/>
              </a:rPr>
              <a:t>H</a:t>
            </a:r>
            <a:r>
              <a:rPr sz="1350" i="1" spc="-120" baseline="37000" dirty="0">
                <a:solidFill>
                  <a:srgbClr val="1A1A1A"/>
                </a:solidFill>
                <a:latin typeface="Calibri" panose="020F0502020204030204"/>
                <a:cs typeface="Calibri" panose="020F0502020204030204"/>
              </a:rPr>
              <a:t> </a:t>
            </a:r>
            <a:r>
              <a:rPr sz="1300" spc="100" dirty="0">
                <a:solidFill>
                  <a:srgbClr val="1A1A1A"/>
                </a:solidFill>
                <a:latin typeface="Cambria" panose="02040503050406030204"/>
                <a:cs typeface="Cambria" panose="02040503050406030204"/>
              </a:rPr>
              <a:t>,</a:t>
            </a:r>
            <a:r>
              <a:rPr sz="1300" spc="-55" dirty="0">
                <a:solidFill>
                  <a:srgbClr val="1A1A1A"/>
                </a:solidFill>
                <a:latin typeface="Cambria" panose="02040503050406030204"/>
                <a:cs typeface="Cambria" panose="02040503050406030204"/>
              </a:rPr>
              <a:t> </a:t>
            </a:r>
            <a:r>
              <a:rPr sz="1300" b="1" spc="-730" dirty="0">
                <a:solidFill>
                  <a:srgbClr val="1A1A1A"/>
                </a:solidFill>
                <a:latin typeface="Georgia" panose="02040502050405020303"/>
                <a:cs typeface="Georgia" panose="02040502050405020303"/>
              </a:rPr>
              <a:t>Y</a:t>
            </a:r>
            <a:r>
              <a:rPr sz="1950" spc="-15" baseline="15000" dirty="0">
                <a:solidFill>
                  <a:srgbClr val="1A1A1A"/>
                </a:solidFill>
                <a:latin typeface="Cambria" panose="02040503050406030204"/>
                <a:cs typeface="Cambria" panose="02040503050406030204"/>
              </a:rPr>
              <a:t>^</a:t>
            </a:r>
            <a:r>
              <a:rPr sz="1950" spc="15" baseline="15000" dirty="0">
                <a:solidFill>
                  <a:srgbClr val="1A1A1A"/>
                </a:solidFill>
                <a:latin typeface="Cambria" panose="02040503050406030204"/>
                <a:cs typeface="Cambria" panose="02040503050406030204"/>
              </a:rPr>
              <a:t> </a:t>
            </a:r>
            <a:r>
              <a:rPr sz="1350" i="1" spc="300" baseline="37000" dirty="0">
                <a:solidFill>
                  <a:srgbClr val="1A1A1A"/>
                </a:solidFill>
                <a:latin typeface="Calibri" panose="020F0502020204030204"/>
                <a:cs typeface="Calibri" panose="020F0502020204030204"/>
              </a:rPr>
              <a:t>H</a:t>
            </a:r>
            <a:r>
              <a:rPr sz="1350" i="1" spc="-120" baseline="37000" dirty="0">
                <a:solidFill>
                  <a:srgbClr val="1A1A1A"/>
                </a:solidFill>
                <a:latin typeface="Calibri" panose="020F0502020204030204"/>
                <a:cs typeface="Calibri" panose="020F0502020204030204"/>
              </a:rPr>
              <a:t> </a:t>
            </a:r>
            <a:r>
              <a:rPr sz="1300" spc="-50" dirty="0">
                <a:solidFill>
                  <a:srgbClr val="1A1A1A"/>
                </a:solidFill>
                <a:latin typeface="Cambria" panose="02040503050406030204"/>
                <a:cs typeface="Cambria" panose="02040503050406030204"/>
              </a:rPr>
              <a:t>)</a:t>
            </a:r>
            <a:endParaRPr sz="1300">
              <a:latin typeface="Cambria" panose="02040503050406030204"/>
              <a:cs typeface="Cambria" panose="02040503050406030204"/>
            </a:endParaRPr>
          </a:p>
        </p:txBody>
      </p:sp>
      <p:sp>
        <p:nvSpPr>
          <p:cNvPr id="37" name="object 37"/>
          <p:cNvSpPr txBox="1"/>
          <p:nvPr/>
        </p:nvSpPr>
        <p:spPr>
          <a:xfrm>
            <a:off x="6772969" y="5542636"/>
            <a:ext cx="1355725" cy="199390"/>
          </a:xfrm>
          <a:prstGeom prst="rect">
            <a:avLst/>
          </a:prstGeom>
        </p:spPr>
        <p:txBody>
          <a:bodyPr vert="horz" wrap="square" lIns="0" tIns="17780" rIns="0" bIns="0" rtlCol="0">
            <a:spAutoFit/>
          </a:bodyPr>
          <a:lstStyle/>
          <a:p>
            <a:pPr marL="12700">
              <a:lnSpc>
                <a:spcPct val="100000"/>
              </a:lnSpc>
              <a:spcBef>
                <a:spcPts val="140"/>
              </a:spcBef>
            </a:pPr>
            <a:r>
              <a:rPr sz="1050" dirty="0">
                <a:solidFill>
                  <a:srgbClr val="374050"/>
                </a:solidFill>
                <a:latin typeface="宋体" panose="02010600030101010101" pitchFamily="2" charset="-122"/>
                <a:cs typeface="宋体" panose="02010600030101010101" pitchFamily="2" charset="-122"/>
              </a:rPr>
              <a:t>预测流汇合过程：  </a:t>
            </a:r>
            <a:r>
              <a:rPr sz="1650" b="1" spc="-967" baseline="3000" dirty="0">
                <a:solidFill>
                  <a:srgbClr val="1A1A1A"/>
                </a:solidFill>
                <a:latin typeface="Georgia" panose="02040502050405020303"/>
                <a:cs typeface="Georgia" panose="02040502050405020303"/>
              </a:rPr>
              <a:t>Y</a:t>
            </a:r>
            <a:endParaRPr sz="1650" baseline="3000">
              <a:latin typeface="Georgia" panose="02040502050405020303"/>
              <a:cs typeface="Georgia" panose="02040502050405020303"/>
            </a:endParaRPr>
          </a:p>
        </p:txBody>
      </p:sp>
      <p:sp>
        <p:nvSpPr>
          <p:cNvPr id="38" name="object 38"/>
          <p:cNvSpPr txBox="1"/>
          <p:nvPr/>
        </p:nvSpPr>
        <p:spPr>
          <a:xfrm>
            <a:off x="8017767" y="5500369"/>
            <a:ext cx="97790" cy="199390"/>
          </a:xfrm>
          <a:prstGeom prst="rect">
            <a:avLst/>
          </a:prstGeom>
        </p:spPr>
        <p:txBody>
          <a:bodyPr vert="horz" wrap="square" lIns="0" tIns="17780" rIns="0" bIns="0" rtlCol="0">
            <a:spAutoFit/>
          </a:bodyPr>
          <a:lstStyle/>
          <a:p>
            <a:pPr marL="12700">
              <a:lnSpc>
                <a:spcPct val="100000"/>
              </a:lnSpc>
              <a:spcBef>
                <a:spcPts val="140"/>
              </a:spcBef>
            </a:pPr>
            <a:r>
              <a:rPr sz="1100" spc="-50" dirty="0">
                <a:solidFill>
                  <a:srgbClr val="1A1A1A"/>
                </a:solidFill>
                <a:latin typeface="Cambria" panose="02040503050406030204"/>
                <a:cs typeface="Cambria" panose="02040503050406030204"/>
              </a:rPr>
              <a:t>^</a:t>
            </a:r>
            <a:endParaRPr sz="1100">
              <a:latin typeface="Cambria" panose="02040503050406030204"/>
              <a:cs typeface="Cambria" panose="02040503050406030204"/>
            </a:endParaRPr>
          </a:p>
        </p:txBody>
      </p:sp>
      <p:sp>
        <p:nvSpPr>
          <p:cNvPr id="39" name="object 39"/>
          <p:cNvSpPr txBox="1"/>
          <p:nvPr/>
        </p:nvSpPr>
        <p:spPr>
          <a:xfrm>
            <a:off x="8113762" y="5534278"/>
            <a:ext cx="309245" cy="233045"/>
          </a:xfrm>
          <a:prstGeom prst="rect">
            <a:avLst/>
          </a:prstGeom>
        </p:spPr>
        <p:txBody>
          <a:bodyPr vert="horz" wrap="square" lIns="0" tIns="12065" rIns="0" bIns="0" rtlCol="0">
            <a:spAutoFit/>
          </a:bodyPr>
          <a:lstStyle/>
          <a:p>
            <a:pPr marL="16510">
              <a:lnSpc>
                <a:spcPts val="815"/>
              </a:lnSpc>
              <a:spcBef>
                <a:spcPts val="95"/>
              </a:spcBef>
            </a:pPr>
            <a:r>
              <a:rPr sz="800" i="1" spc="110" dirty="0">
                <a:solidFill>
                  <a:srgbClr val="1A1A1A"/>
                </a:solidFill>
                <a:latin typeface="Calibri" panose="020F0502020204030204"/>
                <a:cs typeface="Calibri" panose="020F0502020204030204"/>
              </a:rPr>
              <a:t>H</a:t>
            </a:r>
            <a:endParaRPr sz="800">
              <a:latin typeface="Calibri" panose="020F0502020204030204"/>
              <a:cs typeface="Calibri" panose="020F0502020204030204"/>
            </a:endParaRPr>
          </a:p>
          <a:p>
            <a:pPr marL="12700">
              <a:lnSpc>
                <a:spcPts val="815"/>
              </a:lnSpc>
            </a:pPr>
            <a:r>
              <a:rPr sz="800" i="1" spc="70" dirty="0">
                <a:solidFill>
                  <a:srgbClr val="1A1A1A"/>
                </a:solidFill>
                <a:latin typeface="Calibri" panose="020F0502020204030204"/>
                <a:cs typeface="Calibri" panose="020F0502020204030204"/>
              </a:rPr>
              <a:t>Norm</a:t>
            </a:r>
            <a:endParaRPr sz="800">
              <a:latin typeface="Calibri" panose="020F0502020204030204"/>
              <a:cs typeface="Calibri" panose="020F0502020204030204"/>
            </a:endParaRPr>
          </a:p>
        </p:txBody>
      </p:sp>
      <p:sp>
        <p:nvSpPr>
          <p:cNvPr id="40" name="object 40"/>
          <p:cNvSpPr txBox="1"/>
          <p:nvPr/>
        </p:nvSpPr>
        <p:spPr>
          <a:xfrm>
            <a:off x="8451006" y="5542636"/>
            <a:ext cx="293370" cy="199390"/>
          </a:xfrm>
          <a:prstGeom prst="rect">
            <a:avLst/>
          </a:prstGeom>
        </p:spPr>
        <p:txBody>
          <a:bodyPr vert="horz" wrap="square" lIns="0" tIns="17780" rIns="0" bIns="0" rtlCol="0">
            <a:spAutoFit/>
          </a:bodyPr>
          <a:lstStyle/>
          <a:p>
            <a:pPr marL="12700">
              <a:lnSpc>
                <a:spcPct val="100000"/>
              </a:lnSpc>
              <a:spcBef>
                <a:spcPts val="140"/>
              </a:spcBef>
            </a:pPr>
            <a:r>
              <a:rPr sz="1100" spc="265" dirty="0">
                <a:solidFill>
                  <a:srgbClr val="1A1A1A"/>
                </a:solidFill>
                <a:latin typeface="Cambria" panose="02040503050406030204"/>
                <a:cs typeface="Cambria" panose="02040503050406030204"/>
              </a:rPr>
              <a:t>=</a:t>
            </a:r>
            <a:r>
              <a:rPr sz="1100" spc="85" dirty="0">
                <a:solidFill>
                  <a:srgbClr val="1A1A1A"/>
                </a:solidFill>
                <a:latin typeface="Cambria" panose="02040503050406030204"/>
                <a:cs typeface="Cambria" panose="02040503050406030204"/>
              </a:rPr>
              <a:t> </a:t>
            </a:r>
            <a:r>
              <a:rPr sz="1650" b="1" spc="-967" baseline="3000" dirty="0">
                <a:solidFill>
                  <a:srgbClr val="1A1A1A"/>
                </a:solidFill>
                <a:latin typeface="Georgia" panose="02040502050405020303"/>
                <a:cs typeface="Georgia" panose="02040502050405020303"/>
              </a:rPr>
              <a:t>Y</a:t>
            </a:r>
            <a:endParaRPr sz="1650" baseline="3000">
              <a:latin typeface="Georgia" panose="02040502050405020303"/>
              <a:cs typeface="Georgia" panose="02040502050405020303"/>
            </a:endParaRPr>
          </a:p>
        </p:txBody>
      </p:sp>
      <p:sp>
        <p:nvSpPr>
          <p:cNvPr id="41" name="object 41"/>
          <p:cNvSpPr txBox="1"/>
          <p:nvPr/>
        </p:nvSpPr>
        <p:spPr>
          <a:xfrm>
            <a:off x="8633321" y="5500369"/>
            <a:ext cx="97790" cy="199390"/>
          </a:xfrm>
          <a:prstGeom prst="rect">
            <a:avLst/>
          </a:prstGeom>
        </p:spPr>
        <p:txBody>
          <a:bodyPr vert="horz" wrap="square" lIns="0" tIns="17780" rIns="0" bIns="0" rtlCol="0">
            <a:spAutoFit/>
          </a:bodyPr>
          <a:lstStyle/>
          <a:p>
            <a:pPr marL="12700">
              <a:lnSpc>
                <a:spcPct val="100000"/>
              </a:lnSpc>
              <a:spcBef>
                <a:spcPts val="140"/>
              </a:spcBef>
            </a:pPr>
            <a:r>
              <a:rPr sz="1100" spc="-50" dirty="0">
                <a:solidFill>
                  <a:srgbClr val="1A1A1A"/>
                </a:solidFill>
                <a:latin typeface="Cambria" panose="02040503050406030204"/>
                <a:cs typeface="Cambria" panose="02040503050406030204"/>
              </a:rPr>
              <a:t>^</a:t>
            </a:r>
            <a:endParaRPr sz="1100">
              <a:latin typeface="Cambria" panose="02040503050406030204"/>
              <a:cs typeface="Cambria" panose="02040503050406030204"/>
            </a:endParaRPr>
          </a:p>
        </p:txBody>
      </p:sp>
      <p:sp>
        <p:nvSpPr>
          <p:cNvPr id="42" name="object 42"/>
          <p:cNvSpPr txBox="1"/>
          <p:nvPr/>
        </p:nvSpPr>
        <p:spPr>
          <a:xfrm>
            <a:off x="8729315" y="5534278"/>
            <a:ext cx="259079" cy="233045"/>
          </a:xfrm>
          <a:prstGeom prst="rect">
            <a:avLst/>
          </a:prstGeom>
        </p:spPr>
        <p:txBody>
          <a:bodyPr vert="horz" wrap="square" lIns="0" tIns="12065" rIns="0" bIns="0" rtlCol="0">
            <a:spAutoFit/>
          </a:bodyPr>
          <a:lstStyle/>
          <a:p>
            <a:pPr marL="16510">
              <a:lnSpc>
                <a:spcPts val="815"/>
              </a:lnSpc>
              <a:spcBef>
                <a:spcPts val="95"/>
              </a:spcBef>
            </a:pPr>
            <a:r>
              <a:rPr sz="800" i="1" spc="110" dirty="0">
                <a:solidFill>
                  <a:srgbClr val="1A1A1A"/>
                </a:solidFill>
                <a:latin typeface="Calibri" panose="020F0502020204030204"/>
                <a:cs typeface="Calibri" panose="020F0502020204030204"/>
              </a:rPr>
              <a:t>H</a:t>
            </a:r>
            <a:endParaRPr sz="800">
              <a:latin typeface="Calibri" panose="020F0502020204030204"/>
              <a:cs typeface="Calibri" panose="020F0502020204030204"/>
            </a:endParaRPr>
          </a:p>
          <a:p>
            <a:pPr marL="12700">
              <a:lnSpc>
                <a:spcPts val="815"/>
              </a:lnSpc>
            </a:pPr>
            <a:r>
              <a:rPr sz="800" i="1" spc="45" dirty="0">
                <a:solidFill>
                  <a:srgbClr val="1A1A1A"/>
                </a:solidFill>
                <a:latin typeface="Calibri" panose="020F0502020204030204"/>
                <a:cs typeface="Calibri" panose="020F0502020204030204"/>
              </a:rPr>
              <a:t>Base</a:t>
            </a:r>
            <a:endParaRPr sz="800">
              <a:latin typeface="Calibri" panose="020F0502020204030204"/>
              <a:cs typeface="Calibri" panose="020F0502020204030204"/>
            </a:endParaRPr>
          </a:p>
        </p:txBody>
      </p:sp>
      <p:sp>
        <p:nvSpPr>
          <p:cNvPr id="43" name="object 43"/>
          <p:cNvSpPr txBox="1"/>
          <p:nvPr/>
        </p:nvSpPr>
        <p:spPr>
          <a:xfrm>
            <a:off x="9929167" y="5542636"/>
            <a:ext cx="81915" cy="199390"/>
          </a:xfrm>
          <a:prstGeom prst="rect">
            <a:avLst/>
          </a:prstGeom>
        </p:spPr>
        <p:txBody>
          <a:bodyPr vert="horz" wrap="square" lIns="0" tIns="17780" rIns="0" bIns="0" rtlCol="0">
            <a:spAutoFit/>
          </a:bodyPr>
          <a:lstStyle/>
          <a:p>
            <a:pPr marL="12700">
              <a:lnSpc>
                <a:spcPct val="100000"/>
              </a:lnSpc>
              <a:spcBef>
                <a:spcPts val="140"/>
              </a:spcBef>
            </a:pPr>
            <a:r>
              <a:rPr sz="1100" spc="-50" dirty="0">
                <a:solidFill>
                  <a:srgbClr val="1A1A1A"/>
                </a:solidFill>
                <a:latin typeface="Cambria" panose="02040503050406030204"/>
                <a:cs typeface="Cambria" panose="02040503050406030204"/>
              </a:rPr>
              <a:t>)</a:t>
            </a:r>
            <a:endParaRPr sz="1100">
              <a:latin typeface="Cambria" panose="02040503050406030204"/>
              <a:cs typeface="Cambria" panose="02040503050406030204"/>
            </a:endParaRPr>
          </a:p>
        </p:txBody>
      </p:sp>
      <p:sp>
        <p:nvSpPr>
          <p:cNvPr id="44" name="object 44"/>
          <p:cNvSpPr txBox="1"/>
          <p:nvPr/>
        </p:nvSpPr>
        <p:spPr>
          <a:xfrm>
            <a:off x="9002266" y="5542636"/>
            <a:ext cx="644525" cy="199390"/>
          </a:xfrm>
          <a:prstGeom prst="rect">
            <a:avLst/>
          </a:prstGeom>
        </p:spPr>
        <p:txBody>
          <a:bodyPr vert="horz" wrap="square" lIns="0" tIns="17780" rIns="0" bIns="0" rtlCol="0">
            <a:spAutoFit/>
          </a:bodyPr>
          <a:lstStyle/>
          <a:p>
            <a:pPr marL="12700">
              <a:lnSpc>
                <a:spcPct val="100000"/>
              </a:lnSpc>
              <a:spcBef>
                <a:spcPts val="140"/>
              </a:spcBef>
            </a:pPr>
            <a:r>
              <a:rPr sz="1100" spc="265" dirty="0">
                <a:solidFill>
                  <a:srgbClr val="1A1A1A"/>
                </a:solidFill>
                <a:latin typeface="Cambria" panose="02040503050406030204"/>
                <a:cs typeface="Cambria" panose="02040503050406030204"/>
              </a:rPr>
              <a:t>+</a:t>
            </a:r>
            <a:r>
              <a:rPr sz="1100" spc="20" dirty="0">
                <a:solidFill>
                  <a:srgbClr val="1A1A1A"/>
                </a:solidFill>
                <a:latin typeface="Cambria" panose="02040503050406030204"/>
                <a:cs typeface="Cambria" panose="02040503050406030204"/>
              </a:rPr>
              <a:t> </a:t>
            </a:r>
            <a:r>
              <a:rPr sz="1100" spc="75" dirty="0">
                <a:solidFill>
                  <a:srgbClr val="1A1A1A"/>
                </a:solidFill>
                <a:latin typeface="Cambria" panose="02040503050406030204"/>
                <a:cs typeface="Cambria" panose="02040503050406030204"/>
              </a:rPr>
              <a:t>Agg</a:t>
            </a:r>
            <a:r>
              <a:rPr sz="1100" spc="140" dirty="0">
                <a:solidFill>
                  <a:srgbClr val="1A1A1A"/>
                </a:solidFill>
                <a:latin typeface="Cambria" panose="02040503050406030204"/>
                <a:cs typeface="Cambria" panose="02040503050406030204"/>
              </a:rPr>
              <a:t> </a:t>
            </a:r>
            <a:r>
              <a:rPr sz="1100" spc="5" dirty="0">
                <a:solidFill>
                  <a:srgbClr val="1A1A1A"/>
                </a:solidFill>
                <a:latin typeface="Cambria" panose="02040503050406030204"/>
                <a:cs typeface="Cambria" panose="02040503050406030204"/>
              </a:rPr>
              <a:t>(</a:t>
            </a:r>
            <a:r>
              <a:rPr sz="1650" b="1" spc="-944" baseline="3000" dirty="0">
                <a:solidFill>
                  <a:srgbClr val="1A1A1A"/>
                </a:solidFill>
                <a:latin typeface="Georgia" panose="02040502050405020303"/>
                <a:cs typeface="Georgia" panose="02040502050405020303"/>
              </a:rPr>
              <a:t>X</a:t>
            </a:r>
            <a:endParaRPr sz="1650" baseline="3000">
              <a:latin typeface="Georgia" panose="02040502050405020303"/>
              <a:cs typeface="Georgia" panose="02040502050405020303"/>
            </a:endParaRPr>
          </a:p>
        </p:txBody>
      </p:sp>
      <p:sp>
        <p:nvSpPr>
          <p:cNvPr id="45" name="object 45"/>
          <p:cNvSpPr txBox="1"/>
          <p:nvPr/>
        </p:nvSpPr>
        <p:spPr>
          <a:xfrm>
            <a:off x="9546083" y="5500369"/>
            <a:ext cx="97790" cy="199390"/>
          </a:xfrm>
          <a:prstGeom prst="rect">
            <a:avLst/>
          </a:prstGeom>
        </p:spPr>
        <p:txBody>
          <a:bodyPr vert="horz" wrap="square" lIns="0" tIns="17780" rIns="0" bIns="0" rtlCol="0">
            <a:spAutoFit/>
          </a:bodyPr>
          <a:lstStyle/>
          <a:p>
            <a:pPr marL="12700">
              <a:lnSpc>
                <a:spcPct val="100000"/>
              </a:lnSpc>
              <a:spcBef>
                <a:spcPts val="140"/>
              </a:spcBef>
            </a:pPr>
            <a:r>
              <a:rPr sz="1100" spc="-50" dirty="0">
                <a:solidFill>
                  <a:srgbClr val="1A1A1A"/>
                </a:solidFill>
                <a:latin typeface="Cambria" panose="02040503050406030204"/>
                <a:cs typeface="Cambria" panose="02040503050406030204"/>
              </a:rPr>
              <a:t>^</a:t>
            </a:r>
            <a:endParaRPr sz="1100">
              <a:latin typeface="Cambria" panose="02040503050406030204"/>
              <a:cs typeface="Cambria" panose="02040503050406030204"/>
            </a:endParaRPr>
          </a:p>
        </p:txBody>
      </p:sp>
      <p:sp>
        <p:nvSpPr>
          <p:cNvPr id="46" name="object 46"/>
          <p:cNvSpPr txBox="1"/>
          <p:nvPr/>
        </p:nvSpPr>
        <p:spPr>
          <a:xfrm>
            <a:off x="9405887" y="5620003"/>
            <a:ext cx="535305" cy="147320"/>
          </a:xfrm>
          <a:prstGeom prst="rect">
            <a:avLst/>
          </a:prstGeom>
        </p:spPr>
        <p:txBody>
          <a:bodyPr vert="horz" wrap="square" lIns="0" tIns="12065" rIns="0" bIns="0" rtlCol="0">
            <a:spAutoFit/>
          </a:bodyPr>
          <a:lstStyle/>
          <a:p>
            <a:pPr marL="12700">
              <a:lnSpc>
                <a:spcPct val="100000"/>
              </a:lnSpc>
              <a:spcBef>
                <a:spcPts val="95"/>
              </a:spcBef>
              <a:tabLst>
                <a:tab pos="238760" algn="l"/>
              </a:tabLst>
            </a:pPr>
            <a:r>
              <a:rPr sz="800" i="1" spc="35" dirty="0">
                <a:solidFill>
                  <a:srgbClr val="1A1A1A"/>
                </a:solidFill>
                <a:latin typeface="Calibri" panose="020F0502020204030204"/>
                <a:cs typeface="Calibri" panose="020F0502020204030204"/>
              </a:rPr>
              <a:t>i</a:t>
            </a:r>
            <a:r>
              <a:rPr sz="800" i="1" dirty="0">
                <a:solidFill>
                  <a:srgbClr val="1A1A1A"/>
                </a:solidFill>
                <a:latin typeface="Calibri" panose="020F0502020204030204"/>
                <a:cs typeface="Calibri" panose="020F0502020204030204"/>
              </a:rPr>
              <a:t>	</a:t>
            </a:r>
            <a:r>
              <a:rPr sz="800" i="1" spc="70" dirty="0">
                <a:solidFill>
                  <a:srgbClr val="1A1A1A"/>
                </a:solidFill>
                <a:latin typeface="Calibri" panose="020F0502020204030204"/>
                <a:cs typeface="Calibri" panose="020F0502020204030204"/>
              </a:rPr>
              <a:t>Norm</a:t>
            </a:r>
            <a:endParaRPr sz="800">
              <a:latin typeface="Calibri" panose="020F0502020204030204"/>
              <a:cs typeface="Calibri" panose="020F0502020204030204"/>
            </a:endParaRPr>
          </a:p>
        </p:txBody>
      </p:sp>
      <p:sp>
        <p:nvSpPr>
          <p:cNvPr id="47" name="object 47"/>
          <p:cNvSpPr txBox="1"/>
          <p:nvPr/>
        </p:nvSpPr>
        <p:spPr>
          <a:xfrm>
            <a:off x="9632106" y="5534278"/>
            <a:ext cx="262255" cy="147320"/>
          </a:xfrm>
          <a:prstGeom prst="rect">
            <a:avLst/>
          </a:prstGeom>
        </p:spPr>
        <p:txBody>
          <a:bodyPr vert="horz" wrap="square" lIns="0" tIns="12065" rIns="0" bIns="0" rtlCol="0">
            <a:spAutoFit/>
          </a:bodyPr>
          <a:lstStyle/>
          <a:p>
            <a:pPr marL="12700">
              <a:lnSpc>
                <a:spcPct val="100000"/>
              </a:lnSpc>
              <a:spcBef>
                <a:spcPts val="95"/>
              </a:spcBef>
            </a:pPr>
            <a:r>
              <a:rPr sz="800" i="1" spc="114" dirty="0">
                <a:solidFill>
                  <a:srgbClr val="1A1A1A"/>
                </a:solidFill>
                <a:latin typeface="Calibri" panose="020F0502020204030204"/>
                <a:cs typeface="Calibri" panose="020F0502020204030204"/>
              </a:rPr>
              <a:t>SU</a:t>
            </a:r>
            <a:r>
              <a:rPr sz="800" i="1" spc="-40" dirty="0">
                <a:solidFill>
                  <a:srgbClr val="1A1A1A"/>
                </a:solidFill>
                <a:latin typeface="Calibri" panose="020F0502020204030204"/>
                <a:cs typeface="Calibri" panose="020F0502020204030204"/>
              </a:rPr>
              <a:t> </a:t>
            </a:r>
            <a:r>
              <a:rPr sz="800" i="1" spc="105" dirty="0">
                <a:solidFill>
                  <a:srgbClr val="1A1A1A"/>
                </a:solidFill>
                <a:latin typeface="Calibri" panose="020F0502020204030204"/>
                <a:cs typeface="Calibri" panose="020F0502020204030204"/>
              </a:rPr>
              <a:t>R</a:t>
            </a:r>
            <a:endParaRPr sz="800">
              <a:latin typeface="Calibri" panose="020F0502020204030204"/>
              <a:cs typeface="Calibri" panose="020F0502020204030204"/>
            </a:endParaRPr>
          </a:p>
        </p:txBody>
      </p:sp>
      <p:sp>
        <p:nvSpPr>
          <p:cNvPr id="48" name="object 48"/>
          <p:cNvSpPr txBox="1"/>
          <p:nvPr/>
        </p:nvSpPr>
        <p:spPr>
          <a:xfrm>
            <a:off x="5250060" y="6011290"/>
            <a:ext cx="4315460" cy="180975"/>
          </a:xfrm>
          <a:prstGeom prst="rect">
            <a:avLst/>
          </a:prstGeom>
        </p:spPr>
        <p:txBody>
          <a:bodyPr vert="horz" wrap="square" lIns="0" tIns="14604" rIns="0" bIns="0" rtlCol="0">
            <a:spAutoFit/>
          </a:bodyPr>
          <a:lstStyle/>
          <a:p>
            <a:pPr marL="38100">
              <a:lnSpc>
                <a:spcPct val="100000"/>
              </a:lnSpc>
              <a:spcBef>
                <a:spcPts val="115"/>
              </a:spcBef>
            </a:pPr>
            <a:r>
              <a:rPr sz="1000" spc="-100" dirty="0">
                <a:solidFill>
                  <a:srgbClr val="4A5462"/>
                </a:solidFill>
                <a:latin typeface="宋体" panose="02010600030101010101" pitchFamily="2" charset="-122"/>
                <a:cs typeface="宋体" panose="02010600030101010101" pitchFamily="2" charset="-122"/>
              </a:rPr>
              <a:t>将目标预测误差（</a:t>
            </a:r>
            <a:r>
              <a:rPr sz="1000" spc="-275" dirty="0">
                <a:solidFill>
                  <a:srgbClr val="4A5462"/>
                </a:solidFill>
                <a:latin typeface="宋体" panose="02010600030101010101" pitchFamily="2" charset="-122"/>
                <a:cs typeface="宋体" panose="02010600030101010101" pitchFamily="2" charset="-122"/>
              </a:rPr>
              <a:t> </a:t>
            </a:r>
            <a:r>
              <a:rPr sz="900" spc="135" dirty="0">
                <a:solidFill>
                  <a:srgbClr val="1A1A1A"/>
                </a:solidFill>
                <a:latin typeface="Calibri" panose="020F0502020204030204"/>
                <a:cs typeface="Calibri" panose="020F0502020204030204"/>
              </a:rPr>
              <a:t>L</a:t>
            </a:r>
            <a:r>
              <a:rPr sz="900" i="1" spc="202" baseline="-14000" dirty="0">
                <a:solidFill>
                  <a:srgbClr val="1A1A1A"/>
                </a:solidFill>
                <a:latin typeface="Calibri" panose="020F0502020204030204"/>
                <a:cs typeface="Calibri" panose="020F0502020204030204"/>
              </a:rPr>
              <a:t>TS</a:t>
            </a:r>
            <a:r>
              <a:rPr sz="900" i="1" spc="240" baseline="-14000" dirty="0">
                <a:solidFill>
                  <a:srgbClr val="1A1A1A"/>
                </a:solidFill>
                <a:latin typeface="Calibri" panose="020F0502020204030204"/>
                <a:cs typeface="Calibri" panose="020F0502020204030204"/>
              </a:rPr>
              <a:t> </a:t>
            </a:r>
            <a:r>
              <a:rPr sz="1000" spc="-100" dirty="0">
                <a:solidFill>
                  <a:srgbClr val="4A5462"/>
                </a:solidFill>
                <a:latin typeface="宋体" panose="02010600030101010101" pitchFamily="2" charset="-122"/>
                <a:cs typeface="宋体" panose="02010600030101010101" pitchFamily="2" charset="-122"/>
              </a:rPr>
              <a:t>）与特征约束误差叠加，确保梯度多级对齐并提升终端精度。</a:t>
            </a:r>
            <a:endParaRPr sz="1000">
              <a:latin typeface="宋体" panose="02010600030101010101" pitchFamily="2" charset="-122"/>
              <a:cs typeface="宋体" panose="02010600030101010101" pitchFamily="2" charset="-122"/>
            </a:endParaRPr>
          </a:p>
        </p:txBody>
      </p:sp>
      <p:sp>
        <p:nvSpPr>
          <p:cNvPr id="49" name="object 49"/>
          <p:cNvSpPr/>
          <p:nvPr/>
        </p:nvSpPr>
        <p:spPr>
          <a:xfrm>
            <a:off x="0" y="0"/>
            <a:ext cx="12192000" cy="9525"/>
          </a:xfrm>
          <a:custGeom>
            <a:avLst/>
            <a:gdLst/>
            <a:ahLst/>
            <a:cxnLst/>
            <a:rect l="l" t="t" r="r" b="b"/>
            <a:pathLst>
              <a:path w="12192000" h="9525">
                <a:moveTo>
                  <a:pt x="12191999" y="9524"/>
                </a:moveTo>
                <a:lnTo>
                  <a:pt x="0" y="9524"/>
                </a:lnTo>
                <a:lnTo>
                  <a:pt x="0" y="0"/>
                </a:lnTo>
                <a:lnTo>
                  <a:pt x="12191999" y="0"/>
                </a:lnTo>
                <a:lnTo>
                  <a:pt x="12191999" y="9524"/>
                </a:lnTo>
                <a:close/>
              </a:path>
            </a:pathLst>
          </a:custGeom>
          <a:solidFill>
            <a:srgbClr val="E7E4E3"/>
          </a:solidFill>
        </p:spPr>
        <p:txBody>
          <a:bodyPr wrap="square" lIns="0" tIns="0" rIns="0" bIns="0" rtlCol="0"/>
          <a:lstStyle/>
          <a:p/>
        </p:txBody>
      </p:sp>
      <p:sp>
        <p:nvSpPr>
          <p:cNvPr id="50" name="object 50"/>
          <p:cNvSpPr/>
          <p:nvPr/>
        </p:nvSpPr>
        <p:spPr>
          <a:xfrm>
            <a:off x="0" y="6848474"/>
            <a:ext cx="12192000" cy="9525"/>
          </a:xfrm>
          <a:custGeom>
            <a:avLst/>
            <a:gdLst/>
            <a:ahLst/>
            <a:cxnLst/>
            <a:rect l="l" t="t" r="r" b="b"/>
            <a:pathLst>
              <a:path w="12192000" h="9525">
                <a:moveTo>
                  <a:pt x="12191999" y="9524"/>
                </a:moveTo>
                <a:lnTo>
                  <a:pt x="0" y="9524"/>
                </a:lnTo>
                <a:lnTo>
                  <a:pt x="0" y="0"/>
                </a:lnTo>
                <a:lnTo>
                  <a:pt x="12191999" y="0"/>
                </a:lnTo>
                <a:lnTo>
                  <a:pt x="12191999" y="9524"/>
                </a:lnTo>
                <a:close/>
              </a:path>
            </a:pathLst>
          </a:custGeom>
          <a:solidFill>
            <a:srgbClr val="E7E4E3"/>
          </a:solidFill>
        </p:spPr>
        <p:txBody>
          <a:bodyPr wrap="square" lIns="0" tIns="0" rIns="0" bIns="0" rtlCol="0"/>
          <a:lstStyle/>
          <a:p/>
        </p:txBody>
      </p:sp>
      <p:pic>
        <p:nvPicPr>
          <p:cNvPr id="51" name="object 51"/>
          <p:cNvPicPr/>
          <p:nvPr/>
        </p:nvPicPr>
        <p:blipFill>
          <a:blip r:embed="rId3" cstate="print"/>
          <a:stretch>
            <a:fillRect/>
          </a:stretch>
        </p:blipFill>
        <p:spPr>
          <a:xfrm>
            <a:off x="9382124" y="6229349"/>
            <a:ext cx="438149" cy="438149"/>
          </a:xfrm>
          <a:prstGeom prst="rect">
            <a:avLst/>
          </a:prstGeom>
        </p:spPr>
      </p:pic>
      <p:sp>
        <p:nvSpPr>
          <p:cNvPr id="52" name="object 52"/>
          <p:cNvSpPr txBox="1">
            <a:spLocks noGrp="1"/>
          </p:cNvSpPr>
          <p:nvPr>
            <p:ph type="ftr" sz="quarter" idx="5"/>
          </p:nvPr>
        </p:nvSpPr>
        <p:spPr>
          <a:prstGeom prst="rect">
            <a:avLst/>
          </a:prstGeom>
        </p:spPr>
        <p:txBody>
          <a:bodyPr vert="horz" wrap="square" lIns="0" tIns="0" rIns="0" bIns="0" rtlCol="0">
            <a:spAutoFit/>
          </a:bodyPr>
          <a:lstStyle/>
          <a:p>
            <a:pPr marL="12700">
              <a:lnSpc>
                <a:spcPts val="1800"/>
              </a:lnSpc>
            </a:pPr>
            <a:r>
              <a:rPr spc="-45" dirty="0"/>
              <a:t>Powered</a:t>
            </a:r>
            <a:r>
              <a:rPr spc="-70" dirty="0"/>
              <a:t> </a:t>
            </a:r>
            <a:r>
              <a:rPr spc="-130" dirty="0"/>
              <a:t>By</a:t>
            </a:r>
            <a:r>
              <a:rPr spc="-10" dirty="0"/>
              <a:t> </a:t>
            </a:r>
            <a:r>
              <a:rPr spc="-65" dirty="0"/>
              <a:t>Tosea</a:t>
            </a:r>
            <a:r>
              <a:rPr sz="1700" spc="-65" dirty="0">
                <a:latin typeface="Tahoma" panose="020B0604030504040204"/>
                <a:cs typeface="Tahoma" panose="020B0604030504040204"/>
              </a:rPr>
              <a:t>.</a:t>
            </a:r>
            <a:r>
              <a:rPr spc="-65" dirty="0"/>
              <a:t>ai</a:t>
            </a:r>
            <a:endParaRPr sz="1700">
              <a:latin typeface="Tahoma" panose="020B0604030504040204"/>
              <a:cs typeface="Tahoma" panose="020B060403050404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380872"/>
            <a:ext cx="5800090" cy="490855"/>
          </a:xfrm>
          <a:prstGeom prst="rect">
            <a:avLst/>
          </a:prstGeom>
        </p:spPr>
        <p:txBody>
          <a:bodyPr vert="horz" wrap="square" lIns="0" tIns="12700" rIns="0" bIns="0" rtlCol="0">
            <a:spAutoFit/>
          </a:bodyPr>
          <a:lstStyle/>
          <a:p>
            <a:pPr marL="12700">
              <a:lnSpc>
                <a:spcPct val="100000"/>
              </a:lnSpc>
              <a:spcBef>
                <a:spcPts val="100"/>
              </a:spcBef>
            </a:pPr>
            <a:r>
              <a:rPr spc="-405" dirty="0"/>
              <a:t>实验结果：跨模型范式的通用效能提升</a:t>
            </a:r>
            <a:endParaRPr spc="-405" dirty="0"/>
          </a:p>
        </p:txBody>
      </p:sp>
      <p:grpSp>
        <p:nvGrpSpPr>
          <p:cNvPr id="3" name="object 3"/>
          <p:cNvGrpSpPr/>
          <p:nvPr/>
        </p:nvGrpSpPr>
        <p:grpSpPr>
          <a:xfrm>
            <a:off x="457200" y="1285874"/>
            <a:ext cx="4324350" cy="1314450"/>
            <a:chOff x="457200" y="1285874"/>
            <a:chExt cx="4324350" cy="1314450"/>
          </a:xfrm>
        </p:grpSpPr>
        <p:sp>
          <p:nvSpPr>
            <p:cNvPr id="4" name="object 4"/>
            <p:cNvSpPr/>
            <p:nvPr/>
          </p:nvSpPr>
          <p:spPr>
            <a:xfrm>
              <a:off x="466724" y="1285874"/>
              <a:ext cx="4314825" cy="1314450"/>
            </a:xfrm>
            <a:custGeom>
              <a:avLst/>
              <a:gdLst/>
              <a:ahLst/>
              <a:cxnLst/>
              <a:rect l="l" t="t" r="r" b="b"/>
              <a:pathLst>
                <a:path w="4314825" h="1314450">
                  <a:moveTo>
                    <a:pt x="4208029" y="1314449"/>
                  </a:moveTo>
                  <a:lnTo>
                    <a:pt x="0" y="1314449"/>
                  </a:lnTo>
                  <a:lnTo>
                    <a:pt x="0" y="0"/>
                  </a:lnTo>
                  <a:lnTo>
                    <a:pt x="4208029" y="0"/>
                  </a:lnTo>
                  <a:lnTo>
                    <a:pt x="4215462" y="732"/>
                  </a:lnTo>
                  <a:lnTo>
                    <a:pt x="4257785" y="15093"/>
                  </a:lnTo>
                  <a:lnTo>
                    <a:pt x="4291391" y="44558"/>
                  </a:lnTo>
                  <a:lnTo>
                    <a:pt x="4311163" y="84640"/>
                  </a:lnTo>
                  <a:lnTo>
                    <a:pt x="4314824" y="106794"/>
                  </a:lnTo>
                  <a:lnTo>
                    <a:pt x="4314824" y="1207654"/>
                  </a:lnTo>
                  <a:lnTo>
                    <a:pt x="4303251" y="1250824"/>
                  </a:lnTo>
                  <a:lnTo>
                    <a:pt x="4276039" y="1286278"/>
                  </a:lnTo>
                  <a:lnTo>
                    <a:pt x="4237331" y="1308621"/>
                  </a:lnTo>
                  <a:lnTo>
                    <a:pt x="4208029" y="1314449"/>
                  </a:lnTo>
                  <a:close/>
                </a:path>
              </a:pathLst>
            </a:custGeom>
            <a:solidFill>
              <a:srgbClr val="F9FAFA"/>
            </a:solidFill>
          </p:spPr>
          <p:txBody>
            <a:bodyPr wrap="square" lIns="0" tIns="0" rIns="0" bIns="0" rtlCol="0"/>
            <a:lstStyle/>
            <a:p/>
          </p:txBody>
        </p:sp>
        <p:sp>
          <p:nvSpPr>
            <p:cNvPr id="5" name="object 5"/>
            <p:cNvSpPr/>
            <p:nvPr/>
          </p:nvSpPr>
          <p:spPr>
            <a:xfrm>
              <a:off x="457200" y="1285874"/>
              <a:ext cx="19050" cy="1314450"/>
            </a:xfrm>
            <a:custGeom>
              <a:avLst/>
              <a:gdLst/>
              <a:ahLst/>
              <a:cxnLst/>
              <a:rect l="l" t="t" r="r" b="b"/>
              <a:pathLst>
                <a:path w="19050" h="1314450">
                  <a:moveTo>
                    <a:pt x="19049" y="1314449"/>
                  </a:moveTo>
                  <a:lnTo>
                    <a:pt x="0" y="1314449"/>
                  </a:lnTo>
                  <a:lnTo>
                    <a:pt x="0" y="0"/>
                  </a:lnTo>
                  <a:lnTo>
                    <a:pt x="19049" y="0"/>
                  </a:lnTo>
                  <a:lnTo>
                    <a:pt x="19049" y="1314449"/>
                  </a:lnTo>
                  <a:close/>
                </a:path>
              </a:pathLst>
            </a:custGeom>
            <a:solidFill>
              <a:srgbClr val="5B8BA7"/>
            </a:solidFill>
          </p:spPr>
          <p:txBody>
            <a:bodyPr wrap="square" lIns="0" tIns="0" rIns="0" bIns="0" rtlCol="0"/>
            <a:lstStyle/>
            <a:p/>
          </p:txBody>
        </p:sp>
      </p:grpSp>
      <p:sp>
        <p:nvSpPr>
          <p:cNvPr id="6" name="object 6"/>
          <p:cNvSpPr txBox="1"/>
          <p:nvPr/>
        </p:nvSpPr>
        <p:spPr>
          <a:xfrm>
            <a:off x="654049" y="1463675"/>
            <a:ext cx="894080" cy="162560"/>
          </a:xfrm>
          <a:prstGeom prst="rect">
            <a:avLst/>
          </a:prstGeom>
        </p:spPr>
        <p:txBody>
          <a:bodyPr vert="horz" wrap="square" lIns="0" tIns="12700" rIns="0" bIns="0" rtlCol="0">
            <a:spAutoFit/>
          </a:bodyPr>
          <a:lstStyle/>
          <a:p>
            <a:pPr marL="12700">
              <a:lnSpc>
                <a:spcPct val="100000"/>
              </a:lnSpc>
              <a:spcBef>
                <a:spcPts val="100"/>
              </a:spcBef>
            </a:pPr>
            <a:r>
              <a:rPr sz="900" spc="70" dirty="0">
                <a:solidFill>
                  <a:srgbClr val="5B8BA7"/>
                </a:solidFill>
                <a:latin typeface="宋体" panose="02010600030101010101" pitchFamily="2" charset="-122"/>
                <a:cs typeface="宋体" panose="02010600030101010101" pitchFamily="2" charset="-122"/>
              </a:rPr>
              <a:t>验证逻辑与配置</a:t>
            </a:r>
            <a:endParaRPr sz="900">
              <a:latin typeface="宋体" panose="02010600030101010101" pitchFamily="2" charset="-122"/>
              <a:cs typeface="宋体" panose="02010600030101010101" pitchFamily="2" charset="-122"/>
            </a:endParaRPr>
          </a:p>
        </p:txBody>
      </p:sp>
      <p:sp>
        <p:nvSpPr>
          <p:cNvPr id="7" name="object 7"/>
          <p:cNvSpPr txBox="1"/>
          <p:nvPr/>
        </p:nvSpPr>
        <p:spPr>
          <a:xfrm>
            <a:off x="654049" y="1709539"/>
            <a:ext cx="3911600" cy="681990"/>
          </a:xfrm>
          <a:prstGeom prst="rect">
            <a:avLst/>
          </a:prstGeom>
        </p:spPr>
        <p:txBody>
          <a:bodyPr vert="horz" wrap="square" lIns="0" tIns="14605" rIns="0" bIns="0" rtlCol="0">
            <a:spAutoFit/>
          </a:bodyPr>
          <a:lstStyle/>
          <a:p>
            <a:pPr marL="12700">
              <a:lnSpc>
                <a:spcPct val="100000"/>
              </a:lnSpc>
              <a:spcBef>
                <a:spcPts val="115"/>
              </a:spcBef>
            </a:pPr>
            <a:r>
              <a:rPr sz="1150" b="1" spc="-110" dirty="0">
                <a:solidFill>
                  <a:srgbClr val="1F2937"/>
                </a:solidFill>
                <a:latin typeface="Yu Gothic UI Semibold" panose="020B0700000000000000" charset="-128"/>
                <a:cs typeface="Yu Gothic UI Semibold" panose="020B0700000000000000" charset="-128"/>
              </a:rPr>
              <a:t>无</a:t>
            </a:r>
            <a:r>
              <a:rPr sz="1150" b="1" spc="-110" dirty="0">
                <a:solidFill>
                  <a:srgbClr val="1F2937"/>
                </a:solidFill>
                <a:latin typeface="微软雅黑" panose="020B0503020204020204" charset="-122"/>
                <a:cs typeface="微软雅黑" panose="020B0503020204020204" charset="-122"/>
              </a:rPr>
              <a:t>监</a:t>
            </a:r>
            <a:r>
              <a:rPr sz="1150" b="1" spc="-110" dirty="0">
                <a:solidFill>
                  <a:srgbClr val="1F2937"/>
                </a:solidFill>
                <a:latin typeface="Yu Gothic UI Semibold" panose="020B0700000000000000" charset="-128"/>
                <a:cs typeface="Yu Gothic UI Semibold" panose="020B0700000000000000" charset="-128"/>
              </a:rPr>
              <a:t>督主干</a:t>
            </a:r>
            <a:r>
              <a:rPr sz="1150" b="1" spc="-110" dirty="0">
                <a:solidFill>
                  <a:srgbClr val="1F2937"/>
                </a:solidFill>
                <a:latin typeface="微软雅黑" panose="020B0503020204020204" charset="-122"/>
                <a:cs typeface="微软雅黑" panose="020B0503020204020204" charset="-122"/>
              </a:rPr>
              <a:t>架</a:t>
            </a:r>
            <a:r>
              <a:rPr sz="1150" b="1" spc="-20" dirty="0">
                <a:solidFill>
                  <a:srgbClr val="1F2937"/>
                </a:solidFill>
                <a:latin typeface="Yu Gothic UI Semibold" panose="020B0700000000000000" charset="-128"/>
                <a:cs typeface="Yu Gothic UI Semibold" panose="020B0700000000000000" charset="-128"/>
              </a:rPr>
              <a:t>构 </a:t>
            </a:r>
            <a:r>
              <a:rPr sz="1200" b="1" spc="-10" dirty="0">
                <a:solidFill>
                  <a:srgbClr val="1F2937"/>
                </a:solidFill>
                <a:latin typeface="Arial" panose="020B0604020202020204"/>
                <a:cs typeface="Arial" panose="020B0604020202020204"/>
              </a:rPr>
              <a:t>(</a:t>
            </a:r>
            <a:r>
              <a:rPr sz="1150" b="1" spc="-10" dirty="0">
                <a:solidFill>
                  <a:srgbClr val="1F2937"/>
                </a:solidFill>
                <a:latin typeface="Arial" panose="020B0604020202020204"/>
                <a:cs typeface="Arial" panose="020B0604020202020204"/>
              </a:rPr>
              <a:t>Model</a:t>
            </a:r>
            <a:r>
              <a:rPr sz="1200" b="1" spc="-10" dirty="0">
                <a:solidFill>
                  <a:srgbClr val="1F2937"/>
                </a:solidFill>
                <a:latin typeface="Arial" panose="020B0604020202020204"/>
                <a:cs typeface="Arial" panose="020B0604020202020204"/>
              </a:rPr>
              <a:t>-</a:t>
            </a:r>
            <a:r>
              <a:rPr sz="1150" b="1" spc="-40" dirty="0">
                <a:solidFill>
                  <a:srgbClr val="1F2937"/>
                </a:solidFill>
                <a:latin typeface="Arial" panose="020B0604020202020204"/>
                <a:cs typeface="Arial" panose="020B0604020202020204"/>
              </a:rPr>
              <a:t>Agnostic</a:t>
            </a:r>
            <a:r>
              <a:rPr sz="1200" b="1" dirty="0">
                <a:solidFill>
                  <a:srgbClr val="1F2937"/>
                </a:solidFill>
                <a:latin typeface="Arial" panose="020B0604020202020204"/>
                <a:cs typeface="Arial" panose="020B0604020202020204"/>
              </a:rPr>
              <a:t>) </a:t>
            </a:r>
            <a:r>
              <a:rPr sz="1150" b="1" spc="-80" dirty="0">
                <a:solidFill>
                  <a:srgbClr val="1F2937"/>
                </a:solidFill>
                <a:latin typeface="Yu Gothic UI Semibold" panose="020B0700000000000000" charset="-128"/>
                <a:cs typeface="Yu Gothic UI Semibold" panose="020B0700000000000000" charset="-128"/>
              </a:rPr>
              <a:t>的通用即插即用效用。</a:t>
            </a:r>
            <a:endParaRPr sz="1150">
              <a:latin typeface="Yu Gothic UI Semibold" panose="020B0700000000000000" charset="-128"/>
              <a:cs typeface="Yu Gothic UI Semibold" panose="020B0700000000000000" charset="-128"/>
            </a:endParaRPr>
          </a:p>
          <a:p>
            <a:pPr marL="12700" marR="5080">
              <a:lnSpc>
                <a:spcPct val="119000"/>
              </a:lnSpc>
              <a:spcBef>
                <a:spcPts val="855"/>
              </a:spcBef>
            </a:pPr>
            <a:r>
              <a:rPr sz="1000" spc="-100" dirty="0">
                <a:solidFill>
                  <a:srgbClr val="6A7280"/>
                </a:solidFill>
                <a:latin typeface="宋体" panose="02010600030101010101" pitchFamily="2" charset="-122"/>
                <a:cs typeface="宋体" panose="02010600030101010101" pitchFamily="2" charset="-122"/>
              </a:rPr>
              <a:t>在多种主流时序建模网络（</a:t>
            </a:r>
            <a:r>
              <a:rPr sz="1000" spc="-190" dirty="0">
                <a:solidFill>
                  <a:srgbClr val="6A7280"/>
                </a:solidFill>
                <a:latin typeface="宋体" panose="02010600030101010101" pitchFamily="2" charset="-122"/>
                <a:cs typeface="宋体" panose="02010600030101010101" pitchFamily="2" charset="-122"/>
              </a:rPr>
              <a:t>如 </a:t>
            </a:r>
            <a:r>
              <a:rPr sz="1000" spc="-20" dirty="0">
                <a:solidFill>
                  <a:srgbClr val="6A7280"/>
                </a:solidFill>
                <a:latin typeface="Microsoft Sans Serif" panose="020B0604020202020204"/>
                <a:cs typeface="Microsoft Sans Serif" panose="020B0604020202020204"/>
              </a:rPr>
              <a:t>Crossformer</a:t>
            </a:r>
            <a:r>
              <a:rPr sz="1000" spc="-35" dirty="0">
                <a:solidFill>
                  <a:srgbClr val="6A7280"/>
                </a:solidFill>
                <a:latin typeface="Microsoft Sans Serif" panose="020B0604020202020204"/>
                <a:cs typeface="Microsoft Sans Serif" panose="020B0604020202020204"/>
              </a:rPr>
              <a:t> / </a:t>
            </a:r>
            <a:r>
              <a:rPr sz="1000" spc="-40" dirty="0">
                <a:solidFill>
                  <a:srgbClr val="6A7280"/>
                </a:solidFill>
                <a:latin typeface="Microsoft Sans Serif" panose="020B0604020202020204"/>
                <a:cs typeface="Microsoft Sans Serif" panose="020B0604020202020204"/>
              </a:rPr>
              <a:t>PatchTST</a:t>
            </a:r>
            <a:r>
              <a:rPr sz="1000" spc="-25" dirty="0">
                <a:solidFill>
                  <a:srgbClr val="6A7280"/>
                </a:solidFill>
                <a:latin typeface="Microsoft Sans Serif" panose="020B0604020202020204"/>
                <a:cs typeface="Microsoft Sans Serif" panose="020B0604020202020204"/>
              </a:rPr>
              <a:t> </a:t>
            </a:r>
            <a:r>
              <a:rPr sz="1000" spc="-100" dirty="0">
                <a:solidFill>
                  <a:srgbClr val="6A7280"/>
                </a:solidFill>
                <a:latin typeface="宋体" panose="02010600030101010101" pitchFamily="2" charset="-122"/>
                <a:cs typeface="宋体" panose="02010600030101010101" pitchFamily="2" charset="-122"/>
              </a:rPr>
              <a:t>等）</a:t>
            </a:r>
            <a:r>
              <a:rPr sz="1000" spc="-95" dirty="0">
                <a:solidFill>
                  <a:srgbClr val="6A7280"/>
                </a:solidFill>
                <a:latin typeface="宋体" panose="02010600030101010101" pitchFamily="2" charset="-122"/>
                <a:cs typeface="宋体" panose="02010600030101010101" pitchFamily="2" charset="-122"/>
              </a:rPr>
              <a:t>上，对不同预测</a:t>
            </a:r>
            <a:r>
              <a:rPr sz="1000" spc="-100" dirty="0">
                <a:solidFill>
                  <a:srgbClr val="6A7280"/>
                </a:solidFill>
                <a:latin typeface="宋体" panose="02010600030101010101" pitchFamily="2" charset="-122"/>
                <a:cs typeface="宋体" panose="02010600030101010101" pitchFamily="2" charset="-122"/>
              </a:rPr>
              <a:t>视窗</a:t>
            </a:r>
            <a:r>
              <a:rPr sz="1000" dirty="0">
                <a:solidFill>
                  <a:srgbClr val="6A7280"/>
                </a:solidFill>
                <a:latin typeface="宋体" panose="02010600030101010101" pitchFamily="2" charset="-122"/>
                <a:cs typeface="宋体" panose="02010600030101010101" pitchFamily="2" charset="-122"/>
              </a:rPr>
              <a:t>（</a:t>
            </a:r>
            <a:r>
              <a:rPr sz="1000" dirty="0">
                <a:solidFill>
                  <a:srgbClr val="6A7280"/>
                </a:solidFill>
                <a:latin typeface="Microsoft Sans Serif" panose="020B0604020202020204"/>
                <a:cs typeface="Microsoft Sans Serif" panose="020B0604020202020204"/>
              </a:rPr>
              <a:t>24-</a:t>
            </a:r>
            <a:r>
              <a:rPr sz="1000" spc="-40" dirty="0">
                <a:solidFill>
                  <a:srgbClr val="6A7280"/>
                </a:solidFill>
                <a:latin typeface="Microsoft Sans Serif" panose="020B0604020202020204"/>
                <a:cs typeface="Microsoft Sans Serif" panose="020B0604020202020204"/>
              </a:rPr>
              <a:t>720</a:t>
            </a:r>
            <a:r>
              <a:rPr sz="1000" spc="-40" dirty="0">
                <a:solidFill>
                  <a:srgbClr val="6A7280"/>
                </a:solidFill>
                <a:latin typeface="宋体" panose="02010600030101010101" pitchFamily="2" charset="-122"/>
                <a:cs typeface="宋体" panose="02010600030101010101" pitchFamily="2" charset="-122"/>
              </a:rPr>
              <a:t>）</a:t>
            </a:r>
            <a:r>
              <a:rPr sz="1000" spc="-95" dirty="0">
                <a:solidFill>
                  <a:srgbClr val="6A7280"/>
                </a:solidFill>
                <a:latin typeface="宋体" panose="02010600030101010101" pitchFamily="2" charset="-122"/>
                <a:cs typeface="宋体" panose="02010600030101010101" pitchFamily="2" charset="-122"/>
              </a:rPr>
              <a:t>进行全面交叉测试。</a:t>
            </a:r>
            <a:endParaRPr sz="1000">
              <a:latin typeface="宋体" panose="02010600030101010101" pitchFamily="2" charset="-122"/>
              <a:cs typeface="宋体" panose="02010600030101010101" pitchFamily="2" charset="-122"/>
            </a:endParaRPr>
          </a:p>
        </p:txBody>
      </p:sp>
      <p:grpSp>
        <p:nvGrpSpPr>
          <p:cNvPr id="12" name="object 12"/>
          <p:cNvGrpSpPr/>
          <p:nvPr/>
        </p:nvGrpSpPr>
        <p:grpSpPr>
          <a:xfrm>
            <a:off x="457200" y="5924549"/>
            <a:ext cx="4324350" cy="476250"/>
            <a:chOff x="457200" y="5924549"/>
            <a:chExt cx="4324350" cy="476250"/>
          </a:xfrm>
        </p:grpSpPr>
        <p:sp>
          <p:nvSpPr>
            <p:cNvPr id="13" name="object 13"/>
            <p:cNvSpPr/>
            <p:nvPr/>
          </p:nvSpPr>
          <p:spPr>
            <a:xfrm>
              <a:off x="461962" y="5929312"/>
              <a:ext cx="4314825" cy="466725"/>
            </a:xfrm>
            <a:custGeom>
              <a:avLst/>
              <a:gdLst/>
              <a:ahLst/>
              <a:cxnLst/>
              <a:rect l="l" t="t" r="r" b="b"/>
              <a:pathLst>
                <a:path w="4314825" h="466725">
                  <a:moveTo>
                    <a:pt x="4212479" y="466724"/>
                  </a:moveTo>
                  <a:lnTo>
                    <a:pt x="102345" y="466724"/>
                  </a:lnTo>
                  <a:lnTo>
                    <a:pt x="95221" y="466023"/>
                  </a:lnTo>
                  <a:lnTo>
                    <a:pt x="54661" y="452260"/>
                  </a:lnTo>
                  <a:lnTo>
                    <a:pt x="22456" y="424022"/>
                  </a:lnTo>
                  <a:lnTo>
                    <a:pt x="3507" y="385611"/>
                  </a:lnTo>
                  <a:lnTo>
                    <a:pt x="0" y="364379"/>
                  </a:lnTo>
                  <a:lnTo>
                    <a:pt x="0" y="357187"/>
                  </a:lnTo>
                  <a:lnTo>
                    <a:pt x="0" y="102344"/>
                  </a:lnTo>
                  <a:lnTo>
                    <a:pt x="11090" y="60973"/>
                  </a:lnTo>
                  <a:lnTo>
                    <a:pt x="37168" y="26996"/>
                  </a:lnTo>
                  <a:lnTo>
                    <a:pt x="74264" y="5585"/>
                  </a:lnTo>
                  <a:lnTo>
                    <a:pt x="102345" y="0"/>
                  </a:lnTo>
                  <a:lnTo>
                    <a:pt x="4212479" y="0"/>
                  </a:lnTo>
                  <a:lnTo>
                    <a:pt x="4253849" y="11090"/>
                  </a:lnTo>
                  <a:lnTo>
                    <a:pt x="4287827" y="37168"/>
                  </a:lnTo>
                  <a:lnTo>
                    <a:pt x="4309238" y="74263"/>
                  </a:lnTo>
                  <a:lnTo>
                    <a:pt x="4314824" y="102344"/>
                  </a:lnTo>
                  <a:lnTo>
                    <a:pt x="4314824" y="364379"/>
                  </a:lnTo>
                  <a:lnTo>
                    <a:pt x="4303733" y="405750"/>
                  </a:lnTo>
                  <a:lnTo>
                    <a:pt x="4277655" y="439728"/>
                  </a:lnTo>
                  <a:lnTo>
                    <a:pt x="4240560" y="461139"/>
                  </a:lnTo>
                  <a:lnTo>
                    <a:pt x="4219602" y="466023"/>
                  </a:lnTo>
                  <a:lnTo>
                    <a:pt x="4212479" y="466724"/>
                  </a:lnTo>
                  <a:close/>
                </a:path>
              </a:pathLst>
            </a:custGeom>
            <a:solidFill>
              <a:srgbClr val="F5F9FB"/>
            </a:solidFill>
          </p:spPr>
          <p:txBody>
            <a:bodyPr wrap="square" lIns="0" tIns="0" rIns="0" bIns="0" rtlCol="0"/>
            <a:lstStyle/>
            <a:p/>
          </p:txBody>
        </p:sp>
        <p:sp>
          <p:nvSpPr>
            <p:cNvPr id="14" name="object 14"/>
            <p:cNvSpPr/>
            <p:nvPr/>
          </p:nvSpPr>
          <p:spPr>
            <a:xfrm>
              <a:off x="461962" y="5929312"/>
              <a:ext cx="4314825" cy="466725"/>
            </a:xfrm>
            <a:custGeom>
              <a:avLst/>
              <a:gdLst/>
              <a:ahLst/>
              <a:cxnLst/>
              <a:rect l="l" t="t" r="r" b="b"/>
              <a:pathLst>
                <a:path w="4314825" h="466725">
                  <a:moveTo>
                    <a:pt x="0" y="357187"/>
                  </a:moveTo>
                  <a:lnTo>
                    <a:pt x="0" y="109537"/>
                  </a:lnTo>
                  <a:lnTo>
                    <a:pt x="0" y="102344"/>
                  </a:lnTo>
                  <a:lnTo>
                    <a:pt x="701" y="95221"/>
                  </a:lnTo>
                  <a:lnTo>
                    <a:pt x="2104" y="88167"/>
                  </a:lnTo>
                  <a:lnTo>
                    <a:pt x="3507" y="81113"/>
                  </a:lnTo>
                  <a:lnTo>
                    <a:pt x="5585" y="74263"/>
                  </a:lnTo>
                  <a:lnTo>
                    <a:pt x="26997" y="37168"/>
                  </a:lnTo>
                  <a:lnTo>
                    <a:pt x="32082" y="32082"/>
                  </a:lnTo>
                  <a:lnTo>
                    <a:pt x="37168" y="26996"/>
                  </a:lnTo>
                  <a:lnTo>
                    <a:pt x="42701" y="22455"/>
                  </a:lnTo>
                  <a:lnTo>
                    <a:pt x="48681" y="18460"/>
                  </a:lnTo>
                  <a:lnTo>
                    <a:pt x="54661" y="14464"/>
                  </a:lnTo>
                  <a:lnTo>
                    <a:pt x="88167" y="2104"/>
                  </a:lnTo>
                  <a:lnTo>
                    <a:pt x="95221" y="701"/>
                  </a:lnTo>
                  <a:lnTo>
                    <a:pt x="102345" y="0"/>
                  </a:lnTo>
                  <a:lnTo>
                    <a:pt x="109537" y="0"/>
                  </a:lnTo>
                  <a:lnTo>
                    <a:pt x="4205287" y="0"/>
                  </a:lnTo>
                  <a:lnTo>
                    <a:pt x="4212479" y="0"/>
                  </a:lnTo>
                  <a:lnTo>
                    <a:pt x="4219602" y="701"/>
                  </a:lnTo>
                  <a:lnTo>
                    <a:pt x="4260162" y="14464"/>
                  </a:lnTo>
                  <a:lnTo>
                    <a:pt x="4282741" y="32082"/>
                  </a:lnTo>
                  <a:lnTo>
                    <a:pt x="4287827" y="37168"/>
                  </a:lnTo>
                  <a:lnTo>
                    <a:pt x="4292367" y="42701"/>
                  </a:lnTo>
                  <a:lnTo>
                    <a:pt x="4296363" y="48681"/>
                  </a:lnTo>
                  <a:lnTo>
                    <a:pt x="4300359" y="54661"/>
                  </a:lnTo>
                  <a:lnTo>
                    <a:pt x="4303733" y="60973"/>
                  </a:lnTo>
                  <a:lnTo>
                    <a:pt x="4306485" y="67618"/>
                  </a:lnTo>
                  <a:lnTo>
                    <a:pt x="4309238" y="74263"/>
                  </a:lnTo>
                  <a:lnTo>
                    <a:pt x="4311316" y="81113"/>
                  </a:lnTo>
                  <a:lnTo>
                    <a:pt x="4312719" y="88167"/>
                  </a:lnTo>
                  <a:lnTo>
                    <a:pt x="4314122" y="95221"/>
                  </a:lnTo>
                  <a:lnTo>
                    <a:pt x="4314824" y="102344"/>
                  </a:lnTo>
                  <a:lnTo>
                    <a:pt x="4314824" y="109537"/>
                  </a:lnTo>
                  <a:lnTo>
                    <a:pt x="4314824" y="357187"/>
                  </a:lnTo>
                  <a:lnTo>
                    <a:pt x="4314824" y="364379"/>
                  </a:lnTo>
                  <a:lnTo>
                    <a:pt x="4314122" y="371502"/>
                  </a:lnTo>
                  <a:lnTo>
                    <a:pt x="4312719" y="378557"/>
                  </a:lnTo>
                  <a:lnTo>
                    <a:pt x="4311316" y="385611"/>
                  </a:lnTo>
                  <a:lnTo>
                    <a:pt x="4309238" y="392460"/>
                  </a:lnTo>
                  <a:lnTo>
                    <a:pt x="4306486" y="399105"/>
                  </a:lnTo>
                  <a:lnTo>
                    <a:pt x="4303733" y="405750"/>
                  </a:lnTo>
                  <a:lnTo>
                    <a:pt x="4282741" y="434642"/>
                  </a:lnTo>
                  <a:lnTo>
                    <a:pt x="4277655" y="439728"/>
                  </a:lnTo>
                  <a:lnTo>
                    <a:pt x="4247204" y="458386"/>
                  </a:lnTo>
                  <a:lnTo>
                    <a:pt x="4240560" y="461139"/>
                  </a:lnTo>
                  <a:lnTo>
                    <a:pt x="4233710" y="463217"/>
                  </a:lnTo>
                  <a:lnTo>
                    <a:pt x="4226656" y="464619"/>
                  </a:lnTo>
                  <a:lnTo>
                    <a:pt x="4219602" y="466023"/>
                  </a:lnTo>
                  <a:lnTo>
                    <a:pt x="4212479" y="466724"/>
                  </a:lnTo>
                  <a:lnTo>
                    <a:pt x="4205287" y="466724"/>
                  </a:lnTo>
                  <a:lnTo>
                    <a:pt x="109537" y="466724"/>
                  </a:lnTo>
                  <a:lnTo>
                    <a:pt x="102345" y="466724"/>
                  </a:lnTo>
                  <a:lnTo>
                    <a:pt x="95221" y="466023"/>
                  </a:lnTo>
                  <a:lnTo>
                    <a:pt x="88167" y="464619"/>
                  </a:lnTo>
                  <a:lnTo>
                    <a:pt x="81113" y="463217"/>
                  </a:lnTo>
                  <a:lnTo>
                    <a:pt x="74264" y="461139"/>
                  </a:lnTo>
                  <a:lnTo>
                    <a:pt x="67619" y="458386"/>
                  </a:lnTo>
                  <a:lnTo>
                    <a:pt x="60974" y="455634"/>
                  </a:lnTo>
                  <a:lnTo>
                    <a:pt x="32082" y="434642"/>
                  </a:lnTo>
                  <a:lnTo>
                    <a:pt x="26997" y="429555"/>
                  </a:lnTo>
                  <a:lnTo>
                    <a:pt x="22456" y="424022"/>
                  </a:lnTo>
                  <a:lnTo>
                    <a:pt x="18460" y="418042"/>
                  </a:lnTo>
                  <a:lnTo>
                    <a:pt x="14464" y="412062"/>
                  </a:lnTo>
                  <a:lnTo>
                    <a:pt x="11090" y="405749"/>
                  </a:lnTo>
                  <a:lnTo>
                    <a:pt x="8338" y="399104"/>
                  </a:lnTo>
                  <a:lnTo>
                    <a:pt x="5585" y="392460"/>
                  </a:lnTo>
                  <a:lnTo>
                    <a:pt x="3507" y="385611"/>
                  </a:lnTo>
                  <a:lnTo>
                    <a:pt x="2104" y="378557"/>
                  </a:lnTo>
                  <a:lnTo>
                    <a:pt x="701" y="371502"/>
                  </a:lnTo>
                  <a:lnTo>
                    <a:pt x="0" y="364379"/>
                  </a:lnTo>
                  <a:lnTo>
                    <a:pt x="0" y="357187"/>
                  </a:lnTo>
                  <a:close/>
                </a:path>
              </a:pathLst>
            </a:custGeom>
            <a:ln w="9524">
              <a:solidFill>
                <a:srgbClr val="E7F1F6"/>
              </a:solidFill>
            </a:ln>
          </p:spPr>
          <p:txBody>
            <a:bodyPr wrap="square" lIns="0" tIns="0" rIns="0" bIns="0" rtlCol="0"/>
            <a:lstStyle/>
            <a:p/>
          </p:txBody>
        </p:sp>
        <p:pic>
          <p:nvPicPr>
            <p:cNvPr id="15" name="object 15"/>
            <p:cNvPicPr/>
            <p:nvPr/>
          </p:nvPicPr>
          <p:blipFill>
            <a:blip r:embed="rId1" cstate="print"/>
            <a:stretch>
              <a:fillRect/>
            </a:stretch>
          </p:blipFill>
          <p:spPr>
            <a:xfrm>
              <a:off x="619124" y="6124574"/>
              <a:ext cx="76200" cy="76199"/>
            </a:xfrm>
            <a:prstGeom prst="rect">
              <a:avLst/>
            </a:prstGeom>
          </p:spPr>
        </p:pic>
      </p:grpSp>
      <p:sp>
        <p:nvSpPr>
          <p:cNvPr id="16" name="object 16"/>
          <p:cNvSpPr txBox="1"/>
          <p:nvPr/>
        </p:nvSpPr>
        <p:spPr>
          <a:xfrm>
            <a:off x="796924" y="6058915"/>
            <a:ext cx="3216275" cy="180975"/>
          </a:xfrm>
          <a:prstGeom prst="rect">
            <a:avLst/>
          </a:prstGeom>
        </p:spPr>
        <p:txBody>
          <a:bodyPr vert="horz" wrap="square" lIns="0" tIns="14604" rIns="0" bIns="0" rtlCol="0">
            <a:spAutoFit/>
          </a:bodyPr>
          <a:lstStyle/>
          <a:p>
            <a:pPr marL="12700">
              <a:lnSpc>
                <a:spcPct val="100000"/>
              </a:lnSpc>
              <a:spcBef>
                <a:spcPts val="115"/>
              </a:spcBef>
            </a:pPr>
            <a:r>
              <a:rPr sz="1000" spc="-150" dirty="0">
                <a:solidFill>
                  <a:srgbClr val="4A5462"/>
                </a:solidFill>
                <a:latin typeface="宋体" panose="02010600030101010101" pitchFamily="2" charset="-122"/>
                <a:cs typeface="宋体" panose="02010600030101010101" pitchFamily="2" charset="-122"/>
              </a:rPr>
              <a:t>集成 </a:t>
            </a:r>
            <a:r>
              <a:rPr sz="1000" b="1" spc="-50" dirty="0">
                <a:solidFill>
                  <a:srgbClr val="111726"/>
                </a:solidFill>
                <a:latin typeface="Arial" panose="020B0604020202020204"/>
                <a:cs typeface="Arial" panose="020B0604020202020204"/>
              </a:rPr>
              <a:t>ShifTS</a:t>
            </a:r>
            <a:r>
              <a:rPr sz="1000" b="1" spc="-15" dirty="0">
                <a:solidFill>
                  <a:srgbClr val="111726"/>
                </a:solidFill>
                <a:latin typeface="Arial" panose="020B0604020202020204"/>
                <a:cs typeface="Arial" panose="020B0604020202020204"/>
              </a:rPr>
              <a:t> </a:t>
            </a:r>
            <a:r>
              <a:rPr sz="1000" spc="-100" dirty="0">
                <a:solidFill>
                  <a:srgbClr val="4A5462"/>
                </a:solidFill>
                <a:latin typeface="宋体" panose="02010600030101010101" pitchFamily="2" charset="-122"/>
                <a:cs typeface="宋体" panose="02010600030101010101" pitchFamily="2" charset="-122"/>
              </a:rPr>
              <a:t>架构后，测试误差</a:t>
            </a:r>
            <a:r>
              <a:rPr sz="1000" spc="-95" dirty="0">
                <a:solidFill>
                  <a:srgbClr val="4A5462"/>
                </a:solidFill>
                <a:latin typeface="宋体" panose="02010600030101010101" pitchFamily="2" charset="-122"/>
                <a:cs typeface="宋体" panose="02010600030101010101" pitchFamily="2" charset="-122"/>
              </a:rPr>
              <a:t>（</a:t>
            </a:r>
            <a:r>
              <a:rPr sz="1000" spc="-95" dirty="0">
                <a:solidFill>
                  <a:srgbClr val="4A5462"/>
                </a:solidFill>
                <a:latin typeface="Microsoft Sans Serif" panose="020B0604020202020204"/>
                <a:cs typeface="Microsoft Sans Serif" panose="020B0604020202020204"/>
              </a:rPr>
              <a:t>MSE</a:t>
            </a:r>
            <a:r>
              <a:rPr sz="1000" spc="-95" dirty="0">
                <a:solidFill>
                  <a:srgbClr val="4A5462"/>
                </a:solidFill>
                <a:latin typeface="宋体" panose="02010600030101010101" pitchFamily="2" charset="-122"/>
                <a:cs typeface="宋体" panose="02010600030101010101" pitchFamily="2" charset="-122"/>
              </a:rPr>
              <a:t>）均呈现完全单调下降。</a:t>
            </a:r>
            <a:endParaRPr sz="1000">
              <a:latin typeface="宋体" panose="02010600030101010101" pitchFamily="2" charset="-122"/>
              <a:cs typeface="宋体" panose="02010600030101010101" pitchFamily="2" charset="-122"/>
            </a:endParaRPr>
          </a:p>
        </p:txBody>
      </p:sp>
      <p:grpSp>
        <p:nvGrpSpPr>
          <p:cNvPr id="17" name="object 17"/>
          <p:cNvGrpSpPr/>
          <p:nvPr/>
        </p:nvGrpSpPr>
        <p:grpSpPr>
          <a:xfrm>
            <a:off x="5086349" y="1303019"/>
            <a:ext cx="6648450" cy="5114925"/>
            <a:chOff x="5086349" y="1285874"/>
            <a:chExt cx="6648450" cy="5114925"/>
          </a:xfrm>
        </p:grpSpPr>
        <p:sp>
          <p:nvSpPr>
            <p:cNvPr id="18" name="object 18"/>
            <p:cNvSpPr/>
            <p:nvPr/>
          </p:nvSpPr>
          <p:spPr>
            <a:xfrm>
              <a:off x="5091112" y="1290637"/>
              <a:ext cx="6638925" cy="5105400"/>
            </a:xfrm>
            <a:custGeom>
              <a:avLst/>
              <a:gdLst/>
              <a:ahLst/>
              <a:cxnLst/>
              <a:rect l="l" t="t" r="r" b="b"/>
              <a:pathLst>
                <a:path w="6638925" h="5105400">
                  <a:moveTo>
                    <a:pt x="6536579" y="5105399"/>
                  </a:moveTo>
                  <a:lnTo>
                    <a:pt x="102345" y="5105399"/>
                  </a:lnTo>
                  <a:lnTo>
                    <a:pt x="95221" y="5104697"/>
                  </a:lnTo>
                  <a:lnTo>
                    <a:pt x="54661" y="5090934"/>
                  </a:lnTo>
                  <a:lnTo>
                    <a:pt x="22456" y="5062697"/>
                  </a:lnTo>
                  <a:lnTo>
                    <a:pt x="3507" y="5024285"/>
                  </a:lnTo>
                  <a:lnTo>
                    <a:pt x="0" y="5003054"/>
                  </a:lnTo>
                  <a:lnTo>
                    <a:pt x="0" y="4995862"/>
                  </a:lnTo>
                  <a:lnTo>
                    <a:pt x="0" y="102345"/>
                  </a:lnTo>
                  <a:lnTo>
                    <a:pt x="11090" y="60974"/>
                  </a:lnTo>
                  <a:lnTo>
                    <a:pt x="37168" y="26997"/>
                  </a:lnTo>
                  <a:lnTo>
                    <a:pt x="74264" y="5585"/>
                  </a:lnTo>
                  <a:lnTo>
                    <a:pt x="102345" y="0"/>
                  </a:lnTo>
                  <a:lnTo>
                    <a:pt x="6536579" y="0"/>
                  </a:lnTo>
                  <a:lnTo>
                    <a:pt x="6577948" y="11090"/>
                  </a:lnTo>
                  <a:lnTo>
                    <a:pt x="6611927" y="37168"/>
                  </a:lnTo>
                  <a:lnTo>
                    <a:pt x="6633338" y="74264"/>
                  </a:lnTo>
                  <a:lnTo>
                    <a:pt x="6638923" y="102345"/>
                  </a:lnTo>
                  <a:lnTo>
                    <a:pt x="6638923" y="5003054"/>
                  </a:lnTo>
                  <a:lnTo>
                    <a:pt x="6627833" y="5044424"/>
                  </a:lnTo>
                  <a:lnTo>
                    <a:pt x="6601755" y="5078402"/>
                  </a:lnTo>
                  <a:lnTo>
                    <a:pt x="6564659" y="5099813"/>
                  </a:lnTo>
                  <a:lnTo>
                    <a:pt x="6543702" y="5104697"/>
                  </a:lnTo>
                  <a:lnTo>
                    <a:pt x="6536579" y="5105399"/>
                  </a:lnTo>
                  <a:close/>
                </a:path>
              </a:pathLst>
            </a:custGeom>
            <a:solidFill>
              <a:srgbClr val="F9FAFA"/>
            </a:solidFill>
          </p:spPr>
          <p:txBody>
            <a:bodyPr wrap="square" lIns="0" tIns="0" rIns="0" bIns="0" rtlCol="0"/>
            <a:lstStyle/>
            <a:p/>
          </p:txBody>
        </p:sp>
        <p:sp>
          <p:nvSpPr>
            <p:cNvPr id="19" name="object 19"/>
            <p:cNvSpPr/>
            <p:nvPr/>
          </p:nvSpPr>
          <p:spPr>
            <a:xfrm>
              <a:off x="5091112" y="1290637"/>
              <a:ext cx="6638925" cy="5105400"/>
            </a:xfrm>
            <a:custGeom>
              <a:avLst/>
              <a:gdLst/>
              <a:ahLst/>
              <a:cxnLst/>
              <a:rect l="l" t="t" r="r" b="b"/>
              <a:pathLst>
                <a:path w="6638925" h="5105400">
                  <a:moveTo>
                    <a:pt x="0" y="499586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6529386" y="0"/>
                  </a:lnTo>
                  <a:lnTo>
                    <a:pt x="6536579" y="0"/>
                  </a:lnTo>
                  <a:lnTo>
                    <a:pt x="6543702" y="701"/>
                  </a:lnTo>
                  <a:lnTo>
                    <a:pt x="6550756" y="2104"/>
                  </a:lnTo>
                  <a:lnTo>
                    <a:pt x="6557809" y="3507"/>
                  </a:lnTo>
                  <a:lnTo>
                    <a:pt x="6590242" y="18460"/>
                  </a:lnTo>
                  <a:lnTo>
                    <a:pt x="6596222" y="22456"/>
                  </a:lnTo>
                  <a:lnTo>
                    <a:pt x="6620463" y="48681"/>
                  </a:lnTo>
                  <a:lnTo>
                    <a:pt x="6624459" y="54661"/>
                  </a:lnTo>
                  <a:lnTo>
                    <a:pt x="6627833" y="60974"/>
                  </a:lnTo>
                  <a:lnTo>
                    <a:pt x="6630586" y="67619"/>
                  </a:lnTo>
                  <a:lnTo>
                    <a:pt x="6633338" y="74264"/>
                  </a:lnTo>
                  <a:lnTo>
                    <a:pt x="6635416" y="81113"/>
                  </a:lnTo>
                  <a:lnTo>
                    <a:pt x="6636819" y="88167"/>
                  </a:lnTo>
                  <a:lnTo>
                    <a:pt x="6638222" y="95221"/>
                  </a:lnTo>
                  <a:lnTo>
                    <a:pt x="6638923" y="102345"/>
                  </a:lnTo>
                  <a:lnTo>
                    <a:pt x="6638924" y="109537"/>
                  </a:lnTo>
                  <a:lnTo>
                    <a:pt x="6638924" y="4995862"/>
                  </a:lnTo>
                  <a:lnTo>
                    <a:pt x="6638923" y="5003054"/>
                  </a:lnTo>
                  <a:lnTo>
                    <a:pt x="6638222" y="5010177"/>
                  </a:lnTo>
                  <a:lnTo>
                    <a:pt x="6636818" y="5017231"/>
                  </a:lnTo>
                  <a:lnTo>
                    <a:pt x="6635415" y="5024285"/>
                  </a:lnTo>
                  <a:lnTo>
                    <a:pt x="6633338" y="5031135"/>
                  </a:lnTo>
                  <a:lnTo>
                    <a:pt x="6630586" y="5037779"/>
                  </a:lnTo>
                  <a:lnTo>
                    <a:pt x="6627833" y="5044424"/>
                  </a:lnTo>
                  <a:lnTo>
                    <a:pt x="6601755" y="5078402"/>
                  </a:lnTo>
                  <a:lnTo>
                    <a:pt x="6590242" y="5086939"/>
                  </a:lnTo>
                  <a:lnTo>
                    <a:pt x="6584261" y="5090934"/>
                  </a:lnTo>
                  <a:lnTo>
                    <a:pt x="6577948" y="5094308"/>
                  </a:lnTo>
                  <a:lnTo>
                    <a:pt x="6571304" y="5097061"/>
                  </a:lnTo>
                  <a:lnTo>
                    <a:pt x="6564659" y="5099813"/>
                  </a:lnTo>
                  <a:lnTo>
                    <a:pt x="6557809" y="5101891"/>
                  </a:lnTo>
                  <a:lnTo>
                    <a:pt x="6550756" y="5103294"/>
                  </a:lnTo>
                  <a:lnTo>
                    <a:pt x="6543702" y="5104697"/>
                  </a:lnTo>
                  <a:lnTo>
                    <a:pt x="6536579" y="5105399"/>
                  </a:lnTo>
                  <a:lnTo>
                    <a:pt x="6529386" y="5105399"/>
                  </a:lnTo>
                  <a:lnTo>
                    <a:pt x="109537" y="5105399"/>
                  </a:lnTo>
                  <a:lnTo>
                    <a:pt x="102345" y="5105399"/>
                  </a:lnTo>
                  <a:lnTo>
                    <a:pt x="95221" y="5104697"/>
                  </a:lnTo>
                  <a:lnTo>
                    <a:pt x="88167" y="5103294"/>
                  </a:lnTo>
                  <a:lnTo>
                    <a:pt x="81113" y="5101891"/>
                  </a:lnTo>
                  <a:lnTo>
                    <a:pt x="74264" y="5099813"/>
                  </a:lnTo>
                  <a:lnTo>
                    <a:pt x="67619" y="5097061"/>
                  </a:lnTo>
                  <a:lnTo>
                    <a:pt x="60974" y="5094308"/>
                  </a:lnTo>
                  <a:lnTo>
                    <a:pt x="32082" y="5073316"/>
                  </a:lnTo>
                  <a:lnTo>
                    <a:pt x="26997" y="5068230"/>
                  </a:lnTo>
                  <a:lnTo>
                    <a:pt x="22456" y="5062697"/>
                  </a:lnTo>
                  <a:lnTo>
                    <a:pt x="18460" y="5056717"/>
                  </a:lnTo>
                  <a:lnTo>
                    <a:pt x="14464" y="5050736"/>
                  </a:lnTo>
                  <a:lnTo>
                    <a:pt x="11090" y="5044424"/>
                  </a:lnTo>
                  <a:lnTo>
                    <a:pt x="8338" y="5037779"/>
                  </a:lnTo>
                  <a:lnTo>
                    <a:pt x="5585" y="5031134"/>
                  </a:lnTo>
                  <a:lnTo>
                    <a:pt x="3507" y="5024285"/>
                  </a:lnTo>
                  <a:lnTo>
                    <a:pt x="2104" y="5017231"/>
                  </a:lnTo>
                  <a:lnTo>
                    <a:pt x="701" y="5010177"/>
                  </a:lnTo>
                  <a:lnTo>
                    <a:pt x="0" y="5003054"/>
                  </a:lnTo>
                  <a:lnTo>
                    <a:pt x="0" y="4995862"/>
                  </a:lnTo>
                  <a:close/>
                </a:path>
              </a:pathLst>
            </a:custGeom>
            <a:ln w="9524">
              <a:solidFill>
                <a:srgbClr val="F2F4F5"/>
              </a:solidFill>
            </a:ln>
          </p:spPr>
          <p:txBody>
            <a:bodyPr wrap="square" lIns="0" tIns="0" rIns="0" bIns="0" rtlCol="0"/>
            <a:lstStyle/>
            <a:p/>
          </p:txBody>
        </p:sp>
      </p:grpSp>
      <p:sp>
        <p:nvSpPr>
          <p:cNvPr id="20" name="object 20"/>
          <p:cNvSpPr txBox="1"/>
          <p:nvPr/>
        </p:nvSpPr>
        <p:spPr>
          <a:xfrm>
            <a:off x="5277395" y="1463675"/>
            <a:ext cx="1601470" cy="185420"/>
          </a:xfrm>
          <a:prstGeom prst="rect">
            <a:avLst/>
          </a:prstGeom>
        </p:spPr>
        <p:txBody>
          <a:bodyPr vert="horz" wrap="square" lIns="0" tIns="12700" rIns="0" bIns="0" rtlCol="0">
            <a:spAutoFit/>
          </a:bodyPr>
          <a:lstStyle/>
          <a:p>
            <a:pPr marL="12700">
              <a:lnSpc>
                <a:spcPct val="100000"/>
              </a:lnSpc>
              <a:spcBef>
                <a:spcPts val="100"/>
              </a:spcBef>
            </a:pPr>
            <a:r>
              <a:rPr sz="1050" spc="-55" dirty="0">
                <a:solidFill>
                  <a:srgbClr val="1F2937"/>
                </a:solidFill>
                <a:latin typeface="宋体" panose="02010600030101010101" pitchFamily="2" charset="-122"/>
                <a:cs typeface="宋体" panose="02010600030101010101" pitchFamily="2" charset="-122"/>
              </a:rPr>
              <a:t>集成效能定量分析 (</a:t>
            </a:r>
            <a:r>
              <a:rPr sz="1050" spc="-90" dirty="0">
                <a:solidFill>
                  <a:srgbClr val="1F2937"/>
                </a:solidFill>
                <a:latin typeface="宋体" panose="02010600030101010101" pitchFamily="2" charset="-122"/>
                <a:cs typeface="宋体" panose="02010600030101010101" pitchFamily="2" charset="-122"/>
              </a:rPr>
              <a:t>Table</a:t>
            </a:r>
            <a:r>
              <a:rPr sz="1050" spc="-240" dirty="0">
                <a:solidFill>
                  <a:srgbClr val="1F2937"/>
                </a:solidFill>
                <a:latin typeface="宋体" panose="02010600030101010101" pitchFamily="2" charset="-122"/>
                <a:cs typeface="宋体" panose="02010600030101010101" pitchFamily="2" charset="-122"/>
              </a:rPr>
              <a:t> </a:t>
            </a:r>
            <a:r>
              <a:rPr sz="1050" spc="-25" dirty="0">
                <a:solidFill>
                  <a:srgbClr val="1F2937"/>
                </a:solidFill>
                <a:latin typeface="宋体" panose="02010600030101010101" pitchFamily="2" charset="-122"/>
                <a:cs typeface="宋体" panose="02010600030101010101" pitchFamily="2" charset="-122"/>
              </a:rPr>
              <a:t>1)</a:t>
            </a:r>
            <a:endParaRPr sz="1050">
              <a:latin typeface="宋体" panose="02010600030101010101" pitchFamily="2" charset="-122"/>
              <a:cs typeface="宋体" panose="02010600030101010101" pitchFamily="2" charset="-122"/>
            </a:endParaRPr>
          </a:p>
        </p:txBody>
      </p:sp>
      <p:sp>
        <p:nvSpPr>
          <p:cNvPr id="21" name="object 21"/>
          <p:cNvSpPr txBox="1"/>
          <p:nvPr/>
        </p:nvSpPr>
        <p:spPr>
          <a:xfrm>
            <a:off x="10063558" y="1492250"/>
            <a:ext cx="1486535" cy="162560"/>
          </a:xfrm>
          <a:prstGeom prst="rect">
            <a:avLst/>
          </a:prstGeom>
        </p:spPr>
        <p:txBody>
          <a:bodyPr vert="horz" wrap="square" lIns="0" tIns="12700" rIns="0" bIns="0" rtlCol="0">
            <a:spAutoFit/>
          </a:bodyPr>
          <a:lstStyle/>
          <a:p>
            <a:pPr marL="12700">
              <a:lnSpc>
                <a:spcPct val="100000"/>
              </a:lnSpc>
              <a:spcBef>
                <a:spcPts val="100"/>
              </a:spcBef>
            </a:pPr>
            <a:r>
              <a:rPr sz="900" spc="-45" dirty="0">
                <a:solidFill>
                  <a:srgbClr val="9CA2AF"/>
                </a:solidFill>
                <a:latin typeface="宋体" panose="02010600030101010101" pitchFamily="2" charset="-122"/>
                <a:cs typeface="宋体" panose="02010600030101010101" pitchFamily="2" charset="-122"/>
              </a:rPr>
              <a:t>预测误差对比 (</a:t>
            </a:r>
            <a:r>
              <a:rPr sz="900" dirty="0">
                <a:solidFill>
                  <a:srgbClr val="9CA2AF"/>
                </a:solidFill>
                <a:latin typeface="宋体" panose="02010600030101010101" pitchFamily="2" charset="-122"/>
                <a:cs typeface="宋体" panose="02010600030101010101" pitchFamily="2" charset="-122"/>
              </a:rPr>
              <a:t>ERM</a:t>
            </a:r>
            <a:r>
              <a:rPr sz="900" spc="-165" dirty="0">
                <a:solidFill>
                  <a:srgbClr val="9CA2AF"/>
                </a:solidFill>
                <a:latin typeface="宋体" panose="02010600030101010101" pitchFamily="2" charset="-122"/>
                <a:cs typeface="宋体" panose="02010600030101010101" pitchFamily="2" charset="-122"/>
              </a:rPr>
              <a:t> </a:t>
            </a:r>
            <a:r>
              <a:rPr sz="900" spc="-35" dirty="0">
                <a:solidFill>
                  <a:srgbClr val="9CA2AF"/>
                </a:solidFill>
                <a:latin typeface="宋体" panose="02010600030101010101" pitchFamily="2" charset="-122"/>
                <a:cs typeface="宋体" panose="02010600030101010101" pitchFamily="2" charset="-122"/>
              </a:rPr>
              <a:t>vs</a:t>
            </a:r>
            <a:r>
              <a:rPr sz="900" spc="-165" dirty="0">
                <a:solidFill>
                  <a:srgbClr val="9CA2AF"/>
                </a:solidFill>
                <a:latin typeface="宋体" panose="02010600030101010101" pitchFamily="2" charset="-122"/>
                <a:cs typeface="宋体" panose="02010600030101010101" pitchFamily="2" charset="-122"/>
              </a:rPr>
              <a:t> </a:t>
            </a:r>
            <a:r>
              <a:rPr sz="900" spc="-60" dirty="0">
                <a:solidFill>
                  <a:srgbClr val="9CA2AF"/>
                </a:solidFill>
                <a:latin typeface="宋体" panose="02010600030101010101" pitchFamily="2" charset="-122"/>
                <a:cs typeface="宋体" panose="02010600030101010101" pitchFamily="2" charset="-122"/>
              </a:rPr>
              <a:t>ShifTS)</a:t>
            </a:r>
            <a:endParaRPr sz="900">
              <a:latin typeface="宋体" panose="02010600030101010101" pitchFamily="2" charset="-122"/>
              <a:cs typeface="宋体" panose="02010600030101010101" pitchFamily="2" charset="-122"/>
            </a:endParaRPr>
          </a:p>
        </p:txBody>
      </p:sp>
      <p:sp>
        <p:nvSpPr>
          <p:cNvPr id="22" name="object 22"/>
          <p:cNvSpPr txBox="1"/>
          <p:nvPr/>
        </p:nvSpPr>
        <p:spPr>
          <a:xfrm>
            <a:off x="5341689" y="5772784"/>
            <a:ext cx="6141720" cy="406400"/>
          </a:xfrm>
          <a:prstGeom prst="rect">
            <a:avLst/>
          </a:prstGeom>
        </p:spPr>
        <p:txBody>
          <a:bodyPr vert="horz" wrap="square" lIns="0" tIns="12700" rIns="0" bIns="0" rtlCol="0">
            <a:spAutoFit/>
          </a:bodyPr>
          <a:lstStyle/>
          <a:p>
            <a:pPr marL="2841625" marR="5080" indent="-2829560">
              <a:lnSpc>
                <a:spcPct val="139000"/>
              </a:lnSpc>
              <a:spcBef>
                <a:spcPts val="100"/>
              </a:spcBef>
            </a:pPr>
            <a:r>
              <a:rPr sz="900" spc="-35" dirty="0">
                <a:solidFill>
                  <a:srgbClr val="6A7280"/>
                </a:solidFill>
                <a:latin typeface="宋体" panose="02010600030101010101" pitchFamily="2" charset="-122"/>
                <a:cs typeface="宋体" panose="02010600030101010101" pitchFamily="2" charset="-122"/>
              </a:rPr>
              <a:t>Table</a:t>
            </a:r>
            <a:r>
              <a:rPr sz="900" spc="-170" dirty="0">
                <a:solidFill>
                  <a:srgbClr val="6A7280"/>
                </a:solidFill>
                <a:latin typeface="宋体" panose="02010600030101010101" pitchFamily="2" charset="-122"/>
                <a:cs typeface="宋体" panose="02010600030101010101" pitchFamily="2" charset="-122"/>
              </a:rPr>
              <a:t> </a:t>
            </a:r>
            <a:r>
              <a:rPr sz="900" spc="-55" dirty="0">
                <a:solidFill>
                  <a:srgbClr val="6A7280"/>
                </a:solidFill>
                <a:latin typeface="宋体" panose="02010600030101010101" pitchFamily="2" charset="-122"/>
                <a:cs typeface="宋体" panose="02010600030101010101" pitchFamily="2" charset="-122"/>
              </a:rPr>
              <a:t>1:</a:t>
            </a:r>
            <a:r>
              <a:rPr sz="900" spc="-40" dirty="0">
                <a:solidFill>
                  <a:srgbClr val="6A7280"/>
                </a:solidFill>
                <a:latin typeface="宋体" panose="02010600030101010101" pitchFamily="2" charset="-122"/>
                <a:cs typeface="宋体" panose="02010600030101010101" pitchFamily="2" charset="-122"/>
              </a:rPr>
              <a:t> 在各类不同架构预测模型上，集成 ShifTS</a:t>
            </a:r>
            <a:r>
              <a:rPr sz="900" spc="-55" dirty="0">
                <a:solidFill>
                  <a:srgbClr val="6A7280"/>
                </a:solidFill>
                <a:latin typeface="宋体" panose="02010600030101010101" pitchFamily="2" charset="-122"/>
                <a:cs typeface="宋体" panose="02010600030101010101" pitchFamily="2" charset="-122"/>
              </a:rPr>
              <a:t> 框架与基础 </a:t>
            </a:r>
            <a:r>
              <a:rPr sz="900" spc="145" dirty="0">
                <a:solidFill>
                  <a:srgbClr val="6A7280"/>
                </a:solidFill>
                <a:latin typeface="宋体" panose="02010600030101010101" pitchFamily="2" charset="-122"/>
                <a:cs typeface="宋体" panose="02010600030101010101" pitchFamily="2" charset="-122"/>
              </a:rPr>
              <a:t>ERM</a:t>
            </a:r>
            <a:r>
              <a:rPr sz="900" spc="-30" dirty="0">
                <a:solidFill>
                  <a:srgbClr val="6A7280"/>
                </a:solidFill>
                <a:latin typeface="宋体" panose="02010600030101010101" pitchFamily="2" charset="-122"/>
                <a:cs typeface="宋体" panose="02010600030101010101" pitchFamily="2" charset="-122"/>
              </a:rPr>
              <a:t> 的预测误差对比。黑体表示最佳性能</a:t>
            </a:r>
            <a:r>
              <a:rPr sz="900" dirty="0">
                <a:solidFill>
                  <a:srgbClr val="6A7280"/>
                </a:solidFill>
                <a:latin typeface="宋体" panose="02010600030101010101" pitchFamily="2" charset="-122"/>
                <a:cs typeface="宋体" panose="02010600030101010101" pitchFamily="2" charset="-122"/>
              </a:rPr>
              <a:t>，IMP</a:t>
            </a:r>
            <a:r>
              <a:rPr sz="900" spc="-10" dirty="0">
                <a:solidFill>
                  <a:srgbClr val="6A7280"/>
                </a:solidFill>
                <a:latin typeface="宋体" panose="02010600030101010101" pitchFamily="2" charset="-122"/>
                <a:cs typeface="宋体" panose="02010600030101010101" pitchFamily="2" charset="-122"/>
              </a:rPr>
              <a:t>表示平均提</a:t>
            </a:r>
            <a:r>
              <a:rPr sz="900" spc="-15" dirty="0">
                <a:solidFill>
                  <a:srgbClr val="6A7280"/>
                </a:solidFill>
                <a:latin typeface="宋体" panose="02010600030101010101" pitchFamily="2" charset="-122"/>
                <a:cs typeface="宋体" panose="02010600030101010101" pitchFamily="2" charset="-122"/>
              </a:rPr>
              <a:t>升幅度。</a:t>
            </a:r>
            <a:endParaRPr sz="900">
              <a:latin typeface="宋体" panose="02010600030101010101" pitchFamily="2" charset="-122"/>
              <a:cs typeface="宋体" panose="02010600030101010101" pitchFamily="2" charset="-122"/>
            </a:endParaRPr>
          </a:p>
        </p:txBody>
      </p:sp>
      <p:sp>
        <p:nvSpPr>
          <p:cNvPr id="23" name="object 23"/>
          <p:cNvSpPr/>
          <p:nvPr/>
        </p:nvSpPr>
        <p:spPr>
          <a:xfrm>
            <a:off x="0" y="0"/>
            <a:ext cx="12192000" cy="9525"/>
          </a:xfrm>
          <a:custGeom>
            <a:avLst/>
            <a:gdLst/>
            <a:ahLst/>
            <a:cxnLst/>
            <a:rect l="l" t="t" r="r" b="b"/>
            <a:pathLst>
              <a:path w="12192000" h="9525">
                <a:moveTo>
                  <a:pt x="12191999" y="9524"/>
                </a:moveTo>
                <a:lnTo>
                  <a:pt x="0" y="9524"/>
                </a:lnTo>
                <a:lnTo>
                  <a:pt x="0" y="0"/>
                </a:lnTo>
                <a:lnTo>
                  <a:pt x="12191999" y="0"/>
                </a:lnTo>
                <a:lnTo>
                  <a:pt x="12191999" y="9524"/>
                </a:lnTo>
                <a:close/>
              </a:path>
            </a:pathLst>
          </a:custGeom>
          <a:solidFill>
            <a:srgbClr val="E7E4E3"/>
          </a:solidFill>
        </p:spPr>
        <p:txBody>
          <a:bodyPr wrap="square" lIns="0" tIns="0" rIns="0" bIns="0" rtlCol="0"/>
          <a:lstStyle/>
          <a:p/>
        </p:txBody>
      </p:sp>
      <p:sp>
        <p:nvSpPr>
          <p:cNvPr id="24" name="object 24"/>
          <p:cNvSpPr/>
          <p:nvPr/>
        </p:nvSpPr>
        <p:spPr>
          <a:xfrm>
            <a:off x="0" y="6848474"/>
            <a:ext cx="12192000" cy="9525"/>
          </a:xfrm>
          <a:custGeom>
            <a:avLst/>
            <a:gdLst/>
            <a:ahLst/>
            <a:cxnLst/>
            <a:rect l="l" t="t" r="r" b="b"/>
            <a:pathLst>
              <a:path w="12192000" h="9525">
                <a:moveTo>
                  <a:pt x="12191999" y="9524"/>
                </a:moveTo>
                <a:lnTo>
                  <a:pt x="0" y="9524"/>
                </a:lnTo>
                <a:lnTo>
                  <a:pt x="0" y="0"/>
                </a:lnTo>
                <a:lnTo>
                  <a:pt x="12191999" y="0"/>
                </a:lnTo>
                <a:lnTo>
                  <a:pt x="12191999" y="9524"/>
                </a:lnTo>
                <a:close/>
              </a:path>
            </a:pathLst>
          </a:custGeom>
          <a:solidFill>
            <a:srgbClr val="E7E4E3"/>
          </a:solidFill>
        </p:spPr>
        <p:txBody>
          <a:bodyPr wrap="square" lIns="0" tIns="0" rIns="0" bIns="0" rtlCol="0"/>
          <a:lstStyle/>
          <a:p/>
        </p:txBody>
      </p:sp>
      <p:grpSp>
        <p:nvGrpSpPr>
          <p:cNvPr id="25" name="object 25"/>
          <p:cNvGrpSpPr/>
          <p:nvPr/>
        </p:nvGrpSpPr>
        <p:grpSpPr>
          <a:xfrm>
            <a:off x="5291137" y="1795462"/>
            <a:ext cx="6238875" cy="3914775"/>
            <a:chOff x="5291137" y="1795462"/>
            <a:chExt cx="6238875" cy="3914775"/>
          </a:xfrm>
        </p:grpSpPr>
        <p:sp>
          <p:nvSpPr>
            <p:cNvPr id="26" name="object 26"/>
            <p:cNvSpPr/>
            <p:nvPr/>
          </p:nvSpPr>
          <p:spPr>
            <a:xfrm>
              <a:off x="5291137" y="1795462"/>
              <a:ext cx="6238875" cy="3914775"/>
            </a:xfrm>
            <a:custGeom>
              <a:avLst/>
              <a:gdLst/>
              <a:ahLst/>
              <a:cxnLst/>
              <a:rect l="l" t="t" r="r" b="b"/>
              <a:pathLst>
                <a:path w="6238875" h="3914775">
                  <a:moveTo>
                    <a:pt x="6172127" y="3914774"/>
                  </a:moveTo>
                  <a:lnTo>
                    <a:pt x="66746" y="3914774"/>
                  </a:lnTo>
                  <a:lnTo>
                    <a:pt x="62101" y="3914316"/>
                  </a:lnTo>
                  <a:lnTo>
                    <a:pt x="24240" y="3897167"/>
                  </a:lnTo>
                  <a:lnTo>
                    <a:pt x="2287" y="3861873"/>
                  </a:lnTo>
                  <a:lnTo>
                    <a:pt x="0" y="3848027"/>
                  </a:lnTo>
                  <a:lnTo>
                    <a:pt x="0" y="3843337"/>
                  </a:lnTo>
                  <a:lnTo>
                    <a:pt x="0" y="66746"/>
                  </a:lnTo>
                  <a:lnTo>
                    <a:pt x="14645" y="27848"/>
                  </a:lnTo>
                  <a:lnTo>
                    <a:pt x="48433" y="3642"/>
                  </a:lnTo>
                  <a:lnTo>
                    <a:pt x="66746" y="0"/>
                  </a:lnTo>
                  <a:lnTo>
                    <a:pt x="6172127" y="0"/>
                  </a:lnTo>
                  <a:lnTo>
                    <a:pt x="6211025" y="14645"/>
                  </a:lnTo>
                  <a:lnTo>
                    <a:pt x="6235230" y="48433"/>
                  </a:lnTo>
                  <a:lnTo>
                    <a:pt x="6238874" y="66746"/>
                  </a:lnTo>
                  <a:lnTo>
                    <a:pt x="6238874" y="3848027"/>
                  </a:lnTo>
                  <a:lnTo>
                    <a:pt x="6224227" y="3886925"/>
                  </a:lnTo>
                  <a:lnTo>
                    <a:pt x="6190440" y="3911130"/>
                  </a:lnTo>
                  <a:lnTo>
                    <a:pt x="6176773" y="3914316"/>
                  </a:lnTo>
                  <a:lnTo>
                    <a:pt x="6172127" y="3914774"/>
                  </a:lnTo>
                  <a:close/>
                </a:path>
              </a:pathLst>
            </a:custGeom>
            <a:solidFill>
              <a:srgbClr val="FFFFFF"/>
            </a:solidFill>
          </p:spPr>
          <p:txBody>
            <a:bodyPr wrap="square" lIns="0" tIns="0" rIns="0" bIns="0" rtlCol="0"/>
            <a:lstStyle/>
            <a:p/>
          </p:txBody>
        </p:sp>
        <p:sp>
          <p:nvSpPr>
            <p:cNvPr id="27" name="object 27"/>
            <p:cNvSpPr/>
            <p:nvPr/>
          </p:nvSpPr>
          <p:spPr>
            <a:xfrm>
              <a:off x="5291137" y="1795462"/>
              <a:ext cx="6238875" cy="3914775"/>
            </a:xfrm>
            <a:custGeom>
              <a:avLst/>
              <a:gdLst/>
              <a:ahLst/>
              <a:cxnLst/>
              <a:rect l="l" t="t" r="r" b="b"/>
              <a:pathLst>
                <a:path w="6238875" h="3914775">
                  <a:moveTo>
                    <a:pt x="0" y="3843337"/>
                  </a:moveTo>
                  <a:lnTo>
                    <a:pt x="0" y="71437"/>
                  </a:lnTo>
                  <a:lnTo>
                    <a:pt x="0" y="66746"/>
                  </a:lnTo>
                  <a:lnTo>
                    <a:pt x="457" y="62101"/>
                  </a:lnTo>
                  <a:lnTo>
                    <a:pt x="1372" y="57500"/>
                  </a:lnTo>
                  <a:lnTo>
                    <a:pt x="2287" y="52900"/>
                  </a:lnTo>
                  <a:lnTo>
                    <a:pt x="3642" y="48433"/>
                  </a:lnTo>
                  <a:lnTo>
                    <a:pt x="5437" y="44099"/>
                  </a:lnTo>
                  <a:lnTo>
                    <a:pt x="7232" y="39765"/>
                  </a:lnTo>
                  <a:lnTo>
                    <a:pt x="9433" y="35649"/>
                  </a:lnTo>
                  <a:lnTo>
                    <a:pt x="12039" y="31748"/>
                  </a:lnTo>
                  <a:lnTo>
                    <a:pt x="14645" y="27848"/>
                  </a:lnTo>
                  <a:lnTo>
                    <a:pt x="17606" y="24240"/>
                  </a:lnTo>
                  <a:lnTo>
                    <a:pt x="20923" y="20923"/>
                  </a:lnTo>
                  <a:lnTo>
                    <a:pt x="24240" y="17606"/>
                  </a:lnTo>
                  <a:lnTo>
                    <a:pt x="44099" y="5437"/>
                  </a:lnTo>
                  <a:lnTo>
                    <a:pt x="48433" y="3642"/>
                  </a:lnTo>
                  <a:lnTo>
                    <a:pt x="52900" y="2287"/>
                  </a:lnTo>
                  <a:lnTo>
                    <a:pt x="57500" y="1372"/>
                  </a:lnTo>
                  <a:lnTo>
                    <a:pt x="62101" y="457"/>
                  </a:lnTo>
                  <a:lnTo>
                    <a:pt x="66746" y="0"/>
                  </a:lnTo>
                  <a:lnTo>
                    <a:pt x="71437" y="0"/>
                  </a:lnTo>
                  <a:lnTo>
                    <a:pt x="6167437" y="0"/>
                  </a:lnTo>
                  <a:lnTo>
                    <a:pt x="6172127" y="0"/>
                  </a:lnTo>
                  <a:lnTo>
                    <a:pt x="6176773" y="457"/>
                  </a:lnTo>
                  <a:lnTo>
                    <a:pt x="6181373" y="1372"/>
                  </a:lnTo>
                  <a:lnTo>
                    <a:pt x="6185973" y="2287"/>
                  </a:lnTo>
                  <a:lnTo>
                    <a:pt x="6217950" y="20923"/>
                  </a:lnTo>
                  <a:lnTo>
                    <a:pt x="6221266" y="24240"/>
                  </a:lnTo>
                  <a:lnTo>
                    <a:pt x="6237500" y="57500"/>
                  </a:lnTo>
                  <a:lnTo>
                    <a:pt x="6238416" y="62101"/>
                  </a:lnTo>
                  <a:lnTo>
                    <a:pt x="6238874" y="66746"/>
                  </a:lnTo>
                  <a:lnTo>
                    <a:pt x="6238874" y="71437"/>
                  </a:lnTo>
                  <a:lnTo>
                    <a:pt x="6238874" y="3843337"/>
                  </a:lnTo>
                  <a:lnTo>
                    <a:pt x="6238874" y="3848027"/>
                  </a:lnTo>
                  <a:lnTo>
                    <a:pt x="6238416" y="3852672"/>
                  </a:lnTo>
                  <a:lnTo>
                    <a:pt x="6237500" y="3857273"/>
                  </a:lnTo>
                  <a:lnTo>
                    <a:pt x="6236585" y="3861873"/>
                  </a:lnTo>
                  <a:lnTo>
                    <a:pt x="6214633" y="3897167"/>
                  </a:lnTo>
                  <a:lnTo>
                    <a:pt x="6181373" y="3913401"/>
                  </a:lnTo>
                  <a:lnTo>
                    <a:pt x="6176773" y="3914316"/>
                  </a:lnTo>
                  <a:lnTo>
                    <a:pt x="6172127" y="3914774"/>
                  </a:lnTo>
                  <a:lnTo>
                    <a:pt x="6167437" y="3914774"/>
                  </a:lnTo>
                  <a:lnTo>
                    <a:pt x="71437" y="3914774"/>
                  </a:lnTo>
                  <a:lnTo>
                    <a:pt x="66746" y="3914774"/>
                  </a:lnTo>
                  <a:lnTo>
                    <a:pt x="62101" y="3914316"/>
                  </a:lnTo>
                  <a:lnTo>
                    <a:pt x="57500" y="3913401"/>
                  </a:lnTo>
                  <a:lnTo>
                    <a:pt x="52900" y="3912485"/>
                  </a:lnTo>
                  <a:lnTo>
                    <a:pt x="17606" y="3890533"/>
                  </a:lnTo>
                  <a:lnTo>
                    <a:pt x="1372" y="3857273"/>
                  </a:lnTo>
                  <a:lnTo>
                    <a:pt x="457" y="3852672"/>
                  </a:lnTo>
                  <a:lnTo>
                    <a:pt x="0" y="3848027"/>
                  </a:lnTo>
                  <a:lnTo>
                    <a:pt x="0" y="3843337"/>
                  </a:lnTo>
                  <a:close/>
                </a:path>
              </a:pathLst>
            </a:custGeom>
            <a:ln w="9524">
              <a:solidFill>
                <a:srgbClr val="E4E7EB"/>
              </a:solidFill>
            </a:ln>
          </p:spPr>
          <p:txBody>
            <a:bodyPr wrap="square" lIns="0" tIns="0" rIns="0" bIns="0" rtlCol="0"/>
            <a:lstStyle/>
            <a:p/>
          </p:txBody>
        </p:sp>
        <p:pic>
          <p:nvPicPr>
            <p:cNvPr id="28" name="object 28"/>
            <p:cNvPicPr/>
            <p:nvPr/>
          </p:nvPicPr>
          <p:blipFill>
            <a:blip r:embed="rId2" cstate="print"/>
            <a:stretch>
              <a:fillRect/>
            </a:stretch>
          </p:blipFill>
          <p:spPr>
            <a:xfrm>
              <a:off x="6000749" y="1952625"/>
              <a:ext cx="4819649" cy="3600449"/>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405" dirty="0"/>
              <a:t>对比分析：压制现存分布偏移抑制类算法</a:t>
            </a:r>
            <a:endParaRPr spc="-405" dirty="0"/>
          </a:p>
        </p:txBody>
      </p:sp>
      <p:sp>
        <p:nvSpPr>
          <p:cNvPr id="3" name="object 3"/>
          <p:cNvSpPr txBox="1"/>
          <p:nvPr/>
        </p:nvSpPr>
        <p:spPr>
          <a:xfrm>
            <a:off x="444500" y="1387475"/>
            <a:ext cx="1639570" cy="162560"/>
          </a:xfrm>
          <a:prstGeom prst="rect">
            <a:avLst/>
          </a:prstGeom>
        </p:spPr>
        <p:txBody>
          <a:bodyPr vert="horz" wrap="square" lIns="0" tIns="12700" rIns="0" bIns="0" rtlCol="0">
            <a:spAutoFit/>
          </a:bodyPr>
          <a:lstStyle/>
          <a:p>
            <a:pPr marL="12700">
              <a:lnSpc>
                <a:spcPct val="100000"/>
              </a:lnSpc>
              <a:spcBef>
                <a:spcPts val="100"/>
              </a:spcBef>
            </a:pPr>
            <a:r>
              <a:rPr sz="900" spc="114" dirty="0">
                <a:solidFill>
                  <a:srgbClr val="9CA2AF"/>
                </a:solidFill>
                <a:latin typeface="宋体" panose="02010600030101010101" pitchFamily="2" charset="-122"/>
                <a:cs typeface="宋体" panose="02010600030101010101" pitchFamily="2" charset="-122"/>
              </a:rPr>
              <a:t>CONTRAST</a:t>
            </a:r>
            <a:r>
              <a:rPr sz="900" spc="-65" dirty="0">
                <a:solidFill>
                  <a:srgbClr val="9CA2AF"/>
                </a:solidFill>
                <a:latin typeface="宋体" panose="02010600030101010101" pitchFamily="2" charset="-122"/>
                <a:cs typeface="宋体" panose="02010600030101010101" pitchFamily="2" charset="-122"/>
              </a:rPr>
              <a:t> </a:t>
            </a:r>
            <a:r>
              <a:rPr sz="900" spc="70" dirty="0">
                <a:solidFill>
                  <a:srgbClr val="9CA2AF"/>
                </a:solidFill>
                <a:latin typeface="宋体" panose="02010600030101010101" pitchFamily="2" charset="-122"/>
                <a:cs typeface="宋体" panose="02010600030101010101" pitchFamily="2" charset="-122"/>
              </a:rPr>
              <a:t>BASELINE</a:t>
            </a:r>
            <a:r>
              <a:rPr sz="900" spc="-65" dirty="0">
                <a:solidFill>
                  <a:srgbClr val="9CA2AF"/>
                </a:solidFill>
                <a:latin typeface="宋体" panose="02010600030101010101" pitchFamily="2" charset="-122"/>
                <a:cs typeface="宋体" panose="02010600030101010101" pitchFamily="2" charset="-122"/>
              </a:rPr>
              <a:t> </a:t>
            </a:r>
            <a:r>
              <a:rPr sz="900" spc="65" dirty="0">
                <a:solidFill>
                  <a:srgbClr val="9CA2AF"/>
                </a:solidFill>
                <a:latin typeface="宋体" panose="02010600030101010101" pitchFamily="2" charset="-122"/>
                <a:cs typeface="宋体" panose="02010600030101010101" pitchFamily="2" charset="-122"/>
              </a:rPr>
              <a:t>MATRIX</a:t>
            </a:r>
            <a:endParaRPr sz="900">
              <a:latin typeface="宋体" panose="02010600030101010101" pitchFamily="2" charset="-122"/>
              <a:cs typeface="宋体" panose="02010600030101010101" pitchFamily="2" charset="-122"/>
            </a:endParaRPr>
          </a:p>
        </p:txBody>
      </p:sp>
      <p:sp>
        <p:nvSpPr>
          <p:cNvPr id="4" name="object 4"/>
          <p:cNvSpPr/>
          <p:nvPr/>
        </p:nvSpPr>
        <p:spPr>
          <a:xfrm>
            <a:off x="2152649" y="1476374"/>
            <a:ext cx="2628900" cy="9525"/>
          </a:xfrm>
          <a:custGeom>
            <a:avLst/>
            <a:gdLst/>
            <a:ahLst/>
            <a:cxnLst/>
            <a:rect l="l" t="t" r="r" b="b"/>
            <a:pathLst>
              <a:path w="2628900" h="9525">
                <a:moveTo>
                  <a:pt x="2628899" y="9524"/>
                </a:moveTo>
                <a:lnTo>
                  <a:pt x="0" y="9524"/>
                </a:lnTo>
                <a:lnTo>
                  <a:pt x="0" y="0"/>
                </a:lnTo>
                <a:lnTo>
                  <a:pt x="2628899" y="0"/>
                </a:lnTo>
                <a:lnTo>
                  <a:pt x="2628899" y="9524"/>
                </a:lnTo>
                <a:close/>
              </a:path>
            </a:pathLst>
          </a:custGeom>
          <a:solidFill>
            <a:srgbClr val="F2F4F5"/>
          </a:solidFill>
        </p:spPr>
        <p:txBody>
          <a:bodyPr wrap="square" lIns="0" tIns="0" rIns="0" bIns="0" rtlCol="0"/>
          <a:lstStyle/>
          <a:p/>
        </p:txBody>
      </p:sp>
      <p:grpSp>
        <p:nvGrpSpPr>
          <p:cNvPr id="5" name="object 5"/>
          <p:cNvGrpSpPr/>
          <p:nvPr/>
        </p:nvGrpSpPr>
        <p:grpSpPr>
          <a:xfrm>
            <a:off x="457200" y="1666875"/>
            <a:ext cx="4324350" cy="552450"/>
            <a:chOff x="457200" y="1666875"/>
            <a:chExt cx="4324350" cy="552450"/>
          </a:xfrm>
        </p:grpSpPr>
        <p:sp>
          <p:nvSpPr>
            <p:cNvPr id="6" name="object 6"/>
            <p:cNvSpPr/>
            <p:nvPr/>
          </p:nvSpPr>
          <p:spPr>
            <a:xfrm>
              <a:off x="461962" y="1671637"/>
              <a:ext cx="4314825" cy="542925"/>
            </a:xfrm>
            <a:custGeom>
              <a:avLst/>
              <a:gdLst/>
              <a:ahLst/>
              <a:cxnLst/>
              <a:rect l="l" t="t" r="r" b="b"/>
              <a:pathLst>
                <a:path w="4314825" h="542925">
                  <a:moveTo>
                    <a:pt x="4248077" y="542924"/>
                  </a:moveTo>
                  <a:lnTo>
                    <a:pt x="66746" y="542924"/>
                  </a:lnTo>
                  <a:lnTo>
                    <a:pt x="62101" y="542467"/>
                  </a:lnTo>
                  <a:lnTo>
                    <a:pt x="24240" y="525318"/>
                  </a:lnTo>
                  <a:lnTo>
                    <a:pt x="2287" y="490024"/>
                  </a:lnTo>
                  <a:lnTo>
                    <a:pt x="0" y="476178"/>
                  </a:lnTo>
                  <a:lnTo>
                    <a:pt x="0" y="471487"/>
                  </a:lnTo>
                  <a:lnTo>
                    <a:pt x="0" y="66746"/>
                  </a:lnTo>
                  <a:lnTo>
                    <a:pt x="14645" y="27848"/>
                  </a:lnTo>
                  <a:lnTo>
                    <a:pt x="48433" y="3642"/>
                  </a:lnTo>
                  <a:lnTo>
                    <a:pt x="66746" y="0"/>
                  </a:lnTo>
                  <a:lnTo>
                    <a:pt x="4248077" y="0"/>
                  </a:lnTo>
                  <a:lnTo>
                    <a:pt x="4286975" y="14645"/>
                  </a:lnTo>
                  <a:lnTo>
                    <a:pt x="4311181" y="48433"/>
                  </a:lnTo>
                  <a:lnTo>
                    <a:pt x="4314824" y="66746"/>
                  </a:lnTo>
                  <a:lnTo>
                    <a:pt x="4314824" y="476178"/>
                  </a:lnTo>
                  <a:lnTo>
                    <a:pt x="4300178" y="515076"/>
                  </a:lnTo>
                  <a:lnTo>
                    <a:pt x="4266390" y="539282"/>
                  </a:lnTo>
                  <a:lnTo>
                    <a:pt x="4252723" y="542467"/>
                  </a:lnTo>
                  <a:lnTo>
                    <a:pt x="4248077" y="542924"/>
                  </a:lnTo>
                  <a:close/>
                </a:path>
              </a:pathLst>
            </a:custGeom>
            <a:solidFill>
              <a:srgbClr val="F9FAFA"/>
            </a:solidFill>
          </p:spPr>
          <p:txBody>
            <a:bodyPr wrap="square" lIns="0" tIns="0" rIns="0" bIns="0" rtlCol="0"/>
            <a:lstStyle/>
            <a:p/>
          </p:txBody>
        </p:sp>
        <p:sp>
          <p:nvSpPr>
            <p:cNvPr id="7" name="object 7"/>
            <p:cNvSpPr/>
            <p:nvPr/>
          </p:nvSpPr>
          <p:spPr>
            <a:xfrm>
              <a:off x="461962" y="1671637"/>
              <a:ext cx="4314825" cy="542925"/>
            </a:xfrm>
            <a:custGeom>
              <a:avLst/>
              <a:gdLst/>
              <a:ahLst/>
              <a:cxnLst/>
              <a:rect l="l" t="t" r="r" b="b"/>
              <a:pathLst>
                <a:path w="4314825" h="542925">
                  <a:moveTo>
                    <a:pt x="0" y="471487"/>
                  </a:moveTo>
                  <a:lnTo>
                    <a:pt x="0" y="71437"/>
                  </a:lnTo>
                  <a:lnTo>
                    <a:pt x="0" y="66746"/>
                  </a:lnTo>
                  <a:lnTo>
                    <a:pt x="457" y="62101"/>
                  </a:lnTo>
                  <a:lnTo>
                    <a:pt x="12039" y="31748"/>
                  </a:lnTo>
                  <a:lnTo>
                    <a:pt x="14645" y="27848"/>
                  </a:lnTo>
                  <a:lnTo>
                    <a:pt x="17606" y="24240"/>
                  </a:lnTo>
                  <a:lnTo>
                    <a:pt x="20923" y="20923"/>
                  </a:lnTo>
                  <a:lnTo>
                    <a:pt x="24240" y="17606"/>
                  </a:lnTo>
                  <a:lnTo>
                    <a:pt x="62101" y="457"/>
                  </a:lnTo>
                  <a:lnTo>
                    <a:pt x="66746" y="0"/>
                  </a:lnTo>
                  <a:lnTo>
                    <a:pt x="71437" y="0"/>
                  </a:lnTo>
                  <a:lnTo>
                    <a:pt x="4243387" y="0"/>
                  </a:lnTo>
                  <a:lnTo>
                    <a:pt x="4248077" y="0"/>
                  </a:lnTo>
                  <a:lnTo>
                    <a:pt x="4252723" y="457"/>
                  </a:lnTo>
                  <a:lnTo>
                    <a:pt x="4283074" y="12039"/>
                  </a:lnTo>
                  <a:lnTo>
                    <a:pt x="4286975" y="14645"/>
                  </a:lnTo>
                  <a:lnTo>
                    <a:pt x="4290583" y="17606"/>
                  </a:lnTo>
                  <a:lnTo>
                    <a:pt x="4293900" y="20923"/>
                  </a:lnTo>
                  <a:lnTo>
                    <a:pt x="4297217" y="24240"/>
                  </a:lnTo>
                  <a:lnTo>
                    <a:pt x="4313451" y="57500"/>
                  </a:lnTo>
                  <a:lnTo>
                    <a:pt x="4314366" y="62101"/>
                  </a:lnTo>
                  <a:lnTo>
                    <a:pt x="4314824" y="66746"/>
                  </a:lnTo>
                  <a:lnTo>
                    <a:pt x="4314824" y="71437"/>
                  </a:lnTo>
                  <a:lnTo>
                    <a:pt x="4314824" y="471487"/>
                  </a:lnTo>
                  <a:lnTo>
                    <a:pt x="4314824" y="476178"/>
                  </a:lnTo>
                  <a:lnTo>
                    <a:pt x="4314367" y="480823"/>
                  </a:lnTo>
                  <a:lnTo>
                    <a:pt x="4313451" y="485424"/>
                  </a:lnTo>
                  <a:lnTo>
                    <a:pt x="4312536" y="490024"/>
                  </a:lnTo>
                  <a:lnTo>
                    <a:pt x="4302784" y="511176"/>
                  </a:lnTo>
                  <a:lnTo>
                    <a:pt x="4300178" y="515076"/>
                  </a:lnTo>
                  <a:lnTo>
                    <a:pt x="4297217" y="518684"/>
                  </a:lnTo>
                  <a:lnTo>
                    <a:pt x="4293900" y="522001"/>
                  </a:lnTo>
                  <a:lnTo>
                    <a:pt x="4290583" y="525318"/>
                  </a:lnTo>
                  <a:lnTo>
                    <a:pt x="4286975" y="528279"/>
                  </a:lnTo>
                  <a:lnTo>
                    <a:pt x="4283075" y="530885"/>
                  </a:lnTo>
                  <a:lnTo>
                    <a:pt x="4279175" y="533491"/>
                  </a:lnTo>
                  <a:lnTo>
                    <a:pt x="4257323" y="541552"/>
                  </a:lnTo>
                  <a:lnTo>
                    <a:pt x="4252723" y="542467"/>
                  </a:lnTo>
                  <a:lnTo>
                    <a:pt x="4248077" y="542924"/>
                  </a:lnTo>
                  <a:lnTo>
                    <a:pt x="4243387" y="542924"/>
                  </a:lnTo>
                  <a:lnTo>
                    <a:pt x="71437" y="542924"/>
                  </a:lnTo>
                  <a:lnTo>
                    <a:pt x="31748" y="530885"/>
                  </a:lnTo>
                  <a:lnTo>
                    <a:pt x="27848" y="528279"/>
                  </a:lnTo>
                  <a:lnTo>
                    <a:pt x="3642" y="494491"/>
                  </a:lnTo>
                  <a:lnTo>
                    <a:pt x="1372" y="485424"/>
                  </a:lnTo>
                  <a:lnTo>
                    <a:pt x="457" y="480823"/>
                  </a:lnTo>
                  <a:lnTo>
                    <a:pt x="0" y="476178"/>
                  </a:lnTo>
                  <a:lnTo>
                    <a:pt x="0" y="471487"/>
                  </a:lnTo>
                  <a:close/>
                </a:path>
              </a:pathLst>
            </a:custGeom>
            <a:ln w="9524">
              <a:solidFill>
                <a:srgbClr val="F2F4F5"/>
              </a:solidFill>
            </a:ln>
          </p:spPr>
          <p:txBody>
            <a:bodyPr wrap="square" lIns="0" tIns="0" rIns="0" bIns="0" rtlCol="0"/>
            <a:lstStyle/>
            <a:p/>
          </p:txBody>
        </p:sp>
      </p:grpSp>
      <p:sp>
        <p:nvSpPr>
          <p:cNvPr id="8" name="object 8"/>
          <p:cNvSpPr txBox="1"/>
          <p:nvPr/>
        </p:nvSpPr>
        <p:spPr>
          <a:xfrm>
            <a:off x="3924696" y="1758950"/>
            <a:ext cx="768985" cy="139700"/>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9CA2AF"/>
                </a:solidFill>
                <a:latin typeface="Courier New" panose="02070309020205020404"/>
                <a:cs typeface="Courier New" panose="02070309020205020404"/>
              </a:rPr>
              <a:t>Concept </a:t>
            </a:r>
            <a:r>
              <a:rPr sz="750" spc="-10" dirty="0">
                <a:solidFill>
                  <a:srgbClr val="9CA2AF"/>
                </a:solidFill>
                <a:latin typeface="Courier New" panose="02070309020205020404"/>
                <a:cs typeface="Courier New" panose="02070309020205020404"/>
              </a:rPr>
              <a:t>Drift</a:t>
            </a:r>
            <a:endParaRPr sz="750">
              <a:latin typeface="Courier New" panose="02070309020205020404"/>
              <a:cs typeface="Courier New" panose="02070309020205020404"/>
            </a:endParaRPr>
          </a:p>
        </p:txBody>
      </p:sp>
      <p:sp>
        <p:nvSpPr>
          <p:cNvPr id="9" name="object 9"/>
          <p:cNvSpPr txBox="1"/>
          <p:nvPr/>
        </p:nvSpPr>
        <p:spPr>
          <a:xfrm>
            <a:off x="549275" y="1715135"/>
            <a:ext cx="1739900" cy="387350"/>
          </a:xfrm>
          <a:prstGeom prst="rect">
            <a:avLst/>
          </a:prstGeom>
        </p:spPr>
        <p:txBody>
          <a:bodyPr vert="horz" wrap="square" lIns="0" tIns="56515" rIns="0" bIns="0" rtlCol="0">
            <a:spAutoFit/>
          </a:bodyPr>
          <a:lstStyle/>
          <a:p>
            <a:pPr marL="12700">
              <a:lnSpc>
                <a:spcPct val="100000"/>
              </a:lnSpc>
              <a:spcBef>
                <a:spcPts val="445"/>
              </a:spcBef>
            </a:pPr>
            <a:r>
              <a:rPr sz="900" dirty="0">
                <a:solidFill>
                  <a:srgbClr val="374050"/>
                </a:solidFill>
                <a:latin typeface="宋体" panose="02010600030101010101" pitchFamily="2" charset="-122"/>
                <a:cs typeface="宋体" panose="02010600030101010101" pitchFamily="2" charset="-122"/>
              </a:rPr>
              <a:t>常规概念漂移抑制（一般泛化型</a:t>
            </a:r>
            <a:r>
              <a:rPr sz="900" spc="-50" dirty="0">
                <a:solidFill>
                  <a:srgbClr val="374050"/>
                </a:solidFill>
                <a:latin typeface="宋体" panose="02010600030101010101" pitchFamily="2" charset="-122"/>
                <a:cs typeface="宋体" panose="02010600030101010101" pitchFamily="2" charset="-122"/>
              </a:rPr>
              <a:t>）</a:t>
            </a:r>
            <a:endParaRPr sz="900">
              <a:latin typeface="宋体" panose="02010600030101010101" pitchFamily="2" charset="-122"/>
              <a:cs typeface="宋体" panose="02010600030101010101" pitchFamily="2" charset="-122"/>
            </a:endParaRPr>
          </a:p>
          <a:p>
            <a:pPr marL="12700">
              <a:lnSpc>
                <a:spcPct val="100000"/>
              </a:lnSpc>
              <a:spcBef>
                <a:spcPts val="345"/>
              </a:spcBef>
            </a:pPr>
            <a:r>
              <a:rPr sz="900" spc="-20" dirty="0">
                <a:solidFill>
                  <a:srgbClr val="4A5462"/>
                </a:solidFill>
                <a:latin typeface="Courier New" panose="02070309020205020404"/>
                <a:cs typeface="Courier New" panose="02070309020205020404"/>
              </a:rPr>
              <a:t>GroupDRO,</a:t>
            </a:r>
            <a:r>
              <a:rPr sz="900" spc="-95" dirty="0">
                <a:solidFill>
                  <a:srgbClr val="4A5462"/>
                </a:solidFill>
                <a:latin typeface="Courier New" panose="02070309020205020404"/>
                <a:cs typeface="Courier New" panose="02070309020205020404"/>
              </a:rPr>
              <a:t> </a:t>
            </a:r>
            <a:r>
              <a:rPr sz="900" dirty="0">
                <a:solidFill>
                  <a:srgbClr val="4A5462"/>
                </a:solidFill>
                <a:latin typeface="Courier New" panose="02070309020205020404"/>
                <a:cs typeface="Courier New" panose="02070309020205020404"/>
              </a:rPr>
              <a:t>IRM,</a:t>
            </a:r>
            <a:r>
              <a:rPr sz="900" spc="-95" dirty="0">
                <a:solidFill>
                  <a:srgbClr val="4A5462"/>
                </a:solidFill>
                <a:latin typeface="Courier New" panose="02070309020205020404"/>
                <a:cs typeface="Courier New" panose="02070309020205020404"/>
              </a:rPr>
              <a:t> </a:t>
            </a:r>
            <a:r>
              <a:rPr sz="900" spc="-10" dirty="0">
                <a:solidFill>
                  <a:srgbClr val="4A5462"/>
                </a:solidFill>
                <a:latin typeface="Courier New" panose="02070309020205020404"/>
                <a:cs typeface="Courier New" panose="02070309020205020404"/>
              </a:rPr>
              <a:t>VREx,</a:t>
            </a:r>
            <a:r>
              <a:rPr sz="900" spc="-90" dirty="0">
                <a:solidFill>
                  <a:srgbClr val="4A5462"/>
                </a:solidFill>
                <a:latin typeface="Courier New" panose="02070309020205020404"/>
                <a:cs typeface="Courier New" panose="02070309020205020404"/>
              </a:rPr>
              <a:t> </a:t>
            </a:r>
            <a:r>
              <a:rPr sz="900" spc="-20" dirty="0">
                <a:solidFill>
                  <a:srgbClr val="4A5462"/>
                </a:solidFill>
                <a:latin typeface="Courier New" panose="02070309020205020404"/>
                <a:cs typeface="Courier New" panose="02070309020205020404"/>
              </a:rPr>
              <a:t>EIIL</a:t>
            </a:r>
            <a:endParaRPr sz="900">
              <a:latin typeface="Courier New" panose="02070309020205020404"/>
              <a:cs typeface="Courier New" panose="02070309020205020404"/>
            </a:endParaRPr>
          </a:p>
        </p:txBody>
      </p:sp>
      <p:grpSp>
        <p:nvGrpSpPr>
          <p:cNvPr id="10" name="object 10"/>
          <p:cNvGrpSpPr/>
          <p:nvPr/>
        </p:nvGrpSpPr>
        <p:grpSpPr>
          <a:xfrm>
            <a:off x="457200" y="2295524"/>
            <a:ext cx="4324350" cy="552450"/>
            <a:chOff x="457200" y="2295524"/>
            <a:chExt cx="4324350" cy="552450"/>
          </a:xfrm>
        </p:grpSpPr>
        <p:sp>
          <p:nvSpPr>
            <p:cNvPr id="11" name="object 11"/>
            <p:cNvSpPr/>
            <p:nvPr/>
          </p:nvSpPr>
          <p:spPr>
            <a:xfrm>
              <a:off x="461962" y="2300287"/>
              <a:ext cx="4314825" cy="542925"/>
            </a:xfrm>
            <a:custGeom>
              <a:avLst/>
              <a:gdLst/>
              <a:ahLst/>
              <a:cxnLst/>
              <a:rect l="l" t="t" r="r" b="b"/>
              <a:pathLst>
                <a:path w="4314825" h="542925">
                  <a:moveTo>
                    <a:pt x="4248077" y="542924"/>
                  </a:moveTo>
                  <a:lnTo>
                    <a:pt x="66746" y="542924"/>
                  </a:lnTo>
                  <a:lnTo>
                    <a:pt x="62101" y="542467"/>
                  </a:lnTo>
                  <a:lnTo>
                    <a:pt x="24240" y="525318"/>
                  </a:lnTo>
                  <a:lnTo>
                    <a:pt x="2287" y="490024"/>
                  </a:lnTo>
                  <a:lnTo>
                    <a:pt x="0" y="476178"/>
                  </a:lnTo>
                  <a:lnTo>
                    <a:pt x="0" y="471487"/>
                  </a:lnTo>
                  <a:lnTo>
                    <a:pt x="0" y="66746"/>
                  </a:lnTo>
                  <a:lnTo>
                    <a:pt x="14645" y="27848"/>
                  </a:lnTo>
                  <a:lnTo>
                    <a:pt x="48433" y="3642"/>
                  </a:lnTo>
                  <a:lnTo>
                    <a:pt x="66746" y="0"/>
                  </a:lnTo>
                  <a:lnTo>
                    <a:pt x="4248077" y="0"/>
                  </a:lnTo>
                  <a:lnTo>
                    <a:pt x="4286975" y="14645"/>
                  </a:lnTo>
                  <a:lnTo>
                    <a:pt x="4311181" y="48433"/>
                  </a:lnTo>
                  <a:lnTo>
                    <a:pt x="4314824" y="66746"/>
                  </a:lnTo>
                  <a:lnTo>
                    <a:pt x="4314824" y="476178"/>
                  </a:lnTo>
                  <a:lnTo>
                    <a:pt x="4300178" y="515076"/>
                  </a:lnTo>
                  <a:lnTo>
                    <a:pt x="4266390" y="539281"/>
                  </a:lnTo>
                  <a:lnTo>
                    <a:pt x="4252723" y="542467"/>
                  </a:lnTo>
                  <a:lnTo>
                    <a:pt x="4248077" y="542924"/>
                  </a:lnTo>
                  <a:close/>
                </a:path>
              </a:pathLst>
            </a:custGeom>
            <a:solidFill>
              <a:srgbClr val="F9FAFA"/>
            </a:solidFill>
          </p:spPr>
          <p:txBody>
            <a:bodyPr wrap="square" lIns="0" tIns="0" rIns="0" bIns="0" rtlCol="0"/>
            <a:lstStyle/>
            <a:p/>
          </p:txBody>
        </p:sp>
        <p:sp>
          <p:nvSpPr>
            <p:cNvPr id="12" name="object 12"/>
            <p:cNvSpPr/>
            <p:nvPr/>
          </p:nvSpPr>
          <p:spPr>
            <a:xfrm>
              <a:off x="461962" y="2300287"/>
              <a:ext cx="4314825" cy="542925"/>
            </a:xfrm>
            <a:custGeom>
              <a:avLst/>
              <a:gdLst/>
              <a:ahLst/>
              <a:cxnLst/>
              <a:rect l="l" t="t" r="r" b="b"/>
              <a:pathLst>
                <a:path w="4314825" h="542925">
                  <a:moveTo>
                    <a:pt x="0" y="471487"/>
                  </a:moveTo>
                  <a:lnTo>
                    <a:pt x="0" y="71437"/>
                  </a:lnTo>
                  <a:lnTo>
                    <a:pt x="0" y="66746"/>
                  </a:lnTo>
                  <a:lnTo>
                    <a:pt x="457" y="62101"/>
                  </a:lnTo>
                  <a:lnTo>
                    <a:pt x="17606" y="24240"/>
                  </a:lnTo>
                  <a:lnTo>
                    <a:pt x="20923" y="20923"/>
                  </a:lnTo>
                  <a:lnTo>
                    <a:pt x="24240" y="17606"/>
                  </a:lnTo>
                  <a:lnTo>
                    <a:pt x="62101" y="457"/>
                  </a:lnTo>
                  <a:lnTo>
                    <a:pt x="66746" y="0"/>
                  </a:lnTo>
                  <a:lnTo>
                    <a:pt x="71437" y="0"/>
                  </a:lnTo>
                  <a:lnTo>
                    <a:pt x="4243387" y="0"/>
                  </a:lnTo>
                  <a:lnTo>
                    <a:pt x="4248077" y="0"/>
                  </a:lnTo>
                  <a:lnTo>
                    <a:pt x="4252723" y="457"/>
                  </a:lnTo>
                  <a:lnTo>
                    <a:pt x="4257323" y="1372"/>
                  </a:lnTo>
                  <a:lnTo>
                    <a:pt x="4261924" y="2287"/>
                  </a:lnTo>
                  <a:lnTo>
                    <a:pt x="4283074" y="12039"/>
                  </a:lnTo>
                  <a:lnTo>
                    <a:pt x="4286975" y="14645"/>
                  </a:lnTo>
                  <a:lnTo>
                    <a:pt x="4290583" y="17606"/>
                  </a:lnTo>
                  <a:lnTo>
                    <a:pt x="4293900" y="20923"/>
                  </a:lnTo>
                  <a:lnTo>
                    <a:pt x="4297217" y="24240"/>
                  </a:lnTo>
                  <a:lnTo>
                    <a:pt x="4300178" y="27848"/>
                  </a:lnTo>
                  <a:lnTo>
                    <a:pt x="4302784" y="31748"/>
                  </a:lnTo>
                  <a:lnTo>
                    <a:pt x="4305390" y="35649"/>
                  </a:lnTo>
                  <a:lnTo>
                    <a:pt x="4313451" y="57500"/>
                  </a:lnTo>
                  <a:lnTo>
                    <a:pt x="4314366" y="62101"/>
                  </a:lnTo>
                  <a:lnTo>
                    <a:pt x="4314824" y="66746"/>
                  </a:lnTo>
                  <a:lnTo>
                    <a:pt x="4314824" y="71437"/>
                  </a:lnTo>
                  <a:lnTo>
                    <a:pt x="4314824" y="471487"/>
                  </a:lnTo>
                  <a:lnTo>
                    <a:pt x="4314824" y="476178"/>
                  </a:lnTo>
                  <a:lnTo>
                    <a:pt x="4314367" y="480823"/>
                  </a:lnTo>
                  <a:lnTo>
                    <a:pt x="4313451" y="485424"/>
                  </a:lnTo>
                  <a:lnTo>
                    <a:pt x="4312536" y="490024"/>
                  </a:lnTo>
                  <a:lnTo>
                    <a:pt x="4302784" y="511175"/>
                  </a:lnTo>
                  <a:lnTo>
                    <a:pt x="4300178" y="515076"/>
                  </a:lnTo>
                  <a:lnTo>
                    <a:pt x="4297217" y="518684"/>
                  </a:lnTo>
                  <a:lnTo>
                    <a:pt x="4293900" y="522001"/>
                  </a:lnTo>
                  <a:lnTo>
                    <a:pt x="4290583" y="525318"/>
                  </a:lnTo>
                  <a:lnTo>
                    <a:pt x="4257323" y="541552"/>
                  </a:lnTo>
                  <a:lnTo>
                    <a:pt x="4252723" y="542467"/>
                  </a:lnTo>
                  <a:lnTo>
                    <a:pt x="4248077" y="542924"/>
                  </a:lnTo>
                  <a:lnTo>
                    <a:pt x="4243387" y="542924"/>
                  </a:lnTo>
                  <a:lnTo>
                    <a:pt x="71437" y="542924"/>
                  </a:lnTo>
                  <a:lnTo>
                    <a:pt x="66746" y="542924"/>
                  </a:lnTo>
                  <a:lnTo>
                    <a:pt x="62101" y="542467"/>
                  </a:lnTo>
                  <a:lnTo>
                    <a:pt x="57500" y="541552"/>
                  </a:lnTo>
                  <a:lnTo>
                    <a:pt x="52900" y="540636"/>
                  </a:lnTo>
                  <a:lnTo>
                    <a:pt x="17606" y="518684"/>
                  </a:lnTo>
                  <a:lnTo>
                    <a:pt x="12039" y="511175"/>
                  </a:lnTo>
                  <a:lnTo>
                    <a:pt x="9433" y="507275"/>
                  </a:lnTo>
                  <a:lnTo>
                    <a:pt x="7232" y="503158"/>
                  </a:lnTo>
                  <a:lnTo>
                    <a:pt x="5437" y="498825"/>
                  </a:lnTo>
                  <a:lnTo>
                    <a:pt x="3642" y="494491"/>
                  </a:lnTo>
                  <a:lnTo>
                    <a:pt x="2287" y="490024"/>
                  </a:lnTo>
                  <a:lnTo>
                    <a:pt x="1372" y="485424"/>
                  </a:lnTo>
                  <a:lnTo>
                    <a:pt x="457" y="480823"/>
                  </a:lnTo>
                  <a:lnTo>
                    <a:pt x="0" y="476178"/>
                  </a:lnTo>
                  <a:lnTo>
                    <a:pt x="0" y="471487"/>
                  </a:lnTo>
                  <a:close/>
                </a:path>
              </a:pathLst>
            </a:custGeom>
            <a:ln w="9524">
              <a:solidFill>
                <a:srgbClr val="F2F4F5"/>
              </a:solidFill>
            </a:ln>
          </p:spPr>
          <p:txBody>
            <a:bodyPr wrap="square" lIns="0" tIns="0" rIns="0" bIns="0" rtlCol="0"/>
            <a:lstStyle/>
            <a:p/>
          </p:txBody>
        </p:sp>
      </p:grpSp>
      <p:sp>
        <p:nvSpPr>
          <p:cNvPr id="13" name="object 13"/>
          <p:cNvSpPr txBox="1"/>
          <p:nvPr/>
        </p:nvSpPr>
        <p:spPr>
          <a:xfrm>
            <a:off x="3867546" y="2387600"/>
            <a:ext cx="826135" cy="139700"/>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9CA2AF"/>
                </a:solidFill>
                <a:latin typeface="Courier New" panose="02070309020205020404"/>
                <a:cs typeface="Courier New" panose="02070309020205020404"/>
              </a:rPr>
              <a:t>Temporal </a:t>
            </a:r>
            <a:r>
              <a:rPr sz="750" spc="-10" dirty="0">
                <a:solidFill>
                  <a:srgbClr val="9CA2AF"/>
                </a:solidFill>
                <a:latin typeface="Courier New" panose="02070309020205020404"/>
                <a:cs typeface="Courier New" panose="02070309020205020404"/>
              </a:rPr>
              <a:t>Shift</a:t>
            </a:r>
            <a:endParaRPr sz="750">
              <a:latin typeface="Courier New" panose="02070309020205020404"/>
              <a:cs typeface="Courier New" panose="02070309020205020404"/>
            </a:endParaRPr>
          </a:p>
        </p:txBody>
      </p:sp>
      <p:sp>
        <p:nvSpPr>
          <p:cNvPr id="14" name="object 14"/>
          <p:cNvSpPr txBox="1"/>
          <p:nvPr/>
        </p:nvSpPr>
        <p:spPr>
          <a:xfrm>
            <a:off x="549275" y="2343785"/>
            <a:ext cx="1854200" cy="387350"/>
          </a:xfrm>
          <a:prstGeom prst="rect">
            <a:avLst/>
          </a:prstGeom>
        </p:spPr>
        <p:txBody>
          <a:bodyPr vert="horz" wrap="square" lIns="0" tIns="56515" rIns="0" bIns="0" rtlCol="0">
            <a:spAutoFit/>
          </a:bodyPr>
          <a:lstStyle/>
          <a:p>
            <a:pPr marL="12700">
              <a:lnSpc>
                <a:spcPct val="100000"/>
              </a:lnSpc>
              <a:spcBef>
                <a:spcPts val="445"/>
              </a:spcBef>
            </a:pPr>
            <a:r>
              <a:rPr sz="900" dirty="0">
                <a:solidFill>
                  <a:srgbClr val="374050"/>
                </a:solidFill>
                <a:latin typeface="宋体" panose="02010600030101010101" pitchFamily="2" charset="-122"/>
                <a:cs typeface="宋体" panose="02010600030101010101" pitchFamily="2" charset="-122"/>
              </a:rPr>
              <a:t>专门时间分量硬漂移（时序专用型</a:t>
            </a:r>
            <a:r>
              <a:rPr sz="900" spc="-50" dirty="0">
                <a:solidFill>
                  <a:srgbClr val="374050"/>
                </a:solidFill>
                <a:latin typeface="宋体" panose="02010600030101010101" pitchFamily="2" charset="-122"/>
                <a:cs typeface="宋体" panose="02010600030101010101" pitchFamily="2" charset="-122"/>
              </a:rPr>
              <a:t>）</a:t>
            </a:r>
            <a:endParaRPr sz="900">
              <a:latin typeface="宋体" panose="02010600030101010101" pitchFamily="2" charset="-122"/>
              <a:cs typeface="宋体" panose="02010600030101010101" pitchFamily="2" charset="-122"/>
            </a:endParaRPr>
          </a:p>
          <a:p>
            <a:pPr marL="12700">
              <a:lnSpc>
                <a:spcPct val="100000"/>
              </a:lnSpc>
              <a:spcBef>
                <a:spcPts val="345"/>
              </a:spcBef>
            </a:pPr>
            <a:r>
              <a:rPr sz="900" spc="-10" dirty="0">
                <a:solidFill>
                  <a:srgbClr val="4A5462"/>
                </a:solidFill>
                <a:latin typeface="Courier New" panose="02070309020205020404"/>
                <a:cs typeface="Courier New" panose="02070309020205020404"/>
              </a:rPr>
              <a:t>RevIN,</a:t>
            </a:r>
            <a:r>
              <a:rPr sz="900" spc="-100" dirty="0">
                <a:solidFill>
                  <a:srgbClr val="4A5462"/>
                </a:solidFill>
                <a:latin typeface="Courier New" panose="02070309020205020404"/>
                <a:cs typeface="Courier New" panose="02070309020205020404"/>
              </a:rPr>
              <a:t> </a:t>
            </a:r>
            <a:r>
              <a:rPr sz="900" spc="-25" dirty="0">
                <a:solidFill>
                  <a:srgbClr val="4A5462"/>
                </a:solidFill>
                <a:latin typeface="Courier New" panose="02070309020205020404"/>
                <a:cs typeface="Courier New" panose="02070309020205020404"/>
              </a:rPr>
              <a:t>N-</a:t>
            </a:r>
            <a:r>
              <a:rPr sz="900" dirty="0">
                <a:solidFill>
                  <a:srgbClr val="4A5462"/>
                </a:solidFill>
                <a:latin typeface="Courier New" panose="02070309020205020404"/>
                <a:cs typeface="Courier New" panose="02070309020205020404"/>
              </a:rPr>
              <a:t>S</a:t>
            </a:r>
            <a:r>
              <a:rPr sz="900" spc="-90" dirty="0">
                <a:solidFill>
                  <a:srgbClr val="4A5462"/>
                </a:solidFill>
                <a:latin typeface="Courier New" panose="02070309020205020404"/>
                <a:cs typeface="Courier New" panose="02070309020205020404"/>
              </a:rPr>
              <a:t> </a:t>
            </a:r>
            <a:r>
              <a:rPr sz="900" spc="-10" dirty="0">
                <a:solidFill>
                  <a:srgbClr val="4A5462"/>
                </a:solidFill>
                <a:latin typeface="Courier New" panose="02070309020205020404"/>
                <a:cs typeface="Courier New" panose="02070309020205020404"/>
              </a:rPr>
              <a:t>Trans,</a:t>
            </a:r>
            <a:r>
              <a:rPr sz="900" spc="-85" dirty="0">
                <a:solidFill>
                  <a:srgbClr val="4A5462"/>
                </a:solidFill>
                <a:latin typeface="Courier New" panose="02070309020205020404"/>
                <a:cs typeface="Courier New" panose="02070309020205020404"/>
              </a:rPr>
              <a:t> </a:t>
            </a:r>
            <a:r>
              <a:rPr sz="900" spc="-25" dirty="0">
                <a:solidFill>
                  <a:srgbClr val="4A5462"/>
                </a:solidFill>
                <a:latin typeface="Courier New" panose="02070309020205020404"/>
                <a:cs typeface="Courier New" panose="02070309020205020404"/>
              </a:rPr>
              <a:t>SAN</a:t>
            </a:r>
            <a:endParaRPr sz="900">
              <a:latin typeface="Courier New" panose="02070309020205020404"/>
              <a:cs typeface="Courier New" panose="02070309020205020404"/>
            </a:endParaRPr>
          </a:p>
        </p:txBody>
      </p:sp>
      <p:grpSp>
        <p:nvGrpSpPr>
          <p:cNvPr id="15" name="object 15"/>
          <p:cNvGrpSpPr/>
          <p:nvPr/>
        </p:nvGrpSpPr>
        <p:grpSpPr>
          <a:xfrm>
            <a:off x="457200" y="2924174"/>
            <a:ext cx="4324350" cy="571500"/>
            <a:chOff x="457200" y="2924174"/>
            <a:chExt cx="4324350" cy="571500"/>
          </a:xfrm>
        </p:grpSpPr>
        <p:sp>
          <p:nvSpPr>
            <p:cNvPr id="16" name="object 16"/>
            <p:cNvSpPr/>
            <p:nvPr/>
          </p:nvSpPr>
          <p:spPr>
            <a:xfrm>
              <a:off x="461962" y="2928937"/>
              <a:ext cx="4314825" cy="561975"/>
            </a:xfrm>
            <a:custGeom>
              <a:avLst/>
              <a:gdLst/>
              <a:ahLst/>
              <a:cxnLst/>
              <a:rect l="l" t="t" r="r" b="b"/>
              <a:pathLst>
                <a:path w="4314825" h="561975">
                  <a:moveTo>
                    <a:pt x="4248077" y="561974"/>
                  </a:moveTo>
                  <a:lnTo>
                    <a:pt x="66746" y="561974"/>
                  </a:lnTo>
                  <a:lnTo>
                    <a:pt x="62101" y="561517"/>
                  </a:lnTo>
                  <a:lnTo>
                    <a:pt x="24240" y="544367"/>
                  </a:lnTo>
                  <a:lnTo>
                    <a:pt x="2287" y="509074"/>
                  </a:lnTo>
                  <a:lnTo>
                    <a:pt x="0" y="495228"/>
                  </a:lnTo>
                  <a:lnTo>
                    <a:pt x="0" y="490537"/>
                  </a:lnTo>
                  <a:lnTo>
                    <a:pt x="0" y="66746"/>
                  </a:lnTo>
                  <a:lnTo>
                    <a:pt x="14645" y="27848"/>
                  </a:lnTo>
                  <a:lnTo>
                    <a:pt x="48433" y="3642"/>
                  </a:lnTo>
                  <a:lnTo>
                    <a:pt x="66746" y="0"/>
                  </a:lnTo>
                  <a:lnTo>
                    <a:pt x="4248077" y="0"/>
                  </a:lnTo>
                  <a:lnTo>
                    <a:pt x="4286975" y="14645"/>
                  </a:lnTo>
                  <a:lnTo>
                    <a:pt x="4311181" y="48432"/>
                  </a:lnTo>
                  <a:lnTo>
                    <a:pt x="4314824" y="66746"/>
                  </a:lnTo>
                  <a:lnTo>
                    <a:pt x="4314824" y="495228"/>
                  </a:lnTo>
                  <a:lnTo>
                    <a:pt x="4300178" y="534125"/>
                  </a:lnTo>
                  <a:lnTo>
                    <a:pt x="4266390" y="558332"/>
                  </a:lnTo>
                  <a:lnTo>
                    <a:pt x="4252723" y="561517"/>
                  </a:lnTo>
                  <a:lnTo>
                    <a:pt x="4248077" y="561974"/>
                  </a:lnTo>
                  <a:close/>
                </a:path>
              </a:pathLst>
            </a:custGeom>
            <a:solidFill>
              <a:srgbClr val="FFF7F0"/>
            </a:solidFill>
          </p:spPr>
          <p:txBody>
            <a:bodyPr wrap="square" lIns="0" tIns="0" rIns="0" bIns="0" rtlCol="0"/>
            <a:lstStyle/>
            <a:p/>
          </p:txBody>
        </p:sp>
        <p:sp>
          <p:nvSpPr>
            <p:cNvPr id="17" name="object 17"/>
            <p:cNvSpPr/>
            <p:nvPr/>
          </p:nvSpPr>
          <p:spPr>
            <a:xfrm>
              <a:off x="461962" y="2928937"/>
              <a:ext cx="4314825" cy="561975"/>
            </a:xfrm>
            <a:custGeom>
              <a:avLst/>
              <a:gdLst/>
              <a:ahLst/>
              <a:cxnLst/>
              <a:rect l="l" t="t" r="r" b="b"/>
              <a:pathLst>
                <a:path w="4314825" h="561975">
                  <a:moveTo>
                    <a:pt x="0" y="490537"/>
                  </a:moveTo>
                  <a:lnTo>
                    <a:pt x="0" y="71437"/>
                  </a:lnTo>
                  <a:lnTo>
                    <a:pt x="0" y="66746"/>
                  </a:lnTo>
                  <a:lnTo>
                    <a:pt x="457" y="62101"/>
                  </a:lnTo>
                  <a:lnTo>
                    <a:pt x="1372" y="57500"/>
                  </a:lnTo>
                  <a:lnTo>
                    <a:pt x="2287" y="52900"/>
                  </a:lnTo>
                  <a:lnTo>
                    <a:pt x="3642" y="48432"/>
                  </a:lnTo>
                  <a:lnTo>
                    <a:pt x="27848" y="14645"/>
                  </a:lnTo>
                  <a:lnTo>
                    <a:pt x="31748" y="12039"/>
                  </a:lnTo>
                  <a:lnTo>
                    <a:pt x="35649" y="9433"/>
                  </a:lnTo>
                  <a:lnTo>
                    <a:pt x="66746" y="0"/>
                  </a:lnTo>
                  <a:lnTo>
                    <a:pt x="71437" y="0"/>
                  </a:lnTo>
                  <a:lnTo>
                    <a:pt x="4243387" y="0"/>
                  </a:lnTo>
                  <a:lnTo>
                    <a:pt x="4248077" y="0"/>
                  </a:lnTo>
                  <a:lnTo>
                    <a:pt x="4252723" y="457"/>
                  </a:lnTo>
                  <a:lnTo>
                    <a:pt x="4283074" y="12039"/>
                  </a:lnTo>
                  <a:lnTo>
                    <a:pt x="4286975" y="14645"/>
                  </a:lnTo>
                  <a:lnTo>
                    <a:pt x="4290583" y="17606"/>
                  </a:lnTo>
                  <a:lnTo>
                    <a:pt x="4293900" y="20923"/>
                  </a:lnTo>
                  <a:lnTo>
                    <a:pt x="4297217" y="24240"/>
                  </a:lnTo>
                  <a:lnTo>
                    <a:pt x="4313451" y="57500"/>
                  </a:lnTo>
                  <a:lnTo>
                    <a:pt x="4314366" y="62101"/>
                  </a:lnTo>
                  <a:lnTo>
                    <a:pt x="4314824" y="66746"/>
                  </a:lnTo>
                  <a:lnTo>
                    <a:pt x="4314824" y="71437"/>
                  </a:lnTo>
                  <a:lnTo>
                    <a:pt x="4314824" y="490537"/>
                  </a:lnTo>
                  <a:lnTo>
                    <a:pt x="4314824" y="495228"/>
                  </a:lnTo>
                  <a:lnTo>
                    <a:pt x="4314367" y="499873"/>
                  </a:lnTo>
                  <a:lnTo>
                    <a:pt x="4302784" y="530225"/>
                  </a:lnTo>
                  <a:lnTo>
                    <a:pt x="4300178" y="534125"/>
                  </a:lnTo>
                  <a:lnTo>
                    <a:pt x="4297217" y="537734"/>
                  </a:lnTo>
                  <a:lnTo>
                    <a:pt x="4293900" y="541051"/>
                  </a:lnTo>
                  <a:lnTo>
                    <a:pt x="4290583" y="544367"/>
                  </a:lnTo>
                  <a:lnTo>
                    <a:pt x="4286975" y="547329"/>
                  </a:lnTo>
                  <a:lnTo>
                    <a:pt x="4283075" y="549935"/>
                  </a:lnTo>
                  <a:lnTo>
                    <a:pt x="4279175" y="552541"/>
                  </a:lnTo>
                  <a:lnTo>
                    <a:pt x="4257323" y="560602"/>
                  </a:lnTo>
                  <a:lnTo>
                    <a:pt x="4252723" y="561517"/>
                  </a:lnTo>
                  <a:lnTo>
                    <a:pt x="4248077" y="561974"/>
                  </a:lnTo>
                  <a:lnTo>
                    <a:pt x="4243387" y="561974"/>
                  </a:lnTo>
                  <a:lnTo>
                    <a:pt x="71437" y="561974"/>
                  </a:lnTo>
                  <a:lnTo>
                    <a:pt x="66746" y="561974"/>
                  </a:lnTo>
                  <a:lnTo>
                    <a:pt x="62101" y="561517"/>
                  </a:lnTo>
                  <a:lnTo>
                    <a:pt x="57500" y="560602"/>
                  </a:lnTo>
                  <a:lnTo>
                    <a:pt x="52900" y="559687"/>
                  </a:lnTo>
                  <a:lnTo>
                    <a:pt x="48433" y="558331"/>
                  </a:lnTo>
                  <a:lnTo>
                    <a:pt x="44099" y="556536"/>
                  </a:lnTo>
                  <a:lnTo>
                    <a:pt x="39765" y="554741"/>
                  </a:lnTo>
                  <a:lnTo>
                    <a:pt x="35649" y="552541"/>
                  </a:lnTo>
                  <a:lnTo>
                    <a:pt x="31748" y="549935"/>
                  </a:lnTo>
                  <a:lnTo>
                    <a:pt x="27848" y="547329"/>
                  </a:lnTo>
                  <a:lnTo>
                    <a:pt x="24240" y="544367"/>
                  </a:lnTo>
                  <a:lnTo>
                    <a:pt x="20923" y="541051"/>
                  </a:lnTo>
                  <a:lnTo>
                    <a:pt x="17606" y="537734"/>
                  </a:lnTo>
                  <a:lnTo>
                    <a:pt x="457" y="499873"/>
                  </a:lnTo>
                  <a:lnTo>
                    <a:pt x="0" y="495228"/>
                  </a:lnTo>
                  <a:lnTo>
                    <a:pt x="0" y="490537"/>
                  </a:lnTo>
                  <a:close/>
                </a:path>
              </a:pathLst>
            </a:custGeom>
            <a:ln w="9524">
              <a:solidFill>
                <a:srgbClr val="F5E4D3"/>
              </a:solidFill>
            </a:ln>
          </p:spPr>
          <p:txBody>
            <a:bodyPr wrap="square" lIns="0" tIns="0" rIns="0" bIns="0" rtlCol="0"/>
            <a:lstStyle/>
            <a:p/>
          </p:txBody>
        </p:sp>
      </p:grpSp>
      <p:sp>
        <p:nvSpPr>
          <p:cNvPr id="18" name="object 18"/>
          <p:cNvSpPr txBox="1"/>
          <p:nvPr/>
        </p:nvSpPr>
        <p:spPr>
          <a:xfrm>
            <a:off x="4096146" y="3016250"/>
            <a:ext cx="597535" cy="139700"/>
          </a:xfrm>
          <a:prstGeom prst="rect">
            <a:avLst/>
          </a:prstGeom>
        </p:spPr>
        <p:txBody>
          <a:bodyPr vert="horz" wrap="square" lIns="0" tIns="12700" rIns="0" bIns="0" rtlCol="0">
            <a:spAutoFit/>
          </a:bodyPr>
          <a:lstStyle/>
          <a:p>
            <a:pPr marL="12700">
              <a:lnSpc>
                <a:spcPct val="100000"/>
              </a:lnSpc>
              <a:spcBef>
                <a:spcPts val="100"/>
              </a:spcBef>
            </a:pPr>
            <a:r>
              <a:rPr sz="750" b="1" dirty="0">
                <a:solidFill>
                  <a:srgbClr val="D4A573"/>
                </a:solidFill>
                <a:latin typeface="Courier New" panose="02070309020205020404"/>
                <a:cs typeface="Courier New" panose="02070309020205020404"/>
              </a:rPr>
              <a:t>SOTA </a:t>
            </a:r>
            <a:r>
              <a:rPr sz="750" b="1" spc="-10" dirty="0">
                <a:solidFill>
                  <a:srgbClr val="D4A573"/>
                </a:solidFill>
                <a:latin typeface="Courier New" panose="02070309020205020404"/>
                <a:cs typeface="Courier New" panose="02070309020205020404"/>
              </a:rPr>
              <a:t>Front</a:t>
            </a:r>
            <a:endParaRPr sz="750">
              <a:latin typeface="Courier New" panose="02070309020205020404"/>
              <a:cs typeface="Courier New" panose="02070309020205020404"/>
            </a:endParaRPr>
          </a:p>
        </p:txBody>
      </p:sp>
      <p:sp>
        <p:nvSpPr>
          <p:cNvPr id="19" name="object 19"/>
          <p:cNvSpPr txBox="1"/>
          <p:nvPr/>
        </p:nvSpPr>
        <p:spPr>
          <a:xfrm>
            <a:off x="549275" y="2972435"/>
            <a:ext cx="1474470" cy="387350"/>
          </a:xfrm>
          <a:prstGeom prst="rect">
            <a:avLst/>
          </a:prstGeom>
        </p:spPr>
        <p:txBody>
          <a:bodyPr vert="horz" wrap="square" lIns="0" tIns="56515" rIns="0" bIns="0" rtlCol="0">
            <a:spAutoFit/>
          </a:bodyPr>
          <a:lstStyle/>
          <a:p>
            <a:pPr marL="12700">
              <a:lnSpc>
                <a:spcPct val="100000"/>
              </a:lnSpc>
              <a:spcBef>
                <a:spcPts val="445"/>
              </a:spcBef>
            </a:pPr>
            <a:r>
              <a:rPr sz="900" spc="-10" dirty="0">
                <a:solidFill>
                  <a:srgbClr val="D4A573"/>
                </a:solidFill>
                <a:latin typeface="宋体" panose="02010600030101010101" pitchFamily="2" charset="-122"/>
                <a:cs typeface="宋体" panose="02010600030101010101" pitchFamily="2" charset="-122"/>
              </a:rPr>
              <a:t>混合前沿策略探索</a:t>
            </a:r>
            <a:endParaRPr sz="900">
              <a:latin typeface="宋体" panose="02010600030101010101" pitchFamily="2" charset="-122"/>
              <a:cs typeface="宋体" panose="02010600030101010101" pitchFamily="2" charset="-122"/>
            </a:endParaRPr>
          </a:p>
          <a:p>
            <a:pPr marL="12700">
              <a:lnSpc>
                <a:spcPct val="100000"/>
              </a:lnSpc>
              <a:spcBef>
                <a:spcPts val="345"/>
              </a:spcBef>
            </a:pPr>
            <a:r>
              <a:rPr sz="900" spc="-20" dirty="0">
                <a:solidFill>
                  <a:srgbClr val="111726"/>
                </a:solidFill>
                <a:latin typeface="Courier New" panose="02070309020205020404"/>
                <a:cs typeface="Courier New" panose="02070309020205020404"/>
              </a:rPr>
              <a:t>IRM+RevIN,</a:t>
            </a:r>
            <a:r>
              <a:rPr sz="900" spc="-70" dirty="0">
                <a:solidFill>
                  <a:srgbClr val="111726"/>
                </a:solidFill>
                <a:latin typeface="Courier New" panose="02070309020205020404"/>
                <a:cs typeface="Courier New" panose="02070309020205020404"/>
              </a:rPr>
              <a:t> </a:t>
            </a:r>
            <a:r>
              <a:rPr sz="900" spc="-10" dirty="0">
                <a:solidFill>
                  <a:srgbClr val="111726"/>
                </a:solidFill>
                <a:latin typeface="Courier New" panose="02070309020205020404"/>
                <a:cs typeface="Courier New" panose="02070309020205020404"/>
              </a:rPr>
              <a:t>EIIL+RevIN,</a:t>
            </a:r>
            <a:endParaRPr sz="900">
              <a:latin typeface="Courier New" panose="02070309020205020404"/>
              <a:cs typeface="Courier New" panose="02070309020205020404"/>
            </a:endParaRPr>
          </a:p>
        </p:txBody>
      </p:sp>
      <p:sp>
        <p:nvSpPr>
          <p:cNvPr id="20" name="object 20"/>
          <p:cNvSpPr/>
          <p:nvPr/>
        </p:nvSpPr>
        <p:spPr>
          <a:xfrm>
            <a:off x="2076449" y="3238499"/>
            <a:ext cx="666750" cy="142875"/>
          </a:xfrm>
          <a:custGeom>
            <a:avLst/>
            <a:gdLst/>
            <a:ahLst/>
            <a:cxnLst/>
            <a:rect l="l" t="t" r="r" b="b"/>
            <a:pathLst>
              <a:path w="666750" h="142875">
                <a:moveTo>
                  <a:pt x="633702" y="142874"/>
                </a:moveTo>
                <a:lnTo>
                  <a:pt x="33047" y="142874"/>
                </a:lnTo>
                <a:lnTo>
                  <a:pt x="28187" y="141907"/>
                </a:lnTo>
                <a:lnTo>
                  <a:pt x="966" y="114687"/>
                </a:lnTo>
                <a:lnTo>
                  <a:pt x="0" y="109827"/>
                </a:lnTo>
                <a:lnTo>
                  <a:pt x="0" y="104774"/>
                </a:lnTo>
                <a:lnTo>
                  <a:pt x="0" y="33047"/>
                </a:lnTo>
                <a:lnTo>
                  <a:pt x="28187" y="966"/>
                </a:lnTo>
                <a:lnTo>
                  <a:pt x="33047" y="0"/>
                </a:lnTo>
                <a:lnTo>
                  <a:pt x="633702" y="0"/>
                </a:lnTo>
                <a:lnTo>
                  <a:pt x="665783" y="28187"/>
                </a:lnTo>
                <a:lnTo>
                  <a:pt x="666749" y="33047"/>
                </a:lnTo>
                <a:lnTo>
                  <a:pt x="666749" y="109827"/>
                </a:lnTo>
                <a:lnTo>
                  <a:pt x="638562" y="141907"/>
                </a:lnTo>
                <a:lnTo>
                  <a:pt x="633702" y="142874"/>
                </a:lnTo>
                <a:close/>
              </a:path>
            </a:pathLst>
          </a:custGeom>
          <a:solidFill>
            <a:srgbClr val="D4A573"/>
          </a:solidFill>
        </p:spPr>
        <p:txBody>
          <a:bodyPr wrap="square" lIns="0" tIns="0" rIns="0" bIns="0" rtlCol="0"/>
          <a:lstStyle/>
          <a:p/>
        </p:txBody>
      </p:sp>
      <p:sp>
        <p:nvSpPr>
          <p:cNvPr id="21" name="object 21"/>
          <p:cNvSpPr txBox="1"/>
          <p:nvPr/>
        </p:nvSpPr>
        <p:spPr>
          <a:xfrm>
            <a:off x="2099319" y="3216275"/>
            <a:ext cx="626110" cy="139700"/>
          </a:xfrm>
          <a:prstGeom prst="rect">
            <a:avLst/>
          </a:prstGeom>
        </p:spPr>
        <p:txBody>
          <a:bodyPr vert="horz" wrap="square" lIns="0" tIns="12700" rIns="0" bIns="0" rtlCol="0">
            <a:spAutoFit/>
          </a:bodyPr>
          <a:lstStyle/>
          <a:p>
            <a:pPr marL="12700">
              <a:lnSpc>
                <a:spcPct val="100000"/>
              </a:lnSpc>
              <a:spcBef>
                <a:spcPts val="100"/>
              </a:spcBef>
            </a:pPr>
            <a:r>
              <a:rPr sz="750" b="1" spc="-10" dirty="0">
                <a:solidFill>
                  <a:srgbClr val="FFFFFF"/>
                </a:solidFill>
                <a:latin typeface="Courier New" panose="02070309020205020404"/>
                <a:cs typeface="Courier New" panose="02070309020205020404"/>
              </a:rPr>
              <a:t>FOIL</a:t>
            </a:r>
            <a:r>
              <a:rPr sz="750" b="1" spc="-80" dirty="0">
                <a:solidFill>
                  <a:srgbClr val="FFFFFF"/>
                </a:solidFill>
                <a:latin typeface="Courier New" panose="02070309020205020404"/>
                <a:cs typeface="Courier New" panose="02070309020205020404"/>
              </a:rPr>
              <a:t> </a:t>
            </a:r>
            <a:r>
              <a:rPr sz="750" b="1" spc="-10" dirty="0">
                <a:solidFill>
                  <a:srgbClr val="FFFFFF"/>
                </a:solidFill>
                <a:latin typeface="Courier New" panose="02070309020205020404"/>
                <a:cs typeface="Courier New" panose="02070309020205020404"/>
              </a:rPr>
              <a:t>(SOTA)</a:t>
            </a:r>
            <a:endParaRPr sz="750">
              <a:latin typeface="Courier New" panose="02070309020205020404"/>
              <a:cs typeface="Courier New" panose="02070309020205020404"/>
            </a:endParaRPr>
          </a:p>
        </p:txBody>
      </p:sp>
      <p:grpSp>
        <p:nvGrpSpPr>
          <p:cNvPr id="22" name="object 22"/>
          <p:cNvGrpSpPr/>
          <p:nvPr/>
        </p:nvGrpSpPr>
        <p:grpSpPr>
          <a:xfrm>
            <a:off x="457200" y="4733924"/>
            <a:ext cx="4324350" cy="1628775"/>
            <a:chOff x="457200" y="4733924"/>
            <a:chExt cx="4324350" cy="1628775"/>
          </a:xfrm>
        </p:grpSpPr>
        <p:sp>
          <p:nvSpPr>
            <p:cNvPr id="23" name="object 23"/>
            <p:cNvSpPr/>
            <p:nvPr/>
          </p:nvSpPr>
          <p:spPr>
            <a:xfrm>
              <a:off x="461962" y="4738687"/>
              <a:ext cx="4314825" cy="1619250"/>
            </a:xfrm>
            <a:custGeom>
              <a:avLst/>
              <a:gdLst/>
              <a:ahLst/>
              <a:cxnLst/>
              <a:rect l="l" t="t" r="r" b="b"/>
              <a:pathLst>
                <a:path w="4314825" h="1619250">
                  <a:moveTo>
                    <a:pt x="4212479" y="1619249"/>
                  </a:moveTo>
                  <a:lnTo>
                    <a:pt x="102345" y="1619249"/>
                  </a:lnTo>
                  <a:lnTo>
                    <a:pt x="95221" y="1618548"/>
                  </a:lnTo>
                  <a:lnTo>
                    <a:pt x="54661" y="1604784"/>
                  </a:lnTo>
                  <a:lnTo>
                    <a:pt x="22456" y="1576547"/>
                  </a:lnTo>
                  <a:lnTo>
                    <a:pt x="3507" y="1538135"/>
                  </a:lnTo>
                  <a:lnTo>
                    <a:pt x="0" y="1516904"/>
                  </a:lnTo>
                  <a:lnTo>
                    <a:pt x="0" y="1509712"/>
                  </a:lnTo>
                  <a:lnTo>
                    <a:pt x="0" y="102345"/>
                  </a:lnTo>
                  <a:lnTo>
                    <a:pt x="11090" y="60973"/>
                  </a:lnTo>
                  <a:lnTo>
                    <a:pt x="37168" y="26996"/>
                  </a:lnTo>
                  <a:lnTo>
                    <a:pt x="74264" y="5585"/>
                  </a:lnTo>
                  <a:lnTo>
                    <a:pt x="102345" y="0"/>
                  </a:lnTo>
                  <a:lnTo>
                    <a:pt x="4212479" y="0"/>
                  </a:lnTo>
                  <a:lnTo>
                    <a:pt x="4253849" y="11090"/>
                  </a:lnTo>
                  <a:lnTo>
                    <a:pt x="4287827" y="37168"/>
                  </a:lnTo>
                  <a:lnTo>
                    <a:pt x="4309238" y="74263"/>
                  </a:lnTo>
                  <a:lnTo>
                    <a:pt x="4314824" y="102345"/>
                  </a:lnTo>
                  <a:lnTo>
                    <a:pt x="4314824" y="1516904"/>
                  </a:lnTo>
                  <a:lnTo>
                    <a:pt x="4303733" y="1558274"/>
                  </a:lnTo>
                  <a:lnTo>
                    <a:pt x="4277655" y="1592252"/>
                  </a:lnTo>
                  <a:lnTo>
                    <a:pt x="4240560" y="1613663"/>
                  </a:lnTo>
                  <a:lnTo>
                    <a:pt x="4219602" y="1618548"/>
                  </a:lnTo>
                  <a:lnTo>
                    <a:pt x="4212479" y="1619249"/>
                  </a:lnTo>
                  <a:close/>
                </a:path>
              </a:pathLst>
            </a:custGeom>
            <a:solidFill>
              <a:srgbClr val="FFFFFF"/>
            </a:solidFill>
          </p:spPr>
          <p:txBody>
            <a:bodyPr wrap="square" lIns="0" tIns="0" rIns="0" bIns="0" rtlCol="0"/>
            <a:lstStyle/>
            <a:p/>
          </p:txBody>
        </p:sp>
        <p:sp>
          <p:nvSpPr>
            <p:cNvPr id="24" name="object 24"/>
            <p:cNvSpPr/>
            <p:nvPr/>
          </p:nvSpPr>
          <p:spPr>
            <a:xfrm>
              <a:off x="461962" y="4738687"/>
              <a:ext cx="4314825" cy="1619250"/>
            </a:xfrm>
            <a:custGeom>
              <a:avLst/>
              <a:gdLst/>
              <a:ahLst/>
              <a:cxnLst/>
              <a:rect l="l" t="t" r="r" b="b"/>
              <a:pathLst>
                <a:path w="4314825" h="1619250">
                  <a:moveTo>
                    <a:pt x="0" y="1509712"/>
                  </a:moveTo>
                  <a:lnTo>
                    <a:pt x="0" y="109537"/>
                  </a:lnTo>
                  <a:lnTo>
                    <a:pt x="0" y="102345"/>
                  </a:lnTo>
                  <a:lnTo>
                    <a:pt x="701" y="95221"/>
                  </a:lnTo>
                  <a:lnTo>
                    <a:pt x="2104" y="88167"/>
                  </a:lnTo>
                  <a:lnTo>
                    <a:pt x="3507" y="81113"/>
                  </a:lnTo>
                  <a:lnTo>
                    <a:pt x="5585" y="74263"/>
                  </a:lnTo>
                  <a:lnTo>
                    <a:pt x="26997" y="37168"/>
                  </a:lnTo>
                  <a:lnTo>
                    <a:pt x="32082" y="32082"/>
                  </a:lnTo>
                  <a:lnTo>
                    <a:pt x="37168" y="26996"/>
                  </a:lnTo>
                  <a:lnTo>
                    <a:pt x="74264" y="5585"/>
                  </a:lnTo>
                  <a:lnTo>
                    <a:pt x="88167" y="2104"/>
                  </a:lnTo>
                  <a:lnTo>
                    <a:pt x="95221" y="701"/>
                  </a:lnTo>
                  <a:lnTo>
                    <a:pt x="102345" y="0"/>
                  </a:lnTo>
                  <a:lnTo>
                    <a:pt x="109537" y="0"/>
                  </a:lnTo>
                  <a:lnTo>
                    <a:pt x="4205287" y="0"/>
                  </a:lnTo>
                  <a:lnTo>
                    <a:pt x="4212479" y="0"/>
                  </a:lnTo>
                  <a:lnTo>
                    <a:pt x="4219602" y="701"/>
                  </a:lnTo>
                  <a:lnTo>
                    <a:pt x="4260162" y="14464"/>
                  </a:lnTo>
                  <a:lnTo>
                    <a:pt x="4282741" y="32082"/>
                  </a:lnTo>
                  <a:lnTo>
                    <a:pt x="4287827" y="37168"/>
                  </a:lnTo>
                  <a:lnTo>
                    <a:pt x="4292367" y="42701"/>
                  </a:lnTo>
                  <a:lnTo>
                    <a:pt x="4296363" y="48681"/>
                  </a:lnTo>
                  <a:lnTo>
                    <a:pt x="4300359" y="54661"/>
                  </a:lnTo>
                  <a:lnTo>
                    <a:pt x="4312719" y="88167"/>
                  </a:lnTo>
                  <a:lnTo>
                    <a:pt x="4314122" y="95221"/>
                  </a:lnTo>
                  <a:lnTo>
                    <a:pt x="4314824" y="102345"/>
                  </a:lnTo>
                  <a:lnTo>
                    <a:pt x="4314824" y="109537"/>
                  </a:lnTo>
                  <a:lnTo>
                    <a:pt x="4314824" y="1509712"/>
                  </a:lnTo>
                  <a:lnTo>
                    <a:pt x="4314824" y="1516904"/>
                  </a:lnTo>
                  <a:lnTo>
                    <a:pt x="4314122" y="1524027"/>
                  </a:lnTo>
                  <a:lnTo>
                    <a:pt x="4312719" y="1531082"/>
                  </a:lnTo>
                  <a:lnTo>
                    <a:pt x="4311316" y="1538136"/>
                  </a:lnTo>
                  <a:lnTo>
                    <a:pt x="4292367" y="1576547"/>
                  </a:lnTo>
                  <a:lnTo>
                    <a:pt x="4282741" y="1587166"/>
                  </a:lnTo>
                  <a:lnTo>
                    <a:pt x="4277655" y="1592252"/>
                  </a:lnTo>
                  <a:lnTo>
                    <a:pt x="4247204" y="1610910"/>
                  </a:lnTo>
                  <a:lnTo>
                    <a:pt x="4240560" y="1613663"/>
                  </a:lnTo>
                  <a:lnTo>
                    <a:pt x="4233710" y="1615741"/>
                  </a:lnTo>
                  <a:lnTo>
                    <a:pt x="4226656" y="1617144"/>
                  </a:lnTo>
                  <a:lnTo>
                    <a:pt x="4219602" y="1618548"/>
                  </a:lnTo>
                  <a:lnTo>
                    <a:pt x="4212479" y="1619249"/>
                  </a:lnTo>
                  <a:lnTo>
                    <a:pt x="4205287" y="1619249"/>
                  </a:lnTo>
                  <a:lnTo>
                    <a:pt x="109537" y="1619249"/>
                  </a:lnTo>
                  <a:lnTo>
                    <a:pt x="102345" y="1619249"/>
                  </a:lnTo>
                  <a:lnTo>
                    <a:pt x="95221" y="1618548"/>
                  </a:lnTo>
                  <a:lnTo>
                    <a:pt x="88167" y="1617144"/>
                  </a:lnTo>
                  <a:lnTo>
                    <a:pt x="81113" y="1615741"/>
                  </a:lnTo>
                  <a:lnTo>
                    <a:pt x="74264" y="1613663"/>
                  </a:lnTo>
                  <a:lnTo>
                    <a:pt x="67619" y="1610910"/>
                  </a:lnTo>
                  <a:lnTo>
                    <a:pt x="60974" y="1608158"/>
                  </a:lnTo>
                  <a:lnTo>
                    <a:pt x="32082" y="1587166"/>
                  </a:lnTo>
                  <a:lnTo>
                    <a:pt x="26997" y="1582081"/>
                  </a:lnTo>
                  <a:lnTo>
                    <a:pt x="22456" y="1576547"/>
                  </a:lnTo>
                  <a:lnTo>
                    <a:pt x="18460" y="1570567"/>
                  </a:lnTo>
                  <a:lnTo>
                    <a:pt x="14464" y="1564586"/>
                  </a:lnTo>
                  <a:lnTo>
                    <a:pt x="11090" y="1558274"/>
                  </a:lnTo>
                  <a:lnTo>
                    <a:pt x="8338" y="1551629"/>
                  </a:lnTo>
                  <a:lnTo>
                    <a:pt x="5585" y="1544985"/>
                  </a:lnTo>
                  <a:lnTo>
                    <a:pt x="3507" y="1538135"/>
                  </a:lnTo>
                  <a:lnTo>
                    <a:pt x="2104" y="1531082"/>
                  </a:lnTo>
                  <a:lnTo>
                    <a:pt x="701" y="1524027"/>
                  </a:lnTo>
                  <a:lnTo>
                    <a:pt x="0" y="1516904"/>
                  </a:lnTo>
                  <a:lnTo>
                    <a:pt x="0" y="1509712"/>
                  </a:lnTo>
                  <a:close/>
                </a:path>
              </a:pathLst>
            </a:custGeom>
            <a:ln w="9524">
              <a:solidFill>
                <a:srgbClr val="E4E7EB"/>
              </a:solidFill>
            </a:ln>
          </p:spPr>
          <p:txBody>
            <a:bodyPr wrap="square" lIns="0" tIns="0" rIns="0" bIns="0" rtlCol="0"/>
            <a:lstStyle/>
            <a:p/>
          </p:txBody>
        </p:sp>
        <p:sp>
          <p:nvSpPr>
            <p:cNvPr id="25" name="object 25"/>
            <p:cNvSpPr/>
            <p:nvPr/>
          </p:nvSpPr>
          <p:spPr>
            <a:xfrm>
              <a:off x="585787" y="4862512"/>
              <a:ext cx="657225" cy="590550"/>
            </a:xfrm>
            <a:custGeom>
              <a:avLst/>
              <a:gdLst/>
              <a:ahLst/>
              <a:cxnLst/>
              <a:rect l="l" t="t" r="r" b="b"/>
              <a:pathLst>
                <a:path w="657225" h="590550">
                  <a:moveTo>
                    <a:pt x="590478" y="590549"/>
                  </a:moveTo>
                  <a:lnTo>
                    <a:pt x="66746" y="590549"/>
                  </a:lnTo>
                  <a:lnTo>
                    <a:pt x="62101" y="590092"/>
                  </a:lnTo>
                  <a:lnTo>
                    <a:pt x="24240" y="572942"/>
                  </a:lnTo>
                  <a:lnTo>
                    <a:pt x="2287" y="537649"/>
                  </a:lnTo>
                  <a:lnTo>
                    <a:pt x="0" y="523803"/>
                  </a:lnTo>
                  <a:lnTo>
                    <a:pt x="0" y="519112"/>
                  </a:lnTo>
                  <a:lnTo>
                    <a:pt x="0" y="66746"/>
                  </a:lnTo>
                  <a:lnTo>
                    <a:pt x="14645" y="27848"/>
                  </a:lnTo>
                  <a:lnTo>
                    <a:pt x="48433" y="3642"/>
                  </a:lnTo>
                  <a:lnTo>
                    <a:pt x="66746" y="0"/>
                  </a:lnTo>
                  <a:lnTo>
                    <a:pt x="590478" y="0"/>
                  </a:lnTo>
                  <a:lnTo>
                    <a:pt x="629375" y="14645"/>
                  </a:lnTo>
                  <a:lnTo>
                    <a:pt x="653582" y="48432"/>
                  </a:lnTo>
                  <a:lnTo>
                    <a:pt x="657224" y="66746"/>
                  </a:lnTo>
                  <a:lnTo>
                    <a:pt x="657224" y="523803"/>
                  </a:lnTo>
                  <a:lnTo>
                    <a:pt x="642579" y="562700"/>
                  </a:lnTo>
                  <a:lnTo>
                    <a:pt x="608791" y="586906"/>
                  </a:lnTo>
                  <a:lnTo>
                    <a:pt x="595123" y="590092"/>
                  </a:lnTo>
                  <a:lnTo>
                    <a:pt x="590478" y="590549"/>
                  </a:lnTo>
                  <a:close/>
                </a:path>
              </a:pathLst>
            </a:custGeom>
            <a:solidFill>
              <a:srgbClr val="F9FAFA"/>
            </a:solidFill>
          </p:spPr>
          <p:txBody>
            <a:bodyPr wrap="square" lIns="0" tIns="0" rIns="0" bIns="0" rtlCol="0"/>
            <a:lstStyle/>
            <a:p/>
          </p:txBody>
        </p:sp>
        <p:sp>
          <p:nvSpPr>
            <p:cNvPr id="26" name="object 26"/>
            <p:cNvSpPr/>
            <p:nvPr/>
          </p:nvSpPr>
          <p:spPr>
            <a:xfrm>
              <a:off x="585787" y="4862512"/>
              <a:ext cx="657225" cy="590550"/>
            </a:xfrm>
            <a:custGeom>
              <a:avLst/>
              <a:gdLst/>
              <a:ahLst/>
              <a:cxnLst/>
              <a:rect l="l" t="t" r="r" b="b"/>
              <a:pathLst>
                <a:path w="657225" h="590550">
                  <a:moveTo>
                    <a:pt x="0" y="519112"/>
                  </a:moveTo>
                  <a:lnTo>
                    <a:pt x="0" y="71437"/>
                  </a:lnTo>
                  <a:lnTo>
                    <a:pt x="0" y="66746"/>
                  </a:lnTo>
                  <a:lnTo>
                    <a:pt x="457" y="62101"/>
                  </a:lnTo>
                  <a:lnTo>
                    <a:pt x="1372" y="57500"/>
                  </a:lnTo>
                  <a:lnTo>
                    <a:pt x="2287" y="52899"/>
                  </a:lnTo>
                  <a:lnTo>
                    <a:pt x="3642" y="48432"/>
                  </a:lnTo>
                  <a:lnTo>
                    <a:pt x="5437" y="44099"/>
                  </a:lnTo>
                  <a:lnTo>
                    <a:pt x="7232" y="39765"/>
                  </a:lnTo>
                  <a:lnTo>
                    <a:pt x="9433" y="35648"/>
                  </a:lnTo>
                  <a:lnTo>
                    <a:pt x="12039" y="31748"/>
                  </a:lnTo>
                  <a:lnTo>
                    <a:pt x="14645" y="27848"/>
                  </a:lnTo>
                  <a:lnTo>
                    <a:pt x="17606" y="24240"/>
                  </a:lnTo>
                  <a:lnTo>
                    <a:pt x="20923" y="20923"/>
                  </a:lnTo>
                  <a:lnTo>
                    <a:pt x="24240" y="17606"/>
                  </a:lnTo>
                  <a:lnTo>
                    <a:pt x="62101" y="457"/>
                  </a:lnTo>
                  <a:lnTo>
                    <a:pt x="66746" y="0"/>
                  </a:lnTo>
                  <a:lnTo>
                    <a:pt x="71437" y="0"/>
                  </a:lnTo>
                  <a:lnTo>
                    <a:pt x="585787" y="0"/>
                  </a:lnTo>
                  <a:lnTo>
                    <a:pt x="590478" y="0"/>
                  </a:lnTo>
                  <a:lnTo>
                    <a:pt x="595123" y="457"/>
                  </a:lnTo>
                  <a:lnTo>
                    <a:pt x="632984" y="17606"/>
                  </a:lnTo>
                  <a:lnTo>
                    <a:pt x="636301" y="20923"/>
                  </a:lnTo>
                  <a:lnTo>
                    <a:pt x="639618" y="24240"/>
                  </a:lnTo>
                  <a:lnTo>
                    <a:pt x="642579" y="27848"/>
                  </a:lnTo>
                  <a:lnTo>
                    <a:pt x="645185" y="31748"/>
                  </a:lnTo>
                  <a:lnTo>
                    <a:pt x="647791" y="35648"/>
                  </a:lnTo>
                  <a:lnTo>
                    <a:pt x="649991" y="39765"/>
                  </a:lnTo>
                  <a:lnTo>
                    <a:pt x="651786" y="44099"/>
                  </a:lnTo>
                  <a:lnTo>
                    <a:pt x="653582" y="48432"/>
                  </a:lnTo>
                  <a:lnTo>
                    <a:pt x="657224" y="71437"/>
                  </a:lnTo>
                  <a:lnTo>
                    <a:pt x="657224" y="519112"/>
                  </a:lnTo>
                  <a:lnTo>
                    <a:pt x="645185" y="558800"/>
                  </a:lnTo>
                  <a:lnTo>
                    <a:pt x="642579" y="562700"/>
                  </a:lnTo>
                  <a:lnTo>
                    <a:pt x="608791" y="586906"/>
                  </a:lnTo>
                  <a:lnTo>
                    <a:pt x="585787" y="590549"/>
                  </a:lnTo>
                  <a:lnTo>
                    <a:pt x="71437" y="590549"/>
                  </a:lnTo>
                  <a:lnTo>
                    <a:pt x="31748" y="578509"/>
                  </a:lnTo>
                  <a:lnTo>
                    <a:pt x="5437" y="546450"/>
                  </a:lnTo>
                  <a:lnTo>
                    <a:pt x="0" y="523803"/>
                  </a:lnTo>
                  <a:lnTo>
                    <a:pt x="0" y="519112"/>
                  </a:lnTo>
                  <a:close/>
                </a:path>
              </a:pathLst>
            </a:custGeom>
            <a:ln w="9524">
              <a:solidFill>
                <a:srgbClr val="F2F4F5"/>
              </a:solidFill>
            </a:ln>
          </p:spPr>
          <p:txBody>
            <a:bodyPr wrap="square" lIns="0" tIns="0" rIns="0" bIns="0" rtlCol="0"/>
            <a:lstStyle/>
            <a:p/>
          </p:txBody>
        </p:sp>
      </p:grpSp>
      <p:sp>
        <p:nvSpPr>
          <p:cNvPr id="27" name="object 27"/>
          <p:cNvSpPr txBox="1"/>
          <p:nvPr/>
        </p:nvSpPr>
        <p:spPr>
          <a:xfrm>
            <a:off x="444500" y="4454525"/>
            <a:ext cx="1570990" cy="162560"/>
          </a:xfrm>
          <a:prstGeom prst="rect">
            <a:avLst/>
          </a:prstGeom>
        </p:spPr>
        <p:txBody>
          <a:bodyPr vert="horz" wrap="square" lIns="0" tIns="12700" rIns="0" bIns="0" rtlCol="0">
            <a:spAutoFit/>
          </a:bodyPr>
          <a:lstStyle/>
          <a:p>
            <a:pPr marL="12700">
              <a:lnSpc>
                <a:spcPct val="100000"/>
              </a:lnSpc>
              <a:spcBef>
                <a:spcPts val="100"/>
              </a:spcBef>
            </a:pPr>
            <a:r>
              <a:rPr sz="900" spc="135" dirty="0">
                <a:solidFill>
                  <a:srgbClr val="9CA2AF"/>
                </a:solidFill>
                <a:latin typeface="宋体" panose="02010600030101010101" pitchFamily="2" charset="-122"/>
                <a:cs typeface="宋体" panose="02010600030101010101" pitchFamily="2" charset="-122"/>
              </a:rPr>
              <a:t>PERFORMANCE</a:t>
            </a:r>
            <a:r>
              <a:rPr sz="900" spc="-85" dirty="0">
                <a:solidFill>
                  <a:srgbClr val="9CA2AF"/>
                </a:solidFill>
                <a:latin typeface="宋体" panose="02010600030101010101" pitchFamily="2" charset="-122"/>
                <a:cs typeface="宋体" panose="02010600030101010101" pitchFamily="2" charset="-122"/>
              </a:rPr>
              <a:t> </a:t>
            </a:r>
            <a:r>
              <a:rPr sz="900" spc="65" dirty="0">
                <a:solidFill>
                  <a:srgbClr val="9CA2AF"/>
                </a:solidFill>
                <a:latin typeface="宋体" panose="02010600030101010101" pitchFamily="2" charset="-122"/>
                <a:cs typeface="宋体" panose="02010600030101010101" pitchFamily="2" charset="-122"/>
              </a:rPr>
              <a:t>EVALUATION</a:t>
            </a:r>
            <a:endParaRPr sz="900">
              <a:latin typeface="宋体" panose="02010600030101010101" pitchFamily="2" charset="-122"/>
              <a:cs typeface="宋体" panose="02010600030101010101" pitchFamily="2" charset="-122"/>
            </a:endParaRPr>
          </a:p>
        </p:txBody>
      </p:sp>
      <p:sp>
        <p:nvSpPr>
          <p:cNvPr id="28" name="object 28"/>
          <p:cNvSpPr/>
          <p:nvPr/>
        </p:nvSpPr>
        <p:spPr>
          <a:xfrm>
            <a:off x="2085974" y="4533899"/>
            <a:ext cx="2695575" cy="9525"/>
          </a:xfrm>
          <a:custGeom>
            <a:avLst/>
            <a:gdLst/>
            <a:ahLst/>
            <a:cxnLst/>
            <a:rect l="l" t="t" r="r" b="b"/>
            <a:pathLst>
              <a:path w="2695575" h="9525">
                <a:moveTo>
                  <a:pt x="2695574" y="9524"/>
                </a:moveTo>
                <a:lnTo>
                  <a:pt x="0" y="9524"/>
                </a:lnTo>
                <a:lnTo>
                  <a:pt x="0" y="0"/>
                </a:lnTo>
                <a:lnTo>
                  <a:pt x="2695574" y="0"/>
                </a:lnTo>
                <a:lnTo>
                  <a:pt x="2695574" y="9524"/>
                </a:lnTo>
                <a:close/>
              </a:path>
            </a:pathLst>
          </a:custGeom>
          <a:solidFill>
            <a:srgbClr val="F2F4F5"/>
          </a:solidFill>
        </p:spPr>
        <p:txBody>
          <a:bodyPr wrap="square" lIns="0" tIns="0" rIns="0" bIns="0" rtlCol="0"/>
          <a:lstStyle/>
          <a:p/>
        </p:txBody>
      </p:sp>
      <p:sp>
        <p:nvSpPr>
          <p:cNvPr id="29" name="object 29"/>
          <p:cNvSpPr txBox="1"/>
          <p:nvPr/>
        </p:nvSpPr>
        <p:spPr>
          <a:xfrm>
            <a:off x="711199" y="4844313"/>
            <a:ext cx="394335" cy="501015"/>
          </a:xfrm>
          <a:prstGeom prst="rect">
            <a:avLst/>
          </a:prstGeom>
        </p:spPr>
        <p:txBody>
          <a:bodyPr vert="horz" wrap="square" lIns="0" tIns="99060" rIns="0" bIns="0" rtlCol="0">
            <a:spAutoFit/>
          </a:bodyPr>
          <a:lstStyle/>
          <a:p>
            <a:pPr marL="73025">
              <a:lnSpc>
                <a:spcPct val="100000"/>
              </a:lnSpc>
              <a:spcBef>
                <a:spcPts val="780"/>
              </a:spcBef>
            </a:pPr>
            <a:r>
              <a:rPr sz="1650" spc="55" dirty="0">
                <a:solidFill>
                  <a:srgbClr val="5B8BA7"/>
                </a:solidFill>
                <a:latin typeface="Calibri" panose="020F0502020204030204"/>
                <a:cs typeface="Calibri" panose="020F0502020204030204"/>
              </a:rPr>
              <a:t>6</a:t>
            </a:r>
            <a:r>
              <a:rPr sz="1650" spc="-100" dirty="0">
                <a:solidFill>
                  <a:srgbClr val="5B8BA7"/>
                </a:solidFill>
                <a:latin typeface="Calibri" panose="020F0502020204030204"/>
                <a:cs typeface="Calibri" panose="020F0502020204030204"/>
              </a:rPr>
              <a:t> </a:t>
            </a:r>
            <a:r>
              <a:rPr sz="800" spc="-10" dirty="0">
                <a:solidFill>
                  <a:srgbClr val="9CA2AF"/>
                </a:solidFill>
                <a:latin typeface="Calibri" panose="020F0502020204030204"/>
                <a:cs typeface="Calibri" panose="020F0502020204030204"/>
              </a:rPr>
              <a:t>/</a:t>
            </a:r>
            <a:r>
              <a:rPr sz="800" spc="-75" dirty="0">
                <a:solidFill>
                  <a:srgbClr val="9CA2AF"/>
                </a:solidFill>
                <a:latin typeface="Calibri" panose="020F0502020204030204"/>
                <a:cs typeface="Calibri" panose="020F0502020204030204"/>
              </a:rPr>
              <a:t> </a:t>
            </a:r>
            <a:r>
              <a:rPr sz="800" spc="10" dirty="0">
                <a:solidFill>
                  <a:srgbClr val="9CA2AF"/>
                </a:solidFill>
                <a:latin typeface="Calibri" panose="020F0502020204030204"/>
                <a:cs typeface="Calibri" panose="020F0502020204030204"/>
              </a:rPr>
              <a:t>8</a:t>
            </a:r>
            <a:endParaRPr sz="800">
              <a:latin typeface="Calibri" panose="020F0502020204030204"/>
              <a:cs typeface="Calibri" panose="020F0502020204030204"/>
            </a:endParaRPr>
          </a:p>
          <a:p>
            <a:pPr marL="12700">
              <a:lnSpc>
                <a:spcPct val="100000"/>
              </a:lnSpc>
              <a:spcBef>
                <a:spcPts val="295"/>
              </a:spcBef>
            </a:pPr>
            <a:r>
              <a:rPr sz="650" spc="45" dirty="0">
                <a:solidFill>
                  <a:srgbClr val="5B8BA7"/>
                </a:solidFill>
                <a:latin typeface="宋体" panose="02010600030101010101" pitchFamily="2" charset="-122"/>
                <a:cs typeface="宋体" panose="02010600030101010101" pitchFamily="2" charset="-122"/>
              </a:rPr>
              <a:t>首位最优</a:t>
            </a:r>
            <a:endParaRPr sz="650">
              <a:latin typeface="宋体" panose="02010600030101010101" pitchFamily="2" charset="-122"/>
              <a:cs typeface="宋体" panose="02010600030101010101" pitchFamily="2" charset="-122"/>
            </a:endParaRPr>
          </a:p>
        </p:txBody>
      </p:sp>
      <p:sp>
        <p:nvSpPr>
          <p:cNvPr id="30" name="object 30"/>
          <p:cNvSpPr/>
          <p:nvPr/>
        </p:nvSpPr>
        <p:spPr>
          <a:xfrm>
            <a:off x="1400174" y="5114924"/>
            <a:ext cx="752475" cy="114300"/>
          </a:xfrm>
          <a:custGeom>
            <a:avLst/>
            <a:gdLst/>
            <a:ahLst/>
            <a:cxnLst/>
            <a:rect l="l" t="t" r="r" b="b"/>
            <a:pathLst>
              <a:path w="752475" h="114300">
                <a:moveTo>
                  <a:pt x="719427" y="114299"/>
                </a:moveTo>
                <a:lnTo>
                  <a:pt x="33047" y="114299"/>
                </a:lnTo>
                <a:lnTo>
                  <a:pt x="28187" y="113332"/>
                </a:lnTo>
                <a:lnTo>
                  <a:pt x="966" y="86112"/>
                </a:lnTo>
                <a:lnTo>
                  <a:pt x="0" y="81252"/>
                </a:lnTo>
                <a:lnTo>
                  <a:pt x="0" y="76199"/>
                </a:lnTo>
                <a:lnTo>
                  <a:pt x="0" y="33047"/>
                </a:lnTo>
                <a:lnTo>
                  <a:pt x="28187" y="966"/>
                </a:lnTo>
                <a:lnTo>
                  <a:pt x="33047" y="0"/>
                </a:lnTo>
                <a:lnTo>
                  <a:pt x="719427" y="0"/>
                </a:lnTo>
                <a:lnTo>
                  <a:pt x="751508" y="28187"/>
                </a:lnTo>
                <a:lnTo>
                  <a:pt x="752474" y="33047"/>
                </a:lnTo>
                <a:lnTo>
                  <a:pt x="752474" y="81252"/>
                </a:lnTo>
                <a:lnTo>
                  <a:pt x="724287" y="113332"/>
                </a:lnTo>
                <a:lnTo>
                  <a:pt x="719427" y="114299"/>
                </a:lnTo>
                <a:close/>
              </a:path>
            </a:pathLst>
          </a:custGeom>
          <a:solidFill>
            <a:srgbClr val="F2F4F5"/>
          </a:solidFill>
        </p:spPr>
        <p:txBody>
          <a:bodyPr wrap="square" lIns="0" tIns="0" rIns="0" bIns="0" rtlCol="0"/>
          <a:lstStyle/>
          <a:p/>
        </p:txBody>
      </p:sp>
      <p:sp>
        <p:nvSpPr>
          <p:cNvPr id="31" name="object 31"/>
          <p:cNvSpPr txBox="1"/>
          <p:nvPr/>
        </p:nvSpPr>
        <p:spPr>
          <a:xfrm>
            <a:off x="1383754" y="4823256"/>
            <a:ext cx="3244850" cy="606425"/>
          </a:xfrm>
          <a:prstGeom prst="rect">
            <a:avLst/>
          </a:prstGeom>
        </p:spPr>
        <p:txBody>
          <a:bodyPr vert="horz" wrap="square" lIns="0" tIns="7620" rIns="0" bIns="0" rtlCol="0">
            <a:spAutoFit/>
          </a:bodyPr>
          <a:lstStyle/>
          <a:p>
            <a:pPr marL="12700" marR="5080" algn="just">
              <a:lnSpc>
                <a:spcPct val="128000"/>
              </a:lnSpc>
              <a:spcBef>
                <a:spcPts val="60"/>
              </a:spcBef>
            </a:pPr>
            <a:r>
              <a:rPr sz="1000" spc="-190" dirty="0">
                <a:solidFill>
                  <a:srgbClr val="4A5462"/>
                </a:solidFill>
                <a:latin typeface="宋体" panose="02010600030101010101" pitchFamily="2" charset="-122"/>
                <a:cs typeface="宋体" panose="02010600030101010101" pitchFamily="2" charset="-122"/>
              </a:rPr>
              <a:t>在 </a:t>
            </a:r>
            <a:r>
              <a:rPr sz="950" b="1" spc="-40" dirty="0">
                <a:solidFill>
                  <a:srgbClr val="4A5462"/>
                </a:solidFill>
                <a:latin typeface="Tahoma" panose="020B0604030504040204"/>
                <a:cs typeface="Tahoma" panose="020B0604030504040204"/>
              </a:rPr>
              <a:t>8</a:t>
            </a:r>
            <a:r>
              <a:rPr sz="950" b="1" spc="-30" dirty="0">
                <a:solidFill>
                  <a:srgbClr val="4A5462"/>
                </a:solidFill>
                <a:latin typeface="Tahoma" panose="020B0604030504040204"/>
                <a:cs typeface="Tahoma" panose="020B0604030504040204"/>
              </a:rPr>
              <a:t> </a:t>
            </a:r>
            <a:r>
              <a:rPr sz="1000" b="1" spc="-100" dirty="0">
                <a:solidFill>
                  <a:srgbClr val="4A5462"/>
                </a:solidFill>
                <a:latin typeface="微软雅黑" panose="020B0503020204020204" charset="-122"/>
                <a:cs typeface="微软雅黑" panose="020B0503020204020204" charset="-122"/>
              </a:rPr>
              <a:t>项横向宏观评定指标</a:t>
            </a:r>
            <a:r>
              <a:rPr sz="1000" spc="-100" dirty="0">
                <a:solidFill>
                  <a:srgbClr val="4A5462"/>
                </a:solidFill>
                <a:latin typeface="宋体" panose="02010600030101010101" pitchFamily="2" charset="-122"/>
                <a:cs typeface="宋体" panose="02010600030101010101" pitchFamily="2" charset="-122"/>
              </a:rPr>
              <a:t>中，即使选用非最强主干神经网络（以</a:t>
            </a:r>
            <a:r>
              <a:rPr sz="1000" spc="-50" dirty="0">
                <a:solidFill>
                  <a:srgbClr val="4A5462"/>
                </a:solidFill>
                <a:latin typeface="宋体" panose="02010600030101010101" pitchFamily="2" charset="-122"/>
                <a:cs typeface="宋体" panose="02010600030101010101" pitchFamily="2" charset="-122"/>
              </a:rPr>
              <a:t> </a:t>
            </a:r>
            <a:r>
              <a:rPr sz="800" spc="5" dirty="0">
                <a:solidFill>
                  <a:srgbClr val="4A5462"/>
                </a:solidFill>
                <a:latin typeface="Courier New" panose="02070309020205020404"/>
                <a:cs typeface="Courier New" panose="02070309020205020404"/>
              </a:rPr>
              <a:t>Crossformer</a:t>
            </a:r>
            <a:r>
              <a:rPr sz="800" spc="45" dirty="0">
                <a:solidFill>
                  <a:srgbClr val="4A5462"/>
                </a:solidFill>
                <a:latin typeface="Courier New" panose="02070309020205020404"/>
                <a:cs typeface="Courier New" panose="02070309020205020404"/>
              </a:rPr>
              <a:t> </a:t>
            </a:r>
            <a:r>
              <a:rPr sz="1000" spc="-100" dirty="0">
                <a:solidFill>
                  <a:srgbClr val="4A5462"/>
                </a:solidFill>
                <a:latin typeface="宋体" panose="02010600030101010101" pitchFamily="2" charset="-122"/>
                <a:cs typeface="宋体" panose="02010600030101010101" pitchFamily="2" charset="-122"/>
              </a:rPr>
              <a:t>为基座</a:t>
            </a:r>
            <a:r>
              <a:rPr sz="1000" spc="-550" dirty="0">
                <a:solidFill>
                  <a:srgbClr val="4A5462"/>
                </a:solidFill>
                <a:latin typeface="宋体" panose="02010600030101010101" pitchFamily="2" charset="-122"/>
                <a:cs typeface="宋体" panose="02010600030101010101" pitchFamily="2" charset="-122"/>
              </a:rPr>
              <a:t>）</a:t>
            </a:r>
            <a:r>
              <a:rPr sz="1000" spc="-50" dirty="0">
                <a:solidFill>
                  <a:srgbClr val="4A5462"/>
                </a:solidFill>
                <a:latin typeface="宋体" panose="02010600030101010101" pitchFamily="2" charset="-122"/>
                <a:cs typeface="宋体" panose="02010600030101010101" pitchFamily="2" charset="-122"/>
              </a:rPr>
              <a:t>，</a:t>
            </a:r>
            <a:r>
              <a:rPr sz="1000" b="1" spc="-40" dirty="0">
                <a:solidFill>
                  <a:srgbClr val="4A5462"/>
                </a:solidFill>
                <a:latin typeface="Arial" panose="020B0604020202020204"/>
                <a:cs typeface="Arial" panose="020B0604020202020204"/>
              </a:rPr>
              <a:t>S</a:t>
            </a:r>
            <a:r>
              <a:rPr sz="1000" b="1" spc="-85" dirty="0">
                <a:solidFill>
                  <a:srgbClr val="4A5462"/>
                </a:solidFill>
                <a:latin typeface="Arial" panose="020B0604020202020204"/>
                <a:cs typeface="Arial" panose="020B0604020202020204"/>
              </a:rPr>
              <a:t>h</a:t>
            </a:r>
            <a:r>
              <a:rPr sz="1000" b="1" spc="-70" dirty="0">
                <a:solidFill>
                  <a:srgbClr val="4A5462"/>
                </a:solidFill>
                <a:latin typeface="Arial" panose="020B0604020202020204"/>
                <a:cs typeface="Arial" panose="020B0604020202020204"/>
              </a:rPr>
              <a:t>i</a:t>
            </a:r>
            <a:r>
              <a:rPr sz="1000" b="1" spc="-25" dirty="0">
                <a:solidFill>
                  <a:srgbClr val="4A5462"/>
                </a:solidFill>
                <a:latin typeface="Arial" panose="020B0604020202020204"/>
                <a:cs typeface="Arial" panose="020B0604020202020204"/>
              </a:rPr>
              <a:t>f</a:t>
            </a:r>
            <a:r>
              <a:rPr sz="1000" b="1" spc="-45" dirty="0">
                <a:solidFill>
                  <a:srgbClr val="4A5462"/>
                </a:solidFill>
                <a:latin typeface="Arial" panose="020B0604020202020204"/>
                <a:cs typeface="Arial" panose="020B0604020202020204"/>
              </a:rPr>
              <a:t>T</a:t>
            </a:r>
            <a:r>
              <a:rPr sz="1000" b="1" spc="-50" dirty="0">
                <a:solidFill>
                  <a:srgbClr val="4A5462"/>
                </a:solidFill>
                <a:latin typeface="Arial" panose="020B0604020202020204"/>
                <a:cs typeface="Arial" panose="020B0604020202020204"/>
              </a:rPr>
              <a:t>S</a:t>
            </a:r>
            <a:r>
              <a:rPr sz="1000" b="1" spc="-40" dirty="0">
                <a:solidFill>
                  <a:srgbClr val="4A5462"/>
                </a:solidFill>
                <a:latin typeface="Arial" panose="020B0604020202020204"/>
                <a:cs typeface="Arial" panose="020B0604020202020204"/>
              </a:rPr>
              <a:t> </a:t>
            </a:r>
            <a:r>
              <a:rPr sz="1000" spc="-125" dirty="0">
                <a:solidFill>
                  <a:srgbClr val="4A5462"/>
                </a:solidFill>
                <a:latin typeface="宋体" panose="02010600030101010101" pitchFamily="2" charset="-122"/>
                <a:cs typeface="宋体" panose="02010600030101010101" pitchFamily="2" charset="-122"/>
              </a:rPr>
              <a:t>仍斩获其中的 </a:t>
            </a:r>
            <a:r>
              <a:rPr sz="950" spc="-25" dirty="0">
                <a:solidFill>
                  <a:srgbClr val="4A5462"/>
                </a:solidFill>
                <a:latin typeface="Comic Sans MS" panose="030F0702030302020204"/>
                <a:cs typeface="Comic Sans MS" panose="030F0702030302020204"/>
              </a:rPr>
              <a:t>6</a:t>
            </a:r>
            <a:r>
              <a:rPr sz="950" spc="-95" dirty="0">
                <a:solidFill>
                  <a:srgbClr val="4A5462"/>
                </a:solidFill>
                <a:latin typeface="Comic Sans MS" panose="030F0702030302020204"/>
                <a:cs typeface="Comic Sans MS" panose="030F0702030302020204"/>
              </a:rPr>
              <a:t> </a:t>
            </a:r>
            <a:r>
              <a:rPr sz="1000" spc="-135" dirty="0">
                <a:solidFill>
                  <a:srgbClr val="4A5462"/>
                </a:solidFill>
                <a:latin typeface="宋体" panose="02010600030101010101" pitchFamily="2" charset="-122"/>
                <a:cs typeface="宋体" panose="02010600030101010101" pitchFamily="2" charset="-122"/>
              </a:rPr>
              <a:t>项第一及 </a:t>
            </a:r>
            <a:r>
              <a:rPr sz="950" spc="-35" dirty="0">
                <a:solidFill>
                  <a:srgbClr val="4A5462"/>
                </a:solidFill>
                <a:latin typeface="Comic Sans MS" panose="030F0702030302020204"/>
                <a:cs typeface="Comic Sans MS" panose="030F0702030302020204"/>
              </a:rPr>
              <a:t>2</a:t>
            </a:r>
            <a:r>
              <a:rPr sz="950" spc="-85" dirty="0">
                <a:solidFill>
                  <a:srgbClr val="4A5462"/>
                </a:solidFill>
                <a:latin typeface="Comic Sans MS" panose="030F0702030302020204"/>
                <a:cs typeface="Comic Sans MS" panose="030F0702030302020204"/>
              </a:rPr>
              <a:t> </a:t>
            </a:r>
            <a:r>
              <a:rPr sz="1000" spc="-100" dirty="0">
                <a:solidFill>
                  <a:srgbClr val="4A5462"/>
                </a:solidFill>
                <a:latin typeface="宋体" panose="02010600030101010101" pitchFamily="2" charset="-122"/>
                <a:cs typeface="宋体" panose="02010600030101010101" pitchFamily="2" charset="-122"/>
              </a:rPr>
              <a:t>项次优。</a:t>
            </a:r>
            <a:endParaRPr sz="1000">
              <a:latin typeface="宋体" panose="02010600030101010101" pitchFamily="2" charset="-122"/>
              <a:cs typeface="宋体" panose="02010600030101010101" pitchFamily="2" charset="-122"/>
            </a:endParaRPr>
          </a:p>
        </p:txBody>
      </p:sp>
      <p:grpSp>
        <p:nvGrpSpPr>
          <p:cNvPr id="32" name="object 32"/>
          <p:cNvGrpSpPr/>
          <p:nvPr/>
        </p:nvGrpSpPr>
        <p:grpSpPr>
          <a:xfrm>
            <a:off x="581024" y="5572124"/>
            <a:ext cx="4076700" cy="200025"/>
            <a:chOff x="581024" y="5572124"/>
            <a:chExt cx="4076700" cy="200025"/>
          </a:xfrm>
        </p:grpSpPr>
        <p:sp>
          <p:nvSpPr>
            <p:cNvPr id="33" name="object 33"/>
            <p:cNvSpPr/>
            <p:nvPr/>
          </p:nvSpPr>
          <p:spPr>
            <a:xfrm>
              <a:off x="581024" y="5572124"/>
              <a:ext cx="4076700" cy="9525"/>
            </a:xfrm>
            <a:custGeom>
              <a:avLst/>
              <a:gdLst/>
              <a:ahLst/>
              <a:cxnLst/>
              <a:rect l="l" t="t" r="r" b="b"/>
              <a:pathLst>
                <a:path w="4076700" h="9525">
                  <a:moveTo>
                    <a:pt x="4076699" y="9524"/>
                  </a:moveTo>
                  <a:lnTo>
                    <a:pt x="0" y="9524"/>
                  </a:lnTo>
                  <a:lnTo>
                    <a:pt x="0" y="0"/>
                  </a:lnTo>
                  <a:lnTo>
                    <a:pt x="4076699" y="0"/>
                  </a:lnTo>
                  <a:lnTo>
                    <a:pt x="4076699" y="9524"/>
                  </a:lnTo>
                  <a:close/>
                </a:path>
              </a:pathLst>
            </a:custGeom>
            <a:solidFill>
              <a:srgbClr val="F2F4F5"/>
            </a:solidFill>
          </p:spPr>
          <p:txBody>
            <a:bodyPr wrap="square" lIns="0" tIns="0" rIns="0" bIns="0" rtlCol="0"/>
            <a:lstStyle/>
            <a:p/>
          </p:txBody>
        </p:sp>
        <p:sp>
          <p:nvSpPr>
            <p:cNvPr id="34" name="object 34"/>
            <p:cNvSpPr/>
            <p:nvPr/>
          </p:nvSpPr>
          <p:spPr>
            <a:xfrm>
              <a:off x="581024" y="5714999"/>
              <a:ext cx="57150" cy="57150"/>
            </a:xfrm>
            <a:custGeom>
              <a:avLst/>
              <a:gdLst/>
              <a:ahLst/>
              <a:cxnLst/>
              <a:rect l="l" t="t" r="r" b="b"/>
              <a:pathLst>
                <a:path w="57150" h="57150">
                  <a:moveTo>
                    <a:pt x="32364" y="57149"/>
                  </a:moveTo>
                  <a:lnTo>
                    <a:pt x="24785" y="57149"/>
                  </a:lnTo>
                  <a:lnTo>
                    <a:pt x="21140" y="56424"/>
                  </a:lnTo>
                  <a:lnTo>
                    <a:pt x="0" y="32364"/>
                  </a:lnTo>
                  <a:lnTo>
                    <a:pt x="0" y="24785"/>
                  </a:lnTo>
                  <a:lnTo>
                    <a:pt x="24785" y="0"/>
                  </a:lnTo>
                  <a:lnTo>
                    <a:pt x="32364" y="0"/>
                  </a:lnTo>
                  <a:lnTo>
                    <a:pt x="57150" y="28574"/>
                  </a:lnTo>
                  <a:lnTo>
                    <a:pt x="57149" y="32364"/>
                  </a:lnTo>
                  <a:lnTo>
                    <a:pt x="32364" y="57149"/>
                  </a:lnTo>
                  <a:close/>
                </a:path>
              </a:pathLst>
            </a:custGeom>
            <a:solidFill>
              <a:srgbClr val="D4A573"/>
            </a:solidFill>
          </p:spPr>
          <p:txBody>
            <a:bodyPr wrap="square" lIns="0" tIns="0" rIns="0" bIns="0" rtlCol="0"/>
            <a:lstStyle/>
            <a:p/>
          </p:txBody>
        </p:sp>
      </p:grpSp>
      <p:sp>
        <p:nvSpPr>
          <p:cNvPr id="35" name="object 35"/>
          <p:cNvSpPr txBox="1"/>
          <p:nvPr/>
        </p:nvSpPr>
        <p:spPr>
          <a:xfrm>
            <a:off x="720724" y="5613831"/>
            <a:ext cx="3862704" cy="406400"/>
          </a:xfrm>
          <a:prstGeom prst="rect">
            <a:avLst/>
          </a:prstGeom>
        </p:spPr>
        <p:txBody>
          <a:bodyPr vert="horz" wrap="square" lIns="0" tIns="50165" rIns="0" bIns="0" rtlCol="0">
            <a:spAutoFit/>
          </a:bodyPr>
          <a:lstStyle/>
          <a:p>
            <a:pPr marL="12700">
              <a:lnSpc>
                <a:spcPct val="100000"/>
              </a:lnSpc>
              <a:spcBef>
                <a:spcPts val="395"/>
              </a:spcBef>
            </a:pPr>
            <a:r>
              <a:rPr sz="1000" b="1" spc="-100" dirty="0">
                <a:solidFill>
                  <a:srgbClr val="374050"/>
                </a:solidFill>
                <a:latin typeface="微软雅黑" panose="020B0503020204020204" charset="-122"/>
                <a:cs typeface="微软雅黑" panose="020B0503020204020204" charset="-122"/>
              </a:rPr>
              <a:t>本质技术领先性</a:t>
            </a:r>
            <a:r>
              <a:rPr sz="1000" b="1" spc="-60" dirty="0">
                <a:solidFill>
                  <a:srgbClr val="374050"/>
                </a:solidFill>
                <a:latin typeface="Microsoft New Tai Lue" panose="020B0502040204020203"/>
                <a:cs typeface="Microsoft New Tai Lue" panose="020B0502040204020203"/>
              </a:rPr>
              <a:t>： </a:t>
            </a:r>
            <a:r>
              <a:rPr sz="1000" spc="-100" dirty="0">
                <a:solidFill>
                  <a:srgbClr val="374050"/>
                </a:solidFill>
                <a:latin typeface="宋体" panose="02010600030101010101" pitchFamily="2" charset="-122"/>
                <a:cs typeface="宋体" panose="02010600030101010101" pitchFamily="2" charset="-122"/>
              </a:rPr>
              <a:t>相比于盲目套用计算机视觉</a:t>
            </a:r>
            <a:r>
              <a:rPr sz="1000" spc="-90" dirty="0">
                <a:solidFill>
                  <a:srgbClr val="374050"/>
                </a:solidFill>
                <a:latin typeface="宋体" panose="02010600030101010101" pitchFamily="2" charset="-122"/>
                <a:cs typeface="宋体" panose="02010600030101010101" pitchFamily="2" charset="-122"/>
              </a:rPr>
              <a:t>（</a:t>
            </a:r>
            <a:r>
              <a:rPr sz="1000" spc="-90" dirty="0">
                <a:solidFill>
                  <a:srgbClr val="374050"/>
                </a:solidFill>
                <a:latin typeface="Microsoft Sans Serif" panose="020B0604020202020204"/>
                <a:cs typeface="Microsoft Sans Serif" panose="020B0604020202020204"/>
              </a:rPr>
              <a:t>CV</a:t>
            </a:r>
            <a:r>
              <a:rPr sz="1000" spc="-90" dirty="0">
                <a:solidFill>
                  <a:srgbClr val="374050"/>
                </a:solidFill>
                <a:latin typeface="宋体" panose="02010600030101010101" pitchFamily="2" charset="-122"/>
                <a:cs typeface="宋体" panose="02010600030101010101" pitchFamily="2" charset="-122"/>
              </a:rPr>
              <a:t>）</a:t>
            </a:r>
            <a:r>
              <a:rPr sz="1000" spc="-95" dirty="0">
                <a:solidFill>
                  <a:srgbClr val="374050"/>
                </a:solidFill>
                <a:latin typeface="宋体" panose="02010600030101010101" pitchFamily="2" charset="-122"/>
                <a:cs typeface="宋体" panose="02010600030101010101" pitchFamily="2" charset="-122"/>
              </a:rPr>
              <a:t>不变学习机制的算法</a:t>
            </a:r>
            <a:endParaRPr sz="1000">
              <a:latin typeface="宋体" panose="02010600030101010101" pitchFamily="2" charset="-122"/>
              <a:cs typeface="宋体" panose="02010600030101010101" pitchFamily="2" charset="-122"/>
            </a:endParaRPr>
          </a:p>
          <a:p>
            <a:pPr marL="12700">
              <a:lnSpc>
                <a:spcPct val="100000"/>
              </a:lnSpc>
              <a:spcBef>
                <a:spcPts val="300"/>
              </a:spcBef>
            </a:pPr>
            <a:r>
              <a:rPr sz="1000" spc="-100" dirty="0">
                <a:solidFill>
                  <a:srgbClr val="374050"/>
                </a:solidFill>
                <a:latin typeface="宋体" panose="02010600030101010101" pitchFamily="2" charset="-122"/>
                <a:cs typeface="宋体" panose="02010600030101010101" pitchFamily="2" charset="-122"/>
              </a:rPr>
              <a:t>（</a:t>
            </a:r>
            <a:r>
              <a:rPr sz="1000" spc="-110" dirty="0">
                <a:solidFill>
                  <a:srgbClr val="374050"/>
                </a:solidFill>
                <a:latin typeface="宋体" panose="02010600030101010101" pitchFamily="2" charset="-122"/>
                <a:cs typeface="宋体" panose="02010600030101010101" pitchFamily="2" charset="-122"/>
              </a:rPr>
              <a:t>如高度依赖静态人工环境标签的 </a:t>
            </a:r>
            <a:r>
              <a:rPr sz="800" spc="-35" dirty="0">
                <a:solidFill>
                  <a:srgbClr val="111726"/>
                </a:solidFill>
                <a:latin typeface="Courier New" panose="02070309020205020404"/>
                <a:cs typeface="Courier New" panose="02070309020205020404"/>
              </a:rPr>
              <a:t>GroupDR</a:t>
            </a:r>
            <a:r>
              <a:rPr sz="800" spc="-30" dirty="0">
                <a:solidFill>
                  <a:srgbClr val="111726"/>
                </a:solidFill>
                <a:latin typeface="Courier New" panose="02070309020205020404"/>
                <a:cs typeface="Courier New" panose="02070309020205020404"/>
              </a:rPr>
              <a:t>O</a:t>
            </a:r>
            <a:r>
              <a:rPr sz="1000" spc="-530" dirty="0">
                <a:solidFill>
                  <a:srgbClr val="374050"/>
                </a:solidFill>
                <a:latin typeface="宋体" panose="02010600030101010101" pitchFamily="2" charset="-122"/>
                <a:cs typeface="宋体" panose="02010600030101010101" pitchFamily="2" charset="-122"/>
              </a:rPr>
              <a:t>）</a:t>
            </a:r>
            <a:r>
              <a:rPr sz="1000" spc="-30" dirty="0">
                <a:solidFill>
                  <a:srgbClr val="374050"/>
                </a:solidFill>
                <a:latin typeface="宋体" panose="02010600030101010101" pitchFamily="2" charset="-122"/>
                <a:cs typeface="宋体" panose="02010600030101010101" pitchFamily="2" charset="-122"/>
              </a:rPr>
              <a:t>，</a:t>
            </a:r>
            <a:r>
              <a:rPr sz="1000" b="1" spc="-20" dirty="0">
                <a:solidFill>
                  <a:srgbClr val="374050"/>
                </a:solidFill>
                <a:latin typeface="Arial" panose="020B0604020202020204"/>
                <a:cs typeface="Arial" panose="020B0604020202020204"/>
              </a:rPr>
              <a:t>S</a:t>
            </a:r>
            <a:r>
              <a:rPr sz="1000" b="1" spc="-65" dirty="0">
                <a:solidFill>
                  <a:srgbClr val="374050"/>
                </a:solidFill>
                <a:latin typeface="Arial" panose="020B0604020202020204"/>
                <a:cs typeface="Arial" panose="020B0604020202020204"/>
              </a:rPr>
              <a:t>h</a:t>
            </a:r>
            <a:r>
              <a:rPr sz="1000" b="1" spc="-50" dirty="0">
                <a:solidFill>
                  <a:srgbClr val="374050"/>
                </a:solidFill>
                <a:latin typeface="Arial" panose="020B0604020202020204"/>
                <a:cs typeface="Arial" panose="020B0604020202020204"/>
              </a:rPr>
              <a:t>i</a:t>
            </a:r>
            <a:r>
              <a:rPr sz="1000" b="1" spc="-5" dirty="0">
                <a:solidFill>
                  <a:srgbClr val="374050"/>
                </a:solidFill>
                <a:latin typeface="Arial" panose="020B0604020202020204"/>
                <a:cs typeface="Arial" panose="020B0604020202020204"/>
              </a:rPr>
              <a:t>f</a:t>
            </a:r>
            <a:r>
              <a:rPr sz="1000" b="1" spc="-25" dirty="0">
                <a:solidFill>
                  <a:srgbClr val="374050"/>
                </a:solidFill>
                <a:latin typeface="Arial" panose="020B0604020202020204"/>
                <a:cs typeface="Arial" panose="020B0604020202020204"/>
              </a:rPr>
              <a:t>T</a:t>
            </a:r>
            <a:r>
              <a:rPr sz="1000" b="1" spc="-30" dirty="0">
                <a:solidFill>
                  <a:srgbClr val="374050"/>
                </a:solidFill>
                <a:latin typeface="Arial" panose="020B0604020202020204"/>
                <a:cs typeface="Arial" panose="020B0604020202020204"/>
              </a:rPr>
              <a:t>S</a:t>
            </a:r>
            <a:r>
              <a:rPr sz="1000" b="1" spc="25" dirty="0">
                <a:solidFill>
                  <a:srgbClr val="374050"/>
                </a:solidFill>
                <a:latin typeface="Arial" panose="020B0604020202020204"/>
                <a:cs typeface="Arial" panose="020B0604020202020204"/>
              </a:rPr>
              <a:t> </a:t>
            </a:r>
            <a:r>
              <a:rPr sz="1000" spc="-95" dirty="0">
                <a:solidFill>
                  <a:srgbClr val="374050"/>
                </a:solidFill>
                <a:latin typeface="宋体" panose="02010600030101010101" pitchFamily="2" charset="-122"/>
                <a:cs typeface="宋体" panose="02010600030101010101" pitchFamily="2" charset="-122"/>
              </a:rPr>
              <a:t>的代理特征捕获方案</a:t>
            </a:r>
            <a:endParaRPr sz="1000">
              <a:latin typeface="宋体" panose="02010600030101010101" pitchFamily="2" charset="-122"/>
              <a:cs typeface="宋体" panose="02010600030101010101" pitchFamily="2" charset="-122"/>
            </a:endParaRPr>
          </a:p>
        </p:txBody>
      </p:sp>
      <p:grpSp>
        <p:nvGrpSpPr>
          <p:cNvPr id="36" name="object 36"/>
          <p:cNvGrpSpPr/>
          <p:nvPr/>
        </p:nvGrpSpPr>
        <p:grpSpPr>
          <a:xfrm>
            <a:off x="5086349" y="1362074"/>
            <a:ext cx="6648450" cy="5038725"/>
            <a:chOff x="5086349" y="1362074"/>
            <a:chExt cx="6648450" cy="5038725"/>
          </a:xfrm>
        </p:grpSpPr>
        <p:sp>
          <p:nvSpPr>
            <p:cNvPr id="37" name="object 37"/>
            <p:cNvSpPr/>
            <p:nvPr/>
          </p:nvSpPr>
          <p:spPr>
            <a:xfrm>
              <a:off x="5091112" y="1366837"/>
              <a:ext cx="6638925" cy="5029200"/>
            </a:xfrm>
            <a:custGeom>
              <a:avLst/>
              <a:gdLst/>
              <a:ahLst/>
              <a:cxnLst/>
              <a:rect l="l" t="t" r="r" b="b"/>
              <a:pathLst>
                <a:path w="6638925" h="5029200">
                  <a:moveTo>
                    <a:pt x="6536579" y="5029199"/>
                  </a:moveTo>
                  <a:lnTo>
                    <a:pt x="102345" y="5029199"/>
                  </a:lnTo>
                  <a:lnTo>
                    <a:pt x="95221" y="5028497"/>
                  </a:lnTo>
                  <a:lnTo>
                    <a:pt x="54661" y="5014733"/>
                  </a:lnTo>
                  <a:lnTo>
                    <a:pt x="22456" y="4986497"/>
                  </a:lnTo>
                  <a:lnTo>
                    <a:pt x="3507" y="4948085"/>
                  </a:lnTo>
                  <a:lnTo>
                    <a:pt x="0" y="4926854"/>
                  </a:lnTo>
                  <a:lnTo>
                    <a:pt x="0" y="4919662"/>
                  </a:lnTo>
                  <a:lnTo>
                    <a:pt x="0" y="102345"/>
                  </a:lnTo>
                  <a:lnTo>
                    <a:pt x="11090" y="60974"/>
                  </a:lnTo>
                  <a:lnTo>
                    <a:pt x="37168" y="26997"/>
                  </a:lnTo>
                  <a:lnTo>
                    <a:pt x="74264" y="5585"/>
                  </a:lnTo>
                  <a:lnTo>
                    <a:pt x="102345" y="0"/>
                  </a:lnTo>
                  <a:lnTo>
                    <a:pt x="6536579" y="0"/>
                  </a:lnTo>
                  <a:lnTo>
                    <a:pt x="6577948" y="11090"/>
                  </a:lnTo>
                  <a:lnTo>
                    <a:pt x="6611927" y="37168"/>
                  </a:lnTo>
                  <a:lnTo>
                    <a:pt x="6633338" y="74264"/>
                  </a:lnTo>
                  <a:lnTo>
                    <a:pt x="6638923" y="102345"/>
                  </a:lnTo>
                  <a:lnTo>
                    <a:pt x="6638923" y="4926854"/>
                  </a:lnTo>
                  <a:lnTo>
                    <a:pt x="6627833" y="4968224"/>
                  </a:lnTo>
                  <a:lnTo>
                    <a:pt x="6601755" y="5002201"/>
                  </a:lnTo>
                  <a:lnTo>
                    <a:pt x="6564659" y="5023613"/>
                  </a:lnTo>
                  <a:lnTo>
                    <a:pt x="6543702" y="5028497"/>
                  </a:lnTo>
                  <a:lnTo>
                    <a:pt x="6536579" y="5029199"/>
                  </a:lnTo>
                  <a:close/>
                </a:path>
              </a:pathLst>
            </a:custGeom>
            <a:solidFill>
              <a:srgbClr val="F9FAFA"/>
            </a:solidFill>
          </p:spPr>
          <p:txBody>
            <a:bodyPr wrap="square" lIns="0" tIns="0" rIns="0" bIns="0" rtlCol="0"/>
            <a:lstStyle/>
            <a:p/>
          </p:txBody>
        </p:sp>
        <p:sp>
          <p:nvSpPr>
            <p:cNvPr id="38" name="object 38"/>
            <p:cNvSpPr/>
            <p:nvPr/>
          </p:nvSpPr>
          <p:spPr>
            <a:xfrm>
              <a:off x="5091112" y="1366837"/>
              <a:ext cx="6638925" cy="5029200"/>
            </a:xfrm>
            <a:custGeom>
              <a:avLst/>
              <a:gdLst/>
              <a:ahLst/>
              <a:cxnLst/>
              <a:rect l="l" t="t" r="r" b="b"/>
              <a:pathLst>
                <a:path w="6638925" h="5029200">
                  <a:moveTo>
                    <a:pt x="0" y="491966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6529386" y="0"/>
                  </a:lnTo>
                  <a:lnTo>
                    <a:pt x="6536579" y="0"/>
                  </a:lnTo>
                  <a:lnTo>
                    <a:pt x="6543702" y="701"/>
                  </a:lnTo>
                  <a:lnTo>
                    <a:pt x="6550756" y="2104"/>
                  </a:lnTo>
                  <a:lnTo>
                    <a:pt x="6557809" y="3507"/>
                  </a:lnTo>
                  <a:lnTo>
                    <a:pt x="6590242" y="18460"/>
                  </a:lnTo>
                  <a:lnTo>
                    <a:pt x="6596222" y="22456"/>
                  </a:lnTo>
                  <a:lnTo>
                    <a:pt x="6620463" y="48681"/>
                  </a:lnTo>
                  <a:lnTo>
                    <a:pt x="6624459" y="54661"/>
                  </a:lnTo>
                  <a:lnTo>
                    <a:pt x="6627833" y="60974"/>
                  </a:lnTo>
                  <a:lnTo>
                    <a:pt x="6630586" y="67619"/>
                  </a:lnTo>
                  <a:lnTo>
                    <a:pt x="6633338" y="74264"/>
                  </a:lnTo>
                  <a:lnTo>
                    <a:pt x="6635416" y="81113"/>
                  </a:lnTo>
                  <a:lnTo>
                    <a:pt x="6636819" y="88167"/>
                  </a:lnTo>
                  <a:lnTo>
                    <a:pt x="6638222" y="95221"/>
                  </a:lnTo>
                  <a:lnTo>
                    <a:pt x="6638923" y="102345"/>
                  </a:lnTo>
                  <a:lnTo>
                    <a:pt x="6638924" y="109537"/>
                  </a:lnTo>
                  <a:lnTo>
                    <a:pt x="6638924" y="4919662"/>
                  </a:lnTo>
                  <a:lnTo>
                    <a:pt x="6638923" y="4926854"/>
                  </a:lnTo>
                  <a:lnTo>
                    <a:pt x="6638222" y="4933977"/>
                  </a:lnTo>
                  <a:lnTo>
                    <a:pt x="6636818" y="4941031"/>
                  </a:lnTo>
                  <a:lnTo>
                    <a:pt x="6635415" y="4948085"/>
                  </a:lnTo>
                  <a:lnTo>
                    <a:pt x="6633338" y="4954934"/>
                  </a:lnTo>
                  <a:lnTo>
                    <a:pt x="6630586" y="4961579"/>
                  </a:lnTo>
                  <a:lnTo>
                    <a:pt x="6627833" y="4968224"/>
                  </a:lnTo>
                  <a:lnTo>
                    <a:pt x="6624459" y="4974537"/>
                  </a:lnTo>
                  <a:lnTo>
                    <a:pt x="6620463" y="4980517"/>
                  </a:lnTo>
                  <a:lnTo>
                    <a:pt x="6616468" y="4986497"/>
                  </a:lnTo>
                  <a:lnTo>
                    <a:pt x="6584261" y="5014734"/>
                  </a:lnTo>
                  <a:lnTo>
                    <a:pt x="6543702" y="5028497"/>
                  </a:lnTo>
                  <a:lnTo>
                    <a:pt x="6529386" y="5029199"/>
                  </a:lnTo>
                  <a:lnTo>
                    <a:pt x="109537" y="5029199"/>
                  </a:lnTo>
                  <a:lnTo>
                    <a:pt x="67619" y="5020860"/>
                  </a:lnTo>
                  <a:lnTo>
                    <a:pt x="60974" y="5018107"/>
                  </a:lnTo>
                  <a:lnTo>
                    <a:pt x="26997" y="4992030"/>
                  </a:lnTo>
                  <a:lnTo>
                    <a:pt x="8338" y="4961579"/>
                  </a:lnTo>
                  <a:lnTo>
                    <a:pt x="5585" y="4954934"/>
                  </a:lnTo>
                  <a:lnTo>
                    <a:pt x="3507" y="4948085"/>
                  </a:lnTo>
                  <a:lnTo>
                    <a:pt x="2104" y="4941031"/>
                  </a:lnTo>
                  <a:lnTo>
                    <a:pt x="701" y="4933977"/>
                  </a:lnTo>
                  <a:lnTo>
                    <a:pt x="0" y="4926854"/>
                  </a:lnTo>
                  <a:lnTo>
                    <a:pt x="0" y="4919662"/>
                  </a:lnTo>
                  <a:close/>
                </a:path>
              </a:pathLst>
            </a:custGeom>
            <a:ln w="9524">
              <a:solidFill>
                <a:srgbClr val="F2F4F5"/>
              </a:solidFill>
            </a:ln>
          </p:spPr>
          <p:txBody>
            <a:bodyPr wrap="square" lIns="0" tIns="0" rIns="0" bIns="0" rtlCol="0"/>
            <a:lstStyle/>
            <a:p/>
          </p:txBody>
        </p:sp>
        <p:pic>
          <p:nvPicPr>
            <p:cNvPr id="39" name="object 39"/>
            <p:cNvPicPr/>
            <p:nvPr/>
          </p:nvPicPr>
          <p:blipFill>
            <a:blip r:embed="rId1" cstate="print"/>
            <a:stretch>
              <a:fillRect/>
            </a:stretch>
          </p:blipFill>
          <p:spPr>
            <a:xfrm>
              <a:off x="5286374" y="1600199"/>
              <a:ext cx="76200" cy="76199"/>
            </a:xfrm>
            <a:prstGeom prst="rect">
              <a:avLst/>
            </a:prstGeom>
          </p:spPr>
        </p:pic>
      </p:grpSp>
      <p:sp>
        <p:nvSpPr>
          <p:cNvPr id="40" name="object 40"/>
          <p:cNvSpPr txBox="1"/>
          <p:nvPr/>
        </p:nvSpPr>
        <p:spPr>
          <a:xfrm>
            <a:off x="5429795" y="1549400"/>
            <a:ext cx="1932305"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111726"/>
                </a:solidFill>
                <a:latin typeface="宋体" panose="02010600030101010101" pitchFamily="2" charset="-122"/>
                <a:cs typeface="宋体" panose="02010600030101010101" pitchFamily="2" charset="-122"/>
              </a:rPr>
              <a:t>时序与概念漂移基线横向性能对比统计</a:t>
            </a:r>
            <a:endParaRPr sz="900">
              <a:latin typeface="宋体" panose="02010600030101010101" pitchFamily="2" charset="-122"/>
              <a:cs typeface="宋体" panose="02010600030101010101" pitchFamily="2" charset="-122"/>
            </a:endParaRPr>
          </a:p>
        </p:txBody>
      </p:sp>
      <p:sp>
        <p:nvSpPr>
          <p:cNvPr id="41" name="object 41"/>
          <p:cNvSpPr txBox="1"/>
          <p:nvPr/>
        </p:nvSpPr>
        <p:spPr>
          <a:xfrm>
            <a:off x="10287693" y="1541780"/>
            <a:ext cx="1259840" cy="149225"/>
          </a:xfrm>
          <a:prstGeom prst="rect">
            <a:avLst/>
          </a:prstGeom>
        </p:spPr>
        <p:txBody>
          <a:bodyPr vert="horz" wrap="square" lIns="0" tIns="13970" rIns="0" bIns="0" rtlCol="0">
            <a:spAutoFit/>
          </a:bodyPr>
          <a:lstStyle/>
          <a:p>
            <a:pPr marL="12700">
              <a:lnSpc>
                <a:spcPct val="100000"/>
              </a:lnSpc>
              <a:spcBef>
                <a:spcPts val="110"/>
              </a:spcBef>
            </a:pPr>
            <a:r>
              <a:rPr sz="800" dirty="0">
                <a:solidFill>
                  <a:srgbClr val="9CA2AF"/>
                </a:solidFill>
                <a:latin typeface="Courier New" panose="02070309020205020404"/>
                <a:cs typeface="Courier New" panose="02070309020205020404"/>
              </a:rPr>
              <a:t>Crossformer</a:t>
            </a:r>
            <a:r>
              <a:rPr sz="800" spc="55" dirty="0">
                <a:solidFill>
                  <a:srgbClr val="9CA2AF"/>
                </a:solidFill>
                <a:latin typeface="Courier New" panose="02070309020205020404"/>
                <a:cs typeface="Courier New" panose="02070309020205020404"/>
              </a:rPr>
              <a:t> </a:t>
            </a:r>
            <a:r>
              <a:rPr sz="800" spc="-10" dirty="0">
                <a:solidFill>
                  <a:srgbClr val="9CA2AF"/>
                </a:solidFill>
                <a:latin typeface="Courier New" panose="02070309020205020404"/>
                <a:cs typeface="Courier New" panose="02070309020205020404"/>
              </a:rPr>
              <a:t>Backbone</a:t>
            </a:r>
            <a:endParaRPr sz="800">
              <a:latin typeface="Courier New" panose="02070309020205020404"/>
              <a:cs typeface="Courier New" panose="02070309020205020404"/>
            </a:endParaRPr>
          </a:p>
        </p:txBody>
      </p:sp>
      <p:sp>
        <p:nvSpPr>
          <p:cNvPr id="42" name="object 42"/>
          <p:cNvSpPr/>
          <p:nvPr/>
        </p:nvSpPr>
        <p:spPr>
          <a:xfrm>
            <a:off x="0" y="0"/>
            <a:ext cx="12192000" cy="9525"/>
          </a:xfrm>
          <a:custGeom>
            <a:avLst/>
            <a:gdLst/>
            <a:ahLst/>
            <a:cxnLst/>
            <a:rect l="l" t="t" r="r" b="b"/>
            <a:pathLst>
              <a:path w="12192000" h="9525">
                <a:moveTo>
                  <a:pt x="12191999" y="9524"/>
                </a:moveTo>
                <a:lnTo>
                  <a:pt x="0" y="9524"/>
                </a:lnTo>
                <a:lnTo>
                  <a:pt x="0" y="0"/>
                </a:lnTo>
                <a:lnTo>
                  <a:pt x="12191999" y="0"/>
                </a:lnTo>
                <a:lnTo>
                  <a:pt x="12191999" y="9524"/>
                </a:lnTo>
                <a:close/>
              </a:path>
            </a:pathLst>
          </a:custGeom>
          <a:solidFill>
            <a:srgbClr val="E7E4E3"/>
          </a:solidFill>
        </p:spPr>
        <p:txBody>
          <a:bodyPr wrap="square" lIns="0" tIns="0" rIns="0" bIns="0" rtlCol="0"/>
          <a:lstStyle/>
          <a:p/>
        </p:txBody>
      </p:sp>
      <p:sp>
        <p:nvSpPr>
          <p:cNvPr id="43" name="object 43"/>
          <p:cNvSpPr/>
          <p:nvPr/>
        </p:nvSpPr>
        <p:spPr>
          <a:xfrm>
            <a:off x="0" y="6848474"/>
            <a:ext cx="12192000" cy="9525"/>
          </a:xfrm>
          <a:custGeom>
            <a:avLst/>
            <a:gdLst/>
            <a:ahLst/>
            <a:cxnLst/>
            <a:rect l="l" t="t" r="r" b="b"/>
            <a:pathLst>
              <a:path w="12192000" h="9525">
                <a:moveTo>
                  <a:pt x="12191999" y="9524"/>
                </a:moveTo>
                <a:lnTo>
                  <a:pt x="0" y="9524"/>
                </a:lnTo>
                <a:lnTo>
                  <a:pt x="0" y="0"/>
                </a:lnTo>
                <a:lnTo>
                  <a:pt x="12191999" y="0"/>
                </a:lnTo>
                <a:lnTo>
                  <a:pt x="12191999" y="9524"/>
                </a:lnTo>
                <a:close/>
              </a:path>
            </a:pathLst>
          </a:custGeom>
          <a:solidFill>
            <a:srgbClr val="E7E4E3"/>
          </a:solidFill>
        </p:spPr>
        <p:txBody>
          <a:bodyPr wrap="square" lIns="0" tIns="0" rIns="0" bIns="0" rtlCol="0"/>
          <a:lstStyle/>
          <a:p/>
        </p:txBody>
      </p:sp>
      <p:grpSp>
        <p:nvGrpSpPr>
          <p:cNvPr id="44" name="object 44"/>
          <p:cNvGrpSpPr/>
          <p:nvPr/>
        </p:nvGrpSpPr>
        <p:grpSpPr>
          <a:xfrm>
            <a:off x="5286374" y="1828800"/>
            <a:ext cx="6248400" cy="4838700"/>
            <a:chOff x="5286374" y="1828800"/>
            <a:chExt cx="6248400" cy="4838700"/>
          </a:xfrm>
        </p:grpSpPr>
        <p:sp>
          <p:nvSpPr>
            <p:cNvPr id="45" name="object 45"/>
            <p:cNvSpPr/>
            <p:nvPr/>
          </p:nvSpPr>
          <p:spPr>
            <a:xfrm>
              <a:off x="5291137" y="1833562"/>
              <a:ext cx="6238875" cy="4076700"/>
            </a:xfrm>
            <a:custGeom>
              <a:avLst/>
              <a:gdLst/>
              <a:ahLst/>
              <a:cxnLst/>
              <a:rect l="l" t="t" r="r" b="b"/>
              <a:pathLst>
                <a:path w="6238875" h="4076700">
                  <a:moveTo>
                    <a:pt x="6172127" y="4076699"/>
                  </a:moveTo>
                  <a:lnTo>
                    <a:pt x="66746" y="4076699"/>
                  </a:lnTo>
                  <a:lnTo>
                    <a:pt x="62101" y="4076241"/>
                  </a:lnTo>
                  <a:lnTo>
                    <a:pt x="24240" y="4059092"/>
                  </a:lnTo>
                  <a:lnTo>
                    <a:pt x="2287" y="4023798"/>
                  </a:lnTo>
                  <a:lnTo>
                    <a:pt x="0" y="4009952"/>
                  </a:lnTo>
                  <a:lnTo>
                    <a:pt x="0" y="4005262"/>
                  </a:lnTo>
                  <a:lnTo>
                    <a:pt x="0" y="66746"/>
                  </a:lnTo>
                  <a:lnTo>
                    <a:pt x="14645" y="27848"/>
                  </a:lnTo>
                  <a:lnTo>
                    <a:pt x="48433" y="3642"/>
                  </a:lnTo>
                  <a:lnTo>
                    <a:pt x="66746" y="0"/>
                  </a:lnTo>
                  <a:lnTo>
                    <a:pt x="6172127" y="0"/>
                  </a:lnTo>
                  <a:lnTo>
                    <a:pt x="6211025" y="14645"/>
                  </a:lnTo>
                  <a:lnTo>
                    <a:pt x="6235230" y="48433"/>
                  </a:lnTo>
                  <a:lnTo>
                    <a:pt x="6238874" y="66746"/>
                  </a:lnTo>
                  <a:lnTo>
                    <a:pt x="6238874" y="4009952"/>
                  </a:lnTo>
                  <a:lnTo>
                    <a:pt x="6224227" y="4048850"/>
                  </a:lnTo>
                  <a:lnTo>
                    <a:pt x="6190440" y="4073055"/>
                  </a:lnTo>
                  <a:lnTo>
                    <a:pt x="6176773" y="4076241"/>
                  </a:lnTo>
                  <a:lnTo>
                    <a:pt x="6172127" y="4076699"/>
                  </a:lnTo>
                  <a:close/>
                </a:path>
              </a:pathLst>
            </a:custGeom>
            <a:solidFill>
              <a:srgbClr val="FFFFFF"/>
            </a:solidFill>
          </p:spPr>
          <p:txBody>
            <a:bodyPr wrap="square" lIns="0" tIns="0" rIns="0" bIns="0" rtlCol="0"/>
            <a:lstStyle/>
            <a:p/>
          </p:txBody>
        </p:sp>
        <p:sp>
          <p:nvSpPr>
            <p:cNvPr id="46" name="object 46"/>
            <p:cNvSpPr/>
            <p:nvPr/>
          </p:nvSpPr>
          <p:spPr>
            <a:xfrm>
              <a:off x="5291137" y="1833562"/>
              <a:ext cx="6238875" cy="4076700"/>
            </a:xfrm>
            <a:custGeom>
              <a:avLst/>
              <a:gdLst/>
              <a:ahLst/>
              <a:cxnLst/>
              <a:rect l="l" t="t" r="r" b="b"/>
              <a:pathLst>
                <a:path w="6238875" h="4076700">
                  <a:moveTo>
                    <a:pt x="0" y="4005262"/>
                  </a:moveTo>
                  <a:lnTo>
                    <a:pt x="0" y="71437"/>
                  </a:lnTo>
                  <a:lnTo>
                    <a:pt x="0" y="66746"/>
                  </a:lnTo>
                  <a:lnTo>
                    <a:pt x="457" y="62101"/>
                  </a:lnTo>
                  <a:lnTo>
                    <a:pt x="1372" y="57500"/>
                  </a:lnTo>
                  <a:lnTo>
                    <a:pt x="2287" y="52900"/>
                  </a:lnTo>
                  <a:lnTo>
                    <a:pt x="3642" y="48433"/>
                  </a:lnTo>
                  <a:lnTo>
                    <a:pt x="5437" y="44099"/>
                  </a:lnTo>
                  <a:lnTo>
                    <a:pt x="7232" y="39765"/>
                  </a:lnTo>
                  <a:lnTo>
                    <a:pt x="9433" y="35649"/>
                  </a:lnTo>
                  <a:lnTo>
                    <a:pt x="12039" y="31748"/>
                  </a:lnTo>
                  <a:lnTo>
                    <a:pt x="14645" y="27848"/>
                  </a:lnTo>
                  <a:lnTo>
                    <a:pt x="17606" y="24240"/>
                  </a:lnTo>
                  <a:lnTo>
                    <a:pt x="20923" y="20923"/>
                  </a:lnTo>
                  <a:lnTo>
                    <a:pt x="24240" y="17606"/>
                  </a:lnTo>
                  <a:lnTo>
                    <a:pt x="27848" y="14645"/>
                  </a:lnTo>
                  <a:lnTo>
                    <a:pt x="31748" y="12039"/>
                  </a:lnTo>
                  <a:lnTo>
                    <a:pt x="35649" y="9433"/>
                  </a:lnTo>
                  <a:lnTo>
                    <a:pt x="39765" y="7232"/>
                  </a:lnTo>
                  <a:lnTo>
                    <a:pt x="44099" y="5437"/>
                  </a:lnTo>
                  <a:lnTo>
                    <a:pt x="48433" y="3642"/>
                  </a:lnTo>
                  <a:lnTo>
                    <a:pt x="52900" y="2287"/>
                  </a:lnTo>
                  <a:lnTo>
                    <a:pt x="57500" y="1372"/>
                  </a:lnTo>
                  <a:lnTo>
                    <a:pt x="62101" y="457"/>
                  </a:lnTo>
                  <a:lnTo>
                    <a:pt x="66746" y="0"/>
                  </a:lnTo>
                  <a:lnTo>
                    <a:pt x="71437" y="0"/>
                  </a:lnTo>
                  <a:lnTo>
                    <a:pt x="6167437" y="0"/>
                  </a:lnTo>
                  <a:lnTo>
                    <a:pt x="6172127" y="0"/>
                  </a:lnTo>
                  <a:lnTo>
                    <a:pt x="6176773" y="457"/>
                  </a:lnTo>
                  <a:lnTo>
                    <a:pt x="6181373" y="1372"/>
                  </a:lnTo>
                  <a:lnTo>
                    <a:pt x="6185973" y="2287"/>
                  </a:lnTo>
                  <a:lnTo>
                    <a:pt x="6217950" y="20923"/>
                  </a:lnTo>
                  <a:lnTo>
                    <a:pt x="6221266" y="24240"/>
                  </a:lnTo>
                  <a:lnTo>
                    <a:pt x="6237500" y="57500"/>
                  </a:lnTo>
                  <a:lnTo>
                    <a:pt x="6238416" y="62101"/>
                  </a:lnTo>
                  <a:lnTo>
                    <a:pt x="6238874" y="66746"/>
                  </a:lnTo>
                  <a:lnTo>
                    <a:pt x="6238874" y="71437"/>
                  </a:lnTo>
                  <a:lnTo>
                    <a:pt x="6238874" y="4005262"/>
                  </a:lnTo>
                  <a:lnTo>
                    <a:pt x="6238874" y="4009952"/>
                  </a:lnTo>
                  <a:lnTo>
                    <a:pt x="6238416" y="4014598"/>
                  </a:lnTo>
                  <a:lnTo>
                    <a:pt x="6237500" y="4019198"/>
                  </a:lnTo>
                  <a:lnTo>
                    <a:pt x="6236585" y="4023798"/>
                  </a:lnTo>
                  <a:lnTo>
                    <a:pt x="6214633" y="4059092"/>
                  </a:lnTo>
                  <a:lnTo>
                    <a:pt x="6181373" y="4075326"/>
                  </a:lnTo>
                  <a:lnTo>
                    <a:pt x="6176773" y="4076241"/>
                  </a:lnTo>
                  <a:lnTo>
                    <a:pt x="6172127" y="4076699"/>
                  </a:lnTo>
                  <a:lnTo>
                    <a:pt x="6167437" y="4076699"/>
                  </a:lnTo>
                  <a:lnTo>
                    <a:pt x="71437" y="4076699"/>
                  </a:lnTo>
                  <a:lnTo>
                    <a:pt x="66746" y="4076699"/>
                  </a:lnTo>
                  <a:lnTo>
                    <a:pt x="62101" y="4076241"/>
                  </a:lnTo>
                  <a:lnTo>
                    <a:pt x="57500" y="4075326"/>
                  </a:lnTo>
                  <a:lnTo>
                    <a:pt x="52900" y="4074411"/>
                  </a:lnTo>
                  <a:lnTo>
                    <a:pt x="17606" y="4052459"/>
                  </a:lnTo>
                  <a:lnTo>
                    <a:pt x="12039" y="4044949"/>
                  </a:lnTo>
                  <a:lnTo>
                    <a:pt x="9433" y="4041049"/>
                  </a:lnTo>
                  <a:lnTo>
                    <a:pt x="1372" y="4019198"/>
                  </a:lnTo>
                  <a:lnTo>
                    <a:pt x="457" y="4014598"/>
                  </a:lnTo>
                  <a:lnTo>
                    <a:pt x="0" y="4009952"/>
                  </a:lnTo>
                  <a:lnTo>
                    <a:pt x="0" y="4005262"/>
                  </a:lnTo>
                  <a:close/>
                </a:path>
              </a:pathLst>
            </a:custGeom>
            <a:ln w="9524">
              <a:solidFill>
                <a:srgbClr val="E4E7EB"/>
              </a:solidFill>
            </a:ln>
          </p:spPr>
          <p:txBody>
            <a:bodyPr wrap="square" lIns="0" tIns="0" rIns="0" bIns="0" rtlCol="0"/>
            <a:lstStyle/>
            <a:p/>
          </p:txBody>
        </p:sp>
        <p:pic>
          <p:nvPicPr>
            <p:cNvPr id="47" name="object 47"/>
            <p:cNvPicPr/>
            <p:nvPr/>
          </p:nvPicPr>
          <p:blipFill>
            <a:blip r:embed="rId2" cstate="print"/>
            <a:stretch>
              <a:fillRect/>
            </a:stretch>
          </p:blipFill>
          <p:spPr>
            <a:xfrm>
              <a:off x="5448299" y="2733675"/>
              <a:ext cx="5924550" cy="2276474"/>
            </a:xfrm>
            <a:prstGeom prst="rect">
              <a:avLst/>
            </a:prstGeom>
          </p:spPr>
        </p:pic>
        <p:pic>
          <p:nvPicPr>
            <p:cNvPr id="48" name="object 48"/>
            <p:cNvPicPr/>
            <p:nvPr/>
          </p:nvPicPr>
          <p:blipFill>
            <a:blip r:embed="rId3" cstate="print"/>
            <a:stretch>
              <a:fillRect/>
            </a:stretch>
          </p:blipFill>
          <p:spPr>
            <a:xfrm>
              <a:off x="9382124" y="6229350"/>
              <a:ext cx="438149" cy="438149"/>
            </a:xfrm>
            <a:prstGeom prst="rect">
              <a:avLst/>
            </a:prstGeom>
          </p:spPr>
        </p:pic>
      </p:grpSp>
      <p:sp>
        <p:nvSpPr>
          <p:cNvPr id="49" name="object 49"/>
          <p:cNvSpPr txBox="1"/>
          <p:nvPr/>
        </p:nvSpPr>
        <p:spPr>
          <a:xfrm>
            <a:off x="5277395" y="6020512"/>
            <a:ext cx="6199505" cy="157480"/>
          </a:xfrm>
          <a:prstGeom prst="rect">
            <a:avLst/>
          </a:prstGeom>
        </p:spPr>
        <p:txBody>
          <a:bodyPr vert="horz" wrap="square" lIns="0" tIns="12065" rIns="0" bIns="0" rtlCol="0">
            <a:spAutoFit/>
          </a:bodyPr>
          <a:lstStyle/>
          <a:p>
            <a:pPr marL="12700">
              <a:lnSpc>
                <a:spcPct val="100000"/>
              </a:lnSpc>
              <a:spcBef>
                <a:spcPts val="95"/>
              </a:spcBef>
            </a:pPr>
            <a:r>
              <a:rPr sz="800" spc="-20" dirty="0">
                <a:solidFill>
                  <a:srgbClr val="6A7280"/>
                </a:solidFill>
                <a:latin typeface="宋体" panose="02010600030101010101" pitchFamily="2" charset="-122"/>
                <a:cs typeface="宋体" panose="02010600030101010101" pitchFamily="2" charset="-122"/>
              </a:rPr>
              <a:t>Table</a:t>
            </a:r>
            <a:r>
              <a:rPr sz="800" spc="80" dirty="0">
                <a:solidFill>
                  <a:srgbClr val="6A7280"/>
                </a:solidFill>
                <a:latin typeface="宋体" panose="02010600030101010101" pitchFamily="2" charset="-122"/>
                <a:cs typeface="宋体" panose="02010600030101010101" pitchFamily="2" charset="-122"/>
              </a:rPr>
              <a:t> </a:t>
            </a:r>
            <a:r>
              <a:rPr sz="800" spc="-40" dirty="0">
                <a:solidFill>
                  <a:srgbClr val="6A7280"/>
                </a:solidFill>
                <a:latin typeface="宋体" panose="02010600030101010101" pitchFamily="2" charset="-122"/>
                <a:cs typeface="宋体" panose="02010600030101010101" pitchFamily="2" charset="-122"/>
              </a:rPr>
              <a:t>2:</a:t>
            </a:r>
            <a:r>
              <a:rPr sz="800" spc="85" dirty="0">
                <a:solidFill>
                  <a:srgbClr val="6A7280"/>
                </a:solidFill>
                <a:latin typeface="宋体" panose="02010600030101010101" pitchFamily="2" charset="-122"/>
                <a:cs typeface="宋体" panose="02010600030101010101" pitchFamily="2" charset="-122"/>
              </a:rPr>
              <a:t> </a:t>
            </a:r>
            <a:r>
              <a:rPr sz="800" spc="-25" dirty="0">
                <a:solidFill>
                  <a:srgbClr val="6A7280"/>
                </a:solidFill>
                <a:latin typeface="宋体" panose="02010600030101010101" pitchFamily="2" charset="-122"/>
                <a:cs typeface="宋体" panose="02010600030101010101" pitchFamily="2" charset="-122"/>
              </a:rPr>
              <a:t>ShifTS</a:t>
            </a:r>
            <a:r>
              <a:rPr sz="800" dirty="0">
                <a:solidFill>
                  <a:srgbClr val="6A7280"/>
                </a:solidFill>
                <a:latin typeface="宋体" panose="02010600030101010101" pitchFamily="2" charset="-122"/>
                <a:cs typeface="宋体" panose="02010600030101010101" pitchFamily="2" charset="-122"/>
              </a:rPr>
              <a:t> 与多种分布偏移基线算法（涵盖专门解决时序漂移与专门解决概念漂移的模型）</a:t>
            </a:r>
            <a:r>
              <a:rPr sz="800" spc="40" dirty="0">
                <a:solidFill>
                  <a:srgbClr val="6A7280"/>
                </a:solidFill>
                <a:latin typeface="宋体" panose="02010600030101010101" pitchFamily="2" charset="-122"/>
                <a:cs typeface="宋体" panose="02010600030101010101" pitchFamily="2" charset="-122"/>
              </a:rPr>
              <a:t>在 </a:t>
            </a:r>
            <a:r>
              <a:rPr sz="800" dirty="0">
                <a:solidFill>
                  <a:srgbClr val="6A7280"/>
                </a:solidFill>
                <a:latin typeface="宋体" panose="02010600030101010101" pitchFamily="2" charset="-122"/>
                <a:cs typeface="宋体" panose="02010600030101010101" pitchFamily="2" charset="-122"/>
              </a:rPr>
              <a:t>Crossformer</a:t>
            </a:r>
            <a:r>
              <a:rPr sz="800" spc="-5" dirty="0">
                <a:solidFill>
                  <a:srgbClr val="6A7280"/>
                </a:solidFill>
                <a:latin typeface="宋体" panose="02010600030101010101" pitchFamily="2" charset="-122"/>
                <a:cs typeface="宋体" panose="02010600030101010101" pitchFamily="2" charset="-122"/>
              </a:rPr>
              <a:t> 下预测性能横向比较。</a:t>
            </a:r>
            <a:endParaRPr sz="800">
              <a:latin typeface="宋体" panose="02010600030101010101" pitchFamily="2" charset="-122"/>
              <a:cs typeface="宋体" panose="02010600030101010101" pitchFamily="2" charset="-122"/>
            </a:endParaRPr>
          </a:p>
        </p:txBody>
      </p:sp>
      <p:sp>
        <p:nvSpPr>
          <p:cNvPr id="50" name="object 50"/>
          <p:cNvSpPr txBox="1"/>
          <p:nvPr/>
        </p:nvSpPr>
        <p:spPr>
          <a:xfrm>
            <a:off x="720724" y="6074965"/>
            <a:ext cx="3387725" cy="153670"/>
          </a:xfrm>
          <a:prstGeom prst="rect">
            <a:avLst/>
          </a:prstGeom>
        </p:spPr>
        <p:txBody>
          <a:bodyPr vert="horz" wrap="square" lIns="0" tIns="0" rIns="0" bIns="0" rtlCol="0">
            <a:spAutoFit/>
          </a:bodyPr>
          <a:lstStyle/>
          <a:p>
            <a:pPr marL="12700">
              <a:lnSpc>
                <a:spcPts val="1115"/>
              </a:lnSpc>
            </a:pPr>
            <a:r>
              <a:rPr sz="1000" spc="-100" dirty="0">
                <a:solidFill>
                  <a:srgbClr val="374050"/>
                </a:solidFill>
                <a:latin typeface="宋体" panose="02010600030101010101" pitchFamily="2" charset="-122"/>
                <a:cs typeface="宋体" panose="02010600030101010101" pitchFamily="2" charset="-122"/>
              </a:rPr>
              <a:t>完美契合并自适应了流数据</a:t>
            </a:r>
            <a:r>
              <a:rPr sz="1000" spc="-30" dirty="0">
                <a:solidFill>
                  <a:srgbClr val="374050"/>
                </a:solidFill>
                <a:latin typeface="宋体" panose="02010600030101010101" pitchFamily="2" charset="-122"/>
                <a:cs typeface="宋体" panose="02010600030101010101" pitchFamily="2" charset="-122"/>
              </a:rPr>
              <a:t>（</a:t>
            </a:r>
            <a:r>
              <a:rPr sz="1000" spc="-30" dirty="0">
                <a:solidFill>
                  <a:srgbClr val="374050"/>
                </a:solidFill>
                <a:latin typeface="Microsoft Sans Serif" panose="020B0604020202020204"/>
                <a:cs typeface="Microsoft Sans Serif" panose="020B0604020202020204"/>
              </a:rPr>
              <a:t>Streaming</a:t>
            </a:r>
            <a:r>
              <a:rPr sz="1000" spc="15" dirty="0">
                <a:solidFill>
                  <a:srgbClr val="374050"/>
                </a:solidFill>
                <a:latin typeface="Microsoft Sans Serif" panose="020B0604020202020204"/>
                <a:cs typeface="Microsoft Sans Serif" panose="020B0604020202020204"/>
              </a:rPr>
              <a:t> </a:t>
            </a:r>
            <a:r>
              <a:rPr sz="1000" spc="-50" dirty="0">
                <a:solidFill>
                  <a:srgbClr val="374050"/>
                </a:solidFill>
                <a:latin typeface="Microsoft Sans Serif" panose="020B0604020202020204"/>
                <a:cs typeface="Microsoft Sans Serif" panose="020B0604020202020204"/>
              </a:rPr>
              <a:t>Data</a:t>
            </a:r>
            <a:r>
              <a:rPr sz="1000" spc="-50" dirty="0">
                <a:solidFill>
                  <a:srgbClr val="374050"/>
                </a:solidFill>
                <a:latin typeface="宋体" panose="02010600030101010101" pitchFamily="2" charset="-122"/>
                <a:cs typeface="宋体" panose="02010600030101010101" pitchFamily="2" charset="-122"/>
              </a:rPr>
              <a:t>）</a:t>
            </a:r>
            <a:r>
              <a:rPr sz="1000" spc="-95" dirty="0">
                <a:solidFill>
                  <a:srgbClr val="374050"/>
                </a:solidFill>
                <a:latin typeface="宋体" panose="02010600030101010101" pitchFamily="2" charset="-122"/>
                <a:cs typeface="宋体" panose="02010600030101010101" pitchFamily="2" charset="-122"/>
              </a:rPr>
              <a:t>的动态时变属性。</a:t>
            </a:r>
            <a:endParaRPr sz="1000">
              <a:latin typeface="宋体" panose="02010600030101010101" pitchFamily="2" charset="-122"/>
              <a:cs typeface="宋体" panose="02010600030101010101" pitchFamily="2" charset="-122"/>
            </a:endParaRPr>
          </a:p>
        </p:txBody>
      </p:sp>
      <p:sp>
        <p:nvSpPr>
          <p:cNvPr id="51" name="object 51"/>
          <p:cNvSpPr txBox="1">
            <a:spLocks noGrp="1"/>
          </p:cNvSpPr>
          <p:nvPr>
            <p:ph type="ftr" sz="quarter" idx="5"/>
          </p:nvPr>
        </p:nvSpPr>
        <p:spPr>
          <a:prstGeom prst="rect">
            <a:avLst/>
          </a:prstGeom>
        </p:spPr>
        <p:txBody>
          <a:bodyPr vert="horz" wrap="square" lIns="0" tIns="0" rIns="0" bIns="0" rtlCol="0">
            <a:spAutoFit/>
          </a:bodyPr>
          <a:lstStyle/>
          <a:p>
            <a:pPr marL="12700">
              <a:lnSpc>
                <a:spcPts val="1800"/>
              </a:lnSpc>
            </a:pPr>
            <a:r>
              <a:rPr spc="-45" dirty="0"/>
              <a:t>Powered</a:t>
            </a:r>
            <a:r>
              <a:rPr spc="-70" dirty="0"/>
              <a:t> </a:t>
            </a:r>
            <a:r>
              <a:rPr spc="-130" dirty="0"/>
              <a:t>By</a:t>
            </a:r>
            <a:r>
              <a:rPr spc="-10" dirty="0"/>
              <a:t> </a:t>
            </a:r>
            <a:r>
              <a:rPr spc="-65" dirty="0"/>
              <a:t>Tosea</a:t>
            </a:r>
            <a:r>
              <a:rPr sz="1700" spc="-65" dirty="0">
                <a:latin typeface="Tahoma" panose="020B0604030504040204"/>
                <a:cs typeface="Tahoma" panose="020B0604030504040204"/>
              </a:rPr>
              <a:t>.</a:t>
            </a:r>
            <a:r>
              <a:rPr spc="-65" dirty="0"/>
              <a:t>ai</a:t>
            </a:r>
            <a:endParaRPr sz="1700">
              <a:latin typeface="Tahoma" panose="020B0604030504040204"/>
              <a:cs typeface="Tahoma" panose="020B060403050404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405" dirty="0"/>
              <a:t>消融与分析：互信息量决定效能释放上限</a:t>
            </a:r>
            <a:endParaRPr spc="-405" dirty="0"/>
          </a:p>
        </p:txBody>
      </p:sp>
      <p:grpSp>
        <p:nvGrpSpPr>
          <p:cNvPr id="3" name="object 3"/>
          <p:cNvGrpSpPr/>
          <p:nvPr/>
        </p:nvGrpSpPr>
        <p:grpSpPr>
          <a:xfrm>
            <a:off x="457199" y="1247774"/>
            <a:ext cx="6486525" cy="3000375"/>
            <a:chOff x="457199" y="1247774"/>
            <a:chExt cx="6486525" cy="3000375"/>
          </a:xfrm>
        </p:grpSpPr>
        <p:sp>
          <p:nvSpPr>
            <p:cNvPr id="4" name="object 4"/>
            <p:cNvSpPr/>
            <p:nvPr/>
          </p:nvSpPr>
          <p:spPr>
            <a:xfrm>
              <a:off x="457199" y="1247774"/>
              <a:ext cx="6486525" cy="3000375"/>
            </a:xfrm>
            <a:custGeom>
              <a:avLst/>
              <a:gdLst/>
              <a:ahLst/>
              <a:cxnLst/>
              <a:rect l="l" t="t" r="r" b="b"/>
              <a:pathLst>
                <a:path w="6486525" h="3000375">
                  <a:moveTo>
                    <a:pt x="6372224" y="3000374"/>
                  </a:moveTo>
                  <a:lnTo>
                    <a:pt x="114299" y="3000374"/>
                  </a:lnTo>
                  <a:lnTo>
                    <a:pt x="103040" y="2999830"/>
                  </a:lnTo>
                  <a:lnTo>
                    <a:pt x="60364" y="2986862"/>
                  </a:lnTo>
                  <a:lnTo>
                    <a:pt x="25900" y="2958550"/>
                  </a:lnTo>
                  <a:lnTo>
                    <a:pt x="4894" y="2919204"/>
                  </a:lnTo>
                  <a:lnTo>
                    <a:pt x="0" y="2886074"/>
                  </a:lnTo>
                  <a:lnTo>
                    <a:pt x="0" y="114299"/>
                  </a:lnTo>
                  <a:lnTo>
                    <a:pt x="8700" y="70559"/>
                  </a:lnTo>
                  <a:lnTo>
                    <a:pt x="33477" y="33477"/>
                  </a:lnTo>
                  <a:lnTo>
                    <a:pt x="70559" y="8700"/>
                  </a:lnTo>
                  <a:lnTo>
                    <a:pt x="114299" y="0"/>
                  </a:lnTo>
                  <a:lnTo>
                    <a:pt x="6372224" y="0"/>
                  </a:lnTo>
                  <a:lnTo>
                    <a:pt x="6415964" y="8700"/>
                  </a:lnTo>
                  <a:lnTo>
                    <a:pt x="6453046" y="33477"/>
                  </a:lnTo>
                  <a:lnTo>
                    <a:pt x="6477823" y="70559"/>
                  </a:lnTo>
                  <a:lnTo>
                    <a:pt x="6486524" y="114299"/>
                  </a:lnTo>
                  <a:lnTo>
                    <a:pt x="6486524" y="2886074"/>
                  </a:lnTo>
                  <a:lnTo>
                    <a:pt x="6477823" y="2929814"/>
                  </a:lnTo>
                  <a:lnTo>
                    <a:pt x="6453046" y="2966896"/>
                  </a:lnTo>
                  <a:lnTo>
                    <a:pt x="6415964" y="2991673"/>
                  </a:lnTo>
                  <a:lnTo>
                    <a:pt x="6372224" y="3000374"/>
                  </a:lnTo>
                  <a:close/>
                </a:path>
              </a:pathLst>
            </a:custGeom>
            <a:solidFill>
              <a:srgbClr val="E7F1F6">
                <a:alpha val="39999"/>
              </a:srgbClr>
            </a:solidFill>
          </p:spPr>
          <p:txBody>
            <a:bodyPr wrap="square" lIns="0" tIns="0" rIns="0" bIns="0" rtlCol="0"/>
            <a:lstStyle/>
            <a:p/>
          </p:txBody>
        </p:sp>
        <p:sp>
          <p:nvSpPr>
            <p:cNvPr id="5" name="object 5"/>
            <p:cNvSpPr/>
            <p:nvPr/>
          </p:nvSpPr>
          <p:spPr>
            <a:xfrm>
              <a:off x="457199" y="1247774"/>
              <a:ext cx="6486525" cy="3000375"/>
            </a:xfrm>
            <a:custGeom>
              <a:avLst/>
              <a:gdLst/>
              <a:ahLst/>
              <a:cxnLst/>
              <a:rect l="l" t="t" r="r" b="b"/>
              <a:pathLst>
                <a:path w="6486525" h="3000375">
                  <a:moveTo>
                    <a:pt x="6372224" y="3000374"/>
                  </a:moveTo>
                  <a:lnTo>
                    <a:pt x="114299" y="3000374"/>
                  </a:lnTo>
                  <a:lnTo>
                    <a:pt x="103040" y="2999830"/>
                  </a:lnTo>
                  <a:lnTo>
                    <a:pt x="60364" y="2986862"/>
                  </a:lnTo>
                  <a:lnTo>
                    <a:pt x="25900" y="2958550"/>
                  </a:lnTo>
                  <a:lnTo>
                    <a:pt x="4894" y="2919204"/>
                  </a:lnTo>
                  <a:lnTo>
                    <a:pt x="0" y="2886074"/>
                  </a:lnTo>
                  <a:lnTo>
                    <a:pt x="0" y="114299"/>
                  </a:lnTo>
                  <a:lnTo>
                    <a:pt x="8700" y="70559"/>
                  </a:lnTo>
                  <a:lnTo>
                    <a:pt x="33477" y="33477"/>
                  </a:lnTo>
                  <a:lnTo>
                    <a:pt x="70559" y="8700"/>
                  </a:lnTo>
                  <a:lnTo>
                    <a:pt x="114299" y="0"/>
                  </a:lnTo>
                  <a:lnTo>
                    <a:pt x="6372224" y="0"/>
                  </a:lnTo>
                  <a:lnTo>
                    <a:pt x="6415964" y="8700"/>
                  </a:lnTo>
                  <a:lnTo>
                    <a:pt x="6417711" y="9524"/>
                  </a:lnTo>
                  <a:lnTo>
                    <a:pt x="107420" y="9524"/>
                  </a:lnTo>
                  <a:lnTo>
                    <a:pt x="100606" y="10196"/>
                  </a:lnTo>
                  <a:lnTo>
                    <a:pt x="61810" y="23360"/>
                  </a:lnTo>
                  <a:lnTo>
                    <a:pt x="31004" y="50369"/>
                  </a:lnTo>
                  <a:lnTo>
                    <a:pt x="12880" y="87111"/>
                  </a:lnTo>
                  <a:lnTo>
                    <a:pt x="9524" y="107420"/>
                  </a:lnTo>
                  <a:lnTo>
                    <a:pt x="9524" y="2892954"/>
                  </a:lnTo>
                  <a:lnTo>
                    <a:pt x="20133" y="2932526"/>
                  </a:lnTo>
                  <a:lnTo>
                    <a:pt x="45077" y="2965026"/>
                  </a:lnTo>
                  <a:lnTo>
                    <a:pt x="80560" y="2985506"/>
                  </a:lnTo>
                  <a:lnTo>
                    <a:pt x="107420" y="2990849"/>
                  </a:lnTo>
                  <a:lnTo>
                    <a:pt x="6417709" y="2990849"/>
                  </a:lnTo>
                  <a:lnTo>
                    <a:pt x="6415964" y="2991673"/>
                  </a:lnTo>
                  <a:lnTo>
                    <a:pt x="6405354" y="2995480"/>
                  </a:lnTo>
                  <a:lnTo>
                    <a:pt x="6394527" y="2998199"/>
                  </a:lnTo>
                  <a:lnTo>
                    <a:pt x="6383484" y="2999830"/>
                  </a:lnTo>
                  <a:lnTo>
                    <a:pt x="6372224" y="3000374"/>
                  </a:lnTo>
                  <a:close/>
                </a:path>
                <a:path w="6486525" h="3000375">
                  <a:moveTo>
                    <a:pt x="6417709" y="2990849"/>
                  </a:moveTo>
                  <a:lnTo>
                    <a:pt x="6379104" y="2990849"/>
                  </a:lnTo>
                  <a:lnTo>
                    <a:pt x="6385917" y="2990178"/>
                  </a:lnTo>
                  <a:lnTo>
                    <a:pt x="6399412" y="2987494"/>
                  </a:lnTo>
                  <a:lnTo>
                    <a:pt x="6436153" y="2969369"/>
                  </a:lnTo>
                  <a:lnTo>
                    <a:pt x="6463163" y="2938564"/>
                  </a:lnTo>
                  <a:lnTo>
                    <a:pt x="6476328" y="2899768"/>
                  </a:lnTo>
                  <a:lnTo>
                    <a:pt x="6476999" y="2892954"/>
                  </a:lnTo>
                  <a:lnTo>
                    <a:pt x="6476999" y="107420"/>
                  </a:lnTo>
                  <a:lnTo>
                    <a:pt x="6466390" y="67848"/>
                  </a:lnTo>
                  <a:lnTo>
                    <a:pt x="6441447" y="35348"/>
                  </a:lnTo>
                  <a:lnTo>
                    <a:pt x="6405964" y="14867"/>
                  </a:lnTo>
                  <a:lnTo>
                    <a:pt x="6379104" y="9524"/>
                  </a:lnTo>
                  <a:lnTo>
                    <a:pt x="6417711" y="9524"/>
                  </a:lnTo>
                  <a:lnTo>
                    <a:pt x="6453046" y="33477"/>
                  </a:lnTo>
                  <a:lnTo>
                    <a:pt x="6477823" y="70559"/>
                  </a:lnTo>
                  <a:lnTo>
                    <a:pt x="6486524" y="114299"/>
                  </a:lnTo>
                  <a:lnTo>
                    <a:pt x="6486524" y="2886074"/>
                  </a:lnTo>
                  <a:lnTo>
                    <a:pt x="6485980" y="2897334"/>
                  </a:lnTo>
                  <a:lnTo>
                    <a:pt x="6473012" y="2940009"/>
                  </a:lnTo>
                  <a:lnTo>
                    <a:pt x="6444700" y="2974473"/>
                  </a:lnTo>
                  <a:lnTo>
                    <a:pt x="6426159" y="2986862"/>
                  </a:lnTo>
                  <a:lnTo>
                    <a:pt x="6417709" y="2990849"/>
                  </a:lnTo>
                  <a:close/>
                </a:path>
              </a:pathLst>
            </a:custGeom>
            <a:solidFill>
              <a:srgbClr val="5B8BA7">
                <a:alpha val="10198"/>
              </a:srgbClr>
            </a:solidFill>
          </p:spPr>
          <p:txBody>
            <a:bodyPr wrap="square" lIns="0" tIns="0" rIns="0" bIns="0" rtlCol="0"/>
            <a:lstStyle/>
            <a:p/>
          </p:txBody>
        </p:sp>
        <p:sp>
          <p:nvSpPr>
            <p:cNvPr id="6" name="object 6"/>
            <p:cNvSpPr/>
            <p:nvPr/>
          </p:nvSpPr>
          <p:spPr>
            <a:xfrm>
              <a:off x="657224" y="1466849"/>
              <a:ext cx="57150" cy="114300"/>
            </a:xfrm>
            <a:custGeom>
              <a:avLst/>
              <a:gdLst/>
              <a:ahLst/>
              <a:cxnLst/>
              <a:rect l="l" t="t" r="r" b="b"/>
              <a:pathLst>
                <a:path w="57150" h="114300">
                  <a:moveTo>
                    <a:pt x="32364" y="114299"/>
                  </a:moveTo>
                  <a:lnTo>
                    <a:pt x="24785" y="114299"/>
                  </a:lnTo>
                  <a:lnTo>
                    <a:pt x="21140" y="113574"/>
                  </a:lnTo>
                  <a:lnTo>
                    <a:pt x="0" y="89514"/>
                  </a:lnTo>
                  <a:lnTo>
                    <a:pt x="0" y="85724"/>
                  </a:lnTo>
                  <a:lnTo>
                    <a:pt x="0" y="24785"/>
                  </a:lnTo>
                  <a:lnTo>
                    <a:pt x="24785" y="0"/>
                  </a:lnTo>
                  <a:lnTo>
                    <a:pt x="32364" y="0"/>
                  </a:lnTo>
                  <a:lnTo>
                    <a:pt x="57149" y="24785"/>
                  </a:lnTo>
                  <a:lnTo>
                    <a:pt x="57149" y="89514"/>
                  </a:lnTo>
                  <a:lnTo>
                    <a:pt x="36009" y="113574"/>
                  </a:lnTo>
                  <a:lnTo>
                    <a:pt x="32364" y="114299"/>
                  </a:lnTo>
                  <a:close/>
                </a:path>
              </a:pathLst>
            </a:custGeom>
            <a:solidFill>
              <a:srgbClr val="5B8BA7"/>
            </a:solidFill>
          </p:spPr>
          <p:txBody>
            <a:bodyPr wrap="square" lIns="0" tIns="0" rIns="0" bIns="0" rtlCol="0"/>
            <a:lstStyle/>
            <a:p/>
          </p:txBody>
        </p:sp>
        <p:sp>
          <p:nvSpPr>
            <p:cNvPr id="7" name="object 7"/>
            <p:cNvSpPr/>
            <p:nvPr/>
          </p:nvSpPr>
          <p:spPr>
            <a:xfrm>
              <a:off x="661987" y="3538537"/>
              <a:ext cx="6076950" cy="504825"/>
            </a:xfrm>
            <a:custGeom>
              <a:avLst/>
              <a:gdLst/>
              <a:ahLst/>
              <a:cxnLst/>
              <a:rect l="l" t="t" r="r" b="b"/>
              <a:pathLst>
                <a:path w="6076950" h="504825">
                  <a:moveTo>
                    <a:pt x="6048032" y="504824"/>
                  </a:moveTo>
                  <a:lnTo>
                    <a:pt x="28916" y="504824"/>
                  </a:lnTo>
                  <a:lnTo>
                    <a:pt x="24664" y="503978"/>
                  </a:lnTo>
                  <a:lnTo>
                    <a:pt x="0" y="475908"/>
                  </a:lnTo>
                  <a:lnTo>
                    <a:pt x="0" y="471487"/>
                  </a:lnTo>
                  <a:lnTo>
                    <a:pt x="0" y="28916"/>
                  </a:lnTo>
                  <a:lnTo>
                    <a:pt x="28916" y="0"/>
                  </a:lnTo>
                  <a:lnTo>
                    <a:pt x="6048032" y="0"/>
                  </a:lnTo>
                  <a:lnTo>
                    <a:pt x="6076948" y="28916"/>
                  </a:lnTo>
                  <a:lnTo>
                    <a:pt x="6076948" y="475908"/>
                  </a:lnTo>
                  <a:lnTo>
                    <a:pt x="6052284" y="503978"/>
                  </a:lnTo>
                  <a:lnTo>
                    <a:pt x="6048032" y="504824"/>
                  </a:lnTo>
                  <a:close/>
                </a:path>
              </a:pathLst>
            </a:custGeom>
            <a:solidFill>
              <a:srgbClr val="FAFAFA"/>
            </a:solidFill>
          </p:spPr>
          <p:txBody>
            <a:bodyPr wrap="square" lIns="0" tIns="0" rIns="0" bIns="0" rtlCol="0"/>
            <a:lstStyle/>
            <a:p/>
          </p:txBody>
        </p:sp>
        <p:sp>
          <p:nvSpPr>
            <p:cNvPr id="8" name="object 8"/>
            <p:cNvSpPr/>
            <p:nvPr/>
          </p:nvSpPr>
          <p:spPr>
            <a:xfrm>
              <a:off x="661987" y="3538537"/>
              <a:ext cx="6076950" cy="504825"/>
            </a:xfrm>
            <a:custGeom>
              <a:avLst/>
              <a:gdLst/>
              <a:ahLst/>
              <a:cxnLst/>
              <a:rect l="l" t="t" r="r" b="b"/>
              <a:pathLst>
                <a:path w="6076950" h="504825">
                  <a:moveTo>
                    <a:pt x="0" y="471487"/>
                  </a:moveTo>
                  <a:lnTo>
                    <a:pt x="0" y="33337"/>
                  </a:lnTo>
                  <a:lnTo>
                    <a:pt x="0" y="28916"/>
                  </a:lnTo>
                  <a:lnTo>
                    <a:pt x="845" y="24663"/>
                  </a:lnTo>
                  <a:lnTo>
                    <a:pt x="2537" y="20579"/>
                  </a:lnTo>
                  <a:lnTo>
                    <a:pt x="4229" y="16495"/>
                  </a:lnTo>
                  <a:lnTo>
                    <a:pt x="6638" y="12889"/>
                  </a:lnTo>
                  <a:lnTo>
                    <a:pt x="9764" y="9764"/>
                  </a:lnTo>
                  <a:lnTo>
                    <a:pt x="12890" y="6638"/>
                  </a:lnTo>
                  <a:lnTo>
                    <a:pt x="16495" y="4229"/>
                  </a:lnTo>
                  <a:lnTo>
                    <a:pt x="20579" y="2537"/>
                  </a:lnTo>
                  <a:lnTo>
                    <a:pt x="24664" y="845"/>
                  </a:lnTo>
                  <a:lnTo>
                    <a:pt x="28916" y="0"/>
                  </a:lnTo>
                  <a:lnTo>
                    <a:pt x="33337" y="0"/>
                  </a:lnTo>
                  <a:lnTo>
                    <a:pt x="6043612" y="0"/>
                  </a:lnTo>
                  <a:lnTo>
                    <a:pt x="6048032" y="0"/>
                  </a:lnTo>
                  <a:lnTo>
                    <a:pt x="6052284" y="845"/>
                  </a:lnTo>
                  <a:lnTo>
                    <a:pt x="6074410" y="20579"/>
                  </a:lnTo>
                  <a:lnTo>
                    <a:pt x="6076103" y="24663"/>
                  </a:lnTo>
                  <a:lnTo>
                    <a:pt x="6076948" y="28916"/>
                  </a:lnTo>
                  <a:lnTo>
                    <a:pt x="6076949" y="33337"/>
                  </a:lnTo>
                  <a:lnTo>
                    <a:pt x="6076949" y="471487"/>
                  </a:lnTo>
                  <a:lnTo>
                    <a:pt x="6076948" y="475908"/>
                  </a:lnTo>
                  <a:lnTo>
                    <a:pt x="6076103" y="480160"/>
                  </a:lnTo>
                  <a:lnTo>
                    <a:pt x="6074410" y="484244"/>
                  </a:lnTo>
                  <a:lnTo>
                    <a:pt x="6072719" y="488329"/>
                  </a:lnTo>
                  <a:lnTo>
                    <a:pt x="6043612" y="504824"/>
                  </a:lnTo>
                  <a:lnTo>
                    <a:pt x="33337" y="504824"/>
                  </a:lnTo>
                  <a:lnTo>
                    <a:pt x="845" y="480160"/>
                  </a:lnTo>
                  <a:lnTo>
                    <a:pt x="0" y="475908"/>
                  </a:lnTo>
                  <a:lnTo>
                    <a:pt x="0" y="471487"/>
                  </a:lnTo>
                  <a:close/>
                </a:path>
              </a:pathLst>
            </a:custGeom>
            <a:ln w="9524">
              <a:solidFill>
                <a:srgbClr val="F2F4F5"/>
              </a:solidFill>
            </a:ln>
          </p:spPr>
          <p:txBody>
            <a:bodyPr wrap="square" lIns="0" tIns="0" rIns="0" bIns="0" rtlCol="0"/>
            <a:lstStyle/>
            <a:p/>
          </p:txBody>
        </p:sp>
      </p:grpSp>
      <p:pic>
        <p:nvPicPr>
          <p:cNvPr id="9" name="object 9"/>
          <p:cNvPicPr/>
          <p:nvPr/>
        </p:nvPicPr>
        <p:blipFill>
          <a:blip r:embed="rId1" cstate="print"/>
          <a:stretch>
            <a:fillRect/>
          </a:stretch>
        </p:blipFill>
        <p:spPr>
          <a:xfrm>
            <a:off x="457200" y="4400549"/>
            <a:ext cx="6486524" cy="2000249"/>
          </a:xfrm>
          <a:prstGeom prst="rect">
            <a:avLst/>
          </a:prstGeom>
        </p:spPr>
      </p:pic>
      <p:sp>
        <p:nvSpPr>
          <p:cNvPr id="10" name="object 10"/>
          <p:cNvSpPr txBox="1"/>
          <p:nvPr/>
        </p:nvSpPr>
        <p:spPr>
          <a:xfrm>
            <a:off x="777874" y="4587875"/>
            <a:ext cx="1904364" cy="162560"/>
          </a:xfrm>
          <a:prstGeom prst="rect">
            <a:avLst/>
          </a:prstGeom>
        </p:spPr>
        <p:txBody>
          <a:bodyPr vert="horz" wrap="square" lIns="0" tIns="12700" rIns="0" bIns="0" rtlCol="0">
            <a:spAutoFit/>
          </a:bodyPr>
          <a:lstStyle/>
          <a:p>
            <a:pPr marL="12700">
              <a:lnSpc>
                <a:spcPct val="100000"/>
              </a:lnSpc>
              <a:spcBef>
                <a:spcPts val="100"/>
              </a:spcBef>
            </a:pPr>
            <a:r>
              <a:rPr sz="900" spc="50" dirty="0">
                <a:solidFill>
                  <a:srgbClr val="6A7280"/>
                </a:solidFill>
                <a:latin typeface="宋体" panose="02010600030101010101" pitchFamily="2" charset="-122"/>
                <a:cs typeface="宋体" panose="02010600030101010101" pitchFamily="2" charset="-122"/>
              </a:rPr>
              <a:t>消融研究 </a:t>
            </a:r>
            <a:r>
              <a:rPr sz="900" spc="-695" dirty="0">
                <a:solidFill>
                  <a:srgbClr val="6A7280"/>
                </a:solidFill>
                <a:latin typeface="宋体" panose="02010600030101010101" pitchFamily="2" charset="-122"/>
                <a:cs typeface="宋体" panose="02010600030101010101" pitchFamily="2" charset="-122"/>
              </a:rPr>
              <a:t>·</a:t>
            </a:r>
            <a:r>
              <a:rPr sz="900" spc="50" dirty="0">
                <a:solidFill>
                  <a:srgbClr val="6A7280"/>
                </a:solidFill>
                <a:latin typeface="宋体" panose="02010600030101010101" pitchFamily="2" charset="-122"/>
                <a:cs typeface="宋体" panose="02010600030101010101" pitchFamily="2" charset="-122"/>
              </a:rPr>
              <a:t> 双管齐下的绝对必要性</a:t>
            </a:r>
            <a:endParaRPr sz="900">
              <a:latin typeface="宋体" panose="02010600030101010101" pitchFamily="2" charset="-122"/>
              <a:cs typeface="宋体" panose="02010600030101010101" pitchFamily="2" charset="-122"/>
            </a:endParaRPr>
          </a:p>
        </p:txBody>
      </p:sp>
      <p:sp>
        <p:nvSpPr>
          <p:cNvPr id="11" name="object 11"/>
          <p:cNvSpPr txBox="1"/>
          <p:nvPr/>
        </p:nvSpPr>
        <p:spPr>
          <a:xfrm>
            <a:off x="825500" y="5340350"/>
            <a:ext cx="591820" cy="128270"/>
          </a:xfrm>
          <a:prstGeom prst="rect">
            <a:avLst/>
          </a:prstGeom>
        </p:spPr>
        <p:txBody>
          <a:bodyPr vert="horz" wrap="square" lIns="0" tIns="15875" rIns="0" bIns="0" rtlCol="0">
            <a:spAutoFit/>
          </a:bodyPr>
          <a:lstStyle/>
          <a:p>
            <a:pPr marL="12700">
              <a:lnSpc>
                <a:spcPct val="100000"/>
              </a:lnSpc>
              <a:spcBef>
                <a:spcPts val="125"/>
              </a:spcBef>
            </a:pPr>
            <a:r>
              <a:rPr sz="650" b="1" dirty="0">
                <a:solidFill>
                  <a:srgbClr val="EF4444"/>
                </a:solidFill>
                <a:latin typeface="Courier New" panose="02070309020205020404"/>
                <a:cs typeface="Courier New" panose="02070309020205020404"/>
              </a:rPr>
              <a:t>ShifTS</a:t>
            </a:r>
            <a:r>
              <a:rPr sz="650" b="1" spc="65" dirty="0">
                <a:solidFill>
                  <a:srgbClr val="EF4444"/>
                </a:solidFill>
                <a:latin typeface="Courier New" panose="02070309020205020404"/>
                <a:cs typeface="Courier New" panose="02070309020205020404"/>
              </a:rPr>
              <a:t> </a:t>
            </a:r>
            <a:r>
              <a:rPr sz="650" b="1" dirty="0">
                <a:solidFill>
                  <a:srgbClr val="EF4444"/>
                </a:solidFill>
                <a:latin typeface="Courier New" panose="02070309020205020404"/>
                <a:cs typeface="Courier New" panose="02070309020205020404"/>
              </a:rPr>
              <a:t>\</a:t>
            </a:r>
            <a:r>
              <a:rPr sz="650" b="1" spc="70" dirty="0">
                <a:solidFill>
                  <a:srgbClr val="EF4444"/>
                </a:solidFill>
                <a:latin typeface="Courier New" panose="02070309020205020404"/>
                <a:cs typeface="Courier New" panose="02070309020205020404"/>
              </a:rPr>
              <a:t> </a:t>
            </a:r>
            <a:r>
              <a:rPr sz="650" b="1" spc="-25" dirty="0">
                <a:solidFill>
                  <a:srgbClr val="EF4444"/>
                </a:solidFill>
                <a:latin typeface="Courier New" panose="02070309020205020404"/>
                <a:cs typeface="Courier New" panose="02070309020205020404"/>
              </a:rPr>
              <a:t>TS</a:t>
            </a:r>
            <a:endParaRPr sz="650">
              <a:latin typeface="Courier New" panose="02070309020205020404"/>
              <a:cs typeface="Courier New" panose="02070309020205020404"/>
            </a:endParaRPr>
          </a:p>
        </p:txBody>
      </p:sp>
      <p:sp>
        <p:nvSpPr>
          <p:cNvPr id="12" name="object 12"/>
          <p:cNvSpPr txBox="1"/>
          <p:nvPr/>
        </p:nvSpPr>
        <p:spPr>
          <a:xfrm>
            <a:off x="768349" y="5512213"/>
            <a:ext cx="1701800" cy="563245"/>
          </a:xfrm>
          <a:prstGeom prst="rect">
            <a:avLst/>
          </a:prstGeom>
        </p:spPr>
        <p:txBody>
          <a:bodyPr vert="horz" wrap="square" lIns="0" tIns="69215" rIns="0" bIns="0" rtlCol="0">
            <a:spAutoFit/>
          </a:bodyPr>
          <a:lstStyle/>
          <a:p>
            <a:pPr marL="12700">
              <a:lnSpc>
                <a:spcPct val="100000"/>
              </a:lnSpc>
              <a:spcBef>
                <a:spcPts val="545"/>
              </a:spcBef>
            </a:pPr>
            <a:r>
              <a:rPr sz="900" spc="-25" dirty="0">
                <a:solidFill>
                  <a:srgbClr val="1F2937"/>
                </a:solidFill>
                <a:latin typeface="宋体" panose="02010600030101010101" pitchFamily="2" charset="-122"/>
                <a:cs typeface="宋体" panose="02010600030101010101" pitchFamily="2" charset="-122"/>
              </a:rPr>
              <a:t>只解概念漂移</a:t>
            </a:r>
            <a:endParaRPr sz="900">
              <a:latin typeface="宋体" panose="02010600030101010101" pitchFamily="2" charset="-122"/>
              <a:cs typeface="宋体" panose="02010600030101010101" pitchFamily="2" charset="-122"/>
            </a:endParaRPr>
          </a:p>
          <a:p>
            <a:pPr marL="12700" marR="5080">
              <a:lnSpc>
                <a:spcPct val="104000"/>
              </a:lnSpc>
              <a:spcBef>
                <a:spcPts val="450"/>
              </a:spcBef>
            </a:pPr>
            <a:r>
              <a:rPr sz="900" spc="-90" dirty="0">
                <a:solidFill>
                  <a:srgbClr val="6A7280"/>
                </a:solidFill>
                <a:latin typeface="宋体" panose="02010600030101010101" pitchFamily="2" charset="-122"/>
                <a:cs typeface="宋体" panose="02010600030101010101" pitchFamily="2" charset="-122"/>
              </a:rPr>
              <a:t>无法收敛时间周期的基线挪移，方差</a:t>
            </a:r>
            <a:r>
              <a:rPr sz="900" spc="-85" dirty="0">
                <a:solidFill>
                  <a:srgbClr val="6A7280"/>
                </a:solidFill>
                <a:latin typeface="宋体" panose="02010600030101010101" pitchFamily="2" charset="-122"/>
                <a:cs typeface="宋体" panose="02010600030101010101" pitchFamily="2" charset="-122"/>
              </a:rPr>
              <a:t>失控，性能受限。</a:t>
            </a:r>
            <a:endParaRPr sz="900">
              <a:latin typeface="宋体" panose="02010600030101010101" pitchFamily="2" charset="-122"/>
              <a:cs typeface="宋体" panose="02010600030101010101" pitchFamily="2" charset="-122"/>
            </a:endParaRPr>
          </a:p>
        </p:txBody>
      </p:sp>
      <p:sp>
        <p:nvSpPr>
          <p:cNvPr id="13" name="object 13"/>
          <p:cNvSpPr txBox="1"/>
          <p:nvPr/>
        </p:nvSpPr>
        <p:spPr>
          <a:xfrm>
            <a:off x="2891234" y="5340350"/>
            <a:ext cx="591820" cy="128270"/>
          </a:xfrm>
          <a:prstGeom prst="rect">
            <a:avLst/>
          </a:prstGeom>
        </p:spPr>
        <p:txBody>
          <a:bodyPr vert="horz" wrap="square" lIns="0" tIns="15875" rIns="0" bIns="0" rtlCol="0">
            <a:spAutoFit/>
          </a:bodyPr>
          <a:lstStyle/>
          <a:p>
            <a:pPr marL="12700">
              <a:lnSpc>
                <a:spcPct val="100000"/>
              </a:lnSpc>
              <a:spcBef>
                <a:spcPts val="125"/>
              </a:spcBef>
            </a:pPr>
            <a:r>
              <a:rPr sz="650" b="1" dirty="0">
                <a:solidFill>
                  <a:srgbClr val="D97705"/>
                </a:solidFill>
                <a:latin typeface="Courier New" panose="02070309020205020404"/>
                <a:cs typeface="Courier New" panose="02070309020205020404"/>
              </a:rPr>
              <a:t>ShifTS</a:t>
            </a:r>
            <a:r>
              <a:rPr sz="650" b="1" spc="65" dirty="0">
                <a:solidFill>
                  <a:srgbClr val="D97705"/>
                </a:solidFill>
                <a:latin typeface="Courier New" panose="02070309020205020404"/>
                <a:cs typeface="Courier New" panose="02070309020205020404"/>
              </a:rPr>
              <a:t> </a:t>
            </a:r>
            <a:r>
              <a:rPr sz="650" b="1" dirty="0">
                <a:solidFill>
                  <a:srgbClr val="D97705"/>
                </a:solidFill>
                <a:latin typeface="Courier New" panose="02070309020205020404"/>
                <a:cs typeface="Courier New" panose="02070309020205020404"/>
              </a:rPr>
              <a:t>\</a:t>
            </a:r>
            <a:r>
              <a:rPr sz="650" b="1" spc="70" dirty="0">
                <a:solidFill>
                  <a:srgbClr val="D97705"/>
                </a:solidFill>
                <a:latin typeface="Courier New" panose="02070309020205020404"/>
                <a:cs typeface="Courier New" panose="02070309020205020404"/>
              </a:rPr>
              <a:t> </a:t>
            </a:r>
            <a:r>
              <a:rPr sz="650" b="1" spc="-25" dirty="0">
                <a:solidFill>
                  <a:srgbClr val="D97705"/>
                </a:solidFill>
                <a:latin typeface="Courier New" panose="02070309020205020404"/>
                <a:cs typeface="Courier New" panose="02070309020205020404"/>
              </a:rPr>
              <a:t>CD</a:t>
            </a:r>
            <a:endParaRPr sz="650">
              <a:latin typeface="Courier New" panose="02070309020205020404"/>
              <a:cs typeface="Courier New" panose="02070309020205020404"/>
            </a:endParaRPr>
          </a:p>
        </p:txBody>
      </p:sp>
      <p:sp>
        <p:nvSpPr>
          <p:cNvPr id="14" name="object 14"/>
          <p:cNvSpPr txBox="1"/>
          <p:nvPr/>
        </p:nvSpPr>
        <p:spPr>
          <a:xfrm>
            <a:off x="2834084" y="5512213"/>
            <a:ext cx="1701800" cy="563245"/>
          </a:xfrm>
          <a:prstGeom prst="rect">
            <a:avLst/>
          </a:prstGeom>
        </p:spPr>
        <p:txBody>
          <a:bodyPr vert="horz" wrap="square" lIns="0" tIns="69215" rIns="0" bIns="0" rtlCol="0">
            <a:spAutoFit/>
          </a:bodyPr>
          <a:lstStyle/>
          <a:p>
            <a:pPr marL="12700">
              <a:lnSpc>
                <a:spcPct val="100000"/>
              </a:lnSpc>
              <a:spcBef>
                <a:spcPts val="545"/>
              </a:spcBef>
            </a:pPr>
            <a:r>
              <a:rPr sz="900" spc="-25" dirty="0">
                <a:solidFill>
                  <a:srgbClr val="1F2937"/>
                </a:solidFill>
                <a:latin typeface="宋体" panose="02010600030101010101" pitchFamily="2" charset="-122"/>
                <a:cs typeface="宋体" panose="02010600030101010101" pitchFamily="2" charset="-122"/>
              </a:rPr>
              <a:t>只解时间偏移</a:t>
            </a:r>
            <a:endParaRPr sz="900">
              <a:latin typeface="宋体" panose="02010600030101010101" pitchFamily="2" charset="-122"/>
              <a:cs typeface="宋体" panose="02010600030101010101" pitchFamily="2" charset="-122"/>
            </a:endParaRPr>
          </a:p>
          <a:p>
            <a:pPr marL="12700" marR="5080">
              <a:lnSpc>
                <a:spcPct val="104000"/>
              </a:lnSpc>
              <a:spcBef>
                <a:spcPts val="450"/>
              </a:spcBef>
            </a:pPr>
            <a:r>
              <a:rPr sz="900" spc="-90" dirty="0">
                <a:solidFill>
                  <a:srgbClr val="6A7280"/>
                </a:solidFill>
                <a:latin typeface="宋体" panose="02010600030101010101" pitchFamily="2" charset="-122"/>
                <a:cs typeface="宋体" panose="02010600030101010101" pitchFamily="2" charset="-122"/>
              </a:rPr>
              <a:t>依然遭受非平稳突变冲击，主流漂移瓶颈未获根本解决。</a:t>
            </a:r>
            <a:endParaRPr sz="900">
              <a:latin typeface="宋体" panose="02010600030101010101" pitchFamily="2" charset="-122"/>
              <a:cs typeface="宋体" panose="02010600030101010101" pitchFamily="2" charset="-122"/>
            </a:endParaRPr>
          </a:p>
        </p:txBody>
      </p:sp>
      <p:sp>
        <p:nvSpPr>
          <p:cNvPr id="15" name="object 15"/>
          <p:cNvSpPr txBox="1"/>
          <p:nvPr/>
        </p:nvSpPr>
        <p:spPr>
          <a:xfrm>
            <a:off x="4938067" y="5321300"/>
            <a:ext cx="900430" cy="128270"/>
          </a:xfrm>
          <a:prstGeom prst="rect">
            <a:avLst/>
          </a:prstGeom>
        </p:spPr>
        <p:txBody>
          <a:bodyPr vert="horz" wrap="square" lIns="0" tIns="15875" rIns="0" bIns="0" rtlCol="0">
            <a:spAutoFit/>
          </a:bodyPr>
          <a:lstStyle/>
          <a:p>
            <a:pPr marL="12700">
              <a:lnSpc>
                <a:spcPct val="100000"/>
              </a:lnSpc>
              <a:spcBef>
                <a:spcPts val="125"/>
              </a:spcBef>
            </a:pPr>
            <a:r>
              <a:rPr sz="650" b="1" dirty="0">
                <a:solidFill>
                  <a:srgbClr val="FFFFFF"/>
                </a:solidFill>
                <a:latin typeface="Courier New" panose="02070309020205020404"/>
                <a:cs typeface="Courier New" panose="02070309020205020404"/>
              </a:rPr>
              <a:t>ShifTS</a:t>
            </a:r>
            <a:r>
              <a:rPr sz="650" b="1" spc="105" dirty="0">
                <a:solidFill>
                  <a:srgbClr val="FFFFFF"/>
                </a:solidFill>
                <a:latin typeface="Courier New" panose="02070309020205020404"/>
                <a:cs typeface="Courier New" panose="02070309020205020404"/>
              </a:rPr>
              <a:t> </a:t>
            </a:r>
            <a:r>
              <a:rPr sz="650" b="1" spc="-10" dirty="0">
                <a:solidFill>
                  <a:srgbClr val="FFFFFF"/>
                </a:solidFill>
                <a:latin typeface="Courier New" panose="02070309020205020404"/>
                <a:cs typeface="Courier New" panose="02070309020205020404"/>
              </a:rPr>
              <a:t>(Combined)</a:t>
            </a:r>
            <a:endParaRPr sz="650">
              <a:latin typeface="Courier New" panose="02070309020205020404"/>
              <a:cs typeface="Courier New" panose="02070309020205020404"/>
            </a:endParaRPr>
          </a:p>
        </p:txBody>
      </p:sp>
      <p:sp>
        <p:nvSpPr>
          <p:cNvPr id="16" name="object 16"/>
          <p:cNvSpPr txBox="1"/>
          <p:nvPr/>
        </p:nvSpPr>
        <p:spPr>
          <a:xfrm>
            <a:off x="4880917" y="5549900"/>
            <a:ext cx="69977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111726"/>
                </a:solidFill>
                <a:latin typeface="宋体" panose="02010600030101010101" pitchFamily="2" charset="-122"/>
                <a:cs typeface="宋体" panose="02010600030101010101" pitchFamily="2" charset="-122"/>
              </a:rPr>
              <a:t>联合时空建模</a:t>
            </a:r>
            <a:endParaRPr sz="900">
              <a:latin typeface="宋体" panose="02010600030101010101" pitchFamily="2" charset="-122"/>
              <a:cs typeface="宋体" panose="02010600030101010101" pitchFamily="2" charset="-122"/>
            </a:endParaRPr>
          </a:p>
        </p:txBody>
      </p:sp>
      <p:sp>
        <p:nvSpPr>
          <p:cNvPr id="17" name="object 17"/>
          <p:cNvSpPr txBox="1"/>
          <p:nvPr/>
        </p:nvSpPr>
        <p:spPr>
          <a:xfrm>
            <a:off x="4880917" y="5781178"/>
            <a:ext cx="1682750" cy="313690"/>
          </a:xfrm>
          <a:prstGeom prst="rect">
            <a:avLst/>
          </a:prstGeom>
        </p:spPr>
        <p:txBody>
          <a:bodyPr vert="horz" wrap="square" lIns="0" tIns="8255" rIns="0" bIns="0" rtlCol="0">
            <a:spAutoFit/>
          </a:bodyPr>
          <a:lstStyle/>
          <a:p>
            <a:pPr marL="12700" marR="5080">
              <a:lnSpc>
                <a:spcPct val="103000"/>
              </a:lnSpc>
              <a:spcBef>
                <a:spcPts val="65"/>
              </a:spcBef>
            </a:pPr>
            <a:r>
              <a:rPr sz="950" spc="55" dirty="0">
                <a:solidFill>
                  <a:srgbClr val="374050"/>
                </a:solidFill>
                <a:latin typeface="Microsoft Sans Serif" panose="020B0604020202020204"/>
                <a:cs typeface="Microsoft Sans Serif" panose="020B0604020202020204"/>
              </a:rPr>
              <a:t>“</a:t>
            </a:r>
            <a:r>
              <a:rPr sz="900" spc="-90" dirty="0">
                <a:solidFill>
                  <a:srgbClr val="374050"/>
                </a:solidFill>
                <a:latin typeface="宋体" panose="02010600030101010101" pitchFamily="2" charset="-122"/>
                <a:cs typeface="宋体" panose="02010600030101010101" pitchFamily="2" charset="-122"/>
              </a:rPr>
              <a:t>消除边界扰动</a:t>
            </a:r>
            <a:r>
              <a:rPr sz="950" spc="60" dirty="0">
                <a:solidFill>
                  <a:srgbClr val="374050"/>
                </a:solidFill>
                <a:latin typeface="Microsoft Sans Serif" panose="020B0604020202020204"/>
                <a:cs typeface="Microsoft Sans Serif" panose="020B0604020202020204"/>
              </a:rPr>
              <a:t>”</a:t>
            </a:r>
            <a:r>
              <a:rPr sz="900" spc="-90" dirty="0">
                <a:solidFill>
                  <a:srgbClr val="374050"/>
                </a:solidFill>
                <a:latin typeface="宋体" panose="02010600030101010101" pitchFamily="2" charset="-122"/>
                <a:cs typeface="宋体" panose="02010600030101010101" pitchFamily="2" charset="-122"/>
              </a:rPr>
              <a:t>与</a:t>
            </a:r>
            <a:r>
              <a:rPr sz="950" spc="55" dirty="0">
                <a:solidFill>
                  <a:srgbClr val="374050"/>
                </a:solidFill>
                <a:latin typeface="Microsoft Sans Serif" panose="020B0604020202020204"/>
                <a:cs typeface="Microsoft Sans Serif" panose="020B0604020202020204"/>
              </a:rPr>
              <a:t>“</a:t>
            </a:r>
            <a:r>
              <a:rPr sz="900" spc="-90" dirty="0">
                <a:solidFill>
                  <a:srgbClr val="374050"/>
                </a:solidFill>
                <a:latin typeface="宋体" panose="02010600030101010101" pitchFamily="2" charset="-122"/>
                <a:cs typeface="宋体" panose="02010600030101010101" pitchFamily="2" charset="-122"/>
              </a:rPr>
              <a:t>捕捉条件恒定</a:t>
            </a:r>
            <a:r>
              <a:rPr sz="950" spc="60" dirty="0">
                <a:solidFill>
                  <a:srgbClr val="374050"/>
                </a:solidFill>
                <a:latin typeface="Microsoft Sans Serif" panose="020B0604020202020204"/>
                <a:cs typeface="Microsoft Sans Serif" panose="020B0604020202020204"/>
              </a:rPr>
              <a:t>”</a:t>
            </a:r>
            <a:r>
              <a:rPr sz="900" spc="-50" dirty="0">
                <a:solidFill>
                  <a:srgbClr val="374050"/>
                </a:solidFill>
                <a:latin typeface="宋体" panose="02010600030101010101" pitchFamily="2" charset="-122"/>
                <a:cs typeface="宋体" panose="02010600030101010101" pitchFamily="2" charset="-122"/>
              </a:rPr>
              <a:t>强</a:t>
            </a:r>
            <a:r>
              <a:rPr sz="900" spc="-90" dirty="0">
                <a:solidFill>
                  <a:srgbClr val="374050"/>
                </a:solidFill>
                <a:latin typeface="宋体" panose="02010600030101010101" pitchFamily="2" charset="-122"/>
                <a:cs typeface="宋体" panose="02010600030101010101" pitchFamily="2" charset="-122"/>
              </a:rPr>
              <a:t>逻辑合流，实现全局最优。</a:t>
            </a:r>
            <a:endParaRPr sz="900">
              <a:latin typeface="宋体" panose="02010600030101010101" pitchFamily="2" charset="-122"/>
              <a:cs typeface="宋体" panose="02010600030101010101" pitchFamily="2" charset="-122"/>
            </a:endParaRPr>
          </a:p>
        </p:txBody>
      </p:sp>
      <p:sp>
        <p:nvSpPr>
          <p:cNvPr id="18" name="object 18"/>
          <p:cNvSpPr txBox="1"/>
          <p:nvPr/>
        </p:nvSpPr>
        <p:spPr>
          <a:xfrm>
            <a:off x="619124" y="1364439"/>
            <a:ext cx="6065520" cy="726440"/>
          </a:xfrm>
          <a:prstGeom prst="rect">
            <a:avLst/>
          </a:prstGeom>
        </p:spPr>
        <p:txBody>
          <a:bodyPr vert="horz" wrap="square" lIns="0" tIns="83185" rIns="0" bIns="0" rtlCol="0">
            <a:spAutoFit/>
          </a:bodyPr>
          <a:lstStyle/>
          <a:p>
            <a:pPr marL="170815">
              <a:lnSpc>
                <a:spcPct val="100000"/>
              </a:lnSpc>
              <a:spcBef>
                <a:spcPts val="655"/>
              </a:spcBef>
            </a:pPr>
            <a:r>
              <a:rPr sz="900" spc="50" dirty="0">
                <a:solidFill>
                  <a:srgbClr val="5B8BA7"/>
                </a:solidFill>
                <a:latin typeface="宋体" panose="02010600030101010101" pitchFamily="2" charset="-122"/>
                <a:cs typeface="宋体" panose="02010600030101010101" pitchFamily="2" charset="-122"/>
              </a:rPr>
              <a:t>原理追溯 </a:t>
            </a:r>
            <a:r>
              <a:rPr sz="900" spc="-695" dirty="0">
                <a:solidFill>
                  <a:srgbClr val="5B8BA7"/>
                </a:solidFill>
                <a:latin typeface="宋体" panose="02010600030101010101" pitchFamily="2" charset="-122"/>
                <a:cs typeface="宋体" panose="02010600030101010101" pitchFamily="2" charset="-122"/>
              </a:rPr>
              <a:t>·</a:t>
            </a:r>
            <a:r>
              <a:rPr sz="900" spc="50" dirty="0">
                <a:solidFill>
                  <a:srgbClr val="5B8BA7"/>
                </a:solidFill>
                <a:latin typeface="宋体" panose="02010600030101010101" pitchFamily="2" charset="-122"/>
                <a:cs typeface="宋体" panose="02010600030101010101" pitchFamily="2" charset="-122"/>
              </a:rPr>
              <a:t> 互信息正相关效应</a:t>
            </a:r>
            <a:endParaRPr sz="900">
              <a:latin typeface="宋体" panose="02010600030101010101" pitchFamily="2" charset="-122"/>
              <a:cs typeface="宋体" panose="02010600030101010101" pitchFamily="2" charset="-122"/>
            </a:endParaRPr>
          </a:p>
          <a:p>
            <a:pPr marL="38100" marR="30480">
              <a:lnSpc>
                <a:spcPct val="125000"/>
              </a:lnSpc>
              <a:spcBef>
                <a:spcPts val="425"/>
              </a:spcBef>
            </a:pPr>
            <a:r>
              <a:rPr sz="1150" spc="-100" dirty="0">
                <a:solidFill>
                  <a:srgbClr val="374050"/>
                </a:solidFill>
                <a:latin typeface="宋体" panose="02010600030101010101" pitchFamily="2" charset="-122"/>
                <a:cs typeface="宋体" panose="02010600030101010101" pitchFamily="2" charset="-122"/>
              </a:rPr>
              <a:t>通过分析隐空间的极限表征映射，实证互信息 </a:t>
            </a:r>
            <a:r>
              <a:rPr sz="1050" i="1" spc="110" dirty="0">
                <a:solidFill>
                  <a:srgbClr val="1A1A1A"/>
                </a:solidFill>
                <a:latin typeface="Calibri" panose="020F0502020204030204"/>
                <a:cs typeface="Calibri" panose="020F0502020204030204"/>
              </a:rPr>
              <a:t>I</a:t>
            </a:r>
            <a:r>
              <a:rPr sz="1050" spc="110" dirty="0">
                <a:solidFill>
                  <a:srgbClr val="1A1A1A"/>
                </a:solidFill>
                <a:latin typeface="Cambria" panose="02040503050406030204"/>
                <a:cs typeface="Cambria" panose="02040503050406030204"/>
              </a:rPr>
              <a:t>(</a:t>
            </a:r>
            <a:r>
              <a:rPr sz="1050" b="1" spc="110" dirty="0">
                <a:solidFill>
                  <a:srgbClr val="1A1A1A"/>
                </a:solidFill>
                <a:latin typeface="Georgia" panose="02040502050405020303"/>
                <a:cs typeface="Georgia" panose="02040502050405020303"/>
              </a:rPr>
              <a:t>X</a:t>
            </a:r>
            <a:r>
              <a:rPr sz="1050" i="1" spc="165" baseline="28000" dirty="0">
                <a:solidFill>
                  <a:srgbClr val="1A1A1A"/>
                </a:solidFill>
                <a:latin typeface="Calibri" panose="020F0502020204030204"/>
                <a:cs typeface="Calibri" panose="020F0502020204030204"/>
              </a:rPr>
              <a:t>H</a:t>
            </a:r>
            <a:r>
              <a:rPr sz="1050" i="1" spc="-82" baseline="28000" dirty="0">
                <a:solidFill>
                  <a:srgbClr val="1A1A1A"/>
                </a:solidFill>
                <a:latin typeface="Calibri" panose="020F0502020204030204"/>
                <a:cs typeface="Calibri" panose="020F0502020204030204"/>
              </a:rPr>
              <a:t> </a:t>
            </a:r>
            <a:r>
              <a:rPr sz="1050" spc="-20" dirty="0">
                <a:solidFill>
                  <a:srgbClr val="1A1A1A"/>
                </a:solidFill>
                <a:latin typeface="Cambria" panose="02040503050406030204"/>
                <a:cs typeface="Cambria" panose="02040503050406030204"/>
              </a:rPr>
              <a:t>; </a:t>
            </a:r>
            <a:r>
              <a:rPr sz="1050" b="1" spc="165" dirty="0">
                <a:solidFill>
                  <a:srgbClr val="1A1A1A"/>
                </a:solidFill>
                <a:latin typeface="Georgia" panose="02040502050405020303"/>
                <a:cs typeface="Georgia" panose="02040502050405020303"/>
              </a:rPr>
              <a:t>Y</a:t>
            </a:r>
            <a:r>
              <a:rPr sz="1050" i="1" spc="247" baseline="28000" dirty="0">
                <a:solidFill>
                  <a:srgbClr val="1A1A1A"/>
                </a:solidFill>
                <a:latin typeface="Calibri" panose="020F0502020204030204"/>
                <a:cs typeface="Calibri" panose="020F0502020204030204"/>
              </a:rPr>
              <a:t>H</a:t>
            </a:r>
            <a:r>
              <a:rPr sz="1050" i="1" spc="-82" baseline="28000" dirty="0">
                <a:solidFill>
                  <a:srgbClr val="1A1A1A"/>
                </a:solidFill>
                <a:latin typeface="Calibri" panose="020F0502020204030204"/>
                <a:cs typeface="Calibri" panose="020F0502020204030204"/>
              </a:rPr>
              <a:t> </a:t>
            </a:r>
            <a:r>
              <a:rPr sz="1050" spc="180" dirty="0">
                <a:solidFill>
                  <a:srgbClr val="1A1A1A"/>
                </a:solidFill>
                <a:latin typeface="Cambria" panose="02040503050406030204"/>
                <a:cs typeface="Cambria" panose="02040503050406030204"/>
              </a:rPr>
              <a:t>) </a:t>
            </a:r>
            <a:r>
              <a:rPr sz="1150" spc="-110" dirty="0">
                <a:solidFill>
                  <a:srgbClr val="374050"/>
                </a:solidFill>
                <a:latin typeface="宋体" panose="02010600030101010101" pitchFamily="2" charset="-122"/>
                <a:cs typeface="宋体" panose="02010600030101010101" pitchFamily="2" charset="-122"/>
              </a:rPr>
              <a:t>的正向增益链条。前向信息吞吐增量越强，对深层概念漂移的阻绝和修复性增益就越发显著：</a:t>
            </a:r>
            <a:endParaRPr sz="1150">
              <a:latin typeface="宋体" panose="02010600030101010101" pitchFamily="2" charset="-122"/>
              <a:cs typeface="宋体" panose="02010600030101010101" pitchFamily="2" charset="-122"/>
            </a:endParaRPr>
          </a:p>
        </p:txBody>
      </p:sp>
      <p:sp>
        <p:nvSpPr>
          <p:cNvPr id="19" name="object 19"/>
          <p:cNvSpPr txBox="1"/>
          <p:nvPr/>
        </p:nvSpPr>
        <p:spPr>
          <a:xfrm>
            <a:off x="2260252" y="2603327"/>
            <a:ext cx="2106930" cy="441959"/>
          </a:xfrm>
          <a:prstGeom prst="rect">
            <a:avLst/>
          </a:prstGeom>
        </p:spPr>
        <p:txBody>
          <a:bodyPr vert="horz" wrap="square" lIns="0" tIns="66675" rIns="0" bIns="0" rtlCol="0">
            <a:spAutoFit/>
          </a:bodyPr>
          <a:lstStyle/>
          <a:p>
            <a:pPr marL="38100">
              <a:lnSpc>
                <a:spcPct val="100000"/>
              </a:lnSpc>
              <a:spcBef>
                <a:spcPts val="525"/>
              </a:spcBef>
            </a:pPr>
            <a:r>
              <a:rPr sz="1250" i="1" spc="165" dirty="0">
                <a:solidFill>
                  <a:srgbClr val="1A1A1A"/>
                </a:solidFill>
                <a:latin typeface="Calibri" panose="020F0502020204030204"/>
                <a:cs typeface="Calibri" panose="020F0502020204030204"/>
              </a:rPr>
              <a:t>I</a:t>
            </a:r>
            <a:r>
              <a:rPr sz="1250" spc="165" dirty="0">
                <a:solidFill>
                  <a:srgbClr val="1A1A1A"/>
                </a:solidFill>
                <a:latin typeface="Cambria" panose="02040503050406030204"/>
                <a:cs typeface="Cambria" panose="02040503050406030204"/>
              </a:rPr>
              <a:t>(</a:t>
            </a:r>
            <a:r>
              <a:rPr sz="1250" b="1" spc="165" dirty="0">
                <a:solidFill>
                  <a:srgbClr val="1A1A1A"/>
                </a:solidFill>
                <a:latin typeface="Georgia" panose="02040502050405020303"/>
                <a:cs typeface="Georgia" panose="02040502050405020303"/>
              </a:rPr>
              <a:t>X</a:t>
            </a:r>
            <a:r>
              <a:rPr sz="1275" i="1" spc="247" baseline="33000" dirty="0">
                <a:solidFill>
                  <a:srgbClr val="1A1A1A"/>
                </a:solidFill>
                <a:latin typeface="Calibri" panose="020F0502020204030204"/>
                <a:cs typeface="Calibri" panose="020F0502020204030204"/>
              </a:rPr>
              <a:t>H</a:t>
            </a:r>
            <a:r>
              <a:rPr sz="1275" i="1" spc="-52" baseline="33000" dirty="0">
                <a:solidFill>
                  <a:srgbClr val="1A1A1A"/>
                </a:solidFill>
                <a:latin typeface="Calibri" panose="020F0502020204030204"/>
                <a:cs typeface="Calibri" panose="020F0502020204030204"/>
              </a:rPr>
              <a:t> </a:t>
            </a:r>
            <a:r>
              <a:rPr sz="1250" dirty="0">
                <a:solidFill>
                  <a:srgbClr val="1A1A1A"/>
                </a:solidFill>
                <a:latin typeface="Cambria" panose="02040503050406030204"/>
                <a:cs typeface="Cambria" panose="02040503050406030204"/>
              </a:rPr>
              <a:t>;</a:t>
            </a:r>
            <a:r>
              <a:rPr sz="1250" spc="-30" dirty="0">
                <a:solidFill>
                  <a:srgbClr val="1A1A1A"/>
                </a:solidFill>
                <a:latin typeface="Cambria" panose="02040503050406030204"/>
                <a:cs typeface="Cambria" panose="02040503050406030204"/>
              </a:rPr>
              <a:t> </a:t>
            </a:r>
            <a:r>
              <a:rPr sz="1250" b="1" spc="220" dirty="0">
                <a:solidFill>
                  <a:srgbClr val="1A1A1A"/>
                </a:solidFill>
                <a:latin typeface="Georgia" panose="02040502050405020303"/>
                <a:cs typeface="Georgia" panose="02040502050405020303"/>
              </a:rPr>
              <a:t>Y</a:t>
            </a:r>
            <a:r>
              <a:rPr sz="1275" i="1" spc="330" baseline="33000" dirty="0">
                <a:solidFill>
                  <a:srgbClr val="1A1A1A"/>
                </a:solidFill>
                <a:latin typeface="Calibri" panose="020F0502020204030204"/>
                <a:cs typeface="Calibri" panose="020F0502020204030204"/>
              </a:rPr>
              <a:t>H</a:t>
            </a:r>
            <a:r>
              <a:rPr sz="1275" i="1" spc="-52" baseline="33000" dirty="0">
                <a:solidFill>
                  <a:srgbClr val="1A1A1A"/>
                </a:solidFill>
                <a:latin typeface="Calibri" panose="020F0502020204030204"/>
                <a:cs typeface="Calibri" panose="020F0502020204030204"/>
              </a:rPr>
              <a:t> </a:t>
            </a:r>
            <a:r>
              <a:rPr sz="1250" dirty="0">
                <a:solidFill>
                  <a:srgbClr val="1A1A1A"/>
                </a:solidFill>
                <a:latin typeface="Cambria" panose="02040503050406030204"/>
                <a:cs typeface="Cambria" panose="02040503050406030204"/>
              </a:rPr>
              <a:t>)</a:t>
            </a:r>
            <a:r>
              <a:rPr sz="1250" spc="135" dirty="0">
                <a:solidFill>
                  <a:srgbClr val="1A1A1A"/>
                </a:solidFill>
                <a:latin typeface="Cambria" panose="02040503050406030204"/>
                <a:cs typeface="Cambria" panose="02040503050406030204"/>
              </a:rPr>
              <a:t> </a:t>
            </a:r>
            <a:r>
              <a:rPr sz="1250" spc="285" dirty="0">
                <a:solidFill>
                  <a:srgbClr val="1A1A1A"/>
                </a:solidFill>
                <a:latin typeface="Cambria" panose="02040503050406030204"/>
                <a:cs typeface="Cambria" panose="02040503050406030204"/>
              </a:rPr>
              <a:t>=</a:t>
            </a:r>
            <a:r>
              <a:rPr sz="1250" spc="90" dirty="0">
                <a:solidFill>
                  <a:srgbClr val="1A1A1A"/>
                </a:solidFill>
                <a:latin typeface="Cambria" panose="02040503050406030204"/>
                <a:cs typeface="Cambria" panose="02040503050406030204"/>
              </a:rPr>
              <a:t> </a:t>
            </a:r>
            <a:r>
              <a:rPr sz="1250" spc="919" dirty="0">
                <a:solidFill>
                  <a:srgbClr val="1A1A1A"/>
                </a:solidFill>
                <a:latin typeface="Arial" panose="020B0604020202020204"/>
                <a:cs typeface="Arial" panose="020B0604020202020204"/>
              </a:rPr>
              <a:t>∑</a:t>
            </a:r>
            <a:r>
              <a:rPr sz="1250" spc="-65" dirty="0">
                <a:solidFill>
                  <a:srgbClr val="1A1A1A"/>
                </a:solidFill>
                <a:latin typeface="Arial" panose="020B0604020202020204"/>
                <a:cs typeface="Arial" panose="020B0604020202020204"/>
              </a:rPr>
              <a:t> </a:t>
            </a:r>
            <a:r>
              <a:rPr sz="1250" i="1" spc="155" dirty="0">
                <a:solidFill>
                  <a:srgbClr val="1A1A1A"/>
                </a:solidFill>
                <a:latin typeface="Calibri" panose="020F0502020204030204"/>
                <a:cs typeface="Calibri" panose="020F0502020204030204"/>
              </a:rPr>
              <a:t>P</a:t>
            </a:r>
            <a:r>
              <a:rPr sz="1250" i="1" spc="-80" dirty="0">
                <a:solidFill>
                  <a:srgbClr val="1A1A1A"/>
                </a:solidFill>
                <a:latin typeface="Calibri" panose="020F0502020204030204"/>
                <a:cs typeface="Calibri" panose="020F0502020204030204"/>
              </a:rPr>
              <a:t> </a:t>
            </a:r>
            <a:r>
              <a:rPr sz="1250" spc="110" dirty="0">
                <a:solidFill>
                  <a:srgbClr val="1A1A1A"/>
                </a:solidFill>
                <a:latin typeface="Cambria" panose="02040503050406030204"/>
                <a:cs typeface="Cambria" panose="02040503050406030204"/>
              </a:rPr>
              <a:t>(</a:t>
            </a:r>
            <a:r>
              <a:rPr sz="1250" i="1" spc="110" dirty="0">
                <a:solidFill>
                  <a:srgbClr val="1A1A1A"/>
                </a:solidFill>
                <a:latin typeface="Calibri" panose="020F0502020204030204"/>
                <a:cs typeface="Calibri" panose="020F0502020204030204"/>
              </a:rPr>
              <a:t>x</a:t>
            </a:r>
            <a:r>
              <a:rPr sz="1250" spc="110" dirty="0">
                <a:solidFill>
                  <a:srgbClr val="1A1A1A"/>
                </a:solidFill>
                <a:latin typeface="Cambria" panose="02040503050406030204"/>
                <a:cs typeface="Cambria" panose="02040503050406030204"/>
              </a:rPr>
              <a:t>,</a:t>
            </a:r>
            <a:r>
              <a:rPr sz="1250" spc="-30" dirty="0">
                <a:solidFill>
                  <a:srgbClr val="1A1A1A"/>
                </a:solidFill>
                <a:latin typeface="Cambria" panose="02040503050406030204"/>
                <a:cs typeface="Cambria" panose="02040503050406030204"/>
              </a:rPr>
              <a:t> </a:t>
            </a:r>
            <a:r>
              <a:rPr sz="1250" i="1" dirty="0">
                <a:solidFill>
                  <a:srgbClr val="1A1A1A"/>
                </a:solidFill>
                <a:latin typeface="Calibri" panose="020F0502020204030204"/>
                <a:cs typeface="Calibri" panose="020F0502020204030204"/>
              </a:rPr>
              <a:t>y</a:t>
            </a:r>
            <a:r>
              <a:rPr sz="1250" dirty="0">
                <a:solidFill>
                  <a:srgbClr val="1A1A1A"/>
                </a:solidFill>
                <a:latin typeface="Cambria" panose="02040503050406030204"/>
                <a:cs typeface="Cambria" panose="02040503050406030204"/>
              </a:rPr>
              <a:t>)</a:t>
            </a:r>
            <a:r>
              <a:rPr sz="1250" spc="-15" dirty="0">
                <a:solidFill>
                  <a:srgbClr val="1A1A1A"/>
                </a:solidFill>
                <a:latin typeface="Cambria" panose="02040503050406030204"/>
                <a:cs typeface="Cambria" panose="02040503050406030204"/>
              </a:rPr>
              <a:t> </a:t>
            </a:r>
            <a:r>
              <a:rPr sz="1250" spc="-25" dirty="0">
                <a:solidFill>
                  <a:srgbClr val="1A1A1A"/>
                </a:solidFill>
                <a:latin typeface="Cambria" panose="02040503050406030204"/>
                <a:cs typeface="Cambria" panose="02040503050406030204"/>
              </a:rPr>
              <a:t>log</a:t>
            </a:r>
            <a:endParaRPr sz="1250">
              <a:latin typeface="Cambria" panose="02040503050406030204"/>
              <a:cs typeface="Cambria" panose="02040503050406030204"/>
            </a:endParaRPr>
          </a:p>
          <a:p>
            <a:pPr marL="228600" algn="ctr">
              <a:lnSpc>
                <a:spcPct val="100000"/>
              </a:lnSpc>
              <a:spcBef>
                <a:spcPts val="325"/>
              </a:spcBef>
            </a:pPr>
            <a:r>
              <a:rPr sz="850" i="1" spc="60" dirty="0">
                <a:solidFill>
                  <a:srgbClr val="1A1A1A"/>
                </a:solidFill>
                <a:latin typeface="Calibri" panose="020F0502020204030204"/>
                <a:cs typeface="Calibri" panose="020F0502020204030204"/>
              </a:rPr>
              <a:t>x</a:t>
            </a:r>
            <a:r>
              <a:rPr sz="850" spc="60" dirty="0">
                <a:solidFill>
                  <a:srgbClr val="1A1A1A"/>
                </a:solidFill>
                <a:latin typeface="Cambria" panose="02040503050406030204"/>
                <a:cs typeface="Cambria" panose="02040503050406030204"/>
              </a:rPr>
              <a:t>,</a:t>
            </a:r>
            <a:r>
              <a:rPr sz="850" i="1" spc="60" dirty="0">
                <a:solidFill>
                  <a:srgbClr val="1A1A1A"/>
                </a:solidFill>
                <a:latin typeface="Calibri" panose="020F0502020204030204"/>
                <a:cs typeface="Calibri" panose="020F0502020204030204"/>
              </a:rPr>
              <a:t>y</a:t>
            </a:r>
            <a:endParaRPr sz="850">
              <a:latin typeface="Calibri" panose="020F0502020204030204"/>
              <a:cs typeface="Calibri" panose="020F0502020204030204"/>
            </a:endParaRPr>
          </a:p>
        </p:txBody>
      </p:sp>
      <p:sp>
        <p:nvSpPr>
          <p:cNvPr id="20" name="object 20"/>
          <p:cNvSpPr txBox="1"/>
          <p:nvPr/>
        </p:nvSpPr>
        <p:spPr>
          <a:xfrm>
            <a:off x="4369692" y="2761075"/>
            <a:ext cx="718820" cy="217804"/>
          </a:xfrm>
          <a:prstGeom prst="rect">
            <a:avLst/>
          </a:prstGeom>
        </p:spPr>
        <p:txBody>
          <a:bodyPr vert="horz" wrap="square" lIns="0" tIns="13970" rIns="0" bIns="0" rtlCol="0">
            <a:spAutoFit/>
          </a:bodyPr>
          <a:lstStyle/>
          <a:p>
            <a:pPr marL="12700">
              <a:lnSpc>
                <a:spcPct val="100000"/>
              </a:lnSpc>
              <a:spcBef>
                <a:spcPts val="110"/>
              </a:spcBef>
            </a:pPr>
            <a:r>
              <a:rPr sz="1250" i="1" spc="155" dirty="0">
                <a:solidFill>
                  <a:srgbClr val="1A1A1A"/>
                </a:solidFill>
                <a:latin typeface="Calibri" panose="020F0502020204030204"/>
                <a:cs typeface="Calibri" panose="020F0502020204030204"/>
              </a:rPr>
              <a:t>P</a:t>
            </a:r>
            <a:r>
              <a:rPr sz="1250" i="1" spc="-95" dirty="0">
                <a:solidFill>
                  <a:srgbClr val="1A1A1A"/>
                </a:solidFill>
                <a:latin typeface="Calibri" panose="020F0502020204030204"/>
                <a:cs typeface="Calibri" panose="020F0502020204030204"/>
              </a:rPr>
              <a:t> </a:t>
            </a:r>
            <a:r>
              <a:rPr sz="1250" spc="114" dirty="0">
                <a:solidFill>
                  <a:srgbClr val="1A1A1A"/>
                </a:solidFill>
                <a:latin typeface="Cambria" panose="02040503050406030204"/>
                <a:cs typeface="Cambria" panose="02040503050406030204"/>
              </a:rPr>
              <a:t>(</a:t>
            </a:r>
            <a:r>
              <a:rPr sz="1250" i="1" spc="114" dirty="0">
                <a:solidFill>
                  <a:srgbClr val="1A1A1A"/>
                </a:solidFill>
                <a:latin typeface="Calibri" panose="020F0502020204030204"/>
                <a:cs typeface="Calibri" panose="020F0502020204030204"/>
              </a:rPr>
              <a:t>x</a:t>
            </a:r>
            <a:r>
              <a:rPr sz="1250" spc="114" dirty="0">
                <a:solidFill>
                  <a:srgbClr val="1A1A1A"/>
                </a:solidFill>
                <a:latin typeface="Cambria" panose="02040503050406030204"/>
                <a:cs typeface="Cambria" panose="02040503050406030204"/>
              </a:rPr>
              <a:t>)</a:t>
            </a:r>
            <a:r>
              <a:rPr sz="1250" i="1" spc="114" dirty="0">
                <a:solidFill>
                  <a:srgbClr val="1A1A1A"/>
                </a:solidFill>
                <a:latin typeface="Calibri" panose="020F0502020204030204"/>
                <a:cs typeface="Calibri" panose="020F0502020204030204"/>
              </a:rPr>
              <a:t>P</a:t>
            </a:r>
            <a:r>
              <a:rPr sz="1250" i="1" spc="-95" dirty="0">
                <a:solidFill>
                  <a:srgbClr val="1A1A1A"/>
                </a:solidFill>
                <a:latin typeface="Calibri" panose="020F0502020204030204"/>
                <a:cs typeface="Calibri" panose="020F0502020204030204"/>
              </a:rPr>
              <a:t> </a:t>
            </a:r>
            <a:r>
              <a:rPr sz="1250" spc="-25" dirty="0">
                <a:solidFill>
                  <a:srgbClr val="1A1A1A"/>
                </a:solidFill>
                <a:latin typeface="Cambria" panose="02040503050406030204"/>
                <a:cs typeface="Cambria" panose="02040503050406030204"/>
              </a:rPr>
              <a:t>(</a:t>
            </a:r>
            <a:r>
              <a:rPr sz="1250" i="1" spc="-25" dirty="0">
                <a:solidFill>
                  <a:srgbClr val="1A1A1A"/>
                </a:solidFill>
                <a:latin typeface="Calibri" panose="020F0502020204030204"/>
                <a:cs typeface="Calibri" panose="020F0502020204030204"/>
              </a:rPr>
              <a:t>y</a:t>
            </a:r>
            <a:r>
              <a:rPr sz="1250" spc="-25" dirty="0">
                <a:solidFill>
                  <a:srgbClr val="1A1A1A"/>
                </a:solidFill>
                <a:latin typeface="Cambria" panose="02040503050406030204"/>
                <a:cs typeface="Cambria" panose="02040503050406030204"/>
              </a:rPr>
              <a:t>)</a:t>
            </a:r>
            <a:endParaRPr sz="1250">
              <a:latin typeface="Cambria" panose="02040503050406030204"/>
              <a:cs typeface="Cambria" panose="02040503050406030204"/>
            </a:endParaRPr>
          </a:p>
        </p:txBody>
      </p:sp>
      <p:sp>
        <p:nvSpPr>
          <p:cNvPr id="21" name="object 21"/>
          <p:cNvSpPr/>
          <p:nvPr/>
        </p:nvSpPr>
        <p:spPr>
          <a:xfrm>
            <a:off x="4381499" y="2781299"/>
            <a:ext cx="695325" cy="9525"/>
          </a:xfrm>
          <a:custGeom>
            <a:avLst/>
            <a:gdLst/>
            <a:ahLst/>
            <a:cxnLst/>
            <a:rect l="l" t="t" r="r" b="b"/>
            <a:pathLst>
              <a:path w="695325" h="9525">
                <a:moveTo>
                  <a:pt x="695324" y="9524"/>
                </a:moveTo>
                <a:lnTo>
                  <a:pt x="0" y="9524"/>
                </a:lnTo>
                <a:lnTo>
                  <a:pt x="0" y="0"/>
                </a:lnTo>
                <a:lnTo>
                  <a:pt x="695324" y="0"/>
                </a:lnTo>
                <a:lnTo>
                  <a:pt x="695324" y="9524"/>
                </a:lnTo>
                <a:close/>
              </a:path>
            </a:pathLst>
          </a:custGeom>
          <a:solidFill>
            <a:srgbClr val="1A1A1A"/>
          </a:solidFill>
        </p:spPr>
        <p:txBody>
          <a:bodyPr wrap="square" lIns="0" tIns="0" rIns="0" bIns="0" rtlCol="0"/>
          <a:lstStyle/>
          <a:p/>
        </p:txBody>
      </p:sp>
      <p:sp>
        <p:nvSpPr>
          <p:cNvPr id="22" name="object 22"/>
          <p:cNvSpPr txBox="1"/>
          <p:nvPr/>
        </p:nvSpPr>
        <p:spPr>
          <a:xfrm>
            <a:off x="4462710" y="2542000"/>
            <a:ext cx="532765" cy="217804"/>
          </a:xfrm>
          <a:prstGeom prst="rect">
            <a:avLst/>
          </a:prstGeom>
        </p:spPr>
        <p:txBody>
          <a:bodyPr vert="horz" wrap="square" lIns="0" tIns="13970" rIns="0" bIns="0" rtlCol="0">
            <a:spAutoFit/>
          </a:bodyPr>
          <a:lstStyle/>
          <a:p>
            <a:pPr marL="12700">
              <a:lnSpc>
                <a:spcPct val="100000"/>
              </a:lnSpc>
              <a:spcBef>
                <a:spcPts val="110"/>
              </a:spcBef>
            </a:pPr>
            <a:r>
              <a:rPr sz="1250" i="1" spc="155" dirty="0">
                <a:solidFill>
                  <a:srgbClr val="1A1A1A"/>
                </a:solidFill>
                <a:latin typeface="Calibri" panose="020F0502020204030204"/>
                <a:cs typeface="Calibri" panose="020F0502020204030204"/>
              </a:rPr>
              <a:t>P</a:t>
            </a:r>
            <a:r>
              <a:rPr sz="1250" i="1" spc="-90" dirty="0">
                <a:solidFill>
                  <a:srgbClr val="1A1A1A"/>
                </a:solidFill>
                <a:latin typeface="Calibri" panose="020F0502020204030204"/>
                <a:cs typeface="Calibri" panose="020F0502020204030204"/>
              </a:rPr>
              <a:t> </a:t>
            </a:r>
            <a:r>
              <a:rPr sz="1250" spc="110" dirty="0">
                <a:solidFill>
                  <a:srgbClr val="1A1A1A"/>
                </a:solidFill>
                <a:latin typeface="Cambria" panose="02040503050406030204"/>
                <a:cs typeface="Cambria" panose="02040503050406030204"/>
              </a:rPr>
              <a:t>(</a:t>
            </a:r>
            <a:r>
              <a:rPr sz="1250" i="1" spc="110" dirty="0">
                <a:solidFill>
                  <a:srgbClr val="1A1A1A"/>
                </a:solidFill>
                <a:latin typeface="Calibri" panose="020F0502020204030204"/>
                <a:cs typeface="Calibri" panose="020F0502020204030204"/>
              </a:rPr>
              <a:t>x</a:t>
            </a:r>
            <a:r>
              <a:rPr sz="1250" spc="110" dirty="0">
                <a:solidFill>
                  <a:srgbClr val="1A1A1A"/>
                </a:solidFill>
                <a:latin typeface="Cambria" panose="02040503050406030204"/>
                <a:cs typeface="Cambria" panose="02040503050406030204"/>
              </a:rPr>
              <a:t>,</a:t>
            </a:r>
            <a:r>
              <a:rPr sz="1250" spc="-40" dirty="0">
                <a:solidFill>
                  <a:srgbClr val="1A1A1A"/>
                </a:solidFill>
                <a:latin typeface="Cambria" panose="02040503050406030204"/>
                <a:cs typeface="Cambria" panose="02040503050406030204"/>
              </a:rPr>
              <a:t> </a:t>
            </a:r>
            <a:r>
              <a:rPr sz="1250" i="1" spc="-25" dirty="0">
                <a:solidFill>
                  <a:srgbClr val="1A1A1A"/>
                </a:solidFill>
                <a:latin typeface="Calibri" panose="020F0502020204030204"/>
                <a:cs typeface="Calibri" panose="020F0502020204030204"/>
              </a:rPr>
              <a:t>y</a:t>
            </a:r>
            <a:r>
              <a:rPr sz="1250" spc="-25" dirty="0">
                <a:solidFill>
                  <a:srgbClr val="1A1A1A"/>
                </a:solidFill>
                <a:latin typeface="Cambria" panose="02040503050406030204"/>
                <a:cs typeface="Cambria" panose="02040503050406030204"/>
              </a:rPr>
              <a:t>)</a:t>
            </a:r>
            <a:endParaRPr sz="1250">
              <a:latin typeface="Cambria" panose="02040503050406030204"/>
              <a:cs typeface="Cambria" panose="02040503050406030204"/>
            </a:endParaRPr>
          </a:p>
        </p:txBody>
      </p:sp>
      <p:sp>
        <p:nvSpPr>
          <p:cNvPr id="23" name="object 23"/>
          <p:cNvSpPr txBox="1"/>
          <p:nvPr/>
        </p:nvSpPr>
        <p:spPr>
          <a:xfrm>
            <a:off x="768349" y="3576683"/>
            <a:ext cx="5788025" cy="365760"/>
          </a:xfrm>
          <a:prstGeom prst="rect">
            <a:avLst/>
          </a:prstGeom>
        </p:spPr>
        <p:txBody>
          <a:bodyPr vert="horz" wrap="square" lIns="0" tIns="14604" rIns="0" bIns="0" rtlCol="0">
            <a:spAutoFit/>
          </a:bodyPr>
          <a:lstStyle/>
          <a:p>
            <a:pPr marL="12700" marR="5080">
              <a:lnSpc>
                <a:spcPct val="120000"/>
              </a:lnSpc>
              <a:spcBef>
                <a:spcPts val="115"/>
              </a:spcBef>
            </a:pPr>
            <a:r>
              <a:rPr sz="900" b="1" spc="-30" dirty="0">
                <a:solidFill>
                  <a:srgbClr val="5B8BA7"/>
                </a:solidFill>
                <a:latin typeface="Arial" panose="020B0604020202020204"/>
                <a:cs typeface="Arial" panose="020B0604020202020204"/>
              </a:rPr>
              <a:t>Fig</a:t>
            </a:r>
            <a:r>
              <a:rPr sz="900" b="1" spc="-20" dirty="0">
                <a:solidFill>
                  <a:srgbClr val="5B8BA7"/>
                </a:solidFill>
                <a:latin typeface="Arial" panose="020B0604020202020204"/>
                <a:cs typeface="Arial" panose="020B0604020202020204"/>
              </a:rPr>
              <a:t>. </a:t>
            </a:r>
            <a:r>
              <a:rPr sz="900" b="1" spc="-10" dirty="0">
                <a:solidFill>
                  <a:srgbClr val="5B8BA7"/>
                </a:solidFill>
                <a:latin typeface="Arial" panose="020B0604020202020204"/>
                <a:cs typeface="Arial" panose="020B0604020202020204"/>
              </a:rPr>
              <a:t>3(a) </a:t>
            </a:r>
            <a:r>
              <a:rPr sz="900" b="1" spc="-90" dirty="0">
                <a:solidFill>
                  <a:srgbClr val="5B8BA7"/>
                </a:solidFill>
                <a:latin typeface="微软雅黑" panose="020B0503020204020204" charset="-122"/>
                <a:cs typeface="微软雅黑" panose="020B0503020204020204" charset="-122"/>
              </a:rPr>
              <a:t>极性分析</a:t>
            </a:r>
            <a:r>
              <a:rPr sz="900" b="1" spc="-15" dirty="0">
                <a:solidFill>
                  <a:srgbClr val="5B8BA7"/>
                </a:solidFill>
                <a:latin typeface="Microsoft New Tai Lue" panose="020B0502040204020203"/>
                <a:cs typeface="Microsoft New Tai Lue" panose="020B0502040204020203"/>
              </a:rPr>
              <a:t>： </a:t>
            </a:r>
            <a:r>
              <a:rPr sz="900" spc="-90" dirty="0">
                <a:solidFill>
                  <a:srgbClr val="6A7280"/>
                </a:solidFill>
                <a:latin typeface="宋体" panose="02010600030101010101" pitchFamily="2" charset="-122"/>
                <a:cs typeface="宋体" panose="02010600030101010101" pitchFamily="2" charset="-122"/>
              </a:rPr>
              <a:t>外生干预信号提供的前向流速越快，说明受环境噪音漂移侵蚀越重。</a:t>
            </a:r>
            <a:r>
              <a:rPr sz="900" spc="-20" dirty="0">
                <a:solidFill>
                  <a:srgbClr val="6A7280"/>
                </a:solidFill>
                <a:latin typeface="Microsoft Sans Serif" panose="020B0604020202020204"/>
                <a:cs typeface="Microsoft Sans Serif" panose="020B0604020202020204"/>
              </a:rPr>
              <a:t>ShifTS </a:t>
            </a:r>
            <a:r>
              <a:rPr sz="900" spc="-90" dirty="0">
                <a:solidFill>
                  <a:srgbClr val="6A7280"/>
                </a:solidFill>
                <a:latin typeface="宋体" panose="02010600030101010101" pitchFamily="2" charset="-122"/>
                <a:cs typeface="宋体" panose="02010600030101010101" pitchFamily="2" charset="-122"/>
              </a:rPr>
              <a:t>在核心干预机制下所释放的</a:t>
            </a:r>
            <a:r>
              <a:rPr sz="900" spc="-100" dirty="0">
                <a:solidFill>
                  <a:srgbClr val="6A7280"/>
                </a:solidFill>
                <a:latin typeface="宋体" panose="02010600030101010101" pitchFamily="2" charset="-122"/>
                <a:cs typeface="宋体" panose="02010600030101010101" pitchFamily="2" charset="-122"/>
              </a:rPr>
              <a:t>校准弹性也呈现直接正相关 </a:t>
            </a:r>
            <a:r>
              <a:rPr sz="950" spc="-35" dirty="0">
                <a:solidFill>
                  <a:srgbClr val="6A7280"/>
                </a:solidFill>
                <a:latin typeface="Trebuchet MS" panose="020B0603020202020204"/>
                <a:cs typeface="Trebuchet MS" panose="020B0603020202020204"/>
              </a:rPr>
              <a:t>( </a:t>
            </a:r>
            <a:r>
              <a:rPr sz="800" i="1" dirty="0">
                <a:solidFill>
                  <a:srgbClr val="1A1A1A"/>
                </a:solidFill>
                <a:latin typeface="Calibri" panose="020F0502020204030204"/>
                <a:cs typeface="Calibri" panose="020F0502020204030204"/>
              </a:rPr>
              <a:t>p</a:t>
            </a:r>
            <a:r>
              <a:rPr sz="800" dirty="0">
                <a:solidFill>
                  <a:srgbClr val="1A1A1A"/>
                </a:solidFill>
                <a:latin typeface="Cambria" panose="02040503050406030204"/>
                <a:cs typeface="Cambria" panose="02040503050406030204"/>
              </a:rPr>
              <a:t>-value</a:t>
            </a:r>
            <a:r>
              <a:rPr sz="800" spc="160" dirty="0">
                <a:solidFill>
                  <a:srgbClr val="1A1A1A"/>
                </a:solidFill>
                <a:latin typeface="Cambria" panose="02040503050406030204"/>
                <a:cs typeface="Cambria" panose="02040503050406030204"/>
              </a:rPr>
              <a:t> = </a:t>
            </a:r>
            <a:r>
              <a:rPr sz="800" dirty="0">
                <a:solidFill>
                  <a:srgbClr val="1A1A1A"/>
                </a:solidFill>
                <a:latin typeface="Cambria" panose="02040503050406030204"/>
                <a:cs typeface="Cambria" panose="02040503050406030204"/>
              </a:rPr>
              <a:t>0.012</a:t>
            </a:r>
            <a:r>
              <a:rPr sz="800" spc="160" dirty="0">
                <a:solidFill>
                  <a:srgbClr val="1A1A1A"/>
                </a:solidFill>
                <a:latin typeface="Cambria" panose="02040503050406030204"/>
                <a:cs typeface="Cambria" panose="02040503050406030204"/>
              </a:rPr>
              <a:t> </a:t>
            </a:r>
            <a:r>
              <a:rPr sz="950" spc="-70" dirty="0">
                <a:solidFill>
                  <a:srgbClr val="6A7280"/>
                </a:solidFill>
                <a:latin typeface="Trebuchet MS" panose="020B0603020202020204"/>
                <a:cs typeface="Trebuchet MS" panose="020B0603020202020204"/>
              </a:rPr>
              <a:t>)</a:t>
            </a:r>
            <a:r>
              <a:rPr sz="900" spc="-50" dirty="0">
                <a:solidFill>
                  <a:srgbClr val="6A7280"/>
                </a:solidFill>
                <a:latin typeface="宋体" panose="02010600030101010101" pitchFamily="2" charset="-122"/>
                <a:cs typeface="宋体" panose="02010600030101010101" pitchFamily="2" charset="-122"/>
              </a:rPr>
              <a:t>。</a:t>
            </a:r>
            <a:endParaRPr sz="900">
              <a:latin typeface="宋体" panose="02010600030101010101" pitchFamily="2" charset="-122"/>
              <a:cs typeface="宋体" panose="02010600030101010101" pitchFamily="2" charset="-122"/>
            </a:endParaRPr>
          </a:p>
        </p:txBody>
      </p:sp>
      <p:grpSp>
        <p:nvGrpSpPr>
          <p:cNvPr id="24" name="object 24"/>
          <p:cNvGrpSpPr/>
          <p:nvPr/>
        </p:nvGrpSpPr>
        <p:grpSpPr>
          <a:xfrm>
            <a:off x="7172325" y="1247774"/>
            <a:ext cx="4562475" cy="5153025"/>
            <a:chOff x="7172325" y="1247774"/>
            <a:chExt cx="4562475" cy="5153025"/>
          </a:xfrm>
        </p:grpSpPr>
        <p:sp>
          <p:nvSpPr>
            <p:cNvPr id="25" name="object 25"/>
            <p:cNvSpPr/>
            <p:nvPr/>
          </p:nvSpPr>
          <p:spPr>
            <a:xfrm>
              <a:off x="7177087" y="1252537"/>
              <a:ext cx="4552950" cy="5143500"/>
            </a:xfrm>
            <a:custGeom>
              <a:avLst/>
              <a:gdLst/>
              <a:ahLst/>
              <a:cxnLst/>
              <a:rect l="l" t="t" r="r" b="b"/>
              <a:pathLst>
                <a:path w="4552950" h="5143500">
                  <a:moveTo>
                    <a:pt x="4450604" y="5143499"/>
                  </a:moveTo>
                  <a:lnTo>
                    <a:pt x="102345" y="5143499"/>
                  </a:lnTo>
                  <a:lnTo>
                    <a:pt x="95221" y="5142797"/>
                  </a:lnTo>
                  <a:lnTo>
                    <a:pt x="54661" y="5129034"/>
                  </a:lnTo>
                  <a:lnTo>
                    <a:pt x="22456" y="5100798"/>
                  </a:lnTo>
                  <a:lnTo>
                    <a:pt x="3507" y="5062385"/>
                  </a:lnTo>
                  <a:lnTo>
                    <a:pt x="0" y="5041154"/>
                  </a:lnTo>
                  <a:lnTo>
                    <a:pt x="0" y="5033962"/>
                  </a:lnTo>
                  <a:lnTo>
                    <a:pt x="0" y="102345"/>
                  </a:lnTo>
                  <a:lnTo>
                    <a:pt x="11090" y="60974"/>
                  </a:lnTo>
                  <a:lnTo>
                    <a:pt x="37168" y="26997"/>
                  </a:lnTo>
                  <a:lnTo>
                    <a:pt x="74264" y="5585"/>
                  </a:lnTo>
                  <a:lnTo>
                    <a:pt x="102345" y="0"/>
                  </a:lnTo>
                  <a:lnTo>
                    <a:pt x="4450604" y="0"/>
                  </a:lnTo>
                  <a:lnTo>
                    <a:pt x="4491974" y="11090"/>
                  </a:lnTo>
                  <a:lnTo>
                    <a:pt x="4525951" y="37168"/>
                  </a:lnTo>
                  <a:lnTo>
                    <a:pt x="4547363" y="74264"/>
                  </a:lnTo>
                  <a:lnTo>
                    <a:pt x="4552949" y="102345"/>
                  </a:lnTo>
                  <a:lnTo>
                    <a:pt x="4552949" y="5041154"/>
                  </a:lnTo>
                  <a:lnTo>
                    <a:pt x="4541858" y="5082524"/>
                  </a:lnTo>
                  <a:lnTo>
                    <a:pt x="4515780" y="5116502"/>
                  </a:lnTo>
                  <a:lnTo>
                    <a:pt x="4478685" y="5137913"/>
                  </a:lnTo>
                  <a:lnTo>
                    <a:pt x="4457727" y="5142797"/>
                  </a:lnTo>
                  <a:lnTo>
                    <a:pt x="4450604" y="5143499"/>
                  </a:lnTo>
                  <a:close/>
                </a:path>
              </a:pathLst>
            </a:custGeom>
            <a:solidFill>
              <a:srgbClr val="FFFFFF"/>
            </a:solidFill>
          </p:spPr>
          <p:txBody>
            <a:bodyPr wrap="square" lIns="0" tIns="0" rIns="0" bIns="0" rtlCol="0"/>
            <a:lstStyle/>
            <a:p/>
          </p:txBody>
        </p:sp>
        <p:sp>
          <p:nvSpPr>
            <p:cNvPr id="26" name="object 26"/>
            <p:cNvSpPr/>
            <p:nvPr/>
          </p:nvSpPr>
          <p:spPr>
            <a:xfrm>
              <a:off x="7177087" y="1252537"/>
              <a:ext cx="4552950" cy="5143500"/>
            </a:xfrm>
            <a:custGeom>
              <a:avLst/>
              <a:gdLst/>
              <a:ahLst/>
              <a:cxnLst/>
              <a:rect l="l" t="t" r="r" b="b"/>
              <a:pathLst>
                <a:path w="4552950" h="5143500">
                  <a:moveTo>
                    <a:pt x="0" y="503396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4443412" y="0"/>
                  </a:lnTo>
                  <a:lnTo>
                    <a:pt x="4450604" y="0"/>
                  </a:lnTo>
                  <a:lnTo>
                    <a:pt x="4457727" y="701"/>
                  </a:lnTo>
                  <a:lnTo>
                    <a:pt x="4498287" y="14464"/>
                  </a:lnTo>
                  <a:lnTo>
                    <a:pt x="4504267" y="18460"/>
                  </a:lnTo>
                  <a:lnTo>
                    <a:pt x="4510247" y="22456"/>
                  </a:lnTo>
                  <a:lnTo>
                    <a:pt x="4538484" y="54661"/>
                  </a:lnTo>
                  <a:lnTo>
                    <a:pt x="4552247" y="95221"/>
                  </a:lnTo>
                  <a:lnTo>
                    <a:pt x="4552949" y="102345"/>
                  </a:lnTo>
                  <a:lnTo>
                    <a:pt x="4552949" y="109537"/>
                  </a:lnTo>
                  <a:lnTo>
                    <a:pt x="4552949" y="5033962"/>
                  </a:lnTo>
                  <a:lnTo>
                    <a:pt x="4552949" y="5041154"/>
                  </a:lnTo>
                  <a:lnTo>
                    <a:pt x="4552247" y="5048276"/>
                  </a:lnTo>
                  <a:lnTo>
                    <a:pt x="4538484" y="5088837"/>
                  </a:lnTo>
                  <a:lnTo>
                    <a:pt x="4510247" y="5121042"/>
                  </a:lnTo>
                  <a:lnTo>
                    <a:pt x="4471835" y="5139991"/>
                  </a:lnTo>
                  <a:lnTo>
                    <a:pt x="4450604" y="5143499"/>
                  </a:lnTo>
                  <a:lnTo>
                    <a:pt x="4443412" y="5143499"/>
                  </a:lnTo>
                  <a:lnTo>
                    <a:pt x="109537" y="5143499"/>
                  </a:lnTo>
                  <a:lnTo>
                    <a:pt x="102345" y="5143499"/>
                  </a:lnTo>
                  <a:lnTo>
                    <a:pt x="95221" y="5142797"/>
                  </a:lnTo>
                  <a:lnTo>
                    <a:pt x="54661" y="5129034"/>
                  </a:lnTo>
                  <a:lnTo>
                    <a:pt x="48681" y="5125038"/>
                  </a:lnTo>
                  <a:lnTo>
                    <a:pt x="42701" y="5121042"/>
                  </a:lnTo>
                  <a:lnTo>
                    <a:pt x="37168" y="5116502"/>
                  </a:lnTo>
                  <a:lnTo>
                    <a:pt x="32082" y="5111416"/>
                  </a:lnTo>
                  <a:lnTo>
                    <a:pt x="26997" y="5106330"/>
                  </a:lnTo>
                  <a:lnTo>
                    <a:pt x="22456" y="5100798"/>
                  </a:lnTo>
                  <a:lnTo>
                    <a:pt x="18460" y="5094817"/>
                  </a:lnTo>
                  <a:lnTo>
                    <a:pt x="14464" y="5088837"/>
                  </a:lnTo>
                  <a:lnTo>
                    <a:pt x="11090" y="5082524"/>
                  </a:lnTo>
                  <a:lnTo>
                    <a:pt x="8338" y="5075879"/>
                  </a:lnTo>
                  <a:lnTo>
                    <a:pt x="5585" y="5069234"/>
                  </a:lnTo>
                  <a:lnTo>
                    <a:pt x="3507" y="5062385"/>
                  </a:lnTo>
                  <a:lnTo>
                    <a:pt x="2104" y="5055331"/>
                  </a:lnTo>
                  <a:lnTo>
                    <a:pt x="701" y="5048276"/>
                  </a:lnTo>
                  <a:lnTo>
                    <a:pt x="0" y="5041154"/>
                  </a:lnTo>
                  <a:lnTo>
                    <a:pt x="0" y="5033962"/>
                  </a:lnTo>
                  <a:close/>
                </a:path>
              </a:pathLst>
            </a:custGeom>
            <a:ln w="9524">
              <a:solidFill>
                <a:srgbClr val="E4E7EB"/>
              </a:solidFill>
            </a:ln>
          </p:spPr>
          <p:txBody>
            <a:bodyPr wrap="square" lIns="0" tIns="0" rIns="0" bIns="0" rtlCol="0"/>
            <a:lstStyle/>
            <a:p/>
          </p:txBody>
        </p:sp>
        <p:pic>
          <p:nvPicPr>
            <p:cNvPr id="27" name="object 27"/>
            <p:cNvPicPr/>
            <p:nvPr/>
          </p:nvPicPr>
          <p:blipFill>
            <a:blip r:embed="rId2" cstate="print"/>
            <a:stretch>
              <a:fillRect/>
            </a:stretch>
          </p:blipFill>
          <p:spPr>
            <a:xfrm>
              <a:off x="7391400" y="1485899"/>
              <a:ext cx="114300" cy="114300"/>
            </a:xfrm>
            <a:prstGeom prst="rect">
              <a:avLst/>
            </a:prstGeom>
          </p:spPr>
        </p:pic>
      </p:grpSp>
      <p:sp>
        <p:nvSpPr>
          <p:cNvPr id="28" name="object 28"/>
          <p:cNvSpPr txBox="1"/>
          <p:nvPr/>
        </p:nvSpPr>
        <p:spPr>
          <a:xfrm>
            <a:off x="7565925" y="1425575"/>
            <a:ext cx="1335405" cy="185420"/>
          </a:xfrm>
          <a:prstGeom prst="rect">
            <a:avLst/>
          </a:prstGeom>
        </p:spPr>
        <p:txBody>
          <a:bodyPr vert="horz" wrap="square" lIns="0" tIns="12700" rIns="0" bIns="0" rtlCol="0">
            <a:spAutoFit/>
          </a:bodyPr>
          <a:lstStyle/>
          <a:p>
            <a:pPr marL="12700">
              <a:lnSpc>
                <a:spcPct val="100000"/>
              </a:lnSpc>
              <a:spcBef>
                <a:spcPts val="100"/>
              </a:spcBef>
            </a:pPr>
            <a:r>
              <a:rPr sz="1050" spc="-30" dirty="0">
                <a:solidFill>
                  <a:srgbClr val="1F2937"/>
                </a:solidFill>
                <a:latin typeface="宋体" panose="02010600030101010101" pitchFamily="2" charset="-122"/>
                <a:cs typeface="宋体" panose="02010600030101010101" pitchFamily="2" charset="-122"/>
              </a:rPr>
              <a:t>相关性核验与机制消融</a:t>
            </a:r>
            <a:endParaRPr sz="1050">
              <a:latin typeface="宋体" panose="02010600030101010101" pitchFamily="2" charset="-122"/>
              <a:cs typeface="宋体" panose="02010600030101010101" pitchFamily="2" charset="-122"/>
            </a:endParaRPr>
          </a:p>
        </p:txBody>
      </p:sp>
      <p:grpSp>
        <p:nvGrpSpPr>
          <p:cNvPr id="29" name="object 29"/>
          <p:cNvGrpSpPr/>
          <p:nvPr/>
        </p:nvGrpSpPr>
        <p:grpSpPr>
          <a:xfrm>
            <a:off x="7205807" y="1257299"/>
            <a:ext cx="4495800" cy="5410200"/>
            <a:chOff x="7205807" y="1257299"/>
            <a:chExt cx="4495800" cy="5410200"/>
          </a:xfrm>
        </p:grpSpPr>
        <p:sp>
          <p:nvSpPr>
            <p:cNvPr id="30" name="object 30"/>
            <p:cNvSpPr/>
            <p:nvPr/>
          </p:nvSpPr>
          <p:spPr>
            <a:xfrm>
              <a:off x="7372349" y="5724524"/>
              <a:ext cx="4162425" cy="9525"/>
            </a:xfrm>
            <a:custGeom>
              <a:avLst/>
              <a:gdLst/>
              <a:ahLst/>
              <a:cxnLst/>
              <a:rect l="l" t="t" r="r" b="b"/>
              <a:pathLst>
                <a:path w="4162425" h="9525">
                  <a:moveTo>
                    <a:pt x="4162424" y="9524"/>
                  </a:moveTo>
                  <a:lnTo>
                    <a:pt x="0" y="9524"/>
                  </a:lnTo>
                  <a:lnTo>
                    <a:pt x="0" y="0"/>
                  </a:lnTo>
                  <a:lnTo>
                    <a:pt x="4162424" y="0"/>
                  </a:lnTo>
                  <a:lnTo>
                    <a:pt x="4162424" y="9524"/>
                  </a:lnTo>
                  <a:close/>
                </a:path>
              </a:pathLst>
            </a:custGeom>
            <a:solidFill>
              <a:srgbClr val="F2F4F5"/>
            </a:solidFill>
          </p:spPr>
          <p:txBody>
            <a:bodyPr wrap="square" lIns="0" tIns="0" rIns="0" bIns="0" rtlCol="0"/>
            <a:lstStyle/>
            <a:p/>
          </p:txBody>
        </p:sp>
        <p:pic>
          <p:nvPicPr>
            <p:cNvPr id="31" name="object 31"/>
            <p:cNvPicPr/>
            <p:nvPr/>
          </p:nvPicPr>
          <p:blipFill>
            <a:blip r:embed="rId3" cstate="print"/>
            <a:stretch>
              <a:fillRect/>
            </a:stretch>
          </p:blipFill>
          <p:spPr>
            <a:xfrm>
              <a:off x="7205807" y="1257299"/>
              <a:ext cx="4495506" cy="38099"/>
            </a:xfrm>
            <a:prstGeom prst="rect">
              <a:avLst/>
            </a:prstGeom>
          </p:spPr>
        </p:pic>
        <p:sp>
          <p:nvSpPr>
            <p:cNvPr id="32" name="object 32"/>
            <p:cNvSpPr/>
            <p:nvPr/>
          </p:nvSpPr>
          <p:spPr>
            <a:xfrm>
              <a:off x="7377111" y="1757362"/>
              <a:ext cx="4152900" cy="3848100"/>
            </a:xfrm>
            <a:custGeom>
              <a:avLst/>
              <a:gdLst/>
              <a:ahLst/>
              <a:cxnLst/>
              <a:rect l="l" t="t" r="r" b="b"/>
              <a:pathLst>
                <a:path w="4152900" h="3848100">
                  <a:moveTo>
                    <a:pt x="4086152" y="3848099"/>
                  </a:moveTo>
                  <a:lnTo>
                    <a:pt x="66746" y="3848099"/>
                  </a:lnTo>
                  <a:lnTo>
                    <a:pt x="62101" y="3847641"/>
                  </a:lnTo>
                  <a:lnTo>
                    <a:pt x="24240" y="3830492"/>
                  </a:lnTo>
                  <a:lnTo>
                    <a:pt x="2287" y="3795198"/>
                  </a:lnTo>
                  <a:lnTo>
                    <a:pt x="0" y="3781352"/>
                  </a:lnTo>
                  <a:lnTo>
                    <a:pt x="0" y="3776662"/>
                  </a:lnTo>
                  <a:lnTo>
                    <a:pt x="0" y="66746"/>
                  </a:lnTo>
                  <a:lnTo>
                    <a:pt x="14645" y="27848"/>
                  </a:lnTo>
                  <a:lnTo>
                    <a:pt x="48433" y="3642"/>
                  </a:lnTo>
                  <a:lnTo>
                    <a:pt x="66746" y="0"/>
                  </a:lnTo>
                  <a:lnTo>
                    <a:pt x="4086152" y="0"/>
                  </a:lnTo>
                  <a:lnTo>
                    <a:pt x="4125049" y="14645"/>
                  </a:lnTo>
                  <a:lnTo>
                    <a:pt x="4149255" y="48433"/>
                  </a:lnTo>
                  <a:lnTo>
                    <a:pt x="4152899" y="66746"/>
                  </a:lnTo>
                  <a:lnTo>
                    <a:pt x="4152899" y="3781352"/>
                  </a:lnTo>
                  <a:lnTo>
                    <a:pt x="4138253" y="3820250"/>
                  </a:lnTo>
                  <a:lnTo>
                    <a:pt x="4104465" y="3844455"/>
                  </a:lnTo>
                  <a:lnTo>
                    <a:pt x="4090797" y="3847641"/>
                  </a:lnTo>
                  <a:lnTo>
                    <a:pt x="4086152" y="3848099"/>
                  </a:lnTo>
                  <a:close/>
                </a:path>
              </a:pathLst>
            </a:custGeom>
            <a:solidFill>
              <a:srgbClr val="F9FAFA">
                <a:alpha val="39999"/>
              </a:srgbClr>
            </a:solidFill>
          </p:spPr>
          <p:txBody>
            <a:bodyPr wrap="square" lIns="0" tIns="0" rIns="0" bIns="0" rtlCol="0"/>
            <a:lstStyle/>
            <a:p/>
          </p:txBody>
        </p:sp>
        <p:sp>
          <p:nvSpPr>
            <p:cNvPr id="33" name="object 33"/>
            <p:cNvSpPr/>
            <p:nvPr/>
          </p:nvSpPr>
          <p:spPr>
            <a:xfrm>
              <a:off x="7377111" y="1757362"/>
              <a:ext cx="4152900" cy="3848100"/>
            </a:xfrm>
            <a:custGeom>
              <a:avLst/>
              <a:gdLst/>
              <a:ahLst/>
              <a:cxnLst/>
              <a:rect l="l" t="t" r="r" b="b"/>
              <a:pathLst>
                <a:path w="4152900" h="3848100">
                  <a:moveTo>
                    <a:pt x="0" y="3776662"/>
                  </a:moveTo>
                  <a:lnTo>
                    <a:pt x="0" y="71437"/>
                  </a:lnTo>
                  <a:lnTo>
                    <a:pt x="0" y="66746"/>
                  </a:lnTo>
                  <a:lnTo>
                    <a:pt x="457" y="62101"/>
                  </a:lnTo>
                  <a:lnTo>
                    <a:pt x="1372" y="57500"/>
                  </a:lnTo>
                  <a:lnTo>
                    <a:pt x="2287" y="52900"/>
                  </a:lnTo>
                  <a:lnTo>
                    <a:pt x="3642" y="48433"/>
                  </a:lnTo>
                  <a:lnTo>
                    <a:pt x="5437" y="44099"/>
                  </a:lnTo>
                  <a:lnTo>
                    <a:pt x="7232" y="39765"/>
                  </a:lnTo>
                  <a:lnTo>
                    <a:pt x="9433" y="35649"/>
                  </a:lnTo>
                  <a:lnTo>
                    <a:pt x="12039" y="31748"/>
                  </a:lnTo>
                  <a:lnTo>
                    <a:pt x="14645" y="27848"/>
                  </a:lnTo>
                  <a:lnTo>
                    <a:pt x="17606" y="24240"/>
                  </a:lnTo>
                  <a:lnTo>
                    <a:pt x="20923" y="20923"/>
                  </a:lnTo>
                  <a:lnTo>
                    <a:pt x="24240" y="17606"/>
                  </a:lnTo>
                  <a:lnTo>
                    <a:pt x="44099" y="5437"/>
                  </a:lnTo>
                  <a:lnTo>
                    <a:pt x="48433" y="3642"/>
                  </a:lnTo>
                  <a:lnTo>
                    <a:pt x="52900" y="2287"/>
                  </a:lnTo>
                  <a:lnTo>
                    <a:pt x="57500" y="1372"/>
                  </a:lnTo>
                  <a:lnTo>
                    <a:pt x="62101" y="457"/>
                  </a:lnTo>
                  <a:lnTo>
                    <a:pt x="66746" y="0"/>
                  </a:lnTo>
                  <a:lnTo>
                    <a:pt x="71437" y="0"/>
                  </a:lnTo>
                  <a:lnTo>
                    <a:pt x="4081461" y="0"/>
                  </a:lnTo>
                  <a:lnTo>
                    <a:pt x="4086152" y="0"/>
                  </a:lnTo>
                  <a:lnTo>
                    <a:pt x="4090797" y="457"/>
                  </a:lnTo>
                  <a:lnTo>
                    <a:pt x="4128658" y="17606"/>
                  </a:lnTo>
                  <a:lnTo>
                    <a:pt x="4140859" y="31748"/>
                  </a:lnTo>
                  <a:lnTo>
                    <a:pt x="4143465" y="35649"/>
                  </a:lnTo>
                  <a:lnTo>
                    <a:pt x="4151526" y="57500"/>
                  </a:lnTo>
                  <a:lnTo>
                    <a:pt x="4152441" y="62101"/>
                  </a:lnTo>
                  <a:lnTo>
                    <a:pt x="4152899" y="66746"/>
                  </a:lnTo>
                  <a:lnTo>
                    <a:pt x="4152899" y="71437"/>
                  </a:lnTo>
                  <a:lnTo>
                    <a:pt x="4152899" y="3776662"/>
                  </a:lnTo>
                  <a:lnTo>
                    <a:pt x="4152899" y="3781352"/>
                  </a:lnTo>
                  <a:lnTo>
                    <a:pt x="4152441" y="3785998"/>
                  </a:lnTo>
                  <a:lnTo>
                    <a:pt x="4151526" y="3790598"/>
                  </a:lnTo>
                  <a:lnTo>
                    <a:pt x="4150610" y="3795198"/>
                  </a:lnTo>
                  <a:lnTo>
                    <a:pt x="4128658" y="3830492"/>
                  </a:lnTo>
                  <a:lnTo>
                    <a:pt x="4095398" y="3846726"/>
                  </a:lnTo>
                  <a:lnTo>
                    <a:pt x="4090797" y="3847641"/>
                  </a:lnTo>
                  <a:lnTo>
                    <a:pt x="4086152" y="3848099"/>
                  </a:lnTo>
                  <a:lnTo>
                    <a:pt x="4081461" y="3848099"/>
                  </a:lnTo>
                  <a:lnTo>
                    <a:pt x="71437" y="3848099"/>
                  </a:lnTo>
                  <a:lnTo>
                    <a:pt x="66746" y="3848099"/>
                  </a:lnTo>
                  <a:lnTo>
                    <a:pt x="62101" y="3847641"/>
                  </a:lnTo>
                  <a:lnTo>
                    <a:pt x="57500" y="3846726"/>
                  </a:lnTo>
                  <a:lnTo>
                    <a:pt x="52900" y="3845811"/>
                  </a:lnTo>
                  <a:lnTo>
                    <a:pt x="17606" y="3823858"/>
                  </a:lnTo>
                  <a:lnTo>
                    <a:pt x="457" y="3785998"/>
                  </a:lnTo>
                  <a:lnTo>
                    <a:pt x="0" y="3781352"/>
                  </a:lnTo>
                  <a:lnTo>
                    <a:pt x="0" y="3776662"/>
                  </a:lnTo>
                </a:path>
              </a:pathLst>
            </a:custGeom>
            <a:ln w="9524">
              <a:solidFill>
                <a:srgbClr val="F2F4F5"/>
              </a:solidFill>
            </a:ln>
          </p:spPr>
          <p:txBody>
            <a:bodyPr wrap="square" lIns="0" tIns="0" rIns="0" bIns="0" rtlCol="0"/>
            <a:lstStyle/>
            <a:p/>
          </p:txBody>
        </p:sp>
        <p:pic>
          <p:nvPicPr>
            <p:cNvPr id="34" name="object 34"/>
            <p:cNvPicPr/>
            <p:nvPr/>
          </p:nvPicPr>
          <p:blipFill>
            <a:blip r:embed="rId4" cstate="print"/>
            <a:stretch>
              <a:fillRect/>
            </a:stretch>
          </p:blipFill>
          <p:spPr>
            <a:xfrm>
              <a:off x="7534274" y="3105150"/>
              <a:ext cx="3838574" cy="1152524"/>
            </a:xfrm>
            <a:prstGeom prst="rect">
              <a:avLst/>
            </a:prstGeom>
          </p:spPr>
        </p:pic>
        <p:pic>
          <p:nvPicPr>
            <p:cNvPr id="35" name="object 35"/>
            <p:cNvPicPr/>
            <p:nvPr/>
          </p:nvPicPr>
          <p:blipFill>
            <a:blip r:embed="rId5" cstate="print"/>
            <a:stretch>
              <a:fillRect/>
            </a:stretch>
          </p:blipFill>
          <p:spPr>
            <a:xfrm>
              <a:off x="9382124" y="6229349"/>
              <a:ext cx="438149" cy="438149"/>
            </a:xfrm>
            <a:prstGeom prst="rect">
              <a:avLst/>
            </a:prstGeom>
          </p:spPr>
        </p:pic>
      </p:grpSp>
      <p:sp>
        <p:nvSpPr>
          <p:cNvPr id="36" name="object 36"/>
          <p:cNvSpPr txBox="1"/>
          <p:nvPr/>
        </p:nvSpPr>
        <p:spPr>
          <a:xfrm>
            <a:off x="7356375" y="5826124"/>
            <a:ext cx="4185285" cy="162560"/>
          </a:xfrm>
          <a:prstGeom prst="rect">
            <a:avLst/>
          </a:prstGeom>
        </p:spPr>
        <p:txBody>
          <a:bodyPr vert="horz" wrap="square" lIns="0" tIns="12700" rIns="0" bIns="0" rtlCol="0">
            <a:spAutoFit/>
          </a:bodyPr>
          <a:lstStyle/>
          <a:p>
            <a:pPr marL="12700">
              <a:lnSpc>
                <a:spcPct val="100000"/>
              </a:lnSpc>
              <a:spcBef>
                <a:spcPts val="100"/>
              </a:spcBef>
            </a:pPr>
            <a:r>
              <a:rPr sz="900" spc="-120" dirty="0">
                <a:solidFill>
                  <a:srgbClr val="1F2937"/>
                </a:solidFill>
                <a:latin typeface="宋体" panose="02010600030101010101" pitchFamily="2" charset="-122"/>
                <a:cs typeface="宋体" panose="02010600030101010101" pitchFamily="2" charset="-122"/>
              </a:rPr>
              <a:t>Fig.</a:t>
            </a:r>
            <a:r>
              <a:rPr sz="900" spc="-25" dirty="0">
                <a:solidFill>
                  <a:srgbClr val="1F2937"/>
                </a:solidFill>
                <a:latin typeface="宋体" panose="02010600030101010101" pitchFamily="2" charset="-122"/>
                <a:cs typeface="宋体" panose="02010600030101010101" pitchFamily="2" charset="-122"/>
              </a:rPr>
              <a:t> </a:t>
            </a:r>
            <a:r>
              <a:rPr sz="900" spc="85" dirty="0">
                <a:solidFill>
                  <a:srgbClr val="1F2937"/>
                </a:solidFill>
                <a:latin typeface="宋体" panose="02010600030101010101" pitchFamily="2" charset="-122"/>
                <a:cs typeface="宋体" panose="02010600030101010101" pitchFamily="2" charset="-122"/>
              </a:rPr>
              <a:t>3</a:t>
            </a:r>
            <a:r>
              <a:rPr sz="900" spc="-25" dirty="0">
                <a:solidFill>
                  <a:srgbClr val="1F2937"/>
                </a:solidFill>
                <a:latin typeface="宋体" panose="02010600030101010101" pitchFamily="2" charset="-122"/>
                <a:cs typeface="宋体" panose="02010600030101010101" pitchFamily="2" charset="-122"/>
              </a:rPr>
              <a:t> </a:t>
            </a:r>
            <a:r>
              <a:rPr sz="900" spc="-35" dirty="0">
                <a:solidFill>
                  <a:srgbClr val="6A7280"/>
                </a:solidFill>
                <a:latin typeface="宋体" panose="02010600030101010101" pitchFamily="2" charset="-122"/>
                <a:cs typeface="宋体" panose="02010600030101010101" pitchFamily="2" charset="-122"/>
              </a:rPr>
              <a:t>散点图</a:t>
            </a:r>
            <a:r>
              <a:rPr sz="900" spc="-20" dirty="0">
                <a:solidFill>
                  <a:srgbClr val="6A7280"/>
                </a:solidFill>
                <a:latin typeface="宋体" panose="02010600030101010101" pitchFamily="2" charset="-122"/>
                <a:cs typeface="宋体" panose="02010600030101010101" pitchFamily="2" charset="-122"/>
              </a:rPr>
              <a:t>(a)</a:t>
            </a:r>
            <a:r>
              <a:rPr sz="900" spc="-35" dirty="0">
                <a:solidFill>
                  <a:srgbClr val="6A7280"/>
                </a:solidFill>
                <a:latin typeface="宋体" panose="02010600030101010101" pitchFamily="2" charset="-122"/>
                <a:cs typeface="宋体" panose="02010600030101010101" pitchFamily="2" charset="-122"/>
              </a:rPr>
              <a:t>勾勒互信息能量与算法效益增量正相关规律；右侧</a:t>
            </a:r>
            <a:r>
              <a:rPr sz="900" spc="-20" dirty="0">
                <a:solidFill>
                  <a:srgbClr val="6A7280"/>
                </a:solidFill>
                <a:latin typeface="宋体" panose="02010600030101010101" pitchFamily="2" charset="-122"/>
                <a:cs typeface="宋体" panose="02010600030101010101" pitchFamily="2" charset="-122"/>
              </a:rPr>
              <a:t>bar</a:t>
            </a:r>
            <a:r>
              <a:rPr sz="900" spc="-35" dirty="0">
                <a:solidFill>
                  <a:srgbClr val="6A7280"/>
                </a:solidFill>
                <a:latin typeface="宋体" panose="02010600030101010101" pitchFamily="2" charset="-122"/>
                <a:cs typeface="宋体" panose="02010600030101010101" pitchFamily="2" charset="-122"/>
              </a:rPr>
              <a:t>图</a:t>
            </a:r>
            <a:r>
              <a:rPr sz="900" spc="-20" dirty="0">
                <a:solidFill>
                  <a:srgbClr val="6A7280"/>
                </a:solidFill>
                <a:latin typeface="宋体" panose="02010600030101010101" pitchFamily="2" charset="-122"/>
                <a:cs typeface="宋体" panose="02010600030101010101" pitchFamily="2" charset="-122"/>
              </a:rPr>
              <a:t>(b)</a:t>
            </a:r>
            <a:r>
              <a:rPr sz="900" spc="-40" dirty="0">
                <a:solidFill>
                  <a:srgbClr val="6A7280"/>
                </a:solidFill>
                <a:latin typeface="宋体" panose="02010600030101010101" pitchFamily="2" charset="-122"/>
                <a:cs typeface="宋体" panose="02010600030101010101" pitchFamily="2" charset="-122"/>
              </a:rPr>
              <a:t>揭示单一</a:t>
            </a:r>
            <a:endParaRPr sz="900">
              <a:latin typeface="宋体" panose="02010600030101010101" pitchFamily="2" charset="-122"/>
              <a:cs typeface="宋体" panose="02010600030101010101" pitchFamily="2" charset="-122"/>
            </a:endParaRPr>
          </a:p>
        </p:txBody>
      </p:sp>
      <p:sp>
        <p:nvSpPr>
          <p:cNvPr id="37" name="object 37"/>
          <p:cNvSpPr/>
          <p:nvPr/>
        </p:nvSpPr>
        <p:spPr>
          <a:xfrm>
            <a:off x="0" y="0"/>
            <a:ext cx="12192000" cy="9525"/>
          </a:xfrm>
          <a:custGeom>
            <a:avLst/>
            <a:gdLst/>
            <a:ahLst/>
            <a:cxnLst/>
            <a:rect l="l" t="t" r="r" b="b"/>
            <a:pathLst>
              <a:path w="12192000" h="9525">
                <a:moveTo>
                  <a:pt x="12191999" y="9524"/>
                </a:moveTo>
                <a:lnTo>
                  <a:pt x="0" y="9524"/>
                </a:lnTo>
                <a:lnTo>
                  <a:pt x="0" y="0"/>
                </a:lnTo>
                <a:lnTo>
                  <a:pt x="12191999" y="0"/>
                </a:lnTo>
                <a:lnTo>
                  <a:pt x="12191999" y="9524"/>
                </a:lnTo>
                <a:close/>
              </a:path>
            </a:pathLst>
          </a:custGeom>
          <a:solidFill>
            <a:srgbClr val="E7E4E3"/>
          </a:solidFill>
        </p:spPr>
        <p:txBody>
          <a:bodyPr wrap="square" lIns="0" tIns="0" rIns="0" bIns="0" rtlCol="0"/>
          <a:lstStyle/>
          <a:p/>
        </p:txBody>
      </p:sp>
      <p:sp>
        <p:nvSpPr>
          <p:cNvPr id="38" name="object 38"/>
          <p:cNvSpPr/>
          <p:nvPr/>
        </p:nvSpPr>
        <p:spPr>
          <a:xfrm>
            <a:off x="0" y="6848474"/>
            <a:ext cx="12192000" cy="9525"/>
          </a:xfrm>
          <a:custGeom>
            <a:avLst/>
            <a:gdLst/>
            <a:ahLst/>
            <a:cxnLst/>
            <a:rect l="l" t="t" r="r" b="b"/>
            <a:pathLst>
              <a:path w="12192000" h="9525">
                <a:moveTo>
                  <a:pt x="12191999" y="9524"/>
                </a:moveTo>
                <a:lnTo>
                  <a:pt x="0" y="9524"/>
                </a:lnTo>
                <a:lnTo>
                  <a:pt x="0" y="0"/>
                </a:lnTo>
                <a:lnTo>
                  <a:pt x="12191999" y="0"/>
                </a:lnTo>
                <a:lnTo>
                  <a:pt x="12191999" y="9524"/>
                </a:lnTo>
                <a:close/>
              </a:path>
            </a:pathLst>
          </a:custGeom>
          <a:solidFill>
            <a:srgbClr val="E7E4E3"/>
          </a:solidFill>
        </p:spPr>
        <p:txBody>
          <a:bodyPr wrap="square" lIns="0" tIns="0" rIns="0" bIns="0" rtlCol="0"/>
          <a:lstStyle/>
          <a:p/>
        </p:txBody>
      </p:sp>
      <p:sp>
        <p:nvSpPr>
          <p:cNvPr id="39" name="object 39"/>
          <p:cNvSpPr txBox="1"/>
          <p:nvPr/>
        </p:nvSpPr>
        <p:spPr>
          <a:xfrm>
            <a:off x="7356375" y="6020866"/>
            <a:ext cx="2540000" cy="169545"/>
          </a:xfrm>
          <a:prstGeom prst="rect">
            <a:avLst/>
          </a:prstGeom>
        </p:spPr>
        <p:txBody>
          <a:bodyPr vert="horz" wrap="square" lIns="0" tIns="8255" rIns="0" bIns="0" rtlCol="0">
            <a:spAutoFit/>
          </a:bodyPr>
          <a:lstStyle/>
          <a:p>
            <a:pPr marL="12700">
              <a:lnSpc>
                <a:spcPct val="100000"/>
              </a:lnSpc>
              <a:spcBef>
                <a:spcPts val="65"/>
              </a:spcBef>
            </a:pPr>
            <a:r>
              <a:rPr sz="900" spc="-5" dirty="0">
                <a:solidFill>
                  <a:srgbClr val="6A7280"/>
                </a:solidFill>
                <a:latin typeface="宋体" panose="02010600030101010101" pitchFamily="2" charset="-122"/>
                <a:cs typeface="宋体" panose="02010600030101010101" pitchFamily="2" charset="-122"/>
              </a:rPr>
              <a:t>模块隔离时的性能滑坡，佐证双重约束之必要性。</a:t>
            </a:r>
            <a:endParaRPr sz="900">
              <a:latin typeface="宋体" panose="02010600030101010101" pitchFamily="2" charset="-122"/>
              <a:cs typeface="宋体" panose="02010600030101010101" pitchFamily="2" charset="-122"/>
            </a:endParaRPr>
          </a:p>
        </p:txBody>
      </p:sp>
      <p:sp>
        <p:nvSpPr>
          <p:cNvPr id="40" name="object 40"/>
          <p:cNvSpPr txBox="1">
            <a:spLocks noGrp="1"/>
          </p:cNvSpPr>
          <p:nvPr>
            <p:ph type="ftr" sz="quarter" idx="5"/>
          </p:nvPr>
        </p:nvSpPr>
        <p:spPr>
          <a:prstGeom prst="rect">
            <a:avLst/>
          </a:prstGeom>
        </p:spPr>
        <p:txBody>
          <a:bodyPr vert="horz" wrap="square" lIns="0" tIns="0" rIns="0" bIns="0" rtlCol="0">
            <a:spAutoFit/>
          </a:bodyPr>
          <a:lstStyle/>
          <a:p>
            <a:pPr marL="12700">
              <a:lnSpc>
                <a:spcPts val="1800"/>
              </a:lnSpc>
            </a:pPr>
            <a:r>
              <a:rPr spc="-45" dirty="0"/>
              <a:t>Powered</a:t>
            </a:r>
            <a:r>
              <a:rPr spc="-70" dirty="0"/>
              <a:t> </a:t>
            </a:r>
            <a:r>
              <a:rPr spc="-130" dirty="0"/>
              <a:t>By</a:t>
            </a:r>
            <a:r>
              <a:rPr spc="-10" dirty="0"/>
              <a:t> </a:t>
            </a:r>
            <a:r>
              <a:rPr spc="-65" dirty="0"/>
              <a:t>Tosea</a:t>
            </a:r>
            <a:r>
              <a:rPr sz="1700" spc="-65" dirty="0">
                <a:latin typeface="Tahoma" panose="020B0604030504040204"/>
                <a:cs typeface="Tahoma" panose="020B0604030504040204"/>
              </a:rPr>
              <a:t>.</a:t>
            </a:r>
            <a:r>
              <a:rPr spc="-65" dirty="0"/>
              <a:t>ai</a:t>
            </a:r>
            <a:endParaRPr sz="1700">
              <a:latin typeface="Tahoma" panose="020B0604030504040204"/>
              <a:cs typeface="Tahoma" panose="020B060403050404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4572</Words>
  <Application>WPS 演示</Application>
  <PresentationFormat>On-screen Show (4:3)</PresentationFormat>
  <Paragraphs>407</Paragraphs>
  <Slides>10</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10</vt:i4>
      </vt:variant>
    </vt:vector>
  </HeadingPairs>
  <TitlesOfParts>
    <vt:vector size="29" baseType="lpstr">
      <vt:lpstr>Arial</vt:lpstr>
      <vt:lpstr>宋体</vt:lpstr>
      <vt:lpstr>Wingdings</vt:lpstr>
      <vt:lpstr>Arial</vt:lpstr>
      <vt:lpstr>Tahoma</vt:lpstr>
      <vt:lpstr>Courier New</vt:lpstr>
      <vt:lpstr>Calibri</vt:lpstr>
      <vt:lpstr>Times New Roman</vt:lpstr>
      <vt:lpstr>微软雅黑</vt:lpstr>
      <vt:lpstr>Yu Gothic UI Semibold</vt:lpstr>
      <vt:lpstr>Cambria</vt:lpstr>
      <vt:lpstr>Georgia</vt:lpstr>
      <vt:lpstr>Microsoft Sans Serif</vt:lpstr>
      <vt:lpstr>Javanese Text</vt:lpstr>
      <vt:lpstr>Microsoft New Tai Lue</vt:lpstr>
      <vt:lpstr>Comic Sans MS</vt:lpstr>
      <vt:lpstr>Trebuchet MS</vt:lpstr>
      <vt:lpstr>Arial Unicode MS</vt:lpstr>
      <vt:lpstr>Office Theme</vt:lpstr>
      <vt:lpstr>PowerPoint 演示文稿</vt:lpstr>
      <vt:lpstr>背景：现有研究中被忽视的概念漂移 (Concept Drift) 问题</vt:lpstr>
      <vt:lpstr>方法：ShifTS—处理双重分布偏移的统一代理框架</vt:lpstr>
      <vt:lpstr>处理时间偏移：边缘分布的标准化数学机制</vt:lpstr>
      <vt:lpstr>捕捉不变模式：基于未来与历史视窗的联合切片</vt:lpstr>
      <vt:lpstr>算法核心：软注意力掩码(SAM)的提取机制</vt:lpstr>
      <vt:lpstr>联合优化目标：兼顾序列预测与代理特征逼近</vt:lpstr>
      <vt:lpstr>实验结果：跨模型范式的通用效能提升</vt:lpstr>
      <vt:lpstr>对比分析：压制现存分布偏移抑制类算法</vt:lpstr>
      <vt:lpstr>消融与分析：互信息量决定效能释放上限</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1，2，3</cp:lastModifiedBy>
  <cp:revision>1</cp:revision>
  <dcterms:created xsi:type="dcterms:W3CDTF">2026-05-20T17:17:02Z</dcterms:created>
  <dcterms:modified xsi:type="dcterms:W3CDTF">2026-05-20T17:17:02Z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2026-05-20T08:00:00Z</vt:filetime>
  </property>
  <property fmtid="{D5CDD505-2E9C-101B-9397-08002B2CF9AE}" pid="3" name="Producer">
    <vt:lpwstr>pypdf</vt:lpwstr>
  </property>
  <property fmtid="{D5CDD505-2E9C-101B-9397-08002B2CF9AE}" pid="4" name="LastSaved">
    <vt:filetime>2026-05-20T08:00:00Z</vt:filetime>
  </property>
  <property fmtid="{D5CDD505-2E9C-101B-9397-08002B2CF9AE}" pid="5" name="KSOProductBuildVer">
    <vt:lpwstr>2052-12.1.0.26375</vt:lpwstr>
  </property>
  <property fmtid="{D5CDD505-2E9C-101B-9397-08002B2CF9AE}" pid="6" name="ICV">
    <vt:lpwstr>6406C5AD97174026873FA2FDDA730067_12</vt:lpwstr>
  </property>
</Properties>
</file>