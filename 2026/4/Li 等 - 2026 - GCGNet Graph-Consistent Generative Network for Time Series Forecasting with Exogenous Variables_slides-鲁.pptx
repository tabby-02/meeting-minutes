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8001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jpeg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17.jpeg"/><Relationship Id="rId7" Type="http://schemas.openxmlformats.org/officeDocument/2006/relationships/image" Target="../media/image16.png"/><Relationship Id="rId6" Type="http://schemas.openxmlformats.org/officeDocument/2006/relationships/image" Target="../media/image15.jpe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3" Type="http://schemas.openxmlformats.org/officeDocument/2006/relationships/image" Target="../media/image5.jpeg"/><Relationship Id="rId2" Type="http://schemas.openxmlformats.org/officeDocument/2006/relationships/image" Target="../media/image12.png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5.jpe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26.png"/><Relationship Id="rId1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png"/><Relationship Id="rId8" Type="http://schemas.openxmlformats.org/officeDocument/2006/relationships/image" Target="../media/image33.png"/><Relationship Id="rId7" Type="http://schemas.openxmlformats.org/officeDocument/2006/relationships/image" Target="../media/image32.png"/><Relationship Id="rId6" Type="http://schemas.openxmlformats.org/officeDocument/2006/relationships/image" Target="../media/image31.png"/><Relationship Id="rId5" Type="http://schemas.openxmlformats.org/officeDocument/2006/relationships/image" Target="../media/image21.png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37.png"/><Relationship Id="rId12" Type="http://schemas.openxmlformats.org/officeDocument/2006/relationships/image" Target="../media/image36.png"/><Relationship Id="rId11" Type="http://schemas.openxmlformats.org/officeDocument/2006/relationships/image" Target="../media/image18.png"/><Relationship Id="rId10" Type="http://schemas.openxmlformats.org/officeDocument/2006/relationships/image" Target="../media/image35.png"/><Relationship Id="rId1" Type="http://schemas.openxmlformats.org/officeDocument/2006/relationships/image" Target="../media/image27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6.png"/><Relationship Id="rId8" Type="http://schemas.openxmlformats.org/officeDocument/2006/relationships/image" Target="../media/image45.png"/><Relationship Id="rId7" Type="http://schemas.openxmlformats.org/officeDocument/2006/relationships/image" Target="../media/image44.png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6" Type="http://schemas.openxmlformats.org/officeDocument/2006/relationships/slideLayout" Target="../slideLayouts/slideLayout1.xml"/><Relationship Id="rId15" Type="http://schemas.openxmlformats.org/officeDocument/2006/relationships/image" Target="../media/image50.png"/><Relationship Id="rId14" Type="http://schemas.openxmlformats.org/officeDocument/2006/relationships/image" Target="../media/image49.png"/><Relationship Id="rId13" Type="http://schemas.openxmlformats.org/officeDocument/2006/relationships/image" Target="../media/image48.png"/><Relationship Id="rId12" Type="http://schemas.openxmlformats.org/officeDocument/2006/relationships/image" Target="../media/image18.png"/><Relationship Id="rId11" Type="http://schemas.openxmlformats.org/officeDocument/2006/relationships/image" Target="../media/image47.png"/><Relationship Id="rId10" Type="http://schemas.openxmlformats.org/officeDocument/2006/relationships/image" Target="../media/image5.jpeg"/><Relationship Id="rId1" Type="http://schemas.openxmlformats.org/officeDocument/2006/relationships/image" Target="../media/image3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jpeg"/><Relationship Id="rId7" Type="http://schemas.openxmlformats.org/officeDocument/2006/relationships/image" Target="../media/image55.png"/><Relationship Id="rId6" Type="http://schemas.openxmlformats.org/officeDocument/2006/relationships/image" Target="../media/image18.png"/><Relationship Id="rId5" Type="http://schemas.openxmlformats.org/officeDocument/2006/relationships/image" Target="../media/image54.png"/><Relationship Id="rId4" Type="http://schemas.openxmlformats.org/officeDocument/2006/relationships/image" Target="../media/image5.jpeg"/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61.png"/><Relationship Id="rId12" Type="http://schemas.openxmlformats.org/officeDocument/2006/relationships/image" Target="../media/image60.png"/><Relationship Id="rId11" Type="http://schemas.openxmlformats.org/officeDocument/2006/relationships/image" Target="../media/image59.png"/><Relationship Id="rId10" Type="http://schemas.openxmlformats.org/officeDocument/2006/relationships/image" Target="../media/image58.png"/><Relationship Id="rId1" Type="http://schemas.openxmlformats.org/officeDocument/2006/relationships/image" Target="../media/image5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66.png"/><Relationship Id="rId6" Type="http://schemas.openxmlformats.org/officeDocument/2006/relationships/image" Target="../media/image18.png"/><Relationship Id="rId5" Type="http://schemas.openxmlformats.org/officeDocument/2006/relationships/image" Target="../media/image65.png"/><Relationship Id="rId4" Type="http://schemas.openxmlformats.org/officeDocument/2006/relationships/image" Target="../media/image64.jpeg"/><Relationship Id="rId3" Type="http://schemas.openxmlformats.org/officeDocument/2006/relationships/image" Target="../media/image5.jpeg"/><Relationship Id="rId2" Type="http://schemas.openxmlformats.org/officeDocument/2006/relationships/image" Target="../media/image63.png"/><Relationship Id="rId1" Type="http://schemas.openxmlformats.org/officeDocument/2006/relationships/image" Target="../media/image62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image" Target="../media/image5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9.png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571500"/>
            <a:ext cx="12192000" cy="6858000"/>
          </a:xfrm>
          <a:prstGeom prst="rect">
            <a:avLst/>
          </a:prstGeom>
          <a:solidFill>
            <a:srgbClr val="FAF9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84927" y="3989961"/>
            <a:ext cx="12558" cy="12519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2047748" y="1663356"/>
            <a:ext cx="8168005" cy="25723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14600" algn="l" rtl="0" eaLnBrk="0">
              <a:lnSpc>
                <a:spcPct val="76000"/>
              </a:lnSpc>
              <a:tabLst>
                <a:tab pos="2642870" algn="l"/>
              </a:tabLst>
            </a:pPr>
            <a:r>
              <a:rPr sz="900" kern="0" spc="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	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R</a:t>
            </a:r>
            <a:r>
              <a:rPr sz="900" kern="0" spc="7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E S</a:t>
            </a:r>
            <a:r>
              <a:rPr sz="900" kern="0" spc="7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E A</a:t>
            </a:r>
            <a:r>
              <a:rPr sz="900" kern="0" spc="7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R C</a:t>
            </a:r>
            <a:r>
              <a:rPr sz="900" kern="0" spc="7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H   P</a:t>
            </a:r>
            <a:r>
              <a:rPr sz="900" kern="0" spc="-6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A</a:t>
            </a:r>
            <a:r>
              <a:rPr sz="900" kern="0" spc="7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P</a:t>
            </a:r>
            <a:r>
              <a:rPr sz="900" kern="0" spc="7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E</a:t>
            </a:r>
            <a:r>
              <a:rPr sz="900" kern="0" spc="7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R</a:t>
            </a:r>
            <a:r>
              <a:rPr sz="900" kern="0" spc="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 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P</a:t>
            </a:r>
            <a:r>
              <a:rPr sz="900" kern="0" spc="9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R</a:t>
            </a:r>
            <a:r>
              <a:rPr sz="900" kern="0" spc="7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E</a:t>
            </a:r>
            <a:r>
              <a:rPr sz="900" kern="0" spc="5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S</a:t>
            </a:r>
            <a:r>
              <a:rPr sz="900" kern="0" spc="7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E</a:t>
            </a:r>
            <a:r>
              <a:rPr sz="900" kern="0" spc="7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N TAT</a:t>
            </a:r>
            <a:r>
              <a:rPr sz="900" kern="0" spc="7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1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I</a:t>
            </a:r>
            <a:r>
              <a:rPr sz="900" kern="0" spc="3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2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O</a:t>
            </a:r>
            <a:r>
              <a:rPr sz="900" kern="0" spc="7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</a:t>
            </a:r>
            <a:r>
              <a:rPr sz="900" kern="0" spc="-20" dirty="0">
                <a:solidFill>
                  <a:srgbClr val="6B7280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N     </a:t>
            </a:r>
            <a:endParaRPr sz="900" dirty="0">
              <a:latin typeface="Lucida Sans Unicode" panose="020B0602030504020204"/>
              <a:ea typeface="Lucida Sans Unicode" panose="020B0602030504020204"/>
              <a:cs typeface="Lucida Sans Unicode" panose="020B0602030504020204"/>
            </a:endParaRPr>
          </a:p>
          <a:p>
            <a:pPr algn="l" rtl="0" eaLnBrk="0">
              <a:lnSpc>
                <a:spcPct val="14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4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47750" algn="l" rtl="0" eaLnBrk="0">
              <a:lnSpc>
                <a:spcPct val="83000"/>
              </a:lnSpc>
              <a:spcBef>
                <a:spcPts val="1240"/>
              </a:spcBef>
            </a:pPr>
            <a:r>
              <a:rPr sz="4100" kern="0" spc="-18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GCGNET:</a:t>
            </a:r>
            <a:r>
              <a:rPr sz="4100" kern="0" spc="-24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100" kern="0" spc="-18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Graph-Consistent</a:t>
            </a:r>
            <a:endParaRPr sz="4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5275" algn="l" rtl="0" eaLnBrk="0">
              <a:lnSpc>
                <a:spcPct val="81000"/>
              </a:lnSpc>
              <a:spcBef>
                <a:spcPts val="1095"/>
              </a:spcBef>
            </a:pPr>
            <a:r>
              <a:rPr sz="4200" kern="0" spc="-17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Generative</a:t>
            </a:r>
            <a:r>
              <a:rPr sz="4200" kern="0" spc="-37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200" kern="0" spc="-17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Network</a:t>
            </a:r>
            <a:r>
              <a:rPr sz="4200" kern="0" spc="-44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200" kern="0" spc="-17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</a:t>
            </a:r>
            <a:r>
              <a:rPr sz="4200" kern="0" spc="-52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200" kern="0" spc="-17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Time</a:t>
            </a:r>
            <a:r>
              <a:rPr sz="4200" kern="0" spc="-35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200" kern="0" spc="-17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Series</a:t>
            </a:r>
            <a:endParaRPr sz="4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5175"/>
              </a:lnSpc>
            </a:pPr>
            <a:r>
              <a:rPr sz="4100" kern="0" spc="-19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Forecasting </a:t>
            </a:r>
            <a:r>
              <a:rPr sz="4200" i="1" kern="0" spc="-190" dirty="0">
                <a:solidFill>
                  <a:srgbClr val="3B82F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with</a:t>
            </a:r>
            <a:r>
              <a:rPr sz="4200" i="1" kern="0" spc="-250" dirty="0">
                <a:solidFill>
                  <a:srgbClr val="3B82F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200" i="1" kern="0" spc="-190" dirty="0">
                <a:solidFill>
                  <a:srgbClr val="3B82F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</a:t>
            </a:r>
            <a:r>
              <a:rPr sz="4200" i="1" kern="0" spc="-180" dirty="0">
                <a:solidFill>
                  <a:srgbClr val="3B82F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ogenous</a:t>
            </a:r>
            <a:r>
              <a:rPr sz="4200" i="1" kern="0" spc="-460" dirty="0">
                <a:solidFill>
                  <a:srgbClr val="3B82F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200" i="1" kern="0" spc="-180" dirty="0">
                <a:solidFill>
                  <a:srgbClr val="3B82F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Variable</a:t>
            </a:r>
            <a:r>
              <a:rPr sz="4200" i="1" kern="0" spc="0" dirty="0">
                <a:solidFill>
                  <a:srgbClr val="3B82F6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endParaRPr sz="4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7628959" y="1714500"/>
            <a:ext cx="304800" cy="9525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257675" y="1714500"/>
            <a:ext cx="304800" cy="9525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2112010" y="5363844"/>
            <a:ext cx="2768600" cy="734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850" algn="l" rtl="0" eaLnBrk="0">
              <a:lnSpc>
                <a:spcPct val="89000"/>
              </a:lnSpc>
              <a:tabLst>
                <a:tab pos="150495" algn="l"/>
              </a:tabLst>
            </a:pPr>
            <a:r>
              <a:rPr sz="700" kern="0" spc="0" dirty="0">
                <a:solidFill>
                  <a:srgbClr val="9CA3A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700" kern="0" spc="70" dirty="0">
                <a:solidFill>
                  <a:srgbClr val="9CA3A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主题</a:t>
            </a:r>
            <a:r>
              <a:rPr sz="700" kern="0" spc="160" dirty="0">
                <a:solidFill>
                  <a:srgbClr val="9CA3A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00" b="1" kern="0" spc="70" dirty="0">
                <a:solidFill>
                  <a:srgbClr val="9CA3AF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700" b="1" kern="0" spc="170" dirty="0">
                <a:solidFill>
                  <a:srgbClr val="9CA3AF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700" b="1" kern="0" spc="70" dirty="0">
                <a:solidFill>
                  <a:srgbClr val="9CA3AF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TOPIC</a:t>
            </a:r>
            <a:endParaRPr sz="700" dirty="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  <a:p>
            <a:pPr algn="l" rtl="0" eaLnBrk="0">
              <a:lnSpc>
                <a:spcPct val="104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indent="-5080" algn="l" rtl="0" eaLnBrk="0">
              <a:lnSpc>
                <a:spcPct val="133000"/>
              </a:lnSpc>
              <a:spcBef>
                <a:spcPts val="5"/>
              </a:spcBef>
            </a:pPr>
            <a:r>
              <a:rPr sz="1200" kern="0" spc="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融合</a:t>
            </a:r>
            <a:r>
              <a:rPr sz="1200" kern="0" spc="0" dirty="0">
                <a:solidFill>
                  <a:srgbClr val="3B82F6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外变量</a:t>
            </a:r>
            <a:r>
              <a:rPr sz="1200" kern="0" spc="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的时间序列</a:t>
            </a:r>
            <a:r>
              <a:rPr sz="1200" kern="0" spc="-1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预测图一致性生成</a:t>
            </a:r>
            <a:r>
              <a:rPr sz="1200" kern="0" spc="-3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网络研究。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2193925" y="5418455"/>
            <a:ext cx="57150" cy="57150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571500"/>
            <a:ext cx="12192000" cy="9525"/>
          </a:xfrm>
          <a:prstGeom prst="rect">
            <a:avLst/>
          </a:prstGeom>
        </p:spPr>
      </p:pic>
      <p:pic>
        <p:nvPicPr>
          <p:cNvPr id="30" name="pictur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7419975"/>
            <a:ext cx="12192000" cy="9524"/>
          </a:xfrm>
          <a:prstGeom prst="rect">
            <a:avLst/>
          </a:prstGeom>
        </p:spPr>
      </p:pic>
      <p:pic>
        <p:nvPicPr>
          <p:cNvPr id="36" name="picture 3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09600" y="5143500"/>
            <a:ext cx="10972800" cy="9525"/>
          </a:xfrm>
          <a:prstGeom prst="rect">
            <a:avLst/>
          </a:prstGeom>
        </p:spPr>
      </p:pic>
      <p:pic>
        <p:nvPicPr>
          <p:cNvPr id="38" name="picture 3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4524375" y="5610225"/>
            <a:ext cx="9525" cy="752475"/>
          </a:xfrm>
          <a:prstGeom prst="rect">
            <a:avLst/>
          </a:prstGeom>
        </p:spPr>
      </p:pic>
      <p:pic>
        <p:nvPicPr>
          <p:cNvPr id="40" name="pictur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7658100" y="5610225"/>
            <a:ext cx="9525" cy="752475"/>
          </a:xfrm>
          <a:prstGeom prst="rect">
            <a:avLst/>
          </a:prstGeom>
        </p:spPr>
      </p:pic>
      <p:pic>
        <p:nvPicPr>
          <p:cNvPr id="42" name="picture 4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096000" y="6057900"/>
            <a:ext cx="9525" cy="457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8066127" y="5475861"/>
            <a:ext cx="12558" cy="12519"/>
          </a:xfrm>
          <a:prstGeom prst="rect">
            <a:avLst/>
          </a:prstGeom>
        </p:spPr>
      </p:pic>
      <p:sp>
        <p:nvSpPr>
          <p:cNvPr id="3" name="textbox 16"/>
          <p:cNvSpPr/>
          <p:nvPr/>
        </p:nvSpPr>
        <p:spPr>
          <a:xfrm>
            <a:off x="7781925" y="5433060"/>
            <a:ext cx="2358390" cy="974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55000"/>
              </a:lnSpc>
            </a:pPr>
            <a:r>
              <a:rPr lang="en-US" sz="1200" dirty="0">
                <a:latin typeface="Arial" panose="020B0604020202020204"/>
                <a:ea typeface="Arial" panose="020B0604020202020204"/>
                <a:cs typeface="Arial" panose="020B0604020202020204"/>
              </a:rPr>
              <a:t>ICLR 2026</a:t>
            </a:r>
            <a:endParaRPr lang="en-US"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55000"/>
              </a:lnSpc>
            </a:pPr>
            <a:r>
              <a:rPr lang="zh-CN" altLang="en-US" sz="1200" dirty="0">
                <a:latin typeface="Arial" panose="020B0604020202020204"/>
                <a:ea typeface="Arial" panose="020B0604020202020204"/>
                <a:cs typeface="Arial" panose="020B0604020202020204"/>
              </a:rPr>
              <a:t>华东师范大学</a:t>
            </a:r>
            <a:endParaRPr lang="zh-CN" altLang="en-US"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 82"/>
          <p:cNvSpPr/>
          <p:nvPr/>
        </p:nvSpPr>
        <p:spPr>
          <a:xfrm>
            <a:off x="0" y="571500"/>
            <a:ext cx="12192000" cy="6858000"/>
          </a:xfrm>
          <a:prstGeom prst="rect">
            <a:avLst/>
          </a:prstGeom>
          <a:solidFill>
            <a:srgbClr val="FAF9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84" name="rect 84"/>
          <p:cNvSpPr/>
          <p:nvPr/>
        </p:nvSpPr>
        <p:spPr>
          <a:xfrm>
            <a:off x="10029825" y="2219325"/>
            <a:ext cx="1466850" cy="180975"/>
          </a:xfrm>
          <a:prstGeom prst="rect">
            <a:avLst/>
          </a:prstGeom>
          <a:solidFill>
            <a:srgbClr val="EFF6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86" name="table 86"/>
          <p:cNvGraphicFramePr>
            <a:graphicFrameLocks noGrp="1"/>
          </p:cNvGraphicFramePr>
          <p:nvPr/>
        </p:nvGraphicFramePr>
        <p:xfrm>
          <a:off x="5086350" y="1933575"/>
          <a:ext cx="6647815" cy="5038725"/>
        </p:xfrm>
        <a:graphic>
          <a:graphicData uri="http://schemas.openxmlformats.org/drawingml/2006/table">
            <a:tbl>
              <a:tblPr/>
              <a:tblGrid>
                <a:gridCol w="6491604"/>
                <a:gridCol w="156210"/>
              </a:tblGrid>
              <a:tr h="50387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64160" algn="l" rtl="0" eaLnBrk="0">
                        <a:lnSpc>
                          <a:spcPct val="77000"/>
                        </a:lnSpc>
                        <a:spcBef>
                          <a:spcPts val="0"/>
                        </a:spcBef>
                      </a:pPr>
                      <a:r>
                        <a:rPr sz="1500" i="1" kern="0" spc="-1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Evolution of</a:t>
                      </a:r>
                      <a:r>
                        <a:rPr sz="1500" i="1" kern="0" spc="-16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i="1" kern="0" spc="-1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TS</a:t>
                      </a:r>
                      <a:r>
                        <a:rPr sz="1500" i="1" kern="0" spc="-10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i="1" kern="0" spc="-1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Modeling                        </a:t>
                      </a:r>
                      <a:r>
                        <a:rPr sz="1500" i="1" kern="0" spc="-2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                           </a:t>
                      </a:r>
                      <a:r>
                        <a:rPr sz="1100" kern="0" spc="-20" baseline="24000" dirty="0">
                          <a:solidFill>
                            <a:srgbClr val="2563EB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ARCHITECTURE</a:t>
                      </a:r>
                      <a:r>
                        <a:rPr sz="700" kern="0" spc="80" dirty="0">
                          <a:solidFill>
                            <a:srgbClr val="2563EB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1100" kern="0" spc="-20" baseline="24000" dirty="0">
                          <a:solidFill>
                            <a:srgbClr val="2563EB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EVOLUTION</a:t>
                      </a:r>
                      <a:r>
                        <a:rPr sz="700" kern="0" spc="-20" dirty="0">
                          <a:solidFill>
                            <a:srgbClr val="2563EB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    </a:t>
                      </a:r>
                      <a:endParaRPr sz="700" dirty="0">
                        <a:latin typeface="Lucida Sans Unicode" panose="020B0602030504020204"/>
                        <a:ea typeface="Lucida Sans Unicode" panose="020B0602030504020204"/>
                        <a:cs typeface="Lucida Sans Unicode" panose="020B0602030504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67155" algn="l" rtl="0" eaLnBrk="0">
                        <a:lnSpc>
                          <a:spcPct val="91000"/>
                        </a:lnSpc>
                        <a:spcBef>
                          <a:spcPts val="0"/>
                        </a:spcBef>
                      </a:pPr>
                      <a:r>
                        <a:rPr sz="900" b="1" i="1" kern="0" spc="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Fig</a:t>
                      </a:r>
                      <a:r>
                        <a:rPr sz="900" b="1" i="1" kern="0" spc="1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.</a:t>
                      </a:r>
                      <a:r>
                        <a:rPr sz="900" b="1" i="1" kern="0" spc="21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b="1" i="1" kern="0" spc="1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2:</a:t>
                      </a:r>
                      <a:r>
                        <a:rPr sz="900" b="1" i="1" kern="0" spc="14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i="1" kern="0" spc="1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时间序列预测模型的演</a:t>
                      </a:r>
                      <a:r>
                        <a:rPr sz="900" i="1" kern="0" spc="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进路线对比：两步分离建模</a:t>
                      </a:r>
                      <a:r>
                        <a:rPr sz="900" kern="0" spc="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i="1" kern="0" spc="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vs</a:t>
                      </a:r>
                      <a:r>
                        <a:rPr sz="900" i="1" kern="0" spc="17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i="1" kern="0" spc="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提出联合图建模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58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58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58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58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5875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88" name="table 88"/>
          <p:cNvGraphicFramePr>
            <a:graphicFrameLocks noGrp="1"/>
          </p:cNvGraphicFramePr>
          <p:nvPr/>
        </p:nvGraphicFramePr>
        <p:xfrm>
          <a:off x="5324475" y="2590800"/>
          <a:ext cx="6172200" cy="3705225"/>
        </p:xfrm>
        <a:graphic>
          <a:graphicData uri="http://schemas.openxmlformats.org/drawingml/2006/table">
            <a:tbl>
              <a:tblPr/>
              <a:tblGrid>
                <a:gridCol w="6172200"/>
              </a:tblGrid>
              <a:tr h="369252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90" name="picture 9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486400" y="2867025"/>
            <a:ext cx="5848350" cy="3152775"/>
          </a:xfrm>
          <a:prstGeom prst="rect">
            <a:avLst/>
          </a:prstGeom>
        </p:spPr>
      </p:pic>
      <p:sp>
        <p:nvSpPr>
          <p:cNvPr id="92" name="path 92"/>
          <p:cNvSpPr/>
          <p:nvPr/>
        </p:nvSpPr>
        <p:spPr>
          <a:xfrm>
            <a:off x="457200" y="4131564"/>
            <a:ext cx="4325111" cy="2840735"/>
          </a:xfrm>
          <a:custGeom>
            <a:avLst/>
            <a:gdLst/>
            <a:ahLst/>
            <a:cxnLst/>
            <a:rect l="0" t="0" r="0" b="0"/>
            <a:pathLst>
              <a:path w="6811" h="4473">
                <a:moveTo>
                  <a:pt x="6811" y="0"/>
                </a:moveTo>
                <a:lnTo>
                  <a:pt x="0" y="0"/>
                </a:lnTo>
                <a:lnTo>
                  <a:pt x="0" y="4473"/>
                </a:lnTo>
                <a:lnTo>
                  <a:pt x="6811" y="4473"/>
                </a:lnTo>
                <a:lnTo>
                  <a:pt x="6811" y="0"/>
                </a:lnTo>
                <a:close/>
                <a:moveTo>
                  <a:pt x="15" y="183"/>
                </a:moveTo>
                <a:lnTo>
                  <a:pt x="15" y="4293"/>
                </a:lnTo>
                <a:cubicBezTo>
                  <a:pt x="15" y="4304"/>
                  <a:pt x="16" y="4315"/>
                  <a:pt x="18" y="4325"/>
                </a:cubicBezTo>
                <a:cubicBezTo>
                  <a:pt x="20" y="4336"/>
                  <a:pt x="23" y="4346"/>
                  <a:pt x="27" y="4356"/>
                </a:cubicBezTo>
                <a:cubicBezTo>
                  <a:pt x="31" y="4366"/>
                  <a:pt x="36" y="4376"/>
                  <a:pt x="42" y="4385"/>
                </a:cubicBezTo>
                <a:cubicBezTo>
                  <a:pt x="48" y="4394"/>
                  <a:pt x="55" y="4402"/>
                  <a:pt x="63" y="4410"/>
                </a:cubicBezTo>
                <a:cubicBezTo>
                  <a:pt x="70" y="4417"/>
                  <a:pt x="79" y="4424"/>
                  <a:pt x="88" y="4430"/>
                </a:cubicBezTo>
                <a:cubicBezTo>
                  <a:pt x="97" y="4436"/>
                  <a:pt x="106" y="4441"/>
                  <a:pt x="116" y="4446"/>
                </a:cubicBezTo>
                <a:cubicBezTo>
                  <a:pt x="126" y="4450"/>
                  <a:pt x="137" y="4453"/>
                  <a:pt x="147" y="4455"/>
                </a:cubicBezTo>
                <a:cubicBezTo>
                  <a:pt x="158" y="4457"/>
                  <a:pt x="169" y="4458"/>
                  <a:pt x="180" y="4458"/>
                </a:cubicBezTo>
                <a:lnTo>
                  <a:pt x="6630" y="4458"/>
                </a:lnTo>
                <a:cubicBezTo>
                  <a:pt x="6640" y="4458"/>
                  <a:pt x="6651" y="4457"/>
                  <a:pt x="6662" y="4455"/>
                </a:cubicBezTo>
                <a:cubicBezTo>
                  <a:pt x="6672" y="4453"/>
                  <a:pt x="6683" y="4450"/>
                  <a:pt x="6693" y="4446"/>
                </a:cubicBezTo>
                <a:cubicBezTo>
                  <a:pt x="6703" y="4441"/>
                  <a:pt x="6712" y="4436"/>
                  <a:pt x="6721" y="4430"/>
                </a:cubicBezTo>
                <a:cubicBezTo>
                  <a:pt x="6730" y="4424"/>
                  <a:pt x="6739" y="4417"/>
                  <a:pt x="6746" y="4410"/>
                </a:cubicBezTo>
                <a:cubicBezTo>
                  <a:pt x="6754" y="4402"/>
                  <a:pt x="6761" y="4394"/>
                  <a:pt x="6767" y="4385"/>
                </a:cubicBezTo>
                <a:cubicBezTo>
                  <a:pt x="6773" y="4376"/>
                  <a:pt x="6778" y="4366"/>
                  <a:pt x="6782" y="4356"/>
                </a:cubicBezTo>
                <a:cubicBezTo>
                  <a:pt x="6786" y="4346"/>
                  <a:pt x="6789" y="4336"/>
                  <a:pt x="6791" y="4325"/>
                </a:cubicBezTo>
                <a:cubicBezTo>
                  <a:pt x="6793" y="4315"/>
                  <a:pt x="6795" y="4304"/>
                  <a:pt x="6795" y="4293"/>
                </a:cubicBezTo>
                <a:lnTo>
                  <a:pt x="6795" y="183"/>
                </a:lnTo>
                <a:cubicBezTo>
                  <a:pt x="6795" y="172"/>
                  <a:pt x="6793" y="162"/>
                  <a:pt x="6791" y="151"/>
                </a:cubicBezTo>
                <a:cubicBezTo>
                  <a:pt x="6789" y="140"/>
                  <a:pt x="6786" y="130"/>
                  <a:pt x="6782" y="120"/>
                </a:cubicBezTo>
                <a:cubicBezTo>
                  <a:pt x="6778" y="110"/>
                  <a:pt x="6773" y="100"/>
                  <a:pt x="6767" y="91"/>
                </a:cubicBezTo>
                <a:cubicBezTo>
                  <a:pt x="6761" y="82"/>
                  <a:pt x="6754" y="74"/>
                  <a:pt x="6746" y="66"/>
                </a:cubicBezTo>
                <a:cubicBezTo>
                  <a:pt x="6739" y="59"/>
                  <a:pt x="6730" y="52"/>
                  <a:pt x="6721" y="46"/>
                </a:cubicBezTo>
                <a:cubicBezTo>
                  <a:pt x="6712" y="40"/>
                  <a:pt x="6703" y="35"/>
                  <a:pt x="6693" y="31"/>
                </a:cubicBezTo>
                <a:cubicBezTo>
                  <a:pt x="6683" y="27"/>
                  <a:pt x="6672" y="23"/>
                  <a:pt x="6662" y="21"/>
                </a:cubicBezTo>
                <a:cubicBezTo>
                  <a:pt x="6651" y="19"/>
                  <a:pt x="6640" y="18"/>
                  <a:pt x="6630" y="18"/>
                </a:cubicBezTo>
                <a:lnTo>
                  <a:pt x="180" y="18"/>
                </a:lnTo>
                <a:cubicBezTo>
                  <a:pt x="169" y="18"/>
                  <a:pt x="158" y="19"/>
                  <a:pt x="147" y="21"/>
                </a:cubicBezTo>
                <a:cubicBezTo>
                  <a:pt x="137" y="23"/>
                  <a:pt x="126" y="27"/>
                  <a:pt x="116" y="31"/>
                </a:cubicBezTo>
                <a:cubicBezTo>
                  <a:pt x="106" y="35"/>
                  <a:pt x="97" y="40"/>
                  <a:pt x="88" y="46"/>
                </a:cubicBezTo>
                <a:cubicBezTo>
                  <a:pt x="79" y="52"/>
                  <a:pt x="70" y="59"/>
                  <a:pt x="63" y="66"/>
                </a:cubicBezTo>
                <a:cubicBezTo>
                  <a:pt x="55" y="74"/>
                  <a:pt x="48" y="82"/>
                  <a:pt x="42" y="91"/>
                </a:cubicBezTo>
                <a:cubicBezTo>
                  <a:pt x="36" y="100"/>
                  <a:pt x="31" y="110"/>
                  <a:pt x="27" y="120"/>
                </a:cubicBezTo>
                <a:cubicBezTo>
                  <a:pt x="23" y="130"/>
                  <a:pt x="20" y="140"/>
                  <a:pt x="18" y="151"/>
                </a:cubicBezTo>
                <a:cubicBezTo>
                  <a:pt x="16" y="162"/>
                  <a:pt x="15" y="172"/>
                  <a:pt x="15" y="183"/>
                </a:cubicBezTo>
              </a:path>
            </a:pathLst>
          </a:custGeom>
          <a:solidFill>
            <a:srgbClr val="D4A574">
              <a:alpha val="2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94" name="picture 9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7225" y="5267325"/>
            <a:ext cx="190500" cy="190500"/>
          </a:xfrm>
          <a:prstGeom prst="rect">
            <a:avLst/>
          </a:prstGeom>
        </p:spPr>
      </p:pic>
      <p:pic>
        <p:nvPicPr>
          <p:cNvPr id="96" name="picture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57225" y="5800725"/>
            <a:ext cx="190500" cy="190500"/>
          </a:xfrm>
          <a:prstGeom prst="rect">
            <a:avLst/>
          </a:prstGeom>
        </p:spPr>
      </p:pic>
      <p:sp>
        <p:nvSpPr>
          <p:cNvPr id="98" name="textbox 98"/>
          <p:cNvSpPr/>
          <p:nvPr/>
        </p:nvSpPr>
        <p:spPr>
          <a:xfrm>
            <a:off x="650240" y="4978057"/>
            <a:ext cx="3622040" cy="1141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900" b="1" kern="0" spc="120" dirty="0">
                <a:solidFill>
                  <a:srgbClr val="D4A574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CORE  INSIGHTS  &amp;  HYPOT</a:t>
            </a:r>
            <a:r>
              <a:rPr sz="900" b="1" kern="0" spc="110" dirty="0">
                <a:solidFill>
                  <a:srgbClr val="D4A574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HESIS</a:t>
            </a:r>
            <a:endParaRPr sz="900" dirty="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  <a:p>
            <a:pPr marL="47625" algn="l" rtl="0" eaLnBrk="0">
              <a:lnSpc>
                <a:spcPct val="97000"/>
              </a:lnSpc>
              <a:spcBef>
                <a:spcPts val="1160"/>
              </a:spcBef>
            </a:pPr>
            <a:r>
              <a:rPr sz="1100" kern="0" spc="210" baseline="-19000" dirty="0">
                <a:solidFill>
                  <a:srgbClr val="FFFFFF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01</a:t>
            </a:r>
            <a:r>
              <a:rPr sz="700" kern="0" spc="20" dirty="0">
                <a:solidFill>
                  <a:srgbClr val="FFFFFF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    </a:t>
            </a:r>
            <a:r>
              <a:rPr sz="1000" kern="0" spc="2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联合图建模</a:t>
            </a:r>
            <a:r>
              <a:rPr sz="1000" kern="0" spc="19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1" kern="0" spc="210" dirty="0">
                <a:solidFill>
                  <a:srgbClr val="111827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(</a:t>
            </a:r>
            <a:r>
              <a:rPr sz="1000" b="1" kern="0" spc="0" dirty="0">
                <a:solidFill>
                  <a:srgbClr val="111827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Joint</a:t>
            </a:r>
            <a:r>
              <a:rPr sz="1000" b="1" kern="0" spc="160" dirty="0">
                <a:solidFill>
                  <a:srgbClr val="111827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000" b="1" kern="0" spc="0" dirty="0">
                <a:solidFill>
                  <a:srgbClr val="111827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Graph</a:t>
            </a:r>
            <a:r>
              <a:rPr sz="1000" b="1" kern="0" spc="220" dirty="0">
                <a:solidFill>
                  <a:srgbClr val="111827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 </a:t>
            </a:r>
            <a:r>
              <a:rPr sz="1000" b="1" kern="0" spc="0" dirty="0">
                <a:solidFill>
                  <a:srgbClr val="111827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Modeling</a:t>
            </a:r>
            <a:r>
              <a:rPr sz="1000" b="1" kern="0" spc="210" dirty="0">
                <a:solidFill>
                  <a:srgbClr val="111827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)</a:t>
            </a:r>
            <a:endParaRPr sz="1000" dirty="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  <a:p>
            <a:pPr algn="r" rtl="0" eaLnBrk="0">
              <a:lnSpc>
                <a:spcPct val="87000"/>
              </a:lnSpc>
              <a:spcBef>
                <a:spcPts val="475"/>
              </a:spcBef>
            </a:pPr>
            <a:r>
              <a:rPr sz="900" kern="0" spc="-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自然捕获节点关系</a:t>
            </a:r>
            <a:r>
              <a:rPr sz="900" kern="0" spc="-1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，同时提取时空相关</a:t>
            </a:r>
            <a:r>
              <a:rPr sz="900" kern="0" spc="-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性</a:t>
            </a:r>
            <a:r>
              <a:rPr sz="900" kern="0" spc="-1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，消除分离阶段的干扰。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625" algn="l" rtl="0" eaLnBrk="0">
              <a:lnSpc>
                <a:spcPct val="90000"/>
              </a:lnSpc>
              <a:spcBef>
                <a:spcPts val="305"/>
              </a:spcBef>
            </a:pPr>
            <a:r>
              <a:rPr sz="1100" kern="0" spc="30" baseline="-9000" dirty="0">
                <a:solidFill>
                  <a:srgbClr val="FFFFFF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02</a:t>
            </a:r>
            <a:r>
              <a:rPr sz="700" kern="0" spc="30" dirty="0">
                <a:solidFill>
                  <a:srgbClr val="FFFFFF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     </a:t>
            </a:r>
            <a:r>
              <a:rPr sz="1000" kern="0" spc="3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抗噪生成</a:t>
            </a:r>
            <a:r>
              <a:rPr lang="zh-CN" sz="1000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式</a:t>
            </a:r>
            <a:r>
              <a:rPr sz="1000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架构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3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  <a:spcBef>
                <a:spcPts val="5"/>
              </a:spcBef>
            </a:pPr>
            <a:r>
              <a:rPr sz="900" kern="0" spc="-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通过拟合潜在概率分布</a:t>
            </a:r>
            <a:r>
              <a:rPr sz="900" kern="0" spc="-1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，应对传感器故障噪声</a:t>
            </a:r>
            <a:r>
              <a:rPr sz="900" kern="0" spc="-1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，提取鲁棒关联图</a:t>
            </a:r>
            <a:r>
              <a:rPr sz="900" kern="0" spc="-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657650" y="2139606"/>
            <a:ext cx="3889375" cy="6642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" algn="l" rtl="0" eaLnBrk="0">
              <a:lnSpc>
                <a:spcPct val="78000"/>
              </a:lnSpc>
            </a:pPr>
            <a:r>
              <a:rPr sz="900" b="1" kern="0" spc="120" dirty="0">
                <a:solidFill>
                  <a:srgbClr val="5B8BA8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BACKGROUND  &amp;</a:t>
            </a:r>
            <a:r>
              <a:rPr sz="900" b="1" kern="0" spc="40" dirty="0">
                <a:solidFill>
                  <a:srgbClr val="5B8BA8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  </a:t>
            </a:r>
            <a:r>
              <a:rPr sz="900" b="1" kern="0" spc="120" dirty="0">
                <a:solidFill>
                  <a:srgbClr val="5B8BA8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CURREN</a:t>
            </a:r>
            <a:r>
              <a:rPr sz="900" b="1" kern="0" spc="110" dirty="0">
                <a:solidFill>
                  <a:srgbClr val="5B8BA8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T  LIMITS</a:t>
            </a:r>
            <a:endParaRPr sz="900" dirty="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  <a:p>
            <a:pPr algn="l" rtl="0" eaLnBrk="0">
              <a:lnSpc>
                <a:spcPct val="111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141000"/>
              </a:lnSpc>
              <a:spcBef>
                <a:spcPts val="5"/>
              </a:spcBef>
            </a:pPr>
            <a:r>
              <a:rPr sz="1000" kern="0" spc="50" dirty="0">
                <a:solidFill>
                  <a:srgbClr val="5B8B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应用背景：</a:t>
            </a:r>
            <a:r>
              <a:rPr sz="1000" kern="0" spc="5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外变量（如温</a:t>
            </a:r>
            <a:r>
              <a:rPr sz="1000" kern="0" spc="4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度）可直接影响内变量预测</a:t>
            </a:r>
            <a:r>
              <a:rPr sz="1000" kern="0" spc="-17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4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，具有极高参</a:t>
            </a:r>
            <a:r>
              <a:rPr sz="1000" kern="0" spc="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考价值。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" name="textbox 102"/>
          <p:cNvSpPr/>
          <p:nvPr/>
        </p:nvSpPr>
        <p:spPr>
          <a:xfrm>
            <a:off x="454101" y="1038097"/>
            <a:ext cx="5450840" cy="38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700" kern="0" spc="-4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研究动机：</a:t>
            </a:r>
            <a:r>
              <a:rPr sz="2700" kern="0" spc="-59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4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突破分离建模的</a:t>
            </a:r>
            <a:r>
              <a:rPr sz="2700" kern="0" spc="-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干扰瓶颈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4" name="textbox 104"/>
          <p:cNvSpPr/>
          <p:nvPr/>
        </p:nvSpPr>
        <p:spPr>
          <a:xfrm>
            <a:off x="836857" y="3258565"/>
            <a:ext cx="1847850" cy="41211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8000"/>
              </a:lnSpc>
            </a:pP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时序与通道相关性</a:t>
            </a:r>
            <a:r>
              <a:rPr lang="zh-CN" sz="900" u="sng" kern="0" spc="0" dirty="0">
                <a:solidFill>
                  <a:srgbClr val="1F2937">
                    <a:alpha val="100000"/>
                  </a:srgbClr>
                </a:solidFill>
                <a:uFill>
                  <a:solidFill>
                    <a:srgbClr val="FECACA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</a:t>
            </a:r>
            <a:r>
              <a:rPr sz="900" u="sng" kern="0" spc="0" dirty="0">
                <a:solidFill>
                  <a:srgbClr val="1F2937">
                    <a:alpha val="100000"/>
                  </a:srgbClr>
                </a:solidFill>
                <a:uFill>
                  <a:solidFill>
                    <a:srgbClr val="FECACA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</a:t>
            </a:r>
            <a:r>
              <a:rPr sz="900" u="sng" kern="0" spc="-10" dirty="0">
                <a:solidFill>
                  <a:srgbClr val="1F2937">
                    <a:alpha val="100000"/>
                  </a:srgbClr>
                </a:solidFill>
                <a:uFill>
                  <a:solidFill>
                    <a:srgbClr val="FECACA"/>
                  </a:solidFill>
                </a:u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离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7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0"/>
              </a:spcBef>
            </a:pP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两阶段演化导致</a:t>
            </a:r>
            <a:r>
              <a:rPr sz="900" kern="0" spc="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r>
              <a:rPr sz="9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串扰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0" name="textbox 110"/>
          <p:cNvSpPr/>
          <p:nvPr/>
        </p:nvSpPr>
        <p:spPr>
          <a:xfrm>
            <a:off x="661650" y="3038309"/>
            <a:ext cx="2130425" cy="1739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7000"/>
              </a:lnSpc>
            </a:pPr>
            <a:r>
              <a:rPr sz="1000" kern="0" spc="40" dirty="0">
                <a:solidFill>
                  <a:srgbClr val="B9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两步建模策略</a:t>
            </a:r>
            <a:r>
              <a:rPr sz="1000" kern="0" spc="90" dirty="0">
                <a:solidFill>
                  <a:srgbClr val="B9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40" dirty="0">
                <a:solidFill>
                  <a:srgbClr val="B91C1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000" kern="0" spc="0" dirty="0">
                <a:solidFill>
                  <a:srgbClr val="B91C1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Two</a:t>
            </a:r>
            <a:r>
              <a:rPr sz="1000" kern="0" spc="40" dirty="0">
                <a:solidFill>
                  <a:srgbClr val="B91C1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1000" kern="0" spc="0" dirty="0">
                <a:solidFill>
                  <a:srgbClr val="B91C1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step</a:t>
            </a:r>
            <a:r>
              <a:rPr sz="1000" kern="0" spc="40" dirty="0">
                <a:solidFill>
                  <a:srgbClr val="B91C1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1000" kern="0" spc="80" dirty="0">
                <a:solidFill>
                  <a:srgbClr val="B91C1C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30" dirty="0">
                <a:solidFill>
                  <a:srgbClr val="B91C1C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的局限：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2" name="textbox 112"/>
          <p:cNvSpPr/>
          <p:nvPr/>
        </p:nvSpPr>
        <p:spPr>
          <a:xfrm>
            <a:off x="1667414" y="6885305"/>
            <a:ext cx="1336675" cy="1473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960"/>
              </a:lnSpc>
            </a:pPr>
            <a:r>
              <a:rPr sz="700" kern="0" spc="0" dirty="0">
                <a:solidFill>
                  <a:srgbClr val="D1D5DB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SECTION</a:t>
            </a:r>
            <a:r>
              <a:rPr sz="700" kern="0" spc="90" dirty="0">
                <a:solidFill>
                  <a:srgbClr val="D1D5DB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90" dirty="0">
                <a:solidFill>
                  <a:srgbClr val="D1D5DB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01</a:t>
            </a:r>
            <a:r>
              <a:rPr sz="700" kern="0" spc="90" dirty="0">
                <a:solidFill>
                  <a:srgbClr val="D1D5DB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90" dirty="0">
                <a:solidFill>
                  <a:srgbClr val="D1D5DB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</a:t>
            </a:r>
            <a:r>
              <a:rPr sz="700" kern="0" spc="80" dirty="0">
                <a:solidFill>
                  <a:srgbClr val="D1D5DB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0" dirty="0">
                <a:solidFill>
                  <a:srgbClr val="D1D5DB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MOTIVATION</a:t>
            </a:r>
            <a:endParaRPr sz="700" dirty="0"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pic>
        <p:nvPicPr>
          <p:cNvPr id="114" name="picture 1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71500"/>
            <a:ext cx="12192000" cy="9525"/>
          </a:xfrm>
          <a:prstGeom prst="rect">
            <a:avLst/>
          </a:prstGeom>
        </p:spPr>
      </p:pic>
      <p:pic>
        <p:nvPicPr>
          <p:cNvPr id="116" name="picture 1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7419975"/>
            <a:ext cx="12192000" cy="9524"/>
          </a:xfrm>
          <a:prstGeom prst="rect">
            <a:avLst/>
          </a:prstGeom>
        </p:spPr>
      </p:pic>
      <p:pic>
        <p:nvPicPr>
          <p:cNvPr id="118" name="picture 1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276975" y="6448425"/>
            <a:ext cx="4267200" cy="9525"/>
          </a:xfrm>
          <a:prstGeom prst="rect">
            <a:avLst/>
          </a:prstGeom>
        </p:spPr>
      </p:pic>
      <p:pic>
        <p:nvPicPr>
          <p:cNvPr id="120" name="picture 1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276975" y="6724650"/>
            <a:ext cx="4267200" cy="9525"/>
          </a:xfrm>
          <a:prstGeom prst="rect">
            <a:avLst/>
          </a:prstGeom>
        </p:spPr>
      </p:pic>
      <p:pic>
        <p:nvPicPr>
          <p:cNvPr id="122" name="picture 1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57200" y="1933575"/>
            <a:ext cx="19050" cy="1971675"/>
          </a:xfrm>
          <a:prstGeom prst="rect">
            <a:avLst/>
          </a:prstGeom>
        </p:spPr>
      </p:pic>
      <p:pic>
        <p:nvPicPr>
          <p:cNvPr id="124" name="picture 1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66750" y="2943225"/>
            <a:ext cx="3924300" cy="9525"/>
          </a:xfrm>
          <a:prstGeom prst="rect">
            <a:avLst/>
          </a:prstGeom>
        </p:spPr>
      </p:pic>
      <p:sp>
        <p:nvSpPr>
          <p:cNvPr id="126" name="textbox 126"/>
          <p:cNvSpPr/>
          <p:nvPr/>
        </p:nvSpPr>
        <p:spPr>
          <a:xfrm>
            <a:off x="660336" y="3322840"/>
            <a:ext cx="119379" cy="3810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695"/>
              </a:lnSpc>
            </a:pPr>
            <a:r>
              <a:rPr sz="900" kern="0" spc="10" dirty="0">
                <a:solidFill>
                  <a:srgbClr val="EF4444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●</a:t>
            </a:r>
            <a:endParaRPr sz="900" dirty="0">
              <a:latin typeface="Lucida Sans Unicode" panose="020B0602030504020204"/>
              <a:ea typeface="Lucida Sans Unicode" panose="020B0602030504020204"/>
              <a:cs typeface="Lucida Sans Unicode" panose="020B0602030504020204"/>
            </a:endParaRPr>
          </a:p>
          <a:p>
            <a:pPr algn="l" rtl="0" eaLnBrk="0">
              <a:lnSpc>
                <a:spcPct val="106000"/>
              </a:lnSpc>
            </a:pP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695"/>
              </a:lnSpc>
              <a:spcBef>
                <a:spcPts val="5"/>
              </a:spcBef>
            </a:pPr>
            <a:r>
              <a:rPr sz="900" kern="0" spc="10" dirty="0">
                <a:solidFill>
                  <a:srgbClr val="EF4444">
                    <a:alpha val="100000"/>
                  </a:srgbClr>
                </a:solidFill>
                <a:latin typeface="Lucida Sans Unicode" panose="020B0602030504020204"/>
                <a:ea typeface="Lucida Sans Unicode" panose="020B0602030504020204"/>
                <a:cs typeface="Lucida Sans Unicode" panose="020B0602030504020204"/>
              </a:rPr>
              <a:t>●</a:t>
            </a:r>
            <a:endParaRPr sz="900" dirty="0">
              <a:latin typeface="Lucida Sans Unicode" panose="020B0602030504020204"/>
              <a:ea typeface="Lucida Sans Unicode" panose="020B0602030504020204"/>
              <a:cs typeface="Lucida Sans Unicode" panose="020B0602030504020204"/>
            </a:endParaRPr>
          </a:p>
        </p:txBody>
      </p:sp>
      <p:pic>
        <p:nvPicPr>
          <p:cNvPr id="128" name="picture 12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381000" y="7029450"/>
            <a:ext cx="1219200" cy="19050"/>
          </a:xfrm>
          <a:prstGeom prst="rect">
            <a:avLst/>
          </a:prstGeom>
        </p:spPr>
      </p:pic>
      <p:pic>
        <p:nvPicPr>
          <p:cNvPr id="132" name="picture 13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57200" y="1609725"/>
            <a:ext cx="457200" cy="19050"/>
          </a:xfrm>
          <a:prstGeom prst="rect">
            <a:avLst/>
          </a:prstGeom>
        </p:spPr>
      </p:pic>
      <p:sp>
        <p:nvSpPr>
          <p:cNvPr id="134" name="path 134"/>
          <p:cNvSpPr/>
          <p:nvPr/>
        </p:nvSpPr>
        <p:spPr>
          <a:xfrm>
            <a:off x="11659659" y="6897158"/>
            <a:ext cx="50258" cy="50258"/>
          </a:xfrm>
          <a:custGeom>
            <a:avLst/>
            <a:gdLst/>
            <a:ahLst/>
            <a:cxnLst/>
            <a:rect l="0" t="0" r="0" b="0"/>
            <a:pathLst>
              <a:path w="79" h="79">
                <a:moveTo>
                  <a:pt x="71" y="7"/>
                </a:moveTo>
                <a:cubicBezTo>
                  <a:pt x="63" y="20"/>
                  <a:pt x="53" y="31"/>
                  <a:pt x="42" y="42"/>
                </a:cubicBezTo>
                <a:cubicBezTo>
                  <a:pt x="31" y="53"/>
                  <a:pt x="20" y="63"/>
                  <a:pt x="7" y="71"/>
                </a:cubicBezTo>
              </a:path>
            </a:pathLst>
          </a:custGeom>
          <a:noFill/>
          <a:ln w="9525" cap="flat">
            <a:solidFill>
              <a:srgbClr val="F3F4F6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rect 136"/>
          <p:cNvSpPr/>
          <p:nvPr/>
        </p:nvSpPr>
        <p:spPr>
          <a:xfrm>
            <a:off x="0" y="406908"/>
            <a:ext cx="12192000" cy="7181850"/>
          </a:xfrm>
          <a:prstGeom prst="rect">
            <a:avLst/>
          </a:prstGeom>
          <a:solidFill>
            <a:srgbClr val="FAF9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38" name="picture 1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94480" y="1497965"/>
            <a:ext cx="8015605" cy="6503035"/>
          </a:xfrm>
          <a:prstGeom prst="rect">
            <a:avLst/>
          </a:prstGeom>
          <a:ln>
            <a:noFill/>
          </a:ln>
        </p:spPr>
      </p:pic>
      <p:sp>
        <p:nvSpPr>
          <p:cNvPr id="142" name="textbox 142"/>
          <p:cNvSpPr/>
          <p:nvPr/>
        </p:nvSpPr>
        <p:spPr>
          <a:xfrm>
            <a:off x="1019733" y="4725034"/>
            <a:ext cx="3119120" cy="22821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6000"/>
              </a:lnSpc>
            </a:pPr>
            <a:r>
              <a:rPr sz="1000" kern="0" spc="3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变分生成器</a:t>
            </a:r>
            <a:r>
              <a:rPr sz="1000" kern="0" spc="-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00" i="1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Variational</a:t>
            </a:r>
            <a:r>
              <a:rPr sz="700" i="1" kern="0" spc="3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i="1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Gen</a:t>
            </a:r>
            <a:r>
              <a:rPr sz="700" i="1" kern="0" spc="3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.</a:t>
            </a:r>
            <a:endParaRPr sz="700" dirty="0"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14605" algn="l" rtl="0" eaLnBrk="0">
              <a:lnSpc>
                <a:spcPct val="88000"/>
              </a:lnSpc>
              <a:spcBef>
                <a:spcPts val="1005"/>
              </a:spcBef>
            </a:pP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负责生成未来时间段的粗粒</a:t>
            </a:r>
            <a:r>
              <a:rPr sz="900" kern="0" spc="-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度序列预估。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6000"/>
              </a:lnSpc>
              <a:spcBef>
                <a:spcPts val="300"/>
              </a:spcBef>
            </a:pPr>
            <a:r>
              <a:rPr sz="1000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图结构对齐器</a:t>
            </a:r>
            <a:r>
              <a:rPr sz="1000" kern="0" spc="-9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00" i="1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Structure</a:t>
            </a:r>
            <a:r>
              <a:rPr sz="700" i="1" kern="0" spc="2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i="1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Aligner</a:t>
            </a:r>
            <a:endParaRPr sz="700" dirty="0"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marL="13970" algn="l" rtl="0" eaLnBrk="0">
              <a:lnSpc>
                <a:spcPct val="83000"/>
              </a:lnSpc>
              <a:spcBef>
                <a:spcPts val="1010"/>
              </a:spcBef>
            </a:pPr>
            <a:r>
              <a:rPr sz="900" kern="0" spc="-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对接生成的粗预估与真实序列</a:t>
            </a:r>
            <a:r>
              <a:rPr sz="900" kern="0" spc="-1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，通过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8415" algn="l" rtl="0" eaLnBrk="0">
              <a:lnSpc>
                <a:spcPts val="1510"/>
              </a:lnSpc>
            </a:pP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Patch</a:t>
            </a:r>
            <a:r>
              <a:rPr sz="9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提取特征与损失函数实行对齐。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590" algn="l" rtl="0" eaLnBrk="0">
              <a:lnSpc>
                <a:spcPct val="96000"/>
              </a:lnSpc>
              <a:spcBef>
                <a:spcPts val="310"/>
              </a:spcBef>
            </a:pPr>
            <a:r>
              <a:rPr sz="1000" kern="0" spc="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</a:t>
            </a:r>
            <a:r>
              <a:rPr lang="zh-CN" sz="1000" kern="0" spc="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精化</a:t>
            </a:r>
            <a:r>
              <a:rPr sz="1000" kern="0" spc="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器</a:t>
            </a:r>
            <a:r>
              <a:rPr sz="1000" kern="0" spc="-8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00" i="1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Graph</a:t>
            </a:r>
            <a:r>
              <a:rPr sz="700" i="1" kern="0" spc="1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i="1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Refiner</a:t>
            </a:r>
            <a:endParaRPr sz="700" dirty="0"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 rtl="0" eaLnBrk="0">
              <a:lnSpc>
                <a:spcPct val="103000"/>
              </a:lnSpc>
            </a:pPr>
            <a:endParaRPr sz="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3000"/>
              </a:lnSpc>
            </a:pPr>
            <a:r>
              <a:rPr sz="900" kern="0" spc="-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</a:t>
            </a:r>
            <a:r>
              <a:rPr sz="900" kern="0" spc="-3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GCN</a:t>
            </a:r>
            <a:r>
              <a:rPr sz="900" kern="0" spc="-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卷积聚合</a:t>
            </a:r>
            <a:r>
              <a:rPr sz="900" kern="0" spc="-9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，防止</a:t>
            </a:r>
            <a:r>
              <a:rPr sz="900" kern="0" spc="-3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Graph VAE</a:t>
            </a:r>
            <a:r>
              <a:rPr sz="900" kern="0" spc="-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模式崩塌</a:t>
            </a:r>
            <a:r>
              <a:rPr sz="900" kern="0" spc="-1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900" kern="0" spc="-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，输出精确值。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144" name="table 144"/>
          <p:cNvGraphicFramePr>
            <a:graphicFrameLocks noGrp="1"/>
          </p:cNvGraphicFramePr>
          <p:nvPr/>
        </p:nvGraphicFramePr>
        <p:xfrm>
          <a:off x="723900" y="2011298"/>
          <a:ext cx="3796030" cy="1773555"/>
        </p:xfrm>
        <a:graphic>
          <a:graphicData uri="http://schemas.openxmlformats.org/drawingml/2006/table">
            <a:tbl>
              <a:tblPr/>
              <a:tblGrid>
                <a:gridCol w="2545079"/>
                <a:gridCol w="777875"/>
                <a:gridCol w="473075"/>
              </a:tblGrid>
              <a:tr h="605155">
                <a:tc>
                  <a:txBody>
                    <a:bodyPr/>
                    <a:lstStyle/>
                    <a:p>
                      <a:pPr marL="825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900" kern="0" spc="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</a:t>
                      </a:r>
                      <a:r>
                        <a:rPr sz="900" kern="0" spc="-7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题</a:t>
                      </a:r>
                      <a:r>
                        <a:rPr sz="900" kern="0" spc="-7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 学</a:t>
                      </a:r>
                      <a:r>
                        <a:rPr sz="900" kern="0" spc="-6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</a:t>
                      </a:r>
                      <a:r>
                        <a:rPr sz="900" kern="0" spc="-6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义</a:t>
                      </a:r>
                      <a:r>
                        <a:rPr sz="900" kern="0" spc="11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900" b="1" kern="0" spc="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( D I M</a:t>
                      </a:r>
                      <a:r>
                        <a:rPr sz="900" b="1" kern="0" spc="4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E</a:t>
                      </a:r>
                      <a:r>
                        <a:rPr sz="900" b="1" kern="0" spc="3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N S</a:t>
                      </a:r>
                      <a:r>
                        <a:rPr sz="900" b="1" kern="0" spc="4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IO</a:t>
                      </a:r>
                      <a:r>
                        <a:rPr sz="900" b="1" kern="0" spc="4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 </a:t>
                      </a:r>
                      <a:r>
                        <a:rPr sz="900" b="1" kern="0" spc="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N</a:t>
                      </a:r>
                      <a:r>
                        <a:rPr sz="900" b="1" kern="0" spc="2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S</a:t>
                      </a:r>
                      <a:r>
                        <a:rPr sz="900" b="1" kern="0" spc="3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 </a:t>
                      </a:r>
                      <a:r>
                        <a:rPr sz="900" b="1" kern="0" spc="-10" dirty="0">
                          <a:solidFill>
                            <a:srgbClr val="5B8BA8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)</a:t>
                      </a:r>
                      <a:endParaRPr sz="900" dirty="0">
                        <a:latin typeface="Microsoft JhengHei" panose="020B0604030504040204" charset="-120"/>
                        <a:ea typeface="Microsoft JhengHei" panose="020B0604030504040204" charset="-120"/>
                        <a:cs typeface="Microsoft JhengHei" panose="020B0604030504040204" charset="-120"/>
                      </a:endParaRPr>
                    </a:p>
                    <a:p>
                      <a:pPr algn="l" rtl="0" eaLnBrk="0">
                        <a:lnSpc>
                          <a:spcPct val="11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1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000" kern="0" spc="40" dirty="0">
                          <a:solidFill>
                            <a:srgbClr val="37415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历史内变量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457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78790" algn="l" rtl="0" eaLnBrk="0">
                        <a:lnSpc>
                          <a:spcPct val="74000"/>
                        </a:lnSpc>
                        <a:spcBef>
                          <a:spcPts val="5"/>
                        </a:spcBef>
                      </a:pPr>
                      <a:r>
                        <a:rPr sz="1400" i="1" kern="0" spc="0" baseline="-1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sz="900" i="1" kern="0" spc="-1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00" i="1" kern="0" spc="0" baseline="1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endo</a:t>
                      </a:r>
                      <a:r>
                        <a:rPr sz="600" i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1400" kern="0" spc="0" baseline="-1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∈</a:t>
                      </a:r>
                      <a:r>
                        <a:rPr sz="9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kern="0" spc="0" baseline="-1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000" i="1" kern="0" spc="-10" baseline="1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000" kern="0" spc="-10" baseline="1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sz="1000" i="1" kern="0" spc="-10" baseline="1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</a:t>
                      </a:r>
                      <a:endParaRPr sz="1000" baseline="10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306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10" algn="l" rtl="0" eaLnBrk="0">
                        <a:lnSpc>
                          <a:spcPct val="88000"/>
                        </a:lnSpc>
                        <a:spcBef>
                          <a:spcPts val="0"/>
                        </a:spcBef>
                      </a:pPr>
                      <a:r>
                        <a:rPr sz="1000" kern="0" spc="40" dirty="0">
                          <a:solidFill>
                            <a:srgbClr val="37415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历史外变量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33400" algn="l" rtl="0" eaLnBrk="0">
                        <a:lnSpc>
                          <a:spcPct val="83000"/>
                        </a:lnSpc>
                      </a:pPr>
                      <a:r>
                        <a:rPr sz="1400" i="1" kern="0" spc="-10" baseline="-15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sz="900" i="1" kern="0" spc="-1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00" i="1" kern="0" spc="-10" baseline="16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exo</a:t>
                      </a:r>
                      <a:r>
                        <a:rPr sz="600" i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1400" kern="0" spc="-10" baseline="-15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∈</a:t>
                      </a:r>
                      <a:r>
                        <a:rPr sz="9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kern="0" spc="-10" baseline="-15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000" i="1" kern="0" spc="-10" baseline="16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000" kern="0" spc="-10" baseline="16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sz="1000" i="1" kern="0" spc="-10" baseline="16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</a:t>
                      </a:r>
                      <a:endParaRPr sz="1000" baseline="16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322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75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1000" kern="0" spc="40" dirty="0">
                          <a:solidFill>
                            <a:srgbClr val="37415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未来外变量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35940" algn="l" rtl="0" eaLnBrk="0">
                        <a:lnSpc>
                          <a:spcPct val="74000"/>
                        </a:lnSpc>
                      </a:pPr>
                      <a:r>
                        <a:rPr sz="1400" i="1" kern="0" spc="-10" baseline="-1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Y</a:t>
                      </a:r>
                      <a:r>
                        <a:rPr sz="1000" i="1" kern="0" spc="-10" baseline="1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exo</a:t>
                      </a:r>
                      <a:r>
                        <a:rPr sz="600" i="1" kern="0" spc="-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1400" kern="0" spc="-10" baseline="-1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∈</a:t>
                      </a:r>
                      <a:r>
                        <a:rPr sz="900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kern="0" spc="-10" baseline="-1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000" i="1" kern="0" spc="-10" baseline="1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000" kern="0" spc="-10" baseline="1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sz="1000" i="1" kern="0" spc="-10" baseline="1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</a:t>
                      </a:r>
                      <a:endParaRPr sz="1000" baseline="10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10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1000" kern="0" spc="30" dirty="0">
                          <a:solidFill>
                            <a:srgbClr val="374151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预测目标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83565" algn="l" rtl="0" eaLnBrk="0">
                        <a:lnSpc>
                          <a:spcPct val="89000"/>
                        </a:lnSpc>
                        <a:spcBef>
                          <a:spcPts val="5"/>
                        </a:spcBef>
                      </a:pPr>
                      <a:r>
                        <a:rPr sz="1000" i="1" kern="0" spc="-30" baseline="1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endo</a:t>
                      </a:r>
                      <a:endParaRPr sz="1000" baseline="10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495" algn="l" rtl="0" eaLnBrk="0">
                        <a:lnSpc>
                          <a:spcPct val="79000"/>
                        </a:lnSpc>
                      </a:pPr>
                      <a:r>
                        <a:rPr sz="1400" kern="0" spc="-190" baseline="-1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∈</a:t>
                      </a:r>
                      <a:r>
                        <a:rPr sz="9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400" kern="0" spc="-190" baseline="-1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000" i="1" kern="0" spc="0" baseline="2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000" kern="0" spc="120" baseline="2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sz="1000" i="1" kern="0" spc="120" baseline="21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</a:t>
                      </a:r>
                      <a:endParaRPr sz="1000" baseline="2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46" name="textbox 146"/>
          <p:cNvSpPr/>
          <p:nvPr/>
        </p:nvSpPr>
        <p:spPr>
          <a:xfrm>
            <a:off x="3737797" y="3654312"/>
            <a:ext cx="113664" cy="125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900" i="1" kern="0" spc="8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0" name="textbox 150"/>
          <p:cNvSpPr/>
          <p:nvPr/>
        </p:nvSpPr>
        <p:spPr>
          <a:xfrm>
            <a:off x="454101" y="873506"/>
            <a:ext cx="6563994" cy="4006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</a:pPr>
            <a:r>
              <a:rPr sz="2700" kern="0" spc="-10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模型框架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2" name="path 152"/>
          <p:cNvSpPr/>
          <p:nvPr/>
        </p:nvSpPr>
        <p:spPr>
          <a:xfrm>
            <a:off x="5276850" y="7030894"/>
            <a:ext cx="6446710" cy="100664"/>
          </a:xfrm>
          <a:custGeom>
            <a:avLst/>
            <a:gdLst/>
            <a:ahLst/>
            <a:cxnLst/>
            <a:rect l="0" t="0" r="0" b="0"/>
            <a:pathLst>
              <a:path w="10152" h="158">
                <a:moveTo>
                  <a:pt x="10144" y="7"/>
                </a:moveTo>
                <a:cubicBezTo>
                  <a:pt x="10138" y="21"/>
                  <a:pt x="10131" y="35"/>
                  <a:pt x="10123" y="47"/>
                </a:cubicBezTo>
                <a:cubicBezTo>
                  <a:pt x="10114" y="60"/>
                  <a:pt x="10105" y="72"/>
                  <a:pt x="10094" y="82"/>
                </a:cubicBezTo>
                <a:cubicBezTo>
                  <a:pt x="10083" y="93"/>
                  <a:pt x="10071" y="103"/>
                  <a:pt x="10059" y="111"/>
                </a:cubicBezTo>
                <a:cubicBezTo>
                  <a:pt x="10046" y="120"/>
                  <a:pt x="10033" y="127"/>
                  <a:pt x="10018" y="133"/>
                </a:cubicBezTo>
                <a:cubicBezTo>
                  <a:pt x="10004" y="139"/>
                  <a:pt x="9990" y="143"/>
                  <a:pt x="9975" y="146"/>
                </a:cubicBezTo>
                <a:cubicBezTo>
                  <a:pt x="9960" y="149"/>
                  <a:pt x="9945" y="151"/>
                  <a:pt x="9930" y="151"/>
                </a:cubicBezTo>
                <a:lnTo>
                  <a:pt x="0" y="151"/>
                </a:lnTo>
              </a:path>
            </a:pathLst>
          </a:custGeom>
          <a:noFill/>
          <a:ln w="9525" cap="flat">
            <a:solidFill>
              <a:srgbClr val="F3F4F6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0" name="picture 16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57200" y="1768983"/>
            <a:ext cx="152400" cy="2295525"/>
          </a:xfrm>
          <a:prstGeom prst="rect">
            <a:avLst/>
          </a:prstGeom>
        </p:spPr>
      </p:pic>
      <p:sp>
        <p:nvSpPr>
          <p:cNvPr id="162" name="textbox 162"/>
          <p:cNvSpPr/>
          <p:nvPr/>
        </p:nvSpPr>
        <p:spPr>
          <a:xfrm>
            <a:off x="451586" y="4294123"/>
            <a:ext cx="1092835" cy="14668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900" kern="0" spc="150" dirty="0">
                <a:solidFill>
                  <a:srgbClr val="9CA3A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三阶段核心流水线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64" name="picture 16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406908"/>
            <a:ext cx="12192000" cy="9525"/>
          </a:xfrm>
          <a:prstGeom prst="rect">
            <a:avLst/>
          </a:prstGeom>
        </p:spPr>
      </p:pic>
      <p:pic>
        <p:nvPicPr>
          <p:cNvPr id="166" name="picture 1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7579233"/>
            <a:ext cx="12192000" cy="9524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21600000">
            <a:off x="571500" y="4712208"/>
            <a:ext cx="304800" cy="304800"/>
            <a:chOff x="0" y="0"/>
            <a:chExt cx="304800" cy="304800"/>
          </a:xfrm>
        </p:grpSpPr>
        <p:pic>
          <p:nvPicPr>
            <p:cNvPr id="168" name="picture 16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21600000">
              <a:off x="0" y="0"/>
              <a:ext cx="304800" cy="304800"/>
            </a:xfrm>
            <a:prstGeom prst="rect">
              <a:avLst/>
            </a:prstGeom>
          </p:spPr>
        </p:pic>
        <p:sp>
          <p:nvSpPr>
            <p:cNvPr id="170" name="textbox 170"/>
            <p:cNvSpPr/>
            <p:nvPr/>
          </p:nvSpPr>
          <p:spPr>
            <a:xfrm>
              <a:off x="-12700" y="-12700"/>
              <a:ext cx="330200" cy="33020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3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0970" algn="l" rtl="0" eaLnBrk="0">
                <a:lnSpc>
                  <a:spcPct val="74000"/>
                </a:lnSpc>
                <a:spcBef>
                  <a:spcPts val="0"/>
                </a:spcBef>
              </a:pPr>
              <a:r>
                <a:rPr sz="1200" kern="0" spc="-1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a</a:t>
              </a:r>
              <a:endParaRPr sz="1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21600000">
            <a:off x="571500" y="5550408"/>
            <a:ext cx="304800" cy="304800"/>
            <a:chOff x="0" y="0"/>
            <a:chExt cx="304800" cy="304800"/>
          </a:xfrm>
        </p:grpSpPr>
        <p:pic>
          <p:nvPicPr>
            <p:cNvPr id="172" name="picture 172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 rot="21600000">
              <a:off x="0" y="0"/>
              <a:ext cx="304800" cy="304800"/>
            </a:xfrm>
            <a:prstGeom prst="rect">
              <a:avLst/>
            </a:prstGeom>
          </p:spPr>
        </p:pic>
        <p:sp>
          <p:nvSpPr>
            <p:cNvPr id="174" name="textbox 174"/>
            <p:cNvSpPr/>
            <p:nvPr/>
          </p:nvSpPr>
          <p:spPr>
            <a:xfrm>
              <a:off x="102648" y="84150"/>
              <a:ext cx="103504" cy="16382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79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76000"/>
                </a:lnSpc>
              </a:pPr>
              <a:r>
                <a:rPr sz="1200" kern="0" spc="-1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b</a:t>
              </a:r>
              <a:endParaRPr sz="1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21600000">
            <a:off x="571500" y="6569583"/>
            <a:ext cx="304800" cy="304800"/>
            <a:chOff x="0" y="0"/>
            <a:chExt cx="304800" cy="304800"/>
          </a:xfrm>
        </p:grpSpPr>
        <p:pic>
          <p:nvPicPr>
            <p:cNvPr id="176" name="picture 17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04800" cy="304800"/>
            </a:xfrm>
            <a:prstGeom prst="rect">
              <a:avLst/>
            </a:prstGeom>
          </p:spPr>
        </p:pic>
        <p:sp>
          <p:nvSpPr>
            <p:cNvPr id="178" name="textbox 178"/>
            <p:cNvSpPr/>
            <p:nvPr/>
          </p:nvSpPr>
          <p:spPr>
            <a:xfrm>
              <a:off x="-12700" y="-12700"/>
              <a:ext cx="330200" cy="33274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2000"/>
                </a:lnSpc>
              </a:pPr>
              <a:endParaRPr sz="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3350" algn="l" rtl="0" eaLnBrk="0">
                <a:lnSpc>
                  <a:spcPct val="76000"/>
                </a:lnSpc>
                <a:spcBef>
                  <a:spcPts val="0"/>
                </a:spcBef>
              </a:pPr>
              <a:r>
                <a:rPr sz="1200" kern="0" spc="-1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d</a:t>
              </a:r>
              <a:endParaRPr sz="12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pic>
        <p:nvPicPr>
          <p:cNvPr id="180" name="picture 18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495300" y="7131558"/>
            <a:ext cx="190500" cy="76200"/>
          </a:xfrm>
          <a:prstGeom prst="rect">
            <a:avLst/>
          </a:prstGeom>
        </p:spPr>
      </p:pic>
      <p:pic>
        <p:nvPicPr>
          <p:cNvPr id="182" name="picture 18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457200" y="1445133"/>
            <a:ext cx="457200" cy="19050"/>
          </a:xfrm>
          <a:prstGeom prst="rect">
            <a:avLst/>
          </a:prstGeom>
        </p:spPr>
      </p:pic>
      <p:pic>
        <p:nvPicPr>
          <p:cNvPr id="184" name="picture 18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381000" y="7131558"/>
            <a:ext cx="76200" cy="76200"/>
          </a:xfrm>
          <a:prstGeom prst="rect">
            <a:avLst/>
          </a:prstGeom>
        </p:spPr>
      </p:pic>
      <p:sp>
        <p:nvSpPr>
          <p:cNvPr id="186" name="path 186"/>
          <p:cNvSpPr/>
          <p:nvPr/>
        </p:nvSpPr>
        <p:spPr>
          <a:xfrm>
            <a:off x="11714035" y="6974395"/>
            <a:ext cx="20764" cy="66023"/>
          </a:xfrm>
          <a:custGeom>
            <a:avLst/>
            <a:gdLst/>
            <a:ahLst/>
            <a:cxnLst/>
            <a:rect l="0" t="0" r="0" b="0"/>
            <a:pathLst>
              <a:path w="32" h="103">
                <a:moveTo>
                  <a:pt x="25" y="7"/>
                </a:moveTo>
                <a:cubicBezTo>
                  <a:pt x="25" y="22"/>
                  <a:pt x="23" y="37"/>
                  <a:pt x="20" y="52"/>
                </a:cubicBezTo>
                <a:cubicBezTo>
                  <a:pt x="17" y="67"/>
                  <a:pt x="13" y="82"/>
                  <a:pt x="7" y="96"/>
                </a:cubicBezTo>
              </a:path>
            </a:pathLst>
          </a:custGeom>
          <a:noFill/>
          <a:ln w="9525" cap="flat">
            <a:solidFill>
              <a:srgbClr val="F3F4F6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 188"/>
          <p:cNvSpPr/>
          <p:nvPr/>
        </p:nvSpPr>
        <p:spPr>
          <a:xfrm>
            <a:off x="0" y="437388"/>
            <a:ext cx="12192000" cy="7124700"/>
          </a:xfrm>
          <a:prstGeom prst="rect">
            <a:avLst/>
          </a:prstGeom>
          <a:solidFill>
            <a:srgbClr val="FAF9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190" name="table 190"/>
          <p:cNvGraphicFramePr>
            <a:graphicFrameLocks noGrp="1"/>
          </p:cNvGraphicFramePr>
          <p:nvPr/>
        </p:nvGraphicFramePr>
        <p:xfrm>
          <a:off x="5086350" y="1799463"/>
          <a:ext cx="6647815" cy="1933575"/>
        </p:xfrm>
        <a:graphic>
          <a:graphicData uri="http://schemas.openxmlformats.org/drawingml/2006/table">
            <a:tbl>
              <a:tblPr/>
              <a:tblGrid>
                <a:gridCol w="3396615"/>
                <a:gridCol w="3251200"/>
              </a:tblGrid>
              <a:tr h="685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87525" algn="l" rtl="0" eaLnBrk="0">
                        <a:lnSpc>
                          <a:spcPts val="1150"/>
                        </a:lnSpc>
                        <a:spcBef>
                          <a:spcPts val="5"/>
                        </a:spcBef>
                      </a:pPr>
                      <a:r>
                        <a:rPr sz="900" kern="0" spc="-3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Dim:</a:t>
                      </a:r>
                      <a:r>
                        <a:rPr sz="900" kern="0" spc="17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(N+D)</a:t>
                      </a:r>
                      <a:r>
                        <a:rPr sz="900" kern="0" spc="7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×</a:t>
                      </a:r>
                      <a:r>
                        <a:rPr sz="900" kern="0" spc="15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 </a:t>
                      </a:r>
                      <a:r>
                        <a:rPr sz="900" kern="0" spc="-3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Courier New" panose="02070309020205020404"/>
                          <a:ea typeface="Courier New" panose="02070309020205020404"/>
                          <a:cs typeface="Courier New" panose="02070309020205020404"/>
                        </a:rPr>
                        <a:t>(T+F)</a:t>
                      </a:r>
                      <a:endParaRPr sz="900" dirty="0">
                        <a:latin typeface="Courier New" panose="02070309020205020404"/>
                        <a:ea typeface="Courier New" panose="02070309020205020404"/>
                        <a:cs typeface="Courier New" panose="020703090202050204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24777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2605" algn="l" rtl="0" eaLnBrk="0">
                        <a:lnSpc>
                          <a:spcPts val="3675"/>
                        </a:lnSpc>
                        <a:tabLst>
                          <a:tab pos="4859020" algn="l"/>
                        </a:tabLst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	</a:t>
                      </a: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92" name="picture 19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879217" y="2667146"/>
            <a:ext cx="3066608" cy="466706"/>
          </a:xfrm>
          <a:prstGeom prst="rect">
            <a:avLst/>
          </a:prstGeom>
        </p:spPr>
      </p:pic>
      <p:graphicFrame>
        <p:nvGraphicFramePr>
          <p:cNvPr id="194" name="table 194"/>
          <p:cNvGraphicFramePr>
            <a:graphicFrameLocks noGrp="1"/>
          </p:cNvGraphicFramePr>
          <p:nvPr/>
        </p:nvGraphicFramePr>
        <p:xfrm>
          <a:off x="5086350" y="3961638"/>
          <a:ext cx="6648450" cy="1847850"/>
        </p:xfrm>
        <a:graphic>
          <a:graphicData uri="http://schemas.openxmlformats.org/drawingml/2006/table">
            <a:tbl>
              <a:tblPr/>
              <a:tblGrid>
                <a:gridCol w="6648450"/>
              </a:tblGrid>
              <a:tr h="18351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6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7015" algn="l" rtl="0" eaLnBrk="0">
                        <a:lnSpc>
                          <a:spcPct val="87000"/>
                        </a:lnSpc>
                        <a:spcBef>
                          <a:spcPts val="5"/>
                        </a:spcBef>
                      </a:pPr>
                      <a:r>
                        <a:rPr sz="900" kern="0" spc="16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真实张量对照组</a:t>
                      </a:r>
                      <a:r>
                        <a:rPr sz="900" kern="0" spc="26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b="1" kern="0" spc="16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/  </a:t>
                      </a:r>
                      <a:r>
                        <a:rPr sz="900" b="1" kern="0" spc="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GROUND</a:t>
                      </a:r>
                      <a:r>
                        <a:rPr sz="900" b="1" kern="0" spc="16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  </a:t>
                      </a:r>
                      <a:r>
                        <a:rPr sz="900" b="1" kern="0" spc="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TRUTH</a:t>
                      </a:r>
                      <a:endParaRPr sz="900" dirty="0">
                        <a:latin typeface="Microsoft JhengHei" panose="020B0604030504040204" charset="-120"/>
                        <a:ea typeface="Microsoft JhengHei" panose="020B0604030504040204" charset="-120"/>
                        <a:cs typeface="Microsoft JhengHei" panose="020B0604030504040204" charset="-120"/>
                      </a:endParaRPr>
                    </a:p>
                    <a:p>
                      <a:pPr algn="l" rtl="0" eaLnBrk="0">
                        <a:lnSpc>
                          <a:spcPct val="14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4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6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792605" algn="l" rtl="0" eaLnBrk="0">
                        <a:lnSpc>
                          <a:spcPts val="3675"/>
                        </a:lnSpc>
                        <a:spcBef>
                          <a:spcPts val="0"/>
                        </a:spcBef>
                        <a:tabLst>
                          <a:tab pos="4859020" algn="l"/>
                        </a:tabLst>
                      </a:pPr>
                      <a:r>
                        <a:rPr sz="10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	</a:t>
                      </a: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pic>
        <p:nvPicPr>
          <p:cNvPr id="196" name="picture 1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879217" y="4799476"/>
            <a:ext cx="3066608" cy="466706"/>
          </a:xfrm>
          <a:prstGeom prst="rect">
            <a:avLst/>
          </a:prstGeom>
        </p:spPr>
      </p:pic>
      <p:sp>
        <p:nvSpPr>
          <p:cNvPr id="198" name="textbox 198"/>
          <p:cNvSpPr/>
          <p:nvPr/>
        </p:nvSpPr>
        <p:spPr>
          <a:xfrm>
            <a:off x="447014" y="1800478"/>
            <a:ext cx="4309745" cy="12801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900" kern="0" spc="60" dirty="0">
                <a:solidFill>
                  <a:srgbClr val="D4A574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模块目标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6510" algn="l" rtl="0" eaLnBrk="0">
              <a:lnSpc>
                <a:spcPct val="87000"/>
              </a:lnSpc>
              <a:spcBef>
                <a:spcPts val="1435"/>
              </a:spcBef>
            </a:pPr>
            <a:r>
              <a:rPr sz="1300" kern="0" spc="4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对抗数据噪声</a:t>
            </a:r>
            <a:r>
              <a:rPr sz="1300" kern="0" spc="-20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300" kern="0" spc="4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，获得涵盖过去与未来的完整粗粒度时态</a:t>
            </a:r>
            <a:r>
              <a:rPr sz="1300" kern="0" spc="3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17145" algn="l" rtl="0" eaLnBrk="0">
              <a:lnSpc>
                <a:spcPts val="2175"/>
              </a:lnSpc>
            </a:pPr>
            <a:r>
              <a:rPr sz="1300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列表示。</a:t>
            </a:r>
            <a:endParaRPr sz="13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4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685" algn="l" rtl="0" eaLnBrk="0">
              <a:lnSpc>
                <a:spcPct val="88000"/>
              </a:lnSpc>
              <a:spcBef>
                <a:spcPts val="0"/>
              </a:spcBef>
            </a:pPr>
            <a:r>
              <a:rPr sz="900" kern="0" spc="70" dirty="0">
                <a:solidFill>
                  <a:srgbClr val="6B728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张量拼接与状态流转过程</a:t>
            </a:r>
            <a:endParaRPr sz="9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0" name="textbox 200"/>
          <p:cNvSpPr/>
          <p:nvPr/>
        </p:nvSpPr>
        <p:spPr>
          <a:xfrm>
            <a:off x="5536284" y="6817867"/>
            <a:ext cx="6381750" cy="48386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960"/>
              </a:lnSpc>
            </a:pPr>
            <a:r>
              <a:rPr sz="700" kern="0" spc="0" dirty="0">
                <a:solidFill>
                  <a:srgbClr val="000000">
                    <a:alpha val="4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X</a:t>
            </a:r>
            <a:r>
              <a:rPr sz="700" kern="0" spc="140" dirty="0">
                <a:solidFill>
                  <a:srgbClr val="000000">
                    <a:alpha val="4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0" dirty="0">
                <a:solidFill>
                  <a:srgbClr val="000000">
                    <a:alpha val="4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Inputs</a:t>
            </a:r>
            <a:r>
              <a:rPr sz="700" kern="0" spc="20" dirty="0">
                <a:solidFill>
                  <a:srgbClr val="000000">
                    <a:alpha val="4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                                                                           </a:t>
            </a:r>
            <a:r>
              <a:rPr sz="700" kern="0" spc="0" dirty="0">
                <a:solidFill>
                  <a:srgbClr val="5B8BA8">
                    <a:alpha val="4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Latent</a:t>
            </a:r>
            <a:r>
              <a:rPr sz="700" kern="0" spc="20" dirty="0">
                <a:solidFill>
                  <a:srgbClr val="5B8BA8">
                    <a:alpha val="4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0" dirty="0">
                <a:solidFill>
                  <a:srgbClr val="5B8BA8">
                    <a:alpha val="4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Manifold</a:t>
            </a:r>
            <a:endParaRPr sz="700" dirty="0"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68520" algn="l" rtl="0" eaLnBrk="0">
              <a:lnSpc>
                <a:spcPct val="93000"/>
              </a:lnSpc>
              <a:spcBef>
                <a:spcPts val="5"/>
              </a:spcBef>
              <a:tabLst>
                <a:tab pos="4801870" algn="l"/>
              </a:tabLst>
            </a:pP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204" name="table 204"/>
          <p:cNvGraphicFramePr>
            <a:graphicFrameLocks noGrp="1"/>
          </p:cNvGraphicFramePr>
          <p:nvPr/>
        </p:nvGraphicFramePr>
        <p:xfrm>
          <a:off x="457200" y="6428613"/>
          <a:ext cx="4134485" cy="675640"/>
        </p:xfrm>
        <a:graphic>
          <a:graphicData uri="http://schemas.openxmlformats.org/drawingml/2006/table">
            <a:tbl>
              <a:tblPr>
                <a:solidFill>
                  <a:srgbClr val="F5F5F5"/>
                </a:solidFill>
              </a:tblPr>
              <a:tblGrid>
                <a:gridCol w="137160"/>
                <a:gridCol w="1724025"/>
                <a:gridCol w="2273300"/>
              </a:tblGrid>
              <a:tr h="67564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7945" indent="-6350" algn="l" rtl="0" eaLnBrk="0">
                        <a:lnSpc>
                          <a:spcPct val="126000"/>
                        </a:lnSpc>
                        <a:spcBef>
                          <a:spcPts val="5"/>
                        </a:spcBef>
                      </a:pPr>
                      <a:r>
                        <a:rPr sz="900" kern="0" spc="0" dirty="0">
                          <a:solidFill>
                            <a:srgbClr val="D4A57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NOTE</a:t>
                      </a:r>
                      <a:r>
                        <a:rPr sz="900" kern="0" spc="30" dirty="0">
                          <a:solidFill>
                            <a:srgbClr val="D4A57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:</a:t>
                      </a:r>
                      <a:r>
                        <a:rPr sz="900" kern="0" spc="10" dirty="0">
                          <a:solidFill>
                            <a:srgbClr val="D4A57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   </a:t>
                      </a:r>
                      <a:r>
                        <a:rPr sz="900" i="1" kern="0" spc="3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构筑了包含了</a:t>
                      </a:r>
                      <a:r>
                        <a:rPr sz="9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</a:t>
                      </a:r>
                      <a:r>
                        <a:rPr sz="900" i="1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900" i="1" kern="0" spc="1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+ </a:t>
                      </a:r>
                      <a:r>
                        <a:rPr sz="900" i="1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9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</a:t>
                      </a:r>
                      <a:r>
                        <a:rPr sz="900" i="1" kern="0" spc="-2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征底座。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92000"/>
                        </a:lnSpc>
                      </a:pPr>
                      <a:r>
                        <a:rPr sz="900" i="1" kern="0" spc="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个通道与总时序长度为</a:t>
                      </a:r>
                      <a:r>
                        <a:rPr sz="900" kern="0" spc="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(</a:t>
                      </a:r>
                      <a:r>
                        <a:rPr sz="900" i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 </a:t>
                      </a:r>
                      <a:r>
                        <a:rPr sz="9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+ </a:t>
                      </a:r>
                      <a:r>
                        <a:rPr sz="900" i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</a:t>
                      </a:r>
                      <a:r>
                        <a:rPr sz="9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)</a:t>
                      </a:r>
                      <a:r>
                        <a:rPr sz="900" kern="0" spc="1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i="1" kern="0" spc="-1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的完整空间表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pic>
        <p:nvPicPr>
          <p:cNvPr id="206" name="picture 2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083360" y="6544132"/>
            <a:ext cx="87284" cy="172631"/>
          </a:xfrm>
          <a:prstGeom prst="rect">
            <a:avLst/>
          </a:prstGeom>
        </p:spPr>
      </p:pic>
      <p:sp>
        <p:nvSpPr>
          <p:cNvPr id="208" name="textbox 208"/>
          <p:cNvSpPr/>
          <p:nvPr/>
        </p:nvSpPr>
        <p:spPr>
          <a:xfrm>
            <a:off x="904900" y="3317240"/>
            <a:ext cx="3676015" cy="6038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000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预构：数据正则化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2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970" indent="-1270" algn="l" rtl="0" eaLnBrk="0">
              <a:lnSpc>
                <a:spcPct val="119000"/>
              </a:lnSpc>
              <a:spcBef>
                <a:spcPts val="0"/>
              </a:spcBef>
            </a:pPr>
            <a:r>
              <a:rPr sz="1600" i="1" kern="0" spc="0" baseline="-3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X</a:t>
            </a:r>
            <a:r>
              <a:rPr sz="1000" i="1" kern="0" spc="-13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i="1" kern="0" spc="0" baseline="33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endo</a:t>
            </a:r>
            <a:r>
              <a:rPr sz="700" i="1" kern="0" spc="2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600" kern="0" spc="20" baseline="-30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sz="1000" kern="0" spc="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i="1" kern="0" spc="0" baseline="-3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X</a:t>
            </a:r>
            <a:r>
              <a:rPr sz="1000" i="1" kern="0" spc="-19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100" i="1" kern="0" spc="0" baseline="33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exo</a:t>
            </a:r>
            <a:r>
              <a:rPr sz="700" i="1" kern="0" spc="2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600" kern="0" spc="20" baseline="-30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经</a:t>
            </a:r>
            <a:r>
              <a:rPr sz="1000" kern="0" spc="9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0" baseline="-300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Instance</a:t>
            </a:r>
            <a:r>
              <a:rPr sz="1000" kern="0" spc="10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0" baseline="-300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Norm</a:t>
            </a:r>
            <a:r>
              <a:rPr sz="1000" kern="0" spc="2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20" baseline="-30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消除偏移</a:t>
            </a:r>
            <a:r>
              <a:rPr sz="1000" kern="0" spc="-1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20" baseline="-30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，通过标准</a:t>
            </a:r>
            <a:r>
              <a:rPr sz="1000" kern="0" spc="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600" kern="0" spc="0" baseline="-300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VAE</a:t>
            </a:r>
            <a:r>
              <a:rPr sz="1000" kern="0" spc="2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20" baseline="-30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</a:t>
            </a:r>
            <a:r>
              <a:rPr sz="10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0" name="textbox 210"/>
          <p:cNvSpPr/>
          <p:nvPr/>
        </p:nvSpPr>
        <p:spPr>
          <a:xfrm>
            <a:off x="454101" y="903985"/>
            <a:ext cx="5450840" cy="3886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2700" kern="0" spc="-63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2700" kern="0" spc="-4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变分生成器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2" name="textbox 212"/>
          <p:cNvSpPr/>
          <p:nvPr/>
        </p:nvSpPr>
        <p:spPr>
          <a:xfrm>
            <a:off x="903833" y="4812665"/>
            <a:ext cx="3079750" cy="3968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000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全序列拼接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3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4605" algn="l" rtl="0" eaLnBrk="0">
              <a:lnSpc>
                <a:spcPct val="88000"/>
              </a:lnSpc>
              <a:spcBef>
                <a:spcPts val="5"/>
              </a:spcBef>
            </a:pPr>
            <a:r>
              <a:rPr sz="10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未来外变量真实值覆盖或采用预测值</a:t>
            </a:r>
            <a:r>
              <a:rPr sz="1000" kern="0" spc="-1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，记为张量 </a:t>
            </a:r>
            <a:r>
              <a:rPr sz="1000" i="1" kern="0" spc="4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Z</a:t>
            </a:r>
            <a:r>
              <a:rPr sz="1000" kern="0" spc="4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4" name="textbox 214"/>
          <p:cNvSpPr/>
          <p:nvPr/>
        </p:nvSpPr>
        <p:spPr>
          <a:xfrm>
            <a:off x="905700" y="4155440"/>
            <a:ext cx="2602864" cy="41020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000" kern="0" spc="2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粗生成：初始映射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11000"/>
              </a:lnSpc>
            </a:pP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335" algn="l" rtl="0" eaLnBrk="0">
              <a:lnSpc>
                <a:spcPct val="94000"/>
              </a:lnSpc>
              <a:spcBef>
                <a:spcPts val="5"/>
              </a:spcBef>
            </a:pPr>
            <a:r>
              <a:rPr sz="1600" kern="0" spc="10" baseline="-100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获得初步预测</a:t>
            </a:r>
            <a:r>
              <a:rPr sz="1000" kern="0" spc="8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100" i="1" kern="0" spc="0" baseline="19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endo</a:t>
            </a:r>
            <a:r>
              <a:rPr sz="700" i="1" kern="0" spc="1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1600" kern="0" spc="10" baseline="-10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=</a:t>
            </a:r>
            <a:r>
              <a:rPr sz="1000" kern="0" spc="1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0" baseline="-10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VAE</a:t>
            </a:r>
            <a:r>
              <a:rPr sz="1600" kern="0" spc="10" baseline="-10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600" i="1" kern="0" spc="0" baseline="-10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X</a:t>
            </a:r>
            <a:r>
              <a:rPr sz="1100" i="1" kern="0" spc="0" baseline="5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endo</a:t>
            </a:r>
            <a:r>
              <a:rPr sz="700" i="1" kern="0" spc="-8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10" baseline="3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1000" kern="0" spc="1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10" baseline="-100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及</a:t>
            </a:r>
            <a:r>
              <a:rPr sz="1000" kern="0" spc="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sz="1100" i="1" kern="0" spc="0" baseline="19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exo</a:t>
            </a:r>
            <a:r>
              <a:rPr sz="1600" kern="0" spc="0" baseline="-1000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600" baseline="-10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6" name="textbox 216"/>
          <p:cNvSpPr/>
          <p:nvPr/>
        </p:nvSpPr>
        <p:spPr>
          <a:xfrm>
            <a:off x="3109100" y="4418501"/>
            <a:ext cx="123189" cy="136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000" i="1" kern="0" spc="9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18" name="textbox 218"/>
          <p:cNvSpPr/>
          <p:nvPr/>
        </p:nvSpPr>
        <p:spPr>
          <a:xfrm>
            <a:off x="3111995" y="4313897"/>
            <a:ext cx="103504" cy="17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1000" kern="0" spc="1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~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0" name="textbox 220"/>
          <p:cNvSpPr/>
          <p:nvPr/>
        </p:nvSpPr>
        <p:spPr>
          <a:xfrm>
            <a:off x="1743900" y="4418501"/>
            <a:ext cx="123189" cy="1365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000" i="1" kern="0" spc="9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2" name="textbox 222"/>
          <p:cNvSpPr/>
          <p:nvPr/>
        </p:nvSpPr>
        <p:spPr>
          <a:xfrm>
            <a:off x="1761667" y="4313897"/>
            <a:ext cx="103504" cy="1733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7000"/>
              </a:lnSpc>
            </a:pPr>
            <a:r>
              <a:rPr sz="1000" kern="0" spc="1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~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4" name="textbox 224"/>
          <p:cNvSpPr/>
          <p:nvPr/>
        </p:nvSpPr>
        <p:spPr>
          <a:xfrm>
            <a:off x="5324475" y="2037588"/>
            <a:ext cx="1371600" cy="219075"/>
          </a:xfrm>
          <a:prstGeom prst="rect">
            <a:avLst/>
          </a:prstGeom>
          <a:solidFill>
            <a:srgbClr val="EFF6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9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1915" algn="l" rtl="0" eaLnBrk="0">
              <a:lnSpc>
                <a:spcPct val="89000"/>
              </a:lnSpc>
            </a:pPr>
            <a:r>
              <a:rPr sz="700" kern="0" spc="90" dirty="0">
                <a:solidFill>
                  <a:srgbClr val="5B8B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预测张量</a:t>
            </a:r>
            <a:r>
              <a:rPr sz="700" kern="0" spc="120" dirty="0">
                <a:solidFill>
                  <a:srgbClr val="5B8B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700" b="1" kern="0" spc="90" dirty="0">
                <a:solidFill>
                  <a:srgbClr val="5B8BA8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/</a:t>
            </a:r>
            <a:r>
              <a:rPr sz="700" b="1" kern="0" spc="20" dirty="0">
                <a:solidFill>
                  <a:srgbClr val="5B8BA8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  </a:t>
            </a:r>
            <a:r>
              <a:rPr sz="700" b="1" kern="0" spc="90" dirty="0">
                <a:solidFill>
                  <a:srgbClr val="5B8BA8">
                    <a:alpha val="100000"/>
                  </a:srgbClr>
                </a:solidFill>
                <a:latin typeface="Microsoft JhengHei" panose="020B0604030504040204" charset="-120"/>
                <a:ea typeface="Microsoft JhengHei" panose="020B0604030504040204" charset="-120"/>
                <a:cs typeface="Microsoft JhengHei" panose="020B0604030504040204" charset="-120"/>
              </a:rPr>
              <a:t>PREDICTION</a:t>
            </a:r>
            <a:endParaRPr sz="700" dirty="0">
              <a:latin typeface="Microsoft JhengHei" panose="020B0604030504040204" charset="-120"/>
              <a:ea typeface="Microsoft JhengHei" panose="020B0604030504040204" charset="-120"/>
              <a:cs typeface="Microsoft JhengHei" panose="020B0604030504040204" charset="-120"/>
            </a:endParaRPr>
          </a:p>
        </p:txBody>
      </p:sp>
      <p:sp>
        <p:nvSpPr>
          <p:cNvPr id="226" name="rect 226"/>
          <p:cNvSpPr/>
          <p:nvPr/>
        </p:nvSpPr>
        <p:spPr>
          <a:xfrm>
            <a:off x="10553700" y="6314313"/>
            <a:ext cx="590550" cy="438150"/>
          </a:xfrm>
          <a:prstGeom prst="rect">
            <a:avLst/>
          </a:prstGeom>
          <a:solidFill>
            <a:srgbClr val="E8F2F7">
              <a:alpha val="4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228" name="table 228"/>
          <p:cNvGraphicFramePr>
            <a:graphicFrameLocks noGrp="1"/>
          </p:cNvGraphicFramePr>
          <p:nvPr/>
        </p:nvGraphicFramePr>
        <p:xfrm>
          <a:off x="10544175" y="6342888"/>
          <a:ext cx="609600" cy="419100"/>
        </p:xfrm>
        <a:graphic>
          <a:graphicData uri="http://schemas.openxmlformats.org/drawingml/2006/table">
            <a:tbl>
              <a:tblPr/>
              <a:tblGrid>
                <a:gridCol w="609600"/>
              </a:tblGrid>
              <a:tr h="419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7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2250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</a:pPr>
                      <a:r>
                        <a:rPr sz="1200" b="1" kern="0" spc="100" dirty="0">
                          <a:solidFill>
                            <a:srgbClr val="5B8BA8">
                              <a:alpha val="4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S˜</a:t>
                      </a:r>
                      <a:endParaRPr sz="1200" dirty="0">
                        <a:latin typeface="Microsoft JhengHei" panose="020B0604030504040204" charset="-120"/>
                        <a:ea typeface="Microsoft JhengHei" panose="020B0604030504040204" charset="-120"/>
                        <a:cs typeface="Microsoft JhengHei" panose="020B0604030504040204" charset="-120"/>
                      </a:endParaRPr>
                    </a:p>
                  </a:txBody>
                  <a:tcPr marL="0" marR="0" marT="0" marB="0" vert="horz">
                    <a:lnL w="19050" cap="flat" cmpd="sng" algn="ctr">
                      <a:solidFill>
                        <a:srgbClr val="5B8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5B8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22225" cap="flat" cmpd="sng" algn="ctr">
                      <a:solidFill>
                        <a:srgbClr val="5B8BA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230" name="picture 2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543549" y="6304788"/>
            <a:ext cx="457200" cy="457200"/>
          </a:xfrm>
          <a:prstGeom prst="rect">
            <a:avLst/>
          </a:prstGeom>
        </p:spPr>
      </p:pic>
      <p:pic>
        <p:nvPicPr>
          <p:cNvPr id="232" name="picture 2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0" y="437388"/>
            <a:ext cx="12192000" cy="9525"/>
          </a:xfrm>
          <a:prstGeom prst="rect">
            <a:avLst/>
          </a:prstGeom>
        </p:spPr>
      </p:pic>
      <p:pic>
        <p:nvPicPr>
          <p:cNvPr id="234" name="picture 23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0" y="7552563"/>
            <a:ext cx="12192000" cy="9524"/>
          </a:xfrm>
          <a:prstGeom prst="rect">
            <a:avLst/>
          </a:prstGeom>
        </p:spPr>
      </p:pic>
      <p:grpSp>
        <p:nvGrpSpPr>
          <p:cNvPr id="10" name="group 10"/>
          <p:cNvGrpSpPr/>
          <p:nvPr/>
        </p:nvGrpSpPr>
        <p:grpSpPr>
          <a:xfrm rot="21600000">
            <a:off x="457200" y="4808219"/>
            <a:ext cx="304800" cy="307848"/>
            <a:chOff x="0" y="0"/>
            <a:chExt cx="304800" cy="307848"/>
          </a:xfrm>
        </p:grpSpPr>
        <p:pic>
          <p:nvPicPr>
            <p:cNvPr id="236" name="picture 236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21600000">
              <a:off x="0" y="0"/>
              <a:ext cx="304800" cy="307848"/>
            </a:xfrm>
            <a:prstGeom prst="rect">
              <a:avLst/>
            </a:prstGeom>
          </p:spPr>
        </p:pic>
        <p:sp>
          <p:nvSpPr>
            <p:cNvPr id="238" name="textbox 238"/>
            <p:cNvSpPr/>
            <p:nvPr/>
          </p:nvSpPr>
          <p:spPr>
            <a:xfrm>
              <a:off x="-12700" y="-12700"/>
              <a:ext cx="330200" cy="3333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5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2710" algn="l" rtl="0" eaLnBrk="0">
                <a:lnSpc>
                  <a:spcPts val="1345"/>
                </a:lnSpc>
                <a:spcBef>
                  <a:spcPts val="0"/>
                </a:spcBef>
              </a:pPr>
              <a:r>
                <a:rPr sz="1000" kern="0" spc="-10" dirty="0">
                  <a:solidFill>
                    <a:srgbClr val="5B8BA8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03</a:t>
              </a:r>
              <a:endParaRPr sz="1000" dirty="0"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 rot="21600000">
            <a:off x="457200" y="3311652"/>
            <a:ext cx="304800" cy="307847"/>
            <a:chOff x="0" y="0"/>
            <a:chExt cx="304800" cy="307847"/>
          </a:xfrm>
        </p:grpSpPr>
        <p:pic>
          <p:nvPicPr>
            <p:cNvPr id="240" name="picture 240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304800" cy="307847"/>
            </a:xfrm>
            <a:prstGeom prst="rect">
              <a:avLst/>
            </a:prstGeom>
          </p:spPr>
        </p:pic>
        <p:sp>
          <p:nvSpPr>
            <p:cNvPr id="242" name="textbox 242"/>
            <p:cNvSpPr/>
            <p:nvPr/>
          </p:nvSpPr>
          <p:spPr>
            <a:xfrm>
              <a:off x="-12700" y="-12700"/>
              <a:ext cx="330200" cy="33337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7000"/>
                </a:lnSpc>
              </a:pPr>
              <a:endParaRPr sz="4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92710" algn="l" rtl="0" eaLnBrk="0">
                <a:lnSpc>
                  <a:spcPts val="1345"/>
                </a:lnSpc>
              </a:pPr>
              <a:r>
                <a:rPr sz="1000" kern="0" spc="-10" dirty="0">
                  <a:solidFill>
                    <a:srgbClr val="5B8BA8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01</a:t>
              </a:r>
              <a:endParaRPr sz="1000" dirty="0"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 rot="21600000">
            <a:off x="457200" y="4149852"/>
            <a:ext cx="304800" cy="307847"/>
            <a:chOff x="0" y="0"/>
            <a:chExt cx="304800" cy="307847"/>
          </a:xfrm>
        </p:grpSpPr>
        <p:pic>
          <p:nvPicPr>
            <p:cNvPr id="244" name="picture 244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21600000">
              <a:off x="0" y="0"/>
              <a:ext cx="304800" cy="307847"/>
            </a:xfrm>
            <a:prstGeom prst="rect">
              <a:avLst/>
            </a:prstGeom>
          </p:spPr>
        </p:pic>
        <p:sp>
          <p:nvSpPr>
            <p:cNvPr id="246" name="textbox 246"/>
            <p:cNvSpPr/>
            <p:nvPr/>
          </p:nvSpPr>
          <p:spPr>
            <a:xfrm>
              <a:off x="67764" y="39877"/>
              <a:ext cx="177800" cy="1962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1345"/>
                </a:lnSpc>
              </a:pPr>
              <a:r>
                <a:rPr sz="1000" kern="0" spc="-10" dirty="0">
                  <a:solidFill>
                    <a:srgbClr val="5B8BA8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02</a:t>
              </a:r>
              <a:endParaRPr sz="1000" dirty="0"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sp>
        <p:nvSpPr>
          <p:cNvPr id="248" name="textbox 248"/>
          <p:cNvSpPr/>
          <p:nvPr/>
        </p:nvSpPr>
        <p:spPr>
          <a:xfrm>
            <a:off x="7599888" y="6526783"/>
            <a:ext cx="1225550" cy="9715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67000"/>
              </a:lnSpc>
            </a:pPr>
            <a:r>
              <a:rPr sz="700" kern="0" spc="30" dirty="0">
                <a:solidFill>
                  <a:srgbClr val="5B8BA8">
                    <a:alpha val="4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Variation</a:t>
            </a:r>
            <a:r>
              <a:rPr sz="700" kern="0" spc="20" dirty="0">
                <a:solidFill>
                  <a:srgbClr val="5B8BA8">
                    <a:alpha val="4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al</a:t>
            </a:r>
            <a:r>
              <a:rPr sz="700" kern="0" spc="20" dirty="0">
                <a:solidFill>
                  <a:srgbClr val="5B8BA8">
                    <a:alpha val="4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20" dirty="0">
                <a:solidFill>
                  <a:srgbClr val="5B8BA8">
                    <a:alpha val="4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Generator</a:t>
            </a:r>
            <a:endParaRPr sz="700" dirty="0"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pic>
        <p:nvPicPr>
          <p:cNvPr id="250" name="picture 25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153149" y="6638163"/>
            <a:ext cx="4114800" cy="19050"/>
          </a:xfrm>
          <a:prstGeom prst="rect">
            <a:avLst/>
          </a:prstGeom>
        </p:spPr>
      </p:pic>
      <p:pic>
        <p:nvPicPr>
          <p:cNvPr id="252" name="picture 25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457200" y="6428613"/>
            <a:ext cx="76200" cy="676274"/>
          </a:xfrm>
          <a:prstGeom prst="rect">
            <a:avLst/>
          </a:prstGeom>
        </p:spPr>
      </p:pic>
      <p:sp>
        <p:nvSpPr>
          <p:cNvPr id="254" name="path 254"/>
          <p:cNvSpPr/>
          <p:nvPr/>
        </p:nvSpPr>
        <p:spPr>
          <a:xfrm>
            <a:off x="10544175" y="6304788"/>
            <a:ext cx="609600" cy="47625"/>
          </a:xfrm>
          <a:custGeom>
            <a:avLst/>
            <a:gdLst/>
            <a:ahLst/>
            <a:cxnLst/>
            <a:rect l="0" t="0" r="0" b="0"/>
            <a:pathLst>
              <a:path w="960" h="75">
                <a:moveTo>
                  <a:pt x="15" y="60"/>
                </a:moveTo>
                <a:cubicBezTo>
                  <a:pt x="15" y="54"/>
                  <a:pt x="16" y="48"/>
                  <a:pt x="18" y="42"/>
                </a:cubicBezTo>
                <a:cubicBezTo>
                  <a:pt x="20" y="37"/>
                  <a:pt x="23" y="32"/>
                  <a:pt x="28" y="28"/>
                </a:cubicBezTo>
                <a:cubicBezTo>
                  <a:pt x="32" y="23"/>
                  <a:pt x="37" y="20"/>
                  <a:pt x="42" y="18"/>
                </a:cubicBezTo>
                <a:cubicBezTo>
                  <a:pt x="48" y="16"/>
                  <a:pt x="54" y="15"/>
                  <a:pt x="60" y="15"/>
                </a:cubicBezTo>
                <a:lnTo>
                  <a:pt x="900" y="15"/>
                </a:lnTo>
                <a:cubicBezTo>
                  <a:pt x="905" y="15"/>
                  <a:pt x="911" y="16"/>
                  <a:pt x="917" y="18"/>
                </a:cubicBezTo>
                <a:cubicBezTo>
                  <a:pt x="922" y="20"/>
                  <a:pt x="927" y="23"/>
                  <a:pt x="931" y="28"/>
                </a:cubicBezTo>
                <a:cubicBezTo>
                  <a:pt x="936" y="32"/>
                  <a:pt x="939" y="37"/>
                  <a:pt x="941" y="42"/>
                </a:cubicBezTo>
                <a:cubicBezTo>
                  <a:pt x="943" y="48"/>
                  <a:pt x="945" y="54"/>
                  <a:pt x="945" y="60"/>
                </a:cubicBezTo>
              </a:path>
            </a:pathLst>
          </a:custGeom>
          <a:noFill/>
          <a:ln w="19050" cap="flat">
            <a:solidFill>
              <a:srgbClr val="5B8BA8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56" name="picture 25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457200" y="1475613"/>
            <a:ext cx="457200" cy="19050"/>
          </a:xfrm>
          <a:prstGeom prst="rect">
            <a:avLst/>
          </a:prstGeom>
        </p:spPr>
      </p:pic>
      <p:pic>
        <p:nvPicPr>
          <p:cNvPr id="258" name="picture 25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10216378" y="6584281"/>
            <a:ext cx="67351" cy="67351"/>
          </a:xfrm>
          <a:prstGeom prst="rect">
            <a:avLst/>
          </a:prstGeom>
        </p:spPr>
      </p:pic>
      <p:pic>
        <p:nvPicPr>
          <p:cNvPr id="260" name="picture 2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 rot="21600000">
            <a:off x="10216378" y="6624692"/>
            <a:ext cx="67351" cy="67351"/>
          </a:xfrm>
          <a:prstGeom prst="rect">
            <a:avLst/>
          </a:prstGeom>
        </p:spPr>
      </p:pic>
      <p:sp>
        <p:nvSpPr>
          <p:cNvPr id="262" name="path 262"/>
          <p:cNvSpPr/>
          <p:nvPr/>
        </p:nvSpPr>
        <p:spPr>
          <a:xfrm>
            <a:off x="11676592" y="5751280"/>
            <a:ext cx="39746" cy="39746"/>
          </a:xfrm>
          <a:custGeom>
            <a:avLst/>
            <a:gdLst/>
            <a:ahLst/>
            <a:cxnLst/>
            <a:rect l="0" t="0" r="0" b="0"/>
            <a:pathLst>
              <a:path w="62" h="62">
                <a:moveTo>
                  <a:pt x="55" y="7"/>
                </a:moveTo>
                <a:cubicBezTo>
                  <a:pt x="48" y="16"/>
                  <a:pt x="41" y="25"/>
                  <a:pt x="33" y="33"/>
                </a:cubicBezTo>
                <a:cubicBezTo>
                  <a:pt x="25" y="41"/>
                  <a:pt x="16" y="48"/>
                  <a:pt x="7" y="55"/>
                </a:cubicBezTo>
              </a:path>
            </a:pathLst>
          </a:custGeom>
          <a:noFill/>
          <a:ln w="9525" cap="flat">
            <a:solidFill>
              <a:srgbClr val="F3F4F6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64" name="path 264"/>
          <p:cNvSpPr/>
          <p:nvPr/>
        </p:nvSpPr>
        <p:spPr>
          <a:xfrm>
            <a:off x="11676592" y="3691430"/>
            <a:ext cx="26123" cy="23147"/>
          </a:xfrm>
          <a:custGeom>
            <a:avLst/>
            <a:gdLst/>
            <a:ahLst/>
            <a:cxnLst/>
            <a:rect l="0" t="0" r="0" b="0"/>
            <a:pathLst>
              <a:path w="41" h="36">
                <a:moveTo>
                  <a:pt x="33" y="7"/>
                </a:moveTo>
                <a:cubicBezTo>
                  <a:pt x="25" y="15"/>
                  <a:pt x="16" y="22"/>
                  <a:pt x="7" y="28"/>
                </a:cubicBezTo>
              </a:path>
            </a:pathLst>
          </a:custGeom>
          <a:noFill/>
          <a:ln w="9525" cap="flat">
            <a:solidFill>
              <a:srgbClr val="E5E7EB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picture 26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571500"/>
            <a:ext cx="12192000" cy="6858000"/>
          </a:xfrm>
          <a:prstGeom prst="rect">
            <a:avLst/>
          </a:prstGeom>
        </p:spPr>
      </p:pic>
      <p:pic>
        <p:nvPicPr>
          <p:cNvPr id="268" name="picture 26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95325" y="2171700"/>
            <a:ext cx="304800" cy="304800"/>
          </a:xfrm>
          <a:prstGeom prst="rect">
            <a:avLst/>
          </a:prstGeom>
        </p:spPr>
      </p:pic>
      <p:graphicFrame>
        <p:nvGraphicFramePr>
          <p:cNvPr id="270" name="table 270"/>
          <p:cNvGraphicFramePr>
            <a:graphicFrameLocks noGrp="1"/>
          </p:cNvGraphicFramePr>
          <p:nvPr/>
        </p:nvGraphicFramePr>
        <p:xfrm>
          <a:off x="457200" y="1933575"/>
          <a:ext cx="3609975" cy="4666615"/>
        </p:xfrm>
        <a:graphic>
          <a:graphicData uri="http://schemas.openxmlformats.org/drawingml/2006/table">
            <a:tbl>
              <a:tblPr/>
              <a:tblGrid>
                <a:gridCol w="3609975"/>
              </a:tblGrid>
              <a:tr h="119443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8930" algn="l" rtl="0" eaLnBrk="0">
                        <a:lnSpc>
                          <a:spcPct val="92000"/>
                        </a:lnSpc>
                      </a:pPr>
                      <a:r>
                        <a:rPr sz="1600" i="1" kern="0" spc="-60" baseline="16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01</a:t>
                      </a:r>
                      <a:r>
                        <a:rPr sz="1000" i="1" kern="0" spc="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</a:t>
                      </a:r>
                      <a:r>
                        <a:rPr sz="1500" kern="0" spc="-6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Patchify</a:t>
                      </a:r>
                      <a:r>
                        <a:rPr sz="1500" kern="0" spc="-8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kern="0" spc="-6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sz="1500" kern="0" spc="-11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kern="0" spc="-6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维度映射</a:t>
                      </a:r>
                      <a:endParaRPr sz="1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1460" indent="-10160" algn="l" rtl="0" eaLnBrk="0">
                        <a:lnSpc>
                          <a:spcPct val="140000"/>
                        </a:lnSpc>
                        <a:spcBef>
                          <a:spcPts val="5"/>
                        </a:spcBef>
                      </a:pPr>
                      <a:r>
                        <a:rPr sz="1000" kern="0" spc="6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利用不重叠 </a:t>
                      </a:r>
                      <a:r>
                        <a:rPr sz="1000" kern="0" spc="0" dirty="0">
                          <a:solidFill>
                            <a:srgbClr val="D4A57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Patch</a:t>
                      </a:r>
                      <a:r>
                        <a:rPr sz="1000" kern="0" spc="60" dirty="0">
                          <a:solidFill>
                            <a:srgbClr val="D4A574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D4A574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机制 </a:t>
                      </a:r>
                      <a:r>
                        <a:rPr sz="1000" kern="0" spc="6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处理时序。设大小为</a:t>
                      </a:r>
                      <a:r>
                        <a:rPr sz="1000" i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000" i="1" kern="0" spc="-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00" kern="0" spc="6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，切割</a:t>
                      </a:r>
                      <a:r>
                        <a:rPr sz="1000" kern="0" spc="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000" kern="0" spc="1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 </a:t>
                      </a:r>
                      <a:r>
                        <a:rPr sz="1000" i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</a:t>
                      </a:r>
                      <a:r>
                        <a:rPr sz="1000" i="1" kern="0" spc="1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1000" kern="0" spc="1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⌈</a:t>
                      </a:r>
                      <a:r>
                        <a:rPr sz="1000" kern="0" spc="-2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10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1000" i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 </a:t>
                      </a:r>
                      <a:r>
                        <a:rPr sz="10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 </a:t>
                      </a:r>
                      <a:r>
                        <a:rPr sz="1000" i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</a:t>
                      </a:r>
                      <a:r>
                        <a:rPr sz="10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)/</a:t>
                      </a:r>
                      <a:r>
                        <a:rPr sz="1000" i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0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⌉ </a:t>
                      </a:r>
                      <a:r>
                        <a:rPr sz="1000" kern="0" spc="1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个单元。</a:t>
                      </a:r>
                      <a:endParaRPr sz="1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</a:tr>
              <a:tr h="18503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83615" algn="l" rtl="0" eaLnBrk="0">
                        <a:lnSpc>
                          <a:spcPct val="98000"/>
                        </a:lnSpc>
                        <a:spcBef>
                          <a:spcPts val="0"/>
                        </a:spcBef>
                        <a:tabLst>
                          <a:tab pos="1035685" algn="l"/>
                        </a:tabLst>
                      </a:pP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200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→ </a:t>
                      </a:r>
                      <a:r>
                        <a:rPr sz="1200" kern="0" spc="-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Patchify → Embeddin</a:t>
                      </a:r>
                      <a:r>
                        <a:rPr sz="1200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</a:t>
                      </a:r>
                      <a:endParaRPr sz="12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marL="1360170" algn="l" rtl="0" eaLnBrk="0">
                        <a:lnSpc>
                          <a:spcPts val="3075"/>
                        </a:lnSpc>
                        <a:tabLst>
                          <a:tab pos="1362710" algn="l"/>
                        </a:tabLst>
                      </a:pPr>
                      <a:r>
                        <a:rPr sz="700" i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	</a:t>
                      </a:r>
                      <a:r>
                        <a:rPr sz="1200" i="1" kern="0" spc="-20" baseline="-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700" i="1" kern="0" spc="1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1800" kern="0" spc="-190" baseline="-28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∈</a:t>
                      </a:r>
                      <a:r>
                        <a:rPr sz="11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800" kern="0" spc="-190" baseline="-25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1200" kern="0" spc="70" baseline="-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1200" i="1" kern="0" spc="70" baseline="-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1200" kern="0" spc="70" baseline="-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sz="1200" i="1" kern="0" spc="70" baseline="-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1200" kern="0" spc="70" baseline="-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)×</a:t>
                      </a:r>
                      <a:r>
                        <a:rPr sz="1200" i="1" kern="0" spc="70" baseline="-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</a:t>
                      </a:r>
                      <a:r>
                        <a:rPr sz="1200" kern="0" spc="70" baseline="-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sz="1200" i="1" kern="0" spc="70" baseline="-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endParaRPr sz="1200" baseline="-3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8F2F7"/>
                    </a:solidFill>
                  </a:tcPr>
                </a:tc>
              </a:tr>
              <a:tr h="16217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781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900" i="1" kern="0" spc="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通过高维映射保留变量与</a:t>
                      </a:r>
                      <a:r>
                        <a:rPr sz="900" i="1" kern="0" spc="-1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时序间的联合特征。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72" name="textbox 272"/>
          <p:cNvSpPr/>
          <p:nvPr/>
        </p:nvSpPr>
        <p:spPr>
          <a:xfrm>
            <a:off x="1713296" y="4182719"/>
            <a:ext cx="116204" cy="161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4000"/>
              </a:lnSpc>
            </a:pPr>
            <a:r>
              <a:rPr sz="1200" i="1" kern="0" spc="-1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4" name="textbox 274"/>
          <p:cNvSpPr/>
          <p:nvPr/>
        </p:nvSpPr>
        <p:spPr>
          <a:xfrm>
            <a:off x="1744661" y="4157802"/>
            <a:ext cx="89535" cy="67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30"/>
              </a:lnSpc>
            </a:pPr>
            <a:r>
              <a:rPr sz="700" kern="0" spc="-40" dirty="0">
                <a:solidFill>
                  <a:srgbClr val="1A1A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</a:t>
            </a:r>
            <a:endParaRPr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6" name="textbox 276"/>
          <p:cNvSpPr/>
          <p:nvPr/>
        </p:nvSpPr>
        <p:spPr>
          <a:xfrm>
            <a:off x="1333487" y="3763619"/>
            <a:ext cx="116204" cy="1612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4000"/>
              </a:lnSpc>
            </a:pPr>
            <a:r>
              <a:rPr sz="1200" i="1" kern="0" spc="-1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78" name="textbox 278"/>
          <p:cNvSpPr/>
          <p:nvPr/>
        </p:nvSpPr>
        <p:spPr>
          <a:xfrm>
            <a:off x="1364851" y="3738702"/>
            <a:ext cx="89535" cy="67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30"/>
              </a:lnSpc>
            </a:pPr>
            <a:r>
              <a:rPr sz="700" kern="0" spc="-40" dirty="0">
                <a:solidFill>
                  <a:srgbClr val="1A1A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</a:t>
            </a:r>
            <a:endParaRPr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80" name="picture 28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4533900" y="2171700"/>
            <a:ext cx="304800" cy="304800"/>
          </a:xfrm>
          <a:prstGeom prst="rect">
            <a:avLst/>
          </a:prstGeom>
        </p:spPr>
      </p:pic>
      <p:graphicFrame>
        <p:nvGraphicFramePr>
          <p:cNvPr id="282" name="table 282"/>
          <p:cNvGraphicFramePr>
            <a:graphicFrameLocks noGrp="1"/>
          </p:cNvGraphicFramePr>
          <p:nvPr/>
        </p:nvGraphicFramePr>
        <p:xfrm>
          <a:off x="4295775" y="1933575"/>
          <a:ext cx="3600450" cy="4667250"/>
        </p:xfrm>
        <a:graphic>
          <a:graphicData uri="http://schemas.openxmlformats.org/drawingml/2006/table">
            <a:tbl>
              <a:tblPr/>
              <a:tblGrid>
                <a:gridCol w="3600450"/>
              </a:tblGrid>
              <a:tr h="46545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5755" algn="l" rtl="0" eaLnBrk="0">
                        <a:lnSpc>
                          <a:spcPct val="92000"/>
                        </a:lnSpc>
                      </a:pPr>
                      <a:r>
                        <a:rPr sz="1600" i="1" kern="0" spc="-70" baseline="160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02</a:t>
                      </a:r>
                      <a:r>
                        <a:rPr sz="1000" i="1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</a:rPr>
                        <a:t>       </a:t>
                      </a:r>
                      <a:r>
                        <a:rPr sz="1500" kern="0" spc="-7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Graph</a:t>
                      </a:r>
                      <a:r>
                        <a:rPr sz="1500" kern="0" spc="-12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500" kern="0" spc="-7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VAE </a:t>
                      </a:r>
                      <a:r>
                        <a:rPr sz="1500" kern="0" spc="-7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与</a:t>
                      </a:r>
                      <a:r>
                        <a:rPr sz="1500" kern="0" spc="-14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500" kern="0" spc="-7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邻接生成</a:t>
                      </a:r>
                      <a:r>
                        <a:rPr sz="1500" kern="0" spc="0" dirty="0">
                          <a:solidFill>
                            <a:srgbClr val="1F2937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                </a:t>
                      </a:r>
                      <a:endParaRPr sz="15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0030" algn="l" rtl="0" eaLnBrk="0">
                        <a:lnSpc>
                          <a:spcPct val="92000"/>
                        </a:lnSpc>
                        <a:spcBef>
                          <a:spcPts val="275"/>
                        </a:spcBef>
                      </a:pPr>
                      <a:r>
                        <a:rPr sz="900" kern="0" spc="-1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STEP</a:t>
                      </a:r>
                      <a:r>
                        <a:rPr sz="900" kern="0" spc="17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1</a:t>
                      </a:r>
                      <a:r>
                        <a:rPr sz="900" kern="0" spc="-13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:</a:t>
                      </a:r>
                      <a:r>
                        <a:rPr sz="900" kern="0" spc="20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kern="0" spc="-1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自协方差投影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9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31850" algn="l" rtl="0" eaLnBrk="0">
                        <a:lnSpc>
                          <a:spcPts val="1535"/>
                        </a:lnSpc>
                        <a:spcBef>
                          <a:spcPts val="335"/>
                        </a:spcBef>
                      </a:pPr>
                      <a:r>
                        <a:rPr sz="1100" i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200" kern="0" spc="60" baseline="45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sz="700" kern="0" spc="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1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</a:t>
                      </a: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GELU</a:t>
                      </a:r>
                      <a:r>
                        <a:rPr sz="11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((</a:t>
                      </a:r>
                      <a:r>
                        <a:rPr sz="1100" i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W</a:t>
                      </a:r>
                      <a:r>
                        <a:rPr sz="1200" kern="0" spc="60" baseline="-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r>
                        <a:rPr sz="700" kern="0" spc="-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i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sz="1200" i="1" kern="0" spc="0" baseline="14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700" i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kern="0" spc="60" baseline="1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r>
                        <a:rPr sz="11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1100" i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W</a:t>
                      </a:r>
                      <a:r>
                        <a:rPr sz="1200" kern="0" spc="60" baseline="-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sz="700" kern="0" spc="-8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100" i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X</a:t>
                      </a:r>
                      <a:r>
                        <a:rPr sz="1200" i="1" kern="0" spc="0" baseline="14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700" i="1" kern="0" spc="-3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700" kern="0" spc="60" baseline="1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r>
                        <a:rPr sz="1200" kern="0" spc="60" baseline="14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⊤</a:t>
                      </a:r>
                      <a:r>
                        <a:rPr sz="700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1700" kern="0" spc="60" baseline="1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sz="1700" baseline="10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5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73505" algn="l" rtl="0" eaLnBrk="0">
                        <a:lnSpc>
                          <a:spcPts val="1485"/>
                        </a:lnSpc>
                        <a:spcBef>
                          <a:spcPts val="340"/>
                        </a:spcBef>
                        <a:tabLst>
                          <a:tab pos="1417955" algn="l"/>
                        </a:tabLst>
                      </a:pPr>
                      <a:r>
                        <a:rPr sz="11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	</a:t>
                      </a:r>
                      <a:r>
                        <a:rPr sz="1700" kern="0" spc="10" baseline="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  </a:t>
                      </a:r>
                      <a:r>
                        <a:rPr sz="1700" kern="0" spc="10" baseline="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1700" i="1" kern="0" spc="10" baseline="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200" kern="0" spc="10" baseline="39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sz="700" kern="0" spc="1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kern="0" spc="10" baseline="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sz="1100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700" i="1" kern="0" spc="10" baseline="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200" kern="0" spc="10" baseline="17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sz="1200" kern="0" spc="10" baseline="17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⊤</a:t>
                      </a:r>
                      <a:r>
                        <a:rPr sz="700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 </a:t>
                      </a:r>
                      <a:r>
                        <a:rPr sz="1700" kern="0" spc="10" baseline="1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sz="1700" baseline="1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3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40030" algn="l" rtl="0" eaLnBrk="0">
                        <a:lnSpc>
                          <a:spcPct val="92000"/>
                        </a:lnSpc>
                        <a:spcBef>
                          <a:spcPts val="275"/>
                        </a:spcBef>
                      </a:pPr>
                      <a:r>
                        <a:rPr sz="900" kern="0" spc="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STEP</a:t>
                      </a:r>
                      <a:r>
                        <a:rPr sz="900" kern="0" spc="17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kern="0" spc="3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2:</a:t>
                      </a:r>
                      <a:r>
                        <a:rPr sz="900" kern="0" spc="11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900" kern="0" spc="30" dirty="0">
                          <a:solidFill>
                            <a:srgbClr val="6B7280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变分生成去噪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91895" algn="l" rtl="0" eaLnBrk="0">
                        <a:lnSpc>
                          <a:spcPct val="98000"/>
                        </a:lnSpc>
                        <a:spcBef>
                          <a:spcPts val="365"/>
                        </a:spcBef>
                      </a:pPr>
                      <a:r>
                        <a:rPr sz="1800" i="1" kern="0" spc="70" baseline="-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100" i="1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kern="0" spc="70" baseline="-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</a:t>
                      </a:r>
                      <a:r>
                        <a:rPr sz="11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VAE</a:t>
                      </a:r>
                      <a:r>
                        <a:rPr sz="12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1200" kern="0" spc="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2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 </a:t>
                      </a:r>
                      <a:r>
                        <a:rPr sz="1200" kern="0" spc="7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⇒</a:t>
                      </a:r>
                      <a:r>
                        <a:rPr sz="12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  </a:t>
                      </a:r>
                      <a:endParaRPr sz="1200" dirty="0">
                        <a:latin typeface="Lucida Sans Unicode" panose="020B0602030504020204"/>
                        <a:ea typeface="Lucida Sans Unicode" panose="020B0602030504020204"/>
                        <a:cs typeface="Lucida Sans Unicode" panose="020B0602030504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2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7490" algn="l" rtl="0" eaLnBrk="0">
                        <a:lnSpc>
                          <a:spcPct val="87000"/>
                        </a:lnSpc>
                        <a:spcBef>
                          <a:spcPts val="0"/>
                        </a:spcBef>
                      </a:pPr>
                      <a:r>
                        <a:rPr sz="900" kern="0" spc="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利用</a:t>
                      </a:r>
                      <a:r>
                        <a:rPr sz="900" kern="0" spc="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VAE </a:t>
                      </a:r>
                      <a:r>
                        <a:rPr sz="900" kern="0" spc="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捕捉变量依赖的</a:t>
                      </a:r>
                      <a:r>
                        <a:rPr sz="900" u="sng" kern="0" spc="0" dirty="0">
                          <a:solidFill>
                            <a:srgbClr val="4B5563">
                              <a:alpha val="100000"/>
                            </a:srgbClr>
                          </a:solidFill>
                          <a:uFill>
                            <a:solidFill>
                              <a:srgbClr val="D4A574"/>
                            </a:solidFill>
                          </a:u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不确定性</a:t>
                      </a:r>
                      <a:r>
                        <a:rPr sz="900" kern="0" spc="-15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900" kern="0" spc="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，生成预测</a:t>
                      </a:r>
                      <a:r>
                        <a:rPr sz="900" kern="0" spc="-10" dirty="0">
                          <a:solidFill>
                            <a:srgbClr val="4B5563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图   。</a:t>
                      </a:r>
                      <a:endParaRPr sz="9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4" name="textbox 284"/>
          <p:cNvSpPr/>
          <p:nvPr/>
        </p:nvSpPr>
        <p:spPr>
          <a:xfrm>
            <a:off x="6988901" y="5266778"/>
            <a:ext cx="107314" cy="125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900" i="1" kern="0" spc="3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86" name="textbox 286"/>
          <p:cNvSpPr/>
          <p:nvPr/>
        </p:nvSpPr>
        <p:spPr>
          <a:xfrm>
            <a:off x="7011672" y="5218086"/>
            <a:ext cx="69850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055"/>
              </a:lnSpc>
            </a:pPr>
            <a:r>
              <a:rPr sz="500" kern="0" spc="-40" dirty="0">
                <a:solidFill>
                  <a:srgbClr val="1A1A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^</a:t>
            </a:r>
            <a:endParaRPr sz="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8" name="textbox 288"/>
          <p:cNvSpPr/>
          <p:nvPr/>
        </p:nvSpPr>
        <p:spPr>
          <a:xfrm>
            <a:off x="6587356" y="4724730"/>
            <a:ext cx="134620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i="1" kern="0" spc="4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0" name="textbox 290"/>
          <p:cNvSpPr/>
          <p:nvPr/>
        </p:nvSpPr>
        <p:spPr>
          <a:xfrm>
            <a:off x="6596700" y="4659807"/>
            <a:ext cx="85089" cy="205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410"/>
              </a:lnSpc>
            </a:pPr>
            <a:r>
              <a:rPr sz="600" kern="0" spc="0" dirty="0">
                <a:solidFill>
                  <a:srgbClr val="1A1A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^</a:t>
            </a:r>
            <a:endParaRPr sz="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2" name="textbox 292"/>
          <p:cNvSpPr/>
          <p:nvPr/>
        </p:nvSpPr>
        <p:spPr>
          <a:xfrm>
            <a:off x="6178972" y="4724730"/>
            <a:ext cx="134620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i="1" kern="0" spc="4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4" name="textbox 294"/>
          <p:cNvSpPr/>
          <p:nvPr/>
        </p:nvSpPr>
        <p:spPr>
          <a:xfrm>
            <a:off x="6173839" y="4691202"/>
            <a:ext cx="89535" cy="6794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30"/>
              </a:lnSpc>
            </a:pPr>
            <a:r>
              <a:rPr sz="700" kern="0" spc="-40" dirty="0">
                <a:solidFill>
                  <a:srgbClr val="1A1A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</a:t>
            </a:r>
            <a:endParaRPr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96" name="picture 29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5878139" y="3498288"/>
            <a:ext cx="76200" cy="370141"/>
          </a:xfrm>
          <a:prstGeom prst="rect">
            <a:avLst/>
          </a:prstGeom>
        </p:spPr>
      </p:pic>
      <p:sp>
        <p:nvSpPr>
          <p:cNvPr id="298" name="textbox 298"/>
          <p:cNvSpPr/>
          <p:nvPr/>
        </p:nvSpPr>
        <p:spPr>
          <a:xfrm>
            <a:off x="5553330" y="3606319"/>
            <a:ext cx="129539" cy="1485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100" i="1" kern="0" spc="6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1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0" name="textbox 300"/>
          <p:cNvSpPr/>
          <p:nvPr/>
        </p:nvSpPr>
        <p:spPr>
          <a:xfrm>
            <a:off x="5596593" y="3579230"/>
            <a:ext cx="86360" cy="666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25"/>
              </a:lnSpc>
            </a:pPr>
            <a:r>
              <a:rPr sz="700" kern="0" spc="-60" dirty="0">
                <a:solidFill>
                  <a:srgbClr val="1A1A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</a:t>
            </a:r>
            <a:endParaRPr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02" name="picture 30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7873011" y="2540000"/>
            <a:ext cx="12472" cy="12700"/>
          </a:xfrm>
          <a:prstGeom prst="rect">
            <a:avLst/>
          </a:prstGeom>
        </p:spPr>
      </p:pic>
      <p:sp>
        <p:nvSpPr>
          <p:cNvPr id="304" name="textbox 304"/>
          <p:cNvSpPr/>
          <p:nvPr/>
        </p:nvSpPr>
        <p:spPr>
          <a:xfrm>
            <a:off x="-12700" y="6809105"/>
            <a:ext cx="12217400" cy="6572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73075" algn="l" rtl="0" eaLnBrk="0">
              <a:lnSpc>
                <a:spcPts val="960"/>
              </a:lnSpc>
            </a:pPr>
            <a:r>
              <a:rPr sz="700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STRUCTURAL</a:t>
            </a:r>
            <a:r>
              <a:rPr sz="700" kern="0" spc="10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ALIGNER</a:t>
            </a:r>
            <a:r>
              <a:rPr sz="700" kern="0" spc="10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MECHANISM</a:t>
            </a:r>
            <a:r>
              <a:rPr sz="700" kern="0" spc="10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10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//</a:t>
            </a:r>
            <a:r>
              <a:rPr sz="700" kern="0" spc="10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MODULE</a:t>
            </a:r>
            <a:r>
              <a:rPr sz="700" kern="0" spc="10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_06</a:t>
            </a:r>
            <a:r>
              <a:rPr sz="700" kern="0" spc="10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</a:t>
            </a:r>
            <a:r>
              <a:rPr sz="700" strike="sngStrike" kern="0" spc="1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                                      </a:t>
            </a:r>
            <a:r>
              <a:rPr sz="700" strike="sngStrike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                                                                                 </a:t>
            </a:r>
            <a:r>
              <a:rPr sz="700" kern="0" spc="19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 </a:t>
            </a:r>
            <a:r>
              <a:rPr sz="700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CONFIDENTIAL</a:t>
            </a:r>
            <a:r>
              <a:rPr sz="700" kern="0" spc="10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9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/</a:t>
            </a:r>
            <a:r>
              <a:rPr sz="700" kern="0" spc="9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ACADEMIC</a:t>
            </a:r>
            <a:r>
              <a:rPr sz="700" kern="0" spc="9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USE</a:t>
            </a:r>
            <a:r>
              <a:rPr sz="700" kern="0" spc="9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ONLY</a:t>
            </a:r>
            <a:endParaRPr sz="700" dirty="0"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  <a:p>
            <a:pPr algn="l" rtl="0" eaLnBrk="0">
              <a:lnSpc>
                <a:spcPct val="104000"/>
              </a:lnSpc>
            </a:pP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1000"/>
              </a:lnSpc>
              <a:tabLst>
                <a:tab pos="12204700" algn="l"/>
              </a:tabLst>
            </a:pPr>
            <a:r>
              <a:rPr sz="1000" u="sng" kern="0" spc="0" dirty="0">
                <a:solidFill>
                  <a:srgbClr val="000000">
                    <a:alpha val="100000"/>
                  </a:srgbClr>
                </a:solidFill>
                <a:uFill>
                  <a:solidFill>
                    <a:srgbClr val="E7E5E4"/>
                  </a:solidFill>
                </a:uFill>
                <a:latin typeface="Arial" panose="020B0604020202020204"/>
                <a:ea typeface="Arial" panose="020B0604020202020204"/>
                <a:cs typeface="Arial" panose="020B0604020202020204"/>
              </a:rPr>
              <a:t>	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4" name="textbox 314"/>
          <p:cNvSpPr/>
          <p:nvPr/>
        </p:nvSpPr>
        <p:spPr>
          <a:xfrm>
            <a:off x="454101" y="1038097"/>
            <a:ext cx="7148194" cy="38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r>
              <a:rPr sz="2700" kern="0" spc="-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图结构对齐器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6" name="textbox 316"/>
          <p:cNvSpPr/>
          <p:nvPr/>
        </p:nvSpPr>
        <p:spPr>
          <a:xfrm>
            <a:off x="8340725" y="4352759"/>
            <a:ext cx="3128010" cy="6965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7325" indent="-117475" algn="l" rtl="0" eaLnBrk="0">
              <a:lnSpc>
                <a:spcPct val="115000"/>
              </a:lnSpc>
              <a:tabLst>
                <a:tab pos="182245" algn="l"/>
              </a:tabLst>
            </a:pPr>
            <a:r>
              <a:rPr sz="1000" kern="0" spc="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kern="0" spc="6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结构指导：</a:t>
            </a:r>
            <a:r>
              <a:rPr sz="1000" kern="0" spc="11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6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强制生成图向 </a:t>
            </a:r>
            <a:r>
              <a:rPr sz="1000" kern="0" spc="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Ground</a:t>
            </a:r>
            <a:r>
              <a:rPr sz="1000" kern="0" spc="10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Truth</a:t>
            </a:r>
            <a:r>
              <a:rPr sz="1000" kern="0" spc="6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6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依赖模式</a:t>
            </a:r>
            <a:r>
              <a:rPr sz="1000" kern="0" spc="1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靠拢。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8000"/>
              </a:lnSpc>
            </a:pPr>
            <a:endParaRPr sz="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850" algn="l" rtl="0" eaLnBrk="0">
              <a:lnSpc>
                <a:spcPct val="88000"/>
              </a:lnSpc>
              <a:spcBef>
                <a:spcPts val="0"/>
              </a:spcBef>
              <a:tabLst>
                <a:tab pos="194310" algn="l"/>
              </a:tabLst>
            </a:pPr>
            <a:r>
              <a:rPr sz="1000" kern="0" spc="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000" kern="0" spc="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高阶对齐： </a:t>
            </a:r>
            <a:r>
              <a:rPr sz="1000" kern="0" spc="5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获取变量与时序的</a:t>
            </a:r>
            <a:r>
              <a:rPr sz="1000" kern="0" spc="5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“</a:t>
            </a:r>
            <a:r>
              <a:rPr sz="1000" kern="0" spc="5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联合邻接矩</a:t>
            </a:r>
            <a:r>
              <a:rPr sz="1000" kern="0" spc="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阵</a:t>
            </a:r>
            <a:r>
              <a:rPr sz="1000" kern="0" spc="40" dirty="0">
                <a:solidFill>
                  <a:srgbClr val="374151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”</a:t>
            </a:r>
            <a:r>
              <a:rPr sz="1000" kern="0" spc="40" dirty="0">
                <a:solidFill>
                  <a:srgbClr val="374151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18" name="picture 3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353425" y="4933950"/>
            <a:ext cx="57150" cy="57150"/>
          </a:xfrm>
          <a:prstGeom prst="rect">
            <a:avLst/>
          </a:prstGeom>
        </p:spPr>
      </p:pic>
      <p:pic>
        <p:nvPicPr>
          <p:cNvPr id="320" name="picture 3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8353425" y="4400550"/>
            <a:ext cx="57150" cy="57150"/>
          </a:xfrm>
          <a:prstGeom prst="rect">
            <a:avLst/>
          </a:prstGeom>
        </p:spPr>
      </p:pic>
      <p:sp>
        <p:nvSpPr>
          <p:cNvPr id="322" name="textbox 322"/>
          <p:cNvSpPr/>
          <p:nvPr/>
        </p:nvSpPr>
        <p:spPr>
          <a:xfrm>
            <a:off x="8348612" y="6028054"/>
            <a:ext cx="2959735" cy="3390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indent="-2540" algn="l" rtl="0" eaLnBrk="0">
              <a:lnSpc>
                <a:spcPct val="152000"/>
              </a:lnSpc>
            </a:pPr>
            <a:r>
              <a:rPr sz="700" kern="0" spc="-1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OBJECTIVE:</a:t>
            </a:r>
            <a:r>
              <a:rPr sz="700" kern="0" spc="-1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-1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TOP-DOWN</a:t>
            </a:r>
            <a:r>
              <a:rPr sz="700" kern="0" spc="-1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-1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STRUCTURAL</a:t>
            </a:r>
            <a:r>
              <a:rPr sz="700" kern="0" spc="-1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-1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CONSTRAINT</a:t>
            </a:r>
            <a:r>
              <a:rPr sz="700" kern="0" spc="-2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-2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FOR</a:t>
            </a:r>
            <a:r>
              <a:rPr sz="700" kern="0" spc="-2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-2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HIGH-ORDER</a:t>
            </a:r>
            <a:r>
              <a:rPr sz="700" kern="0" spc="-1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 </a:t>
            </a:r>
            <a:r>
              <a:rPr sz="700" kern="0" spc="-10" dirty="0">
                <a:solidFill>
                  <a:srgbClr val="9CA3AF">
                    <a:alpha val="100000"/>
                  </a:srgbClr>
                </a:solidFill>
                <a:latin typeface="Courier New" panose="02070309020205020404"/>
                <a:ea typeface="Courier New" panose="02070309020205020404"/>
                <a:cs typeface="Courier New" panose="02070309020205020404"/>
              </a:rPr>
              <a:t>DEPENDENCIES.</a:t>
            </a:r>
            <a:endParaRPr sz="700" dirty="0">
              <a:latin typeface="Courier New" panose="02070309020205020404"/>
              <a:ea typeface="Courier New" panose="02070309020205020404"/>
              <a:cs typeface="Courier New" panose="02070309020205020404"/>
            </a:endParaRPr>
          </a:p>
        </p:txBody>
      </p:sp>
      <p:pic>
        <p:nvPicPr>
          <p:cNvPr id="324" name="picture 3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8124825" y="1933575"/>
            <a:ext cx="3609975" cy="114300"/>
          </a:xfrm>
          <a:prstGeom prst="rect">
            <a:avLst/>
          </a:prstGeom>
        </p:spPr>
      </p:pic>
      <p:pic>
        <p:nvPicPr>
          <p:cNvPr id="326" name="picture 3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353425" y="2200275"/>
            <a:ext cx="304800" cy="304800"/>
          </a:xfrm>
          <a:prstGeom prst="rect">
            <a:avLst/>
          </a:prstGeom>
        </p:spPr>
      </p:pic>
      <p:sp>
        <p:nvSpPr>
          <p:cNvPr id="328" name="textbox 328"/>
          <p:cNvSpPr/>
          <p:nvPr/>
        </p:nvSpPr>
        <p:spPr>
          <a:xfrm>
            <a:off x="8434775" y="2237866"/>
            <a:ext cx="1800225" cy="2368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3000"/>
              </a:lnSpc>
            </a:pPr>
            <a:r>
              <a:rPr sz="1600" i="1" kern="0" spc="-60" baseline="1600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03</a:t>
            </a:r>
            <a:r>
              <a:rPr sz="1000" i="1" kern="0" spc="20" dirty="0">
                <a:solidFill>
                  <a:srgbClr val="FFFFFF">
                    <a:alpha val="100000"/>
                  </a:srgb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      </a:t>
            </a:r>
            <a:r>
              <a:rPr sz="1500" kern="0" spc="-6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对齐正则化 </a:t>
            </a:r>
            <a:r>
              <a:rPr sz="1500" kern="0" spc="-6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(Loss)</a:t>
            </a:r>
            <a:endParaRPr sz="1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330" name="picture 33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600000">
            <a:off x="695325" y="3219450"/>
            <a:ext cx="76200" cy="1676400"/>
          </a:xfrm>
          <a:prstGeom prst="rect">
            <a:avLst/>
          </a:prstGeom>
        </p:spPr>
      </p:pic>
      <p:pic>
        <p:nvPicPr>
          <p:cNvPr id="332" name="picture 33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21600000">
            <a:off x="0" y="571500"/>
            <a:ext cx="12192000" cy="9525"/>
          </a:xfrm>
          <a:prstGeom prst="rect">
            <a:avLst/>
          </a:prstGeom>
        </p:spPr>
      </p:pic>
      <p:pic>
        <p:nvPicPr>
          <p:cNvPr id="334" name="picture 33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21600000">
            <a:off x="8353425" y="5876925"/>
            <a:ext cx="3152775" cy="9525"/>
          </a:xfrm>
          <a:prstGeom prst="rect">
            <a:avLst/>
          </a:prstGeom>
        </p:spPr>
      </p:pic>
      <p:pic>
        <p:nvPicPr>
          <p:cNvPr id="336" name="picture 33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 rot="21600000">
            <a:off x="457200" y="1609725"/>
            <a:ext cx="457200" cy="1905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33155" y="3254375"/>
            <a:ext cx="2343150" cy="55245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79595" y="2990850"/>
            <a:ext cx="3432810" cy="10795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90795" y="4476115"/>
            <a:ext cx="2009775" cy="6572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rect 338"/>
          <p:cNvSpPr/>
          <p:nvPr/>
        </p:nvSpPr>
        <p:spPr>
          <a:xfrm>
            <a:off x="0" y="0"/>
            <a:ext cx="12192000" cy="8001000"/>
          </a:xfrm>
          <a:prstGeom prst="rect">
            <a:avLst/>
          </a:prstGeom>
          <a:solidFill>
            <a:srgbClr val="FAF9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40" name="table 340"/>
          <p:cNvGraphicFramePr>
            <a:graphicFrameLocks noGrp="1"/>
          </p:cNvGraphicFramePr>
          <p:nvPr/>
        </p:nvGraphicFramePr>
        <p:xfrm>
          <a:off x="5286375" y="1362075"/>
          <a:ext cx="6447790" cy="3276600"/>
        </p:xfrm>
        <a:graphic>
          <a:graphicData uri="http://schemas.openxmlformats.org/drawingml/2006/table">
            <a:tbl>
              <a:tblPr/>
              <a:tblGrid>
                <a:gridCol w="5478145"/>
                <a:gridCol w="969644"/>
              </a:tblGrid>
              <a:tr h="32766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5275" algn="l" rtl="0" eaLnBrk="0">
                        <a:lnSpc>
                          <a:spcPct val="78000"/>
                        </a:lnSpc>
                        <a:tabLst>
                          <a:tab pos="377825" algn="l"/>
                        </a:tabLst>
                      </a:pPr>
                      <a:r>
                        <a:rPr sz="900" b="1" kern="0" spc="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	</a:t>
                      </a:r>
                      <a:r>
                        <a:rPr sz="900" b="1" kern="0" spc="12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PROPAGATIO</a:t>
                      </a:r>
                      <a:r>
                        <a:rPr sz="900" b="1" kern="0" spc="11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N  MECHANISM</a:t>
                      </a:r>
                      <a:endParaRPr sz="900" dirty="0">
                        <a:latin typeface="Microsoft JhengHei" panose="020B0604030504040204" charset="-120"/>
                        <a:ea typeface="Microsoft JhengHei" panose="020B0604030504040204" charset="-120"/>
                        <a:cs typeface="Microsoft JhengHei" panose="020B0604030504040204" charset="-120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319655" algn="l" rtl="0" eaLnBrk="0">
                        <a:lnSpc>
                          <a:spcPts val="2225"/>
                        </a:lnSpc>
                        <a:spcBef>
                          <a:spcPts val="540"/>
                        </a:spcBef>
                      </a:pPr>
                      <a:r>
                        <a:rPr sz="1800" i="1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</a:t>
                      </a:r>
                      <a:r>
                        <a:rPr sz="1800" i="1" kern="0" spc="19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</a:t>
                      </a:r>
                      <a:r>
                        <a:rPr sz="1800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GCN</a:t>
                      </a:r>
                      <a:r>
                        <a:rPr sz="18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1800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 </a:t>
                      </a:r>
                      <a:r>
                        <a:rPr sz="1900" i="1" kern="0" spc="60" baseline="48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</a:t>
                      </a:r>
                      <a:r>
                        <a:rPr sz="1200" i="1" kern="0" spc="-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8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,</a:t>
                      </a:r>
                      <a:r>
                        <a:rPr sz="1800" kern="0" spc="-1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800" i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A</a:t>
                      </a:r>
                      <a:r>
                        <a:rPr sz="1900" i="1" kern="0" spc="0" baseline="4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s</a:t>
                      </a:r>
                      <a:r>
                        <a:rPr sz="2700" kern="0" spc="60" baseline="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</a:t>
                      </a:r>
                      <a:endParaRPr sz="2700" baseline="3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5275" algn="l" rtl="0" eaLnBrk="0">
                        <a:lnSpc>
                          <a:spcPct val="78000"/>
                        </a:lnSpc>
                        <a:spcBef>
                          <a:spcPts val="275"/>
                        </a:spcBef>
                        <a:tabLst>
                          <a:tab pos="377825" algn="l"/>
                        </a:tabLst>
                      </a:pPr>
                      <a:r>
                        <a:rPr sz="900" b="1" kern="0" spc="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	</a:t>
                      </a:r>
                      <a:r>
                        <a:rPr sz="900" b="1" kern="0" spc="13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DIMENSIONALITY  REDUCTI</a:t>
                      </a:r>
                      <a:r>
                        <a:rPr sz="900" b="1" kern="0" spc="12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Microsoft JhengHei" panose="020B0604030504040204" charset="-120"/>
                          <a:ea typeface="Microsoft JhengHei" panose="020B0604030504040204" charset="-120"/>
                          <a:cs typeface="Microsoft JhengHei" panose="020B0604030504040204" charset="-120"/>
                        </a:rPr>
                        <a:t>ON</a:t>
                      </a:r>
                      <a:endParaRPr sz="900" dirty="0">
                        <a:latin typeface="Microsoft JhengHei" panose="020B0604030504040204" charset="-120"/>
                        <a:ea typeface="Microsoft JhengHei" panose="020B0604030504040204" charset="-120"/>
                        <a:cs typeface="Microsoft JhengHei" panose="020B0604030504040204" charset="-120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32635" algn="l" rtl="0" eaLnBrk="0">
                        <a:lnSpc>
                          <a:spcPct val="99000"/>
                        </a:lnSpc>
                        <a:spcBef>
                          <a:spcPts val="0"/>
                        </a:spcBef>
                      </a:pPr>
                      <a:r>
                        <a:rPr sz="1900" i="1" kern="0" spc="0" baseline="36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endo</a:t>
                      </a:r>
                      <a:r>
                        <a:rPr sz="1200" i="1" kern="0" spc="1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1800" kern="0" spc="6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= </a:t>
                      </a:r>
                      <a:r>
                        <a:rPr sz="2700" kern="0" spc="0" baseline="-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Linear</a:t>
                      </a:r>
                      <a:r>
                        <a:rPr sz="2700" kern="0" spc="60" baseline="-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2700" kern="0" spc="0" baseline="-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Flatten</a:t>
                      </a:r>
                      <a:r>
                        <a:rPr sz="2700" kern="0" spc="60" baseline="-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2700" i="1" kern="0" spc="60" baseline="-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</a:t>
                      </a:r>
                      <a:r>
                        <a:rPr sz="2700" kern="0" spc="60" baseline="-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))</a:t>
                      </a:r>
                      <a:endParaRPr sz="2700" baseline="-2000" dirty="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42" name="textbox 342"/>
          <p:cNvSpPr/>
          <p:nvPr/>
        </p:nvSpPr>
        <p:spPr>
          <a:xfrm>
            <a:off x="7123024" y="3696030"/>
            <a:ext cx="193039" cy="22415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</a:pPr>
            <a:r>
              <a:rPr sz="1800" i="1" kern="0" spc="1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</a:t>
            </a:r>
            <a:endParaRPr sz="1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44" name="textbox 344"/>
          <p:cNvSpPr/>
          <p:nvPr/>
        </p:nvSpPr>
        <p:spPr>
          <a:xfrm>
            <a:off x="7176596" y="3590874"/>
            <a:ext cx="114300" cy="2940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115"/>
              </a:lnSpc>
            </a:pPr>
            <a:r>
              <a:rPr sz="1000" kern="0" spc="-60" dirty="0">
                <a:solidFill>
                  <a:srgbClr val="1A1A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^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46" name="picture 34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5524500" y="3162300"/>
            <a:ext cx="57150" cy="57150"/>
          </a:xfrm>
          <a:prstGeom prst="rect">
            <a:avLst/>
          </a:prstGeom>
        </p:spPr>
      </p:pic>
      <p:sp>
        <p:nvSpPr>
          <p:cNvPr id="348" name="textbox 348"/>
          <p:cNvSpPr/>
          <p:nvPr/>
        </p:nvSpPr>
        <p:spPr>
          <a:xfrm>
            <a:off x="8715306" y="2165629"/>
            <a:ext cx="161289" cy="220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75000"/>
              </a:lnSpc>
            </a:pPr>
            <a:r>
              <a:rPr sz="1700" i="1" kern="0" spc="-9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endParaRPr sz="1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0" name="textbox 350"/>
          <p:cNvSpPr/>
          <p:nvPr/>
        </p:nvSpPr>
        <p:spPr>
          <a:xfrm>
            <a:off x="8721890" y="2123490"/>
            <a:ext cx="121285" cy="908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510"/>
              </a:lnSpc>
            </a:pPr>
            <a:r>
              <a:rPr sz="1100" kern="0" spc="-80" dirty="0">
                <a:solidFill>
                  <a:srgbClr val="1A1A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</a:t>
            </a:r>
            <a:endParaRPr sz="1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52" name="picture 3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5524500" y="1647825"/>
            <a:ext cx="57150" cy="57150"/>
          </a:xfrm>
          <a:prstGeom prst="rect">
            <a:avLst/>
          </a:prstGeom>
        </p:spPr>
      </p:pic>
      <p:sp>
        <p:nvSpPr>
          <p:cNvPr id="354" name="rect 354"/>
          <p:cNvSpPr/>
          <p:nvPr/>
        </p:nvSpPr>
        <p:spPr>
          <a:xfrm>
            <a:off x="5286375" y="4867275"/>
            <a:ext cx="6448425" cy="2266950"/>
          </a:xfrm>
          <a:prstGeom prst="rect">
            <a:avLst/>
          </a:prstGeom>
          <a:solidFill>
            <a:schemeClr val="bg1"/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56" name="rect 356"/>
          <p:cNvSpPr/>
          <p:nvPr/>
        </p:nvSpPr>
        <p:spPr>
          <a:xfrm>
            <a:off x="10715625" y="5143500"/>
            <a:ext cx="790575" cy="180975"/>
          </a:xfrm>
          <a:prstGeom prst="rect">
            <a:avLst/>
          </a:prstGeom>
          <a:solidFill>
            <a:srgbClr val="D4A57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72" name="rect 372"/>
          <p:cNvSpPr/>
          <p:nvPr/>
        </p:nvSpPr>
        <p:spPr>
          <a:xfrm>
            <a:off x="476250" y="1362075"/>
            <a:ext cx="4505325" cy="1104900"/>
          </a:xfrm>
          <a:prstGeom prst="rect">
            <a:avLst/>
          </a:prstGeom>
          <a:solidFill>
            <a:srgbClr val="E8F2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graphicFrame>
        <p:nvGraphicFramePr>
          <p:cNvPr id="374" name="table 374"/>
          <p:cNvGraphicFramePr>
            <a:graphicFrameLocks noGrp="1"/>
          </p:cNvGraphicFramePr>
          <p:nvPr/>
        </p:nvGraphicFramePr>
        <p:xfrm>
          <a:off x="457200" y="6457950"/>
          <a:ext cx="4524375" cy="694690"/>
        </p:xfrm>
        <a:graphic>
          <a:graphicData uri="http://schemas.openxmlformats.org/drawingml/2006/table">
            <a:tbl>
              <a:tblPr/>
              <a:tblGrid>
                <a:gridCol w="1157605"/>
                <a:gridCol w="496569"/>
                <a:gridCol w="1160145"/>
                <a:gridCol w="500379"/>
                <a:gridCol w="1209675"/>
              </a:tblGrid>
              <a:tr h="6946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58140" algn="l" rtl="0" eaLnBrk="0">
                        <a:lnSpc>
                          <a:spcPct val="77000"/>
                        </a:lnSpc>
                      </a:pPr>
                      <a:r>
                        <a:rPr sz="700" kern="0" spc="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INITIAL SHAPE</a:t>
                      </a:r>
                      <a:endParaRPr sz="700" dirty="0">
                        <a:latin typeface="Lucida Sans Unicode" panose="020B0602030504020204"/>
                        <a:ea typeface="Lucida Sans Unicode" panose="020B0602030504020204"/>
                        <a:cs typeface="Lucida Sans Unicode" panose="020B0602030504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68020" algn="l" rtl="0" eaLnBrk="0">
                        <a:lnSpc>
                          <a:spcPct val="90000"/>
                        </a:lnSpc>
                        <a:spcBef>
                          <a:spcPts val="0"/>
                        </a:spcBef>
                        <a:tabLst>
                          <a:tab pos="672465" algn="l"/>
                        </a:tabLst>
                      </a:pPr>
                      <a:r>
                        <a:rPr sz="500" i="1" kern="0" spc="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	</a:t>
                      </a:r>
                      <a:r>
                        <a:rPr sz="900" i="1" kern="0" spc="-10" baseline="23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</a:t>
                      </a:r>
                      <a:endParaRPr sz="900" baseline="23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8595" algn="l" rtl="0" eaLnBrk="0">
                        <a:lnSpc>
                          <a:spcPts val="630"/>
                        </a:lnSpc>
                      </a:pPr>
                      <a:r>
                        <a:rPr sz="1200" kern="0" spc="-10" dirty="0">
                          <a:solidFill>
                            <a:srgbClr val="D1D5DB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→</a:t>
                      </a:r>
                      <a:endParaRPr sz="1200" dirty="0">
                        <a:latin typeface="Lucida Sans Unicode" panose="020B0602030504020204"/>
                        <a:ea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1465" algn="l" rtl="0" eaLnBrk="0">
                        <a:lnSpc>
                          <a:spcPct val="77000"/>
                        </a:lnSpc>
                      </a:pPr>
                      <a:r>
                        <a:rPr sz="700" kern="0" spc="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GCN OUTPUT</a:t>
                      </a:r>
                      <a:endParaRPr sz="700" dirty="0">
                        <a:latin typeface="Lucida Sans Unicode" panose="020B0602030504020204"/>
                        <a:ea typeface="Lucida Sans Unicode" panose="020B0602030504020204"/>
                        <a:cs typeface="Lucida Sans Unicode" panose="020B0602030504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8595" algn="l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1300" i="1" kern="0" spc="20" baseline="-2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H</a:t>
                      </a:r>
                      <a:r>
                        <a:rPr sz="800" i="1" kern="0" spc="14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</a:t>
                      </a:r>
                      <a:r>
                        <a:rPr sz="1300" kern="0" spc="20" baseline="-2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∈</a:t>
                      </a:r>
                      <a:r>
                        <a:rPr sz="8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300" kern="0" spc="20" baseline="-20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900" kern="0" spc="20" baseline="1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(</a:t>
                      </a:r>
                      <a:r>
                        <a:rPr sz="900" i="1" kern="0" spc="20" baseline="1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900" kern="0" spc="20" baseline="1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+</a:t>
                      </a:r>
                      <a:r>
                        <a:rPr sz="900" i="1" kern="0" spc="20" baseline="1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r>
                        <a:rPr sz="900" kern="0" spc="20" baseline="1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)×</a:t>
                      </a:r>
                      <a:r>
                        <a:rPr sz="900" i="1" kern="0" spc="20" baseline="1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L</a:t>
                      </a:r>
                      <a:r>
                        <a:rPr sz="900" kern="0" spc="20" baseline="1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sz="900" i="1" kern="0" spc="20" baseline="1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d</a:t>
                      </a:r>
                      <a:endParaRPr sz="900" baseline="12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92405" algn="l" rtl="0" eaLnBrk="0">
                        <a:lnSpc>
                          <a:spcPts val="630"/>
                        </a:lnSpc>
                      </a:pPr>
                      <a:r>
                        <a:rPr sz="1200" kern="0" spc="-10" dirty="0">
                          <a:solidFill>
                            <a:srgbClr val="D1D5DB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→</a:t>
                      </a:r>
                      <a:endParaRPr sz="1200" dirty="0">
                        <a:latin typeface="Lucida Sans Unicode" panose="020B0602030504020204"/>
                        <a:ea typeface="Lucida Sans Unicode" panose="020B0602030504020204"/>
                        <a:cs typeface="Lucida Sans Unicode" panose="020B0602030504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74320" algn="l" rtl="0" eaLnBrk="0">
                        <a:lnSpc>
                          <a:spcPct val="75000"/>
                        </a:lnSpc>
                        <a:spcBef>
                          <a:spcPts val="5"/>
                        </a:spcBef>
                      </a:pPr>
                      <a:r>
                        <a:rPr sz="700" kern="0" spc="0" dirty="0">
                          <a:solidFill>
                            <a:srgbClr val="9CA3AF">
                              <a:alpha val="100000"/>
                            </a:srgbClr>
                          </a:solidFill>
                          <a:latin typeface="Lucida Sans Unicode" panose="020B0602030504020204"/>
                          <a:ea typeface="Lucida Sans Unicode" panose="020B0602030504020204"/>
                          <a:cs typeface="Lucida Sans Unicode" panose="020B0602030504020204"/>
                        </a:rPr>
                        <a:t>FINAL PRED</a:t>
                      </a:r>
                      <a:endParaRPr sz="700" dirty="0">
                        <a:latin typeface="Lucida Sans Unicode" panose="020B0602030504020204"/>
                        <a:ea typeface="Lucida Sans Unicode" panose="020B0602030504020204"/>
                        <a:cs typeface="Lucida Sans Unicode" panose="020B0602030504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80035" algn="l" rtl="0" eaLnBrk="0">
                        <a:lnSpc>
                          <a:spcPct val="84000"/>
                        </a:lnSpc>
                        <a:spcBef>
                          <a:spcPts val="5"/>
                        </a:spcBef>
                      </a:pPr>
                      <a:r>
                        <a:rPr sz="900" i="1" kern="0" spc="-60" baseline="1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endo</a:t>
                      </a:r>
                      <a:r>
                        <a:rPr sz="500" i="1" kern="0" spc="5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 </a:t>
                      </a:r>
                      <a:r>
                        <a:rPr sz="1300" kern="0" spc="-60" baseline="-1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∈</a:t>
                      </a:r>
                      <a:r>
                        <a:rPr sz="800" kern="0" spc="2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r>
                        <a:rPr sz="1300" kern="0" spc="-60" baseline="-16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</a:t>
                      </a:r>
                      <a:r>
                        <a:rPr sz="900" i="1" kern="0" spc="0" baseline="1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N</a:t>
                      </a:r>
                      <a:r>
                        <a:rPr sz="900" kern="0" spc="110" baseline="1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×</a:t>
                      </a:r>
                      <a:r>
                        <a:rPr sz="900" i="1" kern="0" spc="110" baseline="12000" dirty="0">
                          <a:solidFill>
                            <a:srgbClr val="1A1A1A">
                              <a:alpha val="100000"/>
                            </a:srgbClr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F</a:t>
                      </a:r>
                      <a:endParaRPr sz="900" baseline="12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3F4F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6" name="textbox 376"/>
          <p:cNvSpPr/>
          <p:nvPr/>
        </p:nvSpPr>
        <p:spPr>
          <a:xfrm>
            <a:off x="3947919" y="6832765"/>
            <a:ext cx="109220" cy="1250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2000"/>
              </a:lnSpc>
            </a:pPr>
            <a:r>
              <a:rPr sz="900" i="1" kern="0" spc="4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78" name="textbox 378"/>
          <p:cNvSpPr/>
          <p:nvPr/>
        </p:nvSpPr>
        <p:spPr>
          <a:xfrm>
            <a:off x="3974705" y="6780186"/>
            <a:ext cx="69850" cy="1600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055"/>
              </a:lnSpc>
            </a:pPr>
            <a:r>
              <a:rPr sz="500" kern="0" spc="-40" dirty="0">
                <a:solidFill>
                  <a:srgbClr val="1A1A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^</a:t>
            </a:r>
            <a:endParaRPr sz="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0" name="textbox 380"/>
          <p:cNvSpPr/>
          <p:nvPr/>
        </p:nvSpPr>
        <p:spPr>
          <a:xfrm>
            <a:off x="1048435" y="6829564"/>
            <a:ext cx="93344" cy="1276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r>
              <a:rPr sz="900" i="1" kern="0" spc="-1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endParaRPr sz="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82" name="textbox 382"/>
          <p:cNvSpPr/>
          <p:nvPr/>
        </p:nvSpPr>
        <p:spPr>
          <a:xfrm>
            <a:off x="1069539" y="6808495"/>
            <a:ext cx="73660" cy="558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235"/>
              </a:lnSpc>
            </a:pPr>
            <a:r>
              <a:rPr sz="500" kern="0" spc="-10" dirty="0">
                <a:solidFill>
                  <a:srgbClr val="1A1A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~</a:t>
            </a:r>
            <a:endParaRPr sz="5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4" name="textbox 384"/>
          <p:cNvSpPr/>
          <p:nvPr/>
        </p:nvSpPr>
        <p:spPr>
          <a:xfrm>
            <a:off x="454101" y="466597"/>
            <a:ext cx="6469379" cy="38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r>
              <a:rPr lang="zh-CN" sz="100" dirty="0">
                <a:latin typeface="Arial" panose="020B0604020202020204"/>
                <a:ea typeface="Arial" panose="020B0604020202020204"/>
                <a:cs typeface="Arial" panose="020B0604020202020204"/>
              </a:rPr>
              <a:t>化</a:t>
            </a: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sz="2700" kern="0" spc="-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图精</a:t>
            </a:r>
            <a:r>
              <a:rPr lang="zh-CN" sz="2700" kern="0" spc="-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化</a:t>
            </a:r>
            <a:r>
              <a:rPr sz="2700" kern="0" spc="-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器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6" name="textbox 386"/>
          <p:cNvSpPr/>
          <p:nvPr/>
        </p:nvSpPr>
        <p:spPr>
          <a:xfrm>
            <a:off x="676033" y="1555877"/>
            <a:ext cx="2908935" cy="70104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8000"/>
              </a:lnSpc>
            </a:pPr>
            <a:r>
              <a:rPr sz="1000" kern="0" spc="80" dirty="0">
                <a:solidFill>
                  <a:srgbClr val="5B8BA8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模块目标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22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225" algn="l" rtl="0" eaLnBrk="0">
              <a:lnSpc>
                <a:spcPct val="133000"/>
              </a:lnSpc>
              <a:spcBef>
                <a:spcPts val="0"/>
              </a:spcBef>
            </a:pPr>
            <a:r>
              <a:rPr sz="1200" kern="0" spc="-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防止共享图</a:t>
            </a:r>
            <a:r>
              <a:rPr sz="1200" kern="0" spc="-20" dirty="0">
                <a:solidFill>
                  <a:srgbClr val="1F293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VAE</a:t>
            </a:r>
            <a:r>
              <a:rPr sz="1200" kern="0" spc="-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崩溃退化</a:t>
            </a:r>
            <a:r>
              <a:rPr sz="1200" kern="0" spc="-15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200" kern="0" spc="-2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，利用可靠邻接图</a:t>
            </a:r>
            <a:r>
              <a:rPr sz="1200" kern="0" spc="-3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的映射。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8" name="textbox 388"/>
          <p:cNvSpPr/>
          <p:nvPr/>
        </p:nvSpPr>
        <p:spPr>
          <a:xfrm>
            <a:off x="906767" y="3775202"/>
            <a:ext cx="3467100" cy="358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480" algn="l" rtl="0" eaLnBrk="0">
              <a:lnSpc>
                <a:spcPct val="88000"/>
              </a:lnSpc>
            </a:pPr>
            <a:r>
              <a:rPr sz="1000" i="1" kern="0" spc="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回归预测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8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8000"/>
              </a:lnSpc>
              <a:spcBef>
                <a:spcPts val="0"/>
              </a:spcBef>
            </a:pPr>
            <a:r>
              <a:rPr sz="1000" kern="0" spc="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特征平铺与线性回归</a:t>
            </a:r>
            <a:r>
              <a:rPr sz="1000" kern="0" spc="-1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，隔离外变量扩展</a:t>
            </a:r>
            <a:r>
              <a:rPr sz="1000" kern="0" spc="-1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1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，回归至目标尺寸。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0" name="textbox 390"/>
          <p:cNvSpPr/>
          <p:nvPr/>
        </p:nvSpPr>
        <p:spPr>
          <a:xfrm>
            <a:off x="906233" y="2698877"/>
            <a:ext cx="3179445" cy="382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" algn="l" rtl="0" eaLnBrk="0">
              <a:lnSpc>
                <a:spcPct val="96000"/>
              </a:lnSpc>
            </a:pPr>
            <a:r>
              <a:rPr sz="1000" i="1" kern="0" spc="1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图稀疏化</a:t>
            </a:r>
            <a:r>
              <a:rPr sz="1000" kern="0" spc="1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1" i="1" kern="0" spc="15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000" b="1" i="1" kern="0" spc="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Sparsify</a:t>
            </a:r>
            <a:r>
              <a:rPr sz="1000" b="1" i="1" kern="0" spc="15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1260"/>
              </a:lnSpc>
              <a:spcBef>
                <a:spcPts val="0"/>
              </a:spcBef>
            </a:pPr>
            <a:r>
              <a:rPr sz="10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 </a:t>
            </a:r>
            <a:r>
              <a:rPr sz="10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Top</a:t>
            </a:r>
            <a:r>
              <a:rPr sz="1000" kern="0" spc="5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-k </a:t>
            </a:r>
            <a:r>
              <a:rPr sz="10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策略剔除弱联系</a:t>
            </a:r>
            <a:r>
              <a:rPr sz="1000" kern="0" spc="-13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，构建稀疏邻接矩阵 </a:t>
            </a:r>
            <a:r>
              <a:rPr sz="1000" i="1" kern="0" spc="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1100" i="1" kern="0" spc="0" baseline="-4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r>
              <a:rPr sz="1000" kern="0" spc="5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2" name="textbox 392"/>
          <p:cNvSpPr/>
          <p:nvPr/>
        </p:nvSpPr>
        <p:spPr>
          <a:xfrm>
            <a:off x="905700" y="3241802"/>
            <a:ext cx="3106420" cy="3702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210" algn="l" rtl="0" eaLnBrk="0">
              <a:lnSpc>
                <a:spcPct val="88000"/>
              </a:lnSpc>
            </a:pPr>
            <a:r>
              <a:rPr sz="1000" i="1" kern="0" spc="6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多层图卷积</a:t>
            </a:r>
            <a:r>
              <a:rPr sz="1000" kern="0" spc="1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b="1" i="1" kern="0" spc="6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1000" b="1" i="1" kern="0" spc="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GCN</a:t>
            </a:r>
            <a:r>
              <a:rPr sz="1000" b="1" i="1" kern="0" spc="60" dirty="0">
                <a:solidFill>
                  <a:srgbClr val="111827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7000"/>
              </a:lnSpc>
              <a:spcBef>
                <a:spcPts val="5"/>
              </a:spcBef>
            </a:pPr>
            <a:r>
              <a:rPr sz="1000" kern="0" spc="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层间传递特征表征：利用初步</a:t>
            </a:r>
            <a:r>
              <a:rPr sz="1000" kern="0" spc="16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000" kern="0" spc="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Patch</a:t>
            </a:r>
            <a:r>
              <a:rPr sz="1000" kern="0" spc="20" dirty="0">
                <a:solidFill>
                  <a:srgbClr val="4B5563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000" kern="0" spc="20" dirty="0">
                <a:solidFill>
                  <a:srgbClr val="4B5563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节点传播特征。</a:t>
            </a:r>
            <a:endParaRPr sz="1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394" name="picture 39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5286375" y="7038975"/>
            <a:ext cx="6448425" cy="114300"/>
          </a:xfrm>
          <a:prstGeom prst="rect">
            <a:avLst/>
          </a:prstGeom>
        </p:spPr>
      </p:pic>
      <p:sp>
        <p:nvSpPr>
          <p:cNvPr id="400" name="textbox 400"/>
          <p:cNvSpPr/>
          <p:nvPr/>
        </p:nvSpPr>
        <p:spPr>
          <a:xfrm>
            <a:off x="3650234" y="1773732"/>
            <a:ext cx="1134744" cy="2209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8000"/>
              </a:lnSpc>
            </a:pPr>
            <a:endParaRPr sz="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3825" algn="l" rtl="0" eaLnBrk="0">
              <a:lnSpc>
                <a:spcPct val="84000"/>
              </a:lnSpc>
              <a:spcBef>
                <a:spcPts val="0"/>
              </a:spcBef>
              <a:tabLst>
                <a:tab pos="212725" algn="l"/>
              </a:tabLst>
            </a:pPr>
            <a:r>
              <a:rPr sz="1200" kern="0" spc="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200" kern="0" spc="-10" dirty="0">
                <a:solidFill>
                  <a:srgbClr val="1F293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约束最终生成</a:t>
            </a:r>
            <a:endParaRPr sz="1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2" name="textbox 402"/>
          <p:cNvSpPr/>
          <p:nvPr/>
        </p:nvSpPr>
        <p:spPr>
          <a:xfrm>
            <a:off x="3650234" y="1838655"/>
            <a:ext cx="134620" cy="1587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3000"/>
              </a:lnSpc>
            </a:pPr>
            <a:r>
              <a:rPr sz="1200" i="1" kern="0" spc="4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endParaRPr sz="1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04" name="textbox 404"/>
          <p:cNvSpPr/>
          <p:nvPr/>
        </p:nvSpPr>
        <p:spPr>
          <a:xfrm>
            <a:off x="3702301" y="1773732"/>
            <a:ext cx="85089" cy="20510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1410"/>
              </a:lnSpc>
            </a:pPr>
            <a:r>
              <a:rPr sz="600" kern="0" spc="0" dirty="0">
                <a:solidFill>
                  <a:srgbClr val="1A1A1A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^</a:t>
            </a:r>
            <a:endParaRPr sz="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06" name="picture 40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0" y="0"/>
            <a:ext cx="12192000" cy="9525"/>
          </a:xfrm>
          <a:prstGeom prst="rect">
            <a:avLst/>
          </a:prstGeom>
        </p:spPr>
      </p:pic>
      <p:grpSp>
        <p:nvGrpSpPr>
          <p:cNvPr id="16" name="group 16"/>
          <p:cNvGrpSpPr/>
          <p:nvPr/>
        </p:nvGrpSpPr>
        <p:grpSpPr>
          <a:xfrm rot="21600000">
            <a:off x="457200" y="2695575"/>
            <a:ext cx="304800" cy="304800"/>
            <a:chOff x="0" y="0"/>
            <a:chExt cx="304800" cy="304800"/>
          </a:xfrm>
        </p:grpSpPr>
        <p:sp>
          <p:nvSpPr>
            <p:cNvPr id="408" name="path 408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0" t="0" r="0" b="0"/>
              <a:pathLst>
                <a:path w="480" h="480">
                  <a:moveTo>
                    <a:pt x="472" y="240"/>
                  </a:moveTo>
                  <a:cubicBezTo>
                    <a:pt x="472" y="255"/>
                    <a:pt x="471" y="270"/>
                    <a:pt x="468" y="285"/>
                  </a:cubicBezTo>
                  <a:cubicBezTo>
                    <a:pt x="465" y="300"/>
                    <a:pt x="460" y="314"/>
                    <a:pt x="454" y="328"/>
                  </a:cubicBezTo>
                  <a:cubicBezTo>
                    <a:pt x="448" y="343"/>
                    <a:pt x="441" y="356"/>
                    <a:pt x="433" y="369"/>
                  </a:cubicBezTo>
                  <a:cubicBezTo>
                    <a:pt x="424" y="381"/>
                    <a:pt x="415" y="393"/>
                    <a:pt x="404" y="404"/>
                  </a:cubicBezTo>
                  <a:cubicBezTo>
                    <a:pt x="393" y="415"/>
                    <a:pt x="381" y="424"/>
                    <a:pt x="369" y="433"/>
                  </a:cubicBezTo>
                  <a:cubicBezTo>
                    <a:pt x="356" y="441"/>
                    <a:pt x="343" y="448"/>
                    <a:pt x="328" y="454"/>
                  </a:cubicBezTo>
                  <a:cubicBezTo>
                    <a:pt x="314" y="460"/>
                    <a:pt x="300" y="465"/>
                    <a:pt x="285" y="468"/>
                  </a:cubicBezTo>
                  <a:cubicBezTo>
                    <a:pt x="270" y="471"/>
                    <a:pt x="255" y="472"/>
                    <a:pt x="240" y="472"/>
                  </a:cubicBezTo>
                  <a:cubicBezTo>
                    <a:pt x="224" y="472"/>
                    <a:pt x="209" y="471"/>
                    <a:pt x="194" y="468"/>
                  </a:cubicBezTo>
                  <a:cubicBezTo>
                    <a:pt x="179" y="465"/>
                    <a:pt x="165" y="460"/>
                    <a:pt x="151" y="454"/>
                  </a:cubicBezTo>
                  <a:cubicBezTo>
                    <a:pt x="136" y="448"/>
                    <a:pt x="123" y="441"/>
                    <a:pt x="110" y="433"/>
                  </a:cubicBezTo>
                  <a:cubicBezTo>
                    <a:pt x="98" y="424"/>
                    <a:pt x="86" y="415"/>
                    <a:pt x="75" y="404"/>
                  </a:cubicBezTo>
                  <a:cubicBezTo>
                    <a:pt x="64" y="393"/>
                    <a:pt x="55" y="381"/>
                    <a:pt x="46" y="369"/>
                  </a:cubicBezTo>
                  <a:cubicBezTo>
                    <a:pt x="38" y="356"/>
                    <a:pt x="31" y="343"/>
                    <a:pt x="25" y="328"/>
                  </a:cubicBezTo>
                  <a:cubicBezTo>
                    <a:pt x="19" y="314"/>
                    <a:pt x="14" y="300"/>
                    <a:pt x="11" y="285"/>
                  </a:cubicBezTo>
                  <a:cubicBezTo>
                    <a:pt x="8" y="270"/>
                    <a:pt x="7" y="255"/>
                    <a:pt x="7" y="240"/>
                  </a:cubicBezTo>
                  <a:cubicBezTo>
                    <a:pt x="7" y="224"/>
                    <a:pt x="8" y="209"/>
                    <a:pt x="11" y="194"/>
                  </a:cubicBezTo>
                  <a:cubicBezTo>
                    <a:pt x="14" y="179"/>
                    <a:pt x="19" y="165"/>
                    <a:pt x="25" y="151"/>
                  </a:cubicBezTo>
                  <a:cubicBezTo>
                    <a:pt x="31" y="136"/>
                    <a:pt x="38" y="123"/>
                    <a:pt x="46" y="110"/>
                  </a:cubicBezTo>
                  <a:cubicBezTo>
                    <a:pt x="55" y="98"/>
                    <a:pt x="64" y="86"/>
                    <a:pt x="75" y="75"/>
                  </a:cubicBezTo>
                  <a:cubicBezTo>
                    <a:pt x="86" y="64"/>
                    <a:pt x="98" y="55"/>
                    <a:pt x="110" y="46"/>
                  </a:cubicBezTo>
                  <a:cubicBezTo>
                    <a:pt x="123" y="38"/>
                    <a:pt x="136" y="31"/>
                    <a:pt x="151" y="25"/>
                  </a:cubicBezTo>
                  <a:cubicBezTo>
                    <a:pt x="165" y="19"/>
                    <a:pt x="179" y="14"/>
                    <a:pt x="194" y="11"/>
                  </a:cubicBezTo>
                  <a:cubicBezTo>
                    <a:pt x="209" y="8"/>
                    <a:pt x="224" y="7"/>
                    <a:pt x="240" y="7"/>
                  </a:cubicBezTo>
                  <a:cubicBezTo>
                    <a:pt x="255" y="7"/>
                    <a:pt x="270" y="8"/>
                    <a:pt x="285" y="11"/>
                  </a:cubicBezTo>
                  <a:cubicBezTo>
                    <a:pt x="300" y="14"/>
                    <a:pt x="314" y="19"/>
                    <a:pt x="328" y="25"/>
                  </a:cubicBezTo>
                  <a:cubicBezTo>
                    <a:pt x="343" y="31"/>
                    <a:pt x="356" y="38"/>
                    <a:pt x="369" y="46"/>
                  </a:cubicBezTo>
                  <a:cubicBezTo>
                    <a:pt x="381" y="55"/>
                    <a:pt x="393" y="64"/>
                    <a:pt x="404" y="75"/>
                  </a:cubicBezTo>
                  <a:cubicBezTo>
                    <a:pt x="415" y="86"/>
                    <a:pt x="424" y="98"/>
                    <a:pt x="433" y="110"/>
                  </a:cubicBezTo>
                  <a:cubicBezTo>
                    <a:pt x="441" y="123"/>
                    <a:pt x="448" y="136"/>
                    <a:pt x="454" y="151"/>
                  </a:cubicBezTo>
                  <a:cubicBezTo>
                    <a:pt x="460" y="165"/>
                    <a:pt x="465" y="179"/>
                    <a:pt x="468" y="194"/>
                  </a:cubicBezTo>
                  <a:cubicBezTo>
                    <a:pt x="471" y="209"/>
                    <a:pt x="472" y="224"/>
                    <a:pt x="472" y="240"/>
                  </a:cubicBezTo>
                </a:path>
              </a:pathLst>
            </a:custGeom>
            <a:noFill/>
            <a:ln w="9525" cap="flat">
              <a:solidFill>
                <a:srgbClr val="5B8BA8"/>
              </a:solidFill>
              <a:prstDash val="solid"/>
              <a:miter lim="4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0" name="textbox 410"/>
            <p:cNvSpPr/>
            <p:nvPr/>
          </p:nvSpPr>
          <p:spPr>
            <a:xfrm>
              <a:off x="67764" y="37591"/>
              <a:ext cx="177800" cy="1962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1345"/>
                </a:lnSpc>
              </a:pPr>
              <a:r>
                <a:rPr sz="1000" kern="0" spc="-10" dirty="0">
                  <a:solidFill>
                    <a:srgbClr val="5B8BA8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Θ1</a:t>
              </a:r>
              <a:endParaRPr sz="1000" dirty="0"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 rot="21600000">
            <a:off x="457200" y="3238500"/>
            <a:ext cx="304800" cy="304800"/>
            <a:chOff x="0" y="0"/>
            <a:chExt cx="304800" cy="304800"/>
          </a:xfrm>
        </p:grpSpPr>
        <p:sp>
          <p:nvSpPr>
            <p:cNvPr id="412" name="path 412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0" t="0" r="0" b="0"/>
              <a:pathLst>
                <a:path w="480" h="480">
                  <a:moveTo>
                    <a:pt x="472" y="240"/>
                  </a:moveTo>
                  <a:cubicBezTo>
                    <a:pt x="472" y="255"/>
                    <a:pt x="471" y="270"/>
                    <a:pt x="468" y="285"/>
                  </a:cubicBezTo>
                  <a:cubicBezTo>
                    <a:pt x="465" y="300"/>
                    <a:pt x="460" y="314"/>
                    <a:pt x="454" y="328"/>
                  </a:cubicBezTo>
                  <a:cubicBezTo>
                    <a:pt x="448" y="343"/>
                    <a:pt x="441" y="356"/>
                    <a:pt x="433" y="369"/>
                  </a:cubicBezTo>
                  <a:cubicBezTo>
                    <a:pt x="424" y="381"/>
                    <a:pt x="415" y="393"/>
                    <a:pt x="404" y="404"/>
                  </a:cubicBezTo>
                  <a:cubicBezTo>
                    <a:pt x="393" y="415"/>
                    <a:pt x="381" y="424"/>
                    <a:pt x="369" y="433"/>
                  </a:cubicBezTo>
                  <a:cubicBezTo>
                    <a:pt x="356" y="441"/>
                    <a:pt x="343" y="448"/>
                    <a:pt x="328" y="454"/>
                  </a:cubicBezTo>
                  <a:cubicBezTo>
                    <a:pt x="314" y="460"/>
                    <a:pt x="300" y="465"/>
                    <a:pt x="285" y="468"/>
                  </a:cubicBezTo>
                  <a:cubicBezTo>
                    <a:pt x="270" y="471"/>
                    <a:pt x="255" y="472"/>
                    <a:pt x="240" y="472"/>
                  </a:cubicBezTo>
                  <a:cubicBezTo>
                    <a:pt x="224" y="472"/>
                    <a:pt x="209" y="471"/>
                    <a:pt x="194" y="468"/>
                  </a:cubicBezTo>
                  <a:cubicBezTo>
                    <a:pt x="179" y="465"/>
                    <a:pt x="165" y="460"/>
                    <a:pt x="151" y="454"/>
                  </a:cubicBezTo>
                  <a:cubicBezTo>
                    <a:pt x="136" y="448"/>
                    <a:pt x="123" y="441"/>
                    <a:pt x="110" y="433"/>
                  </a:cubicBezTo>
                  <a:cubicBezTo>
                    <a:pt x="98" y="424"/>
                    <a:pt x="86" y="415"/>
                    <a:pt x="75" y="404"/>
                  </a:cubicBezTo>
                  <a:cubicBezTo>
                    <a:pt x="64" y="393"/>
                    <a:pt x="55" y="381"/>
                    <a:pt x="46" y="369"/>
                  </a:cubicBezTo>
                  <a:cubicBezTo>
                    <a:pt x="38" y="356"/>
                    <a:pt x="31" y="343"/>
                    <a:pt x="25" y="328"/>
                  </a:cubicBezTo>
                  <a:cubicBezTo>
                    <a:pt x="19" y="314"/>
                    <a:pt x="14" y="300"/>
                    <a:pt x="11" y="285"/>
                  </a:cubicBezTo>
                  <a:cubicBezTo>
                    <a:pt x="8" y="270"/>
                    <a:pt x="7" y="255"/>
                    <a:pt x="7" y="240"/>
                  </a:cubicBezTo>
                  <a:cubicBezTo>
                    <a:pt x="7" y="224"/>
                    <a:pt x="8" y="209"/>
                    <a:pt x="11" y="194"/>
                  </a:cubicBezTo>
                  <a:cubicBezTo>
                    <a:pt x="14" y="179"/>
                    <a:pt x="19" y="165"/>
                    <a:pt x="25" y="151"/>
                  </a:cubicBezTo>
                  <a:cubicBezTo>
                    <a:pt x="31" y="136"/>
                    <a:pt x="38" y="123"/>
                    <a:pt x="46" y="110"/>
                  </a:cubicBezTo>
                  <a:cubicBezTo>
                    <a:pt x="55" y="98"/>
                    <a:pt x="64" y="86"/>
                    <a:pt x="75" y="75"/>
                  </a:cubicBezTo>
                  <a:cubicBezTo>
                    <a:pt x="86" y="64"/>
                    <a:pt x="98" y="55"/>
                    <a:pt x="110" y="46"/>
                  </a:cubicBezTo>
                  <a:cubicBezTo>
                    <a:pt x="123" y="38"/>
                    <a:pt x="136" y="31"/>
                    <a:pt x="151" y="25"/>
                  </a:cubicBezTo>
                  <a:cubicBezTo>
                    <a:pt x="165" y="19"/>
                    <a:pt x="179" y="14"/>
                    <a:pt x="194" y="11"/>
                  </a:cubicBezTo>
                  <a:cubicBezTo>
                    <a:pt x="209" y="8"/>
                    <a:pt x="224" y="7"/>
                    <a:pt x="240" y="7"/>
                  </a:cubicBezTo>
                  <a:cubicBezTo>
                    <a:pt x="255" y="7"/>
                    <a:pt x="270" y="8"/>
                    <a:pt x="285" y="11"/>
                  </a:cubicBezTo>
                  <a:cubicBezTo>
                    <a:pt x="300" y="14"/>
                    <a:pt x="314" y="19"/>
                    <a:pt x="328" y="25"/>
                  </a:cubicBezTo>
                  <a:cubicBezTo>
                    <a:pt x="343" y="31"/>
                    <a:pt x="356" y="38"/>
                    <a:pt x="369" y="46"/>
                  </a:cubicBezTo>
                  <a:cubicBezTo>
                    <a:pt x="381" y="55"/>
                    <a:pt x="393" y="64"/>
                    <a:pt x="404" y="75"/>
                  </a:cubicBezTo>
                  <a:cubicBezTo>
                    <a:pt x="415" y="86"/>
                    <a:pt x="424" y="98"/>
                    <a:pt x="433" y="110"/>
                  </a:cubicBezTo>
                  <a:cubicBezTo>
                    <a:pt x="441" y="123"/>
                    <a:pt x="448" y="136"/>
                    <a:pt x="454" y="151"/>
                  </a:cubicBezTo>
                  <a:cubicBezTo>
                    <a:pt x="460" y="165"/>
                    <a:pt x="465" y="179"/>
                    <a:pt x="468" y="194"/>
                  </a:cubicBezTo>
                  <a:cubicBezTo>
                    <a:pt x="471" y="209"/>
                    <a:pt x="472" y="224"/>
                    <a:pt x="472" y="240"/>
                  </a:cubicBezTo>
                </a:path>
              </a:pathLst>
            </a:custGeom>
            <a:noFill/>
            <a:ln w="9525" cap="flat">
              <a:solidFill>
                <a:srgbClr val="5B8BA8"/>
              </a:solidFill>
              <a:prstDash val="solid"/>
              <a:miter lim="4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4" name="textbox 414"/>
            <p:cNvSpPr/>
            <p:nvPr/>
          </p:nvSpPr>
          <p:spPr>
            <a:xfrm>
              <a:off x="67764" y="37591"/>
              <a:ext cx="177800" cy="1962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1345"/>
                </a:lnSpc>
              </a:pPr>
              <a:r>
                <a:rPr sz="1000" kern="0" spc="-10" dirty="0">
                  <a:solidFill>
                    <a:srgbClr val="5B8BA8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Θ2</a:t>
              </a:r>
              <a:endParaRPr sz="1000" dirty="0"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 rot="21600000">
            <a:off x="457200" y="3771900"/>
            <a:ext cx="304800" cy="304800"/>
            <a:chOff x="0" y="0"/>
            <a:chExt cx="304800" cy="304800"/>
          </a:xfrm>
        </p:grpSpPr>
        <p:sp>
          <p:nvSpPr>
            <p:cNvPr id="416" name="path 416"/>
            <p:cNvSpPr/>
            <p:nvPr/>
          </p:nvSpPr>
          <p:spPr>
            <a:xfrm>
              <a:off x="0" y="0"/>
              <a:ext cx="304800" cy="304800"/>
            </a:xfrm>
            <a:custGeom>
              <a:avLst/>
              <a:gdLst/>
              <a:ahLst/>
              <a:cxnLst/>
              <a:rect l="0" t="0" r="0" b="0"/>
              <a:pathLst>
                <a:path w="480" h="480">
                  <a:moveTo>
                    <a:pt x="472" y="240"/>
                  </a:moveTo>
                  <a:cubicBezTo>
                    <a:pt x="472" y="255"/>
                    <a:pt x="471" y="270"/>
                    <a:pt x="468" y="285"/>
                  </a:cubicBezTo>
                  <a:cubicBezTo>
                    <a:pt x="465" y="300"/>
                    <a:pt x="460" y="314"/>
                    <a:pt x="454" y="328"/>
                  </a:cubicBezTo>
                  <a:cubicBezTo>
                    <a:pt x="448" y="343"/>
                    <a:pt x="441" y="356"/>
                    <a:pt x="433" y="369"/>
                  </a:cubicBezTo>
                  <a:cubicBezTo>
                    <a:pt x="424" y="381"/>
                    <a:pt x="415" y="393"/>
                    <a:pt x="404" y="404"/>
                  </a:cubicBezTo>
                  <a:cubicBezTo>
                    <a:pt x="393" y="415"/>
                    <a:pt x="381" y="424"/>
                    <a:pt x="369" y="433"/>
                  </a:cubicBezTo>
                  <a:cubicBezTo>
                    <a:pt x="356" y="441"/>
                    <a:pt x="343" y="448"/>
                    <a:pt x="328" y="454"/>
                  </a:cubicBezTo>
                  <a:cubicBezTo>
                    <a:pt x="314" y="460"/>
                    <a:pt x="300" y="465"/>
                    <a:pt x="285" y="468"/>
                  </a:cubicBezTo>
                  <a:cubicBezTo>
                    <a:pt x="270" y="471"/>
                    <a:pt x="255" y="472"/>
                    <a:pt x="240" y="472"/>
                  </a:cubicBezTo>
                  <a:cubicBezTo>
                    <a:pt x="224" y="472"/>
                    <a:pt x="209" y="471"/>
                    <a:pt x="194" y="468"/>
                  </a:cubicBezTo>
                  <a:cubicBezTo>
                    <a:pt x="179" y="465"/>
                    <a:pt x="165" y="460"/>
                    <a:pt x="151" y="454"/>
                  </a:cubicBezTo>
                  <a:cubicBezTo>
                    <a:pt x="136" y="448"/>
                    <a:pt x="123" y="441"/>
                    <a:pt x="110" y="433"/>
                  </a:cubicBezTo>
                  <a:cubicBezTo>
                    <a:pt x="98" y="424"/>
                    <a:pt x="86" y="415"/>
                    <a:pt x="75" y="404"/>
                  </a:cubicBezTo>
                  <a:cubicBezTo>
                    <a:pt x="64" y="393"/>
                    <a:pt x="55" y="381"/>
                    <a:pt x="46" y="369"/>
                  </a:cubicBezTo>
                  <a:cubicBezTo>
                    <a:pt x="38" y="356"/>
                    <a:pt x="31" y="343"/>
                    <a:pt x="25" y="328"/>
                  </a:cubicBezTo>
                  <a:cubicBezTo>
                    <a:pt x="19" y="314"/>
                    <a:pt x="14" y="300"/>
                    <a:pt x="11" y="285"/>
                  </a:cubicBezTo>
                  <a:cubicBezTo>
                    <a:pt x="8" y="270"/>
                    <a:pt x="7" y="255"/>
                    <a:pt x="7" y="240"/>
                  </a:cubicBezTo>
                  <a:cubicBezTo>
                    <a:pt x="7" y="224"/>
                    <a:pt x="8" y="209"/>
                    <a:pt x="11" y="194"/>
                  </a:cubicBezTo>
                  <a:cubicBezTo>
                    <a:pt x="14" y="179"/>
                    <a:pt x="19" y="165"/>
                    <a:pt x="25" y="151"/>
                  </a:cubicBezTo>
                  <a:cubicBezTo>
                    <a:pt x="31" y="136"/>
                    <a:pt x="38" y="123"/>
                    <a:pt x="46" y="110"/>
                  </a:cubicBezTo>
                  <a:cubicBezTo>
                    <a:pt x="55" y="98"/>
                    <a:pt x="64" y="86"/>
                    <a:pt x="75" y="75"/>
                  </a:cubicBezTo>
                  <a:cubicBezTo>
                    <a:pt x="86" y="64"/>
                    <a:pt x="98" y="55"/>
                    <a:pt x="110" y="46"/>
                  </a:cubicBezTo>
                  <a:cubicBezTo>
                    <a:pt x="123" y="38"/>
                    <a:pt x="136" y="31"/>
                    <a:pt x="151" y="25"/>
                  </a:cubicBezTo>
                  <a:cubicBezTo>
                    <a:pt x="165" y="19"/>
                    <a:pt x="179" y="14"/>
                    <a:pt x="194" y="11"/>
                  </a:cubicBezTo>
                  <a:cubicBezTo>
                    <a:pt x="209" y="8"/>
                    <a:pt x="224" y="7"/>
                    <a:pt x="240" y="7"/>
                  </a:cubicBezTo>
                  <a:cubicBezTo>
                    <a:pt x="255" y="7"/>
                    <a:pt x="270" y="8"/>
                    <a:pt x="285" y="11"/>
                  </a:cubicBezTo>
                  <a:cubicBezTo>
                    <a:pt x="300" y="14"/>
                    <a:pt x="314" y="19"/>
                    <a:pt x="328" y="25"/>
                  </a:cubicBezTo>
                  <a:cubicBezTo>
                    <a:pt x="343" y="31"/>
                    <a:pt x="356" y="38"/>
                    <a:pt x="369" y="46"/>
                  </a:cubicBezTo>
                  <a:cubicBezTo>
                    <a:pt x="381" y="55"/>
                    <a:pt x="393" y="64"/>
                    <a:pt x="404" y="75"/>
                  </a:cubicBezTo>
                  <a:cubicBezTo>
                    <a:pt x="415" y="86"/>
                    <a:pt x="424" y="98"/>
                    <a:pt x="433" y="110"/>
                  </a:cubicBezTo>
                  <a:cubicBezTo>
                    <a:pt x="441" y="123"/>
                    <a:pt x="448" y="136"/>
                    <a:pt x="454" y="151"/>
                  </a:cubicBezTo>
                  <a:cubicBezTo>
                    <a:pt x="460" y="165"/>
                    <a:pt x="465" y="179"/>
                    <a:pt x="468" y="194"/>
                  </a:cubicBezTo>
                  <a:cubicBezTo>
                    <a:pt x="471" y="209"/>
                    <a:pt x="472" y="224"/>
                    <a:pt x="472" y="240"/>
                  </a:cubicBezTo>
                </a:path>
              </a:pathLst>
            </a:custGeom>
            <a:noFill/>
            <a:ln w="9525" cap="flat">
              <a:solidFill>
                <a:srgbClr val="5B8BA8"/>
              </a:solidFill>
              <a:prstDash val="solid"/>
              <a:miter lim="40000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18" name="textbox 418"/>
            <p:cNvSpPr/>
            <p:nvPr/>
          </p:nvSpPr>
          <p:spPr>
            <a:xfrm>
              <a:off x="67764" y="37591"/>
              <a:ext cx="177800" cy="196214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3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ts val="1345"/>
                </a:lnSpc>
              </a:pPr>
              <a:r>
                <a:rPr sz="1000" kern="0" spc="-10" dirty="0">
                  <a:solidFill>
                    <a:srgbClr val="5B8BA8">
                      <a:alpha val="100000"/>
                    </a:srgbClr>
                  </a:solidFill>
                  <a:latin typeface="Courier New" panose="02070309020205020404"/>
                  <a:ea typeface="Courier New" panose="02070309020205020404"/>
                  <a:cs typeface="Courier New" panose="02070309020205020404"/>
                </a:rPr>
                <a:t>Θ3</a:t>
              </a:r>
              <a:endParaRPr sz="1000" dirty="0">
                <a:latin typeface="Courier New" panose="02070309020205020404"/>
                <a:ea typeface="Courier New" panose="02070309020205020404"/>
                <a:cs typeface="Courier New" panose="02070309020205020404"/>
              </a:endParaRPr>
            </a:p>
          </p:txBody>
        </p:sp>
      </p:grpSp>
      <p:sp>
        <p:nvSpPr>
          <p:cNvPr id="420" name="textbox 420"/>
          <p:cNvSpPr/>
          <p:nvPr/>
        </p:nvSpPr>
        <p:spPr>
          <a:xfrm>
            <a:off x="7544875" y="6604165"/>
            <a:ext cx="403859" cy="259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295" algn="l" rtl="0" eaLnBrk="0">
              <a:lnSpc>
                <a:spcPct val="90000"/>
              </a:lnSpc>
            </a:pPr>
            <a:r>
              <a:rPr sz="1300" i="1" kern="0" spc="30" baseline="8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</a:t>
            </a:r>
            <a:r>
              <a:rPr sz="600" i="1" kern="0" spc="3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align</a:t>
            </a:r>
            <a:endParaRPr sz="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180"/>
              </a:spcBef>
            </a:pPr>
            <a:r>
              <a:rPr sz="700" kern="0" spc="40" dirty="0">
                <a:solidFill>
                  <a:srgbClr val="9CA3A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结构对齐</a:t>
            </a:r>
            <a:endParaRPr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2" name="textbox 422"/>
          <p:cNvSpPr/>
          <p:nvPr/>
        </p:nvSpPr>
        <p:spPr>
          <a:xfrm>
            <a:off x="6027888" y="6604165"/>
            <a:ext cx="403225" cy="2590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38430" algn="l" rtl="0" eaLnBrk="0">
              <a:lnSpc>
                <a:spcPct val="90000"/>
              </a:lnSpc>
            </a:pPr>
            <a:r>
              <a:rPr sz="1300" i="1" kern="0" spc="130" baseline="4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</a:t>
            </a:r>
            <a:r>
              <a:rPr sz="900" i="1" kern="0" spc="130" baseline="-6000" dirty="0">
                <a:solidFill>
                  <a:srgbClr val="1A1A1A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</a:t>
            </a:r>
            <a:endParaRPr sz="900" baseline="-6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180"/>
              </a:spcBef>
            </a:pPr>
            <a:r>
              <a:rPr sz="700" kern="0" spc="40" dirty="0">
                <a:solidFill>
                  <a:srgbClr val="9CA3AF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预测偏差</a:t>
            </a:r>
            <a:endParaRPr sz="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24" name="picture 42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57200" y="1362075"/>
            <a:ext cx="76200" cy="1104900"/>
          </a:xfrm>
          <a:prstGeom prst="rect">
            <a:avLst/>
          </a:prstGeom>
        </p:spPr>
      </p:pic>
      <p:pic>
        <p:nvPicPr>
          <p:cNvPr id="432" name="picture 4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57200" y="1038225"/>
            <a:ext cx="457200" cy="19050"/>
          </a:xfrm>
          <a:prstGeom prst="rect">
            <a:avLst/>
          </a:prstGeom>
        </p:spPr>
      </p:pic>
      <p:pic>
        <p:nvPicPr>
          <p:cNvPr id="434" name="picture 4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6943725" y="6591300"/>
            <a:ext cx="9525" cy="295275"/>
          </a:xfrm>
          <a:prstGeom prst="rect">
            <a:avLst/>
          </a:prstGeom>
        </p:spPr>
      </p:pic>
      <p:pic>
        <p:nvPicPr>
          <p:cNvPr id="436" name="picture 43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8458200" y="6591300"/>
            <a:ext cx="9525" cy="295275"/>
          </a:xfrm>
          <a:prstGeom prst="rect">
            <a:avLst/>
          </a:prstGeom>
        </p:spPr>
      </p:pic>
      <p:pic>
        <p:nvPicPr>
          <p:cNvPr id="438" name="picture 43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600000">
            <a:off x="9982200" y="6591300"/>
            <a:ext cx="9525" cy="295275"/>
          </a:xfrm>
          <a:prstGeom prst="rect">
            <a:avLst/>
          </a:prstGeom>
        </p:spPr>
      </p:pic>
      <p:sp>
        <p:nvSpPr>
          <p:cNvPr id="440" name="path 440"/>
          <p:cNvSpPr/>
          <p:nvPr/>
        </p:nvSpPr>
        <p:spPr>
          <a:xfrm>
            <a:off x="11637106" y="4597067"/>
            <a:ext cx="65609" cy="39503"/>
          </a:xfrm>
          <a:custGeom>
            <a:avLst/>
            <a:gdLst/>
            <a:ahLst/>
            <a:cxnLst/>
            <a:rect l="0" t="0" r="0" b="0"/>
            <a:pathLst>
              <a:path w="103" h="62">
                <a:moveTo>
                  <a:pt x="95" y="7"/>
                </a:moveTo>
                <a:cubicBezTo>
                  <a:pt x="87" y="15"/>
                  <a:pt x="79" y="22"/>
                  <a:pt x="69" y="28"/>
                </a:cubicBezTo>
                <a:cubicBezTo>
                  <a:pt x="60" y="35"/>
                  <a:pt x="50" y="40"/>
                  <a:pt x="39" y="44"/>
                </a:cubicBezTo>
                <a:cubicBezTo>
                  <a:pt x="29" y="49"/>
                  <a:pt x="18" y="52"/>
                  <a:pt x="7" y="54"/>
                </a:cubicBezTo>
              </a:path>
            </a:pathLst>
          </a:custGeom>
          <a:noFill/>
          <a:ln w="9525" cap="flat">
            <a:solidFill>
              <a:srgbClr val="F3F4F6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76770" y="1997710"/>
            <a:ext cx="2952750" cy="6191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2715" y="5426710"/>
            <a:ext cx="3857625" cy="6000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0155" y="3543300"/>
            <a:ext cx="4076700" cy="6191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5510" y="5749925"/>
            <a:ext cx="3696970" cy="63055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565910" y="4902835"/>
            <a:ext cx="2634615" cy="6623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rect 442"/>
          <p:cNvSpPr/>
          <p:nvPr/>
        </p:nvSpPr>
        <p:spPr>
          <a:xfrm>
            <a:off x="0" y="581025"/>
            <a:ext cx="12192000" cy="6858000"/>
          </a:xfrm>
          <a:prstGeom prst="rect">
            <a:avLst/>
          </a:prstGeom>
          <a:solidFill>
            <a:srgbClr val="FAF9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44" name="rect 444"/>
          <p:cNvSpPr/>
          <p:nvPr/>
        </p:nvSpPr>
        <p:spPr>
          <a:xfrm>
            <a:off x="10925175" y="2181225"/>
            <a:ext cx="571500" cy="180975"/>
          </a:xfrm>
          <a:prstGeom prst="rect">
            <a:avLst/>
          </a:prstGeom>
          <a:solidFill>
            <a:srgbClr val="F3F4F6">
              <a:alpha val="97254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50" name="picture 4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1605280" y="3126105"/>
            <a:ext cx="9037320" cy="5067935"/>
          </a:xfrm>
          <a:prstGeom prst="rect">
            <a:avLst/>
          </a:prstGeom>
        </p:spPr>
      </p:pic>
      <p:grpSp>
        <p:nvGrpSpPr>
          <p:cNvPr id="22" name="group 22"/>
          <p:cNvGrpSpPr/>
          <p:nvPr/>
        </p:nvGrpSpPr>
        <p:grpSpPr>
          <a:xfrm rot="21600000">
            <a:off x="457200" y="1933575"/>
            <a:ext cx="4524375" cy="2114550"/>
            <a:chOff x="0" y="0"/>
            <a:chExt cx="4524375" cy="2114550"/>
          </a:xfrm>
        </p:grpSpPr>
        <p:sp>
          <p:nvSpPr>
            <p:cNvPr id="452" name="rect 452"/>
            <p:cNvSpPr/>
            <p:nvPr/>
          </p:nvSpPr>
          <p:spPr>
            <a:xfrm>
              <a:off x="19050" y="0"/>
              <a:ext cx="4505325" cy="2114550"/>
            </a:xfrm>
            <a:prstGeom prst="rect">
              <a:avLst/>
            </a:prstGeom>
            <a:solidFill>
              <a:srgbClr val="F5F5F5">
                <a:alpha val="100000"/>
              </a:srgbClr>
            </a:solidFill>
            <a:ln w="0" cap="flat">
              <a:noFill/>
              <a:prstDash val="solid"/>
              <a:miter lim="0"/>
            </a:ln>
          </p:spPr>
          <p:txBody>
            <a:bodyPr rtlCol="0"/>
            <a:lstStyle/>
            <a:p>
              <a:pPr algn="ctr"/>
              <a:endParaRPr lang="zh-CN" altLang="en-US"/>
            </a:p>
          </p:txBody>
        </p:sp>
        <p:sp>
          <p:nvSpPr>
            <p:cNvPr id="454" name="textbox 454"/>
            <p:cNvSpPr/>
            <p:nvPr/>
          </p:nvSpPr>
          <p:spPr>
            <a:xfrm>
              <a:off x="257067" y="226644"/>
              <a:ext cx="4033520" cy="1645920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84000"/>
                </a:lnSpc>
              </a:pPr>
              <a:r>
                <a:rPr sz="900" kern="0" spc="30" dirty="0">
                  <a:solidFill>
                    <a:srgbClr val="5B8B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真实世界多元环境测试</a:t>
              </a:r>
              <a:r>
                <a:rPr sz="900" kern="0" spc="140" dirty="0">
                  <a:solidFill>
                    <a:srgbClr val="5B8B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30" dirty="0">
                  <a:solidFill>
                    <a:srgbClr val="5B8BA8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(12</a:t>
              </a:r>
              <a:r>
                <a:rPr sz="900" kern="0" spc="30" dirty="0">
                  <a:solidFill>
                    <a:srgbClr val="5B8BA8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个数据集</a:t>
              </a:r>
              <a:r>
                <a:rPr sz="900" kern="0" spc="30" dirty="0">
                  <a:solidFill>
                    <a:srgbClr val="5B8BA8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)</a:t>
              </a:r>
              <a:endParaRPr sz="9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9050" algn="l" rtl="0" eaLnBrk="0">
                <a:lnSpc>
                  <a:spcPct val="88000"/>
                </a:lnSpc>
                <a:spcBef>
                  <a:spcPts val="1500"/>
                </a:spcBef>
              </a:pPr>
              <a:r>
                <a:rPr sz="1000" kern="0" spc="0" dirty="0">
                  <a:solidFill>
                    <a:srgbClr val="1F2937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EPF </a:t>
              </a:r>
              <a:r>
                <a:rPr sz="1000" kern="0" spc="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能源价格预测领域</a:t>
              </a: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marL="13335" algn="l" rtl="0" eaLnBrk="0">
                <a:lnSpc>
                  <a:spcPct val="133000"/>
                </a:lnSpc>
                <a:spcBef>
                  <a:spcPts val="420"/>
                </a:spcBef>
              </a:pP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涵括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NP, PJM, BE, FR, DE 5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大价格市场。内变量含每小时电价</a:t>
              </a:r>
              <a:r>
                <a:rPr sz="900" kern="0" spc="-15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，外</a:t>
              </a:r>
              <a:r>
                <a:rPr sz="900" kern="0" spc="-2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变量含负载</a:t>
              </a:r>
              <a:r>
                <a:rPr sz="900" kern="0" spc="-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预报及风电流转预报。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06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2700" algn="l" rtl="0" eaLnBrk="0">
                <a:lnSpc>
                  <a:spcPct val="88000"/>
                </a:lnSpc>
                <a:spcBef>
                  <a:spcPts val="300"/>
                </a:spcBef>
              </a:pPr>
              <a:r>
                <a:rPr sz="1000" kern="0" spc="20" dirty="0">
                  <a:solidFill>
                    <a:srgbClr val="1F2937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环境与自然条件记录</a:t>
              </a:r>
              <a:endParaRPr sz="1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l" rtl="0" eaLnBrk="0">
                <a:lnSpc>
                  <a:spcPct val="121000"/>
                </a:lnSpc>
              </a:pPr>
              <a:endParaRPr sz="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335" algn="l" rtl="0" eaLnBrk="0">
                <a:lnSpc>
                  <a:spcPct val="131000"/>
                </a:lnSpc>
                <a:spcBef>
                  <a:spcPts val="5"/>
                </a:spcBef>
              </a:pPr>
              <a:r>
                <a:rPr sz="900" kern="0" spc="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包含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Colb</a:t>
              </a:r>
              <a:r>
                <a:rPr sz="900" kern="0" spc="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ún/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Rapel</a:t>
              </a:r>
              <a:r>
                <a:rPr sz="900" kern="0" spc="1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900" kern="0" spc="1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水电站（水位、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降雨量）及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Sdwpf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大型风场数据（含 </a:t>
              </a:r>
              <a:r>
                <a:rPr sz="900" kern="0" spc="0" dirty="0">
                  <a:solidFill>
                    <a:srgbClr val="4B5563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ERA5</a:t>
              </a:r>
              <a:r>
                <a:rPr sz="900" kern="0" spc="-60" dirty="0">
                  <a:solidFill>
                    <a:srgbClr val="4B5563">
                      <a:alpha val="10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环流模型预测）。</a:t>
              </a:r>
              <a:endParaRPr sz="9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pic>
          <p:nvPicPr>
            <p:cNvPr id="456" name="picture 45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114300" cy="2114550"/>
            </a:xfrm>
            <a:prstGeom prst="rect">
              <a:avLst/>
            </a:prstGeom>
          </p:spPr>
        </p:pic>
      </p:grpSp>
      <p:sp>
        <p:nvSpPr>
          <p:cNvPr id="468" name="textbox 468"/>
          <p:cNvSpPr/>
          <p:nvPr/>
        </p:nvSpPr>
        <p:spPr>
          <a:xfrm>
            <a:off x="458901" y="1038097"/>
            <a:ext cx="4427854" cy="38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7000"/>
              </a:lnSpc>
            </a:pPr>
            <a:r>
              <a:rPr sz="2700" kern="0" spc="-5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数据集与评测基准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76" name="picture 4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571500"/>
            <a:ext cx="12192000" cy="9525"/>
          </a:xfrm>
          <a:prstGeom prst="rect">
            <a:avLst/>
          </a:prstGeom>
        </p:spPr>
      </p:pic>
      <p:pic>
        <p:nvPicPr>
          <p:cNvPr id="478" name="picture 47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0" y="7419975"/>
            <a:ext cx="12192000" cy="9524"/>
          </a:xfrm>
          <a:prstGeom prst="rect">
            <a:avLst/>
          </a:prstGeom>
        </p:spPr>
      </p:pic>
      <p:pic>
        <p:nvPicPr>
          <p:cNvPr id="480" name="picture 48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457200" y="6667500"/>
            <a:ext cx="11277600" cy="9525"/>
          </a:xfrm>
          <a:prstGeom prst="rect">
            <a:avLst/>
          </a:prstGeom>
        </p:spPr>
      </p:pic>
      <p:pic>
        <p:nvPicPr>
          <p:cNvPr id="482" name="picture 48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457200" y="6934200"/>
            <a:ext cx="457200" cy="38100"/>
          </a:xfrm>
          <a:prstGeom prst="rect">
            <a:avLst/>
          </a:prstGeom>
        </p:spPr>
      </p:pic>
      <p:pic>
        <p:nvPicPr>
          <p:cNvPr id="484" name="picture 48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457200" y="1609725"/>
            <a:ext cx="457200" cy="19050"/>
          </a:xfrm>
          <a:prstGeom prst="rect">
            <a:avLst/>
          </a:prstGeom>
        </p:spPr>
      </p:pic>
      <p:sp>
        <p:nvSpPr>
          <p:cNvPr id="486" name="path 486"/>
          <p:cNvSpPr/>
          <p:nvPr/>
        </p:nvSpPr>
        <p:spPr>
          <a:xfrm>
            <a:off x="2596817" y="6361755"/>
            <a:ext cx="33269" cy="45061"/>
          </a:xfrm>
          <a:custGeom>
            <a:avLst/>
            <a:gdLst/>
            <a:ahLst/>
            <a:cxnLst/>
            <a:rect l="0" t="0" r="0" b="0"/>
            <a:pathLst>
              <a:path w="52" h="70">
                <a:moveTo>
                  <a:pt x="44" y="7"/>
                </a:moveTo>
                <a:cubicBezTo>
                  <a:pt x="40" y="17"/>
                  <a:pt x="35" y="27"/>
                  <a:pt x="28" y="37"/>
                </a:cubicBezTo>
                <a:cubicBezTo>
                  <a:pt x="22" y="46"/>
                  <a:pt x="15" y="55"/>
                  <a:pt x="7" y="63"/>
                </a:cubicBezTo>
              </a:path>
            </a:pathLst>
          </a:custGeom>
          <a:noFill/>
          <a:ln w="9525" cap="flat">
            <a:solidFill>
              <a:srgbClr val="F3F4F6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88" name="path 488"/>
          <p:cNvSpPr/>
          <p:nvPr/>
        </p:nvSpPr>
        <p:spPr>
          <a:xfrm>
            <a:off x="4923367" y="6397292"/>
            <a:ext cx="26124" cy="23146"/>
          </a:xfrm>
          <a:custGeom>
            <a:avLst/>
            <a:gdLst/>
            <a:ahLst/>
            <a:cxnLst/>
            <a:rect l="0" t="0" r="0" b="0"/>
            <a:pathLst>
              <a:path w="41" h="36">
                <a:moveTo>
                  <a:pt x="33" y="7"/>
                </a:moveTo>
                <a:cubicBezTo>
                  <a:pt x="25" y="15"/>
                  <a:pt x="16" y="22"/>
                  <a:pt x="7" y="28"/>
                </a:cubicBezTo>
              </a:path>
            </a:pathLst>
          </a:custGeom>
          <a:noFill/>
          <a:ln w="9525" cap="flat">
            <a:solidFill>
              <a:srgbClr val="FFF5E8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490" name="path 490"/>
          <p:cNvSpPr/>
          <p:nvPr/>
        </p:nvSpPr>
        <p:spPr>
          <a:xfrm>
            <a:off x="11676592" y="6397292"/>
            <a:ext cx="26123" cy="23146"/>
          </a:xfrm>
          <a:custGeom>
            <a:avLst/>
            <a:gdLst/>
            <a:ahLst/>
            <a:cxnLst/>
            <a:rect l="0" t="0" r="0" b="0"/>
            <a:pathLst>
              <a:path w="41" h="36">
                <a:moveTo>
                  <a:pt x="33" y="7"/>
                </a:moveTo>
                <a:cubicBezTo>
                  <a:pt x="25" y="15"/>
                  <a:pt x="16" y="22"/>
                  <a:pt x="7" y="28"/>
                </a:cubicBezTo>
              </a:path>
            </a:pathLst>
          </a:custGeom>
          <a:noFill/>
          <a:ln w="9525" cap="flat">
            <a:solidFill>
              <a:srgbClr val="E5E7EB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92" name="picture 49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1600000">
            <a:off x="2654360" y="6462813"/>
            <a:ext cx="12639" cy="1266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rect 494"/>
          <p:cNvSpPr/>
          <p:nvPr/>
        </p:nvSpPr>
        <p:spPr>
          <a:xfrm>
            <a:off x="0" y="571500"/>
            <a:ext cx="12192000" cy="6858000"/>
          </a:xfrm>
          <a:prstGeom prst="rect">
            <a:avLst/>
          </a:prstGeom>
          <a:solidFill>
            <a:srgbClr val="FAF9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24" name="textbox 524"/>
          <p:cNvSpPr/>
          <p:nvPr/>
        </p:nvSpPr>
        <p:spPr>
          <a:xfrm>
            <a:off x="456158" y="1038097"/>
            <a:ext cx="4829809" cy="3854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</a:pPr>
            <a:r>
              <a:rPr lang="zh-CN" sz="2700" kern="0" spc="-14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</a:t>
            </a:r>
            <a:r>
              <a:rPr sz="2700" kern="0" spc="-140" dirty="0">
                <a:solidFill>
                  <a:srgbClr val="111827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</a:t>
            </a:r>
            <a:endParaRPr sz="27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34" name="picture 5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571500"/>
            <a:ext cx="12192000" cy="9525"/>
          </a:xfrm>
          <a:prstGeom prst="rect">
            <a:avLst/>
          </a:prstGeom>
        </p:spPr>
      </p:pic>
      <p:pic>
        <p:nvPicPr>
          <p:cNvPr id="536" name="picture 5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7419975"/>
            <a:ext cx="12192000" cy="9524"/>
          </a:xfrm>
          <a:prstGeom prst="rect">
            <a:avLst/>
          </a:prstGeom>
        </p:spPr>
      </p:pic>
      <p:sp>
        <p:nvSpPr>
          <p:cNvPr id="542" name="path 542"/>
          <p:cNvSpPr/>
          <p:nvPr/>
        </p:nvSpPr>
        <p:spPr>
          <a:xfrm>
            <a:off x="4704405" y="6199717"/>
            <a:ext cx="58684" cy="49868"/>
          </a:xfrm>
          <a:custGeom>
            <a:avLst/>
            <a:gdLst/>
            <a:ahLst/>
            <a:cxnLst/>
            <a:rect l="0" t="0" r="0" b="0"/>
            <a:pathLst>
              <a:path w="92" h="78">
                <a:moveTo>
                  <a:pt x="84" y="7"/>
                </a:moveTo>
                <a:cubicBezTo>
                  <a:pt x="78" y="16"/>
                  <a:pt x="71" y="25"/>
                  <a:pt x="63" y="33"/>
                </a:cubicBezTo>
                <a:cubicBezTo>
                  <a:pt x="55" y="41"/>
                  <a:pt x="46" y="48"/>
                  <a:pt x="37" y="55"/>
                </a:cubicBezTo>
                <a:cubicBezTo>
                  <a:pt x="27" y="61"/>
                  <a:pt x="17" y="66"/>
                  <a:pt x="7" y="71"/>
                </a:cubicBezTo>
              </a:path>
            </a:pathLst>
          </a:custGeom>
          <a:noFill/>
          <a:ln w="9525" cap="flat">
            <a:solidFill>
              <a:srgbClr val="F3F4F6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4" name="path 544"/>
          <p:cNvSpPr/>
          <p:nvPr/>
        </p:nvSpPr>
        <p:spPr>
          <a:xfrm>
            <a:off x="11676592" y="6930691"/>
            <a:ext cx="26123" cy="23146"/>
          </a:xfrm>
          <a:custGeom>
            <a:avLst/>
            <a:gdLst/>
            <a:ahLst/>
            <a:cxnLst/>
            <a:rect l="0" t="0" r="0" b="0"/>
            <a:pathLst>
              <a:path w="41" h="36">
                <a:moveTo>
                  <a:pt x="33" y="7"/>
                </a:moveTo>
                <a:cubicBezTo>
                  <a:pt x="25" y="15"/>
                  <a:pt x="16" y="22"/>
                  <a:pt x="7" y="28"/>
                </a:cubicBezTo>
              </a:path>
            </a:pathLst>
          </a:custGeom>
          <a:noFill/>
          <a:ln w="9525" cap="flat">
            <a:solidFill>
              <a:srgbClr val="E5E7EB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0920" y="240030"/>
            <a:ext cx="6649720" cy="172593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3550" y="2153285"/>
            <a:ext cx="6137910" cy="55968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rect 494"/>
          <p:cNvSpPr/>
          <p:nvPr/>
        </p:nvSpPr>
        <p:spPr>
          <a:xfrm>
            <a:off x="0" y="571500"/>
            <a:ext cx="12192000" cy="6858000"/>
          </a:xfrm>
          <a:prstGeom prst="rect">
            <a:avLst/>
          </a:prstGeom>
          <a:solidFill>
            <a:srgbClr val="FAF9F7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534" name="picture 5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571500"/>
            <a:ext cx="12192000" cy="9525"/>
          </a:xfrm>
          <a:prstGeom prst="rect">
            <a:avLst/>
          </a:prstGeom>
        </p:spPr>
      </p:pic>
      <p:pic>
        <p:nvPicPr>
          <p:cNvPr id="536" name="picture 5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7419975"/>
            <a:ext cx="12192000" cy="9524"/>
          </a:xfrm>
          <a:prstGeom prst="rect">
            <a:avLst/>
          </a:prstGeom>
        </p:spPr>
      </p:pic>
      <p:sp>
        <p:nvSpPr>
          <p:cNvPr id="542" name="path 542"/>
          <p:cNvSpPr/>
          <p:nvPr/>
        </p:nvSpPr>
        <p:spPr>
          <a:xfrm>
            <a:off x="4704405" y="6199717"/>
            <a:ext cx="58684" cy="49868"/>
          </a:xfrm>
          <a:custGeom>
            <a:avLst/>
            <a:gdLst/>
            <a:ahLst/>
            <a:cxnLst/>
            <a:rect l="0" t="0" r="0" b="0"/>
            <a:pathLst>
              <a:path w="92" h="78">
                <a:moveTo>
                  <a:pt x="84" y="7"/>
                </a:moveTo>
                <a:cubicBezTo>
                  <a:pt x="78" y="16"/>
                  <a:pt x="71" y="25"/>
                  <a:pt x="63" y="33"/>
                </a:cubicBezTo>
                <a:cubicBezTo>
                  <a:pt x="55" y="41"/>
                  <a:pt x="46" y="48"/>
                  <a:pt x="37" y="55"/>
                </a:cubicBezTo>
                <a:cubicBezTo>
                  <a:pt x="27" y="61"/>
                  <a:pt x="17" y="66"/>
                  <a:pt x="7" y="71"/>
                </a:cubicBezTo>
              </a:path>
            </a:pathLst>
          </a:custGeom>
          <a:noFill/>
          <a:ln w="9525" cap="flat">
            <a:solidFill>
              <a:srgbClr val="F3F4F6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544" name="path 544"/>
          <p:cNvSpPr/>
          <p:nvPr/>
        </p:nvSpPr>
        <p:spPr>
          <a:xfrm>
            <a:off x="11676592" y="6930691"/>
            <a:ext cx="26123" cy="23146"/>
          </a:xfrm>
          <a:custGeom>
            <a:avLst/>
            <a:gdLst/>
            <a:ahLst/>
            <a:cxnLst/>
            <a:rect l="0" t="0" r="0" b="0"/>
            <a:pathLst>
              <a:path w="41" h="36">
                <a:moveTo>
                  <a:pt x="33" y="7"/>
                </a:moveTo>
                <a:cubicBezTo>
                  <a:pt x="25" y="15"/>
                  <a:pt x="16" y="22"/>
                  <a:pt x="7" y="28"/>
                </a:cubicBezTo>
              </a:path>
            </a:pathLst>
          </a:custGeom>
          <a:noFill/>
          <a:ln w="9525" cap="flat">
            <a:solidFill>
              <a:srgbClr val="E5E7EB"/>
            </a:solidFill>
            <a:prstDash val="solid"/>
            <a:miter lim="40000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365" y="1043940"/>
            <a:ext cx="11195685" cy="6106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2662</Words>
  <Application>WPS 演示</Application>
  <PresentationFormat/>
  <Paragraphs>366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宋体</vt:lpstr>
      <vt:lpstr>Wingdings</vt:lpstr>
      <vt:lpstr>Arial</vt:lpstr>
      <vt:lpstr>Lucida Sans Unicode</vt:lpstr>
      <vt:lpstr>微软雅黑</vt:lpstr>
      <vt:lpstr>Microsoft JhengHei</vt:lpstr>
      <vt:lpstr>Courier New</vt:lpstr>
      <vt:lpstr>Times New Roman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1，2，3</cp:lastModifiedBy>
  <cp:revision>10</cp:revision>
  <dcterms:created xsi:type="dcterms:W3CDTF">2026-04-08T16:31:00Z</dcterms:created>
  <dcterms:modified xsi:type="dcterms:W3CDTF">2026-04-16T02:12:26Z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2026-04-10T08:25:58Z</vt:filetime>
  </property>
  <property fmtid="{D5CDD505-2E9C-101B-9397-08002B2CF9AE}" pid="4" name="KSOProductBuildVer">
    <vt:lpwstr>2052-12.1.0.25225</vt:lpwstr>
  </property>
  <property fmtid="{D5CDD505-2E9C-101B-9397-08002B2CF9AE}" pid="5" name="ICV">
    <vt:lpwstr>668375AE9EB94166A7DF955ECF5BECA8_12</vt:lpwstr>
  </property>
</Properties>
</file>